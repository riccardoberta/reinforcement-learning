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4"/>
  </p:sldMasterIdLst>
  <p:notesMasterIdLst>
    <p:notesMasterId r:id="rId18"/>
  </p:notesMasterIdLst>
  <p:sldIdLst>
    <p:sldId id="256" r:id="rId5"/>
    <p:sldId id="264" r:id="rId6"/>
    <p:sldId id="313" r:id="rId7"/>
    <p:sldId id="314" r:id="rId8"/>
    <p:sldId id="267" r:id="rId9"/>
    <p:sldId id="268" r:id="rId10"/>
    <p:sldId id="318" r:id="rId11"/>
    <p:sldId id="269" r:id="rId12"/>
    <p:sldId id="270" r:id="rId13"/>
    <p:sldId id="271" r:id="rId14"/>
    <p:sldId id="315" r:id="rId15"/>
    <p:sldId id="272" r:id="rId16"/>
    <p:sldId id="316" r:id="rId17"/>
  </p:sldIdLst>
  <p:sldSz cx="9144000" cy="6858000" type="screen4x3"/>
  <p:notesSz cx="6858000" cy="9144000"/>
  <p:embeddedFontLst>
    <p:embeddedFont>
      <p:font typeface="Economica" panose="02000506040000020004" pitchFamily="2" charset="77"/>
      <p:regular r:id="rId19"/>
      <p:bold r:id="rId20"/>
      <p:italic r:id="rId21"/>
      <p:boldItalic r:id="rId22"/>
    </p:embeddedFont>
    <p:embeddedFont>
      <p:font typeface="Open Sans" panose="020B0606030504020204" pitchFamily="34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630"/>
    <p:restoredTop sz="91952"/>
  </p:normalViewPr>
  <p:slideViewPr>
    <p:cSldViewPr snapToGrid="0" snapToObjects="1">
      <p:cViewPr varScale="1">
        <p:scale>
          <a:sx n="141" d="100"/>
          <a:sy n="141" d="100"/>
        </p:scale>
        <p:origin x="176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customXml" Target="../customXml/item3.xml"/><Relationship Id="rId21" Type="http://schemas.openxmlformats.org/officeDocument/2006/relationships/font" Target="fonts/font3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7.fntdata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font" Target="fonts/font2.fntdata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6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5.fntdata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font" Target="fonts/font1.fntdata"/><Relationship Id="rId31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4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ccardo Berta" userId="c8694f89-bba4-4576-b0a8-456619ca5a8c" providerId="ADAL" clId="{FDDBFC5A-5EA9-5330-BEB8-433D7E3B4C4E}"/>
    <pc:docChg chg="custSel modSld">
      <pc:chgData name="Riccardo Berta" userId="c8694f89-bba4-4576-b0a8-456619ca5a8c" providerId="ADAL" clId="{FDDBFC5A-5EA9-5330-BEB8-433D7E3B4C4E}" dt="2025-11-19T06:52:14.761" v="70" actId="20577"/>
      <pc:docMkLst>
        <pc:docMk/>
      </pc:docMkLst>
      <pc:sldChg chg="modSp mod">
        <pc:chgData name="Riccardo Berta" userId="c8694f89-bba4-4576-b0a8-456619ca5a8c" providerId="ADAL" clId="{FDDBFC5A-5EA9-5330-BEB8-433D7E3B4C4E}" dt="2025-11-19T06:28:01.852" v="20" actId="1076"/>
        <pc:sldMkLst>
          <pc:docMk/>
          <pc:sldMk cId="0" sldId="256"/>
        </pc:sldMkLst>
        <pc:spChg chg="mod">
          <ac:chgData name="Riccardo Berta" userId="c8694f89-bba4-4576-b0a8-456619ca5a8c" providerId="ADAL" clId="{FDDBFC5A-5EA9-5330-BEB8-433D7E3B4C4E}" dt="2025-11-19T06:28:01.852" v="20" actId="1076"/>
          <ac:spMkLst>
            <pc:docMk/>
            <pc:sldMk cId="0" sldId="256"/>
            <ac:spMk id="62" creationId="{00000000-0000-0000-0000-000000000000}"/>
          </ac:spMkLst>
        </pc:spChg>
      </pc:sldChg>
      <pc:sldChg chg="modSp mod">
        <pc:chgData name="Riccardo Berta" userId="c8694f89-bba4-4576-b0a8-456619ca5a8c" providerId="ADAL" clId="{FDDBFC5A-5EA9-5330-BEB8-433D7E3B4C4E}" dt="2025-11-19T06:47:49.798" v="69" actId="1036"/>
        <pc:sldMkLst>
          <pc:docMk/>
          <pc:sldMk cId="2689217830" sldId="270"/>
        </pc:sldMkLst>
        <pc:spChg chg="mod">
          <ac:chgData name="Riccardo Berta" userId="c8694f89-bba4-4576-b0a8-456619ca5a8c" providerId="ADAL" clId="{FDDBFC5A-5EA9-5330-BEB8-433D7E3B4C4E}" dt="2025-11-19T06:47:49.798" v="69" actId="1036"/>
          <ac:spMkLst>
            <pc:docMk/>
            <pc:sldMk cId="2689217830" sldId="270"/>
            <ac:spMk id="84" creationId="{00000000-0000-0000-0000-000000000000}"/>
          </ac:spMkLst>
        </pc:spChg>
      </pc:sldChg>
      <pc:sldChg chg="modSp mod">
        <pc:chgData name="Riccardo Berta" userId="c8694f89-bba4-4576-b0a8-456619ca5a8c" providerId="ADAL" clId="{FDDBFC5A-5EA9-5330-BEB8-433D7E3B4C4E}" dt="2025-11-19T06:28:22.923" v="22" actId="20577"/>
        <pc:sldMkLst>
          <pc:docMk/>
          <pc:sldMk cId="3441338737" sldId="313"/>
        </pc:sldMkLst>
        <pc:spChg chg="mod">
          <ac:chgData name="Riccardo Berta" userId="c8694f89-bba4-4576-b0a8-456619ca5a8c" providerId="ADAL" clId="{FDDBFC5A-5EA9-5330-BEB8-433D7E3B4C4E}" dt="2025-11-19T06:28:22.923" v="22" actId="20577"/>
          <ac:spMkLst>
            <pc:docMk/>
            <pc:sldMk cId="3441338737" sldId="313"/>
            <ac:spMk id="84" creationId="{00000000-0000-0000-0000-000000000000}"/>
          </ac:spMkLst>
        </pc:spChg>
      </pc:sldChg>
      <pc:sldChg chg="modSp mod">
        <pc:chgData name="Riccardo Berta" userId="c8694f89-bba4-4576-b0a8-456619ca5a8c" providerId="ADAL" clId="{FDDBFC5A-5EA9-5330-BEB8-433D7E3B4C4E}" dt="2025-11-19T06:29:41.034" v="53" actId="20577"/>
        <pc:sldMkLst>
          <pc:docMk/>
          <pc:sldMk cId="2414582803" sldId="314"/>
        </pc:sldMkLst>
        <pc:spChg chg="mod">
          <ac:chgData name="Riccardo Berta" userId="c8694f89-bba4-4576-b0a8-456619ca5a8c" providerId="ADAL" clId="{FDDBFC5A-5EA9-5330-BEB8-433D7E3B4C4E}" dt="2025-11-19T06:29:41.034" v="53" actId="20577"/>
          <ac:spMkLst>
            <pc:docMk/>
            <pc:sldMk cId="2414582803" sldId="314"/>
            <ac:spMk id="84" creationId="{00000000-0000-0000-0000-000000000000}"/>
          </ac:spMkLst>
        </pc:spChg>
      </pc:sldChg>
      <pc:sldChg chg="modSp mod">
        <pc:chgData name="Riccardo Berta" userId="c8694f89-bba4-4576-b0a8-456619ca5a8c" providerId="ADAL" clId="{FDDBFC5A-5EA9-5330-BEB8-433D7E3B4C4E}" dt="2025-11-19T06:52:14.761" v="70" actId="20577"/>
        <pc:sldMkLst>
          <pc:docMk/>
          <pc:sldMk cId="3230498829" sldId="316"/>
        </pc:sldMkLst>
        <pc:spChg chg="mod">
          <ac:chgData name="Riccardo Berta" userId="c8694f89-bba4-4576-b0a8-456619ca5a8c" providerId="ADAL" clId="{FDDBFC5A-5EA9-5330-BEB8-433D7E3B4C4E}" dt="2025-11-19T06:52:14.761" v="70" actId="20577"/>
          <ac:spMkLst>
            <pc:docMk/>
            <pc:sldMk cId="3230498829" sldId="316"/>
            <ac:spMk id="84" creationId="{00000000-0000-0000-0000-000000000000}"/>
          </ac:spMkLst>
        </pc:spChg>
      </pc:sldChg>
      <pc:sldChg chg="modSp mod">
        <pc:chgData name="Riccardo Berta" userId="c8694f89-bba4-4576-b0a8-456619ca5a8c" providerId="ADAL" clId="{FDDBFC5A-5EA9-5330-BEB8-433D7E3B4C4E}" dt="2025-11-19T06:42:39.763" v="56" actId="20577"/>
        <pc:sldMkLst>
          <pc:docMk/>
          <pc:sldMk cId="1284730750" sldId="318"/>
        </pc:sldMkLst>
        <pc:spChg chg="mod">
          <ac:chgData name="Riccardo Berta" userId="c8694f89-bba4-4576-b0a8-456619ca5a8c" providerId="ADAL" clId="{FDDBFC5A-5EA9-5330-BEB8-433D7E3B4C4E}" dt="2025-11-19T06:42:39.763" v="56" actId="20577"/>
          <ac:spMkLst>
            <pc:docMk/>
            <pc:sldMk cId="1284730750" sldId="318"/>
            <ac:spMk id="84" creationId="{45BF1772-47E3-12CC-B5AF-7779E8632E7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538664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831539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410774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682868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>
          <a:extLst>
            <a:ext uri="{FF2B5EF4-FFF2-40B4-BE49-F238E27FC236}">
              <a16:creationId xmlns:a16="http://schemas.microsoft.com/office/drawing/2014/main" id="{2E81A52E-455B-BDD6-D59C-A120934A1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>
            <a:extLst>
              <a:ext uri="{FF2B5EF4-FFF2-40B4-BE49-F238E27FC236}">
                <a16:creationId xmlns:a16="http://schemas.microsoft.com/office/drawing/2014/main" id="{CC5B3016-FADD-6DDD-0465-8FDD6B6B77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>
            <a:extLst>
              <a:ext uri="{FF2B5EF4-FFF2-40B4-BE49-F238E27FC236}">
                <a16:creationId xmlns:a16="http://schemas.microsoft.com/office/drawing/2014/main" id="{2625BDA7-7E5F-8D65-B5BF-138067E3BE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755678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327791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362564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464545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798158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109202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546228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1008933"/>
            <a:ext cx="1081625" cy="1499896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11" name="Google Shape;11;p2"/>
          <p:cNvSpPr/>
          <p:nvPr/>
        </p:nvSpPr>
        <p:spPr>
          <a:xfrm rot="10800000">
            <a:off x="5318350" y="4355671"/>
            <a:ext cx="1081625" cy="1499896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044700" y="1925674"/>
            <a:ext cx="3054600" cy="204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044700" y="4155440"/>
            <a:ext cx="3054600" cy="9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icTheme" userDrawn="1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6727600"/>
            <a:ext cx="9144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202700" y="1104350"/>
            <a:ext cx="8818500" cy="51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1pPr>
            <a:lvl2pPr marL="914400" lvl="1" indent="-3238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500"/>
              <a:buChar char="○"/>
              <a:defRPr sz="1500"/>
            </a:lvl2pPr>
            <a:lvl3pPr marL="1371600" lvl="2" indent="-3175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00"/>
              <a:buChar char="■"/>
              <a:defRPr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292100">
              <a:spcBef>
                <a:spcPts val="160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>
              <a:spcBef>
                <a:spcPts val="160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>
              <a:spcBef>
                <a:spcPts val="160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>
              <a:spcBef>
                <a:spcPts val="160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>
              <a:spcBef>
                <a:spcPts val="1600"/>
              </a:spcBef>
              <a:spcAft>
                <a:spcPts val="1600"/>
              </a:spcAft>
              <a:buSzPts val="1000"/>
              <a:buChar char="■"/>
              <a:defRPr sz="1000"/>
            </a:lvl9pPr>
          </a:lstStyle>
          <a:p>
            <a:endParaRPr lang="it-IT" dirty="0"/>
          </a:p>
          <a:p>
            <a:pPr lvl="2"/>
            <a:endParaRPr dirty="0"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3999900" cy="4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2"/>
          </p:nvPr>
        </p:nvSpPr>
        <p:spPr>
          <a:xfrm>
            <a:off x="4832400" y="1633633"/>
            <a:ext cx="3999900" cy="4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311700" y="1865867"/>
            <a:ext cx="2808000" cy="371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6727600"/>
            <a:ext cx="9144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5878800" cy="545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33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59940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265500" y="1239033"/>
            <a:ext cx="4045200" cy="238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ubTitle" idx="1"/>
          </p:nvPr>
        </p:nvSpPr>
        <p:spPr>
          <a:xfrm>
            <a:off x="265500" y="3692001"/>
            <a:ext cx="4045200" cy="20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2"/>
          </p:nvPr>
        </p:nvSpPr>
        <p:spPr>
          <a:xfrm>
            <a:off x="4939500" y="965600"/>
            <a:ext cx="3837000" cy="49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>
            <a:spLocks noGrp="1"/>
          </p:cNvSpPr>
          <p:nvPr>
            <p:ph type="body" idx="1"/>
          </p:nvPr>
        </p:nvSpPr>
        <p:spPr>
          <a:xfrm>
            <a:off x="319500" y="5625233"/>
            <a:ext cx="5998800" cy="79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>
            <a:endParaRPr/>
          </a:p>
        </p:txBody>
      </p:sp>
      <p:sp>
        <p:nvSpPr>
          <p:cNvPr id="50" name="Google Shape;50;p1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6727600"/>
            <a:ext cx="9144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276167"/>
            <a:ext cx="8520600" cy="283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>
            <a:spLocks noGrp="1"/>
          </p:cNvSpPr>
          <p:nvPr>
            <p:ph type="body" idx="1"/>
          </p:nvPr>
        </p:nvSpPr>
        <p:spPr>
          <a:xfrm>
            <a:off x="311700" y="4216000"/>
            <a:ext cx="8520600" cy="142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1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lux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 dirty="0"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ctrTitle"/>
          </p:nvPr>
        </p:nvSpPr>
        <p:spPr>
          <a:xfrm>
            <a:off x="2888012" y="2404200"/>
            <a:ext cx="3367975" cy="204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dirty="0"/>
              <a:t>Model-based</a:t>
            </a:r>
            <a:br>
              <a:rPr lang="en-GB" dirty="0"/>
            </a:br>
            <a:r>
              <a:rPr lang="en-GB" dirty="0"/>
              <a:t>Reinforcement Learning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15B4D833-F59D-26E4-3DCB-AF8E72E5F3AE}"/>
              </a:ext>
            </a:extLst>
          </p:cNvPr>
          <p:cNvSpPr txBox="1"/>
          <p:nvPr/>
        </p:nvSpPr>
        <p:spPr>
          <a:xfrm>
            <a:off x="10456606" y="8377084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Objectives</a:t>
            </a:r>
            <a:endParaRPr dirty="0"/>
          </a:p>
        </p:txBody>
      </p:sp>
      <p:sp>
        <p:nvSpPr>
          <p:cNvPr id="84" name="Google Shape;84;p14"/>
          <p:cNvSpPr txBox="1">
            <a:spLocks noGrp="1"/>
          </p:cNvSpPr>
          <p:nvPr>
            <p:ph type="body" idx="1"/>
          </p:nvPr>
        </p:nvSpPr>
        <p:spPr>
          <a:xfrm>
            <a:off x="311700" y="1234697"/>
            <a:ext cx="8520600" cy="520207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sz="1600" dirty="0"/>
              <a:t>Model-based Reinforcement Learning</a:t>
            </a:r>
          </a:p>
          <a:p>
            <a:pPr lvl="0"/>
            <a:r>
              <a:rPr lang="en-GB" sz="1600" dirty="0"/>
              <a:t>Dyna-Q</a:t>
            </a:r>
          </a:p>
          <a:p>
            <a:pPr lvl="0"/>
            <a:r>
              <a:rPr lang="en-GB" sz="1600" dirty="0"/>
              <a:t>Learned transition model</a:t>
            </a:r>
          </a:p>
          <a:p>
            <a:pPr lvl="0"/>
            <a:r>
              <a:rPr lang="en-GB" dirty="0"/>
              <a:t>Trajectory sampling</a:t>
            </a:r>
          </a:p>
          <a:p>
            <a:pPr lvl="0"/>
            <a:r>
              <a:rPr lang="en-GB" dirty="0"/>
              <a:t>Sampling Comparison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sz="4000" dirty="0"/>
              <a:t>Model-based Reinforcement Learning</a:t>
            </a:r>
          </a:p>
        </p:txBody>
      </p:sp>
      <p:sp>
        <p:nvSpPr>
          <p:cNvPr id="84" name="Google Shape;84;p14"/>
          <p:cNvSpPr txBox="1">
            <a:spLocks noGrp="1"/>
          </p:cNvSpPr>
          <p:nvPr>
            <p:ph type="body" idx="1"/>
          </p:nvPr>
        </p:nvSpPr>
        <p:spPr>
          <a:xfrm>
            <a:off x="162750" y="1311011"/>
            <a:ext cx="8818500" cy="52242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b="1" dirty="0"/>
              <a:t>Planning</a:t>
            </a:r>
            <a:r>
              <a:rPr lang="en-GB" dirty="0"/>
              <a:t> algorithms</a:t>
            </a:r>
          </a:p>
          <a:p>
            <a:pPr lvl="1"/>
            <a:r>
              <a:rPr lang="en-GB" dirty="0"/>
              <a:t>dynamic programming: value iteration and policy iteration</a:t>
            </a:r>
          </a:p>
          <a:p>
            <a:pPr lvl="1"/>
            <a:r>
              <a:rPr lang="en-GB" dirty="0"/>
              <a:t>require a </a:t>
            </a:r>
            <a:r>
              <a:rPr lang="en-GB" b="1" dirty="0"/>
              <a:t>model</a:t>
            </a:r>
            <a:r>
              <a:rPr lang="en-GB" dirty="0"/>
              <a:t> of the environment </a:t>
            </a:r>
          </a:p>
          <a:p>
            <a:r>
              <a:rPr lang="en-GB" b="1" dirty="0"/>
              <a:t>Learning</a:t>
            </a:r>
            <a:r>
              <a:rPr lang="en-GB" dirty="0"/>
              <a:t>  algorithms</a:t>
            </a:r>
          </a:p>
          <a:p>
            <a:pPr lvl="1"/>
            <a:r>
              <a:rPr lang="en-GB" b="1" dirty="0"/>
              <a:t>model-free</a:t>
            </a:r>
            <a:r>
              <a:rPr lang="en-GB" dirty="0"/>
              <a:t> methods: doesn’t require MDP internals</a:t>
            </a:r>
          </a:p>
          <a:p>
            <a:pPr lvl="1"/>
            <a:endParaRPr lang="en-GB" sz="100" dirty="0"/>
          </a:p>
          <a:p>
            <a:r>
              <a:rPr lang="en-GB" dirty="0"/>
              <a:t>Not requiring the MDP in advance is of </a:t>
            </a:r>
            <a:r>
              <a:rPr lang="en-GB" b="1" dirty="0"/>
              <a:t>crucial importance</a:t>
            </a:r>
          </a:p>
          <a:p>
            <a:pPr lvl="1"/>
            <a:r>
              <a:rPr lang="en-GB" dirty="0"/>
              <a:t>often the MDP is </a:t>
            </a:r>
            <a:r>
              <a:rPr lang="en-GB" b="1" dirty="0"/>
              <a:t>challenging </a:t>
            </a:r>
            <a:r>
              <a:rPr lang="en-GB" dirty="0"/>
              <a:t>or </a:t>
            </a:r>
            <a:r>
              <a:rPr lang="en-GB" b="1" dirty="0"/>
              <a:t>even impossible</a:t>
            </a:r>
            <a:r>
              <a:rPr lang="en-GB" dirty="0"/>
              <a:t> to obtain</a:t>
            </a:r>
          </a:p>
          <a:p>
            <a:pPr lvl="2"/>
            <a:r>
              <a:rPr lang="en-GB" dirty="0"/>
              <a:t>imagine to represent the game of Go with its 10.170 possible states</a:t>
            </a:r>
          </a:p>
          <a:p>
            <a:pPr lvl="2"/>
            <a:r>
              <a:rPr lang="en-GB" dirty="0"/>
              <a:t>StarCraft II game with 101.685 states</a:t>
            </a:r>
          </a:p>
          <a:p>
            <a:endParaRPr lang="en-GB" sz="700" dirty="0"/>
          </a:p>
          <a:p>
            <a:r>
              <a:rPr lang="en-GB" dirty="0"/>
              <a:t>However, what if we </a:t>
            </a:r>
            <a:r>
              <a:rPr lang="en-GB" b="1" dirty="0"/>
              <a:t>learn a model </a:t>
            </a:r>
            <a:r>
              <a:rPr lang="en-GB" dirty="0"/>
              <a:t>as we interact with the environment?</a:t>
            </a:r>
          </a:p>
          <a:p>
            <a:pPr lvl="1"/>
            <a:r>
              <a:rPr lang="en-GB" dirty="0"/>
              <a:t>we explore the environment (like model-free methods), but we learn a model of the environment from these interactions</a:t>
            </a:r>
          </a:p>
          <a:p>
            <a:pPr lvl="1"/>
            <a:r>
              <a:rPr lang="en-GB" dirty="0"/>
              <a:t>by exploiting the learned model (like dynamic programming), agents often require fewer experience to learn optimal policies</a:t>
            </a:r>
          </a:p>
          <a:p>
            <a:pPr lv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413387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sz="4000" dirty="0"/>
              <a:t>Dyna-Q (1)</a:t>
            </a:r>
            <a:endParaRPr sz="4000" dirty="0"/>
          </a:p>
        </p:txBody>
      </p:sp>
      <p:sp>
        <p:nvSpPr>
          <p:cNvPr id="84" name="Google Shape;84;p14"/>
          <p:cNvSpPr txBox="1">
            <a:spLocks noGrp="1"/>
          </p:cNvSpPr>
          <p:nvPr>
            <p:ph type="body" idx="1"/>
          </p:nvPr>
        </p:nvSpPr>
        <p:spPr>
          <a:xfrm>
            <a:off x="162750" y="1128141"/>
            <a:ext cx="8818500" cy="52242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/>
              <a:t>Interleave </a:t>
            </a:r>
          </a:p>
          <a:p>
            <a:pPr lvl="1"/>
            <a:r>
              <a:rPr lang="en-GB" dirty="0"/>
              <a:t>a model-free method (Q-learning) </a:t>
            </a:r>
          </a:p>
          <a:p>
            <a:pPr lvl="2"/>
            <a:r>
              <a:rPr lang="en-GB" dirty="0"/>
              <a:t>use experiences sampled </a:t>
            </a:r>
            <a:r>
              <a:rPr lang="en-GB" b="1" dirty="0"/>
              <a:t>from the environment </a:t>
            </a:r>
          </a:p>
          <a:p>
            <a:pPr lvl="1"/>
            <a:r>
              <a:rPr lang="en-GB" dirty="0"/>
              <a:t>and a planning method (Value Iteration from Dynamic Programming)</a:t>
            </a:r>
          </a:p>
          <a:p>
            <a:pPr lvl="2"/>
            <a:r>
              <a:rPr lang="en-GB" dirty="0"/>
              <a:t>use experiences sampled </a:t>
            </a:r>
            <a:r>
              <a:rPr lang="en-GB" b="1" dirty="0"/>
              <a:t>from the learned model</a:t>
            </a:r>
          </a:p>
          <a:p>
            <a:pPr lvl="2"/>
            <a:endParaRPr lang="en-GB" dirty="0"/>
          </a:p>
          <a:p>
            <a:pPr lvl="0"/>
            <a:r>
              <a:rPr lang="en-GB" dirty="0"/>
              <a:t>We keep track of the transition and reward functions as </a:t>
            </a:r>
            <a:r>
              <a:rPr lang="en-GB" b="1" dirty="0"/>
              <a:t>three-dimensional tensors</a:t>
            </a:r>
            <a:r>
              <a:rPr lang="en-GB" dirty="0"/>
              <a:t> </a:t>
            </a:r>
          </a:p>
          <a:p>
            <a:pPr lvl="1"/>
            <a:r>
              <a:rPr lang="en-GB" dirty="0"/>
              <a:t>indexed by state (s), action (a), and next state (s’)</a:t>
            </a:r>
          </a:p>
          <a:p>
            <a:pPr lvl="1"/>
            <a:r>
              <a:rPr lang="en-GB" dirty="0"/>
              <a:t>keeps count of the number of times we seen the tuple (𝑠,𝑎,𝑠′) </a:t>
            </a:r>
          </a:p>
          <a:p>
            <a:pPr lvl="2"/>
            <a:r>
              <a:rPr lang="en-GB" dirty="0"/>
              <a:t>indicating how many times we arrived at state 𝑠′ from state 𝑠 when selecting action 𝑎 </a:t>
            </a:r>
          </a:p>
          <a:p>
            <a:pPr lvl="1"/>
            <a:r>
              <a:rPr lang="en-GB" dirty="0"/>
              <a:t>holds the average reward we received on the tuple (𝑠,𝑎,𝑠′) </a:t>
            </a:r>
          </a:p>
          <a:p>
            <a:pPr lvl="2"/>
            <a:r>
              <a:rPr lang="en-GB" dirty="0"/>
              <a:t>indicating the expected reward when we select action 𝑎 on state 𝑠 and transition to state 𝑠′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145828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sz="4000" dirty="0"/>
              <a:t>Dyna-Q (2)</a:t>
            </a:r>
            <a:endParaRPr sz="4000" dirty="0"/>
          </a:p>
        </p:txBody>
      </p:sp>
      <p:sp>
        <p:nvSpPr>
          <p:cNvPr id="84" name="Google Shape;84;p14"/>
          <p:cNvSpPr txBox="1">
            <a:spLocks noGrp="1"/>
          </p:cNvSpPr>
          <p:nvPr>
            <p:ph type="body" idx="1"/>
          </p:nvPr>
        </p:nvSpPr>
        <p:spPr>
          <a:xfrm>
            <a:off x="162750" y="1212537"/>
            <a:ext cx="8818500" cy="52242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marL="120650" lvl="0" indent="0">
              <a:buNone/>
            </a:pPr>
            <a:endParaRPr lang="en-GB" b="1" dirty="0">
              <a:highlight>
                <a:srgbClr val="FFFF00"/>
              </a:highlight>
            </a:endParaRPr>
          </a:p>
          <a:p>
            <a:r>
              <a:rPr lang="en-GB" dirty="0"/>
              <a:t>We can use again the </a:t>
            </a:r>
            <a:r>
              <a:rPr lang="en-GB" b="1" dirty="0"/>
              <a:t>Slippery Walk </a:t>
            </a:r>
            <a:r>
              <a:rPr lang="en-GB" dirty="0"/>
              <a:t>environment</a:t>
            </a:r>
          </a:p>
          <a:p>
            <a:pPr lvl="1"/>
            <a:endParaRPr lang="en-GB" dirty="0"/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1EE4D824-6E5D-9C19-FDD8-2C2B3F8C64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703" y="1043733"/>
            <a:ext cx="8758593" cy="2785196"/>
          </a:xfrm>
          <a:prstGeom prst="rect">
            <a:avLst/>
          </a:prstGeom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AD9F5015-AE8C-1716-B0D6-CFF73231CB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179" y="4262992"/>
            <a:ext cx="7772400" cy="2342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6997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sz="4000" dirty="0"/>
              <a:t>Dyna-Q (3)</a:t>
            </a:r>
            <a:endParaRPr sz="4000" dirty="0"/>
          </a:p>
        </p:txBody>
      </p:sp>
      <p:pic>
        <p:nvPicPr>
          <p:cNvPr id="2" name="Immagine 1" descr="Immagine che contiene Carattere, Elementi grafici, logo, cerchio&#10;&#10;Descrizione generata automaticamente">
            <a:extLst>
              <a:ext uri="{FF2B5EF4-FFF2-40B4-BE49-F238E27FC236}">
                <a16:creationId xmlns:a16="http://schemas.microsoft.com/office/drawing/2014/main" id="{E9D0082C-6D40-F11B-AB8A-02C671D32A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1328" y="65196"/>
            <a:ext cx="407258" cy="495579"/>
          </a:xfrm>
          <a:prstGeom prst="rect">
            <a:avLst/>
          </a:prstGeom>
        </p:spPr>
      </p:pic>
      <p:pic>
        <p:nvPicPr>
          <p:cNvPr id="4" name="Immagine 3" descr="Immagine che contiene testo, Diagramma, linea, schermata&#10;&#10;Descrizione generata automaticamente">
            <a:extLst>
              <a:ext uri="{FF2B5EF4-FFF2-40B4-BE49-F238E27FC236}">
                <a16:creationId xmlns:a16="http://schemas.microsoft.com/office/drawing/2014/main" id="{C09651C3-CF73-A1CA-62BE-932846651F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239" y="1049118"/>
            <a:ext cx="8469543" cy="5385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1816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>
          <a:extLst>
            <a:ext uri="{FF2B5EF4-FFF2-40B4-BE49-F238E27FC236}">
              <a16:creationId xmlns:a16="http://schemas.microsoft.com/office/drawing/2014/main" id="{D3746031-52FD-2E0C-4B16-AEA078669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>
            <a:extLst>
              <a:ext uri="{FF2B5EF4-FFF2-40B4-BE49-F238E27FC236}">
                <a16:creationId xmlns:a16="http://schemas.microsoft.com/office/drawing/2014/main" id="{AED4FE37-7E68-14C4-35EF-41087EDDA70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sz="4000" dirty="0"/>
              <a:t>Dyna-Q (4)</a:t>
            </a:r>
            <a:endParaRPr sz="4000" dirty="0"/>
          </a:p>
        </p:txBody>
      </p:sp>
      <p:sp>
        <p:nvSpPr>
          <p:cNvPr id="84" name="Google Shape;84;p14">
            <a:extLst>
              <a:ext uri="{FF2B5EF4-FFF2-40B4-BE49-F238E27FC236}">
                <a16:creationId xmlns:a16="http://schemas.microsoft.com/office/drawing/2014/main" id="{45BF1772-47E3-12CC-B5AF-7779E8632E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62750" y="1128141"/>
            <a:ext cx="8818500" cy="52242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dirty="0"/>
              <a:t>Dyna-Q can learn </a:t>
            </a:r>
            <a:r>
              <a:rPr lang="en-GB" b="1" dirty="0"/>
              <a:t>faster</a:t>
            </a:r>
            <a:r>
              <a:rPr lang="en-GB" dirty="0"/>
              <a:t> than model-free methods</a:t>
            </a:r>
          </a:p>
          <a:p>
            <a:pPr lvl="1"/>
            <a:r>
              <a:rPr lang="en-GB" dirty="0"/>
              <a:t>it can learn from both real and simulated experiences</a:t>
            </a:r>
          </a:p>
          <a:p>
            <a:pPr lvl="1"/>
            <a:endParaRPr lang="en-GB" dirty="0"/>
          </a:p>
          <a:p>
            <a:r>
              <a:rPr lang="en-GB" dirty="0"/>
              <a:t>Important in applications where interacting with the environment is </a:t>
            </a:r>
            <a:r>
              <a:rPr lang="en-GB" b="1" dirty="0"/>
              <a:t>expensive</a:t>
            </a:r>
            <a:r>
              <a:rPr lang="en-GB" dirty="0"/>
              <a:t> or </a:t>
            </a:r>
            <a:r>
              <a:rPr lang="en-GB" b="1" dirty="0"/>
              <a:t>time-consuming</a:t>
            </a:r>
          </a:p>
          <a:p>
            <a:pPr lvl="1"/>
            <a:r>
              <a:rPr lang="en-GB" dirty="0"/>
              <a:t>e.g. robotics</a:t>
            </a:r>
          </a:p>
          <a:p>
            <a:r>
              <a:rPr lang="en-GB" dirty="0"/>
              <a:t>Performance is dependent on the </a:t>
            </a:r>
            <a:r>
              <a:rPr lang="en-GB" b="1" dirty="0"/>
              <a:t>accuracy</a:t>
            </a:r>
            <a:r>
              <a:rPr lang="en-GB" dirty="0"/>
              <a:t> of its learned model</a:t>
            </a:r>
          </a:p>
          <a:p>
            <a:pPr lvl="1"/>
            <a:r>
              <a:rPr lang="en-GB" dirty="0"/>
              <a:t>if the model is inaccurate, the agent may make poor decisions</a:t>
            </a:r>
          </a:p>
          <a:p>
            <a:pPr lvl="1"/>
            <a:r>
              <a:rPr lang="en-GB" dirty="0"/>
              <a:t>problematic in </a:t>
            </a:r>
            <a:r>
              <a:rPr lang="en-GB" b="1" dirty="0"/>
              <a:t>changing environments</a:t>
            </a:r>
            <a:r>
              <a:rPr lang="en-GB" dirty="0"/>
              <a:t>, where the model needs to be constantly updated. </a:t>
            </a:r>
          </a:p>
          <a:p>
            <a:pPr lvl="1"/>
            <a:r>
              <a:rPr lang="en-GB" dirty="0"/>
              <a:t>planning can be computationally expensive</a:t>
            </a:r>
          </a:p>
          <a:p>
            <a:pPr lvl="1"/>
            <a:endParaRPr lang="en-GB" dirty="0"/>
          </a:p>
          <a:p>
            <a:r>
              <a:rPr lang="en-GB" dirty="0"/>
              <a:t>We can check the model learned by </a:t>
            </a:r>
            <a:r>
              <a:rPr lang="en-GB" dirty="0" err="1"/>
              <a:t>DynaQ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847307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sz="4000" dirty="0"/>
              <a:t>Learned transition model</a:t>
            </a:r>
          </a:p>
        </p:txBody>
      </p:sp>
      <p:sp>
        <p:nvSpPr>
          <p:cNvPr id="84" name="Google Shape;84;p14"/>
          <p:cNvSpPr txBox="1">
            <a:spLocks noGrp="1"/>
          </p:cNvSpPr>
          <p:nvPr>
            <p:ph type="body" idx="1"/>
          </p:nvPr>
        </p:nvSpPr>
        <p:spPr>
          <a:xfrm>
            <a:off x="184499" y="1054961"/>
            <a:ext cx="8818500" cy="52242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/>
              <a:t>We can try to understand the learned transition model</a:t>
            </a:r>
          </a:p>
          <a:p>
            <a:pPr lvl="1"/>
            <a:r>
              <a:rPr lang="en-GB" dirty="0"/>
              <a:t>bar heights are the transition probabilities</a:t>
            </a:r>
          </a:p>
          <a:p>
            <a:r>
              <a:rPr lang="en-GB" dirty="0"/>
              <a:t>At the end, the probabilities are good enough and describe the MDP correctly</a:t>
            </a:r>
          </a:p>
          <a:p>
            <a:pPr lvl="1"/>
            <a:r>
              <a:rPr lang="en-GB" dirty="0"/>
              <a:t>this is a simple environment, so the agent can gather enough experience quickly</a:t>
            </a:r>
          </a:p>
        </p:txBody>
      </p:sp>
      <p:grpSp>
        <p:nvGrpSpPr>
          <p:cNvPr id="27" name="Gruppo 26">
            <a:extLst>
              <a:ext uri="{FF2B5EF4-FFF2-40B4-BE49-F238E27FC236}">
                <a16:creationId xmlns:a16="http://schemas.microsoft.com/office/drawing/2014/main" id="{2A914980-59E0-16A1-2767-161C9DEF3D31}"/>
              </a:ext>
            </a:extLst>
          </p:cNvPr>
          <p:cNvGrpSpPr/>
          <p:nvPr/>
        </p:nvGrpSpPr>
        <p:grpSpPr>
          <a:xfrm>
            <a:off x="-5327" y="2700804"/>
            <a:ext cx="9106443" cy="3932903"/>
            <a:chOff x="1059" y="1712560"/>
            <a:chExt cx="9106443" cy="3932903"/>
          </a:xfrm>
        </p:grpSpPr>
        <p:pic>
          <p:nvPicPr>
            <p:cNvPr id="24" name="Immagine 23">
              <a:extLst>
                <a:ext uri="{FF2B5EF4-FFF2-40B4-BE49-F238E27FC236}">
                  <a16:creationId xmlns:a16="http://schemas.microsoft.com/office/drawing/2014/main" id="{B8E3782D-83A1-6F0D-880D-BB93209877A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19470" y="2031752"/>
              <a:ext cx="4488032" cy="3585799"/>
            </a:xfrm>
            <a:prstGeom prst="rect">
              <a:avLst/>
            </a:prstGeom>
          </p:spPr>
        </p:pic>
        <p:grpSp>
          <p:nvGrpSpPr>
            <p:cNvPr id="22" name="Gruppo 21">
              <a:extLst>
                <a:ext uri="{FF2B5EF4-FFF2-40B4-BE49-F238E27FC236}">
                  <a16:creationId xmlns:a16="http://schemas.microsoft.com/office/drawing/2014/main" id="{76301C8C-42C2-3C3C-B977-A4587585A3AB}"/>
                </a:ext>
              </a:extLst>
            </p:cNvPr>
            <p:cNvGrpSpPr/>
            <p:nvPr/>
          </p:nvGrpSpPr>
          <p:grpSpPr>
            <a:xfrm>
              <a:off x="1059" y="1712560"/>
              <a:ext cx="8475664" cy="3932903"/>
              <a:chOff x="31587" y="1769601"/>
              <a:chExt cx="8475664" cy="3932903"/>
            </a:xfrm>
          </p:grpSpPr>
          <p:pic>
            <p:nvPicPr>
              <p:cNvPr id="5" name="Immagine 4">
                <a:extLst>
                  <a:ext uri="{FF2B5EF4-FFF2-40B4-BE49-F238E27FC236}">
                    <a16:creationId xmlns:a16="http://schemas.microsoft.com/office/drawing/2014/main" id="{2312A912-FD96-1735-2B94-8B5B2500BD3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8266" y="1946787"/>
                <a:ext cx="4322019" cy="3535516"/>
              </a:xfrm>
              <a:prstGeom prst="rect">
                <a:avLst/>
              </a:prstGeom>
            </p:spPr>
          </p:pic>
          <p:pic>
            <p:nvPicPr>
              <p:cNvPr id="7" name="Immagine 6">
                <a:extLst>
                  <a:ext uri="{FF2B5EF4-FFF2-40B4-BE49-F238E27FC236}">
                    <a16:creationId xmlns:a16="http://schemas.microsoft.com/office/drawing/2014/main" id="{5FAC034B-0A3A-A893-6EF8-F3F5096096F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289798" y="1856939"/>
                <a:ext cx="1003300" cy="723900"/>
              </a:xfrm>
              <a:prstGeom prst="rect">
                <a:avLst/>
              </a:prstGeom>
            </p:spPr>
          </p:pic>
          <p:pic>
            <p:nvPicPr>
              <p:cNvPr id="11" name="Immagine 10">
                <a:extLst>
                  <a:ext uri="{FF2B5EF4-FFF2-40B4-BE49-F238E27FC236}">
                    <a16:creationId xmlns:a16="http://schemas.microsoft.com/office/drawing/2014/main" id="{BE244EF0-4F79-CB7E-D314-1E236675318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 rot="16200000">
                <a:off x="-128955" y="3368931"/>
                <a:ext cx="758928" cy="437843"/>
              </a:xfrm>
              <a:prstGeom prst="rect">
                <a:avLst/>
              </a:prstGeom>
            </p:spPr>
          </p:pic>
          <p:pic>
            <p:nvPicPr>
              <p:cNvPr id="13" name="Immagine 12" descr="Immagine che contiene testo&#10;&#10;Descrizione generata automaticamente">
                <a:extLst>
                  <a:ext uri="{FF2B5EF4-FFF2-40B4-BE49-F238E27FC236}">
                    <a16:creationId xmlns:a16="http://schemas.microsoft.com/office/drawing/2014/main" id="{7DEF13BB-ADB6-F815-7E8C-363BAFB5F89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64301" y="5063203"/>
                <a:ext cx="685800" cy="419100"/>
              </a:xfrm>
              <a:prstGeom prst="rect">
                <a:avLst/>
              </a:prstGeom>
            </p:spPr>
          </p:pic>
          <p:pic>
            <p:nvPicPr>
              <p:cNvPr id="15" name="Immagine 14" descr="Immagine che contiene testo&#10;&#10;Descrizione generata automaticamente">
                <a:extLst>
                  <a:ext uri="{FF2B5EF4-FFF2-40B4-BE49-F238E27FC236}">
                    <a16:creationId xmlns:a16="http://schemas.microsoft.com/office/drawing/2014/main" id="{DE3DB4B2-4B99-5F6B-9D74-D6C759C43F4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539091" y="5144783"/>
                <a:ext cx="571500" cy="419100"/>
              </a:xfrm>
              <a:prstGeom prst="rect">
                <a:avLst/>
              </a:prstGeom>
            </p:spPr>
          </p:pic>
          <p:pic>
            <p:nvPicPr>
              <p:cNvPr id="16" name="Immagine 15" descr="Immagine che contiene testo&#10;&#10;Descrizione generata automaticamente">
                <a:extLst>
                  <a:ext uri="{FF2B5EF4-FFF2-40B4-BE49-F238E27FC236}">
                    <a16:creationId xmlns:a16="http://schemas.microsoft.com/office/drawing/2014/main" id="{FE66A46E-AA38-E7ED-C3ED-AA78AD8069D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935751" y="5283404"/>
                <a:ext cx="571500" cy="419100"/>
              </a:xfrm>
              <a:prstGeom prst="rect">
                <a:avLst/>
              </a:prstGeom>
            </p:spPr>
          </p:pic>
          <p:pic>
            <p:nvPicPr>
              <p:cNvPr id="17" name="Immagine 16" descr="Immagine che contiene testo&#10;&#10;Descrizione generata automaticamente">
                <a:extLst>
                  <a:ext uri="{FF2B5EF4-FFF2-40B4-BE49-F238E27FC236}">
                    <a16:creationId xmlns:a16="http://schemas.microsoft.com/office/drawing/2014/main" id="{8EFDCB20-DB08-E422-C512-43D43353AB1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049227" y="5204182"/>
                <a:ext cx="685800" cy="419100"/>
              </a:xfrm>
              <a:prstGeom prst="rect">
                <a:avLst/>
              </a:prstGeom>
            </p:spPr>
          </p:pic>
          <p:pic>
            <p:nvPicPr>
              <p:cNvPr id="21" name="Immagine 20">
                <a:extLst>
                  <a:ext uri="{FF2B5EF4-FFF2-40B4-BE49-F238E27FC236}">
                    <a16:creationId xmlns:a16="http://schemas.microsoft.com/office/drawing/2014/main" id="{9FFD510F-B69A-CDBA-E963-FFDE5C19EAD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457698" y="1769601"/>
                <a:ext cx="2832100" cy="292100"/>
              </a:xfrm>
              <a:prstGeom prst="rect">
                <a:avLst/>
              </a:prstGeom>
            </p:spPr>
          </p:pic>
        </p:grpSp>
        <p:pic>
          <p:nvPicPr>
            <p:cNvPr id="26" name="Immagine 25">
              <a:extLst>
                <a:ext uri="{FF2B5EF4-FFF2-40B4-BE49-F238E27FC236}">
                  <a16:creationId xmlns:a16="http://schemas.microsoft.com/office/drawing/2014/main" id="{4DCFF62A-928F-AC61-E6C6-B30D347D9B8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505435" y="1739967"/>
              <a:ext cx="3073400" cy="292100"/>
            </a:xfrm>
            <a:prstGeom prst="rect">
              <a:avLst/>
            </a:prstGeom>
          </p:spPr>
        </p:pic>
      </p:grpSp>
      <p:pic>
        <p:nvPicPr>
          <p:cNvPr id="2" name="Immagine 1" descr="Immagine che contiene Carattere, Elementi grafici, logo, cerchio&#10;&#10;Descrizione generata automaticamente">
            <a:extLst>
              <a:ext uri="{FF2B5EF4-FFF2-40B4-BE49-F238E27FC236}">
                <a16:creationId xmlns:a16="http://schemas.microsoft.com/office/drawing/2014/main" id="{37A1A12D-7C6F-EE11-BAEF-FCB7F3FCCDB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61328" y="65196"/>
            <a:ext cx="407258" cy="495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8842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sz="4000" dirty="0"/>
              <a:t>Trajectory sampling (1)</a:t>
            </a:r>
            <a:endParaRPr sz="4000" dirty="0"/>
          </a:p>
        </p:txBody>
      </p:sp>
      <p:sp>
        <p:nvSpPr>
          <p:cNvPr id="84" name="Google Shape;84;p14"/>
          <p:cNvSpPr txBox="1">
            <a:spLocks noGrp="1"/>
          </p:cNvSpPr>
          <p:nvPr>
            <p:ph type="body" idx="1"/>
          </p:nvPr>
        </p:nvSpPr>
        <p:spPr>
          <a:xfrm>
            <a:off x="162750" y="1431772"/>
            <a:ext cx="8818500" cy="46340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/>
              <a:t>Dyna-Q in planning phase samples from the state-action pairs that have been visited</a:t>
            </a:r>
          </a:p>
          <a:p>
            <a:pPr lvl="1"/>
            <a:r>
              <a:rPr lang="en-GB" dirty="0"/>
              <a:t>we </a:t>
            </a:r>
            <a:r>
              <a:rPr lang="en-GB" b="1" dirty="0"/>
              <a:t>don’t waste time </a:t>
            </a:r>
            <a:r>
              <a:rPr lang="en-GB" dirty="0"/>
              <a:t>with state-action pairs about which the model has no information</a:t>
            </a:r>
          </a:p>
          <a:p>
            <a:pPr lvl="1"/>
            <a:r>
              <a:rPr lang="en-GB" dirty="0"/>
              <a:t>however, from those pairs, we sample a </a:t>
            </a:r>
            <a:r>
              <a:rPr lang="en-GB" b="1" dirty="0"/>
              <a:t>uniformly at random</a:t>
            </a:r>
          </a:p>
          <a:p>
            <a:endParaRPr lang="en-GB" dirty="0"/>
          </a:p>
          <a:p>
            <a:r>
              <a:rPr lang="en-GB" dirty="0"/>
              <a:t>We can be </a:t>
            </a:r>
            <a:r>
              <a:rPr lang="en-GB" b="1" dirty="0"/>
              <a:t>more effective:</a:t>
            </a:r>
            <a:r>
              <a:rPr lang="en-GB" dirty="0"/>
              <a:t> </a:t>
            </a:r>
          </a:p>
          <a:p>
            <a:pPr lvl="1"/>
            <a:r>
              <a:rPr lang="en-GB" dirty="0"/>
              <a:t>use a state that </a:t>
            </a:r>
            <a:r>
              <a:rPr lang="en-GB" b="1" dirty="0"/>
              <a:t>we expect to encounter </a:t>
            </a:r>
            <a:r>
              <a:rPr lang="en-GB" dirty="0"/>
              <a:t>during the current episode</a:t>
            </a:r>
          </a:p>
          <a:p>
            <a:pPr lvl="2"/>
            <a:r>
              <a:rPr lang="en-GB" b="1" dirty="0"/>
              <a:t>planning for the immediate future </a:t>
            </a:r>
            <a:r>
              <a:rPr lang="en-GB" dirty="0"/>
              <a:t>is a smarter approach</a:t>
            </a:r>
          </a:p>
          <a:p>
            <a:pPr lvl="1"/>
            <a:r>
              <a:rPr lang="en-GB" dirty="0"/>
              <a:t>sample actions from </a:t>
            </a:r>
          </a:p>
          <a:p>
            <a:pPr lvl="2"/>
            <a:r>
              <a:rPr lang="en-GB" dirty="0"/>
              <a:t>the </a:t>
            </a:r>
            <a:r>
              <a:rPr lang="en-GB" b="1" dirty="0"/>
              <a:t>same behavioural policy </a:t>
            </a:r>
            <a:r>
              <a:rPr lang="en-GB" dirty="0"/>
              <a:t>(on policy) </a:t>
            </a:r>
          </a:p>
          <a:p>
            <a:pPr lvl="2"/>
            <a:r>
              <a:rPr lang="en-GB" dirty="0"/>
              <a:t>or </a:t>
            </a:r>
            <a:r>
              <a:rPr lang="en-GB" b="1" dirty="0"/>
              <a:t>from a greedy policy </a:t>
            </a:r>
            <a:r>
              <a:rPr lang="en-GB" dirty="0"/>
              <a:t>with respect to the current estimates (off policy)</a:t>
            </a: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892178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sz="4000" dirty="0"/>
              <a:t>Trajectory sampling (2)</a:t>
            </a:r>
            <a:endParaRPr sz="4000" dirty="0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BB342FE6-16EB-9B8C-1AA0-BD3B0AB631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680" y="1066593"/>
            <a:ext cx="8355218" cy="5393034"/>
          </a:xfrm>
          <a:prstGeom prst="rect">
            <a:avLst/>
          </a:prstGeom>
        </p:spPr>
      </p:pic>
      <p:pic>
        <p:nvPicPr>
          <p:cNvPr id="4" name="Immagine 3" descr="Immagine che contiene Carattere, Elementi grafici, logo, cerchio&#10;&#10;Descrizione generata automaticamente">
            <a:extLst>
              <a:ext uri="{FF2B5EF4-FFF2-40B4-BE49-F238E27FC236}">
                <a16:creationId xmlns:a16="http://schemas.microsoft.com/office/drawing/2014/main" id="{9E572CD7-2CA1-659F-4C08-F8530AF17F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6502" y="30906"/>
            <a:ext cx="407258" cy="495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95094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sz="4000" dirty="0"/>
              <a:t>Sampling Comparison (1)</a:t>
            </a:r>
            <a:endParaRPr sz="4000" dirty="0"/>
          </a:p>
        </p:txBody>
      </p:sp>
      <p:sp>
        <p:nvSpPr>
          <p:cNvPr id="84" name="Google Shape;84;p14"/>
          <p:cNvSpPr txBox="1">
            <a:spLocks noGrp="1"/>
          </p:cNvSpPr>
          <p:nvPr>
            <p:ph type="body" idx="1"/>
          </p:nvPr>
        </p:nvSpPr>
        <p:spPr>
          <a:xfrm>
            <a:off x="162750" y="1212537"/>
            <a:ext cx="8818500" cy="52242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b="1" dirty="0"/>
              <a:t>Dyan-Q</a:t>
            </a:r>
          </a:p>
          <a:p>
            <a:pPr lvl="1"/>
            <a:r>
              <a:rPr lang="en-GB" dirty="0"/>
              <a:t>the uniform sampling </a:t>
            </a:r>
            <a:r>
              <a:rPr lang="en-GB" b="1" dirty="0"/>
              <a:t>encourages more exploration</a:t>
            </a:r>
            <a:r>
              <a:rPr lang="en-GB" dirty="0"/>
              <a:t>, potentially leading to the discovery of novel strategies or shortcuts </a:t>
            </a:r>
          </a:p>
          <a:p>
            <a:pPr lvl="1"/>
            <a:r>
              <a:rPr lang="en-GB" dirty="0"/>
              <a:t>however, this can also make it </a:t>
            </a:r>
            <a:r>
              <a:rPr lang="en-GB" b="1" dirty="0"/>
              <a:t>less efficient in exploiting already known rewarding paths</a:t>
            </a:r>
            <a:r>
              <a:rPr lang="en-GB" dirty="0"/>
              <a:t>. </a:t>
            </a:r>
          </a:p>
          <a:p>
            <a:pPr lvl="0"/>
            <a:r>
              <a:rPr lang="en-GB" b="1" dirty="0"/>
              <a:t>Trajectory Sampling</a:t>
            </a:r>
            <a:endParaRPr lang="en-GB" dirty="0"/>
          </a:p>
          <a:p>
            <a:pPr lvl="1"/>
            <a:r>
              <a:rPr lang="en-GB" dirty="0"/>
              <a:t>the focus on the current policy, prioritizes exploitation, can lead to </a:t>
            </a:r>
            <a:r>
              <a:rPr lang="en-GB" b="1" dirty="0"/>
              <a:t>faster convergence</a:t>
            </a:r>
            <a:r>
              <a:rPr lang="en-GB" dirty="0"/>
              <a:t> to a good (though not necessarily optimal) policy.</a:t>
            </a:r>
          </a:p>
          <a:p>
            <a:pPr lvl="1"/>
            <a:r>
              <a:rPr lang="en-GB" dirty="0"/>
              <a:t>the focused on frequently encountered states, is </a:t>
            </a:r>
            <a:r>
              <a:rPr lang="en-GB" b="1" dirty="0"/>
              <a:t>less likely to be affected by inaccuracies</a:t>
            </a:r>
            <a:r>
              <a:rPr lang="en-GB" dirty="0"/>
              <a:t> in less visited parts of the model </a:t>
            </a:r>
          </a:p>
          <a:p>
            <a:pPr lvl="0"/>
            <a:endParaRPr lang="en-GB" dirty="0"/>
          </a:p>
          <a:p>
            <a:pPr lvl="0"/>
            <a:r>
              <a:rPr lang="en-GB" dirty="0"/>
              <a:t>We can compare the differences in sampling the model of </a:t>
            </a:r>
            <a:r>
              <a:rPr lang="en-GB" dirty="0" err="1"/>
              <a:t>DynaQ</a:t>
            </a:r>
            <a:r>
              <a:rPr lang="en-GB" dirty="0"/>
              <a:t> and Trajectory sampling:</a:t>
            </a:r>
          </a:p>
          <a:p>
            <a:pPr lvl="1"/>
            <a:r>
              <a:rPr lang="en-GB" dirty="0"/>
              <a:t>plot the states that were sampled by the planning phase of the two algorithms </a:t>
            </a:r>
          </a:p>
          <a:p>
            <a:pPr lvl="1"/>
            <a:r>
              <a:rPr lang="en-GB" dirty="0"/>
              <a:t>and the actions selected in those states</a:t>
            </a:r>
          </a:p>
          <a:p>
            <a:pPr marL="120650" indent="0">
              <a:buNone/>
            </a:pPr>
            <a:endParaRPr lang="en-GB" dirty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00527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sz="4000" dirty="0"/>
              <a:t>Sampling Comparison (2)</a:t>
            </a:r>
            <a:endParaRPr sz="4000" dirty="0"/>
          </a:p>
        </p:txBody>
      </p:sp>
      <p:sp>
        <p:nvSpPr>
          <p:cNvPr id="84" name="Google Shape;84;p14"/>
          <p:cNvSpPr txBox="1">
            <a:spLocks noGrp="1"/>
          </p:cNvSpPr>
          <p:nvPr>
            <p:ph type="body" idx="1"/>
          </p:nvPr>
        </p:nvSpPr>
        <p:spPr>
          <a:xfrm>
            <a:off x="162750" y="1212537"/>
            <a:ext cx="8818500" cy="52242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r>
              <a:rPr lang="en-GB" dirty="0"/>
              <a:t>Dyna-Q samples uniformly at random states and actions taken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65AF9C4A-F188-66B6-407D-F7F6CC86AA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750" y="1238348"/>
            <a:ext cx="8016093" cy="4407115"/>
          </a:xfrm>
          <a:prstGeom prst="rect">
            <a:avLst/>
          </a:prstGeom>
        </p:spPr>
      </p:pic>
      <p:pic>
        <p:nvPicPr>
          <p:cNvPr id="2" name="Immagine 1" descr="Immagine che contiene Carattere, Elementi grafici, logo, cerchio&#10;&#10;Descrizione generata automaticamente">
            <a:extLst>
              <a:ext uri="{FF2B5EF4-FFF2-40B4-BE49-F238E27FC236}">
                <a16:creationId xmlns:a16="http://schemas.microsoft.com/office/drawing/2014/main" id="{07CE2F2D-9C52-2555-3B0F-F0CCA11996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6502" y="76626"/>
            <a:ext cx="407258" cy="495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4348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sz="4000" dirty="0"/>
              <a:t>Sampling Comparison (3)</a:t>
            </a:r>
            <a:endParaRPr sz="4000" dirty="0"/>
          </a:p>
        </p:txBody>
      </p:sp>
      <p:sp>
        <p:nvSpPr>
          <p:cNvPr id="84" name="Google Shape;84;p14"/>
          <p:cNvSpPr txBox="1">
            <a:spLocks noGrp="1"/>
          </p:cNvSpPr>
          <p:nvPr>
            <p:ph type="body" idx="1"/>
          </p:nvPr>
        </p:nvSpPr>
        <p:spPr>
          <a:xfrm>
            <a:off x="162750" y="1212537"/>
            <a:ext cx="8818500" cy="52242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r>
              <a:rPr lang="en-GB" dirty="0"/>
              <a:t>Trajectory sampling  samples the model to improve greedy action selection</a:t>
            </a:r>
          </a:p>
          <a:p>
            <a:pPr lvl="1"/>
            <a:r>
              <a:rPr lang="en-GB" dirty="0"/>
              <a:t>states sampled are skewed toward the goal state</a:t>
            </a:r>
          </a:p>
          <a:p>
            <a:pPr lvl="1"/>
            <a:r>
              <a:rPr lang="en-GB" dirty="0"/>
              <a:t>right action is sampled far more than the left action across the board</a:t>
            </a: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DEC6FBB5-B182-C15C-4F28-E0628D8605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1043733"/>
            <a:ext cx="8129280" cy="4400465"/>
          </a:xfrm>
          <a:prstGeom prst="rect">
            <a:avLst/>
          </a:prstGeom>
        </p:spPr>
      </p:pic>
      <p:pic>
        <p:nvPicPr>
          <p:cNvPr id="3" name="Immagine 2" descr="Immagine che contiene Carattere, Elementi grafici, logo, cerchio&#10;&#10;Descrizione generata automaticamente">
            <a:extLst>
              <a:ext uri="{FF2B5EF4-FFF2-40B4-BE49-F238E27FC236}">
                <a16:creationId xmlns:a16="http://schemas.microsoft.com/office/drawing/2014/main" id="{CB4188D6-1FEC-72CF-4326-A40A609577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6502" y="76626"/>
            <a:ext cx="407258" cy="495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0498829"/>
      </p:ext>
    </p:extLst>
  </p:cSld>
  <p:clrMapOvr>
    <a:masterClrMapping/>
  </p:clrMapOvr>
</p:sld>
</file>

<file path=ppt/theme/theme1.xml><?xml version="1.0" encoding="utf-8"?>
<a:theme xmlns:a="http://schemas.openxmlformats.org/drawingml/2006/main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8FA822B18A0634FB7342CF29752587A" ma:contentTypeVersion="13" ma:contentTypeDescription="Creare un nuovo documento." ma:contentTypeScope="" ma:versionID="5c5a1a1f66437ceed8e2102d49525b77">
  <xsd:schema xmlns:xsd="http://www.w3.org/2001/XMLSchema" xmlns:xs="http://www.w3.org/2001/XMLSchema" xmlns:p="http://schemas.microsoft.com/office/2006/metadata/properties" xmlns:ns2="3bd0d43f-5e5b-43cd-b6fc-691bd77672c6" xmlns:ns3="e9b5433c-2372-4cb7-8bab-09518096b29b" targetNamespace="http://schemas.microsoft.com/office/2006/metadata/properties" ma:root="true" ma:fieldsID="79bbaae61552c66980d55f32a6cab4b6" ns2:_="" ns3:_="">
    <xsd:import namespace="3bd0d43f-5e5b-43cd-b6fc-691bd77672c6"/>
    <xsd:import namespace="e9b5433c-2372-4cb7-8bab-09518096b29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d0d43f-5e5b-43cd-b6fc-691bd77672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Tag immagine" ma:readOnly="false" ma:fieldId="{5cf76f15-5ced-4ddc-b409-7134ff3c332f}" ma:taxonomyMulti="true" ma:sspId="b3f316dc-fb4b-4146-8b22-f4ef2efe4b0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b5433c-2372-4cb7-8bab-09518096b29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ac4bbe8c-9a55-4d5f-b385-d948ddfe6c4d}" ma:internalName="TaxCatchAll" ma:showField="CatchAllData" ma:web="e9b5433c-2372-4cb7-8bab-09518096b29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9b5433c-2372-4cb7-8bab-09518096b29b" xsi:nil="true"/>
    <lcf76f155ced4ddcb4097134ff3c332f xmlns="3bd0d43f-5e5b-43cd-b6fc-691bd77672c6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6A2F823E-AAD2-4AB4-AE4C-EAD629A3EFA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bd0d43f-5e5b-43cd-b6fc-691bd77672c6"/>
    <ds:schemaRef ds:uri="e9b5433c-2372-4cb7-8bab-09518096b29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9A73485-DF07-49F9-BC91-6AD972C9E1B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6D08863-017C-4F8A-80B5-480157D41150}">
  <ds:schemaRefs>
    <ds:schemaRef ds:uri="http://purl.org/dc/dcmitype/"/>
    <ds:schemaRef ds:uri="http://schemas.microsoft.com/office/2006/documentManagement/types"/>
    <ds:schemaRef ds:uri="3bd0d43f-5e5b-43cd-b6fc-691bd77672c6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e9b5433c-2372-4cb7-8bab-09518096b29b"/>
    <ds:schemaRef ds:uri="http://purl.org/dc/terms/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17853</TotalTime>
  <Words>693</Words>
  <Application>Microsoft Macintosh PowerPoint</Application>
  <PresentationFormat>Presentazione su schermo (4:3)</PresentationFormat>
  <Paragraphs>123</Paragraphs>
  <Slides>13</Slides>
  <Notes>13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13</vt:i4>
      </vt:variant>
    </vt:vector>
  </HeadingPairs>
  <TitlesOfParts>
    <vt:vector size="17" baseType="lpstr">
      <vt:lpstr>Economica</vt:lpstr>
      <vt:lpstr>Open Sans</vt:lpstr>
      <vt:lpstr>Arial</vt:lpstr>
      <vt:lpstr>Luxe</vt:lpstr>
      <vt:lpstr>Model-based Reinforcement Learning</vt:lpstr>
      <vt:lpstr>Objectives</vt:lpstr>
      <vt:lpstr>Model-based Reinforcement Learning</vt:lpstr>
      <vt:lpstr>Dyna-Q (1)</vt:lpstr>
      <vt:lpstr>Dyna-Q (2)</vt:lpstr>
      <vt:lpstr>Dyna-Q (3)</vt:lpstr>
      <vt:lpstr>Dyna-Q (4)</vt:lpstr>
      <vt:lpstr>Learned transition model</vt:lpstr>
      <vt:lpstr>Trajectory sampling (1)</vt:lpstr>
      <vt:lpstr>Trajectory sampling (2)</vt:lpstr>
      <vt:lpstr>Sampling Comparison (1)</vt:lpstr>
      <vt:lpstr>Sampling Comparison (2)</vt:lpstr>
      <vt:lpstr>Sampling Comparison (3)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Digital Abstraction</dc:title>
  <dc:subject/>
  <dc:creator/>
  <cp:keywords/>
  <dc:description/>
  <cp:lastModifiedBy>Riccardo Berta</cp:lastModifiedBy>
  <cp:revision>48</cp:revision>
  <dcterms:modified xsi:type="dcterms:W3CDTF">2025-11-19T06:52:24Z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0x010100B8FA822B18A0634FB7342CF29752587A</vt:lpwstr>
  </property>
</Properties>
</file>