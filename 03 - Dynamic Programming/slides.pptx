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52"/>
  </p:notesMasterIdLst>
  <p:handoutMasterIdLst>
    <p:handoutMasterId r:id="rId53"/>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6" r:id="rId51"/>
  </p:sldIdLst>
  <p:sldSz cx="12192000" cy="6858000"/>
  <p:notesSz cx="6858000" cy="9144000"/>
  <p:embeddedFontLst>
    <p:embeddedFont>
      <p:font typeface="Consolas" panose="020B0609020204030204" pitchFamily="49" charset="0"/>
      <p:regular r:id="rId54"/>
      <p:bold r:id="rId55"/>
      <p:italic r:id="rId56"/>
      <p:boldItalic r:id="rId57"/>
    </p:embeddedFont>
    <p:embeddedFont>
      <p:font typeface="Fira Sans" panose="020B0503050000020004" pitchFamily="34" charset="0"/>
      <p:regular r:id="rId58"/>
      <p:bold r:id="rId59"/>
      <p:italic r:id="rId60"/>
      <p:boldItalic r:id="rId61"/>
    </p:embeddedFont>
    <p:embeddedFont>
      <p:font typeface="Fira Sans Medium" panose="020B0603050000020004" pitchFamily="34" charset="0"/>
      <p:regular r:id="rId62"/>
      <p:italic r:id="rId63"/>
    </p:embeddedFont>
    <p:embeddedFont>
      <p:font typeface="Roboto Slab" pitchFamily="2" charset="0"/>
      <p:regular r:id="rId64"/>
      <p:bold r:id="rId65"/>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4676"/>
    <a:srgbClr val="EF3340"/>
    <a:srgbClr val="A4BCC2"/>
    <a:srgbClr val="727272"/>
    <a:srgbClr val="D6AC02"/>
    <a:srgbClr val="F1C400"/>
    <a:srgbClr val="DEB401"/>
    <a:srgbClr val="B08D3B"/>
    <a:srgbClr val="F4633A"/>
    <a:srgbClr val="0061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28253F-65DB-574F-A257-610789BCE1CD}" v="10" dt="2026-10-01T09:24:25.725"/>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159" autoAdjust="0"/>
    <p:restoredTop sz="86441"/>
  </p:normalViewPr>
  <p:slideViewPr>
    <p:cSldViewPr snapToGrid="0" snapToObjects="1" showGuides="1">
      <p:cViewPr varScale="1">
        <p:scale>
          <a:sx n="159" d="100"/>
          <a:sy n="159" d="100"/>
        </p:scale>
        <p:origin x="656" y="1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0.fntdata"/><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font" Target="fonts/font5.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font" Target="fonts/font9.fntdata"/><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7.fntdata"/><Relationship Id="rId65"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cardo Berta" userId="c8694f89-bba4-4576-b0a8-456619ca5a8c" providerId="ADAL" clId="{FDDBFC5A-5EA9-5330-BEB8-433D7E3B4C4E}"/>
    <pc:docChg chg="undo redo custSel delSld modSld">
      <pc:chgData name="Riccardo Berta" userId="c8694f89-bba4-4576-b0a8-456619ca5a8c" providerId="ADAL" clId="{FDDBFC5A-5EA9-5330-BEB8-433D7E3B4C4E}" dt="2026-10-01T09:46:33.490" v="808" actId="14100"/>
      <pc:docMkLst>
        <pc:docMk/>
      </pc:docMkLst>
      <pc:sldChg chg="modSp mod">
        <pc:chgData name="Riccardo Berta" userId="c8694f89-bba4-4576-b0a8-456619ca5a8c" providerId="ADAL" clId="{FDDBFC5A-5EA9-5330-BEB8-433D7E3B4C4E}" dt="2026-09-28T11:31:23.715" v="8" actId="20577"/>
        <pc:sldMkLst>
          <pc:docMk/>
          <pc:sldMk cId="0" sldId="256"/>
        </pc:sldMkLst>
        <pc:spChg chg="mod">
          <ac:chgData name="Riccardo Berta" userId="c8694f89-bba4-4576-b0a8-456619ca5a8c" providerId="ADAL" clId="{FDDBFC5A-5EA9-5330-BEB8-433D7E3B4C4E}" dt="2026-09-28T11:31:23.715" v="8" actId="20577"/>
          <ac:spMkLst>
            <pc:docMk/>
            <pc:sldMk cId="0" sldId="256"/>
            <ac:spMk id="7" creationId="{00000000-0000-0000-0000-000000000000}"/>
          </ac:spMkLst>
        </pc:spChg>
      </pc:sldChg>
      <pc:sldChg chg="modSp mod">
        <pc:chgData name="Riccardo Berta" userId="c8694f89-bba4-4576-b0a8-456619ca5a8c" providerId="ADAL" clId="{FDDBFC5A-5EA9-5330-BEB8-433D7E3B4C4E}" dt="2026-09-28T11:31:50.099" v="17" actId="20577"/>
        <pc:sldMkLst>
          <pc:docMk/>
          <pc:sldMk cId="0" sldId="257"/>
        </pc:sldMkLst>
        <pc:spChg chg="mod">
          <ac:chgData name="Riccardo Berta" userId="c8694f89-bba4-4576-b0a8-456619ca5a8c" providerId="ADAL" clId="{FDDBFC5A-5EA9-5330-BEB8-433D7E3B4C4E}" dt="2026-09-28T11:31:41.465" v="12" actId="20577"/>
          <ac:spMkLst>
            <pc:docMk/>
            <pc:sldMk cId="0" sldId="257"/>
            <ac:spMk id="6" creationId="{00000000-0000-0000-0000-000000000000}"/>
          </ac:spMkLst>
        </pc:spChg>
        <pc:spChg chg="mod">
          <ac:chgData name="Riccardo Berta" userId="c8694f89-bba4-4576-b0a8-456619ca5a8c" providerId="ADAL" clId="{FDDBFC5A-5EA9-5330-BEB8-433D7E3B4C4E}" dt="2026-09-28T11:31:50.099" v="17" actId="20577"/>
          <ac:spMkLst>
            <pc:docMk/>
            <pc:sldMk cId="0" sldId="257"/>
            <ac:spMk id="8" creationId="{00000000-0000-0000-0000-000000000000}"/>
          </ac:spMkLst>
        </pc:spChg>
      </pc:sldChg>
      <pc:sldChg chg="modSp mod">
        <pc:chgData name="Riccardo Berta" userId="c8694f89-bba4-4576-b0a8-456619ca5a8c" providerId="ADAL" clId="{FDDBFC5A-5EA9-5330-BEB8-433D7E3B4C4E}" dt="2026-09-28T11:33:27.526" v="66" actId="20577"/>
        <pc:sldMkLst>
          <pc:docMk/>
          <pc:sldMk cId="0" sldId="258"/>
        </pc:sldMkLst>
        <pc:spChg chg="mod">
          <ac:chgData name="Riccardo Berta" userId="c8694f89-bba4-4576-b0a8-456619ca5a8c" providerId="ADAL" clId="{FDDBFC5A-5EA9-5330-BEB8-433D7E3B4C4E}" dt="2026-09-28T11:32:21.848" v="22" actId="20577"/>
          <ac:spMkLst>
            <pc:docMk/>
            <pc:sldMk cId="0" sldId="258"/>
            <ac:spMk id="11" creationId="{00000000-0000-0000-0000-000000000000}"/>
          </ac:spMkLst>
        </pc:spChg>
        <pc:spChg chg="mod">
          <ac:chgData name="Riccardo Berta" userId="c8694f89-bba4-4576-b0a8-456619ca5a8c" providerId="ADAL" clId="{FDDBFC5A-5EA9-5330-BEB8-433D7E3B4C4E}" dt="2026-09-28T11:32:55.265" v="57" actId="790"/>
          <ac:spMkLst>
            <pc:docMk/>
            <pc:sldMk cId="0" sldId="258"/>
            <ac:spMk id="15" creationId="{00000000-0000-0000-0000-000000000000}"/>
          </ac:spMkLst>
        </pc:spChg>
        <pc:spChg chg="mod">
          <ac:chgData name="Riccardo Berta" userId="c8694f89-bba4-4576-b0a8-456619ca5a8c" providerId="ADAL" clId="{FDDBFC5A-5EA9-5330-BEB8-433D7E3B4C4E}" dt="2026-09-28T11:33:07.105" v="60" actId="20577"/>
          <ac:spMkLst>
            <pc:docMk/>
            <pc:sldMk cId="0" sldId="258"/>
            <ac:spMk id="19" creationId="{00000000-0000-0000-0000-000000000000}"/>
          </ac:spMkLst>
        </pc:spChg>
        <pc:spChg chg="mod">
          <ac:chgData name="Riccardo Berta" userId="c8694f89-bba4-4576-b0a8-456619ca5a8c" providerId="ADAL" clId="{FDDBFC5A-5EA9-5330-BEB8-433D7E3B4C4E}" dt="2026-09-28T11:33:27.526" v="66" actId="20577"/>
          <ac:spMkLst>
            <pc:docMk/>
            <pc:sldMk cId="0" sldId="258"/>
            <ac:spMk id="47" creationId="{00000000-0000-0000-0000-000000000000}"/>
          </ac:spMkLst>
        </pc:spChg>
        <pc:picChg chg="mod modCrop">
          <ac:chgData name="Riccardo Berta" userId="c8694f89-bba4-4576-b0a8-456619ca5a8c" providerId="ADAL" clId="{FDDBFC5A-5EA9-5330-BEB8-433D7E3B4C4E}" dt="2026-09-16T12:36:04.185" v="1" actId="732"/>
          <ac:picMkLst>
            <pc:docMk/>
            <pc:sldMk cId="0" sldId="258"/>
            <ac:picMk id="10" creationId="{00000000-0000-0000-0000-000000000000}"/>
          </ac:picMkLst>
        </pc:picChg>
      </pc:sldChg>
      <pc:sldChg chg="modSp mod">
        <pc:chgData name="Riccardo Berta" userId="c8694f89-bba4-4576-b0a8-456619ca5a8c" providerId="ADAL" clId="{FDDBFC5A-5EA9-5330-BEB8-433D7E3B4C4E}" dt="2026-09-30T09:57:53.805" v="718" actId="1076"/>
        <pc:sldMkLst>
          <pc:docMk/>
          <pc:sldMk cId="0" sldId="259"/>
        </pc:sldMkLst>
        <pc:spChg chg="mod">
          <ac:chgData name="Riccardo Berta" userId="c8694f89-bba4-4576-b0a8-456619ca5a8c" providerId="ADAL" clId="{FDDBFC5A-5EA9-5330-BEB8-433D7E3B4C4E}" dt="2026-09-28T11:33:51.962" v="71" actId="20577"/>
          <ac:spMkLst>
            <pc:docMk/>
            <pc:sldMk cId="0" sldId="259"/>
            <ac:spMk id="8" creationId="{00000000-0000-0000-0000-000000000000}"/>
          </ac:spMkLst>
        </pc:spChg>
        <pc:spChg chg="mod">
          <ac:chgData name="Riccardo Berta" userId="c8694f89-bba4-4576-b0a8-456619ca5a8c" providerId="ADAL" clId="{FDDBFC5A-5EA9-5330-BEB8-433D7E3B4C4E}" dt="2026-09-30T09:57:53.805" v="718" actId="1076"/>
          <ac:spMkLst>
            <pc:docMk/>
            <pc:sldMk cId="0" sldId="259"/>
            <ac:spMk id="16" creationId="{00000000-0000-0000-0000-000000000000}"/>
          </ac:spMkLst>
        </pc:spChg>
        <pc:spChg chg="mod">
          <ac:chgData name="Riccardo Berta" userId="c8694f89-bba4-4576-b0a8-456619ca5a8c" providerId="ADAL" clId="{FDDBFC5A-5EA9-5330-BEB8-433D7E3B4C4E}" dt="2026-09-28T11:35:05.468" v="83" actId="20577"/>
          <ac:spMkLst>
            <pc:docMk/>
            <pc:sldMk cId="0" sldId="259"/>
            <ac:spMk id="23" creationId="{00000000-0000-0000-0000-000000000000}"/>
          </ac:spMkLst>
        </pc:spChg>
        <pc:spChg chg="mod">
          <ac:chgData name="Riccardo Berta" userId="c8694f89-bba4-4576-b0a8-456619ca5a8c" providerId="ADAL" clId="{FDDBFC5A-5EA9-5330-BEB8-433D7E3B4C4E}" dt="2026-09-28T11:34:03.133" v="74" actId="20577"/>
          <ac:spMkLst>
            <pc:docMk/>
            <pc:sldMk cId="0" sldId="259"/>
            <ac:spMk id="27" creationId="{00000000-0000-0000-0000-000000000000}"/>
          </ac:spMkLst>
        </pc:spChg>
        <pc:spChg chg="mod">
          <ac:chgData name="Riccardo Berta" userId="c8694f89-bba4-4576-b0a8-456619ca5a8c" providerId="ADAL" clId="{FDDBFC5A-5EA9-5330-BEB8-433D7E3B4C4E}" dt="2026-09-28T11:34:43.074" v="78" actId="20577"/>
          <ac:spMkLst>
            <pc:docMk/>
            <pc:sldMk cId="0" sldId="259"/>
            <ac:spMk id="29" creationId="{00000000-0000-0000-0000-000000000000}"/>
          </ac:spMkLst>
        </pc:spChg>
        <pc:spChg chg="mod">
          <ac:chgData name="Riccardo Berta" userId="c8694f89-bba4-4576-b0a8-456619ca5a8c" providerId="ADAL" clId="{FDDBFC5A-5EA9-5330-BEB8-433D7E3B4C4E}" dt="2026-09-28T11:35:17.450" v="87" actId="20577"/>
          <ac:spMkLst>
            <pc:docMk/>
            <pc:sldMk cId="0" sldId="259"/>
            <ac:spMk id="31" creationId="{00000000-0000-0000-0000-000000000000}"/>
          </ac:spMkLst>
        </pc:spChg>
      </pc:sldChg>
      <pc:sldChg chg="modSp mod">
        <pc:chgData name="Riccardo Berta" userId="c8694f89-bba4-4576-b0a8-456619ca5a8c" providerId="ADAL" clId="{FDDBFC5A-5EA9-5330-BEB8-433D7E3B4C4E}" dt="2026-09-28T11:36:14.884" v="96" actId="20577"/>
        <pc:sldMkLst>
          <pc:docMk/>
          <pc:sldMk cId="0" sldId="260"/>
        </pc:sldMkLst>
        <pc:spChg chg="mod">
          <ac:chgData name="Riccardo Berta" userId="c8694f89-bba4-4576-b0a8-456619ca5a8c" providerId="ADAL" clId="{FDDBFC5A-5EA9-5330-BEB8-433D7E3B4C4E}" dt="2026-09-28T11:35:29.283" v="94" actId="20577"/>
          <ac:spMkLst>
            <pc:docMk/>
            <pc:sldMk cId="0" sldId="260"/>
            <ac:spMk id="3" creationId="{00000000-0000-0000-0000-000000000000}"/>
          </ac:spMkLst>
        </pc:spChg>
        <pc:spChg chg="mod">
          <ac:chgData name="Riccardo Berta" userId="c8694f89-bba4-4576-b0a8-456619ca5a8c" providerId="ADAL" clId="{FDDBFC5A-5EA9-5330-BEB8-433D7E3B4C4E}" dt="2026-09-28T11:35:49.095" v="95" actId="113"/>
          <ac:spMkLst>
            <pc:docMk/>
            <pc:sldMk cId="0" sldId="260"/>
            <ac:spMk id="8" creationId="{00000000-0000-0000-0000-000000000000}"/>
          </ac:spMkLst>
        </pc:spChg>
        <pc:spChg chg="mod">
          <ac:chgData name="Riccardo Berta" userId="c8694f89-bba4-4576-b0a8-456619ca5a8c" providerId="ADAL" clId="{FDDBFC5A-5EA9-5330-BEB8-433D7E3B4C4E}" dt="2026-09-28T11:36:14.884" v="96" actId="20577"/>
          <ac:spMkLst>
            <pc:docMk/>
            <pc:sldMk cId="0" sldId="260"/>
            <ac:spMk id="13" creationId="{00000000-0000-0000-0000-000000000000}"/>
          </ac:spMkLst>
        </pc:spChg>
      </pc:sldChg>
      <pc:sldChg chg="modSp mod">
        <pc:chgData name="Riccardo Berta" userId="c8694f89-bba4-4576-b0a8-456619ca5a8c" providerId="ADAL" clId="{FDDBFC5A-5EA9-5330-BEB8-433D7E3B4C4E}" dt="2026-09-28T11:37:31.569" v="112" actId="20577"/>
        <pc:sldMkLst>
          <pc:docMk/>
          <pc:sldMk cId="0" sldId="261"/>
        </pc:sldMkLst>
        <pc:spChg chg="mod">
          <ac:chgData name="Riccardo Berta" userId="c8694f89-bba4-4576-b0a8-456619ca5a8c" providerId="ADAL" clId="{FDDBFC5A-5EA9-5330-BEB8-433D7E3B4C4E}" dt="2026-09-28T11:37:17.968" v="110" actId="20577"/>
          <ac:spMkLst>
            <pc:docMk/>
            <pc:sldMk cId="0" sldId="261"/>
            <ac:spMk id="47" creationId="{00000000-0000-0000-0000-000000000000}"/>
          </ac:spMkLst>
        </pc:spChg>
        <pc:spChg chg="mod">
          <ac:chgData name="Riccardo Berta" userId="c8694f89-bba4-4576-b0a8-456619ca5a8c" providerId="ADAL" clId="{FDDBFC5A-5EA9-5330-BEB8-433D7E3B4C4E}" dt="2026-09-28T11:37:31.569" v="112" actId="20577"/>
          <ac:spMkLst>
            <pc:docMk/>
            <pc:sldMk cId="0" sldId="261"/>
            <ac:spMk id="51" creationId="{00000000-0000-0000-0000-000000000000}"/>
          </ac:spMkLst>
        </pc:spChg>
      </pc:sldChg>
      <pc:sldChg chg="modSp mod">
        <pc:chgData name="Riccardo Berta" userId="c8694f89-bba4-4576-b0a8-456619ca5a8c" providerId="ADAL" clId="{FDDBFC5A-5EA9-5330-BEB8-433D7E3B4C4E}" dt="2026-09-28T11:39:18.190" v="114" actId="20577"/>
        <pc:sldMkLst>
          <pc:docMk/>
          <pc:sldMk cId="0" sldId="263"/>
        </pc:sldMkLst>
        <pc:spChg chg="mod">
          <ac:chgData name="Riccardo Berta" userId="c8694f89-bba4-4576-b0a8-456619ca5a8c" providerId="ADAL" clId="{FDDBFC5A-5EA9-5330-BEB8-433D7E3B4C4E}" dt="2026-09-28T11:39:18.190" v="114" actId="20577"/>
          <ac:spMkLst>
            <pc:docMk/>
            <pc:sldMk cId="0" sldId="263"/>
            <ac:spMk id="13" creationId="{00000000-0000-0000-0000-000000000000}"/>
          </ac:spMkLst>
        </pc:spChg>
      </pc:sldChg>
      <pc:sldChg chg="addSp delSp modSp mod">
        <pc:chgData name="Riccardo Berta" userId="c8694f89-bba4-4576-b0a8-456619ca5a8c" providerId="ADAL" clId="{FDDBFC5A-5EA9-5330-BEB8-433D7E3B4C4E}" dt="2026-10-01T05:45:45.957" v="743" actId="1076"/>
        <pc:sldMkLst>
          <pc:docMk/>
          <pc:sldMk cId="0" sldId="264"/>
        </pc:sldMkLst>
        <pc:spChg chg="mod">
          <ac:chgData name="Riccardo Berta" userId="c8694f89-bba4-4576-b0a8-456619ca5a8c" providerId="ADAL" clId="{FDDBFC5A-5EA9-5330-BEB8-433D7E3B4C4E}" dt="2026-10-01T05:45:13.238" v="734" actId="20577"/>
          <ac:spMkLst>
            <pc:docMk/>
            <pc:sldMk cId="0" sldId="264"/>
            <ac:spMk id="8" creationId="{00000000-0000-0000-0000-000000000000}"/>
          </ac:spMkLst>
        </pc:spChg>
        <pc:spChg chg="mod">
          <ac:chgData name="Riccardo Berta" userId="c8694f89-bba4-4576-b0a8-456619ca5a8c" providerId="ADAL" clId="{FDDBFC5A-5EA9-5330-BEB8-433D7E3B4C4E}" dt="2026-10-01T05:45:34.143" v="737" actId="1076"/>
          <ac:spMkLst>
            <pc:docMk/>
            <pc:sldMk cId="0" sldId="264"/>
            <ac:spMk id="10" creationId="{00000000-0000-0000-0000-000000000000}"/>
          </ac:spMkLst>
        </pc:spChg>
        <pc:spChg chg="mod">
          <ac:chgData name="Riccardo Berta" userId="c8694f89-bba4-4576-b0a8-456619ca5a8c" providerId="ADAL" clId="{FDDBFC5A-5EA9-5330-BEB8-433D7E3B4C4E}" dt="2026-09-28T11:40:04.982" v="117" actId="20577"/>
          <ac:spMkLst>
            <pc:docMk/>
            <pc:sldMk cId="0" sldId="264"/>
            <ac:spMk id="14" creationId="{00000000-0000-0000-0000-000000000000}"/>
          </ac:spMkLst>
        </pc:spChg>
        <pc:picChg chg="mod">
          <ac:chgData name="Riccardo Berta" userId="c8694f89-bba4-4576-b0a8-456619ca5a8c" providerId="ADAL" clId="{FDDBFC5A-5EA9-5330-BEB8-433D7E3B4C4E}" dt="2026-10-01T05:45:40.668" v="740" actId="1076"/>
          <ac:picMkLst>
            <pc:docMk/>
            <pc:sldMk cId="0" sldId="264"/>
            <ac:picMk id="9" creationId="{00000000-0000-0000-0000-000000000000}"/>
          </ac:picMkLst>
        </pc:picChg>
        <pc:picChg chg="add del mod">
          <ac:chgData name="Riccardo Berta" userId="c8694f89-bba4-4576-b0a8-456619ca5a8c" providerId="ADAL" clId="{FDDBFC5A-5EA9-5330-BEB8-433D7E3B4C4E}" dt="2026-09-30T10:34:53.041" v="724" actId="478"/>
          <ac:picMkLst>
            <pc:docMk/>
            <pc:sldMk cId="0" sldId="264"/>
            <ac:picMk id="15" creationId="{0E53C168-959A-C2EF-3034-6A5D306564FF}"/>
          </ac:picMkLst>
        </pc:picChg>
        <pc:picChg chg="add mod">
          <ac:chgData name="Riccardo Berta" userId="c8694f89-bba4-4576-b0a8-456619ca5a8c" providerId="ADAL" clId="{FDDBFC5A-5EA9-5330-BEB8-433D7E3B4C4E}" dt="2026-10-01T05:45:45.957" v="743" actId="1076"/>
          <ac:picMkLst>
            <pc:docMk/>
            <pc:sldMk cId="0" sldId="264"/>
            <ac:picMk id="16" creationId="{0D1E613B-DBC7-5ED7-AC2C-5E1A8C936A0C}"/>
          </ac:picMkLst>
        </pc:picChg>
      </pc:sldChg>
      <pc:sldChg chg="modSp mod">
        <pc:chgData name="Riccardo Berta" userId="c8694f89-bba4-4576-b0a8-456619ca5a8c" providerId="ADAL" clId="{FDDBFC5A-5EA9-5330-BEB8-433D7E3B4C4E}" dt="2026-09-28T11:41:21.535" v="121" actId="1035"/>
        <pc:sldMkLst>
          <pc:docMk/>
          <pc:sldMk cId="0" sldId="265"/>
        </pc:sldMkLst>
        <pc:spChg chg="mod">
          <ac:chgData name="Riccardo Berta" userId="c8694f89-bba4-4576-b0a8-456619ca5a8c" providerId="ADAL" clId="{FDDBFC5A-5EA9-5330-BEB8-433D7E3B4C4E}" dt="2026-09-28T11:40:25.598" v="119" actId="20577"/>
          <ac:spMkLst>
            <pc:docMk/>
            <pc:sldMk cId="0" sldId="265"/>
            <ac:spMk id="11" creationId="{00000000-0000-0000-0000-000000000000}"/>
          </ac:spMkLst>
        </pc:spChg>
        <pc:spChg chg="mod">
          <ac:chgData name="Riccardo Berta" userId="c8694f89-bba4-4576-b0a8-456619ca5a8c" providerId="ADAL" clId="{FDDBFC5A-5EA9-5330-BEB8-433D7E3B4C4E}" dt="2026-09-28T11:41:21.535" v="121" actId="1035"/>
          <ac:spMkLst>
            <pc:docMk/>
            <pc:sldMk cId="0" sldId="265"/>
            <ac:spMk id="14" creationId="{00000000-0000-0000-0000-000000000000}"/>
          </ac:spMkLst>
        </pc:spChg>
      </pc:sldChg>
      <pc:sldChg chg="modSp mod">
        <pc:chgData name="Riccardo Berta" userId="c8694f89-bba4-4576-b0a8-456619ca5a8c" providerId="ADAL" clId="{FDDBFC5A-5EA9-5330-BEB8-433D7E3B4C4E}" dt="2026-10-01T05:46:16.486" v="746" actId="20577"/>
        <pc:sldMkLst>
          <pc:docMk/>
          <pc:sldMk cId="0" sldId="266"/>
        </pc:sldMkLst>
        <pc:spChg chg="mod">
          <ac:chgData name="Riccardo Berta" userId="c8694f89-bba4-4576-b0a8-456619ca5a8c" providerId="ADAL" clId="{FDDBFC5A-5EA9-5330-BEB8-433D7E3B4C4E}" dt="2026-10-01T05:46:16.486" v="746" actId="20577"/>
          <ac:spMkLst>
            <pc:docMk/>
            <pc:sldMk cId="0" sldId="266"/>
            <ac:spMk id="12" creationId="{00000000-0000-0000-0000-000000000000}"/>
          </ac:spMkLst>
        </pc:spChg>
      </pc:sldChg>
      <pc:sldChg chg="modSp mod">
        <pc:chgData name="Riccardo Berta" userId="c8694f89-bba4-4576-b0a8-456619ca5a8c" providerId="ADAL" clId="{FDDBFC5A-5EA9-5330-BEB8-433D7E3B4C4E}" dt="2026-10-01T08:15:16.292" v="793" actId="1076"/>
        <pc:sldMkLst>
          <pc:docMk/>
          <pc:sldMk cId="0" sldId="267"/>
        </pc:sldMkLst>
        <pc:spChg chg="mod">
          <ac:chgData name="Riccardo Berta" userId="c8694f89-bba4-4576-b0a8-456619ca5a8c" providerId="ADAL" clId="{FDDBFC5A-5EA9-5330-BEB8-433D7E3B4C4E}" dt="2026-09-28T11:43:59.303" v="137" actId="20577"/>
          <ac:spMkLst>
            <pc:docMk/>
            <pc:sldMk cId="0" sldId="267"/>
            <ac:spMk id="3" creationId="{00000000-0000-0000-0000-000000000000}"/>
          </ac:spMkLst>
        </pc:spChg>
        <pc:spChg chg="mod">
          <ac:chgData name="Riccardo Berta" userId="c8694f89-bba4-4576-b0a8-456619ca5a8c" providerId="ADAL" clId="{FDDBFC5A-5EA9-5330-BEB8-433D7E3B4C4E}" dt="2026-09-28T11:42:30.778" v="122" actId="20577"/>
          <ac:spMkLst>
            <pc:docMk/>
            <pc:sldMk cId="0" sldId="267"/>
            <ac:spMk id="8" creationId="{00000000-0000-0000-0000-000000000000}"/>
          </ac:spMkLst>
        </pc:spChg>
        <pc:spChg chg="mod">
          <ac:chgData name="Riccardo Berta" userId="c8694f89-bba4-4576-b0a8-456619ca5a8c" providerId="ADAL" clId="{FDDBFC5A-5EA9-5330-BEB8-433D7E3B4C4E}" dt="2026-09-28T11:43:08.207" v="127" actId="20577"/>
          <ac:spMkLst>
            <pc:docMk/>
            <pc:sldMk cId="0" sldId="267"/>
            <ac:spMk id="18" creationId="{00000000-0000-0000-0000-000000000000}"/>
          </ac:spMkLst>
        </pc:spChg>
        <pc:spChg chg="mod">
          <ac:chgData name="Riccardo Berta" userId="c8694f89-bba4-4576-b0a8-456619ca5a8c" providerId="ADAL" clId="{FDDBFC5A-5EA9-5330-BEB8-433D7E3B4C4E}" dt="2026-09-28T11:43:20.945" v="129" actId="20577"/>
          <ac:spMkLst>
            <pc:docMk/>
            <pc:sldMk cId="0" sldId="267"/>
            <ac:spMk id="26" creationId="{00000000-0000-0000-0000-000000000000}"/>
          </ac:spMkLst>
        </pc:spChg>
        <pc:spChg chg="mod">
          <ac:chgData name="Riccardo Berta" userId="c8694f89-bba4-4576-b0a8-456619ca5a8c" providerId="ADAL" clId="{FDDBFC5A-5EA9-5330-BEB8-433D7E3B4C4E}" dt="2026-09-28T11:43:44.969" v="134" actId="20577"/>
          <ac:spMkLst>
            <pc:docMk/>
            <pc:sldMk cId="0" sldId="267"/>
            <ac:spMk id="28" creationId="{00000000-0000-0000-0000-000000000000}"/>
          </ac:spMkLst>
        </pc:spChg>
        <pc:picChg chg="mod">
          <ac:chgData name="Riccardo Berta" userId="c8694f89-bba4-4576-b0a8-456619ca5a8c" providerId="ADAL" clId="{FDDBFC5A-5EA9-5330-BEB8-433D7E3B4C4E}" dt="2026-10-01T08:15:16.292" v="793" actId="1076"/>
          <ac:picMkLst>
            <pc:docMk/>
            <pc:sldMk cId="0" sldId="267"/>
            <ac:picMk id="9" creationId="{00000000-0000-0000-0000-000000000000}"/>
          </ac:picMkLst>
        </pc:picChg>
      </pc:sldChg>
      <pc:sldChg chg="modSp mod">
        <pc:chgData name="Riccardo Berta" userId="c8694f89-bba4-4576-b0a8-456619ca5a8c" providerId="ADAL" clId="{FDDBFC5A-5EA9-5330-BEB8-433D7E3B4C4E}" dt="2026-09-28T11:45:59.648" v="165" actId="20577"/>
        <pc:sldMkLst>
          <pc:docMk/>
          <pc:sldMk cId="0" sldId="268"/>
        </pc:sldMkLst>
        <pc:spChg chg="mod">
          <ac:chgData name="Riccardo Berta" userId="c8694f89-bba4-4576-b0a8-456619ca5a8c" providerId="ADAL" clId="{FDDBFC5A-5EA9-5330-BEB8-433D7E3B4C4E}" dt="2026-09-28T11:45:18.474" v="152" actId="20577"/>
          <ac:spMkLst>
            <pc:docMk/>
            <pc:sldMk cId="0" sldId="268"/>
            <ac:spMk id="14" creationId="{00000000-0000-0000-0000-000000000000}"/>
          </ac:spMkLst>
        </pc:spChg>
        <pc:spChg chg="mod">
          <ac:chgData name="Riccardo Berta" userId="c8694f89-bba4-4576-b0a8-456619ca5a8c" providerId="ADAL" clId="{FDDBFC5A-5EA9-5330-BEB8-433D7E3B4C4E}" dt="2026-09-28T11:45:45.151" v="158" actId="20577"/>
          <ac:spMkLst>
            <pc:docMk/>
            <pc:sldMk cId="0" sldId="268"/>
            <ac:spMk id="18" creationId="{00000000-0000-0000-0000-000000000000}"/>
          </ac:spMkLst>
        </pc:spChg>
        <pc:spChg chg="mod">
          <ac:chgData name="Riccardo Berta" userId="c8694f89-bba4-4576-b0a8-456619ca5a8c" providerId="ADAL" clId="{FDDBFC5A-5EA9-5330-BEB8-433D7E3B4C4E}" dt="2026-09-28T11:45:59.648" v="165" actId="20577"/>
          <ac:spMkLst>
            <pc:docMk/>
            <pc:sldMk cId="0" sldId="268"/>
            <ac:spMk id="22" creationId="{00000000-0000-0000-0000-000000000000}"/>
          </ac:spMkLst>
        </pc:spChg>
      </pc:sldChg>
      <pc:sldChg chg="modSp mod">
        <pc:chgData name="Riccardo Berta" userId="c8694f89-bba4-4576-b0a8-456619ca5a8c" providerId="ADAL" clId="{FDDBFC5A-5EA9-5330-BEB8-433D7E3B4C4E}" dt="2026-10-01T06:06:06.613" v="790" actId="20577"/>
        <pc:sldMkLst>
          <pc:docMk/>
          <pc:sldMk cId="0" sldId="270"/>
        </pc:sldMkLst>
        <pc:spChg chg="mod">
          <ac:chgData name="Riccardo Berta" userId="c8694f89-bba4-4576-b0a8-456619ca5a8c" providerId="ADAL" clId="{FDDBFC5A-5EA9-5330-BEB8-433D7E3B4C4E}" dt="2026-09-28T11:47:42.412" v="170" actId="20577"/>
          <ac:spMkLst>
            <pc:docMk/>
            <pc:sldMk cId="0" sldId="270"/>
            <ac:spMk id="3" creationId="{00000000-0000-0000-0000-000000000000}"/>
          </ac:spMkLst>
        </pc:spChg>
        <pc:spChg chg="mod">
          <ac:chgData name="Riccardo Berta" userId="c8694f89-bba4-4576-b0a8-456619ca5a8c" providerId="ADAL" clId="{FDDBFC5A-5EA9-5330-BEB8-433D7E3B4C4E}" dt="2026-10-01T05:48:38.597" v="747" actId="313"/>
          <ac:spMkLst>
            <pc:docMk/>
            <pc:sldMk cId="0" sldId="270"/>
            <ac:spMk id="8" creationId="{00000000-0000-0000-0000-000000000000}"/>
          </ac:spMkLst>
        </pc:spChg>
        <pc:spChg chg="mod">
          <ac:chgData name="Riccardo Berta" userId="c8694f89-bba4-4576-b0a8-456619ca5a8c" providerId="ADAL" clId="{FDDBFC5A-5EA9-5330-BEB8-433D7E3B4C4E}" dt="2026-10-01T06:00:12.861" v="751" actId="20577"/>
          <ac:spMkLst>
            <pc:docMk/>
            <pc:sldMk cId="0" sldId="270"/>
            <ac:spMk id="10" creationId="{00000000-0000-0000-0000-000000000000}"/>
          </ac:spMkLst>
        </pc:spChg>
        <pc:spChg chg="mod">
          <ac:chgData name="Riccardo Berta" userId="c8694f89-bba4-4576-b0a8-456619ca5a8c" providerId="ADAL" clId="{FDDBFC5A-5EA9-5330-BEB8-433D7E3B4C4E}" dt="2026-10-01T06:06:06.613" v="790" actId="20577"/>
          <ac:spMkLst>
            <pc:docMk/>
            <pc:sldMk cId="0" sldId="270"/>
            <ac:spMk id="14" creationId="{00000000-0000-0000-0000-000000000000}"/>
          </ac:spMkLst>
        </pc:spChg>
        <pc:spChg chg="mod">
          <ac:chgData name="Riccardo Berta" userId="c8694f89-bba4-4576-b0a8-456619ca5a8c" providerId="ADAL" clId="{FDDBFC5A-5EA9-5330-BEB8-433D7E3B4C4E}" dt="2026-09-28T11:48:17.551" v="172" actId="20577"/>
          <ac:spMkLst>
            <pc:docMk/>
            <pc:sldMk cId="0" sldId="270"/>
            <ac:spMk id="24" creationId="{00000000-0000-0000-0000-000000000000}"/>
          </ac:spMkLst>
        </pc:spChg>
      </pc:sldChg>
      <pc:sldChg chg="modSp mod">
        <pc:chgData name="Riccardo Berta" userId="c8694f89-bba4-4576-b0a8-456619ca5a8c" providerId="ADAL" clId="{FDDBFC5A-5EA9-5330-BEB8-433D7E3B4C4E}" dt="2026-09-28T11:49:47.945" v="186" actId="20577"/>
        <pc:sldMkLst>
          <pc:docMk/>
          <pc:sldMk cId="0" sldId="271"/>
        </pc:sldMkLst>
        <pc:spChg chg="mod">
          <ac:chgData name="Riccardo Berta" userId="c8694f89-bba4-4576-b0a8-456619ca5a8c" providerId="ADAL" clId="{FDDBFC5A-5EA9-5330-BEB8-433D7E3B4C4E}" dt="2026-09-28T11:49:08.472" v="181" actId="20577"/>
          <ac:spMkLst>
            <pc:docMk/>
            <pc:sldMk cId="0" sldId="271"/>
            <ac:spMk id="20" creationId="{00000000-0000-0000-0000-000000000000}"/>
          </ac:spMkLst>
        </pc:spChg>
        <pc:spChg chg="mod">
          <ac:chgData name="Riccardo Berta" userId="c8694f89-bba4-4576-b0a8-456619ca5a8c" providerId="ADAL" clId="{FDDBFC5A-5EA9-5330-BEB8-433D7E3B4C4E}" dt="2026-09-28T11:49:13.769" v="184" actId="20577"/>
          <ac:spMkLst>
            <pc:docMk/>
            <pc:sldMk cId="0" sldId="271"/>
            <ac:spMk id="23" creationId="{00000000-0000-0000-0000-000000000000}"/>
          </ac:spMkLst>
        </pc:spChg>
        <pc:spChg chg="mod">
          <ac:chgData name="Riccardo Berta" userId="c8694f89-bba4-4576-b0a8-456619ca5a8c" providerId="ADAL" clId="{FDDBFC5A-5EA9-5330-BEB8-433D7E3B4C4E}" dt="2026-09-28T11:49:47.945" v="186" actId="20577"/>
          <ac:spMkLst>
            <pc:docMk/>
            <pc:sldMk cId="0" sldId="271"/>
            <ac:spMk id="29" creationId="{00000000-0000-0000-0000-000000000000}"/>
          </ac:spMkLst>
        </pc:spChg>
      </pc:sldChg>
      <pc:sldChg chg="modSp mod">
        <pc:chgData name="Riccardo Berta" userId="c8694f89-bba4-4576-b0a8-456619ca5a8c" providerId="ADAL" clId="{FDDBFC5A-5EA9-5330-BEB8-433D7E3B4C4E}" dt="2026-09-28T11:51:03.370" v="193" actId="20577"/>
        <pc:sldMkLst>
          <pc:docMk/>
          <pc:sldMk cId="0" sldId="272"/>
        </pc:sldMkLst>
        <pc:spChg chg="mod">
          <ac:chgData name="Riccardo Berta" userId="c8694f89-bba4-4576-b0a8-456619ca5a8c" providerId="ADAL" clId="{FDDBFC5A-5EA9-5330-BEB8-433D7E3B4C4E}" dt="2026-09-28T11:50:09.652" v="188" actId="20577"/>
          <ac:spMkLst>
            <pc:docMk/>
            <pc:sldMk cId="0" sldId="272"/>
            <ac:spMk id="8" creationId="{00000000-0000-0000-0000-000000000000}"/>
          </ac:spMkLst>
        </pc:spChg>
        <pc:spChg chg="mod">
          <ac:chgData name="Riccardo Berta" userId="c8694f89-bba4-4576-b0a8-456619ca5a8c" providerId="ADAL" clId="{FDDBFC5A-5EA9-5330-BEB8-433D7E3B4C4E}" dt="2026-09-28T11:51:03.370" v="193" actId="20577"/>
          <ac:spMkLst>
            <pc:docMk/>
            <pc:sldMk cId="0" sldId="272"/>
            <ac:spMk id="13" creationId="{00000000-0000-0000-0000-000000000000}"/>
          </ac:spMkLst>
        </pc:spChg>
        <pc:spChg chg="mod">
          <ac:chgData name="Riccardo Berta" userId="c8694f89-bba4-4576-b0a8-456619ca5a8c" providerId="ADAL" clId="{FDDBFC5A-5EA9-5330-BEB8-433D7E3B4C4E}" dt="2026-09-28T11:50:13.892" v="190" actId="20577"/>
          <ac:spMkLst>
            <pc:docMk/>
            <pc:sldMk cId="0" sldId="272"/>
            <ac:spMk id="14" creationId="{00000000-0000-0000-0000-000000000000}"/>
          </ac:spMkLst>
        </pc:spChg>
      </pc:sldChg>
      <pc:sldChg chg="modSp mod">
        <pc:chgData name="Riccardo Berta" userId="c8694f89-bba4-4576-b0a8-456619ca5a8c" providerId="ADAL" clId="{FDDBFC5A-5EA9-5330-BEB8-433D7E3B4C4E}" dt="2026-10-01T06:09:01.756" v="791" actId="1076"/>
        <pc:sldMkLst>
          <pc:docMk/>
          <pc:sldMk cId="0" sldId="273"/>
        </pc:sldMkLst>
        <pc:spChg chg="mod">
          <ac:chgData name="Riccardo Berta" userId="c8694f89-bba4-4576-b0a8-456619ca5a8c" providerId="ADAL" clId="{FDDBFC5A-5EA9-5330-BEB8-433D7E3B4C4E}" dt="2026-09-28T11:51:34.336" v="196" actId="20577"/>
          <ac:spMkLst>
            <pc:docMk/>
            <pc:sldMk cId="0" sldId="273"/>
            <ac:spMk id="8" creationId="{00000000-0000-0000-0000-000000000000}"/>
          </ac:spMkLst>
        </pc:spChg>
        <pc:spChg chg="mod">
          <ac:chgData name="Riccardo Berta" userId="c8694f89-bba4-4576-b0a8-456619ca5a8c" providerId="ADAL" clId="{FDDBFC5A-5EA9-5330-BEB8-433D7E3B4C4E}" dt="2026-10-01T06:09:01.756" v="791" actId="1076"/>
          <ac:spMkLst>
            <pc:docMk/>
            <pc:sldMk cId="0" sldId="273"/>
            <ac:spMk id="15" creationId="{00000000-0000-0000-0000-000000000000}"/>
          </ac:spMkLst>
        </pc:spChg>
      </pc:sldChg>
      <pc:sldChg chg="modSp mod">
        <pc:chgData name="Riccardo Berta" userId="c8694f89-bba4-4576-b0a8-456619ca5a8c" providerId="ADAL" clId="{FDDBFC5A-5EA9-5330-BEB8-433D7E3B4C4E}" dt="2026-09-28T11:53:17.386" v="211" actId="20577"/>
        <pc:sldMkLst>
          <pc:docMk/>
          <pc:sldMk cId="0" sldId="274"/>
        </pc:sldMkLst>
        <pc:spChg chg="mod">
          <ac:chgData name="Riccardo Berta" userId="c8694f89-bba4-4576-b0a8-456619ca5a8c" providerId="ADAL" clId="{FDDBFC5A-5EA9-5330-BEB8-433D7E3B4C4E}" dt="2026-09-28T11:52:23.060" v="207" actId="20577"/>
          <ac:spMkLst>
            <pc:docMk/>
            <pc:sldMk cId="0" sldId="274"/>
            <ac:spMk id="3" creationId="{00000000-0000-0000-0000-000000000000}"/>
          </ac:spMkLst>
        </pc:spChg>
        <pc:spChg chg="mod">
          <ac:chgData name="Riccardo Berta" userId="c8694f89-bba4-4576-b0a8-456619ca5a8c" providerId="ADAL" clId="{FDDBFC5A-5EA9-5330-BEB8-433D7E3B4C4E}" dt="2026-09-28T11:53:17.386" v="211" actId="20577"/>
          <ac:spMkLst>
            <pc:docMk/>
            <pc:sldMk cId="0" sldId="274"/>
            <ac:spMk id="27" creationId="{00000000-0000-0000-0000-000000000000}"/>
          </ac:spMkLst>
        </pc:spChg>
      </pc:sldChg>
      <pc:sldChg chg="modSp mod">
        <pc:chgData name="Riccardo Berta" userId="c8694f89-bba4-4576-b0a8-456619ca5a8c" providerId="ADAL" clId="{FDDBFC5A-5EA9-5330-BEB8-433D7E3B4C4E}" dt="2026-09-28T11:54:13.656" v="214" actId="20577"/>
        <pc:sldMkLst>
          <pc:docMk/>
          <pc:sldMk cId="0" sldId="275"/>
        </pc:sldMkLst>
        <pc:spChg chg="mod">
          <ac:chgData name="Riccardo Berta" userId="c8694f89-bba4-4576-b0a8-456619ca5a8c" providerId="ADAL" clId="{FDDBFC5A-5EA9-5330-BEB8-433D7E3B4C4E}" dt="2026-09-28T11:54:13.656" v="214" actId="20577"/>
          <ac:spMkLst>
            <pc:docMk/>
            <pc:sldMk cId="0" sldId="275"/>
            <ac:spMk id="6" creationId="{00000000-0000-0000-0000-000000000000}"/>
          </ac:spMkLst>
        </pc:spChg>
      </pc:sldChg>
      <pc:sldChg chg="modSp mod">
        <pc:chgData name="Riccardo Berta" userId="c8694f89-bba4-4576-b0a8-456619ca5a8c" providerId="ADAL" clId="{FDDBFC5A-5EA9-5330-BEB8-433D7E3B4C4E}" dt="2026-09-28T11:54:37.610" v="219" actId="20577"/>
        <pc:sldMkLst>
          <pc:docMk/>
          <pc:sldMk cId="0" sldId="276"/>
        </pc:sldMkLst>
        <pc:spChg chg="mod">
          <ac:chgData name="Riccardo Berta" userId="c8694f89-bba4-4576-b0a8-456619ca5a8c" providerId="ADAL" clId="{FDDBFC5A-5EA9-5330-BEB8-433D7E3B4C4E}" dt="2026-09-28T11:54:37.610" v="219" actId="20577"/>
          <ac:spMkLst>
            <pc:docMk/>
            <pc:sldMk cId="0" sldId="276"/>
            <ac:spMk id="9" creationId="{00000000-0000-0000-0000-000000000000}"/>
          </ac:spMkLst>
        </pc:spChg>
      </pc:sldChg>
      <pc:sldChg chg="modSp mod">
        <pc:chgData name="Riccardo Berta" userId="c8694f89-bba4-4576-b0a8-456619ca5a8c" providerId="ADAL" clId="{FDDBFC5A-5EA9-5330-BEB8-433D7E3B4C4E}" dt="2026-09-28T11:56:43.161" v="224" actId="20577"/>
        <pc:sldMkLst>
          <pc:docMk/>
          <pc:sldMk cId="0" sldId="277"/>
        </pc:sldMkLst>
        <pc:spChg chg="mod">
          <ac:chgData name="Riccardo Berta" userId="c8694f89-bba4-4576-b0a8-456619ca5a8c" providerId="ADAL" clId="{FDDBFC5A-5EA9-5330-BEB8-433D7E3B4C4E}" dt="2026-09-28T11:56:43.161" v="224" actId="20577"/>
          <ac:spMkLst>
            <pc:docMk/>
            <pc:sldMk cId="0" sldId="277"/>
            <ac:spMk id="16" creationId="{00000000-0000-0000-0000-000000000000}"/>
          </ac:spMkLst>
        </pc:spChg>
      </pc:sldChg>
      <pc:sldChg chg="modSp mod">
        <pc:chgData name="Riccardo Berta" userId="c8694f89-bba4-4576-b0a8-456619ca5a8c" providerId="ADAL" clId="{FDDBFC5A-5EA9-5330-BEB8-433D7E3B4C4E}" dt="2026-10-01T08:47:01.009" v="794" actId="1076"/>
        <pc:sldMkLst>
          <pc:docMk/>
          <pc:sldMk cId="0" sldId="278"/>
        </pc:sldMkLst>
        <pc:spChg chg="mod">
          <ac:chgData name="Riccardo Berta" userId="c8694f89-bba4-4576-b0a8-456619ca5a8c" providerId="ADAL" clId="{FDDBFC5A-5EA9-5330-BEB8-433D7E3B4C4E}" dt="2026-10-01T08:47:01.009" v="794" actId="1076"/>
          <ac:spMkLst>
            <pc:docMk/>
            <pc:sldMk cId="0" sldId="278"/>
            <ac:spMk id="11" creationId="{00000000-0000-0000-0000-000000000000}"/>
          </ac:spMkLst>
        </pc:spChg>
        <pc:spChg chg="mod">
          <ac:chgData name="Riccardo Berta" userId="c8694f89-bba4-4576-b0a8-456619ca5a8c" providerId="ADAL" clId="{FDDBFC5A-5EA9-5330-BEB8-433D7E3B4C4E}" dt="2026-09-28T11:59:07.277" v="229" actId="20577"/>
          <ac:spMkLst>
            <pc:docMk/>
            <pc:sldMk cId="0" sldId="278"/>
            <ac:spMk id="13" creationId="{00000000-0000-0000-0000-000000000000}"/>
          </ac:spMkLst>
        </pc:spChg>
      </pc:sldChg>
      <pc:sldChg chg="modSp mod">
        <pc:chgData name="Riccardo Berta" userId="c8694f89-bba4-4576-b0a8-456619ca5a8c" providerId="ADAL" clId="{FDDBFC5A-5EA9-5330-BEB8-433D7E3B4C4E}" dt="2026-09-28T13:44:50.897" v="317" actId="113"/>
        <pc:sldMkLst>
          <pc:docMk/>
          <pc:sldMk cId="0" sldId="279"/>
        </pc:sldMkLst>
        <pc:spChg chg="mod">
          <ac:chgData name="Riccardo Berta" userId="c8694f89-bba4-4576-b0a8-456619ca5a8c" providerId="ADAL" clId="{FDDBFC5A-5EA9-5330-BEB8-433D7E3B4C4E}" dt="2026-09-28T12:08:04.947" v="313" actId="20577"/>
          <ac:spMkLst>
            <pc:docMk/>
            <pc:sldMk cId="0" sldId="279"/>
            <ac:spMk id="3" creationId="{00000000-0000-0000-0000-000000000000}"/>
          </ac:spMkLst>
        </pc:spChg>
        <pc:spChg chg="mod">
          <ac:chgData name="Riccardo Berta" userId="c8694f89-bba4-4576-b0a8-456619ca5a8c" providerId="ADAL" clId="{FDDBFC5A-5EA9-5330-BEB8-433D7E3B4C4E}" dt="2026-09-28T11:59:47.885" v="261" actId="20577"/>
          <ac:spMkLst>
            <pc:docMk/>
            <pc:sldMk cId="0" sldId="279"/>
            <ac:spMk id="8" creationId="{00000000-0000-0000-0000-000000000000}"/>
          </ac:spMkLst>
        </pc:spChg>
        <pc:spChg chg="mod">
          <ac:chgData name="Riccardo Berta" userId="c8694f89-bba4-4576-b0a8-456619ca5a8c" providerId="ADAL" clId="{FDDBFC5A-5EA9-5330-BEB8-433D7E3B4C4E}" dt="2026-09-28T11:59:54.904" v="262" actId="1076"/>
          <ac:spMkLst>
            <pc:docMk/>
            <pc:sldMk cId="0" sldId="279"/>
            <ac:spMk id="9" creationId="{00000000-0000-0000-0000-000000000000}"/>
          </ac:spMkLst>
        </pc:spChg>
        <pc:spChg chg="mod">
          <ac:chgData name="Riccardo Berta" userId="c8694f89-bba4-4576-b0a8-456619ca5a8c" providerId="ADAL" clId="{FDDBFC5A-5EA9-5330-BEB8-433D7E3B4C4E}" dt="2026-09-28T12:00:00.783" v="263" actId="1076"/>
          <ac:spMkLst>
            <pc:docMk/>
            <pc:sldMk cId="0" sldId="279"/>
            <ac:spMk id="58" creationId="{00000000-0000-0000-0000-000000000000}"/>
          </ac:spMkLst>
        </pc:spChg>
        <pc:spChg chg="mod">
          <ac:chgData name="Riccardo Berta" userId="c8694f89-bba4-4576-b0a8-456619ca5a8c" providerId="ADAL" clId="{FDDBFC5A-5EA9-5330-BEB8-433D7E3B4C4E}" dt="2026-09-28T12:00:30.485" v="275" actId="14100"/>
          <ac:spMkLst>
            <pc:docMk/>
            <pc:sldMk cId="0" sldId="279"/>
            <ac:spMk id="107" creationId="{00000000-0000-0000-0000-000000000000}"/>
          </ac:spMkLst>
        </pc:spChg>
        <pc:spChg chg="mod">
          <ac:chgData name="Riccardo Berta" userId="c8694f89-bba4-4576-b0a8-456619ca5a8c" providerId="ADAL" clId="{FDDBFC5A-5EA9-5330-BEB8-433D7E3B4C4E}" dt="2026-09-28T13:44:50.897" v="317" actId="113"/>
          <ac:spMkLst>
            <pc:docMk/>
            <pc:sldMk cId="0" sldId="279"/>
            <ac:spMk id="112" creationId="{00000000-0000-0000-0000-000000000000}"/>
          </ac:spMkLst>
        </pc:spChg>
      </pc:sldChg>
      <pc:sldChg chg="modSp mod">
        <pc:chgData name="Riccardo Berta" userId="c8694f89-bba4-4576-b0a8-456619ca5a8c" providerId="ADAL" clId="{FDDBFC5A-5EA9-5330-BEB8-433D7E3B4C4E}" dt="2026-09-28T13:46:45.122" v="323" actId="20577"/>
        <pc:sldMkLst>
          <pc:docMk/>
          <pc:sldMk cId="0" sldId="280"/>
        </pc:sldMkLst>
        <pc:spChg chg="mod">
          <ac:chgData name="Riccardo Berta" userId="c8694f89-bba4-4576-b0a8-456619ca5a8c" providerId="ADAL" clId="{FDDBFC5A-5EA9-5330-BEB8-433D7E3B4C4E}" dt="2026-09-28T12:01:31.647" v="280" actId="20577"/>
          <ac:spMkLst>
            <pc:docMk/>
            <pc:sldMk cId="0" sldId="280"/>
            <ac:spMk id="8" creationId="{00000000-0000-0000-0000-000000000000}"/>
          </ac:spMkLst>
        </pc:spChg>
        <pc:spChg chg="mod">
          <ac:chgData name="Riccardo Berta" userId="c8694f89-bba4-4576-b0a8-456619ca5a8c" providerId="ADAL" clId="{FDDBFC5A-5EA9-5330-BEB8-433D7E3B4C4E}" dt="2026-09-28T13:46:45.122" v="323" actId="20577"/>
          <ac:spMkLst>
            <pc:docMk/>
            <pc:sldMk cId="0" sldId="280"/>
            <ac:spMk id="15" creationId="{00000000-0000-0000-0000-000000000000}"/>
          </ac:spMkLst>
        </pc:spChg>
        <pc:spChg chg="mod">
          <ac:chgData name="Riccardo Berta" userId="c8694f89-bba4-4576-b0a8-456619ca5a8c" providerId="ADAL" clId="{FDDBFC5A-5EA9-5330-BEB8-433D7E3B4C4E}" dt="2026-09-28T12:04:07.694" v="296" actId="20577"/>
          <ac:spMkLst>
            <pc:docMk/>
            <pc:sldMk cId="0" sldId="280"/>
            <ac:spMk id="19" creationId="{00000000-0000-0000-0000-000000000000}"/>
          </ac:spMkLst>
        </pc:spChg>
        <pc:spChg chg="mod">
          <ac:chgData name="Riccardo Berta" userId="c8694f89-bba4-4576-b0a8-456619ca5a8c" providerId="ADAL" clId="{FDDBFC5A-5EA9-5330-BEB8-433D7E3B4C4E}" dt="2026-09-28T12:04:21.480" v="303" actId="20577"/>
          <ac:spMkLst>
            <pc:docMk/>
            <pc:sldMk cId="0" sldId="280"/>
            <ac:spMk id="21" creationId="{00000000-0000-0000-0000-000000000000}"/>
          </ac:spMkLst>
        </pc:spChg>
      </pc:sldChg>
      <pc:sldChg chg="modSp mod">
        <pc:chgData name="Riccardo Berta" userId="c8694f89-bba4-4576-b0a8-456619ca5a8c" providerId="ADAL" clId="{FDDBFC5A-5EA9-5330-BEB8-433D7E3B4C4E}" dt="2026-09-28T13:48:14.479" v="324" actId="20577"/>
        <pc:sldMkLst>
          <pc:docMk/>
          <pc:sldMk cId="0" sldId="281"/>
        </pc:sldMkLst>
        <pc:spChg chg="mod">
          <ac:chgData name="Riccardo Berta" userId="c8694f89-bba4-4576-b0a8-456619ca5a8c" providerId="ADAL" clId="{FDDBFC5A-5EA9-5330-BEB8-433D7E3B4C4E}" dt="2026-09-28T12:04:38.842" v="308" actId="20577"/>
          <ac:spMkLst>
            <pc:docMk/>
            <pc:sldMk cId="0" sldId="281"/>
            <ac:spMk id="8" creationId="{00000000-0000-0000-0000-000000000000}"/>
          </ac:spMkLst>
        </pc:spChg>
        <pc:spChg chg="mod">
          <ac:chgData name="Riccardo Berta" userId="c8694f89-bba4-4576-b0a8-456619ca5a8c" providerId="ADAL" clId="{FDDBFC5A-5EA9-5330-BEB8-433D7E3B4C4E}" dt="2026-09-28T13:48:14.479" v="324" actId="20577"/>
          <ac:spMkLst>
            <pc:docMk/>
            <pc:sldMk cId="0" sldId="281"/>
            <ac:spMk id="21" creationId="{00000000-0000-0000-0000-000000000000}"/>
          </ac:spMkLst>
        </pc:spChg>
      </pc:sldChg>
      <pc:sldChg chg="modSp mod">
        <pc:chgData name="Riccardo Berta" userId="c8694f89-bba4-4576-b0a8-456619ca5a8c" providerId="ADAL" clId="{FDDBFC5A-5EA9-5330-BEB8-433D7E3B4C4E}" dt="2026-09-28T13:49:55.330" v="329" actId="20577"/>
        <pc:sldMkLst>
          <pc:docMk/>
          <pc:sldMk cId="0" sldId="282"/>
        </pc:sldMkLst>
        <pc:spChg chg="mod">
          <ac:chgData name="Riccardo Berta" userId="c8694f89-bba4-4576-b0a8-456619ca5a8c" providerId="ADAL" clId="{FDDBFC5A-5EA9-5330-BEB8-433D7E3B4C4E}" dt="2026-09-28T13:49:55.330" v="329" actId="20577"/>
          <ac:spMkLst>
            <pc:docMk/>
            <pc:sldMk cId="0" sldId="282"/>
            <ac:spMk id="22" creationId="{00000000-0000-0000-0000-000000000000}"/>
          </ac:spMkLst>
        </pc:spChg>
      </pc:sldChg>
      <pc:sldChg chg="modSp mod">
        <pc:chgData name="Riccardo Berta" userId="c8694f89-bba4-4576-b0a8-456619ca5a8c" providerId="ADAL" clId="{FDDBFC5A-5EA9-5330-BEB8-433D7E3B4C4E}" dt="2026-10-01T09:02:31.088" v="795" actId="1076"/>
        <pc:sldMkLst>
          <pc:docMk/>
          <pc:sldMk cId="0" sldId="283"/>
        </pc:sldMkLst>
        <pc:spChg chg="mod">
          <ac:chgData name="Riccardo Berta" userId="c8694f89-bba4-4576-b0a8-456619ca5a8c" providerId="ADAL" clId="{FDDBFC5A-5EA9-5330-BEB8-433D7E3B4C4E}" dt="2026-09-28T13:50:55.137" v="335" actId="20577"/>
          <ac:spMkLst>
            <pc:docMk/>
            <pc:sldMk cId="0" sldId="283"/>
            <ac:spMk id="10" creationId="{00000000-0000-0000-0000-000000000000}"/>
          </ac:spMkLst>
        </pc:spChg>
        <pc:spChg chg="mod">
          <ac:chgData name="Riccardo Berta" userId="c8694f89-bba4-4576-b0a8-456619ca5a8c" providerId="ADAL" clId="{FDDBFC5A-5EA9-5330-BEB8-433D7E3B4C4E}" dt="2026-09-28T13:51:20.499" v="337" actId="20577"/>
          <ac:spMkLst>
            <pc:docMk/>
            <pc:sldMk cId="0" sldId="283"/>
            <ac:spMk id="14" creationId="{00000000-0000-0000-0000-000000000000}"/>
          </ac:spMkLst>
        </pc:spChg>
        <pc:spChg chg="mod">
          <ac:chgData name="Riccardo Berta" userId="c8694f89-bba4-4576-b0a8-456619ca5a8c" providerId="ADAL" clId="{FDDBFC5A-5EA9-5330-BEB8-433D7E3B4C4E}" dt="2026-10-01T09:02:31.088" v="795" actId="1076"/>
          <ac:spMkLst>
            <pc:docMk/>
            <pc:sldMk cId="0" sldId="283"/>
            <ac:spMk id="17" creationId="{00000000-0000-0000-0000-000000000000}"/>
          </ac:spMkLst>
        </pc:spChg>
        <pc:spChg chg="mod">
          <ac:chgData name="Riccardo Berta" userId="c8694f89-bba4-4576-b0a8-456619ca5a8c" providerId="ADAL" clId="{FDDBFC5A-5EA9-5330-BEB8-433D7E3B4C4E}" dt="2026-09-28T13:51:39.303" v="340" actId="20577"/>
          <ac:spMkLst>
            <pc:docMk/>
            <pc:sldMk cId="0" sldId="283"/>
            <ac:spMk id="22" creationId="{00000000-0000-0000-0000-000000000000}"/>
          </ac:spMkLst>
        </pc:spChg>
        <pc:spChg chg="mod">
          <ac:chgData name="Riccardo Berta" userId="c8694f89-bba4-4576-b0a8-456619ca5a8c" providerId="ADAL" clId="{FDDBFC5A-5EA9-5330-BEB8-433D7E3B4C4E}" dt="2026-09-28T13:51:55.722" v="342" actId="20577"/>
          <ac:spMkLst>
            <pc:docMk/>
            <pc:sldMk cId="0" sldId="283"/>
            <ac:spMk id="24" creationId="{00000000-0000-0000-0000-000000000000}"/>
          </ac:spMkLst>
        </pc:spChg>
      </pc:sldChg>
      <pc:sldChg chg="modSp mod">
        <pc:chgData name="Riccardo Berta" userId="c8694f89-bba4-4576-b0a8-456619ca5a8c" providerId="ADAL" clId="{FDDBFC5A-5EA9-5330-BEB8-433D7E3B4C4E}" dt="2026-09-28T13:54:04.409" v="389" actId="20577"/>
        <pc:sldMkLst>
          <pc:docMk/>
          <pc:sldMk cId="0" sldId="284"/>
        </pc:sldMkLst>
        <pc:spChg chg="mod">
          <ac:chgData name="Riccardo Berta" userId="c8694f89-bba4-4576-b0a8-456619ca5a8c" providerId="ADAL" clId="{FDDBFC5A-5EA9-5330-BEB8-433D7E3B4C4E}" dt="2026-09-28T13:53:55.609" v="388" actId="20577"/>
          <ac:spMkLst>
            <pc:docMk/>
            <pc:sldMk cId="0" sldId="284"/>
            <ac:spMk id="33" creationId="{00000000-0000-0000-0000-000000000000}"/>
          </ac:spMkLst>
        </pc:spChg>
        <pc:spChg chg="mod">
          <ac:chgData name="Riccardo Berta" userId="c8694f89-bba4-4576-b0a8-456619ca5a8c" providerId="ADAL" clId="{FDDBFC5A-5EA9-5330-BEB8-433D7E3B4C4E}" dt="2026-09-28T13:54:04.409" v="389" actId="20577"/>
          <ac:spMkLst>
            <pc:docMk/>
            <pc:sldMk cId="0" sldId="284"/>
            <ac:spMk id="35" creationId="{00000000-0000-0000-0000-000000000000}"/>
          </ac:spMkLst>
        </pc:spChg>
      </pc:sldChg>
      <pc:sldChg chg="modSp mod">
        <pc:chgData name="Riccardo Berta" userId="c8694f89-bba4-4576-b0a8-456619ca5a8c" providerId="ADAL" clId="{FDDBFC5A-5EA9-5330-BEB8-433D7E3B4C4E}" dt="2026-09-28T13:54:26.646" v="394" actId="20577"/>
        <pc:sldMkLst>
          <pc:docMk/>
          <pc:sldMk cId="0" sldId="285"/>
        </pc:sldMkLst>
        <pc:spChg chg="mod">
          <ac:chgData name="Riccardo Berta" userId="c8694f89-bba4-4576-b0a8-456619ca5a8c" providerId="ADAL" clId="{FDDBFC5A-5EA9-5330-BEB8-433D7E3B4C4E}" dt="2026-09-28T13:54:26.646" v="394" actId="20577"/>
          <ac:spMkLst>
            <pc:docMk/>
            <pc:sldMk cId="0" sldId="285"/>
            <ac:spMk id="6" creationId="{00000000-0000-0000-0000-000000000000}"/>
          </ac:spMkLst>
        </pc:spChg>
      </pc:sldChg>
      <pc:sldChg chg="modSp mod">
        <pc:chgData name="Riccardo Berta" userId="c8694f89-bba4-4576-b0a8-456619ca5a8c" providerId="ADAL" clId="{FDDBFC5A-5EA9-5330-BEB8-433D7E3B4C4E}" dt="2026-09-28T13:57:11.557" v="429" actId="20577"/>
        <pc:sldMkLst>
          <pc:docMk/>
          <pc:sldMk cId="0" sldId="286"/>
        </pc:sldMkLst>
        <pc:spChg chg="mod">
          <ac:chgData name="Riccardo Berta" userId="c8694f89-bba4-4576-b0a8-456619ca5a8c" providerId="ADAL" clId="{FDDBFC5A-5EA9-5330-BEB8-433D7E3B4C4E}" dt="2026-09-28T13:56:05.552" v="425" actId="20577"/>
          <ac:spMkLst>
            <pc:docMk/>
            <pc:sldMk cId="0" sldId="286"/>
            <ac:spMk id="8" creationId="{00000000-0000-0000-0000-000000000000}"/>
          </ac:spMkLst>
        </pc:spChg>
        <pc:spChg chg="mod">
          <ac:chgData name="Riccardo Berta" userId="c8694f89-bba4-4576-b0a8-456619ca5a8c" providerId="ADAL" clId="{FDDBFC5A-5EA9-5330-BEB8-433D7E3B4C4E}" dt="2026-09-28T13:56:56.827" v="427" actId="20577"/>
          <ac:spMkLst>
            <pc:docMk/>
            <pc:sldMk cId="0" sldId="286"/>
            <ac:spMk id="13" creationId="{00000000-0000-0000-0000-000000000000}"/>
          </ac:spMkLst>
        </pc:spChg>
        <pc:spChg chg="mod">
          <ac:chgData name="Riccardo Berta" userId="c8694f89-bba4-4576-b0a8-456619ca5a8c" providerId="ADAL" clId="{FDDBFC5A-5EA9-5330-BEB8-433D7E3B4C4E}" dt="2026-09-28T13:57:11.557" v="429" actId="20577"/>
          <ac:spMkLst>
            <pc:docMk/>
            <pc:sldMk cId="0" sldId="286"/>
            <ac:spMk id="16" creationId="{00000000-0000-0000-0000-000000000000}"/>
          </ac:spMkLst>
        </pc:spChg>
      </pc:sldChg>
      <pc:sldChg chg="modSp mod">
        <pc:chgData name="Riccardo Berta" userId="c8694f89-bba4-4576-b0a8-456619ca5a8c" providerId="ADAL" clId="{FDDBFC5A-5EA9-5330-BEB8-433D7E3B4C4E}" dt="2026-09-28T13:57:59.936" v="474" actId="1038"/>
        <pc:sldMkLst>
          <pc:docMk/>
          <pc:sldMk cId="0" sldId="287"/>
        </pc:sldMkLst>
        <pc:spChg chg="mod">
          <ac:chgData name="Riccardo Berta" userId="c8694f89-bba4-4576-b0a8-456619ca5a8c" providerId="ADAL" clId="{FDDBFC5A-5EA9-5330-BEB8-433D7E3B4C4E}" dt="2026-09-28T13:57:35.560" v="436" actId="20577"/>
          <ac:spMkLst>
            <pc:docMk/>
            <pc:sldMk cId="0" sldId="287"/>
            <ac:spMk id="8" creationId="{00000000-0000-0000-0000-000000000000}"/>
          </ac:spMkLst>
        </pc:spChg>
        <pc:picChg chg="mod">
          <ac:chgData name="Riccardo Berta" userId="c8694f89-bba4-4576-b0a8-456619ca5a8c" providerId="ADAL" clId="{FDDBFC5A-5EA9-5330-BEB8-433D7E3B4C4E}" dt="2026-09-28T13:57:50.062" v="447" actId="1037"/>
          <ac:picMkLst>
            <pc:docMk/>
            <pc:sldMk cId="0" sldId="287"/>
            <ac:picMk id="15" creationId="{00000000-0000-0000-0000-000000000000}"/>
          </ac:picMkLst>
        </pc:picChg>
        <pc:picChg chg="mod">
          <ac:chgData name="Riccardo Berta" userId="c8694f89-bba4-4576-b0a8-456619ca5a8c" providerId="ADAL" clId="{FDDBFC5A-5EA9-5330-BEB8-433D7E3B4C4E}" dt="2026-09-28T13:57:53.696" v="455" actId="1037"/>
          <ac:picMkLst>
            <pc:docMk/>
            <pc:sldMk cId="0" sldId="287"/>
            <ac:picMk id="19" creationId="{00000000-0000-0000-0000-000000000000}"/>
          </ac:picMkLst>
        </pc:picChg>
        <pc:picChg chg="mod">
          <ac:chgData name="Riccardo Berta" userId="c8694f89-bba4-4576-b0a8-456619ca5a8c" providerId="ADAL" clId="{FDDBFC5A-5EA9-5330-BEB8-433D7E3B4C4E}" dt="2026-09-28T13:57:56.796" v="461" actId="1038"/>
          <ac:picMkLst>
            <pc:docMk/>
            <pc:sldMk cId="0" sldId="287"/>
            <ac:picMk id="21" creationId="{00000000-0000-0000-0000-000000000000}"/>
          </ac:picMkLst>
        </pc:picChg>
        <pc:picChg chg="mod">
          <ac:chgData name="Riccardo Berta" userId="c8694f89-bba4-4576-b0a8-456619ca5a8c" providerId="ADAL" clId="{FDDBFC5A-5EA9-5330-BEB8-433D7E3B4C4E}" dt="2026-09-28T13:57:59.936" v="474" actId="1038"/>
          <ac:picMkLst>
            <pc:docMk/>
            <pc:sldMk cId="0" sldId="287"/>
            <ac:picMk id="23" creationId="{00000000-0000-0000-0000-000000000000}"/>
          </ac:picMkLst>
        </pc:picChg>
      </pc:sldChg>
      <pc:sldChg chg="modSp mod">
        <pc:chgData name="Riccardo Berta" userId="c8694f89-bba4-4576-b0a8-456619ca5a8c" providerId="ADAL" clId="{FDDBFC5A-5EA9-5330-BEB8-433D7E3B4C4E}" dt="2026-09-28T14:01:42.504" v="483" actId="313"/>
        <pc:sldMkLst>
          <pc:docMk/>
          <pc:sldMk cId="0" sldId="288"/>
        </pc:sldMkLst>
        <pc:spChg chg="mod">
          <ac:chgData name="Riccardo Berta" userId="c8694f89-bba4-4576-b0a8-456619ca5a8c" providerId="ADAL" clId="{FDDBFC5A-5EA9-5330-BEB8-433D7E3B4C4E}" dt="2026-09-28T14:00:29.883" v="477" actId="20577"/>
          <ac:spMkLst>
            <pc:docMk/>
            <pc:sldMk cId="0" sldId="288"/>
            <ac:spMk id="10" creationId="{00000000-0000-0000-0000-000000000000}"/>
          </ac:spMkLst>
        </pc:spChg>
        <pc:spChg chg="mod">
          <ac:chgData name="Riccardo Berta" userId="c8694f89-bba4-4576-b0a8-456619ca5a8c" providerId="ADAL" clId="{FDDBFC5A-5EA9-5330-BEB8-433D7E3B4C4E}" dt="2026-09-28T14:01:42.504" v="483" actId="313"/>
          <ac:spMkLst>
            <pc:docMk/>
            <pc:sldMk cId="0" sldId="288"/>
            <ac:spMk id="14" creationId="{00000000-0000-0000-0000-000000000000}"/>
          </ac:spMkLst>
        </pc:spChg>
        <pc:spChg chg="mod">
          <ac:chgData name="Riccardo Berta" userId="c8694f89-bba4-4576-b0a8-456619ca5a8c" providerId="ADAL" clId="{FDDBFC5A-5EA9-5330-BEB8-433D7E3B4C4E}" dt="2026-09-28T13:59:55.667" v="475" actId="14100"/>
          <ac:spMkLst>
            <pc:docMk/>
            <pc:sldMk cId="0" sldId="288"/>
            <ac:spMk id="15" creationId="{00000000-0000-0000-0000-000000000000}"/>
          </ac:spMkLst>
        </pc:spChg>
      </pc:sldChg>
      <pc:sldChg chg="modSp mod">
        <pc:chgData name="Riccardo Berta" userId="c8694f89-bba4-4576-b0a8-456619ca5a8c" providerId="ADAL" clId="{FDDBFC5A-5EA9-5330-BEB8-433D7E3B4C4E}" dt="2026-09-28T14:02:34.692" v="494" actId="20577"/>
        <pc:sldMkLst>
          <pc:docMk/>
          <pc:sldMk cId="0" sldId="289"/>
        </pc:sldMkLst>
        <pc:spChg chg="mod">
          <ac:chgData name="Riccardo Berta" userId="c8694f89-bba4-4576-b0a8-456619ca5a8c" providerId="ADAL" clId="{FDDBFC5A-5EA9-5330-BEB8-433D7E3B4C4E}" dt="2026-09-28T14:02:34.692" v="494" actId="20577"/>
          <ac:spMkLst>
            <pc:docMk/>
            <pc:sldMk cId="0" sldId="289"/>
            <ac:spMk id="8" creationId="{00000000-0000-0000-0000-000000000000}"/>
          </ac:spMkLst>
        </pc:spChg>
        <pc:spChg chg="mod">
          <ac:chgData name="Riccardo Berta" userId="c8694f89-bba4-4576-b0a8-456619ca5a8c" providerId="ADAL" clId="{FDDBFC5A-5EA9-5330-BEB8-433D7E3B4C4E}" dt="2026-09-28T14:02:05.292" v="484" actId="1076"/>
          <ac:spMkLst>
            <pc:docMk/>
            <pc:sldMk cId="0" sldId="289"/>
            <ac:spMk id="10" creationId="{00000000-0000-0000-0000-000000000000}"/>
          </ac:spMkLst>
        </pc:spChg>
        <pc:picChg chg="mod">
          <ac:chgData name="Riccardo Berta" userId="c8694f89-bba4-4576-b0a8-456619ca5a8c" providerId="ADAL" clId="{FDDBFC5A-5EA9-5330-BEB8-433D7E3B4C4E}" dt="2026-09-28T14:02:15.581" v="488" actId="1076"/>
          <ac:picMkLst>
            <pc:docMk/>
            <pc:sldMk cId="0" sldId="289"/>
            <ac:picMk id="9" creationId="{00000000-0000-0000-0000-000000000000}"/>
          </ac:picMkLst>
        </pc:picChg>
      </pc:sldChg>
      <pc:sldChg chg="modSp mod">
        <pc:chgData name="Riccardo Berta" userId="c8694f89-bba4-4576-b0a8-456619ca5a8c" providerId="ADAL" clId="{FDDBFC5A-5EA9-5330-BEB8-433D7E3B4C4E}" dt="2026-09-28T14:03:55.987" v="525" actId="20577"/>
        <pc:sldMkLst>
          <pc:docMk/>
          <pc:sldMk cId="0" sldId="290"/>
        </pc:sldMkLst>
        <pc:spChg chg="mod">
          <ac:chgData name="Riccardo Berta" userId="c8694f89-bba4-4576-b0a8-456619ca5a8c" providerId="ADAL" clId="{FDDBFC5A-5EA9-5330-BEB8-433D7E3B4C4E}" dt="2026-09-28T14:03:06.839" v="511" actId="20577"/>
          <ac:spMkLst>
            <pc:docMk/>
            <pc:sldMk cId="0" sldId="290"/>
            <ac:spMk id="3" creationId="{00000000-0000-0000-0000-000000000000}"/>
          </ac:spMkLst>
        </pc:spChg>
        <pc:spChg chg="mod">
          <ac:chgData name="Riccardo Berta" userId="c8694f89-bba4-4576-b0a8-456619ca5a8c" providerId="ADAL" clId="{FDDBFC5A-5EA9-5330-BEB8-433D7E3B4C4E}" dt="2026-09-28T14:03:16.156" v="516" actId="20577"/>
          <ac:spMkLst>
            <pc:docMk/>
            <pc:sldMk cId="0" sldId="290"/>
            <ac:spMk id="8" creationId="{00000000-0000-0000-0000-000000000000}"/>
          </ac:spMkLst>
        </pc:spChg>
        <pc:spChg chg="mod">
          <ac:chgData name="Riccardo Berta" userId="c8694f89-bba4-4576-b0a8-456619ca5a8c" providerId="ADAL" clId="{FDDBFC5A-5EA9-5330-BEB8-433D7E3B4C4E}" dt="2026-09-28T14:03:55.987" v="525" actId="20577"/>
          <ac:spMkLst>
            <pc:docMk/>
            <pc:sldMk cId="0" sldId="290"/>
            <ac:spMk id="156" creationId="{00000000-0000-0000-0000-000000000000}"/>
          </ac:spMkLst>
        </pc:spChg>
      </pc:sldChg>
      <pc:sldChg chg="addSp delSp modSp mod">
        <pc:chgData name="Riccardo Berta" userId="c8694f89-bba4-4576-b0a8-456619ca5a8c" providerId="ADAL" clId="{FDDBFC5A-5EA9-5330-BEB8-433D7E3B4C4E}" dt="2026-09-28T14:06:16.385" v="550" actId="20577"/>
        <pc:sldMkLst>
          <pc:docMk/>
          <pc:sldMk cId="0" sldId="291"/>
        </pc:sldMkLst>
        <pc:spChg chg="mod">
          <ac:chgData name="Riccardo Berta" userId="c8694f89-bba4-4576-b0a8-456619ca5a8c" providerId="ADAL" clId="{FDDBFC5A-5EA9-5330-BEB8-433D7E3B4C4E}" dt="2026-09-28T14:05:13.918" v="541" actId="113"/>
          <ac:spMkLst>
            <pc:docMk/>
            <pc:sldMk cId="0" sldId="291"/>
            <ac:spMk id="8" creationId="{00000000-0000-0000-0000-000000000000}"/>
          </ac:spMkLst>
        </pc:spChg>
        <pc:spChg chg="mod">
          <ac:chgData name="Riccardo Berta" userId="c8694f89-bba4-4576-b0a8-456619ca5a8c" providerId="ADAL" clId="{FDDBFC5A-5EA9-5330-BEB8-433D7E3B4C4E}" dt="2026-09-28T14:04:56.292" v="535" actId="1076"/>
          <ac:spMkLst>
            <pc:docMk/>
            <pc:sldMk cId="0" sldId="291"/>
            <ac:spMk id="10" creationId="{00000000-0000-0000-0000-000000000000}"/>
          </ac:spMkLst>
        </pc:spChg>
        <pc:spChg chg="mod">
          <ac:chgData name="Riccardo Berta" userId="c8694f89-bba4-4576-b0a8-456619ca5a8c" providerId="ADAL" clId="{FDDBFC5A-5EA9-5330-BEB8-433D7E3B4C4E}" dt="2026-09-28T14:04:36.349" v="529" actId="1076"/>
          <ac:spMkLst>
            <pc:docMk/>
            <pc:sldMk cId="0" sldId="291"/>
            <ac:spMk id="11" creationId="{00000000-0000-0000-0000-000000000000}"/>
          </ac:spMkLst>
        </pc:spChg>
        <pc:spChg chg="mod">
          <ac:chgData name="Riccardo Berta" userId="c8694f89-bba4-4576-b0a8-456619ca5a8c" providerId="ADAL" clId="{FDDBFC5A-5EA9-5330-BEB8-433D7E3B4C4E}" dt="2026-09-28T14:04:36.349" v="529" actId="1076"/>
          <ac:spMkLst>
            <pc:docMk/>
            <pc:sldMk cId="0" sldId="291"/>
            <ac:spMk id="12" creationId="{00000000-0000-0000-0000-000000000000}"/>
          </ac:spMkLst>
        </pc:spChg>
        <pc:spChg chg="mod">
          <ac:chgData name="Riccardo Berta" userId="c8694f89-bba4-4576-b0a8-456619ca5a8c" providerId="ADAL" clId="{FDDBFC5A-5EA9-5330-BEB8-433D7E3B4C4E}" dt="2026-09-28T14:06:16.385" v="550" actId="20577"/>
          <ac:spMkLst>
            <pc:docMk/>
            <pc:sldMk cId="0" sldId="291"/>
            <ac:spMk id="13" creationId="{00000000-0000-0000-0000-000000000000}"/>
          </ac:spMkLst>
        </pc:spChg>
        <pc:spChg chg="mod">
          <ac:chgData name="Riccardo Berta" userId="c8694f89-bba4-4576-b0a8-456619ca5a8c" providerId="ADAL" clId="{FDDBFC5A-5EA9-5330-BEB8-433D7E3B4C4E}" dt="2026-09-28T14:05:36.310" v="545" actId="14100"/>
          <ac:spMkLst>
            <pc:docMk/>
            <pc:sldMk cId="0" sldId="291"/>
            <ac:spMk id="14" creationId="{00000000-0000-0000-0000-000000000000}"/>
          </ac:spMkLst>
        </pc:spChg>
        <pc:spChg chg="mod">
          <ac:chgData name="Riccardo Berta" userId="c8694f89-bba4-4576-b0a8-456619ca5a8c" providerId="ADAL" clId="{FDDBFC5A-5EA9-5330-BEB8-433D7E3B4C4E}" dt="2026-09-28T14:05:29.373" v="544" actId="403"/>
          <ac:spMkLst>
            <pc:docMk/>
            <pc:sldMk cId="0" sldId="291"/>
            <ac:spMk id="17" creationId="{00000000-0000-0000-0000-000000000000}"/>
          </ac:spMkLst>
        </pc:spChg>
        <pc:picChg chg="mod">
          <ac:chgData name="Riccardo Berta" userId="c8694f89-bba4-4576-b0a8-456619ca5a8c" providerId="ADAL" clId="{FDDBFC5A-5EA9-5330-BEB8-433D7E3B4C4E}" dt="2026-09-28T14:04:52.297" v="534" actId="1076"/>
          <ac:picMkLst>
            <pc:docMk/>
            <pc:sldMk cId="0" sldId="291"/>
            <ac:picMk id="9" creationId="{00000000-0000-0000-0000-000000000000}"/>
          </ac:picMkLst>
        </pc:picChg>
      </pc:sldChg>
      <pc:sldChg chg="modSp mod">
        <pc:chgData name="Riccardo Berta" userId="c8694f89-bba4-4576-b0a8-456619ca5a8c" providerId="ADAL" clId="{FDDBFC5A-5EA9-5330-BEB8-433D7E3B4C4E}" dt="2026-09-28T14:07:38.406" v="564" actId="20577"/>
        <pc:sldMkLst>
          <pc:docMk/>
          <pc:sldMk cId="0" sldId="292"/>
        </pc:sldMkLst>
        <pc:spChg chg="mod">
          <ac:chgData name="Riccardo Berta" userId="c8694f89-bba4-4576-b0a8-456619ca5a8c" providerId="ADAL" clId="{FDDBFC5A-5EA9-5330-BEB8-433D7E3B4C4E}" dt="2026-09-28T14:07:15.950" v="558" actId="20577"/>
          <ac:spMkLst>
            <pc:docMk/>
            <pc:sldMk cId="0" sldId="292"/>
            <ac:spMk id="12" creationId="{00000000-0000-0000-0000-000000000000}"/>
          </ac:spMkLst>
        </pc:spChg>
        <pc:spChg chg="mod">
          <ac:chgData name="Riccardo Berta" userId="c8694f89-bba4-4576-b0a8-456619ca5a8c" providerId="ADAL" clId="{FDDBFC5A-5EA9-5330-BEB8-433D7E3B4C4E}" dt="2026-09-28T14:07:38.406" v="564" actId="20577"/>
          <ac:spMkLst>
            <pc:docMk/>
            <pc:sldMk cId="0" sldId="292"/>
            <ac:spMk id="16" creationId="{00000000-0000-0000-0000-000000000000}"/>
          </ac:spMkLst>
        </pc:spChg>
        <pc:picChg chg="mod">
          <ac:chgData name="Riccardo Berta" userId="c8694f89-bba4-4576-b0a8-456619ca5a8c" providerId="ADAL" clId="{FDDBFC5A-5EA9-5330-BEB8-433D7E3B4C4E}" dt="2026-09-28T14:06:46.571" v="553" actId="1076"/>
          <ac:picMkLst>
            <pc:docMk/>
            <pc:sldMk cId="0" sldId="292"/>
            <ac:picMk id="10" creationId="{00000000-0000-0000-0000-000000000000}"/>
          </ac:picMkLst>
        </pc:picChg>
      </pc:sldChg>
      <pc:sldChg chg="addSp delSp modSp mod">
        <pc:chgData name="Riccardo Berta" userId="c8694f89-bba4-4576-b0a8-456619ca5a8c" providerId="ADAL" clId="{FDDBFC5A-5EA9-5330-BEB8-433D7E3B4C4E}" dt="2026-09-28T14:10:03.110" v="614" actId="1076"/>
        <pc:sldMkLst>
          <pc:docMk/>
          <pc:sldMk cId="0" sldId="293"/>
        </pc:sldMkLst>
        <pc:spChg chg="mod">
          <ac:chgData name="Riccardo Berta" userId="c8694f89-bba4-4576-b0a8-456619ca5a8c" providerId="ADAL" clId="{FDDBFC5A-5EA9-5330-BEB8-433D7E3B4C4E}" dt="2026-09-28T14:08:19.182" v="587" actId="20577"/>
          <ac:spMkLst>
            <pc:docMk/>
            <pc:sldMk cId="0" sldId="293"/>
            <ac:spMk id="8" creationId="{00000000-0000-0000-0000-000000000000}"/>
          </ac:spMkLst>
        </pc:spChg>
        <pc:spChg chg="mod">
          <ac:chgData name="Riccardo Berta" userId="c8694f89-bba4-4576-b0a8-456619ca5a8c" providerId="ADAL" clId="{FDDBFC5A-5EA9-5330-BEB8-433D7E3B4C4E}" dt="2026-09-28T14:08:45.067" v="595" actId="313"/>
          <ac:spMkLst>
            <pc:docMk/>
            <pc:sldMk cId="0" sldId="293"/>
            <ac:spMk id="12" creationId="{00000000-0000-0000-0000-000000000000}"/>
          </ac:spMkLst>
        </pc:spChg>
        <pc:spChg chg="mod">
          <ac:chgData name="Riccardo Berta" userId="c8694f89-bba4-4576-b0a8-456619ca5a8c" providerId="ADAL" clId="{FDDBFC5A-5EA9-5330-BEB8-433D7E3B4C4E}" dt="2026-09-28T14:09:07.594" v="597" actId="20577"/>
          <ac:spMkLst>
            <pc:docMk/>
            <pc:sldMk cId="0" sldId="293"/>
            <ac:spMk id="16" creationId="{00000000-0000-0000-0000-000000000000}"/>
          </ac:spMkLst>
        </pc:spChg>
        <pc:spChg chg="mod">
          <ac:chgData name="Riccardo Berta" userId="c8694f89-bba4-4576-b0a8-456619ca5a8c" providerId="ADAL" clId="{FDDBFC5A-5EA9-5330-BEB8-433D7E3B4C4E}" dt="2026-09-28T14:10:03.110" v="614" actId="1076"/>
          <ac:spMkLst>
            <pc:docMk/>
            <pc:sldMk cId="0" sldId="293"/>
            <ac:spMk id="17" creationId="{00000000-0000-0000-0000-000000000000}"/>
          </ac:spMkLst>
        </pc:spChg>
        <pc:spChg chg="mod">
          <ac:chgData name="Riccardo Berta" userId="c8694f89-bba4-4576-b0a8-456619ca5a8c" providerId="ADAL" clId="{FDDBFC5A-5EA9-5330-BEB8-433D7E3B4C4E}" dt="2026-09-28T14:10:03.110" v="614" actId="1076"/>
          <ac:spMkLst>
            <pc:docMk/>
            <pc:sldMk cId="0" sldId="293"/>
            <ac:spMk id="18" creationId="{00000000-0000-0000-0000-000000000000}"/>
          </ac:spMkLst>
        </pc:spChg>
        <pc:spChg chg="mod">
          <ac:chgData name="Riccardo Berta" userId="c8694f89-bba4-4576-b0a8-456619ca5a8c" providerId="ADAL" clId="{FDDBFC5A-5EA9-5330-BEB8-433D7E3B4C4E}" dt="2026-09-28T14:10:03.110" v="614" actId="1076"/>
          <ac:spMkLst>
            <pc:docMk/>
            <pc:sldMk cId="0" sldId="293"/>
            <ac:spMk id="19" creationId="{00000000-0000-0000-0000-000000000000}"/>
          </ac:spMkLst>
        </pc:spChg>
        <pc:spChg chg="mod">
          <ac:chgData name="Riccardo Berta" userId="c8694f89-bba4-4576-b0a8-456619ca5a8c" providerId="ADAL" clId="{FDDBFC5A-5EA9-5330-BEB8-433D7E3B4C4E}" dt="2026-09-28T14:10:03.110" v="614" actId="1076"/>
          <ac:spMkLst>
            <pc:docMk/>
            <pc:sldMk cId="0" sldId="293"/>
            <ac:spMk id="21" creationId="{00000000-0000-0000-0000-000000000000}"/>
          </ac:spMkLst>
        </pc:spChg>
        <pc:spChg chg="add mod">
          <ac:chgData name="Riccardo Berta" userId="c8694f89-bba4-4576-b0a8-456619ca5a8c" providerId="ADAL" clId="{FDDBFC5A-5EA9-5330-BEB8-433D7E3B4C4E}" dt="2026-09-28T14:09:56.315" v="613" actId="27636"/>
          <ac:spMkLst>
            <pc:docMk/>
            <pc:sldMk cId="0" sldId="293"/>
            <ac:spMk id="23" creationId="{41E2DFC2-736C-394E-2CE1-0BEA9382CC84}"/>
          </ac:spMkLst>
        </pc:spChg>
        <pc:picChg chg="mod">
          <ac:chgData name="Riccardo Berta" userId="c8694f89-bba4-4576-b0a8-456619ca5a8c" providerId="ADAL" clId="{FDDBFC5A-5EA9-5330-BEB8-433D7E3B4C4E}" dt="2026-09-28T14:08:29.238" v="590" actId="1038"/>
          <ac:picMkLst>
            <pc:docMk/>
            <pc:sldMk cId="0" sldId="293"/>
            <ac:picMk id="11" creationId="{00000000-0000-0000-0000-000000000000}"/>
          </ac:picMkLst>
        </pc:picChg>
        <pc:picChg chg="mod">
          <ac:chgData name="Riccardo Berta" userId="c8694f89-bba4-4576-b0a8-456619ca5a8c" providerId="ADAL" clId="{FDDBFC5A-5EA9-5330-BEB8-433D7E3B4C4E}" dt="2026-09-28T14:08:30.735" v="591" actId="1037"/>
          <ac:picMkLst>
            <pc:docMk/>
            <pc:sldMk cId="0" sldId="293"/>
            <ac:picMk id="13" creationId="{00000000-0000-0000-0000-000000000000}"/>
          </ac:picMkLst>
        </pc:picChg>
        <pc:picChg chg="mod">
          <ac:chgData name="Riccardo Berta" userId="c8694f89-bba4-4576-b0a8-456619ca5a8c" providerId="ADAL" clId="{FDDBFC5A-5EA9-5330-BEB8-433D7E3B4C4E}" dt="2026-09-28T14:08:32.061" v="593" actId="1037"/>
          <ac:picMkLst>
            <pc:docMk/>
            <pc:sldMk cId="0" sldId="293"/>
            <ac:picMk id="15" creationId="{00000000-0000-0000-0000-000000000000}"/>
          </ac:picMkLst>
        </pc:picChg>
        <pc:picChg chg="mod">
          <ac:chgData name="Riccardo Berta" userId="c8694f89-bba4-4576-b0a8-456619ca5a8c" providerId="ADAL" clId="{FDDBFC5A-5EA9-5330-BEB8-433D7E3B4C4E}" dt="2026-09-28T14:10:03.110" v="614" actId="1076"/>
          <ac:picMkLst>
            <pc:docMk/>
            <pc:sldMk cId="0" sldId="293"/>
            <ac:picMk id="20" creationId="{00000000-0000-0000-0000-000000000000}"/>
          </ac:picMkLst>
        </pc:picChg>
      </pc:sldChg>
      <pc:sldChg chg="addSp delSp modSp mod">
        <pc:chgData name="Riccardo Berta" userId="c8694f89-bba4-4576-b0a8-456619ca5a8c" providerId="ADAL" clId="{FDDBFC5A-5EA9-5330-BEB8-433D7E3B4C4E}" dt="2026-10-01T09:24:40.804" v="807" actId="1076"/>
        <pc:sldMkLst>
          <pc:docMk/>
          <pc:sldMk cId="0" sldId="294"/>
        </pc:sldMkLst>
        <pc:picChg chg="del mod">
          <ac:chgData name="Riccardo Berta" userId="c8694f89-bba4-4576-b0a8-456619ca5a8c" providerId="ADAL" clId="{FDDBFC5A-5EA9-5330-BEB8-433D7E3B4C4E}" dt="2026-10-01T09:22:30.096" v="796" actId="478"/>
          <ac:picMkLst>
            <pc:docMk/>
            <pc:sldMk cId="0" sldId="294"/>
            <ac:picMk id="9" creationId="{00000000-0000-0000-0000-000000000000}"/>
          </ac:picMkLst>
        </pc:picChg>
        <pc:picChg chg="add del mod">
          <ac:chgData name="Riccardo Berta" userId="c8694f89-bba4-4576-b0a8-456619ca5a8c" providerId="ADAL" clId="{FDDBFC5A-5EA9-5330-BEB8-433D7E3B4C4E}" dt="2026-10-01T09:24:24.778" v="801" actId="478"/>
          <ac:picMkLst>
            <pc:docMk/>
            <pc:sldMk cId="0" sldId="294"/>
            <ac:picMk id="10" creationId="{B91A6EED-27F2-F81D-F4E3-7673676453C7}"/>
          </ac:picMkLst>
        </pc:picChg>
        <pc:picChg chg="add mod">
          <ac:chgData name="Riccardo Berta" userId="c8694f89-bba4-4576-b0a8-456619ca5a8c" providerId="ADAL" clId="{FDDBFC5A-5EA9-5330-BEB8-433D7E3B4C4E}" dt="2026-10-01T09:24:40.804" v="807" actId="1076"/>
          <ac:picMkLst>
            <pc:docMk/>
            <pc:sldMk cId="0" sldId="294"/>
            <ac:picMk id="15" creationId="{D4D91AAA-D485-F4B7-6A15-40B823C379B1}"/>
          </ac:picMkLst>
        </pc:picChg>
      </pc:sldChg>
      <pc:sldChg chg="modSp mod">
        <pc:chgData name="Riccardo Berta" userId="c8694f89-bba4-4576-b0a8-456619ca5a8c" providerId="ADAL" clId="{FDDBFC5A-5EA9-5330-BEB8-433D7E3B4C4E}" dt="2026-09-28T14:11:47.543" v="631" actId="20577"/>
        <pc:sldMkLst>
          <pc:docMk/>
          <pc:sldMk cId="0" sldId="295"/>
        </pc:sldMkLst>
        <pc:spChg chg="mod">
          <ac:chgData name="Riccardo Berta" userId="c8694f89-bba4-4576-b0a8-456619ca5a8c" providerId="ADAL" clId="{FDDBFC5A-5EA9-5330-BEB8-433D7E3B4C4E}" dt="2026-09-28T14:10:49.471" v="623" actId="20577"/>
          <ac:spMkLst>
            <pc:docMk/>
            <pc:sldMk cId="0" sldId="295"/>
            <ac:spMk id="3" creationId="{00000000-0000-0000-0000-000000000000}"/>
          </ac:spMkLst>
        </pc:spChg>
        <pc:spChg chg="mod">
          <ac:chgData name="Riccardo Berta" userId="c8694f89-bba4-4576-b0a8-456619ca5a8c" providerId="ADAL" clId="{FDDBFC5A-5EA9-5330-BEB8-433D7E3B4C4E}" dt="2026-09-28T14:11:26.865" v="628" actId="20577"/>
          <ac:spMkLst>
            <pc:docMk/>
            <pc:sldMk cId="0" sldId="295"/>
            <ac:spMk id="14" creationId="{00000000-0000-0000-0000-000000000000}"/>
          </ac:spMkLst>
        </pc:spChg>
        <pc:spChg chg="mod">
          <ac:chgData name="Riccardo Berta" userId="c8694f89-bba4-4576-b0a8-456619ca5a8c" providerId="ADAL" clId="{FDDBFC5A-5EA9-5330-BEB8-433D7E3B4C4E}" dt="2026-09-28T14:11:47.543" v="631" actId="20577"/>
          <ac:spMkLst>
            <pc:docMk/>
            <pc:sldMk cId="0" sldId="295"/>
            <ac:spMk id="32" creationId="{00000000-0000-0000-0000-000000000000}"/>
          </ac:spMkLst>
        </pc:spChg>
      </pc:sldChg>
      <pc:sldChg chg="modSp mod">
        <pc:chgData name="Riccardo Berta" userId="c8694f89-bba4-4576-b0a8-456619ca5a8c" providerId="ADAL" clId="{FDDBFC5A-5EA9-5330-BEB8-433D7E3B4C4E}" dt="2026-09-28T14:12:29.687" v="634" actId="20577"/>
        <pc:sldMkLst>
          <pc:docMk/>
          <pc:sldMk cId="0" sldId="296"/>
        </pc:sldMkLst>
        <pc:spChg chg="mod">
          <ac:chgData name="Riccardo Berta" userId="c8694f89-bba4-4576-b0a8-456619ca5a8c" providerId="ADAL" clId="{FDDBFC5A-5EA9-5330-BEB8-433D7E3B4C4E}" dt="2026-09-28T14:12:29.687" v="634" actId="20577"/>
          <ac:spMkLst>
            <pc:docMk/>
            <pc:sldMk cId="0" sldId="296"/>
            <ac:spMk id="6" creationId="{00000000-0000-0000-0000-000000000000}"/>
          </ac:spMkLst>
        </pc:spChg>
      </pc:sldChg>
      <pc:sldChg chg="modSp mod">
        <pc:chgData name="Riccardo Berta" userId="c8694f89-bba4-4576-b0a8-456619ca5a8c" providerId="ADAL" clId="{FDDBFC5A-5EA9-5330-BEB8-433D7E3B4C4E}" dt="2026-09-28T14:12:52.234" v="641" actId="20577"/>
        <pc:sldMkLst>
          <pc:docMk/>
          <pc:sldMk cId="0" sldId="297"/>
        </pc:sldMkLst>
        <pc:spChg chg="mod">
          <ac:chgData name="Riccardo Berta" userId="c8694f89-bba4-4576-b0a8-456619ca5a8c" providerId="ADAL" clId="{FDDBFC5A-5EA9-5330-BEB8-433D7E3B4C4E}" dt="2026-09-28T14:12:52.234" v="641" actId="20577"/>
          <ac:spMkLst>
            <pc:docMk/>
            <pc:sldMk cId="0" sldId="297"/>
            <ac:spMk id="8" creationId="{00000000-0000-0000-0000-000000000000}"/>
          </ac:spMkLst>
        </pc:spChg>
      </pc:sldChg>
      <pc:sldChg chg="modSp mod">
        <pc:chgData name="Riccardo Berta" userId="c8694f89-bba4-4576-b0a8-456619ca5a8c" providerId="ADAL" clId="{FDDBFC5A-5EA9-5330-BEB8-433D7E3B4C4E}" dt="2026-09-28T14:14:40.017" v="650" actId="313"/>
        <pc:sldMkLst>
          <pc:docMk/>
          <pc:sldMk cId="0" sldId="298"/>
        </pc:sldMkLst>
        <pc:spChg chg="mod">
          <ac:chgData name="Riccardo Berta" userId="c8694f89-bba4-4576-b0a8-456619ca5a8c" providerId="ADAL" clId="{FDDBFC5A-5EA9-5330-BEB8-433D7E3B4C4E}" dt="2026-09-28T14:14:40.017" v="650" actId="313"/>
          <ac:spMkLst>
            <pc:docMk/>
            <pc:sldMk cId="0" sldId="298"/>
            <ac:spMk id="17" creationId="{00000000-0000-0000-0000-000000000000}"/>
          </ac:spMkLst>
        </pc:spChg>
        <pc:spChg chg="mod">
          <ac:chgData name="Riccardo Berta" userId="c8694f89-bba4-4576-b0a8-456619ca5a8c" providerId="ADAL" clId="{FDDBFC5A-5EA9-5330-BEB8-433D7E3B4C4E}" dt="2026-09-28T14:14:17.533" v="649" actId="20577"/>
          <ac:spMkLst>
            <pc:docMk/>
            <pc:sldMk cId="0" sldId="298"/>
            <ac:spMk id="21" creationId="{00000000-0000-0000-0000-000000000000}"/>
          </ac:spMkLst>
        </pc:spChg>
      </pc:sldChg>
      <pc:sldChg chg="modSp mod">
        <pc:chgData name="Riccardo Berta" userId="c8694f89-bba4-4576-b0a8-456619ca5a8c" providerId="ADAL" clId="{FDDBFC5A-5EA9-5330-BEB8-433D7E3B4C4E}" dt="2026-09-28T14:16:02.912" v="662" actId="20577"/>
        <pc:sldMkLst>
          <pc:docMk/>
          <pc:sldMk cId="0" sldId="300"/>
        </pc:sldMkLst>
        <pc:spChg chg="mod">
          <ac:chgData name="Riccardo Berta" userId="c8694f89-bba4-4576-b0a8-456619ca5a8c" providerId="ADAL" clId="{FDDBFC5A-5EA9-5330-BEB8-433D7E3B4C4E}" dt="2026-09-28T14:15:13.997" v="653" actId="20577"/>
          <ac:spMkLst>
            <pc:docMk/>
            <pc:sldMk cId="0" sldId="300"/>
            <ac:spMk id="3" creationId="{00000000-0000-0000-0000-000000000000}"/>
          </ac:spMkLst>
        </pc:spChg>
        <pc:spChg chg="mod">
          <ac:chgData name="Riccardo Berta" userId="c8694f89-bba4-4576-b0a8-456619ca5a8c" providerId="ADAL" clId="{FDDBFC5A-5EA9-5330-BEB8-433D7E3B4C4E}" dt="2026-09-28T14:15:45.491" v="659" actId="20577"/>
          <ac:spMkLst>
            <pc:docMk/>
            <pc:sldMk cId="0" sldId="300"/>
            <ac:spMk id="13" creationId="{00000000-0000-0000-0000-000000000000}"/>
          </ac:spMkLst>
        </pc:spChg>
        <pc:spChg chg="mod">
          <ac:chgData name="Riccardo Berta" userId="c8694f89-bba4-4576-b0a8-456619ca5a8c" providerId="ADAL" clId="{FDDBFC5A-5EA9-5330-BEB8-433D7E3B4C4E}" dt="2026-09-28T14:16:02.912" v="662" actId="20577"/>
          <ac:spMkLst>
            <pc:docMk/>
            <pc:sldMk cId="0" sldId="300"/>
            <ac:spMk id="17" creationId="{00000000-0000-0000-0000-000000000000}"/>
          </ac:spMkLst>
        </pc:spChg>
      </pc:sldChg>
      <pc:sldChg chg="modSp mod">
        <pc:chgData name="Riccardo Berta" userId="c8694f89-bba4-4576-b0a8-456619ca5a8c" providerId="ADAL" clId="{FDDBFC5A-5EA9-5330-BEB8-433D7E3B4C4E}" dt="2026-09-28T14:16:32.817" v="665" actId="20577"/>
        <pc:sldMkLst>
          <pc:docMk/>
          <pc:sldMk cId="0" sldId="301"/>
        </pc:sldMkLst>
        <pc:spChg chg="mod">
          <ac:chgData name="Riccardo Berta" userId="c8694f89-bba4-4576-b0a8-456619ca5a8c" providerId="ADAL" clId="{FDDBFC5A-5EA9-5330-BEB8-433D7E3B4C4E}" dt="2026-09-28T14:16:32.817" v="665" actId="20577"/>
          <ac:spMkLst>
            <pc:docMk/>
            <pc:sldMk cId="0" sldId="301"/>
            <ac:spMk id="17" creationId="{00000000-0000-0000-0000-000000000000}"/>
          </ac:spMkLst>
        </pc:spChg>
      </pc:sldChg>
      <pc:sldChg chg="delSp modSp mod">
        <pc:chgData name="Riccardo Berta" userId="c8694f89-bba4-4576-b0a8-456619ca5a8c" providerId="ADAL" clId="{FDDBFC5A-5EA9-5330-BEB8-433D7E3B4C4E}" dt="2026-09-28T14:17:47.083" v="667" actId="478"/>
        <pc:sldMkLst>
          <pc:docMk/>
          <pc:sldMk cId="0" sldId="302"/>
        </pc:sldMkLst>
      </pc:sldChg>
      <pc:sldChg chg="addSp modSp mod">
        <pc:chgData name="Riccardo Berta" userId="c8694f89-bba4-4576-b0a8-456619ca5a8c" providerId="ADAL" clId="{FDDBFC5A-5EA9-5330-BEB8-433D7E3B4C4E}" dt="2026-09-28T15:05:51.144" v="706" actId="27636"/>
        <pc:sldMkLst>
          <pc:docMk/>
          <pc:sldMk cId="0" sldId="303"/>
        </pc:sldMkLst>
        <pc:spChg chg="mod">
          <ac:chgData name="Riccardo Berta" userId="c8694f89-bba4-4576-b0a8-456619ca5a8c" providerId="ADAL" clId="{FDDBFC5A-5EA9-5330-BEB8-433D7E3B4C4E}" dt="2026-09-28T15:03:32.068" v="671" actId="20577"/>
          <ac:spMkLst>
            <pc:docMk/>
            <pc:sldMk cId="0" sldId="303"/>
            <ac:spMk id="114" creationId="{00000000-0000-0000-0000-000000000000}"/>
          </ac:spMkLst>
        </pc:spChg>
        <pc:spChg chg="add mod">
          <ac:chgData name="Riccardo Berta" userId="c8694f89-bba4-4576-b0a8-456619ca5a8c" providerId="ADAL" clId="{FDDBFC5A-5EA9-5330-BEB8-433D7E3B4C4E}" dt="2026-09-28T15:05:51.144" v="706" actId="27636"/>
          <ac:spMkLst>
            <pc:docMk/>
            <pc:sldMk cId="0" sldId="303"/>
            <ac:spMk id="115" creationId="{F63EBC61-B70C-C208-8F05-EA211B8C9FFD}"/>
          </ac:spMkLst>
        </pc:spChg>
        <pc:picChg chg="mod">
          <ac:chgData name="Riccardo Berta" userId="c8694f89-bba4-4576-b0a8-456619ca5a8c" providerId="ADAL" clId="{FDDBFC5A-5EA9-5330-BEB8-433D7E3B4C4E}" dt="2026-09-28T15:02:33.514" v="668" actId="1076"/>
          <ac:picMkLst>
            <pc:docMk/>
            <pc:sldMk cId="0" sldId="303"/>
            <ac:picMk id="9" creationId="{00000000-0000-0000-0000-000000000000}"/>
          </ac:picMkLst>
        </pc:picChg>
      </pc:sldChg>
      <pc:sldChg chg="addSp delSp modSp mod">
        <pc:chgData name="Riccardo Berta" userId="c8694f89-bba4-4576-b0a8-456619ca5a8c" providerId="ADAL" clId="{FDDBFC5A-5EA9-5330-BEB8-433D7E3B4C4E}" dt="2026-09-28T15:06:42.545" v="716" actId="113"/>
        <pc:sldMkLst>
          <pc:docMk/>
          <pc:sldMk cId="0" sldId="304"/>
        </pc:sldMkLst>
        <pc:spChg chg="mod">
          <ac:chgData name="Riccardo Berta" userId="c8694f89-bba4-4576-b0a8-456619ca5a8c" providerId="ADAL" clId="{FDDBFC5A-5EA9-5330-BEB8-433D7E3B4C4E}" dt="2026-09-28T15:06:37.267" v="713" actId="790"/>
          <ac:spMkLst>
            <pc:docMk/>
            <pc:sldMk cId="0" sldId="304"/>
            <ac:spMk id="2" creationId="{00000000-0000-0000-0000-000000000000}"/>
          </ac:spMkLst>
        </pc:spChg>
        <pc:spChg chg="mod">
          <ac:chgData name="Riccardo Berta" userId="c8694f89-bba4-4576-b0a8-456619ca5a8c" providerId="ADAL" clId="{FDDBFC5A-5EA9-5330-BEB8-433D7E3B4C4E}" dt="2026-09-28T15:06:37.267" v="713" actId="790"/>
          <ac:spMkLst>
            <pc:docMk/>
            <pc:sldMk cId="0" sldId="304"/>
            <ac:spMk id="3" creationId="{00000000-0000-0000-0000-000000000000}"/>
          </ac:spMkLst>
        </pc:spChg>
        <pc:spChg chg="mod">
          <ac:chgData name="Riccardo Berta" userId="c8694f89-bba4-4576-b0a8-456619ca5a8c" providerId="ADAL" clId="{FDDBFC5A-5EA9-5330-BEB8-433D7E3B4C4E}" dt="2026-09-28T15:06:37.267" v="713" actId="790"/>
          <ac:spMkLst>
            <pc:docMk/>
            <pc:sldMk cId="0" sldId="304"/>
            <ac:spMk id="4" creationId="{00000000-0000-0000-0000-000000000000}"/>
          </ac:spMkLst>
        </pc:spChg>
        <pc:spChg chg="mod">
          <ac:chgData name="Riccardo Berta" userId="c8694f89-bba4-4576-b0a8-456619ca5a8c" providerId="ADAL" clId="{FDDBFC5A-5EA9-5330-BEB8-433D7E3B4C4E}" dt="2026-09-28T15:06:37.267" v="713" actId="790"/>
          <ac:spMkLst>
            <pc:docMk/>
            <pc:sldMk cId="0" sldId="304"/>
            <ac:spMk id="7" creationId="{00000000-0000-0000-0000-000000000000}"/>
          </ac:spMkLst>
        </pc:spChg>
        <pc:spChg chg="mod">
          <ac:chgData name="Riccardo Berta" userId="c8694f89-bba4-4576-b0a8-456619ca5a8c" providerId="ADAL" clId="{FDDBFC5A-5EA9-5330-BEB8-433D7E3B4C4E}" dt="2026-09-28T15:06:37.267" v="713" actId="790"/>
          <ac:spMkLst>
            <pc:docMk/>
            <pc:sldMk cId="0" sldId="304"/>
            <ac:spMk id="8" creationId="{00000000-0000-0000-0000-000000000000}"/>
          </ac:spMkLst>
        </pc:spChg>
        <pc:spChg chg="mod">
          <ac:chgData name="Riccardo Berta" userId="c8694f89-bba4-4576-b0a8-456619ca5a8c" providerId="ADAL" clId="{FDDBFC5A-5EA9-5330-BEB8-433D7E3B4C4E}" dt="2026-09-28T15:06:37.267" v="713" actId="790"/>
          <ac:spMkLst>
            <pc:docMk/>
            <pc:sldMk cId="0" sldId="304"/>
            <ac:spMk id="11" creationId="{00000000-0000-0000-0000-000000000000}"/>
          </ac:spMkLst>
        </pc:spChg>
        <pc:spChg chg="add mod">
          <ac:chgData name="Riccardo Berta" userId="c8694f89-bba4-4576-b0a8-456619ca5a8c" providerId="ADAL" clId="{FDDBFC5A-5EA9-5330-BEB8-433D7E3B4C4E}" dt="2026-09-28T15:06:37.267" v="713" actId="790"/>
          <ac:spMkLst>
            <pc:docMk/>
            <pc:sldMk cId="0" sldId="304"/>
            <ac:spMk id="36" creationId="{7289F31B-B713-26F5-6B5C-275E47D89126}"/>
          </ac:spMkLst>
        </pc:spChg>
        <pc:spChg chg="add mod">
          <ac:chgData name="Riccardo Berta" userId="c8694f89-bba4-4576-b0a8-456619ca5a8c" providerId="ADAL" clId="{FDDBFC5A-5EA9-5330-BEB8-433D7E3B4C4E}" dt="2026-09-28T15:06:37.267" v="713" actId="790"/>
          <ac:spMkLst>
            <pc:docMk/>
            <pc:sldMk cId="0" sldId="304"/>
            <ac:spMk id="37" creationId="{EE21163A-C61D-954D-6803-425BDF65C49A}"/>
          </ac:spMkLst>
        </pc:spChg>
        <pc:spChg chg="add mod">
          <ac:chgData name="Riccardo Berta" userId="c8694f89-bba4-4576-b0a8-456619ca5a8c" providerId="ADAL" clId="{FDDBFC5A-5EA9-5330-BEB8-433D7E3B4C4E}" dt="2026-09-28T15:06:37.267" v="713" actId="790"/>
          <ac:spMkLst>
            <pc:docMk/>
            <pc:sldMk cId="0" sldId="304"/>
            <ac:spMk id="38" creationId="{0FC46336-D67A-6DA5-A0E1-CCEE68C86ABC}"/>
          </ac:spMkLst>
        </pc:spChg>
        <pc:spChg chg="add mod">
          <ac:chgData name="Riccardo Berta" userId="c8694f89-bba4-4576-b0a8-456619ca5a8c" providerId="ADAL" clId="{FDDBFC5A-5EA9-5330-BEB8-433D7E3B4C4E}" dt="2026-09-28T15:06:42.545" v="716" actId="113"/>
          <ac:spMkLst>
            <pc:docMk/>
            <pc:sldMk cId="0" sldId="304"/>
            <ac:spMk id="39" creationId="{5B7E49AD-3D86-9D1D-747E-62CD9CE543C9}"/>
          </ac:spMkLst>
        </pc:spChg>
        <pc:picChg chg="mod">
          <ac:chgData name="Riccardo Berta" userId="c8694f89-bba4-4576-b0a8-456619ca5a8c" providerId="ADAL" clId="{FDDBFC5A-5EA9-5330-BEB8-433D7E3B4C4E}" dt="2026-09-28T15:06:14.272" v="710" actId="1076"/>
          <ac:picMkLst>
            <pc:docMk/>
            <pc:sldMk cId="0" sldId="304"/>
            <ac:picMk id="9" creationId="{00000000-0000-0000-0000-000000000000}"/>
          </ac:picMkLst>
        </pc:picChg>
        <pc:picChg chg="mod">
          <ac:chgData name="Riccardo Berta" userId="c8694f89-bba4-4576-b0a8-456619ca5a8c" providerId="ADAL" clId="{FDDBFC5A-5EA9-5330-BEB8-433D7E3B4C4E}" dt="2026-09-28T15:06:14.272" v="710" actId="1076"/>
          <ac:picMkLst>
            <pc:docMk/>
            <pc:sldMk cId="0" sldId="304"/>
            <ac:picMk id="10" creationId="{00000000-0000-0000-0000-000000000000}"/>
          </ac:picMkLst>
        </pc:picChg>
      </pc:sldChg>
      <pc:sldChg chg="modSp mod">
        <pc:chgData name="Riccardo Berta" userId="c8694f89-bba4-4576-b0a8-456619ca5a8c" providerId="ADAL" clId="{FDDBFC5A-5EA9-5330-BEB8-433D7E3B4C4E}" dt="2026-10-01T09:46:33.490" v="808" actId="14100"/>
        <pc:sldMkLst>
          <pc:docMk/>
          <pc:sldMk cId="0" sldId="306"/>
        </pc:sldMkLst>
        <pc:spChg chg="mod">
          <ac:chgData name="Riccardo Berta" userId="c8694f89-bba4-4576-b0a8-456619ca5a8c" providerId="ADAL" clId="{FDDBFC5A-5EA9-5330-BEB8-433D7E3B4C4E}" dt="2026-10-01T09:46:33.490" v="808" actId="14100"/>
          <ac:spMkLst>
            <pc:docMk/>
            <pc:sldMk cId="0" sldId="306"/>
            <ac:spMk id="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C66AF1DC-7F49-A24C-8A1B-166E2ED790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8AA33C56-A2D5-4E4E-827E-71DE8DB5A9F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9A2103-E3E1-6C47-9C03-3A4330A63ED2}" type="datetime1">
              <a:rPr lang="it-IT" smtClean="0"/>
              <a:t>22/10/26</a:t>
            </a:fld>
            <a:endParaRPr lang="it-IT"/>
          </a:p>
        </p:txBody>
      </p:sp>
      <p:sp>
        <p:nvSpPr>
          <p:cNvPr id="4" name="Segnaposto piè di pagina 3">
            <a:extLst>
              <a:ext uri="{FF2B5EF4-FFF2-40B4-BE49-F238E27FC236}">
                <a16:creationId xmlns:a16="http://schemas.microsoft.com/office/drawing/2014/main" id="{79AEF9E9-A1D0-864D-B9C9-A16B879811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C8CA1F14-2160-8D4F-920A-A24F059F8B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801598-FC98-3F4F-AF67-3E41A8697326}" type="slidenum">
              <a:rPr lang="it-IT" smtClean="0"/>
              <a:t>‹N›</a:t>
            </a:fld>
            <a:endParaRPr lang="it-IT"/>
          </a:p>
        </p:txBody>
      </p:sp>
    </p:spTree>
    <p:extLst>
      <p:ext uri="{BB962C8B-B14F-4D97-AF65-F5344CB8AC3E}">
        <p14:creationId xmlns:p14="http://schemas.microsoft.com/office/powerpoint/2010/main" val="232858305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812A7-C7D6-7542-9495-86D2A5F89521}" type="datetime1">
              <a:rPr lang="it-IT" smtClean="0"/>
              <a:t>22/10/26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it-IT"/>
              <a:t>Fare clic per modificare gli stili del testo dello schema
Secondo livello
Terzo livello
Quarto livello
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B8D42F-EEB8-D844-BCC2-FD2609102831}" type="slidenum">
              <a:rPr lang="it-IT" smtClean="0"/>
              <a:t>‹N›</a:t>
            </a:fld>
            <a:endParaRPr lang="it-IT"/>
          </a:p>
        </p:txBody>
      </p:sp>
    </p:spTree>
    <p:extLst>
      <p:ext uri="{BB962C8B-B14F-4D97-AF65-F5344CB8AC3E}">
        <p14:creationId xmlns:p14="http://schemas.microsoft.com/office/powerpoint/2010/main" val="365054473"/>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rgbClr val="574676"/>
        </a:solidFill>
        <a:effectLst/>
      </p:bgPr>
    </p:bg>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075F0702-5A13-1349-A296-951553656DE8}"/>
              </a:ext>
            </a:extLst>
          </p:cNvPr>
          <p:cNvSpPr>
            <a:spLocks noGrp="1"/>
          </p:cNvSpPr>
          <p:nvPr>
            <p:ph type="subTitle" idx="1" hasCustomPrompt="1"/>
          </p:nvPr>
        </p:nvSpPr>
        <p:spPr>
          <a:xfrm>
            <a:off x="858839" y="5244663"/>
            <a:ext cx="10434596" cy="916652"/>
          </a:xfrm>
        </p:spPr>
        <p:txBody>
          <a:bodyPr>
            <a:normAutofit/>
          </a:bodyPr>
          <a:lstStyle>
            <a:lvl1pPr marL="0" indent="0" algn="l">
              <a:buNone/>
              <a:defRPr sz="1600" b="0" i="0">
                <a:solidFill>
                  <a:schemeClr val="bg1"/>
                </a:solidFill>
                <a:latin typeface="Fira Sans Medium" panose="020B0503050000020004" pitchFamily="34" charset="0"/>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it-IT" dirty="0"/>
              <a:t>Fare clic per modificare l’autore delle slide</a:t>
            </a:r>
          </a:p>
        </p:txBody>
      </p:sp>
      <p:sp>
        <p:nvSpPr>
          <p:cNvPr id="7" name="Google Shape;10;p2">
            <a:extLst>
              <a:ext uri="{FF2B5EF4-FFF2-40B4-BE49-F238E27FC236}">
                <a16:creationId xmlns:a16="http://schemas.microsoft.com/office/drawing/2014/main" id="{BACD2019-637B-3D4C-A8D4-30C84AABC935}"/>
              </a:ext>
            </a:extLst>
          </p:cNvPr>
          <p:cNvSpPr txBox="1">
            <a:spLocks noGrp="1"/>
          </p:cNvSpPr>
          <p:nvPr>
            <p:ph type="ctrTitle" hasCustomPrompt="1"/>
          </p:nvPr>
        </p:nvSpPr>
        <p:spPr>
          <a:xfrm>
            <a:off x="858983" y="1613338"/>
            <a:ext cx="10434596" cy="2099606"/>
          </a:xfrm>
          <a:prstGeom prst="rect">
            <a:avLst/>
          </a:prstGeom>
        </p:spPr>
        <p:txBody>
          <a:bodyPr spcFirstLastPara="1" wrap="square" lIns="91425" tIns="91425" rIns="91425" bIns="91425" anchor="b"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bg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sp>
        <p:nvSpPr>
          <p:cNvPr id="4" name="Content Placeholder 3">
            <a:extLst>
              <a:ext uri="{FF2B5EF4-FFF2-40B4-BE49-F238E27FC236}">
                <a16:creationId xmlns:a16="http://schemas.microsoft.com/office/drawing/2014/main" id="{510CC95D-4677-2D48-8044-4BC81EDFDD62}"/>
              </a:ext>
            </a:extLst>
          </p:cNvPr>
          <p:cNvSpPr>
            <a:spLocks noGrp="1"/>
          </p:cNvSpPr>
          <p:nvPr>
            <p:ph sz="quarter" idx="10" hasCustomPrompt="1"/>
          </p:nvPr>
        </p:nvSpPr>
        <p:spPr>
          <a:xfrm>
            <a:off x="858839" y="4091493"/>
            <a:ext cx="10434596" cy="749279"/>
          </a:xfrm>
        </p:spPr>
        <p:txBody>
          <a:bodyPr>
            <a:normAutofit/>
          </a:bodyPr>
          <a:lstStyle>
            <a:lvl1pPr marL="0" indent="0">
              <a:buNone/>
              <a:defRPr sz="2400" b="0">
                <a:solidFill>
                  <a:schemeClr val="bg1"/>
                </a:solidFill>
                <a:latin typeface="Roboto Slab" pitchFamily="2" charset="0"/>
                <a:ea typeface="Roboto Slab" pitchFamily="2" charset="0"/>
              </a:defRPr>
            </a:lvl1pPr>
          </a:lstStyle>
          <a:p>
            <a:pPr lvl="0"/>
            <a:r>
              <a:rPr lang="it-IT" dirty="0"/>
              <a:t>Fare clic per modificare il sottotitolo delle slide</a:t>
            </a:r>
          </a:p>
        </p:txBody>
      </p:sp>
      <p:pic>
        <p:nvPicPr>
          <p:cNvPr id="6" name="Immagine 15">
            <a:extLst>
              <a:ext uri="{FF2B5EF4-FFF2-40B4-BE49-F238E27FC236}">
                <a16:creationId xmlns:a16="http://schemas.microsoft.com/office/drawing/2014/main" id="{FCD93EB7-DA4C-43A4-867F-0F0E0F89B1A8}"/>
              </a:ext>
            </a:extLst>
          </p:cNvPr>
          <p:cNvPicPr>
            <a:picLocks noChangeAspect="1"/>
          </p:cNvPicPr>
          <p:nvPr userDrawn="1"/>
        </p:nvPicPr>
        <p:blipFill>
          <a:blip r:embed="rId2"/>
          <a:stretch>
            <a:fillRect/>
          </a:stretch>
        </p:blipFill>
        <p:spPr>
          <a:xfrm>
            <a:off x="859536" y="754796"/>
            <a:ext cx="3975273" cy="524080"/>
          </a:xfrm>
          <a:prstGeom prst="rect">
            <a:avLst/>
          </a:prstGeom>
        </p:spPr>
      </p:pic>
    </p:spTree>
    <p:extLst>
      <p:ext uri="{BB962C8B-B14F-4D97-AF65-F5344CB8AC3E}">
        <p14:creationId xmlns:p14="http://schemas.microsoft.com/office/powerpoint/2010/main" val="123377940"/>
      </p:ext>
    </p:extLst>
  </p:cSld>
  <p:clrMapOvr>
    <a:masterClrMapping/>
  </p:clrMapOvr>
  <p:extLst>
    <p:ext uri="{DCECCB84-F9BA-43D5-87BE-67443E8EF086}">
      <p15:sldGuideLst xmlns:p15="http://schemas.microsoft.com/office/powerpoint/2012/main">
        <p15:guide id="1" orient="horz" pos="459" userDrawn="1">
          <p15:clr>
            <a:srgbClr val="FBAE40"/>
          </p15:clr>
        </p15:guide>
        <p15:guide id="2" orient="horz" pos="22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estazione sezione">
    <p:bg>
      <p:bgPr>
        <a:solidFill>
          <a:srgbClr val="D9D9D9"/>
        </a:solidFill>
        <a:effectLst/>
      </p:bgPr>
    </p:bg>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50670"/>
            <a:ext cx="10434596" cy="4510644"/>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4" name="Immagine 16">
            <a:extLst>
              <a:ext uri="{FF2B5EF4-FFF2-40B4-BE49-F238E27FC236}">
                <a16:creationId xmlns:a16="http://schemas.microsoft.com/office/drawing/2014/main" id="{61F1857B-A475-499C-9FD1-C11356497F1A}"/>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760773657"/>
      </p:ext>
    </p:extLst>
  </p:cSld>
  <p:clrMapOvr>
    <a:masterClrMapping/>
  </p:clrMapOvr>
  <p:extLst>
    <p:ext uri="{DCECCB84-F9BA-43D5-87BE-67443E8EF086}">
      <p15:sldGuideLst xmlns:p15="http://schemas.microsoft.com/office/powerpoint/2012/main">
        <p15:guide id="1" orient="horz" pos="45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estazione sezione + sottotitolo">
    <p:bg>
      <p:bgPr>
        <a:solidFill>
          <a:srgbClr val="D9D9D9"/>
        </a:solidFill>
        <a:effectLst/>
      </p:bgPr>
    </p:bg>
    <p:spTree>
      <p:nvGrpSpPr>
        <p:cNvPr id="1" name=""/>
        <p:cNvGrpSpPr/>
        <p:nvPr/>
      </p:nvGrpSpPr>
      <p:grpSpPr>
        <a:xfrm>
          <a:off x="0" y="0"/>
          <a:ext cx="0" cy="0"/>
          <a:chOff x="0" y="0"/>
          <a:chExt cx="0" cy="0"/>
        </a:xfrm>
      </p:grpSpPr>
      <p:sp>
        <p:nvSpPr>
          <p:cNvPr id="9" name="Content Placeholder 3">
            <a:extLst>
              <a:ext uri="{FF2B5EF4-FFF2-40B4-BE49-F238E27FC236}">
                <a16:creationId xmlns:a16="http://schemas.microsoft.com/office/drawing/2014/main" id="{DD39042D-E5F6-354C-AE48-85CA368F3EEB}"/>
              </a:ext>
            </a:extLst>
          </p:cNvPr>
          <p:cNvSpPr>
            <a:spLocks noGrp="1"/>
          </p:cNvSpPr>
          <p:nvPr>
            <p:ph sz="quarter" idx="10" hasCustomPrompt="1"/>
          </p:nvPr>
        </p:nvSpPr>
        <p:spPr>
          <a:xfrm>
            <a:off x="858840" y="4512248"/>
            <a:ext cx="10434453" cy="906143"/>
          </a:xfrm>
        </p:spPr>
        <p:txBody>
          <a:bodyPr anchor="ctr">
            <a:normAutofit/>
          </a:bodyPr>
          <a:lstStyle>
            <a:lvl1pPr marL="0" indent="0">
              <a:buNone/>
              <a:defRPr sz="2400" b="0">
                <a:solidFill>
                  <a:schemeClr val="tx1">
                    <a:lumMod val="85000"/>
                    <a:lumOff val="15000"/>
                  </a:schemeClr>
                </a:solidFill>
                <a:latin typeface="Roboto Slab" pitchFamily="2" charset="0"/>
                <a:ea typeface="Roboto Slab" pitchFamily="2" charset="0"/>
              </a:defRPr>
            </a:lvl1pPr>
          </a:lstStyle>
          <a:p>
            <a:pPr lvl="0"/>
            <a:r>
              <a:rPr lang="it-IT" dirty="0"/>
              <a:t>Fare clic per modificare il sottotitolo della sezione</a:t>
            </a:r>
          </a:p>
        </p:txBody>
      </p:sp>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02829"/>
            <a:ext cx="10434596" cy="2422906"/>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5" name="Immagine 16">
            <a:extLst>
              <a:ext uri="{FF2B5EF4-FFF2-40B4-BE49-F238E27FC236}">
                <a16:creationId xmlns:a16="http://schemas.microsoft.com/office/drawing/2014/main" id="{7F0F2A94-25FB-444E-B3D1-70F29C0D4BE6}"/>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3936225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olo, sottotitolo e tes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83A57FB5-7025-8A46-A2C8-9AC199CBFA66}"/>
              </a:ext>
            </a:extLst>
          </p:cNvPr>
          <p:cNvSpPr>
            <a:spLocks noGrp="1"/>
          </p:cNvSpPr>
          <p:nvPr>
            <p:ph idx="1"/>
          </p:nvPr>
        </p:nvSpPr>
        <p:spPr>
          <a:xfrm>
            <a:off x="838200" y="2511382"/>
            <a:ext cx="10515600" cy="3057565"/>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8" name="Text Placeholder 7">
            <a:extLst>
              <a:ext uri="{FF2B5EF4-FFF2-40B4-BE49-F238E27FC236}">
                <a16:creationId xmlns:a16="http://schemas.microsoft.com/office/drawing/2014/main" id="{A765F876-3350-441E-BD36-BE705EBA2058}"/>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1" name="Segnaposto titolo 1">
            <a:extLst>
              <a:ext uri="{FF2B5EF4-FFF2-40B4-BE49-F238E27FC236}">
                <a16:creationId xmlns:a16="http://schemas.microsoft.com/office/drawing/2014/main" id="{04C02021-F048-EF46-A427-824414E03CAC}"/>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5" name="Segnaposto numero diapositiva 4">
            <a:extLst>
              <a:ext uri="{FF2B5EF4-FFF2-40B4-BE49-F238E27FC236}">
                <a16:creationId xmlns:a16="http://schemas.microsoft.com/office/drawing/2014/main" id="{0C11EF75-678E-9E47-B9E3-622B2E130D2E}"/>
              </a:ext>
            </a:extLst>
          </p:cNvPr>
          <p:cNvSpPr>
            <a:spLocks noGrp="1"/>
          </p:cNvSpPr>
          <p:nvPr>
            <p:ph type="sldNum" sz="quarter" idx="16"/>
          </p:nvPr>
        </p:nvSpPr>
        <p:spPr/>
        <p:txBody>
          <a:bodyPr/>
          <a:lstStyle/>
          <a:p>
            <a:fld id="{FEC4A954-C260-E84D-8B85-4D54550A05DF}" type="slidenum">
              <a:rPr lang="it-IT" smtClean="0"/>
              <a:pPr/>
              <a:t>‹N›</a:t>
            </a:fld>
            <a:endParaRPr lang="it-IT"/>
          </a:p>
        </p:txBody>
      </p:sp>
      <p:sp>
        <p:nvSpPr>
          <p:cNvPr id="4" name="Segnaposto testo 3">
            <a:extLst>
              <a:ext uri="{FF2B5EF4-FFF2-40B4-BE49-F238E27FC236}">
                <a16:creationId xmlns:a16="http://schemas.microsoft.com/office/drawing/2014/main" id="{E8A205F8-F97E-E14B-B440-BBC8D0D15D5C}"/>
              </a:ext>
            </a:extLst>
          </p:cNvPr>
          <p:cNvSpPr>
            <a:spLocks noGrp="1"/>
          </p:cNvSpPr>
          <p:nvPr>
            <p:ph type="body" sz="quarter" idx="17" hasCustomPrompt="1"/>
          </p:nvPr>
        </p:nvSpPr>
        <p:spPr>
          <a:xfrm>
            <a:off x="838200" y="5748339"/>
            <a:ext cx="10515600" cy="428625"/>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10" name="Immagine 8">
            <a:extLst>
              <a:ext uri="{FF2B5EF4-FFF2-40B4-BE49-F238E27FC236}">
                <a16:creationId xmlns:a16="http://schemas.microsoft.com/office/drawing/2014/main" id="{50BE5A66-3047-413E-BA14-3135DDA75C76}"/>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60377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olo e testo">
    <p:spTree>
      <p:nvGrpSpPr>
        <p:cNvPr id="1" name=""/>
        <p:cNvGrpSpPr/>
        <p:nvPr/>
      </p:nvGrpSpPr>
      <p:grpSpPr>
        <a:xfrm>
          <a:off x="0" y="0"/>
          <a:ext cx="0" cy="0"/>
          <a:chOff x="0" y="0"/>
          <a:chExt cx="0" cy="0"/>
        </a:xfrm>
      </p:grpSpPr>
      <p:sp>
        <p:nvSpPr>
          <p:cNvPr id="15" name="Segnaposto titolo 1">
            <a:extLst>
              <a:ext uri="{FF2B5EF4-FFF2-40B4-BE49-F238E27FC236}">
                <a16:creationId xmlns:a16="http://schemas.microsoft.com/office/drawing/2014/main" id="{4A68EDD3-8B24-5E4A-A507-BC4297B68394}"/>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4" name="Segnaposto numero diapositiva 3">
            <a:extLst>
              <a:ext uri="{FF2B5EF4-FFF2-40B4-BE49-F238E27FC236}">
                <a16:creationId xmlns:a16="http://schemas.microsoft.com/office/drawing/2014/main" id="{97747EE5-0480-854D-A548-B2B40F2E638A}"/>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10" name="Segnaposto contenuto 2">
            <a:extLst>
              <a:ext uri="{FF2B5EF4-FFF2-40B4-BE49-F238E27FC236}">
                <a16:creationId xmlns:a16="http://schemas.microsoft.com/office/drawing/2014/main" id="{1AB9F965-5489-F944-AC9B-8A7ABDD5E406}"/>
              </a:ext>
            </a:extLst>
          </p:cNvPr>
          <p:cNvSpPr>
            <a:spLocks noGrp="1"/>
          </p:cNvSpPr>
          <p:nvPr>
            <p:ph idx="12"/>
          </p:nvPr>
        </p:nvSpPr>
        <p:spPr>
          <a:xfrm>
            <a:off x="838200" y="1531917"/>
            <a:ext cx="10515600" cy="4037029"/>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11" name="Segnaposto testo 3">
            <a:extLst>
              <a:ext uri="{FF2B5EF4-FFF2-40B4-BE49-F238E27FC236}">
                <a16:creationId xmlns:a16="http://schemas.microsoft.com/office/drawing/2014/main" id="{57B3B9C0-6AEB-E343-9620-C69E8840A95D}"/>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9" name="Immagine 8">
            <a:extLst>
              <a:ext uri="{FF2B5EF4-FFF2-40B4-BE49-F238E27FC236}">
                <a16:creationId xmlns:a16="http://schemas.microsoft.com/office/drawing/2014/main" id="{4F3023F1-1844-4375-B72E-DDB714D5CCA0}"/>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318560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olo e immagine">
    <p:spTree>
      <p:nvGrpSpPr>
        <p:cNvPr id="1" name=""/>
        <p:cNvGrpSpPr/>
        <p:nvPr/>
      </p:nvGrpSpPr>
      <p:grpSpPr>
        <a:xfrm>
          <a:off x="0" y="0"/>
          <a:ext cx="0" cy="0"/>
          <a:chOff x="0" y="0"/>
          <a:chExt cx="0" cy="0"/>
        </a:xfrm>
      </p:grpSpPr>
      <p:sp>
        <p:nvSpPr>
          <p:cNvPr id="11" name="Segnaposto immagine 2">
            <a:extLst>
              <a:ext uri="{FF2B5EF4-FFF2-40B4-BE49-F238E27FC236}">
                <a16:creationId xmlns:a16="http://schemas.microsoft.com/office/drawing/2014/main" id="{D4F9B8F1-23BB-DE44-B117-C81D61DBD6A5}"/>
              </a:ext>
            </a:extLst>
          </p:cNvPr>
          <p:cNvSpPr>
            <a:spLocks noGrp="1"/>
          </p:cNvSpPr>
          <p:nvPr>
            <p:ph type="pic" sz="quarter" idx="10"/>
          </p:nvPr>
        </p:nvSpPr>
        <p:spPr>
          <a:xfrm>
            <a:off x="0" y="1543054"/>
            <a:ext cx="12192000" cy="4024630"/>
          </a:xfrm>
        </p:spPr>
        <p:txBody>
          <a:bodyPr anchor="ctr"/>
          <a:lstStyle>
            <a:lvl1pPr marL="0" marR="0" indent="0" algn="ctr" defTabSz="685766" rtl="0" eaLnBrk="1" fontAlgn="auto" latinLnBrk="0" hangingPunct="1">
              <a:lnSpc>
                <a:spcPct val="90000"/>
              </a:lnSpc>
              <a:spcBef>
                <a:spcPts val="750"/>
              </a:spcBef>
              <a:spcAft>
                <a:spcPts val="0"/>
              </a:spcAft>
              <a:buClrTx/>
              <a:buSzTx/>
              <a:buFont typeface="Fira Sans" panose="020B0503050000020004" pitchFamily="34" charset="0"/>
              <a:buNone/>
              <a:tabLst/>
              <a:defRPr b="0" i="1">
                <a:latin typeface="Fira Sans" panose="020B0503050000020004" pitchFamily="34" charset="0"/>
              </a:defRPr>
            </a:lvl1pPr>
          </a:lstStyle>
          <a:p>
            <a:pPr marL="0" marR="0" lvl="0" indent="0" algn="l" defTabSz="685766" rtl="0" eaLnBrk="1" fontAlgn="auto" latinLnBrk="0" hangingPunct="1">
              <a:lnSpc>
                <a:spcPct val="90000"/>
              </a:lnSpc>
              <a:spcBef>
                <a:spcPts val="750"/>
              </a:spcBef>
              <a:spcAft>
                <a:spcPts val="0"/>
              </a:spcAft>
              <a:buClrTx/>
              <a:buSzTx/>
              <a:buFont typeface="Fira Sans" panose="020B0503050000020004" pitchFamily="34" charset="0"/>
              <a:buNone/>
              <a:tabLst/>
              <a:defRPr/>
            </a:pPr>
            <a:r>
              <a:rPr lang="en-US"/>
              <a:t>Click icon to add picture</a:t>
            </a:r>
            <a:endParaRPr lang="it-IT" dirty="0"/>
          </a:p>
        </p:txBody>
      </p:sp>
      <p:sp>
        <p:nvSpPr>
          <p:cNvPr id="3" name="Segnaposto numero diapositiva 2">
            <a:extLst>
              <a:ext uri="{FF2B5EF4-FFF2-40B4-BE49-F238E27FC236}">
                <a16:creationId xmlns:a16="http://schemas.microsoft.com/office/drawing/2014/main" id="{2A5C4FFC-D4BE-BB4F-92DA-D862EC4EB343}"/>
              </a:ext>
            </a:extLst>
          </p:cNvPr>
          <p:cNvSpPr>
            <a:spLocks noGrp="1"/>
          </p:cNvSpPr>
          <p:nvPr>
            <p:ph type="sldNum" sz="quarter" idx="12"/>
          </p:nvPr>
        </p:nvSpPr>
        <p:spPr/>
        <p:txBody>
          <a:bodyPr/>
          <a:lstStyle/>
          <a:p>
            <a:fld id="{FEC4A954-C260-E84D-8B85-4D54550A05DF}" type="slidenum">
              <a:rPr lang="it-IT" smtClean="0"/>
              <a:pPr/>
              <a:t>‹N›</a:t>
            </a:fld>
            <a:endParaRPr lang="it-IT"/>
          </a:p>
        </p:txBody>
      </p:sp>
      <p:sp>
        <p:nvSpPr>
          <p:cNvPr id="8" name="Segnaposto testo 3">
            <a:extLst>
              <a:ext uri="{FF2B5EF4-FFF2-40B4-BE49-F238E27FC236}">
                <a16:creationId xmlns:a16="http://schemas.microsoft.com/office/drawing/2014/main" id="{897D9E1E-9C0A-0D41-B11A-9921E9353E70}"/>
              </a:ext>
            </a:extLst>
          </p:cNvPr>
          <p:cNvSpPr>
            <a:spLocks noGrp="1"/>
          </p:cNvSpPr>
          <p:nvPr>
            <p:ph type="body" sz="quarter" idx="17" hasCustomPrompt="1"/>
          </p:nvPr>
        </p:nvSpPr>
        <p:spPr>
          <a:xfrm>
            <a:off x="838200" y="5747075"/>
            <a:ext cx="10515600" cy="429888"/>
          </a:xfrm>
        </p:spPr>
        <p:txBody>
          <a:bodyPr lIns="0">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0" name="Segnaposto titolo 1">
            <a:extLst>
              <a:ext uri="{FF2B5EF4-FFF2-40B4-BE49-F238E27FC236}">
                <a16:creationId xmlns:a16="http://schemas.microsoft.com/office/drawing/2014/main" id="{E6275BA2-C88F-D442-BB44-16AD120A3F6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19A73C7C-F021-46C2-A59B-8FF7976F4BB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106832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numero diapositiva 2">
            <a:extLst>
              <a:ext uri="{FF2B5EF4-FFF2-40B4-BE49-F238E27FC236}">
                <a16:creationId xmlns:a16="http://schemas.microsoft.com/office/drawing/2014/main" id="{9D72F9B8-ABA2-4C42-A181-607DBB3A26ED}"/>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8" name="Text Placeholder 7">
            <a:extLst>
              <a:ext uri="{FF2B5EF4-FFF2-40B4-BE49-F238E27FC236}">
                <a16:creationId xmlns:a16="http://schemas.microsoft.com/office/drawing/2014/main" id="{D2BB8059-381A-704A-886C-F6DD9F44F1BC}"/>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Segnaposto testo 3">
            <a:extLst>
              <a:ext uri="{FF2B5EF4-FFF2-40B4-BE49-F238E27FC236}">
                <a16:creationId xmlns:a16="http://schemas.microsoft.com/office/drawing/2014/main" id="{C08E708D-0E00-AB46-8AF7-AAC94AA38AB2}"/>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1" name="Segnaposto titolo 1">
            <a:extLst>
              <a:ext uri="{FF2B5EF4-FFF2-40B4-BE49-F238E27FC236}">
                <a16:creationId xmlns:a16="http://schemas.microsoft.com/office/drawing/2014/main" id="{80C56B0F-86D4-8640-B1D0-FEBA0E0A02D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A82B40A8-C866-4C16-8C00-EAE5EF75AB4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4495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609600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8A1CF13A-9AC3-41FE-A6E0-1943517FC7D9}"/>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933766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83661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6327178"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CF2C13BF-445B-4BE4-AD3F-23117EA32D2E}"/>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617235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olo, testo e immagine">
    <p:bg>
      <p:bgRef idx="1001">
        <a:schemeClr val="bg1"/>
      </p:bgRef>
    </p:bg>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89"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6293921"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1" y="1551582"/>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6293921" y="1551581"/>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3" name="Segnaposto numero diapositiva 2">
            <a:extLst>
              <a:ext uri="{FF2B5EF4-FFF2-40B4-BE49-F238E27FC236}">
                <a16:creationId xmlns:a16="http://schemas.microsoft.com/office/drawing/2014/main" id="{ED2AEED0-49D4-3E47-AC3F-270F49F4CC39}"/>
              </a:ext>
            </a:extLst>
          </p:cNvPr>
          <p:cNvSpPr>
            <a:spLocks noGrp="1"/>
          </p:cNvSpPr>
          <p:nvPr>
            <p:ph type="sldNum" sz="quarter" idx="16"/>
          </p:nvPr>
        </p:nvSpPr>
        <p:spPr/>
        <p:txBody>
          <a:bodyPr/>
          <a:lstStyle/>
          <a:p>
            <a:fld id="{FEC4A954-C260-E84D-8B85-4D54550A05DF}" type="slidenum">
              <a:rPr lang="it-IT" smtClean="0"/>
              <a:pPr/>
              <a:t>‹N›</a:t>
            </a:fld>
            <a:endParaRPr lang="it-IT"/>
          </a:p>
        </p:txBody>
      </p:sp>
      <p:cxnSp>
        <p:nvCxnSpPr>
          <p:cNvPr id="12" name="Connettore 1 11">
            <a:extLst>
              <a:ext uri="{FF2B5EF4-FFF2-40B4-BE49-F238E27FC236}">
                <a16:creationId xmlns:a16="http://schemas.microsoft.com/office/drawing/2014/main" id="{1D055194-F38E-BC41-A98D-1177A0272C8D}"/>
              </a:ext>
            </a:extLst>
          </p:cNvPr>
          <p:cNvCxnSpPr>
            <a:cxnSpLocks/>
          </p:cNvCxnSpPr>
          <p:nvPr userDrawn="1"/>
        </p:nvCxnSpPr>
        <p:spPr>
          <a:xfrm>
            <a:off x="6096000"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Segnaposto titolo 1">
            <a:extLst>
              <a:ext uri="{FF2B5EF4-FFF2-40B4-BE49-F238E27FC236}">
                <a16:creationId xmlns:a16="http://schemas.microsoft.com/office/drawing/2014/main" id="{35850251-896E-B041-8180-ED90B1047B2B}"/>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solidFill>
                  <a:srgbClr val="262626"/>
                </a:solidFill>
              </a:defRPr>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D3254F67-721F-4A44-8033-F90ED32CB3D8}"/>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16033095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olo, testo e immagine">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45445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7" name="Segnaposto testo 3">
            <a:extLst>
              <a:ext uri="{FF2B5EF4-FFF2-40B4-BE49-F238E27FC236}">
                <a16:creationId xmlns:a16="http://schemas.microsoft.com/office/drawing/2014/main" id="{798A6822-7DA7-2E4D-B441-3AC1A45F600B}"/>
              </a:ext>
            </a:extLst>
          </p:cNvPr>
          <p:cNvSpPr>
            <a:spLocks noGrp="1"/>
          </p:cNvSpPr>
          <p:nvPr>
            <p:ph type="body" sz="half" idx="11"/>
          </p:nvPr>
        </p:nvSpPr>
        <p:spPr>
          <a:xfrm>
            <a:off x="8249395"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3" y="1551582"/>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4544591"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Text Placeholder 7">
            <a:extLst>
              <a:ext uri="{FF2B5EF4-FFF2-40B4-BE49-F238E27FC236}">
                <a16:creationId xmlns:a16="http://schemas.microsoft.com/office/drawing/2014/main" id="{49EA2753-54CC-C644-8DA9-3ED0F1CF2418}"/>
              </a:ext>
            </a:extLst>
          </p:cNvPr>
          <p:cNvSpPr>
            <a:spLocks noGrp="1"/>
          </p:cNvSpPr>
          <p:nvPr>
            <p:ph type="body" sz="quarter" idx="15" hasCustomPrompt="1"/>
          </p:nvPr>
        </p:nvSpPr>
        <p:spPr>
          <a:xfrm>
            <a:off x="8249395"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5" name="Segnaposto numero diapositiva 4">
            <a:extLst>
              <a:ext uri="{FF2B5EF4-FFF2-40B4-BE49-F238E27FC236}">
                <a16:creationId xmlns:a16="http://schemas.microsoft.com/office/drawing/2014/main" id="{9E5D853E-0A41-7F40-8291-86C503BFACFA}"/>
              </a:ext>
            </a:extLst>
          </p:cNvPr>
          <p:cNvSpPr>
            <a:spLocks noGrp="1"/>
          </p:cNvSpPr>
          <p:nvPr>
            <p:ph type="sldNum" sz="quarter" idx="17"/>
          </p:nvPr>
        </p:nvSpPr>
        <p:spPr/>
        <p:txBody>
          <a:bodyPr/>
          <a:lstStyle/>
          <a:p>
            <a:fld id="{FEC4A954-C260-E84D-8B85-4D54550A05DF}" type="slidenum">
              <a:rPr lang="it-IT" smtClean="0"/>
              <a:pPr/>
              <a:t>‹N›</a:t>
            </a:fld>
            <a:endParaRPr lang="it-IT"/>
          </a:p>
        </p:txBody>
      </p:sp>
      <p:cxnSp>
        <p:nvCxnSpPr>
          <p:cNvPr id="3" name="Connettore 1 2">
            <a:extLst>
              <a:ext uri="{FF2B5EF4-FFF2-40B4-BE49-F238E27FC236}">
                <a16:creationId xmlns:a16="http://schemas.microsoft.com/office/drawing/2014/main" id="{07389034-36FE-D04B-97E1-02A924367620}"/>
              </a:ext>
            </a:extLst>
          </p:cNvPr>
          <p:cNvCxnSpPr>
            <a:cxnSpLocks/>
          </p:cNvCxnSpPr>
          <p:nvPr userDrawn="1"/>
        </p:nvCxnSpPr>
        <p:spPr>
          <a:xfrm>
            <a:off x="4251367"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ttore 1 13">
            <a:extLst>
              <a:ext uri="{FF2B5EF4-FFF2-40B4-BE49-F238E27FC236}">
                <a16:creationId xmlns:a16="http://schemas.microsoft.com/office/drawing/2014/main" id="{8B042105-974D-A945-82DA-C0EE98AFE88E}"/>
              </a:ext>
            </a:extLst>
          </p:cNvPr>
          <p:cNvCxnSpPr>
            <a:cxnSpLocks/>
          </p:cNvCxnSpPr>
          <p:nvPr userDrawn="1"/>
        </p:nvCxnSpPr>
        <p:spPr>
          <a:xfrm>
            <a:off x="7942613"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Segnaposto titolo 1">
            <a:extLst>
              <a:ext uri="{FF2B5EF4-FFF2-40B4-BE49-F238E27FC236}">
                <a16:creationId xmlns:a16="http://schemas.microsoft.com/office/drawing/2014/main" id="{8B77CED5-B561-3846-9AB3-80FAFE67AF7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612398E9-A9A8-42A3-AEFD-D1738CFB7F8C}"/>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024786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a fine">
    <p:bg>
      <p:bgPr>
        <a:solidFill>
          <a:srgbClr val="574676"/>
        </a:solidFill>
        <a:effectLst/>
      </p:bgPr>
    </p:bg>
    <p:spTree>
      <p:nvGrpSpPr>
        <p:cNvPr id="1" name=""/>
        <p:cNvGrpSpPr/>
        <p:nvPr/>
      </p:nvGrpSpPr>
      <p:grpSpPr>
        <a:xfrm>
          <a:off x="0" y="0"/>
          <a:ext cx="0" cy="0"/>
          <a:chOff x="0" y="0"/>
          <a:chExt cx="0" cy="0"/>
        </a:xfrm>
      </p:grpSpPr>
      <p:pic>
        <p:nvPicPr>
          <p:cNvPr id="3" name="Immagine 4">
            <a:extLst>
              <a:ext uri="{FF2B5EF4-FFF2-40B4-BE49-F238E27FC236}">
                <a16:creationId xmlns:a16="http://schemas.microsoft.com/office/drawing/2014/main" id="{4D955C49-DB2F-4B88-946E-C73C83E5ED75}"/>
              </a:ext>
            </a:extLst>
          </p:cNvPr>
          <p:cNvPicPr>
            <a:picLocks noChangeAspect="1"/>
          </p:cNvPicPr>
          <p:nvPr userDrawn="1"/>
        </p:nvPicPr>
        <p:blipFill>
          <a:blip r:embed="rId2"/>
          <a:stretch>
            <a:fillRect/>
          </a:stretch>
        </p:blipFill>
        <p:spPr>
          <a:xfrm>
            <a:off x="5254100" y="2860057"/>
            <a:ext cx="1730693" cy="1161160"/>
          </a:xfrm>
          <a:prstGeom prst="rect">
            <a:avLst/>
          </a:prstGeom>
        </p:spPr>
      </p:pic>
    </p:spTree>
    <p:extLst>
      <p:ext uri="{BB962C8B-B14F-4D97-AF65-F5344CB8AC3E}">
        <p14:creationId xmlns:p14="http://schemas.microsoft.com/office/powerpoint/2010/main" val="2601213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EB895A96-2866-484D-98AF-108A2B672A5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FEADDCE6-9BC9-1045-9A9B-B7DA4ECE9695}"/>
              </a:ext>
            </a:extLst>
          </p:cNvPr>
          <p:cNvSpPr>
            <a:spLocks noGrp="1"/>
          </p:cNvSpPr>
          <p:nvPr>
            <p:ph type="body" idx="1"/>
          </p:nvPr>
        </p:nvSpPr>
        <p:spPr>
          <a:xfrm>
            <a:off x="838200" y="1531918"/>
            <a:ext cx="10515600" cy="4645045"/>
          </a:xfrm>
          <a:prstGeom prst="rect">
            <a:avLst/>
          </a:prstGeom>
        </p:spPr>
        <p:txBody>
          <a:bodyPr vert="horz" lIns="91440" tIns="45720" rIns="91440" bIns="45720" rtlCol="0" anchor="ctr">
            <a:normAutofit/>
          </a:bodyPr>
          <a:lstStyle/>
          <a:p>
            <a:r>
              <a:rPr lang="it-IT" dirty="0"/>
              <a:t>Fare clic per modificare gli stili del testo dello schema</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Secondo livello</a:t>
            </a:r>
          </a:p>
          <a:p>
            <a:pPr marL="814348" marR="0" lvl="2"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Terzo livello</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endParaRPr lang="it-IT" dirty="0"/>
          </a:p>
        </p:txBody>
      </p:sp>
      <p:sp>
        <p:nvSpPr>
          <p:cNvPr id="6" name="Segnaposto numero diapositiva 5">
            <a:extLst>
              <a:ext uri="{FF2B5EF4-FFF2-40B4-BE49-F238E27FC236}">
                <a16:creationId xmlns:a16="http://schemas.microsoft.com/office/drawing/2014/main" id="{CB3E5275-AA79-C14E-8281-AC408BAAE8DA}"/>
              </a:ext>
            </a:extLst>
          </p:cNvPr>
          <p:cNvSpPr>
            <a:spLocks noGrp="1"/>
          </p:cNvSpPr>
          <p:nvPr>
            <p:ph type="sldNum" sz="quarter" idx="4"/>
          </p:nvPr>
        </p:nvSpPr>
        <p:spPr>
          <a:xfrm>
            <a:off x="8610600" y="6356356"/>
            <a:ext cx="2743200" cy="365125"/>
          </a:xfrm>
          <a:prstGeom prst="rect">
            <a:avLst/>
          </a:prstGeom>
        </p:spPr>
        <p:txBody>
          <a:bodyPr vert="horz" lIns="91440" tIns="45720" rIns="91440" bIns="45720" rtlCol="0" anchor="ctr"/>
          <a:lstStyle>
            <a:lvl1pPr algn="r">
              <a:defRPr sz="825" b="0" i="0">
                <a:solidFill>
                  <a:schemeClr val="bg1">
                    <a:lumMod val="75000"/>
                  </a:schemeClr>
                </a:solidFill>
                <a:latin typeface="Fira Sans Medium" panose="020B0503050000020004" pitchFamily="34" charset="0"/>
              </a:defRPr>
            </a:lvl1pPr>
          </a:lstStyle>
          <a:p>
            <a:fld id="{FEC4A954-C260-E84D-8B85-4D54550A05DF}" type="slidenum">
              <a:rPr lang="it-IT" smtClean="0"/>
              <a:pPr/>
              <a:t>‹N›</a:t>
            </a:fld>
            <a:endParaRPr lang="it-IT"/>
          </a:p>
        </p:txBody>
      </p:sp>
    </p:spTree>
    <p:extLst>
      <p:ext uri="{BB962C8B-B14F-4D97-AF65-F5344CB8AC3E}">
        <p14:creationId xmlns:p14="http://schemas.microsoft.com/office/powerpoint/2010/main" val="415500328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1" r:id="rId3"/>
    <p:sldLayoutId id="2147483659" r:id="rId4"/>
    <p:sldLayoutId id="2147483650" r:id="rId5"/>
    <p:sldLayoutId id="2147483663" r:id="rId6"/>
    <p:sldLayoutId id="2147483654" r:id="rId7"/>
    <p:sldLayoutId id="2147483657" r:id="rId8"/>
    <p:sldLayoutId id="2147483667" r:id="rId9"/>
    <p:sldLayoutId id="2147483666" r:id="rId10"/>
    <p:sldLayoutId id="2147483665" r:id="rId11"/>
    <p:sldLayoutId id="2147483658" r:id="rId12"/>
  </p:sldLayoutIdLst>
  <p:hf hdr="0" ftr="0" dt="0"/>
  <p:txStyles>
    <p:titleStyle>
      <a:lvl1pPr algn="l" defTabSz="685766" rtl="0" eaLnBrk="1" latinLnBrk="0" hangingPunct="1">
        <a:lnSpc>
          <a:spcPct val="90000"/>
        </a:lnSpc>
        <a:spcBef>
          <a:spcPct val="0"/>
        </a:spcBef>
        <a:buNone/>
        <a:defRPr sz="2700" b="1" kern="1200">
          <a:solidFill>
            <a:schemeClr val="tx1">
              <a:lumMod val="85000"/>
              <a:lumOff val="15000"/>
            </a:schemeClr>
          </a:solidFill>
          <a:latin typeface="Roboto Slab" pitchFamily="2" charset="0"/>
          <a:ea typeface="Roboto Slab" pitchFamily="2" charset="0"/>
          <a:cs typeface="+mj-cs"/>
        </a:defRPr>
      </a:lvl1pPr>
    </p:titleStyle>
    <p:bodyStyle>
      <a:lvl1pPr marL="171442" indent="-171442" algn="l" defTabSz="685766" rtl="0" eaLnBrk="1" latinLnBrk="0" hangingPunct="1">
        <a:lnSpc>
          <a:spcPct val="90000"/>
        </a:lnSpc>
        <a:spcBef>
          <a:spcPts val="750"/>
        </a:spcBef>
        <a:buFont typeface="Fira Sans" panose="020B0503050000020004" pitchFamily="34" charset="0"/>
        <a:buChar char="―"/>
        <a:defRPr sz="1800" b="0" i="0" kern="1200">
          <a:solidFill>
            <a:schemeClr val="tx1">
              <a:lumMod val="65000"/>
              <a:lumOff val="35000"/>
            </a:schemeClr>
          </a:solidFill>
          <a:latin typeface="Fira Sans Medium" panose="020B0503050000020004" pitchFamily="34" charset="0"/>
          <a:ea typeface="+mn-ea"/>
          <a:cs typeface="+mn-cs"/>
        </a:defRPr>
      </a:lvl1pPr>
      <a:lvl2pPr marL="557185" marR="0" indent="-214303" algn="l" defTabSz="685766" rtl="0" eaLnBrk="1" fontAlgn="auto" latinLnBrk="0" hangingPunct="1">
        <a:lnSpc>
          <a:spcPct val="90000"/>
        </a:lnSpc>
        <a:spcBef>
          <a:spcPts val="375"/>
        </a:spcBef>
        <a:spcAft>
          <a:spcPts val="0"/>
        </a:spcAft>
        <a:buClrTx/>
        <a:buSzTx/>
        <a:buFont typeface="Fira Sans" panose="020B0503050000020004" pitchFamily="34" charset="0"/>
        <a:buChar char="–"/>
        <a:tabLst/>
        <a:defRPr sz="1650" b="0" i="0" kern="1200">
          <a:solidFill>
            <a:schemeClr val="tx1">
              <a:lumMod val="65000"/>
              <a:lumOff val="35000"/>
            </a:schemeClr>
          </a:solidFill>
          <a:latin typeface="Fira Sans" panose="020B05030500000200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kern="1200">
          <a:solidFill>
            <a:schemeClr val="tx1">
              <a:lumMod val="65000"/>
              <a:lumOff val="35000"/>
            </a:schemeClr>
          </a:solidFill>
          <a:latin typeface="Fira Sans" panose="020B05030500000200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it-IT"/>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1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12.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5" Type="http://schemas.openxmlformats.org/officeDocument/2006/relationships/image" Target="../media/image26.svg"/><Relationship Id="rId4" Type="http://schemas.openxmlformats.org/officeDocument/2006/relationships/image" Target="../media/image25.svg"/></Relationships>
</file>

<file path=ppt/slides/_rels/slide17.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slideLayout" Target="../slideLayouts/slideLayout7.xml"/><Relationship Id="rId4" Type="http://schemas.openxmlformats.org/officeDocument/2006/relationships/image" Target="../media/image30.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slideLayout" Target="../slideLayouts/slideLayout7.xml"/><Relationship Id="rId4" Type="http://schemas.openxmlformats.org/officeDocument/2006/relationships/image" Target="../media/image33.svg"/></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slideLayout" Target="../slideLayouts/slideLayout7.xml"/><Relationship Id="rId4" Type="http://schemas.openxmlformats.org/officeDocument/2006/relationships/image" Target="../media/image37.svg"/></Relationships>
</file>

<file path=ppt/slides/_rels/slide26.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svg"/><Relationship Id="rId1" Type="http://schemas.openxmlformats.org/officeDocument/2006/relationships/slideLayout" Target="../slideLayouts/slideLayout7.xml"/><Relationship Id="rId6" Type="http://schemas.openxmlformats.org/officeDocument/2006/relationships/image" Target="../media/image39.svg"/><Relationship Id="rId5" Type="http://schemas.openxmlformats.org/officeDocument/2006/relationships/image" Target="../media/image43.svg"/><Relationship Id="rId4" Type="http://schemas.openxmlformats.org/officeDocument/2006/relationships/image" Target="../media/image42.svg"/></Relationships>
</file>

<file path=ppt/slides/_rels/slide28.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svg"/><Relationship Id="rId1" Type="http://schemas.openxmlformats.org/officeDocument/2006/relationships/slideLayout" Target="../slideLayouts/slideLayout7.xml"/><Relationship Id="rId5" Type="http://schemas.openxmlformats.org/officeDocument/2006/relationships/image" Target="../media/image47.svg"/><Relationship Id="rId4" Type="http://schemas.openxmlformats.org/officeDocument/2006/relationships/image" Target="../media/image46.svg"/></Relationships>
</file>

<file path=ppt/slides/_rels/slide29.xml.rels><?xml version="1.0" encoding="UTF-8" standalone="yes"?>
<Relationships xmlns="http://schemas.openxmlformats.org/package/2006/relationships"><Relationship Id="rId2" Type="http://schemas.openxmlformats.org/officeDocument/2006/relationships/image" Target="../media/image48.sv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svg"/></Relationships>
</file>

<file path=ppt/slides/_rels/slide32.xml.rels><?xml version="1.0" encoding="UTF-8" standalone="yes"?>
<Relationships xmlns="http://schemas.openxmlformats.org/package/2006/relationships"><Relationship Id="rId3" Type="http://schemas.openxmlformats.org/officeDocument/2006/relationships/image" Target="../media/image53.svg"/><Relationship Id="rId7" Type="http://schemas.openxmlformats.org/officeDocument/2006/relationships/image" Target="../media/image57.svg"/><Relationship Id="rId2" Type="http://schemas.openxmlformats.org/officeDocument/2006/relationships/image" Target="../media/image52.svg"/><Relationship Id="rId1" Type="http://schemas.openxmlformats.org/officeDocument/2006/relationships/slideLayout" Target="../slideLayouts/slideLayout7.xml"/><Relationship Id="rId6" Type="http://schemas.openxmlformats.org/officeDocument/2006/relationships/image" Target="../media/image56.svg"/><Relationship Id="rId5" Type="http://schemas.openxmlformats.org/officeDocument/2006/relationships/image" Target="../media/image55.svg"/><Relationship Id="rId4" Type="http://schemas.openxmlformats.org/officeDocument/2006/relationships/image" Target="../media/image54.svg"/></Relationships>
</file>

<file path=ppt/slides/_rels/slide33.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sv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61.sv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sv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64.svg"/><Relationship Id="rId1" Type="http://schemas.openxmlformats.org/officeDocument/2006/relationships/slideLayout" Target="../slideLayouts/slideLayout7.xml"/><Relationship Id="rId6" Type="http://schemas.openxmlformats.org/officeDocument/2006/relationships/image" Target="../media/image68.svg"/><Relationship Id="rId5" Type="http://schemas.openxmlformats.org/officeDocument/2006/relationships/image" Target="../media/image67.svg"/><Relationship Id="rId4" Type="http://schemas.openxmlformats.org/officeDocument/2006/relationships/image" Target="../media/image66.svg"/></Relationships>
</file>

<file path=ppt/slides/_rels/slide3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svg"/><Relationship Id="rId1" Type="http://schemas.openxmlformats.org/officeDocument/2006/relationships/slideLayout" Target="../slideLayouts/slideLayout7.xml"/><Relationship Id="rId4" Type="http://schemas.openxmlformats.org/officeDocument/2006/relationships/image" Target="../media/image72.svg"/></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73.svg"/><Relationship Id="rId1" Type="http://schemas.openxmlformats.org/officeDocument/2006/relationships/slideLayout" Target="../slideLayouts/slideLayout7.xml"/><Relationship Id="rId5" Type="http://schemas.openxmlformats.org/officeDocument/2006/relationships/image" Target="../media/image76.svg"/><Relationship Id="rId4" Type="http://schemas.openxmlformats.org/officeDocument/2006/relationships/image" Target="../media/image75.svg"/></Relationships>
</file>

<file path=ppt/slides/_rels/slide43.xml.rels><?xml version="1.0" encoding="UTF-8" standalone="yes"?>
<Relationships xmlns="http://schemas.openxmlformats.org/package/2006/relationships"><Relationship Id="rId3" Type="http://schemas.openxmlformats.org/officeDocument/2006/relationships/image" Target="../media/image78.svg"/><Relationship Id="rId2" Type="http://schemas.openxmlformats.org/officeDocument/2006/relationships/image" Target="../media/image77.svg"/><Relationship Id="rId1" Type="http://schemas.openxmlformats.org/officeDocument/2006/relationships/slideLayout" Target="../slideLayouts/slideLayout7.xml"/><Relationship Id="rId5" Type="http://schemas.openxmlformats.org/officeDocument/2006/relationships/image" Target="../media/image80.svg"/><Relationship Id="rId4" Type="http://schemas.openxmlformats.org/officeDocument/2006/relationships/image" Target="../media/image79.svg"/></Relationships>
</file>

<file path=ppt/slides/_rels/slide44.xml.rels><?xml version="1.0" encoding="UTF-8" standalone="yes"?>
<Relationships xmlns="http://schemas.openxmlformats.org/package/2006/relationships"><Relationship Id="rId3" Type="http://schemas.openxmlformats.org/officeDocument/2006/relationships/image" Target="../media/image82.svg"/><Relationship Id="rId7" Type="http://schemas.openxmlformats.org/officeDocument/2006/relationships/image" Target="../media/image86.svg"/><Relationship Id="rId2" Type="http://schemas.openxmlformats.org/officeDocument/2006/relationships/image" Target="../media/image81.svg"/><Relationship Id="rId1" Type="http://schemas.openxmlformats.org/officeDocument/2006/relationships/slideLayout" Target="../slideLayouts/slideLayout7.xml"/><Relationship Id="rId6" Type="http://schemas.openxmlformats.org/officeDocument/2006/relationships/image" Target="../media/image85.svg"/><Relationship Id="rId5" Type="http://schemas.openxmlformats.org/officeDocument/2006/relationships/image" Target="../media/image84.svg"/><Relationship Id="rId4" Type="http://schemas.openxmlformats.org/officeDocument/2006/relationships/image" Target="../media/image83.svg"/></Relationships>
</file>

<file path=ppt/slides/_rels/slide45.xml.rels><?xml version="1.0" encoding="UTF-8" standalone="yes"?>
<Relationships xmlns="http://schemas.openxmlformats.org/package/2006/relationships"><Relationship Id="rId3" Type="http://schemas.openxmlformats.org/officeDocument/2006/relationships/image" Target="../media/image88.svg"/><Relationship Id="rId2" Type="http://schemas.openxmlformats.org/officeDocument/2006/relationships/image" Target="../media/image87.sv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90.svg"/><Relationship Id="rId2" Type="http://schemas.openxmlformats.org/officeDocument/2006/relationships/image" Target="../media/image89.sv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91.sv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1773936"/>
            <a:ext cx="630936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REINFORCEMENT LEARNING   ·   CHAPTER 03</a:t>
            </a:r>
          </a:p>
        </p:txBody>
      </p:sp>
      <p:sp>
        <p:nvSpPr>
          <p:cNvPr id="5" name="TextBox 4"/>
          <p:cNvSpPr txBox="1"/>
          <p:nvPr/>
        </p:nvSpPr>
        <p:spPr>
          <a:xfrm>
            <a:off x="859536" y="2139696"/>
            <a:ext cx="6766560" cy="1005840"/>
          </a:xfrm>
          <a:prstGeom prst="rect">
            <a:avLst/>
          </a:prstGeom>
          <a:noFill/>
        </p:spPr>
        <p:txBody>
          <a:bodyPr wrap="square" lIns="0" tIns="0" rIns="0" bIns="0" anchor="t">
            <a:noAutofit/>
          </a:bodyPr>
          <a:lstStyle/>
          <a:p>
            <a:pPr marL="0" indent="0" algn="l">
              <a:lnSpc>
                <a:spcPts val="3587"/>
              </a:lnSpc>
              <a:spcBef>
                <a:spcPts val="0"/>
              </a:spcBef>
              <a:spcAft>
                <a:spcPts val="0"/>
              </a:spcAft>
              <a:buNone/>
            </a:pPr>
            <a:r>
              <a:rPr sz="3384" b="1" i="0">
                <a:solidFill>
                  <a:srgbClr val="FFFFFF"/>
                </a:solidFill>
                <a:latin typeface="Roboto Slab"/>
              </a:rPr>
              <a:t>Dynamic</a:t>
            </a:r>
          </a:p>
          <a:p>
            <a:pPr marL="0" indent="0" algn="l">
              <a:lnSpc>
                <a:spcPts val="3587"/>
              </a:lnSpc>
              <a:spcBef>
                <a:spcPts val="0"/>
              </a:spcBef>
              <a:spcAft>
                <a:spcPts val="0"/>
              </a:spcAft>
              <a:buNone/>
            </a:pPr>
            <a:r>
              <a:rPr sz="3384" b="1" i="0">
                <a:solidFill>
                  <a:srgbClr val="FFFFFF"/>
                </a:solidFill>
                <a:latin typeface="Roboto Slab"/>
              </a:rPr>
              <a:t>Programming</a:t>
            </a:r>
          </a:p>
        </p:txBody>
      </p:sp>
      <p:sp>
        <p:nvSpPr>
          <p:cNvPr id="6" name="Rectangle 5"/>
          <p:cNvSpPr/>
          <p:nvPr/>
        </p:nvSpPr>
        <p:spPr>
          <a:xfrm>
            <a:off x="859536" y="3346704"/>
            <a:ext cx="1280160" cy="320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59536" y="3602736"/>
            <a:ext cx="6126480" cy="1371600"/>
          </a:xfrm>
          <a:prstGeom prst="rect">
            <a:avLst/>
          </a:prstGeom>
          <a:noFill/>
        </p:spPr>
        <p:txBody>
          <a:bodyPr wrap="square" lIns="0" tIns="0" rIns="0" bIns="0" anchor="t">
            <a:noAutofit/>
          </a:bodyPr>
          <a:lstStyle/>
          <a:p>
            <a:pPr marL="0" indent="0" algn="l">
              <a:lnSpc>
                <a:spcPts val="1799"/>
              </a:lnSpc>
              <a:spcBef>
                <a:spcPts val="0"/>
              </a:spcBef>
              <a:spcAft>
                <a:spcPts val="0"/>
              </a:spcAft>
              <a:buNone/>
            </a:pPr>
            <a:r>
              <a:rPr sz="1363" b="0" i="0" dirty="0">
                <a:solidFill>
                  <a:srgbClr val="D6D0E0"/>
                </a:solidFill>
                <a:latin typeface="Fira Sans"/>
              </a:rPr>
              <a:t>Value functions and the Bellman equations; policy evaluation, policy improvement, policy iteration and value iteration</a:t>
            </a:r>
            <a:r>
              <a:rPr lang="it-IT" sz="1363" b="0" i="0" dirty="0">
                <a:solidFill>
                  <a:srgbClr val="D6D0E0"/>
                </a:solidFill>
                <a:latin typeface="Fira Sans"/>
              </a:rPr>
              <a:t>: </a:t>
            </a:r>
            <a:r>
              <a:rPr sz="1363" b="0" i="0" dirty="0">
                <a:solidFill>
                  <a:srgbClr val="D6D0E0"/>
                </a:solidFill>
                <a:latin typeface="Fira Sans"/>
              </a:rPr>
              <a:t>algorithms </a:t>
            </a:r>
            <a:r>
              <a:rPr lang="it-IT" sz="1363" b="0" i="0" dirty="0">
                <a:solidFill>
                  <a:srgbClr val="D6D0E0"/>
                </a:solidFill>
                <a:latin typeface="Fira Sans"/>
              </a:rPr>
              <a:t>to</a:t>
            </a:r>
            <a:r>
              <a:rPr sz="1363" b="0" i="0" dirty="0">
                <a:solidFill>
                  <a:srgbClr val="D6D0E0"/>
                </a:solidFill>
                <a:latin typeface="Fira Sans"/>
              </a:rPr>
              <a:t> solve a fully known MDP</a:t>
            </a:r>
            <a:r>
              <a:rPr lang="it-IT" sz="1363" b="0" i="0" dirty="0">
                <a:solidFill>
                  <a:srgbClr val="D6D0E0"/>
                </a:solidFill>
                <a:latin typeface="Fira Sans"/>
              </a:rPr>
              <a:t>.</a:t>
            </a:r>
            <a:endParaRPr sz="1363" b="0" i="0" dirty="0">
              <a:solidFill>
                <a:srgbClr val="D6D0E0"/>
              </a:solidFill>
              <a:latin typeface="Fira Sans"/>
            </a:endParaRPr>
          </a:p>
        </p:txBody>
      </p:sp>
      <p:sp>
        <p:nvSpPr>
          <p:cNvPr id="8" name="TextBox 7"/>
          <p:cNvSpPr txBox="1"/>
          <p:nvPr/>
        </p:nvSpPr>
        <p:spPr>
          <a:xfrm>
            <a:off x="859536" y="5522976"/>
            <a:ext cx="6309360" cy="566928"/>
          </a:xfrm>
          <a:prstGeom prst="rect">
            <a:avLst/>
          </a:prstGeom>
          <a:noFill/>
        </p:spPr>
        <p:txBody>
          <a:bodyPr wrap="square" lIns="0" tIns="0" rIns="0" bIns="0" anchor="t">
            <a:noAutofit/>
          </a:bodyPr>
          <a:lstStyle/>
          <a:p>
            <a:pPr marL="0" indent="0" algn="l">
              <a:lnSpc>
                <a:spcPts val="1092"/>
              </a:lnSpc>
              <a:spcBef>
                <a:spcPts val="0"/>
              </a:spcBef>
              <a:spcAft>
                <a:spcPts val="0"/>
              </a:spcAft>
              <a:buNone/>
            </a:pPr>
            <a:r>
              <a:rPr sz="1092" b="0" i="0">
                <a:solidFill>
                  <a:srgbClr val="B2A7C4"/>
                </a:solidFill>
                <a:latin typeface="Fira Sans"/>
              </a:rPr>
              <a:t>Università degli Studi di Genova  ·  DITEN — ELIOS Lab</a:t>
            </a:r>
          </a:p>
          <a:p>
            <a:pPr marL="0" indent="0" algn="l">
              <a:lnSpc>
                <a:spcPts val="1092"/>
              </a:lnSpc>
              <a:spcBef>
                <a:spcPts val="300"/>
              </a:spcBef>
              <a:spcAft>
                <a:spcPts val="0"/>
              </a:spcAft>
              <a:buNone/>
            </a:pPr>
            <a:r>
              <a:rPr sz="1092" b="0" i="0">
                <a:solidFill>
                  <a:srgbClr val="9486AC"/>
                </a:solidFill>
                <a:latin typeface="Fira Sans"/>
              </a:rPr>
              <a:t>Lecture notes, Chapter 03 — companion slides</a:t>
            </a:r>
          </a:p>
        </p:txBody>
      </p:sp>
      <p:sp>
        <p:nvSpPr>
          <p:cNvPr id="9" name="Rectangle 8"/>
          <p:cNvSpPr/>
          <p:nvPr/>
        </p:nvSpPr>
        <p:spPr>
          <a:xfrm>
            <a:off x="7424928" y="1773936"/>
            <a:ext cx="10972" cy="39319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1773936"/>
            <a:ext cx="338328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50">
                <a:solidFill>
                  <a:srgbClr val="B2A7C4"/>
                </a:solidFill>
                <a:latin typeface="Fira Sans Medium"/>
              </a:rPr>
              <a:t>CONTENTS</a:t>
            </a:r>
          </a:p>
        </p:txBody>
      </p:sp>
      <p:sp>
        <p:nvSpPr>
          <p:cNvPr id="11" name="TextBox 10"/>
          <p:cNvSpPr txBox="1"/>
          <p:nvPr/>
        </p:nvSpPr>
        <p:spPr>
          <a:xfrm>
            <a:off x="7973568" y="2157984"/>
            <a:ext cx="3383280" cy="365760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80">
                <a:solidFill>
                  <a:srgbClr val="9486AC"/>
                </a:solidFill>
                <a:latin typeface="Fira Sans"/>
              </a:rPr>
              <a:t>PART I   </a:t>
            </a:r>
          </a:p>
          <a:p>
            <a:pPr marL="0" indent="0" algn="l">
              <a:lnSpc>
                <a:spcPts val="1283"/>
              </a:lnSpc>
              <a:spcBef>
                <a:spcPts val="200"/>
              </a:spcBef>
              <a:spcAft>
                <a:spcPts val="0"/>
              </a:spcAft>
              <a:buNone/>
            </a:pPr>
            <a:r>
              <a:rPr sz="1188" b="0" i="0">
                <a:solidFill>
                  <a:srgbClr val="FFFFFF"/>
                </a:solidFill>
                <a:latin typeface="Fira Sans Medium"/>
              </a:rPr>
              <a:t>Why dynamic programming</a:t>
            </a:r>
          </a:p>
          <a:p>
            <a:pPr marL="0" indent="0" algn="l">
              <a:lnSpc>
                <a:spcPts val="882"/>
              </a:lnSpc>
              <a:spcBef>
                <a:spcPts val="1200"/>
              </a:spcBef>
              <a:spcAft>
                <a:spcPts val="0"/>
              </a:spcAft>
              <a:buNone/>
            </a:pPr>
            <a:r>
              <a:rPr sz="882" b="1" i="0" spc="80">
                <a:solidFill>
                  <a:srgbClr val="9486AC"/>
                </a:solidFill>
                <a:latin typeface="Fira Sans"/>
              </a:rPr>
              <a:t>PART II  </a:t>
            </a:r>
          </a:p>
          <a:p>
            <a:pPr marL="0" indent="0" algn="l">
              <a:lnSpc>
                <a:spcPts val="1283"/>
              </a:lnSpc>
              <a:spcBef>
                <a:spcPts val="200"/>
              </a:spcBef>
              <a:spcAft>
                <a:spcPts val="0"/>
              </a:spcAft>
              <a:buNone/>
            </a:pPr>
            <a:r>
              <a:rPr sz="1188" b="0" i="0">
                <a:solidFill>
                  <a:srgbClr val="FFFFFF"/>
                </a:solidFill>
                <a:latin typeface="Fira Sans Medium"/>
              </a:rPr>
              <a:t>Value functions</a:t>
            </a:r>
          </a:p>
          <a:p>
            <a:pPr marL="0" indent="0" algn="l">
              <a:lnSpc>
                <a:spcPts val="882"/>
              </a:lnSpc>
              <a:spcBef>
                <a:spcPts val="1200"/>
              </a:spcBef>
              <a:spcAft>
                <a:spcPts val="0"/>
              </a:spcAft>
              <a:buNone/>
            </a:pPr>
            <a:r>
              <a:rPr sz="882" b="1" i="0" spc="80">
                <a:solidFill>
                  <a:srgbClr val="9486AC"/>
                </a:solidFill>
                <a:latin typeface="Fira Sans"/>
              </a:rPr>
              <a:t>PART III </a:t>
            </a:r>
          </a:p>
          <a:p>
            <a:pPr marL="0" indent="0" algn="l">
              <a:lnSpc>
                <a:spcPts val="1283"/>
              </a:lnSpc>
              <a:spcBef>
                <a:spcPts val="200"/>
              </a:spcBef>
              <a:spcAft>
                <a:spcPts val="0"/>
              </a:spcAft>
              <a:buNone/>
            </a:pPr>
            <a:r>
              <a:rPr sz="1188" b="0" i="0">
                <a:solidFill>
                  <a:srgbClr val="FFFFFF"/>
                </a:solidFill>
                <a:latin typeface="Fira Sans Medium"/>
              </a:rPr>
              <a:t>Optimality</a:t>
            </a:r>
          </a:p>
          <a:p>
            <a:pPr marL="0" indent="0" algn="l">
              <a:lnSpc>
                <a:spcPts val="882"/>
              </a:lnSpc>
              <a:spcBef>
                <a:spcPts val="1200"/>
              </a:spcBef>
              <a:spcAft>
                <a:spcPts val="0"/>
              </a:spcAft>
              <a:buNone/>
            </a:pPr>
            <a:r>
              <a:rPr sz="882" b="1" i="0" spc="80">
                <a:solidFill>
                  <a:srgbClr val="9486AC"/>
                </a:solidFill>
                <a:latin typeface="Fira Sans"/>
              </a:rPr>
              <a:t>PART IV  </a:t>
            </a:r>
          </a:p>
          <a:p>
            <a:pPr marL="0" indent="0" algn="l">
              <a:lnSpc>
                <a:spcPts val="1283"/>
              </a:lnSpc>
              <a:spcBef>
                <a:spcPts val="200"/>
              </a:spcBef>
              <a:spcAft>
                <a:spcPts val="0"/>
              </a:spcAft>
              <a:buNone/>
            </a:pPr>
            <a:r>
              <a:rPr sz="1188" b="0" i="0">
                <a:solidFill>
                  <a:srgbClr val="FFFFFF"/>
                </a:solidFill>
                <a:latin typeface="Fira Sans Medium"/>
              </a:rPr>
              <a:t>Policy evaluation</a:t>
            </a:r>
          </a:p>
          <a:p>
            <a:pPr marL="0" indent="0" algn="l">
              <a:lnSpc>
                <a:spcPts val="882"/>
              </a:lnSpc>
              <a:spcBef>
                <a:spcPts val="1200"/>
              </a:spcBef>
              <a:spcAft>
                <a:spcPts val="0"/>
              </a:spcAft>
              <a:buNone/>
            </a:pPr>
            <a:r>
              <a:rPr sz="882" b="1" i="0" spc="80">
                <a:solidFill>
                  <a:srgbClr val="9486AC"/>
                </a:solidFill>
                <a:latin typeface="Fira Sans"/>
              </a:rPr>
              <a:t>PART V   </a:t>
            </a:r>
          </a:p>
          <a:p>
            <a:pPr marL="0" indent="0" algn="l">
              <a:lnSpc>
                <a:spcPts val="1283"/>
              </a:lnSpc>
              <a:spcBef>
                <a:spcPts val="200"/>
              </a:spcBef>
              <a:spcAft>
                <a:spcPts val="0"/>
              </a:spcAft>
              <a:buNone/>
            </a:pPr>
            <a:r>
              <a:rPr sz="1188" b="0" i="0">
                <a:solidFill>
                  <a:srgbClr val="FFFFFF"/>
                </a:solidFill>
                <a:latin typeface="Fira Sans Medium"/>
              </a:rPr>
              <a:t>Policy improvement and policy iteration</a:t>
            </a:r>
          </a:p>
          <a:p>
            <a:pPr marL="0" indent="0" algn="l">
              <a:lnSpc>
                <a:spcPts val="882"/>
              </a:lnSpc>
              <a:spcBef>
                <a:spcPts val="1200"/>
              </a:spcBef>
              <a:spcAft>
                <a:spcPts val="0"/>
              </a:spcAft>
              <a:buNone/>
            </a:pPr>
            <a:r>
              <a:rPr sz="882" b="1" i="0" spc="80">
                <a:solidFill>
                  <a:srgbClr val="9486AC"/>
                </a:solidFill>
                <a:latin typeface="Fira Sans"/>
              </a:rPr>
              <a:t>PART VI  </a:t>
            </a:r>
          </a:p>
          <a:p>
            <a:pPr marL="0" indent="0" algn="l">
              <a:lnSpc>
                <a:spcPts val="1283"/>
              </a:lnSpc>
              <a:spcBef>
                <a:spcPts val="200"/>
              </a:spcBef>
              <a:spcAft>
                <a:spcPts val="0"/>
              </a:spcAft>
              <a:buNone/>
            </a:pPr>
            <a:r>
              <a:rPr sz="1188" b="0" i="0">
                <a:solidFill>
                  <a:srgbClr val="FFFFFF"/>
                </a:solidFill>
                <a:latin typeface="Fira Sans Medium"/>
              </a:rPr>
              <a:t>Value iteration and GPI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Why dynamic programming</a:t>
            </a:r>
          </a:p>
        </p:txBody>
      </p:sp>
      <p:sp>
        <p:nvSpPr>
          <p:cNvPr id="6" name="TextBox 5"/>
          <p:cNvSpPr txBox="1"/>
          <p:nvPr/>
        </p:nvSpPr>
        <p:spPr>
          <a:xfrm>
            <a:off x="859536" y="3073907"/>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dirty="0">
                <a:solidFill>
                  <a:srgbClr val="D6D0E0"/>
                </a:solidFill>
                <a:latin typeface="Fira Sans"/>
              </a:rPr>
              <a:t>Finding an optimal policy by enumeration is hopeless. Sequential decision problems have a structure that lets us solve each state once and reuse the answer</a:t>
            </a:r>
            <a:r>
              <a:rPr lang="it-IT" sz="1282" b="0" i="0" dirty="0">
                <a:solidFill>
                  <a:srgbClr val="D6D0E0"/>
                </a:solidFill>
                <a:latin typeface="Fira Sans"/>
              </a:rPr>
              <a:t> </a:t>
            </a:r>
            <a:r>
              <a:rPr sz="1282" b="0" i="0" dirty="0">
                <a:solidFill>
                  <a:srgbClr val="D6D0E0"/>
                </a:solidFill>
                <a:latin typeface="Fira Sans"/>
              </a:rPr>
              <a:t>at the price of one strong assumption.</a:t>
            </a:r>
          </a:p>
        </p:txBody>
      </p:sp>
      <p:sp>
        <p:nvSpPr>
          <p:cNvPr id="7" name="Rectangle 6"/>
          <p:cNvSpPr/>
          <p:nvPr/>
        </p:nvSpPr>
        <p:spPr>
          <a:xfrm>
            <a:off x="859535" y="4956048"/>
            <a:ext cx="45719"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dirty="0">
                <a:solidFill>
                  <a:srgbClr val="B2A7C4"/>
                </a:solidFill>
                <a:latin typeface="Fira Sans Medium"/>
              </a:rPr>
              <a:t>KEEP THIS QUESTION IN MIND</a:t>
            </a:r>
          </a:p>
          <a:p>
            <a:pPr marL="0" indent="0" algn="l">
              <a:lnSpc>
                <a:spcPts val="1402"/>
              </a:lnSpc>
              <a:spcBef>
                <a:spcPts val="500"/>
              </a:spcBef>
              <a:spcAft>
                <a:spcPts val="0"/>
              </a:spcAft>
              <a:buNone/>
            </a:pPr>
            <a:r>
              <a:rPr sz="1188" b="0" i="1" dirty="0">
                <a:solidFill>
                  <a:srgbClr val="FFFFFF"/>
                </a:solidFill>
                <a:latin typeface="Fira Sans"/>
              </a:rPr>
              <a:t>What do we gain by assuming the model is known</a:t>
            </a:r>
            <a:r>
              <a:rPr lang="it-IT" sz="1188" b="0" i="1" dirty="0">
                <a:solidFill>
                  <a:srgbClr val="FFFFFF"/>
                </a:solidFill>
                <a:latin typeface="Fira Sans"/>
              </a:rPr>
              <a:t>, </a:t>
            </a:r>
            <a:r>
              <a:rPr sz="1188" b="0" i="1" dirty="0">
                <a:solidFill>
                  <a:srgbClr val="FFFFFF"/>
                </a:solidFill>
                <a:latin typeface="Fira Sans"/>
              </a:rPr>
              <a:t>and what do we give up?</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size of the policy space</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Structure: solve once, reuse many times</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price: a perfect model</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Evaluation and improvement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1.1  THE SIZE OF THE POLICY SPACE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Enumerating policies is correct, and completely hopeless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 — Why dynamic programming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a:t>
            </a:r>
          </a:p>
        </p:txBody>
      </p:sp>
      <p:sp>
        <p:nvSpPr>
          <p:cNvPr id="8" name="TextBox 7"/>
          <p:cNvSpPr txBox="1"/>
          <p:nvPr/>
        </p:nvSpPr>
        <p:spPr>
          <a:xfrm>
            <a:off x="841248" y="1380904"/>
            <a:ext cx="6543446"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Our goal is to </a:t>
            </a:r>
            <a:r>
              <a:rPr sz="1282" b="1" i="0" dirty="0">
                <a:solidFill>
                  <a:srgbClr val="25282A"/>
                </a:solidFill>
                <a:latin typeface="Fira Sans"/>
              </a:rPr>
              <a:t>find an optimal policy</a:t>
            </a:r>
            <a:r>
              <a:rPr sz="1282" b="0" i="0" dirty="0">
                <a:solidFill>
                  <a:srgbClr val="333639"/>
                </a:solidFill>
                <a:latin typeface="Fira Sans"/>
              </a:rPr>
              <a:t> for an MDP. The obvious method is </a:t>
            </a:r>
            <a:r>
              <a:rPr sz="1282" b="1" i="0" dirty="0">
                <a:solidFill>
                  <a:srgbClr val="C8102E"/>
                </a:solidFill>
                <a:latin typeface="Fira Sans"/>
              </a:rPr>
              <a:t>brute force</a:t>
            </a:r>
            <a:r>
              <a:rPr sz="1282" b="0" i="0" dirty="0">
                <a:solidFill>
                  <a:srgbClr val="333639"/>
                </a:solidFill>
                <a:latin typeface="Fira Sans"/>
              </a:rPr>
              <a:t>: enumerate every policy, evaluate each one, keep the best. It is correct. It is also unusable, and the reason is combinatorial.</a:t>
            </a:r>
          </a:p>
        </p:txBody>
      </p:sp>
      <p:sp>
        <p:nvSpPr>
          <p:cNvPr id="9" name="TextBox 8"/>
          <p:cNvSpPr txBox="1"/>
          <p:nvPr/>
        </p:nvSpPr>
        <p:spPr>
          <a:xfrm>
            <a:off x="841248" y="2196259"/>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ONE ACTION CHOSEN INDEPENDENTLY IN EVERY STATE</a:t>
            </a:r>
          </a:p>
        </p:txBody>
      </p:sp>
      <p:pic>
        <p:nvPicPr>
          <p:cNvPr id="10" name="Picture 9" descr="eq_nbf_ann.png"/>
          <p:cNvPicPr>
            <a:picLocks noChangeAspect="1"/>
          </p:cNvPicPr>
          <p:nvPr/>
        </p:nvPicPr>
        <p:blipFill>
          <a:blip>
            <a:extLst>
              <a:ext uri="{96DAC541-7B7A-43D3-8B79-37D633B846F1}">
                <asvg:svgBlip xmlns:asvg="http://schemas.microsoft.com/office/drawing/2016/SVG/main" r:embed="rId2"/>
              </a:ext>
            </a:extLst>
          </a:blip>
          <a:srcRect t="1" r="79961" b="-2940"/>
          <a:stretch>
            <a:fillRect/>
          </a:stretch>
        </p:blipFill>
        <p:spPr>
          <a:xfrm>
            <a:off x="944119" y="2497273"/>
            <a:ext cx="1863089" cy="387098"/>
          </a:xfrm>
          <a:prstGeom prst="rect">
            <a:avLst/>
          </a:prstGeom>
        </p:spPr>
      </p:pic>
      <p:sp>
        <p:nvSpPr>
          <p:cNvPr id="11" name="TextBox 10"/>
          <p:cNvSpPr txBox="1"/>
          <p:nvPr/>
        </p:nvSpPr>
        <p:spPr>
          <a:xfrm>
            <a:off x="841248" y="3120946"/>
            <a:ext cx="6543446"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dirty="0">
                <a:solidFill>
                  <a:srgbClr val="333639"/>
                </a:solidFill>
                <a:latin typeface="Fira Sans"/>
              </a:rPr>
              <a:t>A deterministic policy must commit to one action in each state, independently of the others. The number of such policies therefore grows </a:t>
            </a:r>
            <a:r>
              <a:rPr sz="1188" b="1" i="0" dirty="0">
                <a:solidFill>
                  <a:srgbClr val="25282A"/>
                </a:solidFill>
                <a:latin typeface="Fira Sans"/>
              </a:rPr>
              <a:t>exponentially with the number of states</a:t>
            </a:r>
            <a:r>
              <a:rPr lang="it-IT" sz="1188" dirty="0">
                <a:solidFill>
                  <a:srgbClr val="333639"/>
                </a:solidFill>
                <a:latin typeface="Fira Sans"/>
              </a:rPr>
              <a:t>, </a:t>
            </a:r>
            <a:r>
              <a:rPr sz="1188" b="0" i="0" dirty="0">
                <a:solidFill>
                  <a:srgbClr val="333639"/>
                </a:solidFill>
                <a:latin typeface="Fira Sans"/>
              </a:rPr>
              <a:t>not with the number of actions.</a:t>
            </a:r>
          </a:p>
        </p:txBody>
      </p:sp>
      <p:sp>
        <p:nvSpPr>
          <p:cNvPr id="12" name="Rectangle 11"/>
          <p:cNvSpPr/>
          <p:nvPr/>
        </p:nvSpPr>
        <p:spPr>
          <a:xfrm>
            <a:off x="841248" y="3929184"/>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4130352"/>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dirty="0">
                <a:solidFill>
                  <a:srgbClr val="574676"/>
                </a:solidFill>
                <a:latin typeface="Fira Sans"/>
              </a:rPr>
              <a:t>FROZEN LAKE</a:t>
            </a:r>
            <a:r>
              <a:rPr lang="it-IT" sz="931" b="1" i="0" spc="120" dirty="0">
                <a:solidFill>
                  <a:srgbClr val="574676"/>
                </a:solidFill>
                <a:latin typeface="Fira Sans"/>
              </a:rPr>
              <a:t>: </a:t>
            </a:r>
            <a:r>
              <a:rPr sz="931" b="1" i="0" spc="120" dirty="0">
                <a:solidFill>
                  <a:srgbClr val="574676"/>
                </a:solidFill>
                <a:latin typeface="Fira Sans"/>
              </a:rPr>
              <a:t>16 STATES, 4 ACTIONS</a:t>
            </a:r>
          </a:p>
        </p:txBody>
      </p:sp>
      <p:pic>
        <p:nvPicPr>
          <p:cNvPr id="14" name="Picture 13" descr="eq_nbf_fl.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568" y="4404672"/>
            <a:ext cx="3616198" cy="362204"/>
          </a:xfrm>
          <a:prstGeom prst="rect">
            <a:avLst/>
          </a:prstGeom>
        </p:spPr>
      </p:pic>
      <p:sp>
        <p:nvSpPr>
          <p:cNvPr id="15" name="TextBox 14"/>
          <p:cNvSpPr txBox="1"/>
          <p:nvPr/>
        </p:nvSpPr>
        <p:spPr>
          <a:xfrm>
            <a:off x="841248" y="4968044"/>
            <a:ext cx="6543446" cy="384048"/>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lang="en-GB" sz="1140" b="0" i="0" noProof="0" dirty="0">
                <a:solidFill>
                  <a:srgbClr val="626669"/>
                </a:solidFill>
                <a:latin typeface="Fira Sans"/>
              </a:rPr>
              <a:t>More than four billion policies for a 4×4 grid. Each one would still have to be evaluated and in the previous chapter a single evaluation meant simulating ten thousand episodes.</a:t>
            </a:r>
          </a:p>
        </p:txBody>
      </p:sp>
      <p:sp>
        <p:nvSpPr>
          <p:cNvPr id="16" name="Rectangle 15"/>
          <p:cNvSpPr/>
          <p:nvPr/>
        </p:nvSpPr>
        <p:spPr>
          <a:xfrm>
            <a:off x="7618780" y="1316736"/>
            <a:ext cx="3731940" cy="1196035"/>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618780" y="1316736"/>
            <a:ext cx="41148" cy="119603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WHY IT IS WASTEFUL, NOT MERELY SLOW</a:t>
            </a:r>
          </a:p>
        </p:txBody>
      </p:sp>
      <p:sp>
        <p:nvSpPr>
          <p:cNvPr id="19" name="TextBox 18"/>
          <p:cNvSpPr txBox="1"/>
          <p:nvPr/>
        </p:nvSpPr>
        <p:spPr>
          <a:xfrm>
            <a:off x="7838236" y="1700784"/>
            <a:ext cx="33478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Brute force treats every policy as an </a:t>
            </a:r>
            <a:r>
              <a:rPr sz="1092" b="1" i="0" dirty="0">
                <a:solidFill>
                  <a:srgbClr val="333639"/>
                </a:solidFill>
                <a:latin typeface="Fira Sans"/>
              </a:rPr>
              <a:t>unrelated candidate</a:t>
            </a:r>
            <a:r>
              <a:rPr sz="1092" b="0" i="0" dirty="0">
                <a:solidFill>
                  <a:srgbClr val="333639"/>
                </a:solidFill>
                <a:latin typeface="Fira Sans"/>
              </a:rPr>
              <a:t>. Nothing learned while evaluating one policy is reused when evaluating the next</a:t>
            </a:r>
            <a:r>
              <a:rPr lang="it-IT" sz="1092" b="0" i="0" dirty="0">
                <a:solidFill>
                  <a:srgbClr val="333639"/>
                </a:solidFill>
                <a:latin typeface="Fira Sans"/>
              </a:rPr>
              <a:t>,</a:t>
            </a:r>
            <a:r>
              <a:rPr sz="1092" b="0" i="0" dirty="0">
                <a:solidFill>
                  <a:srgbClr val="333639"/>
                </a:solidFill>
                <a:latin typeface="Fira Sans"/>
              </a:rPr>
              <a:t> even when the two policies differ in a single state.</a:t>
            </a:r>
          </a:p>
        </p:txBody>
      </p:sp>
      <p:sp>
        <p:nvSpPr>
          <p:cNvPr id="20" name="TextBox 19"/>
          <p:cNvSpPr txBox="1"/>
          <p:nvPr/>
        </p:nvSpPr>
        <p:spPr>
          <a:xfrm>
            <a:off x="7618780" y="2787091"/>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HOW FAST IT EXPLODES</a:t>
            </a:r>
          </a:p>
        </p:txBody>
      </p:sp>
      <p:sp>
        <p:nvSpPr>
          <p:cNvPr id="21" name="Rectangle 20"/>
          <p:cNvSpPr/>
          <p:nvPr/>
        </p:nvSpPr>
        <p:spPr>
          <a:xfrm>
            <a:off x="7618780" y="3043123"/>
            <a:ext cx="3731940" cy="30679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710220" y="3120847"/>
            <a:ext cx="862063"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States</a:t>
            </a:r>
          </a:p>
        </p:txBody>
      </p:sp>
      <p:sp>
        <p:nvSpPr>
          <p:cNvPr id="23" name="TextBox 22"/>
          <p:cNvSpPr txBox="1"/>
          <p:nvPr/>
        </p:nvSpPr>
        <p:spPr>
          <a:xfrm>
            <a:off x="8755164" y="3120847"/>
            <a:ext cx="936702"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Actions</a:t>
            </a:r>
          </a:p>
        </p:txBody>
      </p:sp>
      <p:sp>
        <p:nvSpPr>
          <p:cNvPr id="24" name="TextBox 23"/>
          <p:cNvSpPr txBox="1"/>
          <p:nvPr/>
        </p:nvSpPr>
        <p:spPr>
          <a:xfrm>
            <a:off x="9874746" y="3120847"/>
            <a:ext cx="1384535"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Policies</a:t>
            </a:r>
          </a:p>
        </p:txBody>
      </p:sp>
      <p:sp>
        <p:nvSpPr>
          <p:cNvPr id="25" name="TextBox 24"/>
          <p:cNvSpPr txBox="1"/>
          <p:nvPr/>
        </p:nvSpPr>
        <p:spPr>
          <a:xfrm>
            <a:off x="7710220" y="3427638"/>
            <a:ext cx="862063"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4</a:t>
            </a:r>
          </a:p>
        </p:txBody>
      </p:sp>
      <p:sp>
        <p:nvSpPr>
          <p:cNvPr id="26" name="TextBox 25"/>
          <p:cNvSpPr txBox="1"/>
          <p:nvPr/>
        </p:nvSpPr>
        <p:spPr>
          <a:xfrm>
            <a:off x="8755164" y="3427638"/>
            <a:ext cx="936702"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4</a:t>
            </a:r>
          </a:p>
        </p:txBody>
      </p:sp>
      <p:sp>
        <p:nvSpPr>
          <p:cNvPr id="27" name="TextBox 26"/>
          <p:cNvSpPr txBox="1"/>
          <p:nvPr/>
        </p:nvSpPr>
        <p:spPr>
          <a:xfrm>
            <a:off x="9874746" y="3427638"/>
            <a:ext cx="1384535"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256</a:t>
            </a:r>
          </a:p>
        </p:txBody>
      </p:sp>
      <p:sp>
        <p:nvSpPr>
          <p:cNvPr id="28" name="Rectangle 27"/>
          <p:cNvSpPr/>
          <p:nvPr/>
        </p:nvSpPr>
        <p:spPr>
          <a:xfrm>
            <a:off x="7618780" y="3680076"/>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7618780" y="3685562"/>
            <a:ext cx="3731940" cy="33564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710220" y="3763286"/>
            <a:ext cx="862063"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9</a:t>
            </a:r>
          </a:p>
        </p:txBody>
      </p:sp>
      <p:sp>
        <p:nvSpPr>
          <p:cNvPr id="31" name="TextBox 30"/>
          <p:cNvSpPr txBox="1"/>
          <p:nvPr/>
        </p:nvSpPr>
        <p:spPr>
          <a:xfrm>
            <a:off x="8755164" y="3763286"/>
            <a:ext cx="936702"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4</a:t>
            </a:r>
          </a:p>
        </p:txBody>
      </p:sp>
      <p:sp>
        <p:nvSpPr>
          <p:cNvPr id="32" name="TextBox 31"/>
          <p:cNvSpPr txBox="1"/>
          <p:nvPr/>
        </p:nvSpPr>
        <p:spPr>
          <a:xfrm>
            <a:off x="9874746" y="3763286"/>
            <a:ext cx="1384535"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2.6 × 10⁵</a:t>
            </a:r>
          </a:p>
        </p:txBody>
      </p:sp>
      <p:sp>
        <p:nvSpPr>
          <p:cNvPr id="33" name="Rectangle 32"/>
          <p:cNvSpPr/>
          <p:nvPr/>
        </p:nvSpPr>
        <p:spPr>
          <a:xfrm>
            <a:off x="7618780" y="4015724"/>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7710220" y="4098935"/>
            <a:ext cx="862063"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16</a:t>
            </a:r>
          </a:p>
        </p:txBody>
      </p:sp>
      <p:sp>
        <p:nvSpPr>
          <p:cNvPr id="35" name="TextBox 34"/>
          <p:cNvSpPr txBox="1"/>
          <p:nvPr/>
        </p:nvSpPr>
        <p:spPr>
          <a:xfrm>
            <a:off x="8755164" y="4098935"/>
            <a:ext cx="936702"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4</a:t>
            </a:r>
          </a:p>
        </p:txBody>
      </p:sp>
      <p:sp>
        <p:nvSpPr>
          <p:cNvPr id="36" name="TextBox 35"/>
          <p:cNvSpPr txBox="1"/>
          <p:nvPr/>
        </p:nvSpPr>
        <p:spPr>
          <a:xfrm>
            <a:off x="9874746" y="4098935"/>
            <a:ext cx="1384535"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4.3 × 10⁹</a:t>
            </a:r>
          </a:p>
        </p:txBody>
      </p:sp>
      <p:sp>
        <p:nvSpPr>
          <p:cNvPr id="37" name="Rectangle 36"/>
          <p:cNvSpPr/>
          <p:nvPr/>
        </p:nvSpPr>
        <p:spPr>
          <a:xfrm>
            <a:off x="7618780" y="4351373"/>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7618780" y="4356859"/>
            <a:ext cx="3731940" cy="33564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7710220" y="4434583"/>
            <a:ext cx="862063"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25</a:t>
            </a:r>
          </a:p>
        </p:txBody>
      </p:sp>
      <p:sp>
        <p:nvSpPr>
          <p:cNvPr id="40" name="TextBox 39"/>
          <p:cNvSpPr txBox="1"/>
          <p:nvPr/>
        </p:nvSpPr>
        <p:spPr>
          <a:xfrm>
            <a:off x="8755164" y="4434583"/>
            <a:ext cx="936702"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4</a:t>
            </a:r>
          </a:p>
        </p:txBody>
      </p:sp>
      <p:sp>
        <p:nvSpPr>
          <p:cNvPr id="41" name="TextBox 40"/>
          <p:cNvSpPr txBox="1"/>
          <p:nvPr/>
        </p:nvSpPr>
        <p:spPr>
          <a:xfrm>
            <a:off x="9874746" y="4434583"/>
            <a:ext cx="1384535"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1.1 × 10¹⁵</a:t>
            </a:r>
          </a:p>
        </p:txBody>
      </p:sp>
      <p:sp>
        <p:nvSpPr>
          <p:cNvPr id="42" name="Rectangle 41"/>
          <p:cNvSpPr/>
          <p:nvPr/>
        </p:nvSpPr>
        <p:spPr>
          <a:xfrm>
            <a:off x="7618780" y="4687021"/>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7710220" y="4770231"/>
            <a:ext cx="862063"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100</a:t>
            </a:r>
          </a:p>
        </p:txBody>
      </p:sp>
      <p:sp>
        <p:nvSpPr>
          <p:cNvPr id="44" name="TextBox 43"/>
          <p:cNvSpPr txBox="1"/>
          <p:nvPr/>
        </p:nvSpPr>
        <p:spPr>
          <a:xfrm>
            <a:off x="8755164" y="4770231"/>
            <a:ext cx="936702"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4</a:t>
            </a:r>
          </a:p>
        </p:txBody>
      </p:sp>
      <p:sp>
        <p:nvSpPr>
          <p:cNvPr id="45" name="TextBox 44"/>
          <p:cNvSpPr txBox="1"/>
          <p:nvPr/>
        </p:nvSpPr>
        <p:spPr>
          <a:xfrm>
            <a:off x="9874746" y="4770231"/>
            <a:ext cx="1384535"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C8102E"/>
                </a:solidFill>
                <a:latin typeface="Fira Sans"/>
              </a:rPr>
              <a:t>1.6 × 10⁶⁰</a:t>
            </a:r>
          </a:p>
        </p:txBody>
      </p:sp>
      <p:sp>
        <p:nvSpPr>
          <p:cNvPr id="46" name="Rectangle 45"/>
          <p:cNvSpPr/>
          <p:nvPr/>
        </p:nvSpPr>
        <p:spPr>
          <a:xfrm>
            <a:off x="7618780" y="5022669"/>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7618780" y="5247612"/>
            <a:ext cx="3731940" cy="3550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A 10×10 grid </a:t>
            </a:r>
            <a:r>
              <a:rPr lang="it-IT" sz="1045" dirty="0">
                <a:solidFill>
                  <a:srgbClr val="626669"/>
                </a:solidFill>
                <a:latin typeface="Fira Sans"/>
              </a:rPr>
              <a:t>(</a:t>
            </a:r>
            <a:r>
              <a:rPr sz="1045" b="0" i="0" dirty="0">
                <a:solidFill>
                  <a:srgbClr val="626669"/>
                </a:solidFill>
                <a:latin typeface="Fira Sans"/>
              </a:rPr>
              <a:t>still a toy</a:t>
            </a:r>
            <a:r>
              <a:rPr lang="it-IT" sz="1045" b="0" i="0" dirty="0">
                <a:solidFill>
                  <a:srgbClr val="626669"/>
                </a:solidFill>
                <a:latin typeface="Fira Sans"/>
              </a:rPr>
              <a:t>)</a:t>
            </a:r>
            <a:r>
              <a:rPr sz="1045" b="0" i="0" dirty="0">
                <a:solidFill>
                  <a:srgbClr val="626669"/>
                </a:solidFill>
                <a:latin typeface="Fira Sans"/>
              </a:rPr>
              <a:t> already has more policies than the estimated number of atoms in the observable universe.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lang="en-GB" sz="931" b="1" i="0" spc="110" dirty="0">
                <a:solidFill>
                  <a:srgbClr val="574676"/>
                </a:solidFill>
                <a:latin typeface="Fira Sans Medium"/>
              </a:rPr>
              <a:t>1.2  STRUCTURE: SOLVE ONCE, REUSE MANY TIMES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lang="en-GB" sz="2162" b="1" i="0" dirty="0">
                <a:solidFill>
                  <a:srgbClr val="25282A"/>
                </a:solidFill>
                <a:latin typeface="Roboto Slab"/>
              </a:rPr>
              <a:t>Different policies reach the same states and face the same problem</a:t>
            </a:r>
          </a:p>
        </p:txBody>
      </p:sp>
      <p:sp>
        <p:nvSpPr>
          <p:cNvPr id="4" name="Rectangle 3"/>
          <p:cNvSpPr/>
          <p:nvPr/>
        </p:nvSpPr>
        <p:spPr>
          <a:xfrm>
            <a:off x="833227"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GB" dirty="0"/>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GB" dirty="0"/>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lang="en-GB" sz="784" b="0" i="0" dirty="0">
                <a:solidFill>
                  <a:srgbClr val="8E9295"/>
                </a:solidFill>
                <a:latin typeface="Fira Sans"/>
              </a:rPr>
              <a:t>Reinforcement Learning  ·  Chapter 03 — Dynamic Programming   ·   Part I — Why dynamic programming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lang="en-GB" sz="833" b="0" i="0" dirty="0">
                <a:solidFill>
                  <a:srgbClr val="626669"/>
                </a:solidFill>
                <a:latin typeface="Fira Sans Medium"/>
              </a:rPr>
              <a:t>4</a:t>
            </a:r>
          </a:p>
        </p:txBody>
      </p:sp>
      <p:sp>
        <p:nvSpPr>
          <p:cNvPr id="8" name="TextBox 7"/>
          <p:cNvSpPr txBox="1"/>
          <p:nvPr/>
        </p:nvSpPr>
        <p:spPr>
          <a:xfrm>
            <a:off x="841248" y="1388925"/>
            <a:ext cx="6543446" cy="831108"/>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lang="en-GB" sz="1282" b="0" i="0" dirty="0">
                <a:solidFill>
                  <a:srgbClr val="333639"/>
                </a:solidFill>
                <a:latin typeface="Fira Sans"/>
              </a:rPr>
              <a:t>Sequential decision problems have </a:t>
            </a:r>
            <a:r>
              <a:rPr lang="en-GB" sz="1282" b="1" i="0" dirty="0">
                <a:solidFill>
                  <a:srgbClr val="25282A"/>
                </a:solidFill>
                <a:latin typeface="Fira Sans"/>
              </a:rPr>
              <a:t>structure</a:t>
            </a:r>
            <a:r>
              <a:rPr lang="en-GB" sz="1282" b="0" i="0" dirty="0">
                <a:solidFill>
                  <a:srgbClr val="333639"/>
                </a:solidFill>
                <a:latin typeface="Fira Sans"/>
              </a:rPr>
              <a:t> that brute force ignores. Different policies produce different trajectories, but those trajectories pass through the </a:t>
            </a:r>
            <a:r>
              <a:rPr lang="en-GB" sz="1282" b="1" i="0" dirty="0">
                <a:solidFill>
                  <a:srgbClr val="574676"/>
                </a:solidFill>
                <a:latin typeface="Fira Sans"/>
              </a:rPr>
              <a:t>same states</a:t>
            </a:r>
            <a:r>
              <a:rPr lang="en-GB" sz="1282" b="0" i="0" dirty="0">
                <a:solidFill>
                  <a:srgbClr val="333639"/>
                </a:solidFill>
                <a:latin typeface="Fira Sans"/>
              </a:rPr>
              <a:t>. And once the agent is in a state, it faces the same decision problem from that point onward: whatever brought it there.</a:t>
            </a:r>
          </a:p>
        </p:txBody>
      </p:sp>
      <p:sp>
        <p:nvSpPr>
          <p:cNvPr id="9" name="Rectangle 8"/>
          <p:cNvSpPr/>
          <p:nvPr/>
        </p:nvSpPr>
        <p:spPr>
          <a:xfrm>
            <a:off x="841248" y="2517453"/>
            <a:ext cx="201046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GB" dirty="0"/>
          </a:p>
        </p:txBody>
      </p:sp>
      <p:sp>
        <p:nvSpPr>
          <p:cNvPr id="10" name="TextBox 9"/>
          <p:cNvSpPr txBox="1"/>
          <p:nvPr/>
        </p:nvSpPr>
        <p:spPr>
          <a:xfrm>
            <a:off x="841248" y="2645469"/>
            <a:ext cx="2010460" cy="2194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lang="en-GB" sz="833" b="1" i="0" spc="120" dirty="0">
                <a:solidFill>
                  <a:srgbClr val="574676"/>
                </a:solidFill>
                <a:latin typeface="Fira Sans"/>
              </a:rPr>
              <a:t>STEP 1</a:t>
            </a:r>
          </a:p>
        </p:txBody>
      </p:sp>
      <p:sp>
        <p:nvSpPr>
          <p:cNvPr id="11" name="TextBox 10"/>
          <p:cNvSpPr txBox="1"/>
          <p:nvPr/>
        </p:nvSpPr>
        <p:spPr>
          <a:xfrm>
            <a:off x="841248" y="2883213"/>
            <a:ext cx="2010460" cy="274320"/>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lang="en-GB" sz="1188" b="1" i="0" dirty="0">
                <a:solidFill>
                  <a:srgbClr val="25282A"/>
                </a:solidFill>
                <a:latin typeface="Fira Sans"/>
              </a:rPr>
              <a:t>Break the problem apart</a:t>
            </a:r>
          </a:p>
        </p:txBody>
      </p:sp>
      <p:sp>
        <p:nvSpPr>
          <p:cNvPr id="12" name="TextBox 11"/>
          <p:cNvSpPr txBox="1"/>
          <p:nvPr/>
        </p:nvSpPr>
        <p:spPr>
          <a:xfrm>
            <a:off x="841248" y="3115877"/>
            <a:ext cx="2010460" cy="914400"/>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lang="en-GB" sz="1092" b="0" i="0" dirty="0">
                <a:solidFill>
                  <a:srgbClr val="626669"/>
                </a:solidFill>
                <a:latin typeface="Fira Sans"/>
              </a:rPr>
              <a:t>Associate one subproblem with each state: how good is it to be here, and to act from here?</a:t>
            </a:r>
          </a:p>
        </p:txBody>
      </p:sp>
      <p:sp>
        <p:nvSpPr>
          <p:cNvPr id="13" name="Rectangle 12"/>
          <p:cNvSpPr/>
          <p:nvPr/>
        </p:nvSpPr>
        <p:spPr>
          <a:xfrm>
            <a:off x="3107740" y="2517453"/>
            <a:ext cx="201046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GB" dirty="0"/>
          </a:p>
        </p:txBody>
      </p:sp>
      <p:sp>
        <p:nvSpPr>
          <p:cNvPr id="14" name="TextBox 13"/>
          <p:cNvSpPr txBox="1"/>
          <p:nvPr/>
        </p:nvSpPr>
        <p:spPr>
          <a:xfrm>
            <a:off x="3107740" y="2645469"/>
            <a:ext cx="2010460" cy="2194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lang="en-GB" sz="833" b="1" i="0" spc="120" dirty="0">
                <a:solidFill>
                  <a:srgbClr val="574676"/>
                </a:solidFill>
                <a:latin typeface="Fira Sans"/>
              </a:rPr>
              <a:t>STEP 2</a:t>
            </a:r>
          </a:p>
        </p:txBody>
      </p:sp>
      <p:sp>
        <p:nvSpPr>
          <p:cNvPr id="15" name="TextBox 14"/>
          <p:cNvSpPr txBox="1"/>
          <p:nvPr/>
        </p:nvSpPr>
        <p:spPr>
          <a:xfrm>
            <a:off x="3107740" y="2883213"/>
            <a:ext cx="2010460" cy="274320"/>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lang="en-GB" sz="1188" b="1" i="0" dirty="0">
                <a:solidFill>
                  <a:srgbClr val="25282A"/>
                </a:solidFill>
                <a:latin typeface="Fira Sans"/>
              </a:rPr>
              <a:t>Solve each subproblem once</a:t>
            </a:r>
          </a:p>
        </p:txBody>
      </p:sp>
      <p:sp>
        <p:nvSpPr>
          <p:cNvPr id="16" name="TextBox 15"/>
          <p:cNvSpPr txBox="1"/>
          <p:nvPr/>
        </p:nvSpPr>
        <p:spPr>
          <a:xfrm>
            <a:off x="3107740" y="3122950"/>
            <a:ext cx="2010460" cy="914400"/>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lang="en-GB" sz="1092" b="0" i="0" dirty="0">
                <a:solidFill>
                  <a:srgbClr val="626669"/>
                </a:solidFill>
                <a:latin typeface="Fira Sans"/>
              </a:rPr>
              <a:t>Compute a value for that state, using the values already computed for its successors.</a:t>
            </a:r>
          </a:p>
        </p:txBody>
      </p:sp>
      <p:sp>
        <p:nvSpPr>
          <p:cNvPr id="17" name="Rectangle 16"/>
          <p:cNvSpPr/>
          <p:nvPr/>
        </p:nvSpPr>
        <p:spPr>
          <a:xfrm>
            <a:off x="5374233" y="2517453"/>
            <a:ext cx="201046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GB" dirty="0"/>
          </a:p>
        </p:txBody>
      </p:sp>
      <p:sp>
        <p:nvSpPr>
          <p:cNvPr id="18" name="TextBox 17"/>
          <p:cNvSpPr txBox="1"/>
          <p:nvPr/>
        </p:nvSpPr>
        <p:spPr>
          <a:xfrm>
            <a:off x="5374233" y="2645469"/>
            <a:ext cx="2010460" cy="2194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lang="en-GB" sz="833" b="1" i="0" spc="120" dirty="0">
                <a:solidFill>
                  <a:srgbClr val="574676"/>
                </a:solidFill>
                <a:latin typeface="Fira Sans"/>
              </a:rPr>
              <a:t>STEP 3</a:t>
            </a:r>
          </a:p>
        </p:txBody>
      </p:sp>
      <p:sp>
        <p:nvSpPr>
          <p:cNvPr id="19" name="TextBox 18"/>
          <p:cNvSpPr txBox="1"/>
          <p:nvPr/>
        </p:nvSpPr>
        <p:spPr>
          <a:xfrm>
            <a:off x="5374233" y="2883213"/>
            <a:ext cx="2101388" cy="274320"/>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lang="en-GB" sz="1188" b="1" i="0" dirty="0">
                <a:solidFill>
                  <a:srgbClr val="25282A"/>
                </a:solidFill>
                <a:latin typeface="Fira Sans"/>
              </a:rPr>
              <a:t>Reuse the answer everywhere</a:t>
            </a:r>
          </a:p>
        </p:txBody>
      </p:sp>
      <p:sp>
        <p:nvSpPr>
          <p:cNvPr id="20" name="TextBox 19"/>
          <p:cNvSpPr txBox="1"/>
          <p:nvPr/>
        </p:nvSpPr>
        <p:spPr>
          <a:xfrm>
            <a:off x="5374233" y="3117215"/>
            <a:ext cx="2010460" cy="914400"/>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lang="en-GB" sz="1092" b="0" i="0" dirty="0">
                <a:solidFill>
                  <a:srgbClr val="626669"/>
                </a:solidFill>
                <a:latin typeface="Fira Sans"/>
              </a:rPr>
              <a:t>Any policy, any trajectory that reaches this state uses the same stored value.</a:t>
            </a:r>
          </a:p>
        </p:txBody>
      </p:sp>
      <p:sp>
        <p:nvSpPr>
          <p:cNvPr id="21" name="Rectangle 20"/>
          <p:cNvSpPr/>
          <p:nvPr/>
        </p:nvSpPr>
        <p:spPr>
          <a:xfrm>
            <a:off x="841248" y="4121985"/>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GB" dirty="0"/>
          </a:p>
        </p:txBody>
      </p:sp>
      <p:sp>
        <p:nvSpPr>
          <p:cNvPr id="22" name="TextBox 21"/>
          <p:cNvSpPr txBox="1"/>
          <p:nvPr/>
        </p:nvSpPr>
        <p:spPr>
          <a:xfrm>
            <a:off x="841248" y="4341441"/>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lang="en-GB" sz="931" b="1" i="0" spc="120" dirty="0">
                <a:solidFill>
                  <a:srgbClr val="574676"/>
                </a:solidFill>
                <a:latin typeface="Fira Sans"/>
              </a:rPr>
              <a:t>THE NAME</a:t>
            </a:r>
          </a:p>
        </p:txBody>
      </p:sp>
      <p:sp>
        <p:nvSpPr>
          <p:cNvPr id="23" name="TextBox 22"/>
          <p:cNvSpPr txBox="1"/>
          <p:nvPr/>
        </p:nvSpPr>
        <p:spPr>
          <a:xfrm>
            <a:off x="841248" y="4560897"/>
            <a:ext cx="6543446" cy="566470"/>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lang="en-GB" sz="1140" b="0" i="0" dirty="0">
                <a:solidFill>
                  <a:srgbClr val="626669"/>
                </a:solidFill>
                <a:latin typeface="Fira Sans"/>
              </a:rPr>
              <a:t>This is </a:t>
            </a:r>
            <a:r>
              <a:rPr lang="en-GB" sz="1140" b="1" i="0" dirty="0">
                <a:solidFill>
                  <a:srgbClr val="25282A"/>
                </a:solidFill>
                <a:latin typeface="Fira Sans"/>
              </a:rPr>
              <a:t>dynamic programming</a:t>
            </a:r>
            <a:r>
              <a:rPr lang="en-GB" sz="1140" b="0" i="0" dirty="0">
                <a:solidFill>
                  <a:srgbClr val="626669"/>
                </a:solidFill>
                <a:latin typeface="Fira Sans"/>
              </a:rPr>
              <a:t>: solving a problem by decomposing it into overlapping subproblems, solving each once, and combining the stored solutions. The word </a:t>
            </a:r>
            <a:r>
              <a:rPr lang="en-GB" sz="1140" b="0" i="1" dirty="0">
                <a:solidFill>
                  <a:srgbClr val="626669"/>
                </a:solidFill>
                <a:latin typeface="Fira Sans"/>
              </a:rPr>
              <a:t>“programming”</a:t>
            </a:r>
            <a:r>
              <a:rPr lang="en-GB" sz="1140" b="0" i="0" dirty="0">
                <a:solidFill>
                  <a:srgbClr val="626669"/>
                </a:solidFill>
                <a:latin typeface="Fira Sans"/>
              </a:rPr>
              <a:t> here means “</a:t>
            </a:r>
            <a:r>
              <a:rPr lang="en-GB" sz="1140" b="0" i="1" dirty="0">
                <a:solidFill>
                  <a:srgbClr val="626669"/>
                </a:solidFill>
                <a:latin typeface="Fira Sans"/>
              </a:rPr>
              <a:t>planning a schedule”</a:t>
            </a:r>
            <a:r>
              <a:rPr lang="en-GB" sz="1140" b="0" i="0" dirty="0">
                <a:solidFill>
                  <a:srgbClr val="626669"/>
                </a:solidFill>
                <a:latin typeface="Fira Sans"/>
              </a:rPr>
              <a:t>, in the sense it had in operations research, not writing code.</a:t>
            </a:r>
          </a:p>
        </p:txBody>
      </p:sp>
      <p:sp>
        <p:nvSpPr>
          <p:cNvPr id="24" name="Rectangle 23"/>
          <p:cNvSpPr/>
          <p:nvPr/>
        </p:nvSpPr>
        <p:spPr>
          <a:xfrm>
            <a:off x="7618780" y="1316736"/>
            <a:ext cx="3731940" cy="102961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GB" dirty="0"/>
          </a:p>
        </p:txBody>
      </p:sp>
      <p:sp>
        <p:nvSpPr>
          <p:cNvPr id="25" name="Rectangle 24"/>
          <p:cNvSpPr/>
          <p:nvPr/>
        </p:nvSpPr>
        <p:spPr>
          <a:xfrm>
            <a:off x="7618780" y="1316736"/>
            <a:ext cx="41148" cy="102961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GB" dirty="0"/>
          </a:p>
        </p:txBody>
      </p:sp>
      <p:sp>
        <p:nvSpPr>
          <p:cNvPr id="26" name="TextBox 25"/>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lang="en-GB" sz="882" b="1" i="0" spc="110" dirty="0">
                <a:solidFill>
                  <a:srgbClr val="2B7A3E"/>
                </a:solidFill>
                <a:latin typeface="Fira Sans"/>
              </a:rPr>
              <a:t>THE KEY INTUITION</a:t>
            </a:r>
          </a:p>
        </p:txBody>
      </p:sp>
      <p:sp>
        <p:nvSpPr>
          <p:cNvPr id="27" name="TextBox 26"/>
          <p:cNvSpPr txBox="1"/>
          <p:nvPr/>
        </p:nvSpPr>
        <p:spPr>
          <a:xfrm>
            <a:off x="7838236" y="1700784"/>
            <a:ext cx="3347892"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lang="en-GB" sz="1092" b="0" i="0" dirty="0">
                <a:solidFill>
                  <a:srgbClr val="333639"/>
                </a:solidFill>
                <a:latin typeface="Fira Sans"/>
              </a:rPr>
              <a:t>Why solve the same future problem repeatedly? That question is the whole idea. The answer is to store it: </a:t>
            </a:r>
            <a:r>
              <a:rPr lang="en-GB" sz="1092" b="1" i="0" dirty="0">
                <a:solidFill>
                  <a:srgbClr val="333639"/>
                </a:solidFill>
                <a:latin typeface="Fira Sans"/>
              </a:rPr>
              <a:t>once per state, not once per policy</a:t>
            </a:r>
            <a:r>
              <a:rPr lang="en-GB" sz="1092" b="0" i="0" dirty="0">
                <a:solidFill>
                  <a:srgbClr val="333639"/>
                </a:solidFill>
                <a:latin typeface="Fira Sans"/>
              </a:rPr>
              <a:t>.</a:t>
            </a:r>
          </a:p>
        </p:txBody>
      </p:sp>
      <p:sp>
        <p:nvSpPr>
          <p:cNvPr id="28" name="TextBox 27"/>
          <p:cNvSpPr txBox="1"/>
          <p:nvPr/>
        </p:nvSpPr>
        <p:spPr>
          <a:xfrm>
            <a:off x="7618780" y="2620670"/>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lang="en-GB" sz="931" b="1" i="0" spc="120" dirty="0">
                <a:solidFill>
                  <a:srgbClr val="574676"/>
                </a:solidFill>
                <a:latin typeface="Fira Sans"/>
              </a:rPr>
              <a:t>WHAT THE SUBPROBLEM IS</a:t>
            </a:r>
          </a:p>
        </p:txBody>
      </p:sp>
      <p:sp>
        <p:nvSpPr>
          <p:cNvPr id="29" name="TextBox 28"/>
          <p:cNvSpPr txBox="1"/>
          <p:nvPr/>
        </p:nvSpPr>
        <p:spPr>
          <a:xfrm>
            <a:off x="7618780" y="2876702"/>
            <a:ext cx="3731940" cy="1336202"/>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lang="en-GB" sz="1092" b="0" i="0" dirty="0">
                <a:solidFill>
                  <a:srgbClr val="333639"/>
                </a:solidFill>
                <a:latin typeface="Fira Sans"/>
              </a:rPr>
              <a:t>A number attached to a state, saying </a:t>
            </a:r>
            <a:r>
              <a:rPr lang="en-GB" sz="1092" b="1" i="0" dirty="0">
                <a:solidFill>
                  <a:srgbClr val="25282A"/>
                </a:solidFill>
                <a:latin typeface="Fira Sans"/>
              </a:rPr>
              <a:t>how good it is to be there</a:t>
            </a:r>
            <a:r>
              <a:rPr lang="en-GB" sz="1092" b="0" i="0" dirty="0">
                <a:solidFill>
                  <a:srgbClr val="333639"/>
                </a:solidFill>
                <a:latin typeface="Fira Sans"/>
              </a:rPr>
              <a:t> under a given policy.</a:t>
            </a:r>
          </a:p>
          <a:p>
            <a:pPr marL="182880" indent="-182880" algn="l">
              <a:lnSpc>
                <a:spcPts val="1223"/>
              </a:lnSpc>
              <a:spcBef>
                <a:spcPts val="800"/>
              </a:spcBef>
              <a:spcAft>
                <a:spcPts val="0"/>
              </a:spcAft>
              <a:buClr>
                <a:srgbClr val="1971C2"/>
              </a:buClr>
              <a:buFont typeface="Fira Sans"/>
              <a:buChar char="–"/>
            </a:pPr>
            <a:r>
              <a:rPr lang="en-GB" sz="1092" b="0" i="0" dirty="0">
                <a:solidFill>
                  <a:srgbClr val="333639"/>
                </a:solidFill>
                <a:latin typeface="Fira Sans"/>
              </a:rPr>
              <a:t>The numbers are mutually dependent: the value of a state is written in terms of the values of its successors including, sometimes, itself.</a:t>
            </a:r>
          </a:p>
          <a:p>
            <a:pPr marL="182880" indent="-182880" algn="l">
              <a:lnSpc>
                <a:spcPts val="1223"/>
              </a:lnSpc>
              <a:spcBef>
                <a:spcPts val="800"/>
              </a:spcBef>
              <a:spcAft>
                <a:spcPts val="0"/>
              </a:spcAft>
              <a:buClr>
                <a:srgbClr val="1971C2"/>
              </a:buClr>
              <a:buFont typeface="Fira Sans"/>
              <a:buChar char="–"/>
            </a:pPr>
            <a:r>
              <a:rPr lang="en-GB" sz="1092" b="0" i="0" dirty="0">
                <a:solidFill>
                  <a:srgbClr val="333639"/>
                </a:solidFill>
                <a:latin typeface="Fira Sans"/>
              </a:rPr>
              <a:t>Dynamic programming resolves that circularity by </a:t>
            </a:r>
            <a:r>
              <a:rPr lang="en-GB" sz="1092" b="1" i="0" dirty="0">
                <a:solidFill>
                  <a:srgbClr val="25282A"/>
                </a:solidFill>
                <a:latin typeface="Fira Sans"/>
              </a:rPr>
              <a:t>iterating</a:t>
            </a:r>
            <a:r>
              <a:rPr lang="en-GB" sz="1092" b="0" i="0" dirty="0">
                <a:solidFill>
                  <a:srgbClr val="333639"/>
                </a:solidFill>
                <a:latin typeface="Fira Sans"/>
              </a:rPr>
              <a:t>.</a:t>
            </a:r>
          </a:p>
        </p:txBody>
      </p:sp>
      <p:sp>
        <p:nvSpPr>
          <p:cNvPr id="30" name="TextBox 29"/>
          <p:cNvSpPr txBox="1"/>
          <p:nvPr/>
        </p:nvSpPr>
        <p:spPr>
          <a:xfrm>
            <a:off x="7618780" y="44689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lang="en-GB" sz="931" b="1" i="0" spc="120" dirty="0">
                <a:solidFill>
                  <a:srgbClr val="574676"/>
                </a:solidFill>
                <a:latin typeface="Fira Sans"/>
              </a:rPr>
              <a:t>THE COST</a:t>
            </a:r>
          </a:p>
        </p:txBody>
      </p:sp>
      <p:sp>
        <p:nvSpPr>
          <p:cNvPr id="31" name="TextBox 30"/>
          <p:cNvSpPr txBox="1"/>
          <p:nvPr/>
        </p:nvSpPr>
        <p:spPr>
          <a:xfrm>
            <a:off x="7618780" y="4724968"/>
            <a:ext cx="3731940" cy="768624"/>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lang="en-GB" sz="1092" b="0" i="0" dirty="0">
                <a:solidFill>
                  <a:srgbClr val="333639"/>
                </a:solidFill>
                <a:latin typeface="Fira Sans"/>
              </a:rPr>
              <a:t>Brute force: </a:t>
            </a:r>
            <a:r>
              <a:rPr lang="en-GB" sz="1092" b="1" i="0" dirty="0">
                <a:solidFill>
                  <a:srgbClr val="C8102E"/>
                </a:solidFill>
                <a:latin typeface="Fira Sans"/>
              </a:rPr>
              <a:t>one number per policy</a:t>
            </a:r>
            <a:r>
              <a:rPr lang="en-GB" sz="1092" b="0" i="0" dirty="0">
                <a:solidFill>
                  <a:srgbClr val="333639"/>
                </a:solidFill>
                <a:latin typeface="Fira Sans"/>
              </a:rPr>
              <a:t> one for every way of choosing an action in every state.</a:t>
            </a:r>
          </a:p>
          <a:p>
            <a:pPr marL="182880" indent="-182880" algn="l">
              <a:lnSpc>
                <a:spcPts val="1223"/>
              </a:lnSpc>
              <a:spcBef>
                <a:spcPts val="800"/>
              </a:spcBef>
              <a:spcAft>
                <a:spcPts val="0"/>
              </a:spcAft>
              <a:buClr>
                <a:srgbClr val="1971C2"/>
              </a:buClr>
              <a:buFont typeface="Fira Sans"/>
              <a:buChar char="–"/>
            </a:pPr>
            <a:r>
              <a:rPr lang="en-GB" sz="1092" b="0" i="0" dirty="0">
                <a:solidFill>
                  <a:srgbClr val="333639"/>
                </a:solidFill>
                <a:latin typeface="Fira Sans"/>
              </a:rPr>
              <a:t>Dynamic programming: </a:t>
            </a:r>
            <a:r>
              <a:rPr lang="en-GB" sz="1092" b="1" i="0" dirty="0">
                <a:solidFill>
                  <a:srgbClr val="2B7A3E"/>
                </a:solidFill>
                <a:latin typeface="Fira Sans"/>
              </a:rPr>
              <a:t>one number per state</a:t>
            </a:r>
            <a:r>
              <a:rPr lang="en-GB" sz="1092" b="0" i="0" dirty="0">
                <a:solidFill>
                  <a:srgbClr val="333639"/>
                </a:solidFill>
                <a:latin typeface="Fira Sans"/>
              </a:rPr>
              <a:t> |𝒮| of them, refined by repeated sweeps.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1.3  THE PRICE: A PERFECT MODEL</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Dynamic programming does not learn</a:t>
            </a:r>
            <a:r>
              <a:rPr lang="it-IT" sz="2162" b="1" i="0" dirty="0">
                <a:solidFill>
                  <a:srgbClr val="25282A"/>
                </a:solidFill>
                <a:latin typeface="Roboto Slab"/>
              </a:rPr>
              <a:t>. </a:t>
            </a:r>
            <a:r>
              <a:rPr lang="it-IT" sz="2162" b="1" dirty="0">
                <a:solidFill>
                  <a:srgbClr val="25282A"/>
                </a:solidFill>
                <a:latin typeface="Roboto Slab"/>
              </a:rPr>
              <a:t>I</a:t>
            </a:r>
            <a:r>
              <a:rPr sz="2162" b="1" i="0" dirty="0">
                <a:solidFill>
                  <a:srgbClr val="25282A"/>
                </a:solidFill>
                <a:latin typeface="Roboto Slab"/>
              </a:rPr>
              <a:t>t computes, because it already knows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 — Why dynamic programming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5</a:t>
            </a:r>
          </a:p>
        </p:txBody>
      </p:sp>
      <p:sp>
        <p:nvSpPr>
          <p:cNvPr id="8" name="TextBox 7"/>
          <p:cNvSpPr txBox="1"/>
          <p:nvPr/>
        </p:nvSpPr>
        <p:spPr>
          <a:xfrm>
            <a:off x="841248" y="1316736"/>
            <a:ext cx="10515600"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There is a </a:t>
            </a:r>
            <a:r>
              <a:rPr sz="1282" b="1" i="0" dirty="0">
                <a:solidFill>
                  <a:srgbClr val="333639"/>
                </a:solidFill>
                <a:latin typeface="Fira Sans"/>
              </a:rPr>
              <a:t>strong requirement </a:t>
            </a:r>
            <a:r>
              <a:rPr sz="1282" b="0" i="0" dirty="0">
                <a:solidFill>
                  <a:srgbClr val="333639"/>
                </a:solidFill>
                <a:latin typeface="Fira Sans"/>
              </a:rPr>
              <a:t>hidden in the word </a:t>
            </a:r>
            <a:r>
              <a:rPr lang="it-IT" sz="1282" b="0" dirty="0">
                <a:solidFill>
                  <a:srgbClr val="333639"/>
                </a:solidFill>
                <a:latin typeface="Fira Sans"/>
              </a:rPr>
              <a:t>"</a:t>
            </a:r>
            <a:r>
              <a:rPr sz="1282" b="0" dirty="0">
                <a:solidFill>
                  <a:srgbClr val="333639"/>
                </a:solidFill>
                <a:latin typeface="Fira Sans"/>
              </a:rPr>
              <a:t>combine</a:t>
            </a:r>
            <a:r>
              <a:rPr lang="it-IT" sz="1282" i="1" dirty="0">
                <a:solidFill>
                  <a:srgbClr val="333639"/>
                </a:solidFill>
                <a:latin typeface="Fira Sans"/>
              </a:rPr>
              <a:t>"</a:t>
            </a:r>
            <a:r>
              <a:rPr sz="1282" b="0" i="0" dirty="0">
                <a:solidFill>
                  <a:srgbClr val="333639"/>
                </a:solidFill>
                <a:latin typeface="Fira Sans"/>
              </a:rPr>
              <a:t>. To compute the value of a state from the values of its successors, we must know </a:t>
            </a:r>
            <a:r>
              <a:rPr sz="1282" b="1" i="0" dirty="0">
                <a:solidFill>
                  <a:srgbClr val="333639"/>
                </a:solidFill>
                <a:latin typeface="Fira Sans"/>
              </a:rPr>
              <a:t>which successors are possible</a:t>
            </a:r>
            <a:r>
              <a:rPr sz="1282" b="0" i="0" dirty="0">
                <a:solidFill>
                  <a:srgbClr val="333639"/>
                </a:solidFill>
                <a:latin typeface="Fira Sans"/>
              </a:rPr>
              <a:t>, </a:t>
            </a:r>
            <a:r>
              <a:rPr sz="1282" b="1" i="0" dirty="0">
                <a:solidFill>
                  <a:srgbClr val="25282A"/>
                </a:solidFill>
                <a:latin typeface="Fira Sans"/>
              </a:rPr>
              <a:t>with what probability</a:t>
            </a:r>
            <a:r>
              <a:rPr sz="1282" b="0" i="0" dirty="0">
                <a:solidFill>
                  <a:srgbClr val="333639"/>
                </a:solidFill>
                <a:latin typeface="Fira Sans"/>
              </a:rPr>
              <a:t>, and </a:t>
            </a:r>
            <a:r>
              <a:rPr sz="1282" b="1" i="0" dirty="0">
                <a:solidFill>
                  <a:srgbClr val="333639"/>
                </a:solidFill>
                <a:latin typeface="Fira Sans"/>
              </a:rPr>
              <a:t>with what reward</a:t>
            </a:r>
            <a:r>
              <a:rPr sz="1282" b="0" i="0" dirty="0">
                <a:solidFill>
                  <a:srgbClr val="333639"/>
                </a:solidFill>
                <a:latin typeface="Fira Sans"/>
              </a:rPr>
              <a:t>. Dynamic programming assumes the complete </a:t>
            </a:r>
            <a:r>
              <a:rPr sz="1282" b="1" i="0" dirty="0">
                <a:solidFill>
                  <a:srgbClr val="333639"/>
                </a:solidFill>
                <a:latin typeface="Fira Sans"/>
              </a:rPr>
              <a:t>dynamics</a:t>
            </a:r>
            <a:r>
              <a:rPr sz="1282" b="0" i="0" dirty="0">
                <a:solidFill>
                  <a:srgbClr val="333639"/>
                </a:solidFill>
                <a:latin typeface="Fira Sans"/>
              </a:rPr>
              <a:t> p(s′, r | s, a) is given. In this sense it is, deliberately, </a:t>
            </a:r>
            <a:r>
              <a:rPr sz="1282" b="1" i="0" dirty="0">
                <a:solidFill>
                  <a:srgbClr val="C8102E"/>
                </a:solidFill>
                <a:latin typeface="Fira Sans"/>
              </a:rPr>
              <a:t>“cheating”</a:t>
            </a:r>
            <a:r>
              <a:rPr sz="1282" b="0" i="0" dirty="0">
                <a:solidFill>
                  <a:srgbClr val="333639"/>
                </a:solidFill>
                <a:latin typeface="Fira Sans"/>
              </a:rPr>
              <a:t>.</a:t>
            </a:r>
          </a:p>
        </p:txBody>
      </p:sp>
      <p:pic>
        <p:nvPicPr>
          <p:cNvPr id="9" name="Picture 8" descr="dp_vs_rl.png"/>
          <p:cNvPicPr>
            <a:picLocks noChangeAspect="1"/>
          </p:cNvPicPr>
          <p:nvPr/>
        </p:nvPicPr>
        <p:blipFill>
          <a:blip r:embed="rId2"/>
          <a:stretch>
            <a:fillRect/>
          </a:stretch>
        </p:blipFill>
        <p:spPr>
          <a:xfrm>
            <a:off x="1920240" y="1973274"/>
            <a:ext cx="7080228" cy="2917736"/>
          </a:xfrm>
          <a:prstGeom prst="rect">
            <a:avLst/>
          </a:prstGeom>
        </p:spPr>
      </p:pic>
      <p:sp>
        <p:nvSpPr>
          <p:cNvPr id="10" name="TextBox 9"/>
          <p:cNvSpPr txBox="1"/>
          <p:nvPr/>
        </p:nvSpPr>
        <p:spPr>
          <a:xfrm>
            <a:off x="841248" y="4921811"/>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dirty="0">
                <a:solidFill>
                  <a:srgbClr val="626669"/>
                </a:solidFill>
                <a:latin typeface="Fira Sans"/>
              </a:rPr>
              <a:t>Two agents, the same environment. On the left the model is known and the answer is computed; on the right it is unknown and must be discovered by interacting.</a:t>
            </a:r>
          </a:p>
        </p:txBody>
      </p:sp>
      <p:sp>
        <p:nvSpPr>
          <p:cNvPr id="11" name="Rectangle 10"/>
          <p:cNvSpPr/>
          <p:nvPr/>
        </p:nvSpPr>
        <p:spPr>
          <a:xfrm>
            <a:off x="841248" y="5164609"/>
            <a:ext cx="3358896"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5310913"/>
            <a:ext cx="3358896" cy="237744"/>
          </a:xfrm>
          <a:prstGeom prst="rect">
            <a:avLst/>
          </a:prstGeom>
          <a:noFill/>
        </p:spPr>
        <p:txBody>
          <a:bodyPr wrap="square" lIns="0" tIns="0" rIns="0" bIns="0" anchor="t">
            <a:noAutofit/>
          </a:bodyPr>
          <a:lstStyle/>
          <a:p>
            <a:pPr marL="0" indent="0" algn="l">
              <a:lnSpc>
                <a:spcPts val="1307"/>
              </a:lnSpc>
              <a:spcBef>
                <a:spcPts val="0"/>
              </a:spcBef>
              <a:spcAft>
                <a:spcPts val="0"/>
              </a:spcAft>
              <a:buNone/>
            </a:pPr>
            <a:r>
              <a:rPr sz="1188" b="1" i="0">
                <a:solidFill>
                  <a:srgbClr val="25282A"/>
                </a:solidFill>
                <a:latin typeface="Fira Sans"/>
              </a:rPr>
              <a:t>No exploration needed</a:t>
            </a:r>
          </a:p>
        </p:txBody>
      </p:sp>
      <p:sp>
        <p:nvSpPr>
          <p:cNvPr id="13" name="TextBox 12"/>
          <p:cNvSpPr txBox="1"/>
          <p:nvPr/>
        </p:nvSpPr>
        <p:spPr>
          <a:xfrm>
            <a:off x="841248" y="5603521"/>
            <a:ext cx="3358896" cy="673608"/>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Every possible outcome is already in the model, so there is nothing to discover by trying. The exploration–exploitation dilemma simply does not arise.</a:t>
            </a:r>
          </a:p>
        </p:txBody>
      </p:sp>
      <p:sp>
        <p:nvSpPr>
          <p:cNvPr id="14" name="Rectangle 13"/>
          <p:cNvSpPr/>
          <p:nvPr/>
        </p:nvSpPr>
        <p:spPr>
          <a:xfrm>
            <a:off x="4419600" y="5164609"/>
            <a:ext cx="3358896"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419600" y="5310913"/>
            <a:ext cx="3358896" cy="237744"/>
          </a:xfrm>
          <a:prstGeom prst="rect">
            <a:avLst/>
          </a:prstGeom>
          <a:noFill/>
        </p:spPr>
        <p:txBody>
          <a:bodyPr wrap="square" lIns="0" tIns="0" rIns="0" bIns="0" anchor="t">
            <a:noAutofit/>
          </a:bodyPr>
          <a:lstStyle/>
          <a:p>
            <a:pPr marL="0" indent="0" algn="l">
              <a:lnSpc>
                <a:spcPts val="1307"/>
              </a:lnSpc>
              <a:spcBef>
                <a:spcPts val="0"/>
              </a:spcBef>
              <a:spcAft>
                <a:spcPts val="0"/>
              </a:spcAft>
              <a:buNone/>
            </a:pPr>
            <a:r>
              <a:rPr sz="1188" b="1" i="0">
                <a:solidFill>
                  <a:srgbClr val="25282A"/>
                </a:solidFill>
                <a:latin typeface="Fira Sans"/>
              </a:rPr>
              <a:t>No trial and error</a:t>
            </a:r>
          </a:p>
        </p:txBody>
      </p:sp>
      <p:sp>
        <p:nvSpPr>
          <p:cNvPr id="16" name="TextBox 15"/>
          <p:cNvSpPr txBox="1"/>
          <p:nvPr/>
        </p:nvSpPr>
        <p:spPr>
          <a:xfrm>
            <a:off x="4419600" y="5603521"/>
            <a:ext cx="3358896"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The agent never acts in the environment during the computation. A </a:t>
            </a:r>
            <a:r>
              <a:rPr lang="it-IT" sz="1045" b="0" i="0" dirty="0">
                <a:solidFill>
                  <a:srgbClr val="626669"/>
                </a:solidFill>
                <a:latin typeface="Fira Sans"/>
              </a:rPr>
              <a:t>"</a:t>
            </a:r>
            <a:r>
              <a:rPr sz="1045" b="0" i="0" dirty="0">
                <a:solidFill>
                  <a:srgbClr val="626669"/>
                </a:solidFill>
                <a:latin typeface="Fira Sans"/>
              </a:rPr>
              <a:t>sweep</a:t>
            </a:r>
            <a:r>
              <a:rPr lang="it-IT" sz="1045" dirty="0">
                <a:solidFill>
                  <a:srgbClr val="626669"/>
                </a:solidFill>
                <a:latin typeface="Fira Sans"/>
              </a:rPr>
              <a:t>"</a:t>
            </a:r>
            <a:r>
              <a:rPr sz="1045" b="0" i="0" dirty="0">
                <a:solidFill>
                  <a:srgbClr val="626669"/>
                </a:solidFill>
                <a:latin typeface="Fira Sans"/>
              </a:rPr>
              <a:t> is an operation on numbers, not an episode.</a:t>
            </a:r>
          </a:p>
        </p:txBody>
      </p:sp>
      <p:sp>
        <p:nvSpPr>
          <p:cNvPr id="17" name="Rectangle 16"/>
          <p:cNvSpPr/>
          <p:nvPr/>
        </p:nvSpPr>
        <p:spPr>
          <a:xfrm>
            <a:off x="7997951" y="5164609"/>
            <a:ext cx="3358896"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997951" y="5310913"/>
            <a:ext cx="3358896" cy="237744"/>
          </a:xfrm>
          <a:prstGeom prst="rect">
            <a:avLst/>
          </a:prstGeom>
          <a:noFill/>
        </p:spPr>
        <p:txBody>
          <a:bodyPr wrap="square" lIns="0" tIns="0" rIns="0" bIns="0" anchor="t">
            <a:noAutofit/>
          </a:bodyPr>
          <a:lstStyle/>
          <a:p>
            <a:pPr marL="0" indent="0" algn="l">
              <a:lnSpc>
                <a:spcPts val="1307"/>
              </a:lnSpc>
              <a:spcBef>
                <a:spcPts val="0"/>
              </a:spcBef>
              <a:spcAft>
                <a:spcPts val="0"/>
              </a:spcAft>
              <a:buNone/>
            </a:pPr>
            <a:r>
              <a:rPr sz="1188" b="1" i="0">
                <a:solidFill>
                  <a:srgbClr val="25282A"/>
                </a:solidFill>
                <a:latin typeface="Fira Sans"/>
              </a:rPr>
              <a:t>Rarely available in practice</a:t>
            </a:r>
          </a:p>
        </p:txBody>
      </p:sp>
      <p:sp>
        <p:nvSpPr>
          <p:cNvPr id="19" name="TextBox 18"/>
          <p:cNvSpPr txBox="1"/>
          <p:nvPr/>
        </p:nvSpPr>
        <p:spPr>
          <a:xfrm>
            <a:off x="7997951" y="5603521"/>
            <a:ext cx="3358896" cy="673608"/>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lang="en-GB" sz="1045" b="0" i="0" noProof="0" dirty="0">
                <a:solidFill>
                  <a:srgbClr val="626669"/>
                </a:solidFill>
                <a:latin typeface="Fira Sans"/>
              </a:rPr>
              <a:t>An exact model of a real environment is rarely available. The rest of this course develops reinforcement learning methods that learn without 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1.4  TWO OPERATIONS, FOUR ALGORITHMS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Everything is built from evaluation and improvement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 — Why dynamic programming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6</a:t>
            </a:r>
          </a:p>
        </p:txBody>
      </p:sp>
      <p:sp>
        <p:nvSpPr>
          <p:cNvPr id="8" name="TextBox 7"/>
          <p:cNvSpPr txBox="1"/>
          <p:nvPr/>
        </p:nvSpPr>
        <p:spPr>
          <a:xfrm>
            <a:off x="841248" y="1316736"/>
            <a:ext cx="6543446"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Dynamic programming gives a constructive answer to </a:t>
            </a:r>
            <a:r>
              <a:rPr lang="it-IT" sz="1282" b="0" i="0" dirty="0">
                <a:solidFill>
                  <a:srgbClr val="333639"/>
                </a:solidFill>
                <a:latin typeface="Fira Sans"/>
              </a:rPr>
              <a:t>"</a:t>
            </a:r>
            <a:r>
              <a:rPr sz="1282" b="0" i="0" dirty="0">
                <a:solidFill>
                  <a:srgbClr val="333639"/>
                </a:solidFill>
                <a:latin typeface="Fira Sans"/>
              </a:rPr>
              <a:t>how do we actually find an optimal policy?</a:t>
            </a:r>
            <a:r>
              <a:rPr lang="it-IT" sz="1282" b="0" i="0" dirty="0">
                <a:solidFill>
                  <a:srgbClr val="333639"/>
                </a:solidFill>
                <a:latin typeface="Fira Sans"/>
              </a:rPr>
              <a:t>"</a:t>
            </a:r>
            <a:r>
              <a:rPr sz="1282" b="0" i="0" dirty="0">
                <a:solidFill>
                  <a:srgbClr val="333639"/>
                </a:solidFill>
                <a:latin typeface="Fira Sans"/>
              </a:rPr>
              <a:t>. The answer alternates </a:t>
            </a:r>
            <a:r>
              <a:rPr sz="1282" b="1" i="0" dirty="0">
                <a:solidFill>
                  <a:srgbClr val="25282A"/>
                </a:solidFill>
                <a:latin typeface="Fira Sans"/>
              </a:rPr>
              <a:t>two operations</a:t>
            </a:r>
            <a:r>
              <a:rPr sz="1282" b="0" i="0" dirty="0">
                <a:solidFill>
                  <a:srgbClr val="333639"/>
                </a:solidFill>
                <a:latin typeface="Fira Sans"/>
              </a:rPr>
              <a:t>, and the four algorithms of this chapter differ only in how tightly the two are interleaved.</a:t>
            </a:r>
          </a:p>
        </p:txBody>
      </p:sp>
      <p:sp>
        <p:nvSpPr>
          <p:cNvPr id="9" name="Rectangle 8"/>
          <p:cNvSpPr/>
          <p:nvPr/>
        </p:nvSpPr>
        <p:spPr>
          <a:xfrm>
            <a:off x="841248" y="2168667"/>
            <a:ext cx="3152851" cy="129844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2168667"/>
            <a:ext cx="3152851" cy="3108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05840" y="2333259"/>
            <a:ext cx="2823667"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a:rPr>
              <a:t>EVALUATION</a:t>
            </a:r>
          </a:p>
        </p:txBody>
      </p:sp>
      <p:sp>
        <p:nvSpPr>
          <p:cNvPr id="12" name="TextBox 11"/>
          <p:cNvSpPr txBox="1"/>
          <p:nvPr/>
        </p:nvSpPr>
        <p:spPr>
          <a:xfrm>
            <a:off x="1005840" y="2589291"/>
            <a:ext cx="2823667" cy="576646"/>
          </a:xfrm>
          <a:prstGeom prst="rect">
            <a:avLst/>
          </a:prstGeom>
          <a:noFill/>
        </p:spPr>
        <p:txBody>
          <a:bodyPr wrap="square" lIns="0" tIns="0" rIns="0" bIns="0" anchor="t">
            <a:noAutofit/>
          </a:bodyPr>
          <a:lstStyle/>
          <a:p>
            <a:pPr marL="0" indent="0" algn="l">
              <a:lnSpc>
                <a:spcPts val="1300"/>
              </a:lnSpc>
              <a:spcBef>
                <a:spcPts val="0"/>
              </a:spcBef>
              <a:spcAft>
                <a:spcPts val="0"/>
              </a:spcAft>
              <a:buNone/>
            </a:pPr>
            <a:r>
              <a:rPr sz="1140" b="1" i="0" dirty="0">
                <a:solidFill>
                  <a:srgbClr val="25282A"/>
                </a:solidFill>
                <a:latin typeface="Fira Sans"/>
              </a:rPr>
              <a:t>Given a policy, compute its value function.</a:t>
            </a:r>
          </a:p>
          <a:p>
            <a:pPr marL="0" indent="0" algn="l">
              <a:lnSpc>
                <a:spcPts val="1176"/>
              </a:lnSpc>
              <a:spcBef>
                <a:spcPts val="600"/>
              </a:spcBef>
              <a:spcAft>
                <a:spcPts val="0"/>
              </a:spcAft>
              <a:buNone/>
            </a:pPr>
            <a:r>
              <a:rPr sz="997" b="0" i="0" dirty="0">
                <a:solidFill>
                  <a:srgbClr val="626669"/>
                </a:solidFill>
                <a:latin typeface="Fira Sans"/>
              </a:rPr>
              <a:t>Makes the values consistent with the current behavior.</a:t>
            </a:r>
          </a:p>
        </p:txBody>
      </p:sp>
      <p:sp>
        <p:nvSpPr>
          <p:cNvPr id="13" name="Rectangle 12"/>
          <p:cNvSpPr/>
          <p:nvPr/>
        </p:nvSpPr>
        <p:spPr>
          <a:xfrm>
            <a:off x="4231843" y="2168667"/>
            <a:ext cx="3152851" cy="129844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4231843" y="2168667"/>
            <a:ext cx="3152851" cy="3108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396435" y="2333259"/>
            <a:ext cx="2823667"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2B7A3E"/>
                </a:solidFill>
                <a:latin typeface="Fira Sans"/>
              </a:rPr>
              <a:t>IMPROVEMENT</a:t>
            </a:r>
          </a:p>
        </p:txBody>
      </p:sp>
      <p:sp>
        <p:nvSpPr>
          <p:cNvPr id="16" name="TextBox 15"/>
          <p:cNvSpPr txBox="1"/>
          <p:nvPr/>
        </p:nvSpPr>
        <p:spPr>
          <a:xfrm>
            <a:off x="4396435" y="2589291"/>
            <a:ext cx="2823667" cy="741695"/>
          </a:xfrm>
          <a:prstGeom prst="rect">
            <a:avLst/>
          </a:prstGeom>
          <a:noFill/>
        </p:spPr>
        <p:txBody>
          <a:bodyPr wrap="square" lIns="0" tIns="0" rIns="0" bIns="0" anchor="t">
            <a:noAutofit/>
          </a:bodyPr>
          <a:lstStyle/>
          <a:p>
            <a:pPr marL="0" indent="0" algn="l">
              <a:lnSpc>
                <a:spcPts val="1300"/>
              </a:lnSpc>
              <a:spcBef>
                <a:spcPts val="0"/>
              </a:spcBef>
              <a:spcAft>
                <a:spcPts val="0"/>
              </a:spcAft>
              <a:buNone/>
            </a:pPr>
            <a:r>
              <a:rPr sz="1140" b="1" i="0">
                <a:solidFill>
                  <a:srgbClr val="25282A"/>
                </a:solidFill>
                <a:latin typeface="Fira Sans"/>
              </a:rPr>
              <a:t>Given a value function, build a better policy.</a:t>
            </a:r>
          </a:p>
          <a:p>
            <a:pPr marL="0" indent="0" algn="l">
              <a:lnSpc>
                <a:spcPts val="1176"/>
              </a:lnSpc>
              <a:spcBef>
                <a:spcPts val="600"/>
              </a:spcBef>
              <a:spcAft>
                <a:spcPts val="0"/>
              </a:spcAft>
              <a:buNone/>
            </a:pPr>
            <a:r>
              <a:rPr sz="997" b="0" i="0">
                <a:solidFill>
                  <a:srgbClr val="626669"/>
                </a:solidFill>
                <a:latin typeface="Fira Sans"/>
              </a:rPr>
              <a:t>Makes the behaviour greedy with respect to the current values.</a:t>
            </a:r>
          </a:p>
        </p:txBody>
      </p:sp>
      <p:sp>
        <p:nvSpPr>
          <p:cNvPr id="17" name="Rectangle 16"/>
          <p:cNvSpPr/>
          <p:nvPr/>
        </p:nvSpPr>
        <p:spPr>
          <a:xfrm>
            <a:off x="841248" y="3686571"/>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41248" y="3887739"/>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FOUR ALGORITHMS OF THIS CHAPTER</a:t>
            </a:r>
          </a:p>
        </p:txBody>
      </p:sp>
      <p:sp>
        <p:nvSpPr>
          <p:cNvPr id="19" name="Rectangle 18"/>
          <p:cNvSpPr/>
          <p:nvPr/>
        </p:nvSpPr>
        <p:spPr>
          <a:xfrm>
            <a:off x="841248" y="4143771"/>
            <a:ext cx="6543446" cy="30679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32688" y="4221495"/>
            <a:ext cx="1780153"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Algorithm</a:t>
            </a:r>
          </a:p>
        </p:txBody>
      </p:sp>
      <p:sp>
        <p:nvSpPr>
          <p:cNvPr id="21" name="TextBox 20"/>
          <p:cNvSpPr txBox="1"/>
          <p:nvPr/>
        </p:nvSpPr>
        <p:spPr>
          <a:xfrm>
            <a:off x="2895721" y="4221495"/>
            <a:ext cx="1518416"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Evaluation</a:t>
            </a:r>
          </a:p>
        </p:txBody>
      </p:sp>
      <p:sp>
        <p:nvSpPr>
          <p:cNvPr id="22" name="TextBox 21"/>
          <p:cNvSpPr txBox="1"/>
          <p:nvPr/>
        </p:nvSpPr>
        <p:spPr>
          <a:xfrm>
            <a:off x="4597017" y="4221495"/>
            <a:ext cx="1780153"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Improvement</a:t>
            </a:r>
          </a:p>
        </p:txBody>
      </p:sp>
      <p:sp>
        <p:nvSpPr>
          <p:cNvPr id="23" name="TextBox 22"/>
          <p:cNvSpPr txBox="1"/>
          <p:nvPr/>
        </p:nvSpPr>
        <p:spPr>
          <a:xfrm>
            <a:off x="6560051" y="4221495"/>
            <a:ext cx="733202" cy="151343"/>
          </a:xfrm>
          <a:prstGeom prst="rect">
            <a:avLst/>
          </a:prstGeom>
          <a:noFill/>
        </p:spPr>
        <p:txBody>
          <a:bodyPr wrap="square" lIns="0" tIns="0" rIns="0" bIns="0" anchor="ctr">
            <a:noAutofit/>
          </a:bodyPr>
          <a:lstStyle/>
          <a:p>
            <a:pPr marL="0" indent="0" algn="ctr">
              <a:lnSpc>
                <a:spcPts val="1024"/>
              </a:lnSpc>
              <a:spcBef>
                <a:spcPts val="0"/>
              </a:spcBef>
              <a:spcAft>
                <a:spcPts val="0"/>
              </a:spcAft>
              <a:buNone/>
            </a:pPr>
            <a:r>
              <a:rPr sz="931" b="1" i="0" spc="60">
                <a:solidFill>
                  <a:srgbClr val="FFFFFF"/>
                </a:solidFill>
                <a:latin typeface="Fira Sans"/>
              </a:rPr>
              <a:t>Part</a:t>
            </a:r>
          </a:p>
        </p:txBody>
      </p:sp>
      <p:sp>
        <p:nvSpPr>
          <p:cNvPr id="24" name="TextBox 23"/>
          <p:cNvSpPr txBox="1"/>
          <p:nvPr/>
        </p:nvSpPr>
        <p:spPr>
          <a:xfrm>
            <a:off x="932688" y="4528286"/>
            <a:ext cx="1780153"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Policy evaluation</a:t>
            </a:r>
          </a:p>
        </p:txBody>
      </p:sp>
      <p:sp>
        <p:nvSpPr>
          <p:cNvPr id="25" name="TextBox 24"/>
          <p:cNvSpPr txBox="1"/>
          <p:nvPr/>
        </p:nvSpPr>
        <p:spPr>
          <a:xfrm>
            <a:off x="2895721" y="4528286"/>
            <a:ext cx="1518416"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to convergence</a:t>
            </a:r>
          </a:p>
        </p:txBody>
      </p:sp>
      <p:sp>
        <p:nvSpPr>
          <p:cNvPr id="26" name="TextBox 25"/>
          <p:cNvSpPr txBox="1"/>
          <p:nvPr/>
        </p:nvSpPr>
        <p:spPr>
          <a:xfrm>
            <a:off x="4597017" y="4528286"/>
            <a:ext cx="1780153"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a:t>
            </a:r>
          </a:p>
        </p:txBody>
      </p:sp>
      <p:sp>
        <p:nvSpPr>
          <p:cNvPr id="27" name="TextBox 26"/>
          <p:cNvSpPr txBox="1"/>
          <p:nvPr/>
        </p:nvSpPr>
        <p:spPr>
          <a:xfrm>
            <a:off x="6560051" y="4528286"/>
            <a:ext cx="733202" cy="180200"/>
          </a:xfrm>
          <a:prstGeom prst="rect">
            <a:avLst/>
          </a:prstGeom>
          <a:noFill/>
        </p:spPr>
        <p:txBody>
          <a:bodyPr wrap="square" lIns="0" tIns="0" rIns="0" bIns="0" anchor="t">
            <a:noAutofit/>
          </a:bodyPr>
          <a:lstStyle/>
          <a:p>
            <a:pPr marL="0" indent="0" algn="ctr">
              <a:lnSpc>
                <a:spcPts val="1254"/>
              </a:lnSpc>
              <a:spcBef>
                <a:spcPts val="0"/>
              </a:spcBef>
              <a:spcAft>
                <a:spcPts val="0"/>
              </a:spcAft>
              <a:buNone/>
            </a:pPr>
            <a:r>
              <a:rPr sz="1045" b="0" i="0">
                <a:solidFill>
                  <a:srgbClr val="333639"/>
                </a:solidFill>
                <a:latin typeface="Fira Sans"/>
              </a:rPr>
              <a:t>IV</a:t>
            </a:r>
          </a:p>
        </p:txBody>
      </p:sp>
      <p:sp>
        <p:nvSpPr>
          <p:cNvPr id="28" name="Rectangle 27"/>
          <p:cNvSpPr/>
          <p:nvPr/>
        </p:nvSpPr>
        <p:spPr>
          <a:xfrm>
            <a:off x="841248" y="4780724"/>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841248" y="4786210"/>
            <a:ext cx="6543446" cy="33564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932688" y="4863934"/>
            <a:ext cx="1780153"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Policy improvement</a:t>
            </a:r>
          </a:p>
        </p:txBody>
      </p:sp>
      <p:sp>
        <p:nvSpPr>
          <p:cNvPr id="31" name="TextBox 30"/>
          <p:cNvSpPr txBox="1"/>
          <p:nvPr/>
        </p:nvSpPr>
        <p:spPr>
          <a:xfrm>
            <a:off x="2895721" y="4863934"/>
            <a:ext cx="1518416"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a:t>
            </a:r>
          </a:p>
        </p:txBody>
      </p:sp>
      <p:sp>
        <p:nvSpPr>
          <p:cNvPr id="32" name="TextBox 31"/>
          <p:cNvSpPr txBox="1"/>
          <p:nvPr/>
        </p:nvSpPr>
        <p:spPr>
          <a:xfrm>
            <a:off x="4597017" y="4863934"/>
            <a:ext cx="1780153"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one greedy step</a:t>
            </a:r>
          </a:p>
        </p:txBody>
      </p:sp>
      <p:sp>
        <p:nvSpPr>
          <p:cNvPr id="33" name="TextBox 32"/>
          <p:cNvSpPr txBox="1"/>
          <p:nvPr/>
        </p:nvSpPr>
        <p:spPr>
          <a:xfrm>
            <a:off x="6560051" y="4863934"/>
            <a:ext cx="733202" cy="180200"/>
          </a:xfrm>
          <a:prstGeom prst="rect">
            <a:avLst/>
          </a:prstGeom>
          <a:noFill/>
        </p:spPr>
        <p:txBody>
          <a:bodyPr wrap="square" lIns="0" tIns="0" rIns="0" bIns="0" anchor="t">
            <a:noAutofit/>
          </a:bodyPr>
          <a:lstStyle/>
          <a:p>
            <a:pPr marL="0" indent="0" algn="ctr">
              <a:lnSpc>
                <a:spcPts val="1254"/>
              </a:lnSpc>
              <a:spcBef>
                <a:spcPts val="0"/>
              </a:spcBef>
              <a:spcAft>
                <a:spcPts val="0"/>
              </a:spcAft>
              <a:buNone/>
            </a:pPr>
            <a:r>
              <a:rPr sz="1045" b="0" i="0">
                <a:solidFill>
                  <a:srgbClr val="333639"/>
                </a:solidFill>
                <a:latin typeface="Fira Sans"/>
              </a:rPr>
              <a:t>V</a:t>
            </a:r>
          </a:p>
        </p:txBody>
      </p:sp>
      <p:sp>
        <p:nvSpPr>
          <p:cNvPr id="34" name="Rectangle 33"/>
          <p:cNvSpPr/>
          <p:nvPr/>
        </p:nvSpPr>
        <p:spPr>
          <a:xfrm>
            <a:off x="841248" y="5116372"/>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932688" y="5199583"/>
            <a:ext cx="1780153"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Policy iteration</a:t>
            </a:r>
          </a:p>
        </p:txBody>
      </p:sp>
      <p:sp>
        <p:nvSpPr>
          <p:cNvPr id="36" name="TextBox 35"/>
          <p:cNvSpPr txBox="1"/>
          <p:nvPr/>
        </p:nvSpPr>
        <p:spPr>
          <a:xfrm>
            <a:off x="2895721" y="5199583"/>
            <a:ext cx="1518416"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to convergence</a:t>
            </a:r>
          </a:p>
        </p:txBody>
      </p:sp>
      <p:sp>
        <p:nvSpPr>
          <p:cNvPr id="37" name="TextBox 36"/>
          <p:cNvSpPr txBox="1"/>
          <p:nvPr/>
        </p:nvSpPr>
        <p:spPr>
          <a:xfrm>
            <a:off x="4597017" y="5199583"/>
            <a:ext cx="1780153"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after each evaluation</a:t>
            </a:r>
          </a:p>
        </p:txBody>
      </p:sp>
      <p:sp>
        <p:nvSpPr>
          <p:cNvPr id="38" name="TextBox 37"/>
          <p:cNvSpPr txBox="1"/>
          <p:nvPr/>
        </p:nvSpPr>
        <p:spPr>
          <a:xfrm>
            <a:off x="6560051" y="5199583"/>
            <a:ext cx="733202" cy="180200"/>
          </a:xfrm>
          <a:prstGeom prst="rect">
            <a:avLst/>
          </a:prstGeom>
          <a:noFill/>
        </p:spPr>
        <p:txBody>
          <a:bodyPr wrap="square" lIns="0" tIns="0" rIns="0" bIns="0" anchor="t">
            <a:noAutofit/>
          </a:bodyPr>
          <a:lstStyle/>
          <a:p>
            <a:pPr marL="0" indent="0" algn="ctr">
              <a:lnSpc>
                <a:spcPts val="1254"/>
              </a:lnSpc>
              <a:spcBef>
                <a:spcPts val="0"/>
              </a:spcBef>
              <a:spcAft>
                <a:spcPts val="0"/>
              </a:spcAft>
              <a:buNone/>
            </a:pPr>
            <a:r>
              <a:rPr sz="1045" b="0" i="0">
                <a:solidFill>
                  <a:srgbClr val="333639"/>
                </a:solidFill>
                <a:latin typeface="Fira Sans"/>
              </a:rPr>
              <a:t>V</a:t>
            </a:r>
          </a:p>
        </p:txBody>
      </p:sp>
      <p:sp>
        <p:nvSpPr>
          <p:cNvPr id="39" name="Rectangle 38"/>
          <p:cNvSpPr/>
          <p:nvPr/>
        </p:nvSpPr>
        <p:spPr>
          <a:xfrm>
            <a:off x="841248" y="5452021"/>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Rectangle 39"/>
          <p:cNvSpPr/>
          <p:nvPr/>
        </p:nvSpPr>
        <p:spPr>
          <a:xfrm>
            <a:off x="841248" y="5457507"/>
            <a:ext cx="6543446" cy="33564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932688" y="5535231"/>
            <a:ext cx="1780153"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Value iteration</a:t>
            </a:r>
          </a:p>
        </p:txBody>
      </p:sp>
      <p:sp>
        <p:nvSpPr>
          <p:cNvPr id="42" name="TextBox 41"/>
          <p:cNvSpPr txBox="1"/>
          <p:nvPr/>
        </p:nvSpPr>
        <p:spPr>
          <a:xfrm>
            <a:off x="2895721" y="5535231"/>
            <a:ext cx="1518416"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a single sweep</a:t>
            </a:r>
          </a:p>
        </p:txBody>
      </p:sp>
      <p:sp>
        <p:nvSpPr>
          <p:cNvPr id="43" name="TextBox 42"/>
          <p:cNvSpPr txBox="1"/>
          <p:nvPr/>
        </p:nvSpPr>
        <p:spPr>
          <a:xfrm>
            <a:off x="4597017" y="5535231"/>
            <a:ext cx="1780153"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inside every sweep</a:t>
            </a:r>
          </a:p>
        </p:txBody>
      </p:sp>
      <p:sp>
        <p:nvSpPr>
          <p:cNvPr id="44" name="TextBox 43"/>
          <p:cNvSpPr txBox="1"/>
          <p:nvPr/>
        </p:nvSpPr>
        <p:spPr>
          <a:xfrm>
            <a:off x="6560051" y="5535231"/>
            <a:ext cx="733202" cy="180200"/>
          </a:xfrm>
          <a:prstGeom prst="rect">
            <a:avLst/>
          </a:prstGeom>
          <a:noFill/>
        </p:spPr>
        <p:txBody>
          <a:bodyPr wrap="square" lIns="0" tIns="0" rIns="0" bIns="0" anchor="t">
            <a:noAutofit/>
          </a:bodyPr>
          <a:lstStyle/>
          <a:p>
            <a:pPr marL="0" indent="0" algn="ctr">
              <a:lnSpc>
                <a:spcPts val="1254"/>
              </a:lnSpc>
              <a:spcBef>
                <a:spcPts val="0"/>
              </a:spcBef>
              <a:spcAft>
                <a:spcPts val="0"/>
              </a:spcAft>
              <a:buNone/>
            </a:pPr>
            <a:r>
              <a:rPr sz="1045" b="0" i="0">
                <a:solidFill>
                  <a:srgbClr val="333639"/>
                </a:solidFill>
                <a:latin typeface="Fira Sans"/>
              </a:rPr>
              <a:t>VI</a:t>
            </a:r>
          </a:p>
        </p:txBody>
      </p:sp>
      <p:sp>
        <p:nvSpPr>
          <p:cNvPr id="45" name="Rectangle 44"/>
          <p:cNvSpPr/>
          <p:nvPr/>
        </p:nvSpPr>
        <p:spPr>
          <a:xfrm>
            <a:off x="841248" y="5787669"/>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WE MUST BUILD FIRST</a:t>
            </a:r>
          </a:p>
        </p:txBody>
      </p:sp>
      <p:sp>
        <p:nvSpPr>
          <p:cNvPr id="47" name="TextBox 46"/>
          <p:cNvSpPr txBox="1"/>
          <p:nvPr/>
        </p:nvSpPr>
        <p:spPr>
          <a:xfrm>
            <a:off x="7618780" y="1572768"/>
            <a:ext cx="3731940" cy="1180876"/>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dirty="0">
                <a:solidFill>
                  <a:srgbClr val="333639"/>
                </a:solidFill>
                <a:latin typeface="Fira Sans"/>
              </a:rPr>
              <a:t>A precise meaning for </a:t>
            </a:r>
            <a:r>
              <a:rPr sz="1092" b="1" i="0" dirty="0">
                <a:solidFill>
                  <a:srgbClr val="25282A"/>
                </a:solidFill>
                <a:latin typeface="Fira Sans"/>
              </a:rPr>
              <a:t>“how good is this state”</a:t>
            </a:r>
            <a:endParaRPr sz="1092" b="0" i="0" dirty="0">
              <a:solidFill>
                <a:srgbClr val="333639"/>
              </a:solidFill>
              <a:latin typeface="Fira Sans"/>
            </a:endParaRP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A recursion linking a state to its successors</a:t>
            </a:r>
            <a:r>
              <a:rPr lang="it-IT" sz="1092" b="0" i="0" dirty="0">
                <a:solidFill>
                  <a:srgbClr val="333639"/>
                </a:solidFill>
                <a:latin typeface="Fira Sans"/>
              </a:rPr>
              <a:t>: </a:t>
            </a:r>
            <a:r>
              <a:rPr sz="1092" b="0" i="0" dirty="0">
                <a:solidFill>
                  <a:srgbClr val="333639"/>
                </a:solidFill>
                <a:latin typeface="Fira Sans"/>
              </a:rPr>
              <a:t>the </a:t>
            </a:r>
            <a:r>
              <a:rPr sz="1092" b="1" i="0" dirty="0">
                <a:solidFill>
                  <a:srgbClr val="25282A"/>
                </a:solidFill>
                <a:latin typeface="Fira Sans"/>
              </a:rPr>
              <a:t>Bellman equations</a:t>
            </a:r>
            <a:r>
              <a:rPr sz="1092" b="0" i="0" dirty="0">
                <a:solidFill>
                  <a:srgbClr val="333639"/>
                </a:solidFill>
                <a:latin typeface="Fira Sans"/>
              </a:rPr>
              <a:t>.</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A definition of </a:t>
            </a:r>
            <a:r>
              <a:rPr sz="1092" b="1" i="0" dirty="0">
                <a:solidFill>
                  <a:srgbClr val="25282A"/>
                </a:solidFill>
                <a:latin typeface="Fira Sans"/>
              </a:rPr>
              <a:t>optimal</a:t>
            </a:r>
            <a:r>
              <a:rPr sz="1092" b="0" i="0" dirty="0">
                <a:solidFill>
                  <a:srgbClr val="333639"/>
                </a:solidFill>
                <a:latin typeface="Fira Sans"/>
              </a:rPr>
              <a:t>, and the equations an optimal value function satisfies</a:t>
            </a:r>
          </a:p>
        </p:txBody>
      </p:sp>
      <p:sp>
        <p:nvSpPr>
          <p:cNvPr id="48" name="Rectangle 47"/>
          <p:cNvSpPr/>
          <p:nvPr/>
        </p:nvSpPr>
        <p:spPr>
          <a:xfrm>
            <a:off x="7618780" y="3027964"/>
            <a:ext cx="3731940" cy="152887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Rectangle 48"/>
          <p:cNvSpPr/>
          <p:nvPr/>
        </p:nvSpPr>
        <p:spPr>
          <a:xfrm>
            <a:off x="7618780" y="3027964"/>
            <a:ext cx="41148" cy="152887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7838236" y="3174268"/>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WHAT CHANGES WITH RESPECT TO CHAPTER 02</a:t>
            </a:r>
          </a:p>
        </p:txBody>
      </p:sp>
      <p:sp>
        <p:nvSpPr>
          <p:cNvPr id="51" name="TextBox 50"/>
          <p:cNvSpPr txBox="1"/>
          <p:nvPr/>
        </p:nvSpPr>
        <p:spPr>
          <a:xfrm>
            <a:off x="7838236" y="3412012"/>
            <a:ext cx="3347892" cy="998524"/>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Chapter 02 compared two policies by running ten thousand episodes each, and learned only a single number per policy. By the end of this chapter we compute the value of </a:t>
            </a:r>
            <a:r>
              <a:rPr sz="1092" b="1" i="0" dirty="0">
                <a:solidFill>
                  <a:srgbClr val="333639"/>
                </a:solidFill>
                <a:latin typeface="Fira Sans"/>
              </a:rPr>
              <a:t>every state</a:t>
            </a:r>
            <a:r>
              <a:rPr sz="1092" b="0" i="0" dirty="0">
                <a:solidFill>
                  <a:srgbClr val="333639"/>
                </a:solidFill>
                <a:latin typeface="Fira Sans"/>
              </a:rPr>
              <a:t> and obtain the </a:t>
            </a:r>
            <a:r>
              <a:rPr sz="1092" b="1" i="0" dirty="0">
                <a:solidFill>
                  <a:srgbClr val="333639"/>
                </a:solidFill>
                <a:latin typeface="Fira Sans"/>
              </a:rPr>
              <a:t>optimal</a:t>
            </a:r>
            <a:r>
              <a:rPr sz="1092" b="0" i="0" dirty="0">
                <a:solidFill>
                  <a:srgbClr val="333639"/>
                </a:solidFill>
                <a:latin typeface="Fira Sans"/>
              </a:rPr>
              <a:t> policy from the model alone, in milliseconds.</a:t>
            </a:r>
          </a:p>
        </p:txBody>
      </p:sp>
      <p:sp>
        <p:nvSpPr>
          <p:cNvPr id="52" name="Rectangle 51"/>
          <p:cNvSpPr/>
          <p:nvPr/>
        </p:nvSpPr>
        <p:spPr>
          <a:xfrm>
            <a:off x="7618780" y="4812873"/>
            <a:ext cx="3731940" cy="1167384"/>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Rectangle 52"/>
          <p:cNvSpPr/>
          <p:nvPr/>
        </p:nvSpPr>
        <p:spPr>
          <a:xfrm>
            <a:off x="7618780" y="4812873"/>
            <a:ext cx="41148" cy="1167384"/>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7838236" y="4959177"/>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LOOKING AHEAD</a:t>
            </a:r>
          </a:p>
        </p:txBody>
      </p:sp>
      <p:sp>
        <p:nvSpPr>
          <p:cNvPr id="55" name="TextBox 54"/>
          <p:cNvSpPr txBox="1"/>
          <p:nvPr/>
        </p:nvSpPr>
        <p:spPr>
          <a:xfrm>
            <a:off x="7838236" y="5196921"/>
            <a:ext cx="3347892"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Everything in this chapter needs p(s′, r | s, a). Chapter 04 keeps the two operations and replaces the expected update by an average over sampled episodes.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16568"/>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Value functions</a:t>
            </a:r>
          </a:p>
        </p:txBody>
      </p:sp>
      <p:sp>
        <p:nvSpPr>
          <p:cNvPr id="6" name="TextBox 5"/>
          <p:cNvSpPr txBox="1"/>
          <p:nvPr/>
        </p:nvSpPr>
        <p:spPr>
          <a:xfrm>
            <a:off x="859536" y="3073907"/>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Two functions that say how good a state is, and how good an action is. Both are defined as expectations, and both satisfy a recursion that is the engine of everything that follows.</a:t>
            </a:r>
          </a:p>
        </p:txBody>
      </p:sp>
      <p:sp>
        <p:nvSpPr>
          <p:cNvPr id="7" name="Rectangle 6"/>
          <p:cNvSpPr/>
          <p:nvPr/>
        </p:nvSpPr>
        <p:spPr>
          <a:xfrm>
            <a:off x="859535" y="4956047"/>
            <a:ext cx="45719" cy="30576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Why must the value of a state be written in terms of itself?</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state-value function</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Why an expectation</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Bellman equation, derived</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Reading the equation</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The action-value function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2.1  THE STATE-VALUE FUNCTION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number attached to each state, saying how good it is to be there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II — Value functions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8</a:t>
            </a:r>
          </a:p>
        </p:txBody>
      </p:sp>
      <p:sp>
        <p:nvSpPr>
          <p:cNvPr id="8" name="TextBox 7"/>
          <p:cNvSpPr txBox="1"/>
          <p:nvPr/>
        </p:nvSpPr>
        <p:spPr>
          <a:xfrm>
            <a:off x="841248" y="1316736"/>
            <a:ext cx="6543446"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For a given policy we associate a value with each state: the </a:t>
            </a:r>
            <a:r>
              <a:rPr sz="1282" b="1" i="0">
                <a:solidFill>
                  <a:srgbClr val="25282A"/>
                </a:solidFill>
                <a:latin typeface="Fira Sans"/>
              </a:rPr>
              <a:t>expected return</a:t>
            </a:r>
            <a:r>
              <a:rPr sz="1282" b="0" i="0">
                <a:solidFill>
                  <a:srgbClr val="333639"/>
                </a:solidFill>
                <a:latin typeface="Fira Sans"/>
              </a:rPr>
              <a:t> obtained by starting in that state and following the policy thereafter. This is the </a:t>
            </a:r>
            <a:r>
              <a:rPr sz="1282" b="1" i="0">
                <a:solidFill>
                  <a:srgbClr val="574676"/>
                </a:solidFill>
                <a:latin typeface="Fira Sans"/>
              </a:rPr>
              <a:t>state-value function</a:t>
            </a:r>
            <a:r>
              <a:rPr sz="1282" b="0" i="0">
                <a:solidFill>
                  <a:srgbClr val="333639"/>
                </a:solidFill>
                <a:latin typeface="Fira Sans"/>
              </a:rPr>
              <a:t>, or V-function.</a:t>
            </a:r>
          </a:p>
        </p:txBody>
      </p:sp>
      <p:pic>
        <p:nvPicPr>
          <p:cNvPr id="9" name="Picture 8" descr="eq_v_def.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150379"/>
            <a:ext cx="3582669" cy="412750"/>
          </a:xfrm>
          <a:prstGeom prst="rect">
            <a:avLst/>
          </a:prstGeom>
        </p:spPr>
      </p:pic>
      <p:pic>
        <p:nvPicPr>
          <p:cNvPr id="10" name="Picture 9" descr="eq_v_def_an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2688" y="2837449"/>
            <a:ext cx="5952870" cy="656336"/>
          </a:xfrm>
          <a:prstGeom prst="rect">
            <a:avLst/>
          </a:prstGeom>
        </p:spPr>
      </p:pic>
      <p:sp>
        <p:nvSpPr>
          <p:cNvPr id="11" name="Rectangle 10"/>
          <p:cNvSpPr/>
          <p:nvPr/>
        </p:nvSpPr>
        <p:spPr>
          <a:xfrm>
            <a:off x="841248" y="3804681"/>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005849"/>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IT IS FOR</a:t>
            </a:r>
          </a:p>
        </p:txBody>
      </p:sp>
      <p:sp>
        <p:nvSpPr>
          <p:cNvPr id="13" name="TextBox 12"/>
          <p:cNvSpPr txBox="1"/>
          <p:nvPr/>
        </p:nvSpPr>
        <p:spPr>
          <a:xfrm>
            <a:off x="841248" y="4261881"/>
            <a:ext cx="6543446" cy="1059688"/>
          </a:xfrm>
          <a:prstGeom prst="rect">
            <a:avLst/>
          </a:prstGeom>
          <a:noFill/>
        </p:spPr>
        <p:txBody>
          <a:bodyPr wrap="square" lIns="0" tIns="0" rIns="0" bIns="0" anchor="t">
            <a:noAutofit/>
          </a:bodyPr>
          <a:lstStyle/>
          <a:p>
            <a:pPr marL="182880" indent="-182880" algn="l">
              <a:lnSpc>
                <a:spcPts val="1277"/>
              </a:lnSpc>
              <a:spcBef>
                <a:spcPts val="0"/>
              </a:spcBef>
              <a:spcAft>
                <a:spcPts val="0"/>
              </a:spcAft>
              <a:buClr>
                <a:srgbClr val="1971C2"/>
              </a:buClr>
              <a:buFont typeface="Fira Sans"/>
              <a:buChar char="–"/>
            </a:pPr>
            <a:r>
              <a:rPr sz="1140" b="0" i="0" dirty="0">
                <a:solidFill>
                  <a:srgbClr val="333639"/>
                </a:solidFill>
                <a:latin typeface="Fira Sans"/>
              </a:rPr>
              <a:t>It </a:t>
            </a:r>
            <a:r>
              <a:rPr sz="1140" b="1" i="0" dirty="0">
                <a:solidFill>
                  <a:srgbClr val="25282A"/>
                </a:solidFill>
                <a:latin typeface="Fira Sans"/>
              </a:rPr>
              <a:t>ranks states</a:t>
            </a:r>
            <a:r>
              <a:rPr sz="1140" b="0" i="0" dirty="0">
                <a:solidFill>
                  <a:srgbClr val="333639"/>
                </a:solidFill>
                <a:latin typeface="Fira Sans"/>
              </a:rPr>
              <a:t>: the agent should prefer actions that lead toward states with higher value.</a:t>
            </a:r>
          </a:p>
          <a:p>
            <a:pPr marL="182880" indent="-182880" algn="l">
              <a:lnSpc>
                <a:spcPts val="1277"/>
              </a:lnSpc>
              <a:spcBef>
                <a:spcPts val="800"/>
              </a:spcBef>
              <a:spcAft>
                <a:spcPts val="0"/>
              </a:spcAft>
              <a:buClr>
                <a:srgbClr val="1971C2"/>
              </a:buClr>
              <a:buFont typeface="Fira Sans"/>
              <a:buChar char="–"/>
            </a:pPr>
            <a:r>
              <a:rPr sz="1140" b="0" i="0" dirty="0">
                <a:solidFill>
                  <a:srgbClr val="333639"/>
                </a:solidFill>
                <a:latin typeface="Fira Sans"/>
              </a:rPr>
              <a:t>It </a:t>
            </a:r>
            <a:r>
              <a:rPr sz="1140" b="1" i="0" dirty="0">
                <a:solidFill>
                  <a:srgbClr val="25282A"/>
                </a:solidFill>
                <a:latin typeface="Fira Sans"/>
              </a:rPr>
              <a:t>summarizes a whole distribution of futures into one number</a:t>
            </a:r>
            <a:r>
              <a:rPr sz="1140" b="0" i="0" dirty="0">
                <a:solidFill>
                  <a:srgbClr val="333639"/>
                </a:solidFill>
                <a:latin typeface="Fira Sans"/>
              </a:rPr>
              <a:t> which is exactly what makes it storable and reusable.</a:t>
            </a:r>
          </a:p>
          <a:p>
            <a:pPr marL="182880" indent="-182880" algn="l">
              <a:lnSpc>
                <a:spcPts val="1277"/>
              </a:lnSpc>
              <a:spcBef>
                <a:spcPts val="800"/>
              </a:spcBef>
              <a:spcAft>
                <a:spcPts val="0"/>
              </a:spcAft>
              <a:buClr>
                <a:srgbClr val="1971C2"/>
              </a:buClr>
              <a:buFont typeface="Fira Sans"/>
              <a:buChar char="–"/>
            </a:pPr>
            <a:r>
              <a:rPr sz="1140" b="0" i="0" dirty="0">
                <a:solidFill>
                  <a:srgbClr val="333639"/>
                </a:solidFill>
                <a:latin typeface="Fira Sans"/>
              </a:rPr>
              <a:t>It is defined </a:t>
            </a:r>
            <a:r>
              <a:rPr sz="1140" b="1" i="0" dirty="0">
                <a:solidFill>
                  <a:srgbClr val="C8102E"/>
                </a:solidFill>
                <a:latin typeface="Fira Sans"/>
              </a:rPr>
              <a:t>relative to a policy</a:t>
            </a:r>
            <a:r>
              <a:rPr sz="1140" b="0" i="0" dirty="0">
                <a:solidFill>
                  <a:srgbClr val="333639"/>
                </a:solidFill>
                <a:latin typeface="Fira Sans"/>
              </a:rPr>
              <a:t>. There is no</a:t>
            </a:r>
            <a:r>
              <a:rPr lang="it-IT" sz="1140" b="0" i="0" dirty="0">
                <a:solidFill>
                  <a:srgbClr val="333639"/>
                </a:solidFill>
                <a:latin typeface="Fira Sans"/>
              </a:rPr>
              <a:t> "</a:t>
            </a:r>
            <a:r>
              <a:rPr sz="1140" b="0" i="0" dirty="0">
                <a:solidFill>
                  <a:srgbClr val="333639"/>
                </a:solidFill>
                <a:latin typeface="Fira Sans"/>
              </a:rPr>
              <a:t>value of a state</a:t>
            </a:r>
            <a:r>
              <a:rPr lang="it-IT" sz="1140" b="0" i="0" dirty="0">
                <a:solidFill>
                  <a:srgbClr val="333639"/>
                </a:solidFill>
                <a:latin typeface="Fira Sans"/>
              </a:rPr>
              <a:t>"</a:t>
            </a:r>
            <a:r>
              <a:rPr sz="1140" b="0" i="0" dirty="0">
                <a:solidFill>
                  <a:srgbClr val="333639"/>
                </a:solidFill>
                <a:latin typeface="Fira Sans"/>
              </a:rPr>
              <a:t> in the abstract</a:t>
            </a:r>
            <a:r>
              <a:rPr lang="it-IT" sz="1140" b="0" i="0" dirty="0">
                <a:solidFill>
                  <a:srgbClr val="333639"/>
                </a:solidFill>
                <a:latin typeface="Fira Sans"/>
              </a:rPr>
              <a:t>,</a:t>
            </a:r>
            <a:r>
              <a:rPr sz="1140" b="0" i="0" dirty="0">
                <a:solidFill>
                  <a:srgbClr val="333639"/>
                </a:solidFill>
                <a:latin typeface="Fira Sans"/>
              </a:rPr>
              <a:t> change the policy and every value changes.</a:t>
            </a:r>
          </a:p>
        </p:txBody>
      </p:sp>
      <p:sp>
        <p:nvSpPr>
          <p:cNvPr id="14" name="Rectangle 13"/>
          <p:cNvSpPr/>
          <p:nvPr/>
        </p:nvSpPr>
        <p:spPr>
          <a:xfrm>
            <a:off x="7618780" y="1316736"/>
            <a:ext cx="3731940" cy="152887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618780" y="1316736"/>
            <a:ext cx="41148" cy="152887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WHY 𝔼 APPEARS IN THE DEFINITION</a:t>
            </a:r>
          </a:p>
        </p:txBody>
      </p:sp>
      <p:sp>
        <p:nvSpPr>
          <p:cNvPr id="17" name="TextBox 16"/>
          <p:cNvSpPr txBox="1"/>
          <p:nvPr/>
        </p:nvSpPr>
        <p:spPr>
          <a:xfrm>
            <a:off x="7838236" y="1700784"/>
            <a:ext cx="3347892" cy="998524"/>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Why an expectation and not simply </a:t>
            </a:r>
            <a:r>
              <a:rPr lang="it-IT" sz="1092" b="0" i="0" dirty="0">
                <a:solidFill>
                  <a:srgbClr val="333639"/>
                </a:solidFill>
                <a:latin typeface="Fira Sans"/>
              </a:rPr>
              <a:t>"</a:t>
            </a:r>
            <a:r>
              <a:rPr sz="1092" b="0" i="0" dirty="0">
                <a:solidFill>
                  <a:srgbClr val="333639"/>
                </a:solidFill>
                <a:latin typeface="Fira Sans"/>
              </a:rPr>
              <a:t>the return</a:t>
            </a:r>
            <a:r>
              <a:rPr lang="it-IT" sz="1092" b="0" i="0" dirty="0">
                <a:solidFill>
                  <a:srgbClr val="333639"/>
                </a:solidFill>
                <a:latin typeface="Fira Sans"/>
              </a:rPr>
              <a:t>"</a:t>
            </a:r>
            <a:r>
              <a:rPr sz="1092" b="0" i="0" dirty="0">
                <a:solidFill>
                  <a:srgbClr val="333639"/>
                </a:solidFill>
                <a:latin typeface="Fira Sans"/>
              </a:rPr>
              <a:t>? Because in a </a:t>
            </a:r>
            <a:r>
              <a:rPr sz="1092" b="1" i="0" dirty="0">
                <a:solidFill>
                  <a:srgbClr val="333639"/>
                </a:solidFill>
                <a:latin typeface="Fira Sans"/>
              </a:rPr>
              <a:t>stochastic environment</a:t>
            </a:r>
            <a:r>
              <a:rPr sz="1092" b="0" i="0" dirty="0">
                <a:solidFill>
                  <a:srgbClr val="333639"/>
                </a:solidFill>
                <a:latin typeface="Fira Sans"/>
              </a:rPr>
              <a:t> the same state and the same policy do not produce the same trajectory twice. The environment may respond differently, and a stochastic policy may itself choose differently.</a:t>
            </a:r>
          </a:p>
        </p:txBody>
      </p:sp>
      <p:sp>
        <p:nvSpPr>
          <p:cNvPr id="18" name="TextBox 17"/>
          <p:cNvSpPr txBox="1"/>
          <p:nvPr/>
        </p:nvSpPr>
        <p:spPr>
          <a:xfrm>
            <a:off x="7618780" y="3119932"/>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THE EXPECTATION AVERAGES OVER</a:t>
            </a:r>
          </a:p>
        </p:txBody>
      </p:sp>
      <p:sp>
        <p:nvSpPr>
          <p:cNvPr id="19" name="TextBox 18"/>
          <p:cNvSpPr txBox="1"/>
          <p:nvPr/>
        </p:nvSpPr>
        <p:spPr>
          <a:xfrm>
            <a:off x="7618780" y="3375964"/>
            <a:ext cx="3731940" cy="600598"/>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the actions chosen by the </a:t>
            </a:r>
            <a:r>
              <a:rPr sz="1092" b="1" i="0">
                <a:solidFill>
                  <a:srgbClr val="574676"/>
                </a:solidFill>
                <a:latin typeface="Fira Sans"/>
              </a:rPr>
              <a:t>policy</a:t>
            </a:r>
            <a:r>
              <a:rPr sz="1092" b="0" i="0">
                <a:solidFill>
                  <a:srgbClr val="333639"/>
                </a:solidFill>
                <a:latin typeface="Fira Sans"/>
              </a:rPr>
              <a:t>, if it is stochastic;</a:t>
            </a:r>
          </a:p>
          <a:p>
            <a:pPr marL="182880" indent="-182880" algn="l">
              <a:lnSpc>
                <a:spcPts val="1223"/>
              </a:lnSpc>
              <a:spcBef>
                <a:spcPts val="700"/>
              </a:spcBef>
              <a:spcAft>
                <a:spcPts val="0"/>
              </a:spcAft>
              <a:buClr>
                <a:srgbClr val="1971C2"/>
              </a:buClr>
              <a:buFont typeface="Fira Sans"/>
              <a:buChar char="–"/>
            </a:pPr>
            <a:r>
              <a:rPr sz="1092" b="0" i="0">
                <a:solidFill>
                  <a:srgbClr val="333639"/>
                </a:solidFill>
                <a:latin typeface="Fira Sans"/>
              </a:rPr>
              <a:t>the next states and rewards produced by the </a:t>
            </a:r>
            <a:r>
              <a:rPr sz="1092" b="1" i="0">
                <a:solidFill>
                  <a:srgbClr val="8A5100"/>
                </a:solidFill>
                <a:latin typeface="Fira Sans"/>
              </a:rPr>
              <a:t>environment dynamics</a:t>
            </a:r>
            <a:r>
              <a:rPr sz="1092" b="0" i="0">
                <a:solidFill>
                  <a:srgbClr val="333639"/>
                </a:solidFill>
                <a:latin typeface="Fira Sans"/>
              </a:rPr>
              <a:t>.</a:t>
            </a:r>
          </a:p>
        </p:txBody>
      </p:sp>
      <p:sp>
        <p:nvSpPr>
          <p:cNvPr id="20" name="Rectangle 19"/>
          <p:cNvSpPr/>
          <p:nvPr/>
        </p:nvSpPr>
        <p:spPr>
          <a:xfrm>
            <a:off x="7618780" y="4250883"/>
            <a:ext cx="3731940" cy="863193"/>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618780" y="4250883"/>
            <a:ext cx="41148" cy="863193"/>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838236" y="4397187"/>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THE QUESTION IT ANSWERS</a:t>
            </a:r>
          </a:p>
        </p:txBody>
      </p:sp>
      <p:sp>
        <p:nvSpPr>
          <p:cNvPr id="23" name="TextBox 22"/>
          <p:cNvSpPr txBox="1"/>
          <p:nvPr/>
        </p:nvSpPr>
        <p:spPr>
          <a:xfrm>
            <a:off x="7838236" y="4634931"/>
            <a:ext cx="3347892"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1">
                <a:solidFill>
                  <a:srgbClr val="333639"/>
                </a:solidFill>
                <a:latin typeface="Fira Sans"/>
              </a:rPr>
              <a:t>“If I am in this state and follow this policy from now on, how much return should I expect?”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2.2  THE VALUE OF A STATE IS NOT DIRECTLY COMPUTABLE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action in one state already involves the values of three other states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II — Value functions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9</a:t>
            </a:r>
          </a:p>
        </p:txBody>
      </p:sp>
      <p:sp>
        <p:nvSpPr>
          <p:cNvPr id="8" name="TextBox 7"/>
          <p:cNvSpPr txBox="1"/>
          <p:nvPr/>
        </p:nvSpPr>
        <p:spPr>
          <a:xfrm>
            <a:off x="841248" y="1316736"/>
            <a:ext cx="10515600"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Take the Go-get-it policy in state 14 of Frozen Lake. The policy selects </a:t>
            </a:r>
            <a:r>
              <a:rPr sz="1235" b="1" i="0" dirty="0">
                <a:solidFill>
                  <a:srgbClr val="C8102E"/>
                </a:solidFill>
                <a:latin typeface="Fira Sans"/>
              </a:rPr>
              <a:t>right</a:t>
            </a:r>
            <a:r>
              <a:rPr sz="1235" b="0" i="0" dirty="0">
                <a:solidFill>
                  <a:srgbClr val="333639"/>
                </a:solidFill>
                <a:latin typeface="Fira Sans"/>
              </a:rPr>
              <a:t>. Because the ice is slippery, that action has three possible outcomes. One of them reaches the goal and ends the episode with reward +1; the other two give reward 0 and </a:t>
            </a:r>
            <a:r>
              <a:rPr sz="1235" b="1" i="0" dirty="0">
                <a:solidFill>
                  <a:srgbClr val="25282A"/>
                </a:solidFill>
                <a:latin typeface="Fira Sans"/>
              </a:rPr>
              <a:t>the episode continues</a:t>
            </a:r>
            <a:r>
              <a:rPr lang="it-IT" sz="1235" dirty="0">
                <a:solidFill>
                  <a:srgbClr val="333639"/>
                </a:solidFill>
                <a:latin typeface="Fira Sans"/>
              </a:rPr>
              <a:t>, </a:t>
            </a:r>
            <a:r>
              <a:rPr sz="1235" b="0" i="0" dirty="0">
                <a:solidFill>
                  <a:srgbClr val="333639"/>
                </a:solidFill>
                <a:latin typeface="Fira Sans"/>
              </a:rPr>
              <a:t>so their contribution is the value of the state the agent lands in.</a:t>
            </a:r>
          </a:p>
        </p:txBody>
      </p:sp>
      <p:pic>
        <p:nvPicPr>
          <p:cNvPr id="9" name="Picture 8" descr="tree14.png"/>
          <p:cNvPicPr>
            <a:picLocks noChangeAspect="1"/>
          </p:cNvPicPr>
          <p:nvPr/>
        </p:nvPicPr>
        <p:blipFill>
          <a:blip r:embed="rId2"/>
          <a:stretch>
            <a:fillRect/>
          </a:stretch>
        </p:blipFill>
        <p:spPr>
          <a:xfrm>
            <a:off x="835151" y="1927364"/>
            <a:ext cx="6821905" cy="3589213"/>
          </a:xfrm>
          <a:prstGeom prst="rect">
            <a:avLst/>
          </a:prstGeom>
        </p:spPr>
      </p:pic>
      <p:sp>
        <p:nvSpPr>
          <p:cNvPr id="11" name="Rectangle 10"/>
          <p:cNvSpPr/>
          <p:nvPr/>
        </p:nvSpPr>
        <p:spPr>
          <a:xfrm>
            <a:off x="1154744" y="5651195"/>
            <a:ext cx="9457108" cy="501802"/>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flipH="1">
            <a:off x="1121570" y="5651977"/>
            <a:ext cx="45719" cy="50102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03277" y="5719607"/>
            <a:ext cx="693115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dirty="0">
                <a:solidFill>
                  <a:srgbClr val="8A5100"/>
                </a:solidFill>
                <a:latin typeface="Fira Sans"/>
              </a:rPr>
              <a:t>THE DIFFICULTY, STATED PRECISELY</a:t>
            </a:r>
          </a:p>
        </p:txBody>
      </p:sp>
      <p:sp>
        <p:nvSpPr>
          <p:cNvPr id="14" name="TextBox 13"/>
          <p:cNvSpPr txBox="1"/>
          <p:nvPr/>
        </p:nvSpPr>
        <p:spPr>
          <a:xfrm>
            <a:off x="1303277" y="5920740"/>
            <a:ext cx="9160042"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The value of state 14 depends on the values of states 10 and 14</a:t>
            </a:r>
            <a:r>
              <a:rPr lang="it-IT" sz="1092" b="0" i="0" dirty="0">
                <a:solidFill>
                  <a:srgbClr val="333639"/>
                </a:solidFill>
                <a:latin typeface="Fira Sans"/>
              </a:rPr>
              <a:t>,</a:t>
            </a:r>
            <a:r>
              <a:rPr sz="1092" b="0" i="0" dirty="0">
                <a:solidFill>
                  <a:srgbClr val="333639"/>
                </a:solidFill>
                <a:latin typeface="Fira Sans"/>
              </a:rPr>
              <a:t> including </a:t>
            </a:r>
            <a:r>
              <a:rPr sz="1092" b="1" i="0" dirty="0">
                <a:solidFill>
                  <a:srgbClr val="333639"/>
                </a:solidFill>
                <a:latin typeface="Fira Sans"/>
              </a:rPr>
              <a:t>itself</a:t>
            </a:r>
            <a:r>
              <a:rPr sz="1092" b="0" i="0" dirty="0">
                <a:solidFill>
                  <a:srgbClr val="333639"/>
                </a:solidFill>
                <a:latin typeface="Fira Sans"/>
              </a:rPr>
              <a:t>. That circularity is not a defect: it is the structure we exploit.</a:t>
            </a:r>
          </a:p>
        </p:txBody>
      </p:sp>
      <p:pic>
        <p:nvPicPr>
          <p:cNvPr id="16" name="Immagine 15">
            <a:extLst>
              <a:ext uri="{FF2B5EF4-FFF2-40B4-BE49-F238E27FC236}">
                <a16:creationId xmlns:a16="http://schemas.microsoft.com/office/drawing/2014/main" id="{0D1E613B-DBC7-5ED7-AC2C-5E1A8C936A0C}"/>
              </a:ext>
            </a:extLst>
          </p:cNvPr>
          <p:cNvPicPr>
            <a:picLocks noChangeAspect="1"/>
          </p:cNvPicPr>
          <p:nvPr/>
        </p:nvPicPr>
        <p:blipFill>
          <a:blip r:embed="rId3"/>
          <a:stretch>
            <a:fillRect/>
          </a:stretch>
        </p:blipFill>
        <p:spPr>
          <a:xfrm>
            <a:off x="7713064" y="2129447"/>
            <a:ext cx="3643784" cy="31569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dirty="0">
                <a:solidFill>
                  <a:srgbClr val="574676"/>
                </a:solidFill>
                <a:latin typeface="Fira Sans Medium"/>
              </a:rPr>
              <a:t>2.3  THE BELLMAN EQUATION, DERIVE</a:t>
            </a:r>
            <a:r>
              <a:rPr lang="it-IT" sz="931" b="1" i="0" spc="110" dirty="0">
                <a:solidFill>
                  <a:srgbClr val="574676"/>
                </a:solidFill>
                <a:latin typeface="Fira Sans Medium"/>
              </a:rPr>
              <a:t>D</a:t>
            </a:r>
            <a:endParaRPr sz="931" b="1" i="0" spc="110" dirty="0">
              <a:solidFill>
                <a:srgbClr val="574676"/>
              </a:solidFill>
              <a:latin typeface="Fira Sans Medium"/>
            </a:endParaRP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Make the recursion explicit by conditioning</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II — Value functions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10</a:t>
            </a:r>
          </a:p>
        </p:txBody>
      </p:sp>
      <p:sp>
        <p:nvSpPr>
          <p:cNvPr id="8" name="TextBox 7"/>
          <p:cNvSpPr txBox="1"/>
          <p:nvPr/>
        </p:nvSpPr>
        <p:spPr>
          <a:xfrm>
            <a:off x="1042416" y="1316736"/>
            <a:ext cx="82296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574676"/>
                </a:solidFill>
                <a:latin typeface="Fira Sans"/>
              </a:rPr>
              <a:t>STEP 1</a:t>
            </a:r>
          </a:p>
        </p:txBody>
      </p:sp>
      <p:sp>
        <p:nvSpPr>
          <p:cNvPr id="9" name="TextBox 8"/>
          <p:cNvSpPr txBox="1"/>
          <p:nvPr/>
        </p:nvSpPr>
        <p:spPr>
          <a:xfrm>
            <a:off x="1938528" y="1298448"/>
            <a:ext cx="9052560" cy="237744"/>
          </a:xfrm>
          <a:prstGeom prst="rect">
            <a:avLst/>
          </a:prstGeom>
          <a:noFill/>
        </p:spPr>
        <p:txBody>
          <a:bodyPr wrap="square" lIns="0" tIns="0" rIns="0" bIns="0" anchor="t">
            <a:noAutofit/>
          </a:bodyPr>
          <a:lstStyle/>
          <a:p>
            <a:pPr marL="0" indent="0" algn="l">
              <a:lnSpc>
                <a:spcPts val="1358"/>
              </a:lnSpc>
              <a:spcBef>
                <a:spcPts val="0"/>
              </a:spcBef>
              <a:spcAft>
                <a:spcPts val="0"/>
              </a:spcAft>
              <a:buNone/>
            </a:pPr>
            <a:r>
              <a:rPr sz="1235" b="1" i="0">
                <a:solidFill>
                  <a:srgbClr val="25282A"/>
                </a:solidFill>
                <a:latin typeface="Fira Sans"/>
              </a:rPr>
              <a:t>Start from the recursive definition of the return</a:t>
            </a:r>
          </a:p>
        </p:txBody>
      </p:sp>
      <p:pic>
        <p:nvPicPr>
          <p:cNvPr id="10" name="Picture 9" descr="eq_bell_d1.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38528" y="1627632"/>
            <a:ext cx="5015357" cy="269875"/>
          </a:xfrm>
          <a:prstGeom prst="rect">
            <a:avLst/>
          </a:prstGeom>
        </p:spPr>
      </p:pic>
      <p:sp>
        <p:nvSpPr>
          <p:cNvPr id="11" name="TextBox 10"/>
          <p:cNvSpPr txBox="1"/>
          <p:nvPr/>
        </p:nvSpPr>
        <p:spPr>
          <a:xfrm>
            <a:off x="1938528" y="2043811"/>
            <a:ext cx="9052560" cy="3550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The recursive form of the return is the only fact used here. Everything that follows is the law of total expectation, applied twice.</a:t>
            </a:r>
          </a:p>
        </p:txBody>
      </p:sp>
      <p:sp>
        <p:nvSpPr>
          <p:cNvPr id="12" name="Rectangle 11"/>
          <p:cNvSpPr/>
          <p:nvPr/>
        </p:nvSpPr>
        <p:spPr>
          <a:xfrm>
            <a:off x="841248" y="1316736"/>
            <a:ext cx="31089" cy="108216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42416" y="2673222"/>
            <a:ext cx="82296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574676"/>
                </a:solidFill>
                <a:latin typeface="Fira Sans"/>
              </a:rPr>
              <a:t>STEP 2</a:t>
            </a:r>
          </a:p>
        </p:txBody>
      </p:sp>
      <p:sp>
        <p:nvSpPr>
          <p:cNvPr id="14" name="TextBox 13"/>
          <p:cNvSpPr txBox="1"/>
          <p:nvPr/>
        </p:nvSpPr>
        <p:spPr>
          <a:xfrm>
            <a:off x="1938528" y="2654934"/>
            <a:ext cx="9052560" cy="237744"/>
          </a:xfrm>
          <a:prstGeom prst="rect">
            <a:avLst/>
          </a:prstGeom>
          <a:noFill/>
        </p:spPr>
        <p:txBody>
          <a:bodyPr wrap="square" lIns="0" tIns="0" rIns="0" bIns="0" anchor="t">
            <a:noAutofit/>
          </a:bodyPr>
          <a:lstStyle/>
          <a:p>
            <a:pPr marL="0" indent="0" algn="l">
              <a:lnSpc>
                <a:spcPts val="1358"/>
              </a:lnSpc>
              <a:spcBef>
                <a:spcPts val="0"/>
              </a:spcBef>
              <a:spcAft>
                <a:spcPts val="0"/>
              </a:spcAft>
              <a:buNone/>
            </a:pPr>
            <a:r>
              <a:rPr sz="1235" b="1" i="0">
                <a:solidFill>
                  <a:srgbClr val="25282A"/>
                </a:solidFill>
                <a:latin typeface="Fira Sans"/>
              </a:rPr>
              <a:t>Condition on the action, using the policy</a:t>
            </a:r>
          </a:p>
        </p:txBody>
      </p:sp>
      <p:pic>
        <p:nvPicPr>
          <p:cNvPr id="15" name="Picture 14" descr="eq_bell_d2.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8528" y="2984118"/>
            <a:ext cx="5097399" cy="550545"/>
          </a:xfrm>
          <a:prstGeom prst="rect">
            <a:avLst/>
          </a:prstGeom>
        </p:spPr>
      </p:pic>
      <p:sp>
        <p:nvSpPr>
          <p:cNvPr id="16" name="TextBox 15"/>
          <p:cNvSpPr txBox="1"/>
          <p:nvPr/>
        </p:nvSpPr>
        <p:spPr>
          <a:xfrm>
            <a:off x="1938528" y="3680967"/>
            <a:ext cx="9052560" cy="195834"/>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The law of total expectation over the actions available in s. The weight of each branch is π(a | s).</a:t>
            </a:r>
          </a:p>
        </p:txBody>
      </p:sp>
      <p:sp>
        <p:nvSpPr>
          <p:cNvPr id="17" name="Rectangle 16"/>
          <p:cNvSpPr/>
          <p:nvPr/>
        </p:nvSpPr>
        <p:spPr>
          <a:xfrm>
            <a:off x="841248" y="2673222"/>
            <a:ext cx="31089" cy="1203578"/>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042416" y="4151121"/>
            <a:ext cx="82296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574676"/>
                </a:solidFill>
                <a:latin typeface="Fira Sans"/>
              </a:rPr>
              <a:t>STEP 3</a:t>
            </a:r>
          </a:p>
        </p:txBody>
      </p:sp>
      <p:sp>
        <p:nvSpPr>
          <p:cNvPr id="19" name="TextBox 18"/>
          <p:cNvSpPr txBox="1"/>
          <p:nvPr/>
        </p:nvSpPr>
        <p:spPr>
          <a:xfrm>
            <a:off x="1938528" y="4132833"/>
            <a:ext cx="9052560" cy="237744"/>
          </a:xfrm>
          <a:prstGeom prst="rect">
            <a:avLst/>
          </a:prstGeom>
          <a:noFill/>
        </p:spPr>
        <p:txBody>
          <a:bodyPr wrap="square" lIns="0" tIns="0" rIns="0" bIns="0" anchor="t">
            <a:noAutofit/>
          </a:bodyPr>
          <a:lstStyle/>
          <a:p>
            <a:pPr marL="0" indent="0" algn="l">
              <a:lnSpc>
                <a:spcPts val="1358"/>
              </a:lnSpc>
              <a:spcBef>
                <a:spcPts val="0"/>
              </a:spcBef>
              <a:spcAft>
                <a:spcPts val="0"/>
              </a:spcAft>
              <a:buNone/>
            </a:pPr>
            <a:r>
              <a:rPr sz="1235" b="1" i="0">
                <a:solidFill>
                  <a:srgbClr val="25282A"/>
                </a:solidFill>
                <a:latin typeface="Fira Sans"/>
              </a:rPr>
              <a:t>Condition on the next state and reward, using the dynamics</a:t>
            </a:r>
          </a:p>
        </p:txBody>
      </p:sp>
      <p:pic>
        <p:nvPicPr>
          <p:cNvPr id="20" name="Picture 19" descr="eq_bell_d3.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8528" y="4462017"/>
            <a:ext cx="8461121" cy="585089"/>
          </a:xfrm>
          <a:prstGeom prst="rect">
            <a:avLst/>
          </a:prstGeom>
        </p:spPr>
      </p:pic>
      <p:sp>
        <p:nvSpPr>
          <p:cNvPr id="21" name="TextBox 20"/>
          <p:cNvSpPr txBox="1"/>
          <p:nvPr/>
        </p:nvSpPr>
        <p:spPr>
          <a:xfrm>
            <a:off x="1938528" y="5193410"/>
            <a:ext cx="9052560" cy="195834"/>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The same law again, now over every (s′, r) pair the environment can produce. The weight of each branch is p(s′, r | s, a).</a:t>
            </a:r>
          </a:p>
        </p:txBody>
      </p:sp>
      <p:sp>
        <p:nvSpPr>
          <p:cNvPr id="22" name="Rectangle 21"/>
          <p:cNvSpPr/>
          <p:nvPr/>
        </p:nvSpPr>
        <p:spPr>
          <a:xfrm>
            <a:off x="841248" y="4151121"/>
            <a:ext cx="31089" cy="123812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841248" y="557212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41248" y="5736716"/>
            <a:ext cx="10515600" cy="384048"/>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At this point nothing has been assumed beyond the definition of the return and the existence of the dynamics function. The next two steps use the </a:t>
            </a:r>
            <a:r>
              <a:rPr sz="1140" b="1" i="0">
                <a:solidFill>
                  <a:srgbClr val="25282A"/>
                </a:solidFill>
                <a:latin typeface="Fira Sans"/>
              </a:rPr>
              <a:t>Markov property</a:t>
            </a:r>
            <a:r>
              <a:rPr sz="1140" b="0" i="0">
                <a:solidFill>
                  <a:srgbClr val="333639"/>
                </a:solidFill>
                <a:latin typeface="Fira Sans"/>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dirty="0">
                <a:solidFill>
                  <a:srgbClr val="574676"/>
                </a:solidFill>
                <a:latin typeface="Fira Sans Medium"/>
              </a:rPr>
              <a:t>2.</a:t>
            </a:r>
            <a:r>
              <a:rPr lang="it-IT" sz="931" b="1" i="0" spc="110" dirty="0">
                <a:solidFill>
                  <a:srgbClr val="574676"/>
                </a:solidFill>
                <a:latin typeface="Fira Sans Medium"/>
              </a:rPr>
              <a:t>3</a:t>
            </a:r>
            <a:r>
              <a:rPr sz="931" b="1" i="0" spc="110" dirty="0">
                <a:solidFill>
                  <a:srgbClr val="574676"/>
                </a:solidFill>
                <a:latin typeface="Fira Sans Medium"/>
              </a:rPr>
              <a:t>  THE BELLMAN EQUATION, DERIVED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Markov property is what closes the recursion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II — Value functions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11</a:t>
            </a:r>
          </a:p>
        </p:txBody>
      </p:sp>
      <p:sp>
        <p:nvSpPr>
          <p:cNvPr id="8" name="Rectangle 7"/>
          <p:cNvSpPr/>
          <p:nvPr/>
        </p:nvSpPr>
        <p:spPr>
          <a:xfrm>
            <a:off x="841248" y="1316736"/>
            <a:ext cx="31089" cy="1389888"/>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42416" y="1316736"/>
            <a:ext cx="82296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574676"/>
                </a:solidFill>
                <a:latin typeface="Fira Sans"/>
              </a:rPr>
              <a:t>STEP 4</a:t>
            </a:r>
          </a:p>
        </p:txBody>
      </p:sp>
      <p:sp>
        <p:nvSpPr>
          <p:cNvPr id="10" name="TextBox 9"/>
          <p:cNvSpPr txBox="1"/>
          <p:nvPr/>
        </p:nvSpPr>
        <p:spPr>
          <a:xfrm>
            <a:off x="1938528" y="1298448"/>
            <a:ext cx="9052560" cy="237744"/>
          </a:xfrm>
          <a:prstGeom prst="rect">
            <a:avLst/>
          </a:prstGeom>
          <a:noFill/>
        </p:spPr>
        <p:txBody>
          <a:bodyPr wrap="square" lIns="0" tIns="0" rIns="0" bIns="0" anchor="t">
            <a:noAutofit/>
          </a:bodyPr>
          <a:lstStyle/>
          <a:p>
            <a:pPr marL="0" indent="0" algn="l">
              <a:lnSpc>
                <a:spcPts val="1358"/>
              </a:lnSpc>
              <a:spcBef>
                <a:spcPts val="0"/>
              </a:spcBef>
              <a:spcAft>
                <a:spcPts val="0"/>
              </a:spcAft>
              <a:buNone/>
            </a:pPr>
            <a:r>
              <a:rPr sz="1235" b="1" i="0">
                <a:solidFill>
                  <a:srgbClr val="25282A"/>
                </a:solidFill>
                <a:latin typeface="Fira Sans"/>
              </a:rPr>
              <a:t>Resolve the inner expectation</a:t>
            </a:r>
          </a:p>
        </p:txBody>
      </p:sp>
      <p:pic>
        <p:nvPicPr>
          <p:cNvPr id="11" name="Picture 10" descr="eq_bell_d4.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38528" y="1627632"/>
            <a:ext cx="6618859" cy="653923"/>
          </a:xfrm>
          <a:prstGeom prst="rect">
            <a:avLst/>
          </a:prstGeom>
        </p:spPr>
      </p:pic>
      <p:sp>
        <p:nvSpPr>
          <p:cNvPr id="12" name="TextBox 11"/>
          <p:cNvSpPr txBox="1"/>
          <p:nvPr/>
        </p:nvSpPr>
        <p:spPr>
          <a:xfrm>
            <a:off x="1938528" y="2267712"/>
            <a:ext cx="9052560" cy="3550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After the transition the immediate reward is simply r</a:t>
            </a:r>
            <a:r>
              <a:rPr lang="it-IT" sz="1045" b="0" i="0" dirty="0">
                <a:solidFill>
                  <a:srgbClr val="626669"/>
                </a:solidFill>
                <a:latin typeface="Fira Sans"/>
              </a:rPr>
              <a:t>,</a:t>
            </a:r>
            <a:r>
              <a:rPr sz="1045" b="0" i="0" dirty="0">
                <a:solidFill>
                  <a:srgbClr val="626669"/>
                </a:solidFill>
                <a:latin typeface="Fira Sans"/>
              </a:rPr>
              <a:t> no longer random. And by the </a:t>
            </a:r>
            <a:r>
              <a:rPr sz="1045" b="1" i="0" dirty="0">
                <a:solidFill>
                  <a:srgbClr val="25282A"/>
                </a:solidFill>
                <a:latin typeface="Fira Sans"/>
              </a:rPr>
              <a:t>Markov property</a:t>
            </a:r>
            <a:r>
              <a:rPr sz="1045" b="0" i="0" dirty="0">
                <a:solidFill>
                  <a:srgbClr val="626669"/>
                </a:solidFill>
                <a:latin typeface="Fira Sans"/>
              </a:rPr>
              <a:t>, the expected future return depends only on the new state s′, not on how the agent got there. So the conditioning on </a:t>
            </a:r>
            <a:r>
              <a:rPr sz="1045" b="0" i="0" dirty="0" err="1">
                <a:solidFill>
                  <a:srgbClr val="626669"/>
                </a:solidFill>
                <a:latin typeface="Fira Sans"/>
              </a:rPr>
              <a:t>S_t</a:t>
            </a:r>
            <a:r>
              <a:rPr sz="1045" b="0" i="0" dirty="0">
                <a:solidFill>
                  <a:srgbClr val="626669"/>
                </a:solidFill>
                <a:latin typeface="Fira Sans"/>
              </a:rPr>
              <a:t> and </a:t>
            </a:r>
            <a:r>
              <a:rPr sz="1045" b="0" i="0" dirty="0" err="1">
                <a:solidFill>
                  <a:srgbClr val="626669"/>
                </a:solidFill>
                <a:latin typeface="Fira Sans"/>
              </a:rPr>
              <a:t>A_t</a:t>
            </a:r>
            <a:r>
              <a:rPr sz="1045" b="0" i="0" dirty="0">
                <a:solidFill>
                  <a:srgbClr val="626669"/>
                </a:solidFill>
                <a:latin typeface="Fira Sans"/>
              </a:rPr>
              <a:t> can be dropped.</a:t>
            </a:r>
          </a:p>
        </p:txBody>
      </p:sp>
      <p:sp>
        <p:nvSpPr>
          <p:cNvPr id="13" name="Rectangle 12"/>
          <p:cNvSpPr/>
          <p:nvPr/>
        </p:nvSpPr>
        <p:spPr>
          <a:xfrm>
            <a:off x="841248" y="3017520"/>
            <a:ext cx="31089" cy="106070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42416" y="3017520"/>
            <a:ext cx="82296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574676"/>
                </a:solidFill>
                <a:latin typeface="Fira Sans"/>
              </a:rPr>
              <a:t>STEP 5</a:t>
            </a:r>
          </a:p>
        </p:txBody>
      </p:sp>
      <p:sp>
        <p:nvSpPr>
          <p:cNvPr id="15" name="TextBox 14"/>
          <p:cNvSpPr txBox="1"/>
          <p:nvPr/>
        </p:nvSpPr>
        <p:spPr>
          <a:xfrm>
            <a:off x="1938528" y="2999232"/>
            <a:ext cx="9052560" cy="237744"/>
          </a:xfrm>
          <a:prstGeom prst="rect">
            <a:avLst/>
          </a:prstGeom>
          <a:noFill/>
        </p:spPr>
        <p:txBody>
          <a:bodyPr wrap="square" lIns="0" tIns="0" rIns="0" bIns="0" anchor="t">
            <a:noAutofit/>
          </a:bodyPr>
          <a:lstStyle/>
          <a:p>
            <a:pPr marL="0" indent="0" algn="l">
              <a:lnSpc>
                <a:spcPts val="1358"/>
              </a:lnSpc>
              <a:spcBef>
                <a:spcPts val="0"/>
              </a:spcBef>
              <a:spcAft>
                <a:spcPts val="0"/>
              </a:spcAft>
              <a:buNone/>
            </a:pPr>
            <a:r>
              <a:rPr sz="1235" b="1" i="0">
                <a:solidFill>
                  <a:srgbClr val="25282A"/>
                </a:solidFill>
                <a:latin typeface="Fira Sans"/>
              </a:rPr>
              <a:t>Recognise the inner expectation as a value</a:t>
            </a:r>
          </a:p>
        </p:txBody>
      </p:sp>
      <p:pic>
        <p:nvPicPr>
          <p:cNvPr id="16" name="Picture 15" descr="eq_bell_d5.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8528" y="3328415"/>
            <a:ext cx="3086227" cy="308864"/>
          </a:xfrm>
          <a:prstGeom prst="rect">
            <a:avLst/>
          </a:prstGeom>
        </p:spPr>
      </p:pic>
      <p:sp>
        <p:nvSpPr>
          <p:cNvPr id="17" name="TextBox 16"/>
          <p:cNvSpPr txBox="1"/>
          <p:nvPr/>
        </p:nvSpPr>
        <p:spPr>
          <a:xfrm>
            <a:off x="1938528" y="3803904"/>
            <a:ext cx="9052560" cy="195834"/>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This is the definition of the state-value function, read at time t+1. Substituting it closes the recursion.</a:t>
            </a:r>
          </a:p>
        </p:txBody>
      </p:sp>
      <p:sp>
        <p:nvSpPr>
          <p:cNvPr id="18" name="Rectangle 17"/>
          <p:cNvSpPr/>
          <p:nvPr/>
        </p:nvSpPr>
        <p:spPr>
          <a:xfrm>
            <a:off x="841248" y="4370830"/>
            <a:ext cx="10515600" cy="1335023"/>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9" name="Rectangle 18"/>
          <p:cNvSpPr/>
          <p:nvPr/>
        </p:nvSpPr>
        <p:spPr>
          <a:xfrm>
            <a:off x="841248" y="4370831"/>
            <a:ext cx="41148" cy="133502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97280" y="4517136"/>
            <a:ext cx="731520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a:rPr>
              <a:t>THE BELLMAN EQUATION FOR THE STATE-VALUE FUNCTION</a:t>
            </a:r>
          </a:p>
        </p:txBody>
      </p:sp>
      <p:pic>
        <p:nvPicPr>
          <p:cNvPr id="21" name="Picture 20" descr="eq_bell_v.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8528" y="4908080"/>
            <a:ext cx="5792724" cy="72275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dirty="0">
                <a:solidFill>
                  <a:srgbClr val="574676"/>
                </a:solidFill>
                <a:latin typeface="Fira Sans Medium"/>
              </a:rPr>
              <a:t>2.</a:t>
            </a:r>
            <a:r>
              <a:rPr lang="it-IT" sz="931" b="1" i="0" spc="110" dirty="0">
                <a:solidFill>
                  <a:srgbClr val="574676"/>
                </a:solidFill>
                <a:latin typeface="Fira Sans Medium"/>
              </a:rPr>
              <a:t>4</a:t>
            </a:r>
            <a:r>
              <a:rPr sz="931" b="1" i="0" spc="110" dirty="0">
                <a:solidFill>
                  <a:srgbClr val="574676"/>
                </a:solidFill>
                <a:latin typeface="Fira Sans Medium"/>
              </a:rPr>
              <a:t>  READING THE BELLMAN EQUATION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Two averages and two terms</a:t>
            </a:r>
            <a:r>
              <a:rPr lang="it-IT" sz="2162" b="1" i="0" dirty="0">
                <a:solidFill>
                  <a:srgbClr val="25282A"/>
                </a:solidFill>
                <a:latin typeface="Roboto Slab"/>
              </a:rPr>
              <a:t>,</a:t>
            </a:r>
            <a:r>
              <a:rPr sz="2162" b="1" i="0" dirty="0">
                <a:solidFill>
                  <a:srgbClr val="25282A"/>
                </a:solidFill>
                <a:latin typeface="Roboto Slab"/>
              </a:rPr>
              <a:t> and every symbol is already known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II — Value functions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12</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lang="en-GB" sz="1282" b="0" i="0" noProof="0" dirty="0">
                <a:solidFill>
                  <a:srgbClr val="333639"/>
                </a:solidFill>
                <a:latin typeface="Fira Sans"/>
              </a:rPr>
              <a:t>The equation has a simple meaning: </a:t>
            </a:r>
            <a:r>
              <a:rPr lang="en-GB" sz="1282" b="1" i="0" noProof="0" dirty="0">
                <a:solidFill>
                  <a:srgbClr val="333639"/>
                </a:solidFill>
                <a:latin typeface="Fira Sans"/>
              </a:rPr>
              <a:t>a state’s value is the expected immediate reward plus the discounted expected value of the next state</a:t>
            </a:r>
            <a:r>
              <a:rPr lang="en-GB" sz="1282" b="0" i="0" noProof="0" dirty="0">
                <a:solidFill>
                  <a:srgbClr val="333639"/>
                </a:solidFill>
                <a:latin typeface="Fira Sans"/>
              </a:rPr>
              <a:t>. The remaining notation keeps track of how to compute these expectations.</a:t>
            </a:r>
          </a:p>
        </p:txBody>
      </p:sp>
      <p:pic>
        <p:nvPicPr>
          <p:cNvPr id="9" name="Picture 8" descr="eq_bell_v_ann.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32715" y="2023424"/>
            <a:ext cx="9417304" cy="1250188"/>
          </a:xfrm>
          <a:prstGeom prst="rect">
            <a:avLst/>
          </a:prstGeom>
        </p:spPr>
      </p:pic>
      <p:sp>
        <p:nvSpPr>
          <p:cNvPr id="10" name="Rectangle 9"/>
          <p:cNvSpPr/>
          <p:nvPr/>
        </p:nvSpPr>
        <p:spPr>
          <a:xfrm>
            <a:off x="841248" y="360427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3842014"/>
            <a:ext cx="247802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3988318"/>
            <a:ext cx="2478024" cy="237744"/>
          </a:xfrm>
          <a:prstGeom prst="rect">
            <a:avLst/>
          </a:prstGeom>
          <a:noFill/>
        </p:spPr>
        <p:txBody>
          <a:bodyPr wrap="square" lIns="0" tIns="0" rIns="0" bIns="0" anchor="t">
            <a:noAutofit/>
          </a:bodyPr>
          <a:lstStyle/>
          <a:p>
            <a:pPr marL="0" indent="0" algn="l">
              <a:lnSpc>
                <a:spcPts val="1358"/>
              </a:lnSpc>
              <a:spcBef>
                <a:spcPts val="0"/>
              </a:spcBef>
              <a:spcAft>
                <a:spcPts val="0"/>
              </a:spcAft>
              <a:buNone/>
            </a:pPr>
            <a:r>
              <a:rPr sz="1235" b="1" i="0">
                <a:solidFill>
                  <a:srgbClr val="574676"/>
                </a:solidFill>
                <a:latin typeface="Fira Sans"/>
              </a:rPr>
              <a:t>π(a | s)</a:t>
            </a:r>
          </a:p>
        </p:txBody>
      </p:sp>
      <p:sp>
        <p:nvSpPr>
          <p:cNvPr id="13" name="TextBox 12"/>
          <p:cNvSpPr txBox="1"/>
          <p:nvPr/>
        </p:nvSpPr>
        <p:spPr>
          <a:xfrm>
            <a:off x="841248" y="4299214"/>
            <a:ext cx="2478024" cy="237744"/>
          </a:xfrm>
          <a:prstGeom prst="rect">
            <a:avLst/>
          </a:prstGeom>
          <a:noFill/>
        </p:spPr>
        <p:txBody>
          <a:bodyPr wrap="square" lIns="0" tIns="0" rIns="0" bIns="0" anchor="t">
            <a:noAutofit/>
          </a:bodyPr>
          <a:lstStyle/>
          <a:p>
            <a:pPr marL="0" indent="0" algn="l">
              <a:lnSpc>
                <a:spcPts val="1223"/>
              </a:lnSpc>
              <a:spcBef>
                <a:spcPts val="0"/>
              </a:spcBef>
              <a:spcAft>
                <a:spcPts val="0"/>
              </a:spcAft>
              <a:buNone/>
            </a:pPr>
            <a:r>
              <a:rPr sz="1092" b="1" i="0">
                <a:solidFill>
                  <a:srgbClr val="25282A"/>
                </a:solidFill>
                <a:latin typeface="Fira Sans"/>
              </a:rPr>
              <a:t>Average over the policy</a:t>
            </a:r>
          </a:p>
        </p:txBody>
      </p:sp>
      <p:sp>
        <p:nvSpPr>
          <p:cNvPr id="14" name="TextBox 13"/>
          <p:cNvSpPr txBox="1"/>
          <p:nvPr/>
        </p:nvSpPr>
        <p:spPr>
          <a:xfrm>
            <a:off x="841248" y="4591822"/>
            <a:ext cx="2478024" cy="644347"/>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626669"/>
                </a:solidFill>
                <a:latin typeface="Fira Sans"/>
              </a:rPr>
              <a:t>For a deterministic policy this sum has a single term: the action π prescribes. The code later in this chapter exploits exactly that.</a:t>
            </a:r>
          </a:p>
        </p:txBody>
      </p:sp>
      <p:sp>
        <p:nvSpPr>
          <p:cNvPr id="15" name="Rectangle 14"/>
          <p:cNvSpPr/>
          <p:nvPr/>
        </p:nvSpPr>
        <p:spPr>
          <a:xfrm>
            <a:off x="3520440" y="3842014"/>
            <a:ext cx="2478024"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3520440" y="3988318"/>
            <a:ext cx="2478024" cy="237744"/>
          </a:xfrm>
          <a:prstGeom prst="rect">
            <a:avLst/>
          </a:prstGeom>
          <a:noFill/>
        </p:spPr>
        <p:txBody>
          <a:bodyPr wrap="square" lIns="0" tIns="0" rIns="0" bIns="0" anchor="t">
            <a:noAutofit/>
          </a:bodyPr>
          <a:lstStyle/>
          <a:p>
            <a:pPr marL="0" indent="0" algn="l">
              <a:lnSpc>
                <a:spcPts val="1358"/>
              </a:lnSpc>
              <a:spcBef>
                <a:spcPts val="0"/>
              </a:spcBef>
              <a:spcAft>
                <a:spcPts val="0"/>
              </a:spcAft>
              <a:buNone/>
            </a:pPr>
            <a:r>
              <a:rPr sz="1235" b="1" i="0">
                <a:solidFill>
                  <a:srgbClr val="8A5100"/>
                </a:solidFill>
                <a:latin typeface="Fira Sans"/>
              </a:rPr>
              <a:t>p(s′, r | s, a)</a:t>
            </a:r>
          </a:p>
        </p:txBody>
      </p:sp>
      <p:sp>
        <p:nvSpPr>
          <p:cNvPr id="17" name="TextBox 16"/>
          <p:cNvSpPr txBox="1"/>
          <p:nvPr/>
        </p:nvSpPr>
        <p:spPr>
          <a:xfrm>
            <a:off x="3520440" y="4299214"/>
            <a:ext cx="2478024" cy="237744"/>
          </a:xfrm>
          <a:prstGeom prst="rect">
            <a:avLst/>
          </a:prstGeom>
          <a:noFill/>
        </p:spPr>
        <p:txBody>
          <a:bodyPr wrap="square" lIns="0" tIns="0" rIns="0" bIns="0" anchor="t">
            <a:noAutofit/>
          </a:bodyPr>
          <a:lstStyle/>
          <a:p>
            <a:pPr marL="0" indent="0" algn="l">
              <a:lnSpc>
                <a:spcPts val="1223"/>
              </a:lnSpc>
              <a:spcBef>
                <a:spcPts val="0"/>
              </a:spcBef>
              <a:spcAft>
                <a:spcPts val="0"/>
              </a:spcAft>
              <a:buNone/>
            </a:pPr>
            <a:r>
              <a:rPr sz="1092" b="1" i="0">
                <a:solidFill>
                  <a:srgbClr val="25282A"/>
                </a:solidFill>
                <a:latin typeface="Fira Sans"/>
              </a:rPr>
              <a:t>Average over the dynamics</a:t>
            </a:r>
          </a:p>
        </p:txBody>
      </p:sp>
      <p:sp>
        <p:nvSpPr>
          <p:cNvPr id="18" name="TextBox 17"/>
          <p:cNvSpPr txBox="1"/>
          <p:nvPr/>
        </p:nvSpPr>
        <p:spPr>
          <a:xfrm>
            <a:off x="3520440" y="4591822"/>
            <a:ext cx="2478024" cy="644347"/>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626669"/>
                </a:solidFill>
                <a:latin typeface="Fira Sans"/>
              </a:rPr>
              <a:t>The model. Every possible outcome of the chosen action, with its probability</a:t>
            </a:r>
            <a:r>
              <a:rPr lang="it-IT" sz="997" b="0" i="0" dirty="0">
                <a:solidFill>
                  <a:srgbClr val="626669"/>
                </a:solidFill>
                <a:latin typeface="Fira Sans"/>
              </a:rPr>
              <a:t>, </a:t>
            </a:r>
            <a:r>
              <a:rPr sz="997" b="0" i="0" dirty="0">
                <a:solidFill>
                  <a:srgbClr val="626669"/>
                </a:solidFill>
                <a:latin typeface="Fira Sans"/>
              </a:rPr>
              <a:t>this is the term that dynamic programming assumes known.</a:t>
            </a:r>
          </a:p>
        </p:txBody>
      </p:sp>
      <p:sp>
        <p:nvSpPr>
          <p:cNvPr id="19" name="Rectangle 18"/>
          <p:cNvSpPr/>
          <p:nvPr/>
        </p:nvSpPr>
        <p:spPr>
          <a:xfrm>
            <a:off x="6199632" y="3842014"/>
            <a:ext cx="2478024"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199632" y="3988318"/>
            <a:ext cx="2478024" cy="237744"/>
          </a:xfrm>
          <a:prstGeom prst="rect">
            <a:avLst/>
          </a:prstGeom>
          <a:noFill/>
        </p:spPr>
        <p:txBody>
          <a:bodyPr wrap="square" lIns="0" tIns="0" rIns="0" bIns="0" anchor="t">
            <a:noAutofit/>
          </a:bodyPr>
          <a:lstStyle/>
          <a:p>
            <a:pPr marL="0" indent="0" algn="l">
              <a:lnSpc>
                <a:spcPts val="1358"/>
              </a:lnSpc>
              <a:spcBef>
                <a:spcPts val="0"/>
              </a:spcBef>
              <a:spcAft>
                <a:spcPts val="0"/>
              </a:spcAft>
              <a:buNone/>
            </a:pPr>
            <a:r>
              <a:rPr sz="1235" b="1" i="0">
                <a:solidFill>
                  <a:srgbClr val="2B7A3E"/>
                </a:solidFill>
                <a:latin typeface="Fira Sans"/>
              </a:rPr>
              <a:t>r</a:t>
            </a:r>
          </a:p>
        </p:txBody>
      </p:sp>
      <p:sp>
        <p:nvSpPr>
          <p:cNvPr id="21" name="TextBox 20"/>
          <p:cNvSpPr txBox="1"/>
          <p:nvPr/>
        </p:nvSpPr>
        <p:spPr>
          <a:xfrm>
            <a:off x="6199632" y="4299214"/>
            <a:ext cx="2478024" cy="237744"/>
          </a:xfrm>
          <a:prstGeom prst="rect">
            <a:avLst/>
          </a:prstGeom>
          <a:noFill/>
        </p:spPr>
        <p:txBody>
          <a:bodyPr wrap="square" lIns="0" tIns="0" rIns="0" bIns="0" anchor="t">
            <a:noAutofit/>
          </a:bodyPr>
          <a:lstStyle/>
          <a:p>
            <a:pPr marL="0" indent="0" algn="l">
              <a:lnSpc>
                <a:spcPts val="1223"/>
              </a:lnSpc>
              <a:spcBef>
                <a:spcPts val="0"/>
              </a:spcBef>
              <a:spcAft>
                <a:spcPts val="0"/>
              </a:spcAft>
              <a:buNone/>
            </a:pPr>
            <a:r>
              <a:rPr sz="1092" b="1" i="0">
                <a:solidFill>
                  <a:srgbClr val="25282A"/>
                </a:solidFill>
                <a:latin typeface="Fira Sans"/>
              </a:rPr>
              <a:t>The immediate reward</a:t>
            </a:r>
          </a:p>
        </p:txBody>
      </p:sp>
      <p:sp>
        <p:nvSpPr>
          <p:cNvPr id="22" name="TextBox 21"/>
          <p:cNvSpPr txBox="1"/>
          <p:nvPr/>
        </p:nvSpPr>
        <p:spPr>
          <a:xfrm>
            <a:off x="6199632" y="4591822"/>
            <a:ext cx="2478024" cy="492404"/>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626669"/>
                </a:solidFill>
                <a:latin typeface="Fira Sans"/>
              </a:rPr>
              <a:t>What arrives on this transition. Known exactly once (s, a, s′, r) is fixed; it is the only non-recursive term in the equation.</a:t>
            </a:r>
          </a:p>
        </p:txBody>
      </p:sp>
      <p:sp>
        <p:nvSpPr>
          <p:cNvPr id="23" name="Rectangle 22"/>
          <p:cNvSpPr/>
          <p:nvPr/>
        </p:nvSpPr>
        <p:spPr>
          <a:xfrm>
            <a:off x="8878824" y="3842014"/>
            <a:ext cx="2478024"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878824" y="3988318"/>
            <a:ext cx="2478024" cy="237744"/>
          </a:xfrm>
          <a:prstGeom prst="rect">
            <a:avLst/>
          </a:prstGeom>
          <a:noFill/>
        </p:spPr>
        <p:txBody>
          <a:bodyPr wrap="square" lIns="0" tIns="0" rIns="0" bIns="0" anchor="t">
            <a:noAutofit/>
          </a:bodyPr>
          <a:lstStyle/>
          <a:p>
            <a:pPr marL="0" indent="0" algn="l">
              <a:lnSpc>
                <a:spcPts val="1358"/>
              </a:lnSpc>
              <a:spcBef>
                <a:spcPts val="0"/>
              </a:spcBef>
              <a:spcAft>
                <a:spcPts val="0"/>
              </a:spcAft>
              <a:buNone/>
            </a:pPr>
            <a:r>
              <a:rPr sz="1235" b="1" i="0">
                <a:solidFill>
                  <a:srgbClr val="C8102E"/>
                </a:solidFill>
                <a:latin typeface="Fira Sans"/>
              </a:rPr>
              <a:t>γ · v(s′)</a:t>
            </a:r>
          </a:p>
        </p:txBody>
      </p:sp>
      <p:sp>
        <p:nvSpPr>
          <p:cNvPr id="25" name="TextBox 24"/>
          <p:cNvSpPr txBox="1"/>
          <p:nvPr/>
        </p:nvSpPr>
        <p:spPr>
          <a:xfrm>
            <a:off x="8878824" y="4299214"/>
            <a:ext cx="2478024" cy="237744"/>
          </a:xfrm>
          <a:prstGeom prst="rect">
            <a:avLst/>
          </a:prstGeom>
          <a:noFill/>
        </p:spPr>
        <p:txBody>
          <a:bodyPr wrap="square" lIns="0" tIns="0" rIns="0" bIns="0" anchor="t">
            <a:noAutofit/>
          </a:bodyPr>
          <a:lstStyle/>
          <a:p>
            <a:pPr marL="0" indent="0" algn="l">
              <a:lnSpc>
                <a:spcPts val="1223"/>
              </a:lnSpc>
              <a:spcBef>
                <a:spcPts val="0"/>
              </a:spcBef>
              <a:spcAft>
                <a:spcPts val="0"/>
              </a:spcAft>
              <a:buNone/>
            </a:pPr>
            <a:r>
              <a:rPr sz="1092" b="1" i="0">
                <a:solidFill>
                  <a:srgbClr val="25282A"/>
                </a:solidFill>
                <a:latin typeface="Fira Sans"/>
              </a:rPr>
              <a:t>The discounted future</a:t>
            </a:r>
          </a:p>
        </p:txBody>
      </p:sp>
      <p:sp>
        <p:nvSpPr>
          <p:cNvPr id="26" name="TextBox 25"/>
          <p:cNvSpPr txBox="1"/>
          <p:nvPr/>
        </p:nvSpPr>
        <p:spPr>
          <a:xfrm>
            <a:off x="8878824" y="4591822"/>
            <a:ext cx="2478024" cy="492404"/>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626669"/>
                </a:solidFill>
                <a:latin typeface="Fira Sans"/>
              </a:rPr>
              <a:t>The recursive term. The value of the successor, already computed or, during the algorithms, its current estimate.</a:t>
            </a:r>
          </a:p>
        </p:txBody>
      </p:sp>
      <p:sp>
        <p:nvSpPr>
          <p:cNvPr id="27" name="Rectangle 26"/>
          <p:cNvSpPr/>
          <p:nvPr/>
        </p:nvSpPr>
        <p:spPr>
          <a:xfrm>
            <a:off x="841248" y="559766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841248" y="5798830"/>
            <a:ext cx="10515600" cy="389839"/>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dirty="0">
                <a:solidFill>
                  <a:srgbClr val="333639"/>
                </a:solidFill>
                <a:latin typeface="Fira Sans"/>
              </a:rPr>
              <a:t>One equation per state, |𝒮| equations in |𝒮| unknowns. For a fixed policy the system is </a:t>
            </a:r>
            <a:r>
              <a:rPr sz="1140" b="1" i="0" dirty="0">
                <a:solidFill>
                  <a:srgbClr val="25282A"/>
                </a:solidFill>
                <a:latin typeface="Fira Sans"/>
              </a:rPr>
              <a:t>linear</a:t>
            </a:r>
            <a:r>
              <a:rPr sz="1140" b="0" i="0" dirty="0">
                <a:solidFill>
                  <a:srgbClr val="333639"/>
                </a:solidFill>
                <a:latin typeface="Fira Sans"/>
              </a:rPr>
              <a:t> and could be solved directly. </a:t>
            </a:r>
            <a:r>
              <a:rPr lang="it-IT" sz="1140" b="0" i="0" dirty="0">
                <a:solidFill>
                  <a:srgbClr val="333639"/>
                </a:solidFill>
                <a:latin typeface="Fira Sans"/>
              </a:rPr>
              <a:t>DP </a:t>
            </a:r>
            <a:r>
              <a:rPr sz="1140" b="0" i="0" dirty="0">
                <a:solidFill>
                  <a:srgbClr val="333639"/>
                </a:solidFill>
                <a:latin typeface="Fira Sans"/>
              </a:rPr>
              <a:t>solves it </a:t>
            </a:r>
            <a:r>
              <a:rPr sz="1140" b="1" i="0" dirty="0">
                <a:solidFill>
                  <a:srgbClr val="574676"/>
                </a:solidFill>
                <a:latin typeface="Fira Sans"/>
              </a:rPr>
              <a:t>iteratively</a:t>
            </a:r>
            <a:r>
              <a:rPr sz="1140" b="0" i="0" dirty="0">
                <a:solidFill>
                  <a:srgbClr val="333639"/>
                </a:solidFill>
                <a:latin typeface="Fira Sans"/>
              </a:rPr>
              <a:t> instead</a:t>
            </a:r>
            <a:r>
              <a:rPr lang="it-IT" sz="1140" b="0" i="0" dirty="0">
                <a:solidFill>
                  <a:srgbClr val="333639"/>
                </a:solidFill>
                <a:latin typeface="Fira Sans"/>
              </a:rPr>
              <a:t>, </a:t>
            </a:r>
            <a:r>
              <a:rPr sz="1140" b="0" i="0" dirty="0">
                <a:solidFill>
                  <a:srgbClr val="333639"/>
                </a:solidFill>
                <a:latin typeface="Fira Sans"/>
              </a:rPr>
              <a:t>because the iterative form survives when the model disappears, and the direct solution does not.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dirty="0">
                <a:solidFill>
                  <a:srgbClr val="574676"/>
                </a:solidFill>
                <a:latin typeface="Fira Sans Medium"/>
              </a:rPr>
              <a:t>2.</a:t>
            </a:r>
            <a:r>
              <a:rPr lang="it-IT" sz="931" b="1" i="0" spc="110" dirty="0">
                <a:solidFill>
                  <a:srgbClr val="574676"/>
                </a:solidFill>
                <a:latin typeface="Fira Sans Medium"/>
              </a:rPr>
              <a:t>5</a:t>
            </a:r>
            <a:r>
              <a:rPr sz="931" b="1" i="0" spc="110" dirty="0">
                <a:solidFill>
                  <a:srgbClr val="574676"/>
                </a:solidFill>
                <a:latin typeface="Fira Sans Medium"/>
              </a:rPr>
              <a:t>  THE ACTION-VALUE FUNCTION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For deciding, knowing how good a state is is not yet enough</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II — Value functions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13</a:t>
            </a:r>
          </a:p>
        </p:txBody>
      </p:sp>
      <p:sp>
        <p:nvSpPr>
          <p:cNvPr id="8" name="TextBox 7"/>
          <p:cNvSpPr txBox="1"/>
          <p:nvPr/>
        </p:nvSpPr>
        <p:spPr>
          <a:xfrm>
            <a:off x="841248" y="1316736"/>
            <a:ext cx="6543446"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Knowing how good a state is helps </a:t>
            </a:r>
            <a:r>
              <a:rPr lang="it-IT" sz="1282" b="0" i="0" dirty="0">
                <a:solidFill>
                  <a:srgbClr val="333639"/>
                </a:solidFill>
                <a:latin typeface="Fira Sans"/>
              </a:rPr>
              <a:t>to </a:t>
            </a:r>
            <a:r>
              <a:rPr sz="1282" b="0" i="0" dirty="0">
                <a:solidFill>
                  <a:srgbClr val="333639"/>
                </a:solidFill>
                <a:latin typeface="Fira Sans"/>
              </a:rPr>
              <a:t>rank states. But the agent chooses </a:t>
            </a:r>
            <a:r>
              <a:rPr sz="1282" b="1" i="0" dirty="0">
                <a:solidFill>
                  <a:srgbClr val="25282A"/>
                </a:solidFill>
                <a:latin typeface="Fira Sans"/>
              </a:rPr>
              <a:t>actions</a:t>
            </a:r>
            <a:r>
              <a:rPr sz="1282" b="0" i="0" dirty="0">
                <a:solidFill>
                  <a:srgbClr val="333639"/>
                </a:solidFill>
                <a:latin typeface="Fira Sans"/>
              </a:rPr>
              <a:t>, so what it really needs is </a:t>
            </a:r>
            <a:r>
              <a:rPr sz="1282" b="1" i="0" dirty="0">
                <a:solidFill>
                  <a:srgbClr val="333639"/>
                </a:solidFill>
                <a:latin typeface="Fira Sans"/>
              </a:rPr>
              <a:t>how good it is to take a particular action in a state </a:t>
            </a:r>
            <a:r>
              <a:rPr sz="1282" b="0" i="0" dirty="0">
                <a:solidFill>
                  <a:srgbClr val="333639"/>
                </a:solidFill>
                <a:latin typeface="Fira Sans"/>
              </a:rPr>
              <a:t>and follow the policy afterwards. This is the </a:t>
            </a:r>
            <a:r>
              <a:rPr sz="1282" b="1" i="0" dirty="0">
                <a:solidFill>
                  <a:srgbClr val="574676"/>
                </a:solidFill>
                <a:latin typeface="Fira Sans"/>
              </a:rPr>
              <a:t>action-value function</a:t>
            </a:r>
            <a:r>
              <a:rPr sz="1282" b="0" i="0" dirty="0">
                <a:solidFill>
                  <a:srgbClr val="333639"/>
                </a:solidFill>
                <a:latin typeface="Fira Sans"/>
              </a:rPr>
              <a:t>, or Q-function.</a:t>
            </a:r>
          </a:p>
        </p:txBody>
      </p:sp>
      <p:pic>
        <p:nvPicPr>
          <p:cNvPr id="9" name="Picture 8" descr="eq_q_def.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248" y="2274316"/>
            <a:ext cx="4289017" cy="352251"/>
          </a:xfrm>
          <a:prstGeom prst="rect">
            <a:avLst/>
          </a:prstGeom>
        </p:spPr>
      </p:pic>
      <p:sp>
        <p:nvSpPr>
          <p:cNvPr id="10" name="TextBox 9"/>
          <p:cNvSpPr txBox="1"/>
          <p:nvPr/>
        </p:nvSpPr>
        <p:spPr>
          <a:xfrm>
            <a:off x="841248" y="2995661"/>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dirty="0">
                <a:solidFill>
                  <a:srgbClr val="574676"/>
                </a:solidFill>
                <a:latin typeface="Fira Sans"/>
              </a:rPr>
              <a:t>THE SAME RECURSIVE REASONING GIVES ITS BELLMAN EQUATION</a:t>
            </a:r>
          </a:p>
        </p:txBody>
      </p:sp>
      <p:pic>
        <p:nvPicPr>
          <p:cNvPr id="11" name="Picture 10" descr="eq_bell_q.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5315" y="3280040"/>
            <a:ext cx="6669165" cy="914797"/>
          </a:xfrm>
          <a:prstGeom prst="rect">
            <a:avLst/>
          </a:prstGeom>
        </p:spPr>
      </p:pic>
      <p:sp>
        <p:nvSpPr>
          <p:cNvPr id="12" name="TextBox 11"/>
          <p:cNvSpPr txBox="1"/>
          <p:nvPr/>
        </p:nvSpPr>
        <p:spPr>
          <a:xfrm>
            <a:off x="814730" y="4456778"/>
            <a:ext cx="6543446" cy="566470"/>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dirty="0">
                <a:solidFill>
                  <a:srgbClr val="333639"/>
                </a:solidFill>
                <a:latin typeface="Fira Sans"/>
              </a:rPr>
              <a:t>After taking a in s, the environment produces r and s′. From s′ the agent selects a′ according to the policy. So the value of the pair (s, a) is the expected immediate reward plus the discounted expected value of the </a:t>
            </a:r>
            <a:r>
              <a:rPr sz="1140" b="1" i="0" dirty="0">
                <a:solidFill>
                  <a:srgbClr val="25282A"/>
                </a:solidFill>
                <a:latin typeface="Fira Sans"/>
              </a:rPr>
              <a:t>next state–action pair</a:t>
            </a:r>
            <a:r>
              <a:rPr sz="1140" b="0" i="0" dirty="0">
                <a:solidFill>
                  <a:srgbClr val="333639"/>
                </a:solidFill>
                <a:latin typeface="Fira Sans"/>
              </a:rPr>
              <a:t>.</a:t>
            </a:r>
          </a:p>
        </p:txBody>
      </p:sp>
      <p:sp>
        <p:nvSpPr>
          <p:cNvPr id="13" name="TextBox 12"/>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WHY Q MATTERS MORE THAN V</a:t>
            </a:r>
          </a:p>
        </p:txBody>
      </p:sp>
      <p:sp>
        <p:nvSpPr>
          <p:cNvPr id="14" name="TextBox 13"/>
          <p:cNvSpPr txBox="1"/>
          <p:nvPr/>
        </p:nvSpPr>
        <p:spPr>
          <a:xfrm>
            <a:off x="7618780" y="1572768"/>
            <a:ext cx="3731940" cy="1336202"/>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dirty="0">
                <a:solidFill>
                  <a:srgbClr val="333639"/>
                </a:solidFill>
                <a:latin typeface="Fira Sans"/>
              </a:rPr>
              <a:t>v ranks states; </a:t>
            </a:r>
            <a:r>
              <a:rPr sz="1092" b="1" i="0" dirty="0">
                <a:solidFill>
                  <a:srgbClr val="25282A"/>
                </a:solidFill>
                <a:latin typeface="Fira Sans"/>
              </a:rPr>
              <a:t>q ranks the actions available in a state</a:t>
            </a:r>
            <a:r>
              <a:rPr lang="it-IT" sz="1092" dirty="0">
                <a:solidFill>
                  <a:srgbClr val="333639"/>
                </a:solidFill>
                <a:latin typeface="Fira Sans"/>
              </a:rPr>
              <a:t>, </a:t>
            </a:r>
            <a:r>
              <a:rPr sz="1092" b="0" i="0" dirty="0">
                <a:solidFill>
                  <a:srgbClr val="333639"/>
                </a:solidFill>
                <a:latin typeface="Fira Sans"/>
              </a:rPr>
              <a:t>which is what a decision requires.</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With v, choosing an action needs a </a:t>
            </a:r>
            <a:r>
              <a:rPr sz="1092" b="1" i="0" dirty="0">
                <a:solidFill>
                  <a:srgbClr val="C8102E"/>
                </a:solidFill>
                <a:latin typeface="Fira Sans"/>
              </a:rPr>
              <a:t>one-step lookahead through the model</a:t>
            </a:r>
            <a:r>
              <a:rPr sz="1092" b="0" i="0" dirty="0">
                <a:solidFill>
                  <a:srgbClr val="333639"/>
                </a:solidFill>
                <a:latin typeface="Fira Sans"/>
              </a:rPr>
              <a:t>.</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With q, choosing an action needs </a:t>
            </a:r>
            <a:r>
              <a:rPr sz="1092" b="1" i="0" dirty="0">
                <a:solidFill>
                  <a:srgbClr val="2B7A3E"/>
                </a:solidFill>
                <a:latin typeface="Fira Sans"/>
              </a:rPr>
              <a:t>no model at all</a:t>
            </a:r>
            <a:r>
              <a:rPr lang="it-IT" sz="1092" dirty="0">
                <a:solidFill>
                  <a:srgbClr val="333639"/>
                </a:solidFill>
                <a:latin typeface="Fira Sans"/>
              </a:rPr>
              <a:t>, </a:t>
            </a:r>
            <a:r>
              <a:rPr sz="1092" b="0" i="0" dirty="0">
                <a:solidFill>
                  <a:srgbClr val="333639"/>
                </a:solidFill>
                <a:latin typeface="Fira Sans"/>
              </a:rPr>
              <a:t>just a maximum over the stored values.</a:t>
            </a:r>
          </a:p>
        </p:txBody>
      </p:sp>
      <p:sp>
        <p:nvSpPr>
          <p:cNvPr id="15" name="Rectangle 14"/>
          <p:cNvSpPr/>
          <p:nvPr/>
        </p:nvSpPr>
        <p:spPr>
          <a:xfrm>
            <a:off x="7618780" y="3183290"/>
            <a:ext cx="3731940" cy="136245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7577632" y="3261823"/>
            <a:ext cx="41148" cy="136245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838236" y="3329594"/>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V AND Q ARE TWO VIEWS OF ONE OBJECT</a:t>
            </a:r>
          </a:p>
        </p:txBody>
      </p:sp>
      <p:sp>
        <p:nvSpPr>
          <p:cNvPr id="18" name="TextBox 17"/>
          <p:cNvSpPr txBox="1"/>
          <p:nvPr/>
        </p:nvSpPr>
        <p:spPr>
          <a:xfrm>
            <a:off x="7838236" y="3567338"/>
            <a:ext cx="3347892"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The two functions are not independent. Taking the expectation of q over the actions chosen by the policy gives back v; conversely, a one-step lookahead on v gives q.</a:t>
            </a:r>
          </a:p>
        </p:txBody>
      </p:sp>
      <p:sp>
        <p:nvSpPr>
          <p:cNvPr id="19" name="Rectangle 18"/>
          <p:cNvSpPr/>
          <p:nvPr/>
        </p:nvSpPr>
        <p:spPr>
          <a:xfrm>
            <a:off x="7618780" y="4801778"/>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7618780" y="4801778"/>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838236" y="4948082"/>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THE COST OF THAT CONVENIENCE</a:t>
            </a:r>
          </a:p>
        </p:txBody>
      </p:sp>
      <p:sp>
        <p:nvSpPr>
          <p:cNvPr id="22" name="TextBox 21"/>
          <p:cNvSpPr txBox="1"/>
          <p:nvPr/>
        </p:nvSpPr>
        <p:spPr>
          <a:xfrm>
            <a:off x="7838236" y="5185826"/>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A table of v has |𝒮| entries. A table of q has |𝒮|·|𝒜| entries</a:t>
            </a:r>
            <a:r>
              <a:rPr lang="it-IT" sz="1045" b="0" i="0" dirty="0">
                <a:solidFill>
                  <a:srgbClr val="333639"/>
                </a:solidFill>
                <a:latin typeface="Fira Sans"/>
              </a:rPr>
              <a:t>, </a:t>
            </a:r>
            <a:r>
              <a:rPr sz="1045" b="0" i="0" dirty="0">
                <a:solidFill>
                  <a:srgbClr val="333639"/>
                </a:solidFill>
                <a:latin typeface="Fira Sans"/>
              </a:rPr>
              <a:t>four times larger on Frozen Lake. The extra storage buys model-free decisions.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021"/>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III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Optimality</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An ordering over policies, the value functions that the best policies share, and the non-linear equations those functions satisfy.</a:t>
            </a:r>
          </a:p>
        </p:txBody>
      </p:sp>
      <p:sp>
        <p:nvSpPr>
          <p:cNvPr id="7" name="Rectangle 6"/>
          <p:cNvSpPr/>
          <p:nvPr/>
        </p:nvSpPr>
        <p:spPr>
          <a:xfrm>
            <a:off x="859535" y="4956048"/>
            <a:ext cx="51914"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What changes in the Bellman equation when the policy is optimal?</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Comparing policies</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optimal value functions</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From q* to an optimal policy</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The Bellman optimality equations</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Three assumptions, rarely true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3.1  COMPARING POLICIES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Value functions give an ordering</a:t>
            </a:r>
            <a:r>
              <a:rPr lang="it-IT" sz="2162" b="1" i="0" dirty="0">
                <a:solidFill>
                  <a:srgbClr val="25282A"/>
                </a:solidFill>
                <a:latin typeface="Roboto Slab"/>
              </a:rPr>
              <a:t>,</a:t>
            </a:r>
            <a:r>
              <a:rPr sz="2162" b="1" i="0" dirty="0">
                <a:solidFill>
                  <a:srgbClr val="25282A"/>
                </a:solidFill>
                <a:latin typeface="Roboto Slab"/>
              </a:rPr>
              <a:t> and the ordering has a maximum</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III — Optimality</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15</a:t>
            </a:r>
          </a:p>
        </p:txBody>
      </p:sp>
      <p:sp>
        <p:nvSpPr>
          <p:cNvPr id="8" name="TextBox 7"/>
          <p:cNvSpPr txBox="1"/>
          <p:nvPr/>
        </p:nvSpPr>
        <p:spPr>
          <a:xfrm>
            <a:off x="841248" y="1316736"/>
            <a:ext cx="6543446"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Value functions let us compare behaviors. One policy is better than or equal to another if its expected return is at least as large </a:t>
            </a:r>
            <a:r>
              <a:rPr sz="1282" b="1" i="0" dirty="0">
                <a:solidFill>
                  <a:srgbClr val="25282A"/>
                </a:solidFill>
                <a:latin typeface="Fira Sans"/>
              </a:rPr>
              <a:t>from every state</a:t>
            </a:r>
            <a:r>
              <a:rPr sz="1282" b="0" i="0" dirty="0">
                <a:solidFill>
                  <a:srgbClr val="333639"/>
                </a:solidFill>
                <a:latin typeface="Fira Sans"/>
              </a:rPr>
              <a:t>, not from the start state only.</a:t>
            </a:r>
          </a:p>
        </p:txBody>
      </p:sp>
      <p:pic>
        <p:nvPicPr>
          <p:cNvPr id="9" name="Picture 8" descr="eq_order.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4128" y="2150379"/>
            <a:ext cx="4893945" cy="341376"/>
          </a:xfrm>
          <a:prstGeom prst="rect">
            <a:avLst/>
          </a:prstGeom>
        </p:spPr>
      </p:pic>
      <p:sp>
        <p:nvSpPr>
          <p:cNvPr id="10" name="TextBox 9"/>
          <p:cNvSpPr txBox="1"/>
          <p:nvPr/>
        </p:nvSpPr>
        <p:spPr>
          <a:xfrm>
            <a:off x="841248" y="2784363"/>
            <a:ext cx="6543446" cy="389839"/>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dirty="0">
                <a:solidFill>
                  <a:srgbClr val="333639"/>
                </a:solidFill>
                <a:latin typeface="Fira Sans"/>
              </a:rPr>
              <a:t>This is a </a:t>
            </a:r>
            <a:r>
              <a:rPr sz="1140" b="1" i="0" dirty="0">
                <a:solidFill>
                  <a:srgbClr val="C8102E"/>
                </a:solidFill>
                <a:latin typeface="Fira Sans"/>
              </a:rPr>
              <a:t>partial</a:t>
            </a:r>
            <a:r>
              <a:rPr sz="1140" b="0" i="0" dirty="0">
                <a:solidFill>
                  <a:srgbClr val="333639"/>
                </a:solidFill>
                <a:latin typeface="Fira Sans"/>
              </a:rPr>
              <a:t> order: two policies, each better in some states and worse in others, are simply not comparable. What is remarkable is that for a finite MDP the order nevertheless has a maximum.</a:t>
            </a:r>
          </a:p>
        </p:txBody>
      </p:sp>
      <p:sp>
        <p:nvSpPr>
          <p:cNvPr id="11" name="Rectangle 10"/>
          <p:cNvSpPr/>
          <p:nvPr/>
        </p:nvSpPr>
        <p:spPr>
          <a:xfrm>
            <a:off x="841248" y="3430234"/>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3649690"/>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THERE IS ALWAYS AT LEAST ONE BEST POLICY</a:t>
            </a:r>
          </a:p>
        </p:txBody>
      </p:sp>
      <p:pic>
        <p:nvPicPr>
          <p:cNvPr id="13" name="Picture 12" descr="eq_pi_star.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4128" y="3942298"/>
            <a:ext cx="1936242" cy="307340"/>
          </a:xfrm>
          <a:prstGeom prst="rect">
            <a:avLst/>
          </a:prstGeom>
        </p:spPr>
      </p:pic>
      <p:sp>
        <p:nvSpPr>
          <p:cNvPr id="14" name="TextBox 13"/>
          <p:cNvSpPr txBox="1"/>
          <p:nvPr/>
        </p:nvSpPr>
        <p:spPr>
          <a:xfrm>
            <a:off x="817185" y="4487382"/>
            <a:ext cx="6543446" cy="566470"/>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lang="en-GB" sz="1140" dirty="0">
                <a:solidFill>
                  <a:srgbClr val="333639"/>
                </a:solidFill>
                <a:latin typeface="Fira Sans"/>
              </a:rPr>
              <a:t>T</a:t>
            </a:r>
            <a:r>
              <a:rPr lang="en-GB" sz="1140" b="0" i="0" noProof="0" dirty="0">
                <a:solidFill>
                  <a:srgbClr val="333639"/>
                </a:solidFill>
                <a:latin typeface="Fira Sans"/>
              </a:rPr>
              <a:t>here always exists at least one policy that is better than or equal to every other policy. Such a policy is called an </a:t>
            </a:r>
            <a:r>
              <a:rPr lang="en-GB" sz="1140" b="1" i="0" noProof="0" dirty="0">
                <a:solidFill>
                  <a:srgbClr val="25282A"/>
                </a:solidFill>
                <a:latin typeface="Fira Sans"/>
              </a:rPr>
              <a:t>optimal policy</a:t>
            </a:r>
            <a:r>
              <a:rPr lang="en-GB" sz="1140" b="0" i="0" noProof="0" dirty="0">
                <a:solidFill>
                  <a:srgbClr val="333639"/>
                </a:solidFill>
                <a:latin typeface="Fira Sans"/>
              </a:rPr>
              <a:t>.</a:t>
            </a:r>
          </a:p>
        </p:txBody>
      </p:sp>
      <p:sp>
        <p:nvSpPr>
          <p:cNvPr id="15" name="Rectangle 14"/>
          <p:cNvSpPr/>
          <p:nvPr/>
        </p:nvSpPr>
        <p:spPr>
          <a:xfrm>
            <a:off x="7618780" y="1316736"/>
            <a:ext cx="3731940" cy="119603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7618780" y="1316736"/>
            <a:ext cx="41148" cy="119603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WHY “FOR EVERY STATE” MATTERS</a:t>
            </a:r>
          </a:p>
        </p:txBody>
      </p:sp>
      <p:sp>
        <p:nvSpPr>
          <p:cNvPr id="18" name="TextBox 17"/>
          <p:cNvSpPr txBox="1"/>
          <p:nvPr/>
        </p:nvSpPr>
        <p:spPr>
          <a:xfrm>
            <a:off x="7838236" y="1700784"/>
            <a:ext cx="33478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“Better in every state” is a demanding requirement, and it is exactly what makes the definition useful: an optimal policy needs no assumption about where the agent starts.</a:t>
            </a:r>
          </a:p>
        </p:txBody>
      </p:sp>
      <p:sp>
        <p:nvSpPr>
          <p:cNvPr id="19" name="TextBox 18"/>
          <p:cNvSpPr txBox="1"/>
          <p:nvPr/>
        </p:nvSpPr>
        <p:spPr>
          <a:xfrm>
            <a:off x="7618780" y="2787091"/>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AN IMPORTANT ASYMMETRY</a:t>
            </a:r>
          </a:p>
        </p:txBody>
      </p:sp>
      <p:sp>
        <p:nvSpPr>
          <p:cNvPr id="20" name="TextBox 19"/>
          <p:cNvSpPr txBox="1"/>
          <p:nvPr/>
        </p:nvSpPr>
        <p:spPr>
          <a:xfrm>
            <a:off x="7618780" y="3043123"/>
            <a:ext cx="3731940" cy="1180876"/>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There may be </a:t>
            </a:r>
            <a:r>
              <a:rPr sz="1092" b="1" i="0">
                <a:solidFill>
                  <a:srgbClr val="25282A"/>
                </a:solidFill>
                <a:latin typeface="Fira Sans"/>
              </a:rPr>
              <a:t>several optimal policies</a:t>
            </a:r>
            <a:r>
              <a:rPr sz="1092" b="0" i="0">
                <a:solidFill>
                  <a:srgbClr val="333639"/>
                </a:solidFill>
                <a:latin typeface="Fira Sans"/>
              </a:rPr>
              <a:t>.</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They all share </a:t>
            </a:r>
            <a:r>
              <a:rPr sz="1092" b="1" i="0">
                <a:solidFill>
                  <a:srgbClr val="574676"/>
                </a:solidFill>
                <a:latin typeface="Fira Sans"/>
              </a:rPr>
              <a:t>the same</a:t>
            </a:r>
            <a:r>
              <a:rPr sz="1092" b="0" i="0">
                <a:solidFill>
                  <a:srgbClr val="333639"/>
                </a:solidFill>
                <a:latin typeface="Fira Sans"/>
              </a:rPr>
              <a:t> optimal state-value function, and the same optimal action-value function.</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So the </a:t>
            </a:r>
            <a:r>
              <a:rPr sz="1092" b="1" i="0">
                <a:solidFill>
                  <a:srgbClr val="25282A"/>
                </a:solidFill>
                <a:latin typeface="Fira Sans"/>
              </a:rPr>
              <a:t>value functions are unique</a:t>
            </a:r>
            <a:r>
              <a:rPr sz="1092" b="0" i="0">
                <a:solidFill>
                  <a:srgbClr val="333639"/>
                </a:solidFill>
                <a:latin typeface="Fira Sans"/>
              </a:rPr>
              <a:t>, while the policy attaining them need not be. This is why we say </a:t>
            </a:r>
            <a:r>
              <a:rPr sz="1092" b="0" i="1">
                <a:solidFill>
                  <a:srgbClr val="333639"/>
                </a:solidFill>
                <a:latin typeface="Fira Sans"/>
              </a:rPr>
              <a:t>“an”</a:t>
            </a:r>
            <a:r>
              <a:rPr sz="1092" b="0" i="0">
                <a:solidFill>
                  <a:srgbClr val="333639"/>
                </a:solidFill>
                <a:latin typeface="Fira Sans"/>
              </a:rPr>
              <a:t> optimal policy but </a:t>
            </a:r>
            <a:r>
              <a:rPr sz="1092" b="0" i="1">
                <a:solidFill>
                  <a:srgbClr val="333639"/>
                </a:solidFill>
                <a:latin typeface="Fira Sans"/>
              </a:rPr>
              <a:t>“the”</a:t>
            </a:r>
            <a:r>
              <a:rPr sz="1092" b="0" i="0">
                <a:solidFill>
                  <a:srgbClr val="333639"/>
                </a:solidFill>
                <a:latin typeface="Fira Sans"/>
              </a:rPr>
              <a:t> optimal value function.</a:t>
            </a:r>
          </a:p>
        </p:txBody>
      </p:sp>
      <p:sp>
        <p:nvSpPr>
          <p:cNvPr id="21" name="Rectangle 20"/>
          <p:cNvSpPr/>
          <p:nvPr/>
        </p:nvSpPr>
        <p:spPr>
          <a:xfrm>
            <a:off x="7618780" y="4498319"/>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618780" y="4498319"/>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838236" y="4644623"/>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WHERE THE MULTIPLICITY COMES FROM</a:t>
            </a:r>
          </a:p>
        </p:txBody>
      </p:sp>
      <p:sp>
        <p:nvSpPr>
          <p:cNvPr id="24" name="TextBox 23"/>
          <p:cNvSpPr txBox="1"/>
          <p:nvPr/>
        </p:nvSpPr>
        <p:spPr>
          <a:xfrm>
            <a:off x="7838236" y="4882367"/>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Ties. If two actions in a state achieve the same maximum value, either choice is optimal and the two resulting policies are different, yet equally good.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3.2  THE OPTIMAL VALUE FUNCTIONS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Take the maximum over policies, state by state and action by action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III — Optimality</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16</a:t>
            </a:r>
          </a:p>
        </p:txBody>
      </p:sp>
      <p:sp>
        <p:nvSpPr>
          <p:cNvPr id="8" name="Rectangle 7"/>
          <p:cNvSpPr/>
          <p:nvPr/>
        </p:nvSpPr>
        <p:spPr>
          <a:xfrm>
            <a:off x="841248" y="1316736"/>
            <a:ext cx="5120640" cy="15727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5120640" cy="3108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24128" y="1481328"/>
            <a:ext cx="4754879" cy="219456"/>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00">
                <a:solidFill>
                  <a:srgbClr val="574676"/>
                </a:solidFill>
                <a:latin typeface="Fira Sans"/>
              </a:rPr>
              <a:t>THE OPTIMAL STATE-VALUE FUNCTION</a:t>
            </a:r>
          </a:p>
        </p:txBody>
      </p:sp>
      <p:pic>
        <p:nvPicPr>
          <p:cNvPr id="11" name="Picture 10" descr="eq_v_star.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8477" y="1792224"/>
            <a:ext cx="3226181" cy="410210"/>
          </a:xfrm>
          <a:prstGeom prst="rect">
            <a:avLst/>
          </a:prstGeom>
        </p:spPr>
      </p:pic>
      <p:sp>
        <p:nvSpPr>
          <p:cNvPr id="12" name="TextBox 11"/>
          <p:cNvSpPr txBox="1"/>
          <p:nvPr/>
        </p:nvSpPr>
        <p:spPr>
          <a:xfrm>
            <a:off x="1024128" y="2359152"/>
            <a:ext cx="4754879" cy="3550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The largest value achievable from each state, over all policies. It says how well the agent can possibly do from here.</a:t>
            </a:r>
          </a:p>
        </p:txBody>
      </p:sp>
      <p:sp>
        <p:nvSpPr>
          <p:cNvPr id="13" name="Rectangle 12"/>
          <p:cNvSpPr/>
          <p:nvPr/>
        </p:nvSpPr>
        <p:spPr>
          <a:xfrm>
            <a:off x="6236207" y="1316736"/>
            <a:ext cx="5120640" cy="15727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6236207" y="1316736"/>
            <a:ext cx="5120640" cy="3108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19088" y="1481328"/>
            <a:ext cx="4754879" cy="219456"/>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00">
                <a:solidFill>
                  <a:srgbClr val="2B7A3E"/>
                </a:solidFill>
                <a:latin typeface="Fira Sans"/>
              </a:rPr>
              <a:t>THE OPTIMAL ACTION-VALUE FUNCTION</a:t>
            </a:r>
          </a:p>
        </p:txBody>
      </p:sp>
      <p:pic>
        <p:nvPicPr>
          <p:cNvPr id="16" name="Picture 15" descr="eq_q_star.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64807" y="1792224"/>
            <a:ext cx="4663440" cy="402428"/>
          </a:xfrm>
          <a:prstGeom prst="rect">
            <a:avLst/>
          </a:prstGeom>
        </p:spPr>
      </p:pic>
      <p:sp>
        <p:nvSpPr>
          <p:cNvPr id="17" name="TextBox 16"/>
          <p:cNvSpPr txBox="1"/>
          <p:nvPr/>
        </p:nvSpPr>
        <p:spPr>
          <a:xfrm>
            <a:off x="6419088" y="2359152"/>
            <a:ext cx="4754879" cy="3550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The largest expected return achievable after committing to action a in state s and behaving optimally thereafter.</a:t>
            </a:r>
          </a:p>
        </p:txBody>
      </p:sp>
      <p:sp>
        <p:nvSpPr>
          <p:cNvPr id="18" name="Rectangle 17"/>
          <p:cNvSpPr/>
          <p:nvPr/>
        </p:nvSpPr>
        <p:spPr>
          <a:xfrm>
            <a:off x="841248" y="310896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41248" y="3346704"/>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TWO FUNCTIONS DETERMINE EACH OTHER</a:t>
            </a:r>
          </a:p>
        </p:txBody>
      </p:sp>
      <p:sp>
        <p:nvSpPr>
          <p:cNvPr id="20" name="TextBox 19"/>
          <p:cNvSpPr txBox="1"/>
          <p:nvPr/>
        </p:nvSpPr>
        <p:spPr>
          <a:xfrm>
            <a:off x="841248" y="3657600"/>
            <a:ext cx="5120640" cy="256032"/>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dirty="0">
                <a:solidFill>
                  <a:srgbClr val="25282A"/>
                </a:solidFill>
                <a:latin typeface="Fira Sans"/>
              </a:rPr>
              <a:t>If we know v*, we recover q*</a:t>
            </a:r>
            <a:r>
              <a:rPr lang="it-IT" sz="1188" b="1" dirty="0">
                <a:solidFill>
                  <a:srgbClr val="25282A"/>
                </a:solidFill>
                <a:latin typeface="Fira Sans"/>
              </a:rPr>
              <a:t>, </a:t>
            </a:r>
            <a:r>
              <a:rPr sz="1188" b="1" i="0" dirty="0">
                <a:solidFill>
                  <a:srgbClr val="25282A"/>
                </a:solidFill>
                <a:latin typeface="Fira Sans"/>
              </a:rPr>
              <a:t>but only with the model</a:t>
            </a:r>
          </a:p>
        </p:txBody>
      </p:sp>
      <p:pic>
        <p:nvPicPr>
          <p:cNvPr id="21" name="Picture 20" descr="eq_q_from_v.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4128" y="4041648"/>
            <a:ext cx="5222240" cy="317500"/>
          </a:xfrm>
          <a:prstGeom prst="rect">
            <a:avLst/>
          </a:prstGeom>
        </p:spPr>
      </p:pic>
      <p:sp>
        <p:nvSpPr>
          <p:cNvPr id="22" name="TextBox 21"/>
          <p:cNvSpPr txBox="1"/>
          <p:nvPr/>
        </p:nvSpPr>
        <p:spPr>
          <a:xfrm>
            <a:off x="841248" y="4626864"/>
            <a:ext cx="5120640" cy="3550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A one-step lookahead. It needs p(s′, r | s, a) to average over what the action can produce, so a model is still required at decision time.</a:t>
            </a:r>
          </a:p>
        </p:txBody>
      </p:sp>
      <p:sp>
        <p:nvSpPr>
          <p:cNvPr id="23" name="TextBox 22"/>
          <p:cNvSpPr txBox="1"/>
          <p:nvPr/>
        </p:nvSpPr>
        <p:spPr>
          <a:xfrm>
            <a:off x="6236207" y="3657600"/>
            <a:ext cx="5120640" cy="256032"/>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dirty="0">
                <a:solidFill>
                  <a:srgbClr val="25282A"/>
                </a:solidFill>
                <a:latin typeface="Fira Sans"/>
              </a:rPr>
              <a:t>If we know q*, we recover v*</a:t>
            </a:r>
            <a:r>
              <a:rPr lang="it-IT" sz="1188" b="1" i="0" dirty="0">
                <a:solidFill>
                  <a:srgbClr val="25282A"/>
                </a:solidFill>
                <a:latin typeface="Fira Sans"/>
              </a:rPr>
              <a:t>,</a:t>
            </a:r>
            <a:r>
              <a:rPr sz="1188" b="1" i="0" dirty="0">
                <a:solidFill>
                  <a:srgbClr val="25282A"/>
                </a:solidFill>
                <a:latin typeface="Fira Sans"/>
              </a:rPr>
              <a:t> and we need nothing else</a:t>
            </a:r>
          </a:p>
        </p:txBody>
      </p:sp>
      <p:pic>
        <p:nvPicPr>
          <p:cNvPr id="24" name="Picture 23" descr="eq_v_from_q.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19088" y="4041648"/>
            <a:ext cx="2331720" cy="431800"/>
          </a:xfrm>
          <a:prstGeom prst="rect">
            <a:avLst/>
          </a:prstGeom>
        </p:spPr>
      </p:pic>
      <p:sp>
        <p:nvSpPr>
          <p:cNvPr id="25" name="TextBox 24"/>
          <p:cNvSpPr txBox="1"/>
          <p:nvPr/>
        </p:nvSpPr>
        <p:spPr>
          <a:xfrm>
            <a:off x="6236207" y="4626864"/>
            <a:ext cx="5120640" cy="3550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A maximum over the four stored numbers of that state. No model, no lookahead, no search.</a:t>
            </a:r>
          </a:p>
        </p:txBody>
      </p:sp>
      <p:sp>
        <p:nvSpPr>
          <p:cNvPr id="26" name="Rectangle 25"/>
          <p:cNvSpPr/>
          <p:nvPr/>
        </p:nvSpPr>
        <p:spPr>
          <a:xfrm>
            <a:off x="841248" y="5212080"/>
            <a:ext cx="10515600" cy="87782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841248" y="5212080"/>
            <a:ext cx="41148" cy="87782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60704" y="5358384"/>
            <a:ext cx="102229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WHY Q IS THE FUNCTION WE WILL END UP LEARNING</a:t>
            </a:r>
          </a:p>
        </p:txBody>
      </p:sp>
      <p:sp>
        <p:nvSpPr>
          <p:cNvPr id="29" name="TextBox 28"/>
          <p:cNvSpPr txBox="1"/>
          <p:nvPr/>
        </p:nvSpPr>
        <p:spPr>
          <a:xfrm>
            <a:off x="1060704" y="5596128"/>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dirty="0">
                <a:solidFill>
                  <a:srgbClr val="333639"/>
                </a:solidFill>
                <a:latin typeface="Fira Sans"/>
              </a:rPr>
              <a:t>This asymmetry is the reason the action-value function is central to reinforcement learning. Reading an optimal action off q* requires </a:t>
            </a:r>
            <a:r>
              <a:rPr sz="1140" b="1" i="0" dirty="0">
                <a:solidFill>
                  <a:srgbClr val="333639"/>
                </a:solidFill>
                <a:latin typeface="Fira Sans"/>
              </a:rPr>
              <a:t>neither a model of the environment nor any lookahead</a:t>
            </a:r>
            <a:r>
              <a:rPr sz="1140" b="0" i="0" dirty="0">
                <a:solidFill>
                  <a:srgbClr val="333639"/>
                </a:solidFill>
                <a:latin typeface="Fira Sans"/>
              </a:rPr>
              <a:t> which is exactly the situation of an agent that must learn from experience.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3.3  FROM THE OPTIMAL VALUES TO AN OPTIMAL POLICY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Acting optimally is a maximum, not a search</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III — Optimality</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17</a:t>
            </a:r>
          </a:p>
        </p:txBody>
      </p:sp>
      <p:sp>
        <p:nvSpPr>
          <p:cNvPr id="8" name="TextBox 7"/>
          <p:cNvSpPr txBox="1"/>
          <p:nvPr/>
        </p:nvSpPr>
        <p:spPr>
          <a:xfrm>
            <a:off x="841248" y="1316736"/>
            <a:ext cx="6543446"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An optimal policy is obtained directly by selecting, in every state, an action that </a:t>
            </a:r>
            <a:r>
              <a:rPr sz="1282" b="0" i="0" dirty="0" err="1">
                <a:solidFill>
                  <a:srgbClr val="333639"/>
                </a:solidFill>
                <a:latin typeface="Fira Sans"/>
              </a:rPr>
              <a:t>maximises</a:t>
            </a:r>
            <a:r>
              <a:rPr sz="1282" b="0" i="0" dirty="0">
                <a:solidFill>
                  <a:srgbClr val="333639"/>
                </a:solidFill>
                <a:latin typeface="Fira Sans"/>
              </a:rPr>
              <a:t> the optimal action-value function. No planning, no rollouts, no lookahead just an </a:t>
            </a:r>
            <a:r>
              <a:rPr sz="1282" b="1" i="0" dirty="0">
                <a:solidFill>
                  <a:srgbClr val="25282A"/>
                </a:solidFill>
                <a:latin typeface="Fira Sans"/>
              </a:rPr>
              <a:t>argmax over the actions of that state</a:t>
            </a:r>
            <a:r>
              <a:rPr sz="1282" b="0" i="0" dirty="0">
                <a:solidFill>
                  <a:srgbClr val="333639"/>
                </a:solidFill>
                <a:latin typeface="Fira Sans"/>
              </a:rPr>
              <a:t>.</a:t>
            </a:r>
          </a:p>
        </p:txBody>
      </p:sp>
      <p:pic>
        <p:nvPicPr>
          <p:cNvPr id="9" name="Picture 8" descr="eq_greedy_q.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168667"/>
            <a:ext cx="3432175" cy="600075"/>
          </a:xfrm>
          <a:prstGeom prst="rect">
            <a:avLst/>
          </a:prstGeom>
        </p:spPr>
      </p:pic>
      <p:sp>
        <p:nvSpPr>
          <p:cNvPr id="10" name="TextBox 9"/>
          <p:cNvSpPr txBox="1"/>
          <p:nvPr/>
        </p:nvSpPr>
        <p:spPr>
          <a:xfrm>
            <a:off x="841248" y="3079638"/>
            <a:ext cx="6543446" cy="566470"/>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a:solidFill>
                  <a:srgbClr val="333639"/>
                </a:solidFill>
                <a:latin typeface="Fira Sans"/>
              </a:rPr>
              <a:t>The membership symbol matters: the argmax may contain several actions, and any of them gives an optimal policy. A </a:t>
            </a:r>
            <a:r>
              <a:rPr sz="1140" b="1" i="0">
                <a:solidFill>
                  <a:srgbClr val="25282A"/>
                </a:solidFill>
                <a:latin typeface="Fira Sans"/>
              </a:rPr>
              <a:t>stochastic</a:t>
            </a:r>
            <a:r>
              <a:rPr sz="1140" b="0" i="0">
                <a:solidFill>
                  <a:srgbClr val="333639"/>
                </a:solidFill>
                <a:latin typeface="Fira Sans"/>
              </a:rPr>
              <a:t> optimal policy may distribute probability freely among the maximising actions, provided it assigns zero probability to all the others.</a:t>
            </a:r>
          </a:p>
        </p:txBody>
      </p:sp>
      <p:sp>
        <p:nvSpPr>
          <p:cNvPr id="11" name="Rectangle 10"/>
          <p:cNvSpPr/>
          <p:nvPr/>
        </p:nvSpPr>
        <p:spPr>
          <a:xfrm>
            <a:off x="841248" y="3902141"/>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121597"/>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THIS IS WHAT MAKES THE WHOLE APPROACH WORTH THE EFFORT</a:t>
            </a:r>
          </a:p>
        </p:txBody>
      </p:sp>
      <p:sp>
        <p:nvSpPr>
          <p:cNvPr id="13" name="TextBox 12"/>
          <p:cNvSpPr txBox="1"/>
          <p:nvPr/>
        </p:nvSpPr>
        <p:spPr>
          <a:xfrm>
            <a:off x="841248" y="4359341"/>
            <a:ext cx="6543446" cy="566470"/>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dirty="0">
                <a:solidFill>
                  <a:srgbClr val="333639"/>
                </a:solidFill>
                <a:latin typeface="Fira Sans"/>
              </a:rPr>
              <a:t>Chapter 02 ended with the problem of finding a good policy among a policy space of size |𝒜| to the power |𝒮|. Here the policy is not searched for at all</a:t>
            </a:r>
            <a:r>
              <a:rPr lang="it-IT" sz="1140" b="0" i="0" dirty="0">
                <a:solidFill>
                  <a:srgbClr val="333639"/>
                </a:solidFill>
                <a:latin typeface="Fira Sans"/>
              </a:rPr>
              <a:t>:</a:t>
            </a:r>
            <a:r>
              <a:rPr sz="1140" b="0" i="0" dirty="0">
                <a:solidFill>
                  <a:srgbClr val="333639"/>
                </a:solidFill>
                <a:latin typeface="Fira Sans"/>
              </a:rPr>
              <a:t> it is </a:t>
            </a:r>
            <a:r>
              <a:rPr sz="1140" b="1" i="0" dirty="0">
                <a:solidFill>
                  <a:srgbClr val="2B7A3E"/>
                </a:solidFill>
                <a:latin typeface="Fira Sans"/>
              </a:rPr>
              <a:t>read off</a:t>
            </a:r>
            <a:r>
              <a:rPr sz="1140" b="0" i="0" dirty="0">
                <a:solidFill>
                  <a:srgbClr val="333639"/>
                </a:solidFill>
                <a:latin typeface="Fira Sans"/>
              </a:rPr>
              <a:t> a table of |𝒮|·|𝒜| numbers. The difficulty has been moved entirely into computing that table, which is what Parts IV to VI do.</a:t>
            </a:r>
          </a:p>
        </p:txBody>
      </p:sp>
      <p:sp>
        <p:nvSpPr>
          <p:cNvPr id="14" name="TextBox 13"/>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dirty="0">
                <a:solidFill>
                  <a:srgbClr val="574676"/>
                </a:solidFill>
                <a:latin typeface="Fira Sans"/>
              </a:rPr>
              <a:t>GREEDY AND WHY IT IS ENOUGH HERE</a:t>
            </a:r>
          </a:p>
        </p:txBody>
      </p:sp>
      <p:sp>
        <p:nvSpPr>
          <p:cNvPr id="15" name="TextBox 14"/>
          <p:cNvSpPr txBox="1"/>
          <p:nvPr/>
        </p:nvSpPr>
        <p:spPr>
          <a:xfrm>
            <a:off x="7618780" y="1572768"/>
            <a:ext cx="3731940" cy="1491528"/>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“Greedy” normally means </a:t>
            </a:r>
            <a:r>
              <a:rPr sz="1092" b="0" i="1">
                <a:solidFill>
                  <a:srgbClr val="333639"/>
                </a:solidFill>
                <a:latin typeface="Fira Sans"/>
              </a:rPr>
              <a:t>short-sighted</a:t>
            </a:r>
            <a:r>
              <a:rPr sz="1092" b="0" i="0">
                <a:solidFill>
                  <a:srgbClr val="333639"/>
                </a:solidFill>
                <a:latin typeface="Fira Sans"/>
              </a:rPr>
              <a:t>: choosing what looks best now, and regretting it later.</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Acting greedily with respect to </a:t>
            </a:r>
            <a:r>
              <a:rPr sz="1092" b="1" i="0">
                <a:solidFill>
                  <a:srgbClr val="25282A"/>
                </a:solidFill>
                <a:latin typeface="Fira Sans"/>
              </a:rPr>
              <a:t>q*</a:t>
            </a:r>
            <a:r>
              <a:rPr sz="1092" b="0" i="0">
                <a:solidFill>
                  <a:srgbClr val="333639"/>
                </a:solidFill>
                <a:latin typeface="Fira Sans"/>
              </a:rPr>
              <a:t> is not short-sighted, because q* already contains the entire discounted future.</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The long-term consequences have been </a:t>
            </a:r>
            <a:r>
              <a:rPr sz="1092" b="1" i="0">
                <a:solidFill>
                  <a:srgbClr val="574676"/>
                </a:solidFill>
                <a:latin typeface="Fira Sans"/>
              </a:rPr>
              <a:t>folded into the numbers</a:t>
            </a:r>
            <a:r>
              <a:rPr sz="1092" b="0" i="0">
                <a:solidFill>
                  <a:srgbClr val="333639"/>
                </a:solidFill>
                <a:latin typeface="Fira Sans"/>
              </a:rPr>
              <a:t> by the Bellman recursion. A one-step maximum is therefore globally optimal.</a:t>
            </a:r>
          </a:p>
        </p:txBody>
      </p:sp>
      <p:sp>
        <p:nvSpPr>
          <p:cNvPr id="16" name="Rectangle 15"/>
          <p:cNvSpPr/>
          <p:nvPr/>
        </p:nvSpPr>
        <p:spPr>
          <a:xfrm>
            <a:off x="7618780" y="3338616"/>
            <a:ext cx="3731940" cy="136245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618780" y="3338616"/>
            <a:ext cx="41148" cy="136245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838236" y="3484920"/>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KEEP THIS</a:t>
            </a:r>
          </a:p>
        </p:txBody>
      </p:sp>
      <p:sp>
        <p:nvSpPr>
          <p:cNvPr id="19" name="TextBox 18"/>
          <p:cNvSpPr txBox="1"/>
          <p:nvPr/>
        </p:nvSpPr>
        <p:spPr>
          <a:xfrm>
            <a:off x="7838236" y="3722664"/>
            <a:ext cx="3347892"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This is the single most useful sentence to remember from Part III: </a:t>
            </a:r>
            <a:r>
              <a:rPr sz="1092" b="1" i="0">
                <a:solidFill>
                  <a:srgbClr val="333639"/>
                </a:solidFill>
                <a:latin typeface="Fira Sans"/>
              </a:rPr>
              <a:t>greedy with respect to the optimal values is optimal</a:t>
            </a:r>
            <a:r>
              <a:rPr sz="1092" b="0" i="0">
                <a:solidFill>
                  <a:srgbClr val="333639"/>
                </a:solidFill>
                <a:latin typeface="Fira Sans"/>
              </a:rPr>
              <a:t>. Every algorithm in this chapter, and most of the course, is an attempt to obtain those values.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3.4  THE BELLMAN OPTIMALITY EQUATIONS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symbol changes, and the equation stops being linear</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III — Optimality</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18</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The optimal value functions satisfy recursions of their own. They are obtained exactly as before, with a single difference: we no longer average over the actions chosen by a policy, because we assume the agent </a:t>
            </a:r>
            <a:r>
              <a:rPr sz="1282" b="1" i="0" dirty="0">
                <a:solidFill>
                  <a:srgbClr val="25282A"/>
                </a:solidFill>
                <a:latin typeface="Fira Sans"/>
              </a:rPr>
              <a:t>behaves optimally</a:t>
            </a:r>
            <a:r>
              <a:rPr lang="it-IT" sz="1282" dirty="0">
                <a:solidFill>
                  <a:srgbClr val="333639"/>
                </a:solidFill>
                <a:latin typeface="Fira Sans"/>
              </a:rPr>
              <a:t>,</a:t>
            </a:r>
            <a:r>
              <a:rPr sz="1282" b="0" i="0" dirty="0">
                <a:solidFill>
                  <a:srgbClr val="333639"/>
                </a:solidFill>
                <a:latin typeface="Fira Sans"/>
              </a:rPr>
              <a:t> so we take the maximum instead.</a:t>
            </a:r>
          </a:p>
        </p:txBody>
      </p:sp>
      <p:pic>
        <p:nvPicPr>
          <p:cNvPr id="9" name="Picture 8" descr="eq_bell_opt_v_ann.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71330" y="1988322"/>
            <a:ext cx="9449307" cy="1195832"/>
          </a:xfrm>
          <a:prstGeom prst="rect">
            <a:avLst/>
          </a:prstGeom>
        </p:spPr>
      </p:pic>
      <p:sp>
        <p:nvSpPr>
          <p:cNvPr id="10" name="TextBox 9"/>
          <p:cNvSpPr txBox="1"/>
          <p:nvPr/>
        </p:nvSpPr>
        <p:spPr>
          <a:xfrm>
            <a:off x="841248" y="3513338"/>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AND FOR THE ACTION-VALUE FUNCTION</a:t>
            </a:r>
          </a:p>
        </p:txBody>
      </p:sp>
      <p:pic>
        <p:nvPicPr>
          <p:cNvPr id="11" name="Picture 10" descr="eq_bell_opt_q.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98504" y="3805946"/>
            <a:ext cx="5394960" cy="713740"/>
          </a:xfrm>
          <a:prstGeom prst="rect">
            <a:avLst/>
          </a:prstGeom>
        </p:spPr>
      </p:pic>
      <p:sp>
        <p:nvSpPr>
          <p:cNvPr id="12" name="Rectangle 11"/>
          <p:cNvSpPr/>
          <p:nvPr/>
        </p:nvSpPr>
        <p:spPr>
          <a:xfrm>
            <a:off x="841248" y="483058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5068326"/>
            <a:ext cx="5120640"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25282A"/>
                </a:solidFill>
                <a:latin typeface="Fira Sans"/>
              </a:rPr>
              <a:t>What the max replaces</a:t>
            </a:r>
          </a:p>
        </p:txBody>
      </p:sp>
      <p:pic>
        <p:nvPicPr>
          <p:cNvPr id="14" name="Picture 13" descr="eq_compare_pi_star.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2688" y="5397510"/>
            <a:ext cx="3899535" cy="761999"/>
          </a:xfrm>
          <a:prstGeom prst="rect">
            <a:avLst/>
          </a:prstGeom>
        </p:spPr>
      </p:pic>
      <p:sp>
        <p:nvSpPr>
          <p:cNvPr id="15" name="TextBox 14"/>
          <p:cNvSpPr txBox="1"/>
          <p:nvPr/>
        </p:nvSpPr>
        <p:spPr>
          <a:xfrm>
            <a:off x="6230112" y="5302920"/>
            <a:ext cx="5120640"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For a fixed policy the Bellman equation is a </a:t>
            </a:r>
            <a:r>
              <a:rPr sz="1092" b="1" i="0" dirty="0">
                <a:solidFill>
                  <a:srgbClr val="574676"/>
                </a:solidFill>
                <a:latin typeface="Fira Sans"/>
              </a:rPr>
              <a:t>linear</a:t>
            </a:r>
            <a:r>
              <a:rPr sz="1092" b="0" i="0" dirty="0">
                <a:solidFill>
                  <a:srgbClr val="333639"/>
                </a:solidFill>
                <a:latin typeface="Fira Sans"/>
              </a:rPr>
              <a:t> system: |𝒮| equations in |𝒮| unknowns, solvable in closed form. Replacing the weighted average by a maximum makes the system </a:t>
            </a:r>
            <a:r>
              <a:rPr sz="1092" b="1" i="0" dirty="0">
                <a:solidFill>
                  <a:srgbClr val="C8102E"/>
                </a:solidFill>
                <a:latin typeface="Fira Sans"/>
              </a:rPr>
              <a:t>non-linear</a:t>
            </a:r>
            <a:r>
              <a:rPr lang="it-IT" sz="1092" dirty="0">
                <a:solidFill>
                  <a:srgbClr val="333639"/>
                </a:solidFill>
                <a:latin typeface="Fira Sans"/>
              </a:rPr>
              <a:t>, </a:t>
            </a:r>
            <a:r>
              <a:rPr sz="1092" b="0" i="0" dirty="0">
                <a:solidFill>
                  <a:srgbClr val="333639"/>
                </a:solidFill>
                <a:latin typeface="Fira Sans"/>
              </a:rPr>
              <a:t>there is no closed-form solution, and this is precisely why value iteration exists.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3.5  THREE ASSUMPTIONS, RARELY TRUE TOGETHER</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The equations can be solved in principle</a:t>
            </a:r>
            <a:r>
              <a:rPr lang="it-IT" sz="2162" b="1" i="0" dirty="0">
                <a:solidFill>
                  <a:srgbClr val="25282A"/>
                </a:solidFill>
                <a:latin typeface="Roboto Slab"/>
              </a:rPr>
              <a:t>, </a:t>
            </a:r>
            <a:r>
              <a:rPr sz="2162" b="1" i="0" dirty="0">
                <a:solidFill>
                  <a:srgbClr val="25282A"/>
                </a:solidFill>
                <a:latin typeface="Roboto Slab"/>
              </a:rPr>
              <a:t>and almost never in practice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III — Optimality</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19</a:t>
            </a:r>
          </a:p>
        </p:txBody>
      </p:sp>
      <p:sp>
        <p:nvSpPr>
          <p:cNvPr id="8" name="TextBox 7"/>
          <p:cNvSpPr txBox="1"/>
          <p:nvPr/>
        </p:nvSpPr>
        <p:spPr>
          <a:xfrm>
            <a:off x="841248" y="1316736"/>
            <a:ext cx="10515600"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For a finite MDP the Bellman optimality equations form a system of non-linear equations, one per state (or per state–action pair). If the dynamics are known, that system </a:t>
            </a:r>
            <a:r>
              <a:rPr sz="1282" b="1" i="0">
                <a:solidFill>
                  <a:srgbClr val="25282A"/>
                </a:solidFill>
                <a:latin typeface="Fira Sans"/>
              </a:rPr>
              <a:t>can in principle be solved</a:t>
            </a:r>
            <a:r>
              <a:rPr sz="1282" b="0" i="0">
                <a:solidFill>
                  <a:srgbClr val="333639"/>
                </a:solidFill>
                <a:latin typeface="Fira Sans"/>
              </a:rPr>
              <a:t>, and an optimal policy follows immediately. That solution rests on three assumptions.</a:t>
            </a:r>
          </a:p>
        </p:txBody>
      </p:sp>
      <p:sp>
        <p:nvSpPr>
          <p:cNvPr id="9" name="Rectangle 8"/>
          <p:cNvSpPr/>
          <p:nvPr/>
        </p:nvSpPr>
        <p:spPr>
          <a:xfrm>
            <a:off x="841248" y="2223531"/>
            <a:ext cx="3346704" cy="221284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2223531"/>
            <a:ext cx="3346704" cy="3108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24128" y="2424699"/>
            <a:ext cx="2980944" cy="365760"/>
          </a:xfrm>
          <a:prstGeom prst="rect">
            <a:avLst/>
          </a:prstGeom>
          <a:noFill/>
        </p:spPr>
        <p:txBody>
          <a:bodyPr wrap="square" lIns="0" tIns="0" rIns="0" bIns="0" anchor="t">
            <a:noAutofit/>
          </a:bodyPr>
          <a:lstStyle/>
          <a:p>
            <a:pPr marL="0" indent="0" algn="l">
              <a:lnSpc>
                <a:spcPts val="2068"/>
              </a:lnSpc>
              <a:spcBef>
                <a:spcPts val="0"/>
              </a:spcBef>
              <a:spcAft>
                <a:spcPts val="0"/>
              </a:spcAft>
              <a:buNone/>
            </a:pPr>
            <a:r>
              <a:rPr sz="2068" b="1" i="0">
                <a:solidFill>
                  <a:srgbClr val="C8102E"/>
                </a:solidFill>
                <a:latin typeface="Roboto Slab"/>
              </a:rPr>
              <a:t>01</a:t>
            </a:r>
          </a:p>
        </p:txBody>
      </p:sp>
      <p:sp>
        <p:nvSpPr>
          <p:cNvPr id="12" name="TextBox 11"/>
          <p:cNvSpPr txBox="1"/>
          <p:nvPr/>
        </p:nvSpPr>
        <p:spPr>
          <a:xfrm>
            <a:off x="1024128" y="2918475"/>
            <a:ext cx="2980944" cy="457200"/>
          </a:xfrm>
          <a:prstGeom prst="rect">
            <a:avLst/>
          </a:prstGeom>
          <a:noFill/>
        </p:spPr>
        <p:txBody>
          <a:bodyPr wrap="square" lIns="0" tIns="0" rIns="0" bIns="0" anchor="t">
            <a:noAutofit/>
          </a:bodyPr>
          <a:lstStyle/>
          <a:p>
            <a:pPr marL="0" indent="0" algn="l">
              <a:lnSpc>
                <a:spcPts val="1383"/>
              </a:lnSpc>
              <a:spcBef>
                <a:spcPts val="0"/>
              </a:spcBef>
              <a:spcAft>
                <a:spcPts val="0"/>
              </a:spcAft>
              <a:buNone/>
            </a:pPr>
            <a:r>
              <a:rPr sz="1235" b="1" i="0">
                <a:solidFill>
                  <a:srgbClr val="25282A"/>
                </a:solidFill>
                <a:latin typeface="Fira Sans"/>
              </a:rPr>
              <a:t>We know the dynamics exactly</a:t>
            </a:r>
          </a:p>
        </p:txBody>
      </p:sp>
      <p:sp>
        <p:nvSpPr>
          <p:cNvPr id="13" name="TextBox 12"/>
          <p:cNvSpPr txBox="1"/>
          <p:nvPr/>
        </p:nvSpPr>
        <p:spPr>
          <a:xfrm>
            <a:off x="1024128" y="3412251"/>
            <a:ext cx="2980944" cy="673608"/>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Not an approximate simulator, not an estimate from data: the exact probabilities and rewards of every transition. For anything beyond a designed toy problem, this is false.</a:t>
            </a:r>
          </a:p>
        </p:txBody>
      </p:sp>
      <p:sp>
        <p:nvSpPr>
          <p:cNvPr id="14" name="Rectangle 13"/>
          <p:cNvSpPr/>
          <p:nvPr/>
        </p:nvSpPr>
        <p:spPr>
          <a:xfrm>
            <a:off x="4425696" y="2223531"/>
            <a:ext cx="3346704" cy="221284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4425696" y="2223531"/>
            <a:ext cx="3346704" cy="31089"/>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608576" y="2424699"/>
            <a:ext cx="2980944" cy="365760"/>
          </a:xfrm>
          <a:prstGeom prst="rect">
            <a:avLst/>
          </a:prstGeom>
          <a:noFill/>
        </p:spPr>
        <p:txBody>
          <a:bodyPr wrap="square" lIns="0" tIns="0" rIns="0" bIns="0" anchor="t">
            <a:noAutofit/>
          </a:bodyPr>
          <a:lstStyle/>
          <a:p>
            <a:pPr marL="0" indent="0" algn="l">
              <a:lnSpc>
                <a:spcPts val="2068"/>
              </a:lnSpc>
              <a:spcBef>
                <a:spcPts val="0"/>
              </a:spcBef>
              <a:spcAft>
                <a:spcPts val="0"/>
              </a:spcAft>
              <a:buNone/>
            </a:pPr>
            <a:r>
              <a:rPr sz="2068" b="1" i="0">
                <a:solidFill>
                  <a:srgbClr val="8A5100"/>
                </a:solidFill>
                <a:latin typeface="Roboto Slab"/>
              </a:rPr>
              <a:t>02</a:t>
            </a:r>
          </a:p>
        </p:txBody>
      </p:sp>
      <p:sp>
        <p:nvSpPr>
          <p:cNvPr id="17" name="TextBox 16"/>
          <p:cNvSpPr txBox="1"/>
          <p:nvPr/>
        </p:nvSpPr>
        <p:spPr>
          <a:xfrm>
            <a:off x="4608576" y="2918475"/>
            <a:ext cx="2980944" cy="457200"/>
          </a:xfrm>
          <a:prstGeom prst="rect">
            <a:avLst/>
          </a:prstGeom>
          <a:noFill/>
        </p:spPr>
        <p:txBody>
          <a:bodyPr wrap="square" lIns="0" tIns="0" rIns="0" bIns="0" anchor="t">
            <a:noAutofit/>
          </a:bodyPr>
          <a:lstStyle/>
          <a:p>
            <a:pPr marL="0" indent="0" algn="l">
              <a:lnSpc>
                <a:spcPts val="1383"/>
              </a:lnSpc>
              <a:spcBef>
                <a:spcPts val="0"/>
              </a:spcBef>
              <a:spcAft>
                <a:spcPts val="0"/>
              </a:spcAft>
              <a:buNone/>
            </a:pPr>
            <a:r>
              <a:rPr sz="1235" b="1" i="0">
                <a:solidFill>
                  <a:srgbClr val="25282A"/>
                </a:solidFill>
                <a:latin typeface="Fira Sans"/>
              </a:rPr>
              <a:t>We can afford the computation</a:t>
            </a:r>
          </a:p>
        </p:txBody>
      </p:sp>
      <p:sp>
        <p:nvSpPr>
          <p:cNvPr id="18" name="TextBox 17"/>
          <p:cNvSpPr txBox="1"/>
          <p:nvPr/>
        </p:nvSpPr>
        <p:spPr>
          <a:xfrm>
            <a:off x="4608576" y="3412251"/>
            <a:ext cx="2980944" cy="673608"/>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One equation per state. The state space of backgammon is about 10²⁰, of Go about 10¹⁷⁰. Enumeration of states is itself impossible long before the equations are.</a:t>
            </a:r>
          </a:p>
        </p:txBody>
      </p:sp>
      <p:sp>
        <p:nvSpPr>
          <p:cNvPr id="19" name="Rectangle 18"/>
          <p:cNvSpPr/>
          <p:nvPr/>
        </p:nvSpPr>
        <p:spPr>
          <a:xfrm>
            <a:off x="8010144" y="2223531"/>
            <a:ext cx="3346704" cy="221284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010144" y="2223531"/>
            <a:ext cx="3346704" cy="3108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193023" y="2424699"/>
            <a:ext cx="2980944" cy="365760"/>
          </a:xfrm>
          <a:prstGeom prst="rect">
            <a:avLst/>
          </a:prstGeom>
          <a:noFill/>
        </p:spPr>
        <p:txBody>
          <a:bodyPr wrap="square" lIns="0" tIns="0" rIns="0" bIns="0" anchor="t">
            <a:noAutofit/>
          </a:bodyPr>
          <a:lstStyle/>
          <a:p>
            <a:pPr marL="0" indent="0" algn="l">
              <a:lnSpc>
                <a:spcPts val="2068"/>
              </a:lnSpc>
              <a:spcBef>
                <a:spcPts val="0"/>
              </a:spcBef>
              <a:spcAft>
                <a:spcPts val="0"/>
              </a:spcAft>
              <a:buNone/>
            </a:pPr>
            <a:r>
              <a:rPr sz="2068" b="1" i="0">
                <a:solidFill>
                  <a:srgbClr val="574676"/>
                </a:solidFill>
                <a:latin typeface="Roboto Slab"/>
              </a:rPr>
              <a:t>03</a:t>
            </a:r>
          </a:p>
        </p:txBody>
      </p:sp>
      <p:sp>
        <p:nvSpPr>
          <p:cNvPr id="22" name="TextBox 21"/>
          <p:cNvSpPr txBox="1"/>
          <p:nvPr/>
        </p:nvSpPr>
        <p:spPr>
          <a:xfrm>
            <a:off x="8193023" y="2918475"/>
            <a:ext cx="2980944" cy="457200"/>
          </a:xfrm>
          <a:prstGeom prst="rect">
            <a:avLst/>
          </a:prstGeom>
          <a:noFill/>
        </p:spPr>
        <p:txBody>
          <a:bodyPr wrap="square" lIns="0" tIns="0" rIns="0" bIns="0" anchor="t">
            <a:noAutofit/>
          </a:bodyPr>
          <a:lstStyle/>
          <a:p>
            <a:pPr marL="0" indent="0" algn="l">
              <a:lnSpc>
                <a:spcPts val="1383"/>
              </a:lnSpc>
              <a:spcBef>
                <a:spcPts val="0"/>
              </a:spcBef>
              <a:spcAft>
                <a:spcPts val="0"/>
              </a:spcAft>
              <a:buNone/>
            </a:pPr>
            <a:r>
              <a:rPr sz="1235" b="1" i="0">
                <a:solidFill>
                  <a:srgbClr val="25282A"/>
                </a:solidFill>
                <a:latin typeface="Fira Sans"/>
              </a:rPr>
              <a:t>The Markov property holds</a:t>
            </a:r>
          </a:p>
        </p:txBody>
      </p:sp>
      <p:sp>
        <p:nvSpPr>
          <p:cNvPr id="23" name="TextBox 22"/>
          <p:cNvSpPr txBox="1"/>
          <p:nvPr/>
        </p:nvSpPr>
        <p:spPr>
          <a:xfrm>
            <a:off x="8193023" y="3412251"/>
            <a:ext cx="2980944" cy="673608"/>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The state must summarise everything relevant about the past. Real observations are partial, noisy and history-dependent, so this is a modelling choice that can fail silently.</a:t>
            </a:r>
          </a:p>
        </p:txBody>
      </p:sp>
      <p:sp>
        <p:nvSpPr>
          <p:cNvPr id="24" name="Rectangle 23"/>
          <p:cNvSpPr/>
          <p:nvPr/>
        </p:nvSpPr>
        <p:spPr>
          <a:xfrm>
            <a:off x="841248" y="4655835"/>
            <a:ext cx="10515600" cy="1051560"/>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841248" y="4655835"/>
            <a:ext cx="41148" cy="10515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060704" y="4802139"/>
            <a:ext cx="102229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WHERE THIS LEAVES US</a:t>
            </a:r>
          </a:p>
        </p:txBody>
      </p:sp>
      <p:sp>
        <p:nvSpPr>
          <p:cNvPr id="27" name="TextBox 26"/>
          <p:cNvSpPr txBox="1"/>
          <p:nvPr/>
        </p:nvSpPr>
        <p:spPr>
          <a:xfrm>
            <a:off x="1060704" y="5039883"/>
            <a:ext cx="10131552" cy="521207"/>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dirty="0">
                <a:solidFill>
                  <a:srgbClr val="333639"/>
                </a:solidFill>
                <a:latin typeface="Fira Sans"/>
              </a:rPr>
              <a:t>Various combinations of these assumptions are violated in every realistic problem, and reinforcement learning is what remains once we accept </a:t>
            </a:r>
            <a:r>
              <a:rPr sz="1140" b="1" i="0" dirty="0">
                <a:solidFill>
                  <a:srgbClr val="333639"/>
                </a:solidFill>
                <a:latin typeface="Fira Sans"/>
              </a:rPr>
              <a:t>approximate solutions</a:t>
            </a:r>
            <a:r>
              <a:rPr sz="1140" b="0" i="0" dirty="0">
                <a:solidFill>
                  <a:srgbClr val="333639"/>
                </a:solidFill>
                <a:latin typeface="Fira Sans"/>
              </a:rPr>
              <a:t>. The rest of this chapter takes all three assumptions at face value deliberately so that the algorithms can be understood before the approximations are introduced.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IV</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Policy evaluation</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dirty="0">
                <a:solidFill>
                  <a:srgbClr val="D6D0E0"/>
                </a:solidFill>
                <a:latin typeface="Fira Sans"/>
              </a:rPr>
              <a:t>The Bellman equation turned into an update rule. Why repeating it converges</a:t>
            </a:r>
            <a:r>
              <a:rPr lang="it-IT" sz="1282" b="0" i="0" dirty="0">
                <a:solidFill>
                  <a:srgbClr val="D6D0E0"/>
                </a:solidFill>
                <a:latin typeface="Fira Sans"/>
              </a:rPr>
              <a:t>,</a:t>
            </a:r>
            <a:r>
              <a:rPr sz="1282" b="0" i="0" dirty="0">
                <a:solidFill>
                  <a:srgbClr val="D6D0E0"/>
                </a:solidFill>
                <a:latin typeface="Fira Sans"/>
              </a:rPr>
              <a:t> a complete proof built on one property of the Bellman operator.</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Why should repeating an approximate update ever reach the exact answer?</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update rule and bootstrapping</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algorithm</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Two policies on Frozen Lake</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The Bellman operator and its fixed point</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Contraction and convergence</a:t>
            </a:r>
          </a:p>
          <a:p>
            <a:pPr marL="0" indent="0" algn="l">
              <a:lnSpc>
                <a:spcPts val="1378"/>
              </a:lnSpc>
              <a:spcBef>
                <a:spcPts val="1300"/>
              </a:spcBef>
              <a:spcAft>
                <a:spcPts val="0"/>
              </a:spcAft>
              <a:buNone/>
            </a:pPr>
            <a:r>
              <a:rPr sz="1188" b="1" i="0">
                <a:solidFill>
                  <a:srgbClr val="B2A7C4"/>
                </a:solidFill>
                <a:latin typeface="Fira Sans"/>
              </a:rPr>
              <a:t>06   </a:t>
            </a:r>
            <a:r>
              <a:rPr sz="1188" b="0" i="0">
                <a:solidFill>
                  <a:srgbClr val="FFFFFF"/>
                </a:solidFill>
                <a:latin typeface="Fira Sans"/>
              </a:rPr>
              <a:t>Stopping in practice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4.1  THE BELLMAN EQUATION AS AN UPDATE RULE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Stop trying to solve it; start applying it repeatedly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IV — Policy evaluation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21</a:t>
            </a:r>
          </a:p>
        </p:txBody>
      </p:sp>
      <p:sp>
        <p:nvSpPr>
          <p:cNvPr id="8" name="TextBox 7"/>
          <p:cNvSpPr txBox="1"/>
          <p:nvPr/>
        </p:nvSpPr>
        <p:spPr>
          <a:xfrm>
            <a:off x="841248" y="1316736"/>
            <a:ext cx="6543446"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We need to evaluate an arbitrary policy more efficiently than by simulating episodes. The trick is to stop reading the Bellman equation as an </a:t>
            </a:r>
            <a:r>
              <a:rPr sz="1282" b="0" i="1">
                <a:solidFill>
                  <a:srgbClr val="333639"/>
                </a:solidFill>
                <a:latin typeface="Fira Sans"/>
              </a:rPr>
              <a:t>identity to be solved</a:t>
            </a:r>
            <a:r>
              <a:rPr sz="1282" b="0" i="0">
                <a:solidFill>
                  <a:srgbClr val="333639"/>
                </a:solidFill>
                <a:latin typeface="Fira Sans"/>
              </a:rPr>
              <a:t> and start reading it as an </a:t>
            </a:r>
            <a:r>
              <a:rPr sz="1282" b="1" i="0">
                <a:solidFill>
                  <a:srgbClr val="25282A"/>
                </a:solidFill>
                <a:latin typeface="Fira Sans"/>
              </a:rPr>
              <a:t>assignment to be repeated</a:t>
            </a:r>
            <a:r>
              <a:rPr sz="1282" b="0" i="0">
                <a:solidFill>
                  <a:srgbClr val="333639"/>
                </a:solidFill>
                <a:latin typeface="Fira Sans"/>
              </a:rPr>
              <a:t>.</a:t>
            </a:r>
          </a:p>
        </p:txBody>
      </p:sp>
      <p:sp>
        <p:nvSpPr>
          <p:cNvPr id="9" name="TextBox 8"/>
          <p:cNvSpPr txBox="1"/>
          <p:nvPr/>
        </p:nvSpPr>
        <p:spPr>
          <a:xfrm>
            <a:off x="841248" y="2168667"/>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dirty="0">
                <a:solidFill>
                  <a:srgbClr val="574676"/>
                </a:solidFill>
                <a:latin typeface="Fira Sans"/>
              </a:rPr>
              <a:t>START ANYWHERE</a:t>
            </a:r>
            <a:r>
              <a:rPr lang="it-IT" sz="931" b="1" i="0" spc="120" dirty="0">
                <a:solidFill>
                  <a:srgbClr val="574676"/>
                </a:solidFill>
                <a:latin typeface="Fira Sans"/>
              </a:rPr>
              <a:t>, </a:t>
            </a:r>
            <a:r>
              <a:rPr sz="931" b="1" i="0" spc="120" dirty="0">
                <a:solidFill>
                  <a:srgbClr val="574676"/>
                </a:solidFill>
                <a:latin typeface="Fira Sans"/>
              </a:rPr>
              <a:t>ZERO IS CONVENIENT</a:t>
            </a:r>
          </a:p>
        </p:txBody>
      </p:sp>
      <p:pic>
        <p:nvPicPr>
          <p:cNvPr id="10" name="Picture 9" descr="eq_v0.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442987"/>
            <a:ext cx="2616327" cy="333375"/>
          </a:xfrm>
          <a:prstGeom prst="rect">
            <a:avLst/>
          </a:prstGeom>
        </p:spPr>
      </p:pic>
      <p:sp>
        <p:nvSpPr>
          <p:cNvPr id="11" name="TextBox 10"/>
          <p:cNvSpPr txBox="1"/>
          <p:nvPr/>
        </p:nvSpPr>
        <p:spPr>
          <a:xfrm>
            <a:off x="841248" y="3032394"/>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THEN REPEAT, FOR EVERY STATE, UNTIL NOTHING CHANGES</a:t>
            </a:r>
          </a:p>
        </p:txBody>
      </p:sp>
      <p:pic>
        <p:nvPicPr>
          <p:cNvPr id="12" name="Picture 11" descr="eq_pe_update_an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6968" y="3325002"/>
            <a:ext cx="6452006" cy="655708"/>
          </a:xfrm>
          <a:prstGeom prst="rect">
            <a:avLst/>
          </a:prstGeom>
        </p:spPr>
      </p:pic>
      <p:sp>
        <p:nvSpPr>
          <p:cNvPr id="13" name="TextBox 12"/>
          <p:cNvSpPr txBox="1"/>
          <p:nvPr/>
        </p:nvSpPr>
        <p:spPr>
          <a:xfrm>
            <a:off x="841248" y="4255031"/>
            <a:ext cx="6543446" cy="389839"/>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a:solidFill>
                  <a:srgbClr val="333639"/>
                </a:solidFill>
                <a:latin typeface="Fira Sans"/>
              </a:rPr>
              <a:t>Each iteration is a </a:t>
            </a:r>
            <a:r>
              <a:rPr sz="1140" b="1" i="0">
                <a:solidFill>
                  <a:srgbClr val="25282A"/>
                </a:solidFill>
                <a:latin typeface="Fira Sans"/>
              </a:rPr>
              <a:t>sweep</a:t>
            </a:r>
            <a:r>
              <a:rPr sz="1140" b="0" i="0">
                <a:solidFill>
                  <a:srgbClr val="333639"/>
                </a:solidFill>
                <a:latin typeface="Fira Sans"/>
              </a:rPr>
              <a:t> through the state space. For every state, the current value is replaced by a new one computed from the immediate rewards and the </a:t>
            </a:r>
            <a:r>
              <a:rPr sz="1140" b="1" i="0">
                <a:solidFill>
                  <a:srgbClr val="C8102E"/>
                </a:solidFill>
                <a:latin typeface="Fira Sans"/>
              </a:rPr>
              <a:t>current estimates</a:t>
            </a:r>
            <a:r>
              <a:rPr sz="1140" b="0" i="0">
                <a:solidFill>
                  <a:srgbClr val="333639"/>
                </a:solidFill>
                <a:latin typeface="Fira Sans"/>
              </a:rPr>
              <a:t> of its successors.</a:t>
            </a:r>
          </a:p>
        </p:txBody>
      </p:sp>
      <p:pic>
        <p:nvPicPr>
          <p:cNvPr id="14" name="Picture 13" descr="eq_pe_seq.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568" y="4864326"/>
            <a:ext cx="3202940" cy="274320"/>
          </a:xfrm>
          <a:prstGeom prst="rect">
            <a:avLst/>
          </a:prstGeom>
        </p:spPr>
      </p:pic>
      <p:sp>
        <p:nvSpPr>
          <p:cNvPr id="15" name="Rectangle 14"/>
          <p:cNvSpPr/>
          <p:nvPr/>
        </p:nvSpPr>
        <p:spPr>
          <a:xfrm>
            <a:off x="7618780" y="1316736"/>
            <a:ext cx="3731940" cy="136245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7618780" y="1316736"/>
            <a:ext cx="41148" cy="136245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BOOTSTRAPPING</a:t>
            </a:r>
          </a:p>
        </p:txBody>
      </p:sp>
      <p:sp>
        <p:nvSpPr>
          <p:cNvPr id="18" name="TextBox 17"/>
          <p:cNvSpPr txBox="1"/>
          <p:nvPr/>
        </p:nvSpPr>
        <p:spPr>
          <a:xfrm>
            <a:off x="7838236" y="1700784"/>
            <a:ext cx="3347892"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The new value of a state is computed from other </a:t>
            </a:r>
            <a:r>
              <a:rPr sz="1092" b="1" i="0" dirty="0">
                <a:solidFill>
                  <a:srgbClr val="333639"/>
                </a:solidFill>
                <a:latin typeface="Fira Sans"/>
              </a:rPr>
              <a:t>estimates</a:t>
            </a:r>
            <a:r>
              <a:rPr sz="1092" b="0" i="0" dirty="0">
                <a:solidFill>
                  <a:srgbClr val="333639"/>
                </a:solidFill>
                <a:latin typeface="Fira Sans"/>
              </a:rPr>
              <a:t>, not from ground truth. We improve one approximation using other approximations. This is called </a:t>
            </a:r>
            <a:r>
              <a:rPr sz="1092" b="1" i="0" dirty="0">
                <a:solidFill>
                  <a:srgbClr val="333639"/>
                </a:solidFill>
                <a:latin typeface="Fira Sans"/>
              </a:rPr>
              <a:t>bootstrapping</a:t>
            </a:r>
            <a:r>
              <a:rPr sz="1092" b="0" i="0" dirty="0">
                <a:solidFill>
                  <a:srgbClr val="333639"/>
                </a:solidFill>
                <a:latin typeface="Fira Sans"/>
              </a:rPr>
              <a:t>, and it recurs in every algorithm of this course.</a:t>
            </a:r>
          </a:p>
        </p:txBody>
      </p:sp>
      <p:sp>
        <p:nvSpPr>
          <p:cNvPr id="19" name="TextBox 18"/>
          <p:cNvSpPr txBox="1"/>
          <p:nvPr/>
        </p:nvSpPr>
        <p:spPr>
          <a:xfrm>
            <a:off x="7618780" y="2953511"/>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TWO THINGS K IS NOT</a:t>
            </a:r>
          </a:p>
        </p:txBody>
      </p:sp>
      <p:sp>
        <p:nvSpPr>
          <p:cNvPr id="20" name="TextBox 19"/>
          <p:cNvSpPr txBox="1"/>
          <p:nvPr/>
        </p:nvSpPr>
        <p:spPr>
          <a:xfrm>
            <a:off x="7618780" y="3209544"/>
            <a:ext cx="3731940" cy="1336202"/>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k is </a:t>
            </a:r>
            <a:r>
              <a:rPr sz="1092" b="1" i="0">
                <a:solidFill>
                  <a:srgbClr val="C8102E"/>
                </a:solidFill>
                <a:latin typeface="Fira Sans"/>
              </a:rPr>
              <a:t>not a time step</a:t>
            </a:r>
            <a:r>
              <a:rPr sz="1092" b="0" i="0">
                <a:solidFill>
                  <a:srgbClr val="333639"/>
                </a:solidFill>
                <a:latin typeface="Fira Sans"/>
              </a:rPr>
              <a:t> of the environment. The agent is not acting.</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A sweep is </a:t>
            </a:r>
            <a:r>
              <a:rPr sz="1092" b="1" i="0">
                <a:solidFill>
                  <a:srgbClr val="C8102E"/>
                </a:solidFill>
                <a:latin typeface="Fira Sans"/>
              </a:rPr>
              <a:t>not an episode</a:t>
            </a:r>
            <a:r>
              <a:rPr sz="1092" b="0" i="0">
                <a:solidFill>
                  <a:srgbClr val="333639"/>
                </a:solidFill>
                <a:latin typeface="Fira Sans"/>
              </a:rPr>
              <a:t>. No trajectory is generated, no reward is collected.</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k counts </a:t>
            </a:r>
            <a:r>
              <a:rPr sz="1092" b="1" i="0">
                <a:solidFill>
                  <a:srgbClr val="25282A"/>
                </a:solidFill>
                <a:latin typeface="Fira Sans"/>
              </a:rPr>
              <a:t>iterations of a computation</a:t>
            </a:r>
            <a:r>
              <a:rPr sz="1092" b="0" i="0">
                <a:solidFill>
                  <a:srgbClr val="333639"/>
                </a:solidFill>
                <a:latin typeface="Fira Sans"/>
              </a:rPr>
              <a:t> performed on the known model. Confusing the two is the most common misunderstanding of this chapter.</a:t>
            </a:r>
          </a:p>
        </p:txBody>
      </p:sp>
      <p:sp>
        <p:nvSpPr>
          <p:cNvPr id="21" name="Rectangle 20"/>
          <p:cNvSpPr/>
          <p:nvPr/>
        </p:nvSpPr>
        <p:spPr>
          <a:xfrm>
            <a:off x="7618780" y="4801778"/>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618780" y="4801778"/>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838236" y="4948082"/>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THE Q VERSION</a:t>
            </a:r>
          </a:p>
        </p:txBody>
      </p:sp>
      <p:sp>
        <p:nvSpPr>
          <p:cNvPr id="24" name="TextBox 23"/>
          <p:cNvSpPr txBox="1"/>
          <p:nvPr/>
        </p:nvSpPr>
        <p:spPr>
          <a:xfrm>
            <a:off x="7838236" y="5185826"/>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The same iterative idea applies to the action-value function; only the update changes. It is written out in the notes, and used from Chapter 05 onwards.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4.2  WHAT A SWEEP ACTUALLY DOES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Each sweep pushes the influence of reward one step further back</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IV — Policy evaluation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22</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Initially every state is worth zero, so the first sweep can only discover the states from which a reward is collected immediately. The second sweep reaches the states one step away from those, and so on: information about reward </a:t>
            </a:r>
            <a:r>
              <a:rPr sz="1282" b="1" i="0">
                <a:solidFill>
                  <a:srgbClr val="25282A"/>
                </a:solidFill>
                <a:latin typeface="Fira Sans"/>
              </a:rPr>
              <a:t>propagates backwards, one step per sweep</a:t>
            </a:r>
            <a:r>
              <a:rPr sz="1282" b="0" i="0">
                <a:solidFill>
                  <a:srgbClr val="333639"/>
                </a:solidFill>
                <a:latin typeface="Fira Sans"/>
              </a:rPr>
              <a:t>.</a:t>
            </a:r>
          </a:p>
        </p:txBody>
      </p:sp>
      <p:pic>
        <p:nvPicPr>
          <p:cNvPr id="9" name="Picture 8" descr="sweeps.png"/>
          <p:cNvPicPr>
            <a:picLocks noChangeAspect="1"/>
          </p:cNvPicPr>
          <p:nvPr/>
        </p:nvPicPr>
        <p:blipFill>
          <a:blip r:embed="rId2"/>
          <a:stretch>
            <a:fillRect/>
          </a:stretch>
        </p:blipFill>
        <p:spPr>
          <a:xfrm>
            <a:off x="1741977" y="1951746"/>
            <a:ext cx="8714141" cy="2377440"/>
          </a:xfrm>
          <a:prstGeom prst="rect">
            <a:avLst/>
          </a:prstGeom>
        </p:spPr>
      </p:pic>
      <p:sp>
        <p:nvSpPr>
          <p:cNvPr id="10" name="TextBox 9"/>
          <p:cNvSpPr txBox="1"/>
          <p:nvPr/>
        </p:nvSpPr>
        <p:spPr>
          <a:xfrm>
            <a:off x="841248" y="4438914"/>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a:solidFill>
                  <a:srgbClr val="626669"/>
                </a:solidFill>
                <a:latin typeface="Fira Sans"/>
              </a:rPr>
              <a:t>A 3×3 illustration. The +1 at the goal appears after one sweep; after three sweeps the influence has reached most of the grid; after k sweeps every state has a consistent value.</a:t>
            </a:r>
          </a:p>
        </p:txBody>
      </p:sp>
      <p:sp>
        <p:nvSpPr>
          <p:cNvPr id="11" name="Rectangle 10"/>
          <p:cNvSpPr/>
          <p:nvPr/>
        </p:nvSpPr>
        <p:spPr>
          <a:xfrm>
            <a:off x="841248" y="4830582"/>
            <a:ext cx="334670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976886"/>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Convergence is in the limit</a:t>
            </a:r>
          </a:p>
        </p:txBody>
      </p:sp>
      <p:sp>
        <p:nvSpPr>
          <p:cNvPr id="13" name="TextBox 12"/>
          <p:cNvSpPr txBox="1"/>
          <p:nvPr/>
        </p:nvSpPr>
        <p:spPr>
          <a:xfrm>
            <a:off x="841248" y="5269494"/>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Formally the sequence converges only as k → ∞. In practice the values stop changing appreciably long before that, and we stop.</a:t>
            </a:r>
          </a:p>
        </p:txBody>
      </p:sp>
      <p:sp>
        <p:nvSpPr>
          <p:cNvPr id="14" name="Rectangle 13"/>
          <p:cNvSpPr/>
          <p:nvPr/>
        </p:nvSpPr>
        <p:spPr>
          <a:xfrm>
            <a:off x="4425696" y="4830582"/>
            <a:ext cx="3346704"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425696" y="4976886"/>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The order of updates is free</a:t>
            </a:r>
          </a:p>
        </p:txBody>
      </p:sp>
      <p:sp>
        <p:nvSpPr>
          <p:cNvPr id="16" name="TextBox 15"/>
          <p:cNvSpPr txBox="1"/>
          <p:nvPr/>
        </p:nvSpPr>
        <p:spPr>
          <a:xfrm>
            <a:off x="4425696" y="5269494"/>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This version computes a whole new array from the old one. Updating in place, using new values as soon as they exist, also converges</a:t>
            </a:r>
            <a:r>
              <a:rPr lang="it-IT" sz="1045" b="0" i="0" dirty="0">
                <a:solidFill>
                  <a:srgbClr val="626669"/>
                </a:solidFill>
                <a:latin typeface="Fira Sans"/>
              </a:rPr>
              <a:t>, </a:t>
            </a:r>
            <a:r>
              <a:rPr sz="1045" b="0" i="0" dirty="0">
                <a:solidFill>
                  <a:srgbClr val="626669"/>
                </a:solidFill>
                <a:latin typeface="Fira Sans"/>
              </a:rPr>
              <a:t>usually faster.</a:t>
            </a:r>
          </a:p>
        </p:txBody>
      </p:sp>
      <p:sp>
        <p:nvSpPr>
          <p:cNvPr id="17" name="Rectangle 16"/>
          <p:cNvSpPr/>
          <p:nvPr/>
        </p:nvSpPr>
        <p:spPr>
          <a:xfrm>
            <a:off x="8010144" y="4830582"/>
            <a:ext cx="3346704"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010144" y="4976886"/>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γ controls how far information travels</a:t>
            </a:r>
          </a:p>
        </p:txBody>
      </p:sp>
      <p:sp>
        <p:nvSpPr>
          <p:cNvPr id="19" name="TextBox 18"/>
          <p:cNvSpPr txBox="1"/>
          <p:nvPr/>
        </p:nvSpPr>
        <p:spPr>
          <a:xfrm>
            <a:off x="8010144" y="5269494"/>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Each backward step multiplies the contribution by γ. A small γ makes distant rewards irrelevant and the sweep sequence terminate sooner.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4.3  ITERATIVE POLICY EVALUATION IN PYTHON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update rule, one sweep at a time, for a deterministic policy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IV — Policy evaluation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23</a:t>
            </a:r>
          </a:p>
        </p:txBody>
      </p:sp>
      <p:sp>
        <p:nvSpPr>
          <p:cNvPr id="8" name="Rectangle 7"/>
          <p:cNvSpPr/>
          <p:nvPr/>
        </p:nvSpPr>
        <p:spPr>
          <a:xfrm>
            <a:off x="841248" y="1316736"/>
            <a:ext cx="7223760" cy="4885436"/>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41148" cy="488543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24128" y="1399032"/>
            <a:ext cx="685800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policy_evaluation</a:t>
            </a:r>
          </a:p>
        </p:txBody>
      </p:sp>
      <p:sp>
        <p:nvSpPr>
          <p:cNvPr id="11" name="TextBox 10"/>
          <p:cNvSpPr txBox="1"/>
          <p:nvPr/>
        </p:nvSpPr>
        <p:spPr>
          <a:xfrm>
            <a:off x="1152144" y="1682496"/>
            <a:ext cx="6912864" cy="4428236"/>
          </a:xfrm>
          <a:prstGeom prst="rect">
            <a:avLst/>
          </a:prstGeom>
          <a:noFill/>
        </p:spPr>
        <p:txBody>
          <a:bodyPr wrap="none" lIns="0" tIns="0" rIns="0" bIns="0" anchor="t">
            <a:noAutofit/>
          </a:bodyPr>
          <a:lstStyle/>
          <a:p>
            <a:pPr marL="0" indent="0" algn="l">
              <a:lnSpc>
                <a:spcPts val="1235"/>
              </a:lnSpc>
              <a:spcBef>
                <a:spcPts val="0"/>
              </a:spcBef>
              <a:spcAft>
                <a:spcPts val="0"/>
              </a:spcAft>
              <a:buNone/>
            </a:pPr>
            <a:r>
              <a:rPr sz="950" b="0" i="0" dirty="0">
                <a:solidFill>
                  <a:srgbClr val="1F2A37"/>
                </a:solidFill>
                <a:latin typeface="Consolas"/>
              </a:rPr>
              <a:t>def </a:t>
            </a:r>
            <a:r>
              <a:rPr sz="950" b="0" i="0" dirty="0" err="1">
                <a:solidFill>
                  <a:srgbClr val="1F2A37"/>
                </a:solidFill>
                <a:latin typeface="Consolas"/>
              </a:rPr>
              <a:t>policy_evaluation</a:t>
            </a:r>
            <a:r>
              <a:rPr sz="950" b="0" i="0" dirty="0">
                <a:solidFill>
                  <a:srgbClr val="1F2A37"/>
                </a:solidFill>
                <a:latin typeface="Consolas"/>
              </a:rPr>
              <a:t>(pi, env, gamma=0.99, theta=1e-10):</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0" i="0" dirty="0">
                <a:solidFill>
                  <a:srgbClr val="1F2A37"/>
                </a:solidFill>
                <a:latin typeface="Consolas"/>
              </a:rPr>
              <a:t>    </a:t>
            </a:r>
            <a:r>
              <a:rPr sz="950" b="0" i="1" dirty="0">
                <a:solidFill>
                  <a:srgbClr val="768896"/>
                </a:solidFill>
                <a:latin typeface="Consolas"/>
              </a:rPr>
              <a:t># DP assumes the complete transition model is known.</a:t>
            </a:r>
          </a:p>
          <a:p>
            <a:pPr marL="0" indent="0" algn="l">
              <a:lnSpc>
                <a:spcPts val="1235"/>
              </a:lnSpc>
              <a:spcBef>
                <a:spcPts val="0"/>
              </a:spcBef>
              <a:spcAft>
                <a:spcPts val="0"/>
              </a:spcAft>
              <a:buNone/>
            </a:pPr>
            <a:r>
              <a:rPr sz="950" b="0" i="0" dirty="0">
                <a:solidFill>
                  <a:srgbClr val="1F2A37"/>
                </a:solidFill>
                <a:latin typeface="Consolas"/>
              </a:rPr>
              <a:t>    dynamics = </a:t>
            </a:r>
            <a:r>
              <a:rPr sz="950" b="0" i="0" dirty="0" err="1">
                <a:solidFill>
                  <a:srgbClr val="1F2A37"/>
                </a:solidFill>
                <a:latin typeface="Consolas"/>
              </a:rPr>
              <a:t>env.unwrapped.P</a:t>
            </a:r>
            <a:endParaRPr sz="950" b="0" i="0" dirty="0">
              <a:solidFill>
                <a:srgbClr val="1F2A37"/>
              </a:solidFill>
              <a:latin typeface="Consolas"/>
            </a:endParaRP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0" i="0" dirty="0">
                <a:solidFill>
                  <a:srgbClr val="1F2A37"/>
                </a:solidFill>
                <a:latin typeface="Consolas"/>
              </a:rPr>
              <a:t>    </a:t>
            </a:r>
            <a:r>
              <a:rPr sz="950" b="0" i="1" dirty="0">
                <a:solidFill>
                  <a:srgbClr val="768896"/>
                </a:solidFill>
                <a:latin typeface="Consolas"/>
              </a:rPr>
              <a:t># Start from an arbitrary initial value function.</a:t>
            </a:r>
          </a:p>
          <a:p>
            <a:pPr marL="0" indent="0" algn="l">
              <a:lnSpc>
                <a:spcPts val="1235"/>
              </a:lnSpc>
              <a:spcBef>
                <a:spcPts val="0"/>
              </a:spcBef>
              <a:spcAft>
                <a:spcPts val="0"/>
              </a:spcAft>
              <a:buNone/>
            </a:pPr>
            <a:r>
              <a:rPr sz="950" b="0" i="0" dirty="0">
                <a:solidFill>
                  <a:srgbClr val="1F2A37"/>
                </a:solidFill>
                <a:latin typeface="Consolas"/>
              </a:rPr>
              <a:t>    </a:t>
            </a:r>
            <a:r>
              <a:rPr sz="950" b="0" i="0" dirty="0" err="1">
                <a:solidFill>
                  <a:srgbClr val="1F2A37"/>
                </a:solidFill>
                <a:latin typeface="Consolas"/>
              </a:rPr>
              <a:t>prev_V</a:t>
            </a:r>
            <a:r>
              <a:rPr sz="950" b="0" i="0" dirty="0">
                <a:solidFill>
                  <a:srgbClr val="1F2A37"/>
                </a:solidFill>
                <a:latin typeface="Consolas"/>
              </a:rPr>
              <a:t> = </a:t>
            </a:r>
            <a:r>
              <a:rPr sz="950" b="0" i="0" dirty="0" err="1">
                <a:solidFill>
                  <a:srgbClr val="1F2A37"/>
                </a:solidFill>
                <a:latin typeface="Consolas"/>
              </a:rPr>
              <a:t>np.zeros</a:t>
            </a:r>
            <a:r>
              <a:rPr sz="950" b="0" i="0" dirty="0">
                <a:solidFill>
                  <a:srgbClr val="1F2A37"/>
                </a:solidFill>
                <a:latin typeface="Consolas"/>
              </a:rPr>
              <a:t>(</a:t>
            </a:r>
            <a:r>
              <a:rPr sz="950" b="0" i="0" dirty="0" err="1">
                <a:solidFill>
                  <a:srgbClr val="1F2A37"/>
                </a:solidFill>
                <a:latin typeface="Consolas"/>
              </a:rPr>
              <a:t>len</a:t>
            </a:r>
            <a:r>
              <a:rPr sz="950" b="0" i="0" dirty="0">
                <a:solidFill>
                  <a:srgbClr val="1F2A37"/>
                </a:solidFill>
                <a:latin typeface="Consolas"/>
              </a:rPr>
              <a:t>(dynamics))</a:t>
            </a:r>
          </a:p>
          <a:p>
            <a:pPr marL="0" indent="0" algn="l">
              <a:lnSpc>
                <a:spcPts val="1235"/>
              </a:lnSpc>
              <a:spcBef>
                <a:spcPts val="0"/>
              </a:spcBef>
              <a:spcAft>
                <a:spcPts val="0"/>
              </a:spcAft>
              <a:buNone/>
            </a:pPr>
            <a:r>
              <a:rPr sz="950" b="0" i="0" dirty="0">
                <a:solidFill>
                  <a:srgbClr val="1F2A37"/>
                </a:solidFill>
                <a:latin typeface="Consolas"/>
              </a:rPr>
              <a:t>    sweeps = 0</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0" i="0" dirty="0">
                <a:solidFill>
                  <a:srgbClr val="1F2A37"/>
                </a:solidFill>
                <a:latin typeface="Consolas"/>
              </a:rPr>
              <a:t>    while True:</a:t>
            </a:r>
          </a:p>
          <a:p>
            <a:pPr marL="0" indent="0" algn="l">
              <a:lnSpc>
                <a:spcPts val="1235"/>
              </a:lnSpc>
              <a:spcBef>
                <a:spcPts val="0"/>
              </a:spcBef>
              <a:spcAft>
                <a:spcPts val="0"/>
              </a:spcAft>
              <a:buNone/>
            </a:pPr>
            <a:r>
              <a:rPr sz="950" b="0" i="0" dirty="0">
                <a:solidFill>
                  <a:srgbClr val="1F2A37"/>
                </a:solidFill>
                <a:latin typeface="Consolas"/>
              </a:rPr>
              <a:t>        V = </a:t>
            </a:r>
            <a:r>
              <a:rPr sz="950" b="0" i="0" dirty="0" err="1">
                <a:solidFill>
                  <a:srgbClr val="1F2A37"/>
                </a:solidFill>
                <a:latin typeface="Consolas"/>
              </a:rPr>
              <a:t>np.zeros</a:t>
            </a:r>
            <a:r>
              <a:rPr sz="950" b="0" i="0" dirty="0">
                <a:solidFill>
                  <a:srgbClr val="1F2A37"/>
                </a:solidFill>
                <a:latin typeface="Consolas"/>
              </a:rPr>
              <a:t>(</a:t>
            </a:r>
            <a:r>
              <a:rPr sz="950" b="0" i="0" dirty="0" err="1">
                <a:solidFill>
                  <a:srgbClr val="1F2A37"/>
                </a:solidFill>
                <a:latin typeface="Consolas"/>
              </a:rPr>
              <a:t>len</a:t>
            </a:r>
            <a:r>
              <a:rPr sz="950" b="0" i="0" dirty="0">
                <a:solidFill>
                  <a:srgbClr val="1F2A37"/>
                </a:solidFill>
                <a:latin typeface="Consolas"/>
              </a:rPr>
              <a:t>(dynamics))</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0" i="0" dirty="0">
                <a:solidFill>
                  <a:srgbClr val="1F2A37"/>
                </a:solidFill>
                <a:latin typeface="Consolas"/>
              </a:rPr>
              <a:t>        for s in range(</a:t>
            </a:r>
            <a:r>
              <a:rPr sz="950" b="0" i="0" dirty="0" err="1">
                <a:solidFill>
                  <a:srgbClr val="1F2A37"/>
                </a:solidFill>
                <a:latin typeface="Consolas"/>
              </a:rPr>
              <a:t>len</a:t>
            </a:r>
            <a:r>
              <a:rPr sz="950" b="0" i="0" dirty="0">
                <a:solidFill>
                  <a:srgbClr val="1F2A37"/>
                </a:solidFill>
                <a:latin typeface="Consolas"/>
              </a:rPr>
              <a:t>(dynamics)):          </a:t>
            </a:r>
            <a:r>
              <a:rPr sz="950" b="0" i="1" dirty="0">
                <a:solidFill>
                  <a:srgbClr val="768896"/>
                </a:solidFill>
                <a:latin typeface="Consolas"/>
              </a:rPr>
              <a:t># one complete sweep</a:t>
            </a:r>
          </a:p>
          <a:p>
            <a:pPr marL="0" indent="0" algn="l">
              <a:lnSpc>
                <a:spcPts val="1235"/>
              </a:lnSpc>
              <a:spcBef>
                <a:spcPts val="0"/>
              </a:spcBef>
              <a:spcAft>
                <a:spcPts val="0"/>
              </a:spcAft>
              <a:buNone/>
            </a:pPr>
            <a:r>
              <a:rPr sz="950" b="0" i="0" dirty="0">
                <a:solidFill>
                  <a:srgbClr val="1F2A37"/>
                </a:solidFill>
                <a:latin typeface="Consolas"/>
              </a:rPr>
              <a:t>            action = pi(s)                      </a:t>
            </a:r>
            <a:r>
              <a:rPr sz="950" b="0" i="1" dirty="0">
                <a:solidFill>
                  <a:srgbClr val="768896"/>
                </a:solidFill>
                <a:latin typeface="Consolas"/>
              </a:rPr>
              <a:t># deterministic policy</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0" i="0" dirty="0">
                <a:solidFill>
                  <a:srgbClr val="1F2A37"/>
                </a:solidFill>
                <a:latin typeface="Consolas"/>
              </a:rPr>
              <a:t>            for prob, </a:t>
            </a:r>
            <a:r>
              <a:rPr sz="950" b="0" i="0" dirty="0" err="1">
                <a:solidFill>
                  <a:srgbClr val="1F2A37"/>
                </a:solidFill>
                <a:latin typeface="Consolas"/>
              </a:rPr>
              <a:t>next_state</a:t>
            </a:r>
            <a:r>
              <a:rPr sz="950" b="0" i="0" dirty="0">
                <a:solidFill>
                  <a:srgbClr val="1F2A37"/>
                </a:solidFill>
                <a:latin typeface="Consolas"/>
              </a:rPr>
              <a:t>, reward, done in dynamics[s][action]:</a:t>
            </a:r>
          </a:p>
          <a:p>
            <a:pPr marL="0" indent="0" algn="l">
              <a:lnSpc>
                <a:spcPts val="1235"/>
              </a:lnSpc>
              <a:spcBef>
                <a:spcPts val="0"/>
              </a:spcBef>
              <a:spcAft>
                <a:spcPts val="0"/>
              </a:spcAft>
              <a:buNone/>
            </a:pPr>
            <a:r>
              <a:rPr sz="950" b="0" i="0" dirty="0">
                <a:solidFill>
                  <a:srgbClr val="1F2A37"/>
                </a:solidFill>
                <a:latin typeface="Consolas"/>
              </a:rPr>
              <a:t>                </a:t>
            </a:r>
            <a:r>
              <a:rPr sz="950" b="0" i="1" dirty="0">
                <a:solidFill>
                  <a:srgbClr val="768896"/>
                </a:solidFill>
                <a:latin typeface="Consolas"/>
              </a:rPr>
              <a:t># expected immediate reward + discounted successor value;</a:t>
            </a:r>
          </a:p>
          <a:p>
            <a:pPr marL="0" indent="0" algn="l">
              <a:lnSpc>
                <a:spcPts val="1235"/>
              </a:lnSpc>
              <a:spcBef>
                <a:spcPts val="0"/>
              </a:spcBef>
              <a:spcAft>
                <a:spcPts val="0"/>
              </a:spcAft>
              <a:buNone/>
            </a:pPr>
            <a:r>
              <a:rPr sz="950" b="0" i="0" dirty="0">
                <a:solidFill>
                  <a:srgbClr val="1F2A37"/>
                </a:solidFill>
                <a:latin typeface="Consolas"/>
              </a:rPr>
              <a:t>                </a:t>
            </a:r>
            <a:r>
              <a:rPr sz="950" b="0" i="1" dirty="0">
                <a:solidFill>
                  <a:srgbClr val="768896"/>
                </a:solidFill>
                <a:latin typeface="Consolas"/>
              </a:rPr>
              <a:t># a terminal transition contributes no future value</a:t>
            </a:r>
          </a:p>
          <a:p>
            <a:pPr marL="0" indent="0" algn="l">
              <a:lnSpc>
                <a:spcPts val="1235"/>
              </a:lnSpc>
              <a:spcBef>
                <a:spcPts val="0"/>
              </a:spcBef>
              <a:spcAft>
                <a:spcPts val="0"/>
              </a:spcAft>
              <a:buNone/>
            </a:pPr>
            <a:r>
              <a:rPr sz="950" b="1" i="0" dirty="0">
                <a:solidFill>
                  <a:srgbClr val="574676"/>
                </a:solidFill>
                <a:latin typeface="Consolas"/>
              </a:rPr>
              <a:t>                continuation = 0.0 if done else gamma * </a:t>
            </a:r>
            <a:r>
              <a:rPr sz="950" b="1" i="0" dirty="0" err="1">
                <a:solidFill>
                  <a:srgbClr val="574676"/>
                </a:solidFill>
                <a:latin typeface="Consolas"/>
              </a:rPr>
              <a:t>prev_V</a:t>
            </a:r>
            <a:r>
              <a:rPr sz="950" b="1" i="0" dirty="0">
                <a:solidFill>
                  <a:srgbClr val="574676"/>
                </a:solidFill>
                <a:latin typeface="Consolas"/>
              </a:rPr>
              <a:t>[</a:t>
            </a:r>
            <a:r>
              <a:rPr sz="950" b="1" i="0" dirty="0" err="1">
                <a:solidFill>
                  <a:srgbClr val="574676"/>
                </a:solidFill>
                <a:latin typeface="Consolas"/>
              </a:rPr>
              <a:t>next_state</a:t>
            </a:r>
            <a:r>
              <a:rPr sz="950" b="1" i="0" dirty="0">
                <a:solidFill>
                  <a:srgbClr val="574676"/>
                </a:solidFill>
                <a:latin typeface="Consolas"/>
              </a:rPr>
              <a:t>]</a:t>
            </a:r>
          </a:p>
          <a:p>
            <a:pPr marL="0" indent="0" algn="l">
              <a:lnSpc>
                <a:spcPts val="1235"/>
              </a:lnSpc>
              <a:spcBef>
                <a:spcPts val="0"/>
              </a:spcBef>
              <a:spcAft>
                <a:spcPts val="0"/>
              </a:spcAft>
              <a:buNone/>
            </a:pPr>
            <a:r>
              <a:rPr sz="950" b="1" i="0" dirty="0">
                <a:solidFill>
                  <a:srgbClr val="574676"/>
                </a:solidFill>
                <a:latin typeface="Consolas"/>
              </a:rPr>
              <a:t>                V[s] += prob * (reward + continuation)</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0" i="0" dirty="0">
                <a:solidFill>
                  <a:srgbClr val="1F2A37"/>
                </a:solidFill>
                <a:latin typeface="Consolas"/>
              </a:rPr>
              <a:t>        sweeps += 1</a:t>
            </a:r>
          </a:p>
          <a:p>
            <a:pPr marL="0" indent="0" algn="l">
              <a:lnSpc>
                <a:spcPts val="1235"/>
              </a:lnSpc>
              <a:spcBef>
                <a:spcPts val="0"/>
              </a:spcBef>
              <a:spcAft>
                <a:spcPts val="0"/>
              </a:spcAft>
              <a:buNone/>
            </a:pPr>
            <a:r>
              <a:rPr sz="950" b="1" i="0" dirty="0">
                <a:solidFill>
                  <a:srgbClr val="574676"/>
                </a:solidFill>
                <a:latin typeface="Consolas"/>
              </a:rPr>
              <a:t>        delta = </a:t>
            </a:r>
            <a:r>
              <a:rPr sz="950" b="1" i="0" dirty="0" err="1">
                <a:solidFill>
                  <a:srgbClr val="574676"/>
                </a:solidFill>
                <a:latin typeface="Consolas"/>
              </a:rPr>
              <a:t>np.max</a:t>
            </a:r>
            <a:r>
              <a:rPr sz="950" b="1" i="0" dirty="0">
                <a:solidFill>
                  <a:srgbClr val="574676"/>
                </a:solidFill>
                <a:latin typeface="Consolas"/>
              </a:rPr>
              <a:t>(</a:t>
            </a:r>
            <a:r>
              <a:rPr sz="950" b="1" i="0" dirty="0" err="1">
                <a:solidFill>
                  <a:srgbClr val="574676"/>
                </a:solidFill>
                <a:latin typeface="Consolas"/>
              </a:rPr>
              <a:t>np.abs</a:t>
            </a:r>
            <a:r>
              <a:rPr sz="950" b="1" i="0" dirty="0">
                <a:solidFill>
                  <a:srgbClr val="574676"/>
                </a:solidFill>
                <a:latin typeface="Consolas"/>
              </a:rPr>
              <a:t>(V - </a:t>
            </a:r>
            <a:r>
              <a:rPr sz="950" b="1" i="0" dirty="0" err="1">
                <a:solidFill>
                  <a:srgbClr val="574676"/>
                </a:solidFill>
                <a:latin typeface="Consolas"/>
              </a:rPr>
              <a:t>prev_V</a:t>
            </a:r>
            <a:r>
              <a:rPr sz="950" b="1" i="0" dirty="0">
                <a:solidFill>
                  <a:srgbClr val="574676"/>
                </a:solidFill>
                <a:latin typeface="Consolas"/>
              </a:rPr>
              <a:t>))      </a:t>
            </a:r>
            <a:r>
              <a:rPr sz="950" b="0" i="1" dirty="0">
                <a:solidFill>
                  <a:srgbClr val="768896"/>
                </a:solidFill>
                <a:latin typeface="Consolas"/>
              </a:rPr>
              <a:t># largest change</a:t>
            </a:r>
          </a:p>
          <a:p>
            <a:pPr marL="0" indent="0" algn="l">
              <a:lnSpc>
                <a:spcPts val="1235"/>
              </a:lnSpc>
              <a:spcBef>
                <a:spcPts val="0"/>
              </a:spcBef>
              <a:spcAft>
                <a:spcPts val="0"/>
              </a:spcAft>
              <a:buNone/>
            </a:pPr>
            <a:r>
              <a:rPr sz="950" b="0" i="0" dirty="0">
                <a:solidFill>
                  <a:srgbClr val="1F2A37"/>
                </a:solidFill>
                <a:latin typeface="Consolas"/>
              </a:rPr>
              <a:t>        if delta &lt; theta:</a:t>
            </a:r>
          </a:p>
          <a:p>
            <a:pPr marL="0" indent="0" algn="l">
              <a:lnSpc>
                <a:spcPts val="1235"/>
              </a:lnSpc>
              <a:spcBef>
                <a:spcPts val="0"/>
              </a:spcBef>
              <a:spcAft>
                <a:spcPts val="0"/>
              </a:spcAft>
              <a:buNone/>
            </a:pPr>
            <a:r>
              <a:rPr sz="950" b="0" i="0" dirty="0">
                <a:solidFill>
                  <a:srgbClr val="1F2A37"/>
                </a:solidFill>
                <a:latin typeface="Consolas"/>
              </a:rPr>
              <a:t>            break</a:t>
            </a:r>
          </a:p>
          <a:p>
            <a:pPr marL="0" indent="0" algn="l">
              <a:lnSpc>
                <a:spcPts val="1235"/>
              </a:lnSpc>
              <a:spcBef>
                <a:spcPts val="0"/>
              </a:spcBef>
              <a:spcAft>
                <a:spcPts val="0"/>
              </a:spcAft>
              <a:buNone/>
            </a:pPr>
            <a:r>
              <a:rPr sz="950" b="0" i="0" dirty="0">
                <a:solidFill>
                  <a:srgbClr val="1F2A37"/>
                </a:solidFill>
                <a:latin typeface="Consolas"/>
              </a:rPr>
              <a:t>        </a:t>
            </a:r>
            <a:r>
              <a:rPr sz="950" b="0" i="0" dirty="0" err="1">
                <a:solidFill>
                  <a:srgbClr val="1F2A37"/>
                </a:solidFill>
                <a:latin typeface="Consolas"/>
              </a:rPr>
              <a:t>prev_V</a:t>
            </a:r>
            <a:r>
              <a:rPr sz="950" b="0" i="0" dirty="0">
                <a:solidFill>
                  <a:srgbClr val="1F2A37"/>
                </a:solidFill>
                <a:latin typeface="Consolas"/>
              </a:rPr>
              <a:t> = </a:t>
            </a:r>
            <a:r>
              <a:rPr sz="950" b="0" i="0" dirty="0" err="1">
                <a:solidFill>
                  <a:srgbClr val="1F2A37"/>
                </a:solidFill>
                <a:latin typeface="Consolas"/>
              </a:rPr>
              <a:t>V.copy</a:t>
            </a:r>
            <a:r>
              <a:rPr sz="950" b="0" i="0" dirty="0">
                <a:solidFill>
                  <a:srgbClr val="1F2A37"/>
                </a:solidFill>
                <a:latin typeface="Consolas"/>
              </a:rPr>
              <a:t>()</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0" i="0" dirty="0">
                <a:solidFill>
                  <a:srgbClr val="1F2A37"/>
                </a:solidFill>
                <a:latin typeface="Consolas"/>
              </a:rPr>
              <a:t>    return V, sweeps</a:t>
            </a:r>
          </a:p>
        </p:txBody>
      </p:sp>
      <p:sp>
        <p:nvSpPr>
          <p:cNvPr id="12" name="TextBox 11"/>
          <p:cNvSpPr txBox="1"/>
          <p:nvPr/>
        </p:nvSpPr>
        <p:spPr>
          <a:xfrm>
            <a:off x="8302752" y="1316736"/>
            <a:ext cx="3047969"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LINE BY LINE</a:t>
            </a:r>
          </a:p>
        </p:txBody>
      </p:sp>
      <p:sp>
        <p:nvSpPr>
          <p:cNvPr id="13" name="TextBox 12"/>
          <p:cNvSpPr txBox="1"/>
          <p:nvPr/>
        </p:nvSpPr>
        <p:spPr>
          <a:xfrm>
            <a:off x="8302752" y="1572768"/>
            <a:ext cx="3047969" cy="1985568"/>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997" b="0" i="0" dirty="0" err="1">
                <a:solidFill>
                  <a:srgbClr val="25282A"/>
                </a:solidFill>
                <a:latin typeface="Consolas"/>
              </a:rPr>
              <a:t>env.unwrapped.P</a:t>
            </a:r>
            <a:r>
              <a:rPr sz="1045" b="0" i="0" dirty="0">
                <a:solidFill>
                  <a:srgbClr val="333639"/>
                </a:solidFill>
                <a:latin typeface="Fira Sans"/>
              </a:rPr>
              <a:t> is the dynamics: for each state and action, a list of (probability, next state, reward, done).</a:t>
            </a:r>
          </a:p>
          <a:p>
            <a:pPr marL="182880" indent="-182880" algn="l">
              <a:lnSpc>
                <a:spcPts val="1170"/>
              </a:lnSpc>
              <a:spcBef>
                <a:spcPts val="800"/>
              </a:spcBef>
              <a:spcAft>
                <a:spcPts val="0"/>
              </a:spcAft>
              <a:buClr>
                <a:srgbClr val="1971C2"/>
              </a:buClr>
              <a:buFont typeface="Fira Sans"/>
              <a:buChar char="–"/>
            </a:pPr>
            <a:r>
              <a:rPr sz="1045" b="0" i="0" dirty="0">
                <a:solidFill>
                  <a:srgbClr val="333639"/>
                </a:solidFill>
                <a:latin typeface="Fira Sans"/>
              </a:rPr>
              <a:t>The policy is deterministic, so the sum over actions collapses to the single action </a:t>
            </a:r>
            <a:r>
              <a:rPr sz="997" b="0" i="0" dirty="0">
                <a:solidFill>
                  <a:srgbClr val="25282A"/>
                </a:solidFill>
                <a:latin typeface="Consolas"/>
              </a:rPr>
              <a:t>pi(s)</a:t>
            </a:r>
            <a:r>
              <a:rPr sz="1045" b="0" i="0" dirty="0">
                <a:solidFill>
                  <a:srgbClr val="333639"/>
                </a:solidFill>
                <a:latin typeface="Fira Sans"/>
              </a:rPr>
              <a:t>.</a:t>
            </a:r>
          </a:p>
          <a:p>
            <a:pPr marL="182880" indent="-182880" algn="l">
              <a:lnSpc>
                <a:spcPts val="1170"/>
              </a:lnSpc>
              <a:spcBef>
                <a:spcPts val="800"/>
              </a:spcBef>
              <a:spcAft>
                <a:spcPts val="0"/>
              </a:spcAft>
              <a:buClr>
                <a:srgbClr val="1971C2"/>
              </a:buClr>
              <a:buFont typeface="Fira Sans"/>
              <a:buChar char="–"/>
            </a:pPr>
            <a:r>
              <a:rPr sz="997" b="0" i="0" dirty="0">
                <a:solidFill>
                  <a:srgbClr val="25282A"/>
                </a:solidFill>
                <a:latin typeface="Consolas"/>
              </a:rPr>
              <a:t>done</a:t>
            </a:r>
            <a:r>
              <a:rPr sz="1045" b="0" i="0" dirty="0">
                <a:solidFill>
                  <a:srgbClr val="333639"/>
                </a:solidFill>
                <a:latin typeface="Fira Sans"/>
              </a:rPr>
              <a:t> guards the bootstrap: a terminal transition has no future, so its continuation term is zero.</a:t>
            </a:r>
          </a:p>
          <a:p>
            <a:pPr marL="182880" indent="-182880" algn="l">
              <a:lnSpc>
                <a:spcPts val="1170"/>
              </a:lnSpc>
              <a:spcBef>
                <a:spcPts val="800"/>
              </a:spcBef>
              <a:spcAft>
                <a:spcPts val="0"/>
              </a:spcAft>
              <a:buClr>
                <a:srgbClr val="1971C2"/>
              </a:buClr>
              <a:buFont typeface="Fira Sans"/>
              <a:buChar char="–"/>
            </a:pPr>
            <a:r>
              <a:rPr sz="1045" b="0" i="0" dirty="0">
                <a:solidFill>
                  <a:srgbClr val="333639"/>
                </a:solidFill>
                <a:latin typeface="Fira Sans"/>
              </a:rPr>
              <a:t>The new array is built separately from </a:t>
            </a:r>
            <a:r>
              <a:rPr sz="997" b="0" i="0" dirty="0" err="1">
                <a:solidFill>
                  <a:srgbClr val="25282A"/>
                </a:solidFill>
                <a:latin typeface="Consolas"/>
              </a:rPr>
              <a:t>prev_V</a:t>
            </a:r>
            <a:r>
              <a:rPr lang="it-IT" sz="1045" dirty="0">
                <a:solidFill>
                  <a:srgbClr val="333639"/>
                </a:solidFill>
                <a:latin typeface="Fira Sans"/>
              </a:rPr>
              <a:t>, </a:t>
            </a:r>
            <a:r>
              <a:rPr sz="1045" b="0" i="0" dirty="0">
                <a:solidFill>
                  <a:srgbClr val="333639"/>
                </a:solidFill>
                <a:latin typeface="Fira Sans"/>
              </a:rPr>
              <a:t>a synchronous sweep, matching the equation exactly.</a:t>
            </a:r>
          </a:p>
        </p:txBody>
      </p:sp>
      <p:sp>
        <p:nvSpPr>
          <p:cNvPr id="14" name="Rectangle 13"/>
          <p:cNvSpPr/>
          <p:nvPr/>
        </p:nvSpPr>
        <p:spPr>
          <a:xfrm>
            <a:off x="8302752" y="3796080"/>
            <a:ext cx="3047969" cy="1138123"/>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302752" y="3796080"/>
            <a:ext cx="41148" cy="1138123"/>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522208" y="3942384"/>
            <a:ext cx="275536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GENERALISING</a:t>
            </a:r>
          </a:p>
        </p:txBody>
      </p:sp>
      <p:sp>
        <p:nvSpPr>
          <p:cNvPr id="17" name="TextBox 16"/>
          <p:cNvSpPr txBox="1"/>
          <p:nvPr/>
        </p:nvSpPr>
        <p:spPr>
          <a:xfrm>
            <a:off x="8522208" y="4180128"/>
            <a:ext cx="2663921"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For a </a:t>
            </a:r>
            <a:r>
              <a:rPr sz="997" b="1" i="0">
                <a:solidFill>
                  <a:srgbClr val="333639"/>
                </a:solidFill>
                <a:latin typeface="Fira Sans"/>
              </a:rPr>
              <a:t>stochastic</a:t>
            </a:r>
            <a:r>
              <a:rPr sz="997" b="0" i="0">
                <a:solidFill>
                  <a:srgbClr val="333639"/>
                </a:solidFill>
                <a:latin typeface="Fira Sans"/>
              </a:rPr>
              <a:t> policy the inner loop must run over all actions and weight each by π(a | s). The structure of the code does not change.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4.4  TWO FROZEN LAKE POLICIES, EVALUATED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The</a:t>
            </a:r>
            <a:r>
              <a:rPr lang="it-IT" sz="2162" b="1" i="0" dirty="0">
                <a:solidFill>
                  <a:srgbClr val="25282A"/>
                </a:solidFill>
                <a:latin typeface="Roboto Slab"/>
              </a:rPr>
              <a:t> </a:t>
            </a:r>
            <a:r>
              <a:rPr sz="2162" b="1" i="0" dirty="0">
                <a:solidFill>
                  <a:srgbClr val="25282A"/>
                </a:solidFill>
                <a:latin typeface="Roboto Slab"/>
              </a:rPr>
              <a:t>two</a:t>
            </a:r>
            <a:r>
              <a:rPr lang="it-IT" sz="2162" b="1" i="0" dirty="0">
                <a:solidFill>
                  <a:srgbClr val="25282A"/>
                </a:solidFill>
                <a:latin typeface="Roboto Slab"/>
              </a:rPr>
              <a:t> </a:t>
            </a:r>
            <a:r>
              <a:rPr lang="it-IT" sz="2162" b="1" i="0" dirty="0" err="1">
                <a:solidFill>
                  <a:srgbClr val="25282A"/>
                </a:solidFill>
                <a:latin typeface="Roboto Slab"/>
              </a:rPr>
              <a:t>example</a:t>
            </a:r>
            <a:r>
              <a:rPr sz="2162" b="1" i="0" dirty="0">
                <a:solidFill>
                  <a:srgbClr val="25282A"/>
                </a:solidFill>
                <a:latin typeface="Roboto Slab"/>
              </a:rPr>
              <a:t> policies</a:t>
            </a:r>
            <a:r>
              <a:rPr lang="it-IT" sz="2162" b="1" i="0" dirty="0">
                <a:solidFill>
                  <a:srgbClr val="25282A"/>
                </a:solidFill>
                <a:latin typeface="Roboto Slab"/>
              </a:rPr>
              <a:t>, </a:t>
            </a:r>
            <a:r>
              <a:rPr sz="2162" b="1" i="0" dirty="0">
                <a:solidFill>
                  <a:srgbClr val="25282A"/>
                </a:solidFill>
                <a:latin typeface="Roboto Slab"/>
              </a:rPr>
              <a:t>now with a value for every state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IV — Policy evaluation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24</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Chapter 02 compared Go-get-it and Careful by simulating ten thousand episodes each, and obtained </a:t>
            </a:r>
            <a:r>
              <a:rPr sz="1282" b="1" i="0" dirty="0">
                <a:solidFill>
                  <a:srgbClr val="C8102E"/>
                </a:solidFill>
                <a:latin typeface="Fira Sans"/>
              </a:rPr>
              <a:t>one number per policy</a:t>
            </a:r>
            <a:r>
              <a:rPr sz="1282" b="0" i="0" dirty="0">
                <a:solidFill>
                  <a:srgbClr val="333639"/>
                </a:solidFill>
                <a:latin typeface="Fira Sans"/>
              </a:rPr>
              <a:t>. Policy evaluation returns </a:t>
            </a:r>
            <a:r>
              <a:rPr sz="1282" b="1" i="0" dirty="0">
                <a:solidFill>
                  <a:srgbClr val="2B7A3E"/>
                </a:solidFill>
                <a:latin typeface="Fira Sans"/>
              </a:rPr>
              <a:t>one number per state</a:t>
            </a:r>
            <a:r>
              <a:rPr sz="1282" b="0" i="0" dirty="0">
                <a:solidFill>
                  <a:srgbClr val="333639"/>
                </a:solidFill>
                <a:latin typeface="Fira Sans"/>
              </a:rPr>
              <a:t>, exactly, in a few milliseconds and the numbers say where each policy is weak.</a:t>
            </a:r>
          </a:p>
        </p:txBody>
      </p:sp>
      <p:sp>
        <p:nvSpPr>
          <p:cNvPr id="9" name="TextBox 8"/>
          <p:cNvSpPr txBox="1"/>
          <p:nvPr/>
        </p:nvSpPr>
        <p:spPr>
          <a:xfrm>
            <a:off x="1051560" y="1868535"/>
            <a:ext cx="3410712"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90" dirty="0">
                <a:solidFill>
                  <a:srgbClr val="C8102E"/>
                </a:solidFill>
                <a:latin typeface="Fira Sans"/>
              </a:rPr>
              <a:t>GO-GET-IT   ·   66 SWEEPS TO CONVERGE</a:t>
            </a:r>
          </a:p>
        </p:txBody>
      </p:sp>
      <p:sp>
        <p:nvSpPr>
          <p:cNvPr id="10" name="Rectangle 9"/>
          <p:cNvSpPr/>
          <p:nvPr/>
        </p:nvSpPr>
        <p:spPr>
          <a:xfrm>
            <a:off x="1024128" y="2061474"/>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0704" y="2079762"/>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0</a:t>
            </a:r>
          </a:p>
        </p:txBody>
      </p:sp>
      <p:sp>
        <p:nvSpPr>
          <p:cNvPr id="12" name="TextBox 11"/>
          <p:cNvSpPr txBox="1"/>
          <p:nvPr/>
        </p:nvSpPr>
        <p:spPr>
          <a:xfrm>
            <a:off x="1024128" y="2299218"/>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0.03</a:t>
            </a:r>
          </a:p>
        </p:txBody>
      </p:sp>
      <p:sp>
        <p:nvSpPr>
          <p:cNvPr id="13" name="Rectangle 12"/>
          <p:cNvSpPr/>
          <p:nvPr/>
        </p:nvSpPr>
        <p:spPr>
          <a:xfrm>
            <a:off x="1682496" y="2061474"/>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719072" y="2079762"/>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a:t>
            </a:r>
          </a:p>
        </p:txBody>
      </p:sp>
      <p:sp>
        <p:nvSpPr>
          <p:cNvPr id="15" name="TextBox 14"/>
          <p:cNvSpPr txBox="1"/>
          <p:nvPr/>
        </p:nvSpPr>
        <p:spPr>
          <a:xfrm>
            <a:off x="1682496" y="2299218"/>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0.02</a:t>
            </a:r>
          </a:p>
        </p:txBody>
      </p:sp>
      <p:sp>
        <p:nvSpPr>
          <p:cNvPr id="16" name="Rectangle 15"/>
          <p:cNvSpPr/>
          <p:nvPr/>
        </p:nvSpPr>
        <p:spPr>
          <a:xfrm>
            <a:off x="2340864" y="2061474"/>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2377440" y="2079762"/>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2</a:t>
            </a:r>
          </a:p>
        </p:txBody>
      </p:sp>
      <p:sp>
        <p:nvSpPr>
          <p:cNvPr id="18" name="TextBox 17"/>
          <p:cNvSpPr txBox="1"/>
          <p:nvPr/>
        </p:nvSpPr>
        <p:spPr>
          <a:xfrm>
            <a:off x="2340864" y="2299218"/>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0.05</a:t>
            </a:r>
          </a:p>
        </p:txBody>
      </p:sp>
      <p:sp>
        <p:nvSpPr>
          <p:cNvPr id="19" name="Rectangle 18"/>
          <p:cNvSpPr/>
          <p:nvPr/>
        </p:nvSpPr>
        <p:spPr>
          <a:xfrm>
            <a:off x="2999232" y="2061474"/>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3035808" y="2079762"/>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3</a:t>
            </a:r>
          </a:p>
        </p:txBody>
      </p:sp>
      <p:sp>
        <p:nvSpPr>
          <p:cNvPr id="21" name="TextBox 20"/>
          <p:cNvSpPr txBox="1"/>
          <p:nvPr/>
        </p:nvSpPr>
        <p:spPr>
          <a:xfrm>
            <a:off x="2999232" y="2299218"/>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0.02</a:t>
            </a:r>
          </a:p>
        </p:txBody>
      </p:sp>
      <p:sp>
        <p:nvSpPr>
          <p:cNvPr id="22" name="Rectangle 21"/>
          <p:cNvSpPr/>
          <p:nvPr/>
        </p:nvSpPr>
        <p:spPr>
          <a:xfrm>
            <a:off x="1024128" y="2719842"/>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060704" y="2738130"/>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4</a:t>
            </a:r>
          </a:p>
        </p:txBody>
      </p:sp>
      <p:sp>
        <p:nvSpPr>
          <p:cNvPr id="24" name="TextBox 23"/>
          <p:cNvSpPr txBox="1"/>
          <p:nvPr/>
        </p:nvSpPr>
        <p:spPr>
          <a:xfrm>
            <a:off x="1024128" y="2957586"/>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0.05</a:t>
            </a:r>
          </a:p>
        </p:txBody>
      </p:sp>
      <p:sp>
        <p:nvSpPr>
          <p:cNvPr id="25" name="Rectangle 24"/>
          <p:cNvSpPr/>
          <p:nvPr/>
        </p:nvSpPr>
        <p:spPr>
          <a:xfrm>
            <a:off x="1682496" y="2719842"/>
            <a:ext cx="658368" cy="658368"/>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719072" y="2738130"/>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5</a:t>
            </a:r>
          </a:p>
        </p:txBody>
      </p:sp>
      <p:sp>
        <p:nvSpPr>
          <p:cNvPr id="27" name="TextBox 26"/>
          <p:cNvSpPr txBox="1"/>
          <p:nvPr/>
        </p:nvSpPr>
        <p:spPr>
          <a:xfrm>
            <a:off x="1682496" y="2957586"/>
            <a:ext cx="658368"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28" name="Rectangle 27"/>
          <p:cNvSpPr/>
          <p:nvPr/>
        </p:nvSpPr>
        <p:spPr>
          <a:xfrm>
            <a:off x="2340864" y="2719842"/>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2377440" y="2738130"/>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6</a:t>
            </a:r>
          </a:p>
        </p:txBody>
      </p:sp>
      <p:sp>
        <p:nvSpPr>
          <p:cNvPr id="30" name="TextBox 29"/>
          <p:cNvSpPr txBox="1"/>
          <p:nvPr/>
        </p:nvSpPr>
        <p:spPr>
          <a:xfrm>
            <a:off x="2340864" y="2957586"/>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0.10</a:t>
            </a:r>
          </a:p>
        </p:txBody>
      </p:sp>
      <p:sp>
        <p:nvSpPr>
          <p:cNvPr id="31" name="Rectangle 30"/>
          <p:cNvSpPr/>
          <p:nvPr/>
        </p:nvSpPr>
        <p:spPr>
          <a:xfrm>
            <a:off x="2999232" y="2719842"/>
            <a:ext cx="658368" cy="658368"/>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3035808" y="2738130"/>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7</a:t>
            </a:r>
          </a:p>
        </p:txBody>
      </p:sp>
      <p:sp>
        <p:nvSpPr>
          <p:cNvPr id="33" name="TextBox 32"/>
          <p:cNvSpPr txBox="1"/>
          <p:nvPr/>
        </p:nvSpPr>
        <p:spPr>
          <a:xfrm>
            <a:off x="2999232" y="2957586"/>
            <a:ext cx="658368"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34" name="Rectangle 33"/>
          <p:cNvSpPr/>
          <p:nvPr/>
        </p:nvSpPr>
        <p:spPr>
          <a:xfrm>
            <a:off x="1024128" y="3378210"/>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1060704" y="3396498"/>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8</a:t>
            </a:r>
          </a:p>
        </p:txBody>
      </p:sp>
      <p:sp>
        <p:nvSpPr>
          <p:cNvPr id="36" name="TextBox 35"/>
          <p:cNvSpPr txBox="1"/>
          <p:nvPr/>
        </p:nvSpPr>
        <p:spPr>
          <a:xfrm>
            <a:off x="1024128" y="3615954"/>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0.09</a:t>
            </a:r>
          </a:p>
        </p:txBody>
      </p:sp>
      <p:sp>
        <p:nvSpPr>
          <p:cNvPr id="37" name="Rectangle 36"/>
          <p:cNvSpPr/>
          <p:nvPr/>
        </p:nvSpPr>
        <p:spPr>
          <a:xfrm>
            <a:off x="1682496" y="3378210"/>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1719072" y="3396498"/>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9</a:t>
            </a:r>
          </a:p>
        </p:txBody>
      </p:sp>
      <p:sp>
        <p:nvSpPr>
          <p:cNvPr id="39" name="TextBox 38"/>
          <p:cNvSpPr txBox="1"/>
          <p:nvPr/>
        </p:nvSpPr>
        <p:spPr>
          <a:xfrm>
            <a:off x="1682496" y="3615954"/>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0.24</a:t>
            </a:r>
          </a:p>
        </p:txBody>
      </p:sp>
      <p:sp>
        <p:nvSpPr>
          <p:cNvPr id="40" name="Rectangle 39"/>
          <p:cNvSpPr/>
          <p:nvPr/>
        </p:nvSpPr>
        <p:spPr>
          <a:xfrm>
            <a:off x="2340864" y="3378210"/>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2377440" y="3396498"/>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10</a:t>
            </a:r>
          </a:p>
        </p:txBody>
      </p:sp>
      <p:sp>
        <p:nvSpPr>
          <p:cNvPr id="42" name="TextBox 41"/>
          <p:cNvSpPr txBox="1"/>
          <p:nvPr/>
        </p:nvSpPr>
        <p:spPr>
          <a:xfrm>
            <a:off x="2340864" y="3615954"/>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0.29</a:t>
            </a:r>
          </a:p>
        </p:txBody>
      </p:sp>
      <p:sp>
        <p:nvSpPr>
          <p:cNvPr id="43" name="Rectangle 42"/>
          <p:cNvSpPr/>
          <p:nvPr/>
        </p:nvSpPr>
        <p:spPr>
          <a:xfrm>
            <a:off x="2999232" y="3378210"/>
            <a:ext cx="658368" cy="658368"/>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3035808" y="3396498"/>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11</a:t>
            </a:r>
          </a:p>
        </p:txBody>
      </p:sp>
      <p:sp>
        <p:nvSpPr>
          <p:cNvPr id="45" name="TextBox 44"/>
          <p:cNvSpPr txBox="1"/>
          <p:nvPr/>
        </p:nvSpPr>
        <p:spPr>
          <a:xfrm>
            <a:off x="2999232" y="3615954"/>
            <a:ext cx="658368"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46" name="Rectangle 45"/>
          <p:cNvSpPr/>
          <p:nvPr/>
        </p:nvSpPr>
        <p:spPr>
          <a:xfrm>
            <a:off x="1024128" y="4036578"/>
            <a:ext cx="658368" cy="658368"/>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1060704" y="4054866"/>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12</a:t>
            </a:r>
          </a:p>
        </p:txBody>
      </p:sp>
      <p:sp>
        <p:nvSpPr>
          <p:cNvPr id="48" name="TextBox 47"/>
          <p:cNvSpPr txBox="1"/>
          <p:nvPr/>
        </p:nvSpPr>
        <p:spPr>
          <a:xfrm>
            <a:off x="1024128" y="4274322"/>
            <a:ext cx="658368"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49" name="Rectangle 48"/>
          <p:cNvSpPr/>
          <p:nvPr/>
        </p:nvSpPr>
        <p:spPr>
          <a:xfrm>
            <a:off x="1682496" y="4036578"/>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1719072" y="4054866"/>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13</a:t>
            </a:r>
          </a:p>
        </p:txBody>
      </p:sp>
      <p:sp>
        <p:nvSpPr>
          <p:cNvPr id="51" name="TextBox 50"/>
          <p:cNvSpPr txBox="1"/>
          <p:nvPr/>
        </p:nvSpPr>
        <p:spPr>
          <a:xfrm>
            <a:off x="1682496" y="4274322"/>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0.43</a:t>
            </a:r>
          </a:p>
        </p:txBody>
      </p:sp>
      <p:sp>
        <p:nvSpPr>
          <p:cNvPr id="52" name="Rectangle 51"/>
          <p:cNvSpPr/>
          <p:nvPr/>
        </p:nvSpPr>
        <p:spPr>
          <a:xfrm>
            <a:off x="2340864" y="4036578"/>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2377440" y="4054866"/>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14</a:t>
            </a:r>
          </a:p>
        </p:txBody>
      </p:sp>
      <p:sp>
        <p:nvSpPr>
          <p:cNvPr id="54" name="TextBox 53"/>
          <p:cNvSpPr txBox="1"/>
          <p:nvPr/>
        </p:nvSpPr>
        <p:spPr>
          <a:xfrm>
            <a:off x="2340864" y="4274322"/>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0.64</a:t>
            </a:r>
          </a:p>
        </p:txBody>
      </p:sp>
      <p:sp>
        <p:nvSpPr>
          <p:cNvPr id="55" name="Rectangle 54"/>
          <p:cNvSpPr/>
          <p:nvPr/>
        </p:nvSpPr>
        <p:spPr>
          <a:xfrm>
            <a:off x="2999232" y="4036578"/>
            <a:ext cx="658368" cy="658368"/>
          </a:xfrm>
          <a:prstGeom prst="rect">
            <a:avLst/>
          </a:prstGeom>
          <a:solidFill>
            <a:srgbClr val="EAF2EB"/>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3035808" y="4054866"/>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15</a:t>
            </a:r>
          </a:p>
        </p:txBody>
      </p:sp>
      <p:sp>
        <p:nvSpPr>
          <p:cNvPr id="57" name="TextBox 56"/>
          <p:cNvSpPr txBox="1"/>
          <p:nvPr/>
        </p:nvSpPr>
        <p:spPr>
          <a:xfrm>
            <a:off x="2999232" y="4274322"/>
            <a:ext cx="658368"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2B7A3E"/>
                </a:solidFill>
                <a:latin typeface="Fira Sans"/>
              </a:rPr>
              <a:t>goal</a:t>
            </a:r>
          </a:p>
        </p:txBody>
      </p:sp>
      <p:sp>
        <p:nvSpPr>
          <p:cNvPr id="58" name="TextBox 57"/>
          <p:cNvSpPr txBox="1"/>
          <p:nvPr/>
        </p:nvSpPr>
        <p:spPr>
          <a:xfrm>
            <a:off x="4169664" y="1900997"/>
            <a:ext cx="3410712"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90" dirty="0">
                <a:solidFill>
                  <a:srgbClr val="2B7A3E"/>
                </a:solidFill>
                <a:latin typeface="Fira Sans"/>
              </a:rPr>
              <a:t>CAREFUL   ·   546 SWEEPS TO CONVERGE</a:t>
            </a:r>
          </a:p>
        </p:txBody>
      </p:sp>
      <p:sp>
        <p:nvSpPr>
          <p:cNvPr id="59" name="Rectangle 58"/>
          <p:cNvSpPr/>
          <p:nvPr/>
        </p:nvSpPr>
        <p:spPr>
          <a:xfrm>
            <a:off x="4133088" y="2061474"/>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4169664" y="2079762"/>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0</a:t>
            </a:r>
          </a:p>
        </p:txBody>
      </p:sp>
      <p:sp>
        <p:nvSpPr>
          <p:cNvPr id="61" name="TextBox 60"/>
          <p:cNvSpPr txBox="1"/>
          <p:nvPr/>
        </p:nvSpPr>
        <p:spPr>
          <a:xfrm>
            <a:off x="4133088" y="2299218"/>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0.41</a:t>
            </a:r>
          </a:p>
        </p:txBody>
      </p:sp>
      <p:sp>
        <p:nvSpPr>
          <p:cNvPr id="62" name="Rectangle 61"/>
          <p:cNvSpPr/>
          <p:nvPr/>
        </p:nvSpPr>
        <p:spPr>
          <a:xfrm>
            <a:off x="4791456" y="2061474"/>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4828032" y="2079762"/>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a:t>
            </a:r>
          </a:p>
        </p:txBody>
      </p:sp>
      <p:sp>
        <p:nvSpPr>
          <p:cNvPr id="64" name="TextBox 63"/>
          <p:cNvSpPr txBox="1"/>
          <p:nvPr/>
        </p:nvSpPr>
        <p:spPr>
          <a:xfrm>
            <a:off x="4791456" y="2299218"/>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0.38</a:t>
            </a:r>
          </a:p>
        </p:txBody>
      </p:sp>
      <p:sp>
        <p:nvSpPr>
          <p:cNvPr id="65" name="Rectangle 64"/>
          <p:cNvSpPr/>
          <p:nvPr/>
        </p:nvSpPr>
        <p:spPr>
          <a:xfrm>
            <a:off x="5449824" y="2061474"/>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5486400" y="2079762"/>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2</a:t>
            </a:r>
          </a:p>
        </p:txBody>
      </p:sp>
      <p:sp>
        <p:nvSpPr>
          <p:cNvPr id="67" name="TextBox 66"/>
          <p:cNvSpPr txBox="1"/>
          <p:nvPr/>
        </p:nvSpPr>
        <p:spPr>
          <a:xfrm>
            <a:off x="5449824" y="2299218"/>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0.35</a:t>
            </a:r>
          </a:p>
        </p:txBody>
      </p:sp>
      <p:sp>
        <p:nvSpPr>
          <p:cNvPr id="68" name="Rectangle 67"/>
          <p:cNvSpPr/>
          <p:nvPr/>
        </p:nvSpPr>
        <p:spPr>
          <a:xfrm>
            <a:off x="6108192" y="2061474"/>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8"/>
          <p:cNvSpPr txBox="1"/>
          <p:nvPr/>
        </p:nvSpPr>
        <p:spPr>
          <a:xfrm>
            <a:off x="6144768" y="2079762"/>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3</a:t>
            </a:r>
          </a:p>
        </p:txBody>
      </p:sp>
      <p:sp>
        <p:nvSpPr>
          <p:cNvPr id="70" name="TextBox 69"/>
          <p:cNvSpPr txBox="1"/>
          <p:nvPr/>
        </p:nvSpPr>
        <p:spPr>
          <a:xfrm>
            <a:off x="6108192" y="2299218"/>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0.34</a:t>
            </a:r>
          </a:p>
        </p:txBody>
      </p:sp>
      <p:sp>
        <p:nvSpPr>
          <p:cNvPr id="71" name="Rectangle 70"/>
          <p:cNvSpPr/>
          <p:nvPr/>
        </p:nvSpPr>
        <p:spPr>
          <a:xfrm>
            <a:off x="4133088" y="2719842"/>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TextBox 71"/>
          <p:cNvSpPr txBox="1"/>
          <p:nvPr/>
        </p:nvSpPr>
        <p:spPr>
          <a:xfrm>
            <a:off x="4169664" y="2738130"/>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4</a:t>
            </a:r>
          </a:p>
        </p:txBody>
      </p:sp>
      <p:sp>
        <p:nvSpPr>
          <p:cNvPr id="73" name="TextBox 72"/>
          <p:cNvSpPr txBox="1"/>
          <p:nvPr/>
        </p:nvSpPr>
        <p:spPr>
          <a:xfrm>
            <a:off x="4133088" y="2957586"/>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0.42</a:t>
            </a:r>
          </a:p>
        </p:txBody>
      </p:sp>
      <p:sp>
        <p:nvSpPr>
          <p:cNvPr id="74" name="Rectangle 73"/>
          <p:cNvSpPr/>
          <p:nvPr/>
        </p:nvSpPr>
        <p:spPr>
          <a:xfrm>
            <a:off x="4791456" y="2719842"/>
            <a:ext cx="658368" cy="658368"/>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TextBox 74"/>
          <p:cNvSpPr txBox="1"/>
          <p:nvPr/>
        </p:nvSpPr>
        <p:spPr>
          <a:xfrm>
            <a:off x="4828032" y="2738130"/>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5</a:t>
            </a:r>
          </a:p>
        </p:txBody>
      </p:sp>
      <p:sp>
        <p:nvSpPr>
          <p:cNvPr id="76" name="TextBox 75"/>
          <p:cNvSpPr txBox="1"/>
          <p:nvPr/>
        </p:nvSpPr>
        <p:spPr>
          <a:xfrm>
            <a:off x="4791456" y="2957586"/>
            <a:ext cx="658368"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77" name="Rectangle 76"/>
          <p:cNvSpPr/>
          <p:nvPr/>
        </p:nvSpPr>
        <p:spPr>
          <a:xfrm>
            <a:off x="5449824" y="2719842"/>
            <a:ext cx="658368" cy="658368"/>
          </a:xfrm>
          <a:prstGeom prst="rect">
            <a:avLst/>
          </a:prstGeom>
          <a:solidFill>
            <a:srgbClr val="EEEBF2"/>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TextBox 77"/>
          <p:cNvSpPr txBox="1"/>
          <p:nvPr/>
        </p:nvSpPr>
        <p:spPr>
          <a:xfrm>
            <a:off x="5486400" y="2738130"/>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6</a:t>
            </a:r>
          </a:p>
        </p:txBody>
      </p:sp>
      <p:sp>
        <p:nvSpPr>
          <p:cNvPr id="79" name="TextBox 78"/>
          <p:cNvSpPr txBox="1"/>
          <p:nvPr/>
        </p:nvSpPr>
        <p:spPr>
          <a:xfrm>
            <a:off x="5449824" y="2957586"/>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1" i="0">
                <a:solidFill>
                  <a:srgbClr val="8A5100"/>
                </a:solidFill>
                <a:latin typeface="Fira Sans"/>
              </a:rPr>
              <a:t>0.12</a:t>
            </a:r>
          </a:p>
        </p:txBody>
      </p:sp>
      <p:sp>
        <p:nvSpPr>
          <p:cNvPr id="80" name="Rectangle 79"/>
          <p:cNvSpPr/>
          <p:nvPr/>
        </p:nvSpPr>
        <p:spPr>
          <a:xfrm>
            <a:off x="6108192" y="2719842"/>
            <a:ext cx="658368" cy="658368"/>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TextBox 80"/>
          <p:cNvSpPr txBox="1"/>
          <p:nvPr/>
        </p:nvSpPr>
        <p:spPr>
          <a:xfrm>
            <a:off x="6144768" y="2738130"/>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7</a:t>
            </a:r>
          </a:p>
        </p:txBody>
      </p:sp>
      <p:sp>
        <p:nvSpPr>
          <p:cNvPr id="82" name="TextBox 81"/>
          <p:cNvSpPr txBox="1"/>
          <p:nvPr/>
        </p:nvSpPr>
        <p:spPr>
          <a:xfrm>
            <a:off x="6108192" y="2957586"/>
            <a:ext cx="658368"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83" name="Rectangle 82"/>
          <p:cNvSpPr/>
          <p:nvPr/>
        </p:nvSpPr>
        <p:spPr>
          <a:xfrm>
            <a:off x="4133088" y="3378210"/>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TextBox 83"/>
          <p:cNvSpPr txBox="1"/>
          <p:nvPr/>
        </p:nvSpPr>
        <p:spPr>
          <a:xfrm>
            <a:off x="4169664" y="3396498"/>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8</a:t>
            </a:r>
          </a:p>
        </p:txBody>
      </p:sp>
      <p:sp>
        <p:nvSpPr>
          <p:cNvPr id="85" name="TextBox 84"/>
          <p:cNvSpPr txBox="1"/>
          <p:nvPr/>
        </p:nvSpPr>
        <p:spPr>
          <a:xfrm>
            <a:off x="4133088" y="3615954"/>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0.45</a:t>
            </a:r>
          </a:p>
        </p:txBody>
      </p:sp>
      <p:sp>
        <p:nvSpPr>
          <p:cNvPr id="86" name="Rectangle 85"/>
          <p:cNvSpPr/>
          <p:nvPr/>
        </p:nvSpPr>
        <p:spPr>
          <a:xfrm>
            <a:off x="4791456" y="3378210"/>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TextBox 86"/>
          <p:cNvSpPr txBox="1"/>
          <p:nvPr/>
        </p:nvSpPr>
        <p:spPr>
          <a:xfrm>
            <a:off x="4828032" y="3396498"/>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9</a:t>
            </a:r>
          </a:p>
        </p:txBody>
      </p:sp>
      <p:sp>
        <p:nvSpPr>
          <p:cNvPr id="88" name="TextBox 87"/>
          <p:cNvSpPr txBox="1"/>
          <p:nvPr/>
        </p:nvSpPr>
        <p:spPr>
          <a:xfrm>
            <a:off x="4791456" y="3615954"/>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0.48</a:t>
            </a:r>
          </a:p>
        </p:txBody>
      </p:sp>
      <p:sp>
        <p:nvSpPr>
          <p:cNvPr id="89" name="Rectangle 88"/>
          <p:cNvSpPr/>
          <p:nvPr/>
        </p:nvSpPr>
        <p:spPr>
          <a:xfrm>
            <a:off x="5449824" y="3378210"/>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TextBox 89"/>
          <p:cNvSpPr txBox="1"/>
          <p:nvPr/>
        </p:nvSpPr>
        <p:spPr>
          <a:xfrm>
            <a:off x="5486400" y="3396498"/>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10</a:t>
            </a:r>
          </a:p>
        </p:txBody>
      </p:sp>
      <p:sp>
        <p:nvSpPr>
          <p:cNvPr id="91" name="TextBox 90"/>
          <p:cNvSpPr txBox="1"/>
          <p:nvPr/>
        </p:nvSpPr>
        <p:spPr>
          <a:xfrm>
            <a:off x="5449824" y="3615954"/>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0.43</a:t>
            </a:r>
          </a:p>
        </p:txBody>
      </p:sp>
      <p:sp>
        <p:nvSpPr>
          <p:cNvPr id="92" name="Rectangle 91"/>
          <p:cNvSpPr/>
          <p:nvPr/>
        </p:nvSpPr>
        <p:spPr>
          <a:xfrm>
            <a:off x="6108192" y="3378210"/>
            <a:ext cx="658368" cy="658368"/>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Box 92"/>
          <p:cNvSpPr txBox="1"/>
          <p:nvPr/>
        </p:nvSpPr>
        <p:spPr>
          <a:xfrm>
            <a:off x="6144768" y="3396498"/>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11</a:t>
            </a:r>
          </a:p>
        </p:txBody>
      </p:sp>
      <p:sp>
        <p:nvSpPr>
          <p:cNvPr id="94" name="TextBox 93"/>
          <p:cNvSpPr txBox="1"/>
          <p:nvPr/>
        </p:nvSpPr>
        <p:spPr>
          <a:xfrm>
            <a:off x="6108192" y="3615954"/>
            <a:ext cx="658368"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95" name="Rectangle 94"/>
          <p:cNvSpPr/>
          <p:nvPr/>
        </p:nvSpPr>
        <p:spPr>
          <a:xfrm>
            <a:off x="4133088" y="4036578"/>
            <a:ext cx="658368" cy="658368"/>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Box 95"/>
          <p:cNvSpPr txBox="1"/>
          <p:nvPr/>
        </p:nvSpPr>
        <p:spPr>
          <a:xfrm>
            <a:off x="4169664" y="4054866"/>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12</a:t>
            </a:r>
          </a:p>
        </p:txBody>
      </p:sp>
      <p:sp>
        <p:nvSpPr>
          <p:cNvPr id="97" name="TextBox 96"/>
          <p:cNvSpPr txBox="1"/>
          <p:nvPr/>
        </p:nvSpPr>
        <p:spPr>
          <a:xfrm>
            <a:off x="4133088" y="4274322"/>
            <a:ext cx="658368"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98" name="Rectangle 97"/>
          <p:cNvSpPr/>
          <p:nvPr/>
        </p:nvSpPr>
        <p:spPr>
          <a:xfrm>
            <a:off x="4791456" y="4036578"/>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TextBox 98"/>
          <p:cNvSpPr txBox="1"/>
          <p:nvPr/>
        </p:nvSpPr>
        <p:spPr>
          <a:xfrm>
            <a:off x="4828032" y="4054866"/>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13</a:t>
            </a:r>
          </a:p>
        </p:txBody>
      </p:sp>
      <p:sp>
        <p:nvSpPr>
          <p:cNvPr id="100" name="TextBox 99"/>
          <p:cNvSpPr txBox="1"/>
          <p:nvPr/>
        </p:nvSpPr>
        <p:spPr>
          <a:xfrm>
            <a:off x="4791456" y="4274322"/>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0.59</a:t>
            </a:r>
          </a:p>
        </p:txBody>
      </p:sp>
      <p:sp>
        <p:nvSpPr>
          <p:cNvPr id="101" name="Rectangle 100"/>
          <p:cNvSpPr/>
          <p:nvPr/>
        </p:nvSpPr>
        <p:spPr>
          <a:xfrm>
            <a:off x="5449824" y="4036578"/>
            <a:ext cx="658368" cy="658368"/>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TextBox 101"/>
          <p:cNvSpPr txBox="1"/>
          <p:nvPr/>
        </p:nvSpPr>
        <p:spPr>
          <a:xfrm>
            <a:off x="5486400" y="4054866"/>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14</a:t>
            </a:r>
          </a:p>
        </p:txBody>
      </p:sp>
      <p:sp>
        <p:nvSpPr>
          <p:cNvPr id="103" name="TextBox 102"/>
          <p:cNvSpPr txBox="1"/>
          <p:nvPr/>
        </p:nvSpPr>
        <p:spPr>
          <a:xfrm>
            <a:off x="5449824" y="4274322"/>
            <a:ext cx="658368"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0.71</a:t>
            </a:r>
          </a:p>
        </p:txBody>
      </p:sp>
      <p:sp>
        <p:nvSpPr>
          <p:cNvPr id="104" name="Rectangle 103"/>
          <p:cNvSpPr/>
          <p:nvPr/>
        </p:nvSpPr>
        <p:spPr>
          <a:xfrm>
            <a:off x="6108192" y="4036578"/>
            <a:ext cx="658368" cy="658368"/>
          </a:xfrm>
          <a:prstGeom prst="rect">
            <a:avLst/>
          </a:prstGeom>
          <a:solidFill>
            <a:srgbClr val="EAF2EB"/>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TextBox 104"/>
          <p:cNvSpPr txBox="1"/>
          <p:nvPr/>
        </p:nvSpPr>
        <p:spPr>
          <a:xfrm>
            <a:off x="6144768" y="4054866"/>
            <a:ext cx="585216"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15</a:t>
            </a:r>
          </a:p>
        </p:txBody>
      </p:sp>
      <p:sp>
        <p:nvSpPr>
          <p:cNvPr id="106" name="TextBox 105"/>
          <p:cNvSpPr txBox="1"/>
          <p:nvPr/>
        </p:nvSpPr>
        <p:spPr>
          <a:xfrm>
            <a:off x="6108192" y="4274322"/>
            <a:ext cx="658368"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2B7A3E"/>
                </a:solidFill>
                <a:latin typeface="Fira Sans"/>
              </a:rPr>
              <a:t>goal</a:t>
            </a:r>
          </a:p>
        </p:txBody>
      </p:sp>
      <p:sp>
        <p:nvSpPr>
          <p:cNvPr id="107" name="TextBox 106"/>
          <p:cNvSpPr txBox="1"/>
          <p:nvPr/>
        </p:nvSpPr>
        <p:spPr>
          <a:xfrm>
            <a:off x="7242048" y="1787154"/>
            <a:ext cx="3657600" cy="2023569"/>
          </a:xfrm>
          <a:prstGeom prst="rect">
            <a:avLst/>
          </a:prstGeom>
          <a:noFill/>
        </p:spPr>
        <p:txBody>
          <a:bodyPr wrap="square" lIns="0" tIns="0" rIns="0" bIns="0" anchor="t">
            <a:noAutofit/>
          </a:bodyPr>
          <a:lstStyle/>
          <a:p>
            <a:pPr marL="0" indent="0" algn="l">
              <a:lnSpc>
                <a:spcPts val="1307"/>
              </a:lnSpc>
              <a:spcBef>
                <a:spcPts val="0"/>
              </a:spcBef>
              <a:spcAft>
                <a:spcPts val="0"/>
              </a:spcAft>
              <a:buNone/>
            </a:pPr>
            <a:r>
              <a:rPr sz="1188" b="1" i="0" dirty="0">
                <a:solidFill>
                  <a:srgbClr val="25282A"/>
                </a:solidFill>
                <a:latin typeface="Fira Sans"/>
              </a:rPr>
              <a:t>Reading the grids</a:t>
            </a:r>
          </a:p>
          <a:p>
            <a:pPr marL="0" indent="0" algn="l">
              <a:lnSpc>
                <a:spcPts val="1254"/>
              </a:lnSpc>
              <a:spcBef>
                <a:spcPts val="800"/>
              </a:spcBef>
              <a:spcAft>
                <a:spcPts val="0"/>
              </a:spcAft>
              <a:buNone/>
            </a:pPr>
            <a:r>
              <a:rPr sz="1045" b="0" i="0" dirty="0">
                <a:solidFill>
                  <a:srgbClr val="626669"/>
                </a:solidFill>
                <a:latin typeface="Fira Sans"/>
              </a:rPr>
              <a:t>Grey cells are terminal</a:t>
            </a:r>
            <a:r>
              <a:rPr lang="it-IT" sz="1045" b="0" i="0" dirty="0">
                <a:solidFill>
                  <a:srgbClr val="626669"/>
                </a:solidFill>
                <a:latin typeface="Fira Sans"/>
              </a:rPr>
              <a:t>: </a:t>
            </a:r>
            <a:r>
              <a:rPr sz="1045" b="0" i="0" dirty="0">
                <a:solidFill>
                  <a:srgbClr val="626669"/>
                </a:solidFill>
                <a:latin typeface="Fira Sans"/>
              </a:rPr>
              <a:t>holes and the goal. Every other cell is the expected discounted return from that state under the policy, with </a:t>
            </a:r>
            <a:r>
              <a:rPr sz="1045" b="0" i="0" dirty="0" err="1">
                <a:solidFill>
                  <a:srgbClr val="626669"/>
                </a:solidFill>
                <a:latin typeface="Fira Sans"/>
              </a:rPr>
              <a:t>γ</a:t>
            </a:r>
            <a:r>
              <a:rPr sz="1045" b="0" i="0" dirty="0">
                <a:solidFill>
                  <a:srgbClr val="626669"/>
                </a:solidFill>
                <a:latin typeface="Fira Sans"/>
              </a:rPr>
              <a:t> = 0.99.</a:t>
            </a:r>
          </a:p>
          <a:p>
            <a:pPr marL="0" indent="0" algn="l">
              <a:lnSpc>
                <a:spcPts val="1254"/>
              </a:lnSpc>
              <a:spcBef>
                <a:spcPts val="800"/>
              </a:spcBef>
              <a:spcAft>
                <a:spcPts val="0"/>
              </a:spcAft>
              <a:buNone/>
            </a:pPr>
            <a:r>
              <a:rPr sz="1045" b="0" i="0" dirty="0">
                <a:solidFill>
                  <a:srgbClr val="626669"/>
                </a:solidFill>
                <a:latin typeface="Fira Sans"/>
              </a:rPr>
              <a:t>Go-get-it is worth 0.03 at the start state: it walks into holes. Careful is worth 0.41 </a:t>
            </a:r>
            <a:r>
              <a:rPr lang="it-IT" sz="1045" dirty="0">
                <a:solidFill>
                  <a:srgbClr val="626669"/>
                </a:solidFill>
                <a:latin typeface="Fira Sans"/>
              </a:rPr>
              <a:t>(</a:t>
            </a:r>
            <a:r>
              <a:rPr sz="1045" b="0" i="0" dirty="0">
                <a:solidFill>
                  <a:srgbClr val="626669"/>
                </a:solidFill>
                <a:latin typeface="Fira Sans"/>
              </a:rPr>
              <a:t>more than ten times as much</a:t>
            </a:r>
            <a:r>
              <a:rPr lang="it-IT" sz="1045" b="0" i="0" dirty="0">
                <a:solidFill>
                  <a:srgbClr val="626669"/>
                </a:solidFill>
                <a:latin typeface="Fira Sans"/>
              </a:rPr>
              <a:t>)</a:t>
            </a:r>
            <a:r>
              <a:rPr sz="1045" b="0" i="0" dirty="0">
                <a:solidFill>
                  <a:srgbClr val="626669"/>
                </a:solidFill>
                <a:latin typeface="Fira Sans"/>
              </a:rPr>
              <a:t> because it uses the walls to avoid slipping into them.</a:t>
            </a:r>
          </a:p>
          <a:p>
            <a:pPr marL="0" indent="0" algn="l">
              <a:lnSpc>
                <a:spcPts val="1254"/>
              </a:lnSpc>
              <a:spcBef>
                <a:spcPts val="800"/>
              </a:spcBef>
              <a:spcAft>
                <a:spcPts val="0"/>
              </a:spcAft>
              <a:buNone/>
            </a:pPr>
            <a:r>
              <a:rPr sz="1045" b="0" i="0" dirty="0">
                <a:solidFill>
                  <a:srgbClr val="8A5100"/>
                </a:solidFill>
                <a:latin typeface="Fira Sans"/>
              </a:rPr>
              <a:t>State 6 is the exception: Careful is worth only 0.12 there — its weakest state, highlighted. Part V will fix precisely that state.</a:t>
            </a:r>
          </a:p>
        </p:txBody>
      </p:sp>
      <p:sp>
        <p:nvSpPr>
          <p:cNvPr id="108" name="Rectangle 107"/>
          <p:cNvSpPr/>
          <p:nvPr/>
        </p:nvSpPr>
        <p:spPr>
          <a:xfrm>
            <a:off x="841248" y="491440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Rectangle 108"/>
          <p:cNvSpPr/>
          <p:nvPr/>
        </p:nvSpPr>
        <p:spPr>
          <a:xfrm>
            <a:off x="841248" y="5097282"/>
            <a:ext cx="10515600" cy="105156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Rectangle 109"/>
          <p:cNvSpPr/>
          <p:nvPr/>
        </p:nvSpPr>
        <p:spPr>
          <a:xfrm>
            <a:off x="841248" y="5097282"/>
            <a:ext cx="41148" cy="10515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TextBox 110"/>
          <p:cNvSpPr txBox="1"/>
          <p:nvPr/>
        </p:nvSpPr>
        <p:spPr>
          <a:xfrm>
            <a:off x="1060704" y="5243586"/>
            <a:ext cx="102229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WHY THE TWO POLICIES NEED DIFFERENT NUMBERS OF SWEEPS</a:t>
            </a:r>
          </a:p>
        </p:txBody>
      </p:sp>
      <p:sp>
        <p:nvSpPr>
          <p:cNvPr id="112" name="TextBox 111"/>
          <p:cNvSpPr txBox="1"/>
          <p:nvPr/>
        </p:nvSpPr>
        <p:spPr>
          <a:xfrm>
            <a:off x="1060704" y="5481330"/>
            <a:ext cx="10131552" cy="521207"/>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1" i="0" dirty="0">
                <a:solidFill>
                  <a:srgbClr val="333639"/>
                </a:solidFill>
                <a:latin typeface="Fira Sans"/>
              </a:rPr>
              <a:t>Note the sweep counts: 66 for Go-get-it, 546 for Careful. </a:t>
            </a:r>
            <a:r>
              <a:rPr sz="1140" b="0" i="0" dirty="0">
                <a:solidFill>
                  <a:srgbClr val="333639"/>
                </a:solidFill>
                <a:latin typeface="Fira Sans"/>
              </a:rPr>
              <a:t>A policy whose values are larger and more spread out takes </a:t>
            </a:r>
            <a:r>
              <a:rPr lang="it-IT" sz="1140" b="1" i="0" dirty="0" err="1">
                <a:solidFill>
                  <a:srgbClr val="333639"/>
                </a:solidFill>
                <a:latin typeface="Fira Sans"/>
              </a:rPr>
              <a:t>longer</a:t>
            </a:r>
            <a:r>
              <a:rPr lang="it-IT" sz="1140" b="1" i="0" dirty="0">
                <a:solidFill>
                  <a:srgbClr val="333639"/>
                </a:solidFill>
                <a:latin typeface="Fira Sans"/>
              </a:rPr>
              <a:t> to converge</a:t>
            </a:r>
            <a:r>
              <a:rPr sz="1140" b="0" i="0" dirty="0">
                <a:solidFill>
                  <a:srgbClr val="333639"/>
                </a:solidFill>
                <a:latin typeface="Fira Sans"/>
              </a:rPr>
              <a:t>, because information has to propagate further before the changes fall below the tolerance. The number of sweeps is a property of the policy, not only of the environment.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4.5  THE BELLMAN OPERATOR</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A sweep is a function from value functions to value functions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IV — Policy evaluation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25</a:t>
            </a:r>
          </a:p>
        </p:txBody>
      </p:sp>
      <p:sp>
        <p:nvSpPr>
          <p:cNvPr id="8" name="TextBox 7"/>
          <p:cNvSpPr txBox="1"/>
          <p:nvPr/>
        </p:nvSpPr>
        <p:spPr>
          <a:xfrm>
            <a:off x="841248" y="1316736"/>
            <a:ext cx="6543446"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Why should repeating an approximate update ever reach the exact answer? To answer that, look at a sweep differently. A complete sweep takes a value function as input and returns another one</a:t>
            </a:r>
            <a:r>
              <a:rPr lang="it-IT" sz="1282" b="0" i="0" dirty="0">
                <a:solidFill>
                  <a:srgbClr val="333639"/>
                </a:solidFill>
                <a:latin typeface="Fira Sans"/>
              </a:rPr>
              <a:t>: </a:t>
            </a:r>
            <a:r>
              <a:rPr sz="1282" b="0" i="0" dirty="0">
                <a:solidFill>
                  <a:srgbClr val="333639"/>
                </a:solidFill>
                <a:latin typeface="Fira Sans"/>
              </a:rPr>
              <a:t>it is an </a:t>
            </a:r>
            <a:r>
              <a:rPr sz="1282" b="1" i="0" dirty="0">
                <a:solidFill>
                  <a:srgbClr val="25282A"/>
                </a:solidFill>
                <a:latin typeface="Fira Sans"/>
              </a:rPr>
              <a:t>operator</a:t>
            </a:r>
            <a:r>
              <a:rPr sz="1282" b="0" i="0" dirty="0">
                <a:solidFill>
                  <a:srgbClr val="333639"/>
                </a:solidFill>
                <a:latin typeface="Fira Sans"/>
              </a:rPr>
              <a:t>, written T with the policy as a subscript.</a:t>
            </a:r>
          </a:p>
        </p:txBody>
      </p:sp>
      <p:pic>
        <p:nvPicPr>
          <p:cNvPr id="9" name="Picture 8" descr="eq_op_pi.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78408" y="2168667"/>
            <a:ext cx="5598160" cy="653923"/>
          </a:xfrm>
          <a:prstGeom prst="rect">
            <a:avLst/>
          </a:prstGeom>
        </p:spPr>
      </p:pic>
      <p:sp>
        <p:nvSpPr>
          <p:cNvPr id="10" name="TextBox 9"/>
          <p:cNvSpPr txBox="1"/>
          <p:nvPr/>
        </p:nvSpPr>
        <p:spPr>
          <a:xfrm>
            <a:off x="841248" y="3096910"/>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WITH THIS NOTATION ONE SWEEP IS ONE LINE</a:t>
            </a:r>
          </a:p>
        </p:txBody>
      </p:sp>
      <p:pic>
        <p:nvPicPr>
          <p:cNvPr id="11" name="Picture 10" descr="eq_op_sweep.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568" y="3389518"/>
            <a:ext cx="1844040" cy="350520"/>
          </a:xfrm>
          <a:prstGeom prst="rect">
            <a:avLst/>
          </a:prstGeom>
        </p:spPr>
      </p:pic>
      <p:sp>
        <p:nvSpPr>
          <p:cNvPr id="12" name="Rectangle 11"/>
          <p:cNvSpPr/>
          <p:nvPr/>
        </p:nvSpPr>
        <p:spPr>
          <a:xfrm>
            <a:off x="841248" y="4050934"/>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4270390"/>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TRUE VALUE FUNCTION IS A FIXED POINT</a:t>
            </a:r>
          </a:p>
        </p:txBody>
      </p:sp>
      <p:pic>
        <p:nvPicPr>
          <p:cNvPr id="14" name="Picture 13" descr="eq_op_fix.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568" y="4562998"/>
            <a:ext cx="1588008" cy="329184"/>
          </a:xfrm>
          <a:prstGeom prst="rect">
            <a:avLst/>
          </a:prstGeom>
        </p:spPr>
      </p:pic>
      <p:sp>
        <p:nvSpPr>
          <p:cNvPr id="15" name="TextBox 14"/>
          <p:cNvSpPr txBox="1"/>
          <p:nvPr/>
        </p:nvSpPr>
        <p:spPr>
          <a:xfrm>
            <a:off x="841248" y="5129926"/>
            <a:ext cx="6543446" cy="566470"/>
          </a:xfrm>
          <a:prstGeom prst="rect">
            <a:avLst/>
          </a:prstGeom>
          <a:noFill/>
        </p:spPr>
        <p:txBody>
          <a:bodyPr wrap="square" lIns="0" tIns="0" rIns="0" bIns="0" anchor="t">
            <a:noAutofit/>
          </a:bodyPr>
          <a:lstStyle/>
          <a:p>
            <a:pPr>
              <a:lnSpc>
                <a:spcPts val="1391"/>
              </a:lnSpc>
            </a:pPr>
            <a:r>
              <a:rPr lang="it-IT" sz="1140" b="0" i="0" dirty="0">
                <a:solidFill>
                  <a:srgbClr val="333639"/>
                </a:solidFill>
                <a:latin typeface="Fira Sans"/>
              </a:rPr>
              <a:t>v_</a:t>
            </a:r>
            <a:r>
              <a:rPr lang="el-GR" sz="1200" dirty="0">
                <a:solidFill>
                  <a:srgbClr val="333639"/>
                </a:solidFill>
                <a:latin typeface="Fira Sans"/>
              </a:rPr>
              <a:t>π</a:t>
            </a:r>
            <a:r>
              <a:rPr sz="1140" b="0" i="0" dirty="0">
                <a:solidFill>
                  <a:srgbClr val="333639"/>
                </a:solidFill>
                <a:latin typeface="Fira Sans"/>
              </a:rPr>
              <a:t> already satisfies the Bellman equation, so applying the update leaves it unchanged. A value that an operator does not move is called a </a:t>
            </a:r>
            <a:r>
              <a:rPr sz="1140" b="1" i="0" dirty="0">
                <a:solidFill>
                  <a:srgbClr val="25282A"/>
                </a:solidFill>
                <a:latin typeface="Fira Sans"/>
              </a:rPr>
              <a:t>fixed point</a:t>
            </a:r>
            <a:r>
              <a:rPr sz="1140" b="0" i="0" dirty="0">
                <a:solidFill>
                  <a:srgbClr val="333639"/>
                </a:solidFill>
                <a:latin typeface="Fira Sans"/>
              </a:rPr>
              <a:t>. In words: once policy evaluation has found the correct values, another sweep does nothing.</a:t>
            </a:r>
          </a:p>
        </p:txBody>
      </p:sp>
      <p:sp>
        <p:nvSpPr>
          <p:cNvPr id="16" name="Rectangle 15"/>
          <p:cNvSpPr/>
          <p:nvPr/>
        </p:nvSpPr>
        <p:spPr>
          <a:xfrm>
            <a:off x="7618780" y="1316736"/>
            <a:ext cx="3731940" cy="119603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618780" y="1316736"/>
            <a:ext cx="41148" cy="119603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WHY INTRODUCE A NOTATION FOR SOMETHING WE ALREADY HAVE</a:t>
            </a:r>
          </a:p>
        </p:txBody>
      </p:sp>
      <p:sp>
        <p:nvSpPr>
          <p:cNvPr id="19" name="TextBox 18"/>
          <p:cNvSpPr txBox="1"/>
          <p:nvPr/>
        </p:nvSpPr>
        <p:spPr>
          <a:xfrm>
            <a:off x="7838236" y="1700784"/>
            <a:ext cx="33478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Nothing new has been said. T is only a name for the update we already wrote. But naming it turns a question about an algorithm into a question about a </a:t>
            </a:r>
            <a:r>
              <a:rPr sz="1092" b="1" i="0" dirty="0">
                <a:solidFill>
                  <a:srgbClr val="333639"/>
                </a:solidFill>
                <a:latin typeface="Fira Sans"/>
              </a:rPr>
              <a:t>function</a:t>
            </a:r>
            <a:r>
              <a:rPr lang="it-IT" sz="1092" dirty="0">
                <a:solidFill>
                  <a:srgbClr val="333639"/>
                </a:solidFill>
                <a:latin typeface="Fira Sans"/>
              </a:rPr>
              <a:t>, </a:t>
            </a:r>
            <a:r>
              <a:rPr sz="1092" b="0" i="0" dirty="0">
                <a:solidFill>
                  <a:srgbClr val="333639"/>
                </a:solidFill>
                <a:latin typeface="Fira Sans"/>
              </a:rPr>
              <a:t>and functions we can reason about.</a:t>
            </a:r>
          </a:p>
        </p:txBody>
      </p:sp>
      <p:sp>
        <p:nvSpPr>
          <p:cNvPr id="20" name="TextBox 19"/>
          <p:cNvSpPr txBox="1"/>
          <p:nvPr/>
        </p:nvSpPr>
        <p:spPr>
          <a:xfrm>
            <a:off x="7618780" y="2787091"/>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REMAINS TO BE SHOWN</a:t>
            </a:r>
          </a:p>
        </p:txBody>
      </p:sp>
      <p:sp>
        <p:nvSpPr>
          <p:cNvPr id="21" name="TextBox 20"/>
          <p:cNvSpPr txBox="1"/>
          <p:nvPr/>
        </p:nvSpPr>
        <p:spPr>
          <a:xfrm>
            <a:off x="7618780" y="3043123"/>
            <a:ext cx="3731940" cy="1336202"/>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dirty="0">
                <a:solidFill>
                  <a:srgbClr val="333639"/>
                </a:solidFill>
                <a:latin typeface="Fira Sans"/>
              </a:rPr>
              <a:t>That v</a:t>
            </a:r>
            <a:r>
              <a:rPr lang="it-IT" sz="1092" b="0" i="0" dirty="0">
                <a:solidFill>
                  <a:srgbClr val="333639"/>
                </a:solidFill>
                <a:latin typeface="Fira Sans"/>
              </a:rPr>
              <a:t>_</a:t>
            </a:r>
            <a:r>
              <a:rPr lang="el-GR" sz="1092" b="0" i="0" dirty="0">
                <a:solidFill>
                  <a:srgbClr val="333639"/>
                </a:solidFill>
                <a:latin typeface="Fira Sans"/>
              </a:rPr>
              <a:t>π</a:t>
            </a:r>
            <a:r>
              <a:rPr sz="1092" b="0" i="0" dirty="0">
                <a:solidFill>
                  <a:srgbClr val="333639"/>
                </a:solidFill>
                <a:latin typeface="Fira Sans"/>
              </a:rPr>
              <a:t> is a fixed point is easy, and not enough: an operator can have a fixed point that iteration never reaches.</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We must show that repeated application brings an </a:t>
            </a:r>
            <a:r>
              <a:rPr sz="1092" b="1" i="0" dirty="0">
                <a:solidFill>
                  <a:srgbClr val="25282A"/>
                </a:solidFill>
                <a:latin typeface="Fira Sans"/>
              </a:rPr>
              <a:t>arbitrary</a:t>
            </a:r>
            <a:r>
              <a:rPr sz="1092" b="0" i="0" dirty="0">
                <a:solidFill>
                  <a:srgbClr val="333639"/>
                </a:solidFill>
                <a:latin typeface="Fira Sans"/>
              </a:rPr>
              <a:t> starting value function closer and closer to it.</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The property that guarantees this is called </a:t>
            </a:r>
            <a:r>
              <a:rPr sz="1092" b="1" i="0" dirty="0">
                <a:solidFill>
                  <a:srgbClr val="574676"/>
                </a:solidFill>
                <a:latin typeface="Fira Sans"/>
              </a:rPr>
              <a:t>contraction</a:t>
            </a:r>
            <a:r>
              <a:rPr lang="it-IT" sz="1092" dirty="0">
                <a:solidFill>
                  <a:srgbClr val="333639"/>
                </a:solidFill>
                <a:latin typeface="Fira Sans"/>
              </a:rPr>
              <a:t> </a:t>
            </a:r>
            <a:r>
              <a:rPr sz="1092" b="0" i="0" dirty="0">
                <a:solidFill>
                  <a:srgbClr val="333639"/>
                </a:solidFill>
                <a:latin typeface="Fira Sans"/>
              </a:rPr>
              <a:t>next slide.</a:t>
            </a:r>
          </a:p>
        </p:txBody>
      </p:sp>
      <p:sp>
        <p:nvSpPr>
          <p:cNvPr id="22" name="Rectangle 21"/>
          <p:cNvSpPr/>
          <p:nvPr/>
        </p:nvSpPr>
        <p:spPr>
          <a:xfrm>
            <a:off x="7618780" y="4635357"/>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618780" y="4635357"/>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838236" y="4781661"/>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SOURCE</a:t>
            </a:r>
          </a:p>
        </p:txBody>
      </p:sp>
      <p:sp>
        <p:nvSpPr>
          <p:cNvPr id="25" name="TextBox 24"/>
          <p:cNvSpPr txBox="1"/>
          <p:nvPr/>
        </p:nvSpPr>
        <p:spPr>
          <a:xfrm>
            <a:off x="7838236" y="5019405"/>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Denardo (1967), </a:t>
            </a:r>
            <a:r>
              <a:rPr sz="1045" b="0" i="1">
                <a:solidFill>
                  <a:srgbClr val="333639"/>
                </a:solidFill>
                <a:latin typeface="Fira Sans"/>
              </a:rPr>
              <a:t>Contraction Mappings in the Theory Underlying Dynamic Programming</a:t>
            </a:r>
            <a:r>
              <a:rPr sz="1045" b="0" i="0">
                <a:solidFill>
                  <a:srgbClr val="333639"/>
                </a:solidFill>
                <a:latin typeface="Fira Sans"/>
              </a:rPr>
              <a:t>, is the reference for the argument that follows.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4.6  MEASURING THE DISTANCE BETWEEN TWO VALUE FUNCTIONS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worst-case disagreement, because we want a guarantee for every state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IV — Policy evaluation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26</a:t>
            </a:r>
          </a:p>
        </p:txBody>
      </p:sp>
      <p:sp>
        <p:nvSpPr>
          <p:cNvPr id="8" name="TextBox 7"/>
          <p:cNvSpPr txBox="1"/>
          <p:nvPr/>
        </p:nvSpPr>
        <p:spPr>
          <a:xfrm>
            <a:off x="841248" y="1316736"/>
            <a:ext cx="6543446"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To say that a sweep brings two value functions “closer”, we first need a distance. We take their </a:t>
            </a:r>
            <a:r>
              <a:rPr sz="1282" b="1" i="0" dirty="0">
                <a:solidFill>
                  <a:srgbClr val="25282A"/>
                </a:solidFill>
                <a:latin typeface="Fira Sans"/>
              </a:rPr>
              <a:t>largest disagreement over all states</a:t>
            </a:r>
            <a:r>
              <a:rPr lang="it-IT" sz="1282" dirty="0">
                <a:solidFill>
                  <a:srgbClr val="333639"/>
                </a:solidFill>
                <a:latin typeface="Fira Sans"/>
              </a:rPr>
              <a:t>, </a:t>
            </a:r>
            <a:r>
              <a:rPr sz="1282" b="0" i="0" dirty="0">
                <a:solidFill>
                  <a:srgbClr val="333639"/>
                </a:solidFill>
                <a:latin typeface="Fira Sans"/>
              </a:rPr>
              <a:t>the worst case, not the average. This is the </a:t>
            </a:r>
            <a:r>
              <a:rPr sz="1282" b="1" i="0" dirty="0">
                <a:solidFill>
                  <a:srgbClr val="574676"/>
                </a:solidFill>
                <a:latin typeface="Fira Sans"/>
              </a:rPr>
              <a:t>maximum norm</a:t>
            </a:r>
            <a:r>
              <a:rPr sz="1282" b="0" i="0" dirty="0">
                <a:solidFill>
                  <a:srgbClr val="333639"/>
                </a:solidFill>
                <a:latin typeface="Fira Sans"/>
              </a:rPr>
              <a:t> (also called the supremum or infinity norm).</a:t>
            </a:r>
          </a:p>
        </p:txBody>
      </p:sp>
      <p:pic>
        <p:nvPicPr>
          <p:cNvPr id="9" name="Picture 8" descr="eq_maxnorm.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186955"/>
            <a:ext cx="4182872" cy="543306"/>
          </a:xfrm>
          <a:prstGeom prst="rect">
            <a:avLst/>
          </a:prstGeom>
        </p:spPr>
      </p:pic>
      <p:sp>
        <p:nvSpPr>
          <p:cNvPr id="10" name="Rectangle 9"/>
          <p:cNvSpPr/>
          <p:nvPr/>
        </p:nvSpPr>
        <p:spPr>
          <a:xfrm>
            <a:off x="841248" y="3041157"/>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3260613"/>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PROPERTY WE ARE ABOUT TO PROVE</a:t>
            </a:r>
          </a:p>
        </p:txBody>
      </p:sp>
      <p:sp>
        <p:nvSpPr>
          <p:cNvPr id="12" name="Rectangle 11"/>
          <p:cNvSpPr/>
          <p:nvPr/>
        </p:nvSpPr>
        <p:spPr>
          <a:xfrm>
            <a:off x="841248" y="3571509"/>
            <a:ext cx="6543446" cy="87782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3571509"/>
            <a:ext cx="41148" cy="87782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eq_ct5.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568" y="3845829"/>
            <a:ext cx="3725798" cy="333375"/>
          </a:xfrm>
          <a:prstGeom prst="rect">
            <a:avLst/>
          </a:prstGeom>
        </p:spPr>
      </p:pic>
      <p:sp>
        <p:nvSpPr>
          <p:cNvPr id="15" name="TextBox 14"/>
          <p:cNvSpPr txBox="1"/>
          <p:nvPr/>
        </p:nvSpPr>
        <p:spPr>
          <a:xfrm>
            <a:off x="841248" y="4595637"/>
            <a:ext cx="6543446" cy="566470"/>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dirty="0">
                <a:solidFill>
                  <a:srgbClr val="333639"/>
                </a:solidFill>
                <a:latin typeface="Fira Sans"/>
              </a:rPr>
              <a:t>Whatever the two value functions are, after one sweep their worst-case disagreement has shrunk by at least a factor </a:t>
            </a:r>
            <a:r>
              <a:rPr sz="1140" b="0" i="0" dirty="0" err="1">
                <a:solidFill>
                  <a:srgbClr val="333639"/>
                </a:solidFill>
                <a:latin typeface="Fira Sans"/>
              </a:rPr>
              <a:t>γ</a:t>
            </a:r>
            <a:r>
              <a:rPr sz="1140" b="0" i="0" dirty="0">
                <a:solidFill>
                  <a:srgbClr val="333639"/>
                </a:solidFill>
                <a:latin typeface="Fira Sans"/>
              </a:rPr>
              <a:t>. An operator with this property is called a </a:t>
            </a:r>
            <a:r>
              <a:rPr sz="1140" b="1" i="0" dirty="0">
                <a:solidFill>
                  <a:srgbClr val="2B7A3E"/>
                </a:solidFill>
                <a:latin typeface="Fira Sans"/>
              </a:rPr>
              <a:t>contraction</a:t>
            </a:r>
            <a:r>
              <a:rPr sz="1140" b="0" i="0" dirty="0">
                <a:solidFill>
                  <a:srgbClr val="333639"/>
                </a:solidFill>
                <a:latin typeface="Fira Sans"/>
              </a:rPr>
              <a:t>. A contraction has exactly one fixed point, and iteration reaches it from any starting point.</a:t>
            </a:r>
          </a:p>
        </p:txBody>
      </p:sp>
      <p:sp>
        <p:nvSpPr>
          <p:cNvPr id="16" name="Rectangle 15"/>
          <p:cNvSpPr/>
          <p:nvPr/>
        </p:nvSpPr>
        <p:spPr>
          <a:xfrm>
            <a:off x="7618780" y="1316736"/>
            <a:ext cx="3731940" cy="136245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618780" y="1316736"/>
            <a:ext cx="41148" cy="136245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THE CHOICE OF NORM IS NOT ARBITRARY</a:t>
            </a:r>
          </a:p>
        </p:txBody>
      </p:sp>
      <p:sp>
        <p:nvSpPr>
          <p:cNvPr id="19" name="TextBox 18"/>
          <p:cNvSpPr txBox="1"/>
          <p:nvPr/>
        </p:nvSpPr>
        <p:spPr>
          <a:xfrm>
            <a:off x="7838236" y="1700784"/>
            <a:ext cx="3347892"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Why the worst case and not the average? Because we want a statement about </a:t>
            </a:r>
            <a:r>
              <a:rPr sz="1092" b="1" i="0">
                <a:solidFill>
                  <a:srgbClr val="333639"/>
                </a:solidFill>
                <a:latin typeface="Fira Sans"/>
              </a:rPr>
              <a:t>every</a:t>
            </a:r>
            <a:r>
              <a:rPr sz="1092" b="0" i="0">
                <a:solidFill>
                  <a:srgbClr val="333639"/>
                </a:solidFill>
                <a:latin typeface="Fira Sans"/>
              </a:rPr>
              <a:t> state. If the largest error goes to zero, every error does. An average could hide a single state that never converges.</a:t>
            </a:r>
          </a:p>
        </p:txBody>
      </p:sp>
      <p:sp>
        <p:nvSpPr>
          <p:cNvPr id="20" name="TextBox 19"/>
          <p:cNvSpPr txBox="1"/>
          <p:nvPr/>
        </p:nvSpPr>
        <p:spPr>
          <a:xfrm>
            <a:off x="7618780" y="2953511"/>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PICTURE TO KEEP IN MIND</a:t>
            </a:r>
          </a:p>
        </p:txBody>
      </p:sp>
      <p:sp>
        <p:nvSpPr>
          <p:cNvPr id="21" name="TextBox 20"/>
          <p:cNvSpPr txBox="1"/>
          <p:nvPr/>
        </p:nvSpPr>
        <p:spPr>
          <a:xfrm>
            <a:off x="7618780" y="3209544"/>
            <a:ext cx="3731940" cy="1491528"/>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dirty="0">
                <a:solidFill>
                  <a:srgbClr val="333639"/>
                </a:solidFill>
                <a:latin typeface="Fira Sans"/>
              </a:rPr>
              <a:t>Think of value functions as points in a space of |𝒮| dimensions, one coordinate per state.</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The operator Tπ moves every point. The contraction property says it </a:t>
            </a:r>
            <a:r>
              <a:rPr sz="1092" b="1" i="0" dirty="0">
                <a:solidFill>
                  <a:srgbClr val="25282A"/>
                </a:solidFill>
                <a:latin typeface="Fira Sans"/>
              </a:rPr>
              <a:t>pulls any two points closer</a:t>
            </a:r>
            <a:r>
              <a:rPr sz="1092" b="0" i="0" dirty="0">
                <a:solidFill>
                  <a:srgbClr val="333639"/>
                </a:solidFill>
                <a:latin typeface="Fira Sans"/>
              </a:rPr>
              <a:t>, by a fixed factor, every time it is applied.</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Repeatedly pulling everything closer leaves exactly one point that cannot move: the </a:t>
            </a:r>
            <a:r>
              <a:rPr sz="1092" b="1" i="0" dirty="0">
                <a:solidFill>
                  <a:srgbClr val="574676"/>
                </a:solidFill>
                <a:latin typeface="Fira Sans"/>
              </a:rPr>
              <a:t>fixed point</a:t>
            </a:r>
            <a:r>
              <a:rPr sz="1092" b="0" i="0" dirty="0">
                <a:solidFill>
                  <a:srgbClr val="333639"/>
                </a:solidFill>
                <a:latin typeface="Fira Sans"/>
              </a:rPr>
              <a:t>, which we already know is v</a:t>
            </a:r>
            <a:r>
              <a:rPr lang="it-IT" sz="1092" b="0" i="0" dirty="0">
                <a:solidFill>
                  <a:srgbClr val="333639"/>
                </a:solidFill>
                <a:latin typeface="Fira Sans"/>
              </a:rPr>
              <a:t>_</a:t>
            </a:r>
            <a:r>
              <a:rPr sz="1092" b="0" i="0" dirty="0">
                <a:solidFill>
                  <a:srgbClr val="333639"/>
                </a:solidFill>
                <a:latin typeface="Fira Sans"/>
              </a:rPr>
              <a:t>π.</a:t>
            </a:r>
          </a:p>
        </p:txBody>
      </p:sp>
      <p:sp>
        <p:nvSpPr>
          <p:cNvPr id="22" name="Rectangle 21"/>
          <p:cNvSpPr/>
          <p:nvPr/>
        </p:nvSpPr>
        <p:spPr>
          <a:xfrm>
            <a:off x="7618780" y="4957104"/>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618780" y="4957104"/>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838236" y="5103408"/>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THE GENERAL STATEMENT</a:t>
            </a:r>
          </a:p>
        </p:txBody>
      </p:sp>
      <p:sp>
        <p:nvSpPr>
          <p:cNvPr id="25" name="TextBox 24"/>
          <p:cNvSpPr txBox="1"/>
          <p:nvPr/>
        </p:nvSpPr>
        <p:spPr>
          <a:xfrm>
            <a:off x="7838236" y="5341152"/>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This is the Banach fixed-point theorem, specialised to the Bellman operator. The next slide proves the contraction property directly, without invoking it.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4.7  PROOF: THE BELLMAN OPERATOR IS A CONTRACTION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Four steps, each of which uses one elementary fact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IV — Policy evaluation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27</a:t>
            </a:r>
          </a:p>
        </p:txBody>
      </p:sp>
      <p:sp>
        <p:nvSpPr>
          <p:cNvPr id="8" name="TextBox 7"/>
          <p:cNvSpPr txBox="1"/>
          <p:nvPr/>
        </p:nvSpPr>
        <p:spPr>
          <a:xfrm>
            <a:off x="859536" y="1298448"/>
            <a:ext cx="457200" cy="237744"/>
          </a:xfrm>
          <a:prstGeom prst="rect">
            <a:avLst/>
          </a:prstGeom>
          <a:noFill/>
        </p:spPr>
        <p:txBody>
          <a:bodyPr wrap="square" lIns="0" tIns="0" rIns="0" bIns="0" anchor="t">
            <a:noAutofit/>
          </a:bodyPr>
          <a:lstStyle/>
          <a:p>
            <a:pPr marL="0" indent="0" algn="l">
              <a:lnSpc>
                <a:spcPts val="1410"/>
              </a:lnSpc>
              <a:spcBef>
                <a:spcPts val="0"/>
              </a:spcBef>
              <a:spcAft>
                <a:spcPts val="0"/>
              </a:spcAft>
              <a:buNone/>
            </a:pPr>
            <a:r>
              <a:rPr sz="1410" b="1" i="0">
                <a:solidFill>
                  <a:srgbClr val="574676"/>
                </a:solidFill>
                <a:latin typeface="Roboto Slab"/>
              </a:rPr>
              <a:t>1</a:t>
            </a:r>
          </a:p>
        </p:txBody>
      </p:sp>
      <p:sp>
        <p:nvSpPr>
          <p:cNvPr id="9" name="TextBox 8"/>
          <p:cNvSpPr txBox="1"/>
          <p:nvPr/>
        </p:nvSpPr>
        <p:spPr>
          <a:xfrm>
            <a:off x="1316736" y="1316736"/>
            <a:ext cx="4754880" cy="219456"/>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140" b="1" i="0">
                <a:solidFill>
                  <a:srgbClr val="25282A"/>
                </a:solidFill>
                <a:latin typeface="Fira Sans"/>
              </a:rPr>
              <a:t>Apply one sweep to both value functions, and subtract</a:t>
            </a:r>
          </a:p>
        </p:txBody>
      </p:sp>
      <p:sp>
        <p:nvSpPr>
          <p:cNvPr id="10" name="TextBox 9"/>
          <p:cNvSpPr txBox="1"/>
          <p:nvPr/>
        </p:nvSpPr>
        <p:spPr>
          <a:xfrm>
            <a:off x="6327648" y="1307592"/>
            <a:ext cx="5870448" cy="176530"/>
          </a:xfrm>
          <a:prstGeom prst="rect">
            <a:avLst/>
          </a:prstGeom>
          <a:noFill/>
        </p:spPr>
        <p:txBody>
          <a:bodyPr wrap="square" lIns="0" tIns="0" rIns="0" bIns="0" anchor="t">
            <a:noAutofit/>
          </a:bodyPr>
          <a:lstStyle/>
          <a:p>
            <a:pPr marL="0" indent="0" algn="l">
              <a:lnSpc>
                <a:spcPts val="1102"/>
              </a:lnSpc>
              <a:spcBef>
                <a:spcPts val="0"/>
              </a:spcBef>
              <a:spcAft>
                <a:spcPts val="0"/>
              </a:spcAft>
              <a:buNone/>
            </a:pPr>
            <a:r>
              <a:rPr sz="950" b="0" i="0">
                <a:solidFill>
                  <a:srgbClr val="626669"/>
                </a:solidFill>
                <a:latin typeface="Fira Sans"/>
              </a:rPr>
              <a:t>Nothing but the definition of Tπ, written once for V and once for U.</a:t>
            </a:r>
          </a:p>
        </p:txBody>
      </p:sp>
      <p:pic>
        <p:nvPicPr>
          <p:cNvPr id="11" name="Picture 10" descr="eq_ct1.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16736" y="1572768"/>
            <a:ext cx="6749415" cy="535305"/>
          </a:xfrm>
          <a:prstGeom prst="rect">
            <a:avLst/>
          </a:prstGeom>
        </p:spPr>
      </p:pic>
      <p:sp>
        <p:nvSpPr>
          <p:cNvPr id="12" name="TextBox 11"/>
          <p:cNvSpPr txBox="1"/>
          <p:nvPr/>
        </p:nvSpPr>
        <p:spPr>
          <a:xfrm>
            <a:off x="859536" y="2254377"/>
            <a:ext cx="457200" cy="237744"/>
          </a:xfrm>
          <a:prstGeom prst="rect">
            <a:avLst/>
          </a:prstGeom>
          <a:noFill/>
        </p:spPr>
        <p:txBody>
          <a:bodyPr wrap="square" lIns="0" tIns="0" rIns="0" bIns="0" anchor="t">
            <a:noAutofit/>
          </a:bodyPr>
          <a:lstStyle/>
          <a:p>
            <a:pPr marL="0" indent="0" algn="l">
              <a:lnSpc>
                <a:spcPts val="1410"/>
              </a:lnSpc>
              <a:spcBef>
                <a:spcPts val="0"/>
              </a:spcBef>
              <a:spcAft>
                <a:spcPts val="0"/>
              </a:spcAft>
              <a:buNone/>
            </a:pPr>
            <a:r>
              <a:rPr sz="1410" b="1" i="0">
                <a:solidFill>
                  <a:srgbClr val="574676"/>
                </a:solidFill>
                <a:latin typeface="Roboto Slab"/>
              </a:rPr>
              <a:t>2</a:t>
            </a:r>
          </a:p>
        </p:txBody>
      </p:sp>
      <p:sp>
        <p:nvSpPr>
          <p:cNvPr id="13" name="TextBox 12"/>
          <p:cNvSpPr txBox="1"/>
          <p:nvPr/>
        </p:nvSpPr>
        <p:spPr>
          <a:xfrm>
            <a:off x="1316736" y="2272665"/>
            <a:ext cx="4754880" cy="219456"/>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140" b="1" i="0">
                <a:solidFill>
                  <a:srgbClr val="25282A"/>
                </a:solidFill>
                <a:latin typeface="Fira Sans"/>
              </a:rPr>
              <a:t>The reward terms cancel</a:t>
            </a:r>
          </a:p>
        </p:txBody>
      </p:sp>
      <p:sp>
        <p:nvSpPr>
          <p:cNvPr id="14" name="TextBox 13"/>
          <p:cNvSpPr txBox="1"/>
          <p:nvPr/>
        </p:nvSpPr>
        <p:spPr>
          <a:xfrm>
            <a:off x="6327648" y="2263521"/>
            <a:ext cx="5870448" cy="316484"/>
          </a:xfrm>
          <a:prstGeom prst="rect">
            <a:avLst/>
          </a:prstGeom>
          <a:noFill/>
        </p:spPr>
        <p:txBody>
          <a:bodyPr wrap="square" lIns="0" tIns="0" rIns="0" bIns="0" anchor="t">
            <a:noAutofit/>
          </a:bodyPr>
          <a:lstStyle/>
          <a:p>
            <a:pPr marL="0" indent="0" algn="l">
              <a:lnSpc>
                <a:spcPts val="1102"/>
              </a:lnSpc>
              <a:spcBef>
                <a:spcPts val="0"/>
              </a:spcBef>
              <a:spcAft>
                <a:spcPts val="0"/>
              </a:spcAft>
              <a:buNone/>
            </a:pPr>
            <a:r>
              <a:rPr sz="950" b="0" i="0">
                <a:solidFill>
                  <a:srgbClr val="626669"/>
                </a:solidFill>
                <a:latin typeface="Fira Sans"/>
              </a:rPr>
              <a:t>Same policy, same dynamics, so r is identical in both. Only the γ-weighted difference of the successor values survives.</a:t>
            </a:r>
          </a:p>
        </p:txBody>
      </p:sp>
      <p:pic>
        <p:nvPicPr>
          <p:cNvPr id="15" name="Picture 14" descr="eq_ct2.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6736" y="2528697"/>
            <a:ext cx="5711190" cy="516255"/>
          </a:xfrm>
          <a:prstGeom prst="rect">
            <a:avLst/>
          </a:prstGeom>
        </p:spPr>
      </p:pic>
      <p:sp>
        <p:nvSpPr>
          <p:cNvPr id="16" name="TextBox 15"/>
          <p:cNvSpPr txBox="1"/>
          <p:nvPr/>
        </p:nvSpPr>
        <p:spPr>
          <a:xfrm>
            <a:off x="859536" y="3191256"/>
            <a:ext cx="457200" cy="237744"/>
          </a:xfrm>
          <a:prstGeom prst="rect">
            <a:avLst/>
          </a:prstGeom>
          <a:noFill/>
        </p:spPr>
        <p:txBody>
          <a:bodyPr wrap="square" lIns="0" tIns="0" rIns="0" bIns="0" anchor="t">
            <a:noAutofit/>
          </a:bodyPr>
          <a:lstStyle/>
          <a:p>
            <a:pPr marL="0" indent="0" algn="l">
              <a:lnSpc>
                <a:spcPts val="1410"/>
              </a:lnSpc>
              <a:spcBef>
                <a:spcPts val="0"/>
              </a:spcBef>
              <a:spcAft>
                <a:spcPts val="0"/>
              </a:spcAft>
              <a:buNone/>
            </a:pPr>
            <a:r>
              <a:rPr sz="1410" b="1" i="0">
                <a:solidFill>
                  <a:srgbClr val="574676"/>
                </a:solidFill>
                <a:latin typeface="Roboto Slab"/>
              </a:rPr>
              <a:t>3</a:t>
            </a:r>
          </a:p>
        </p:txBody>
      </p:sp>
      <p:sp>
        <p:nvSpPr>
          <p:cNvPr id="17" name="TextBox 16"/>
          <p:cNvSpPr txBox="1"/>
          <p:nvPr/>
        </p:nvSpPr>
        <p:spPr>
          <a:xfrm>
            <a:off x="1316736" y="3209544"/>
            <a:ext cx="4754880" cy="219456"/>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140" b="1" i="0">
                <a:solidFill>
                  <a:srgbClr val="25282A"/>
                </a:solidFill>
                <a:latin typeface="Fira Sans"/>
              </a:rPr>
              <a:t>Take absolute values, then the triangle inequality</a:t>
            </a:r>
          </a:p>
        </p:txBody>
      </p:sp>
      <p:sp>
        <p:nvSpPr>
          <p:cNvPr id="18" name="TextBox 17"/>
          <p:cNvSpPr txBox="1"/>
          <p:nvPr/>
        </p:nvSpPr>
        <p:spPr>
          <a:xfrm>
            <a:off x="6327648" y="3200400"/>
            <a:ext cx="5870448" cy="316484"/>
          </a:xfrm>
          <a:prstGeom prst="rect">
            <a:avLst/>
          </a:prstGeom>
          <a:noFill/>
        </p:spPr>
        <p:txBody>
          <a:bodyPr wrap="square" lIns="0" tIns="0" rIns="0" bIns="0" anchor="t">
            <a:noAutofit/>
          </a:bodyPr>
          <a:lstStyle/>
          <a:p>
            <a:pPr marL="0" indent="0" algn="l">
              <a:lnSpc>
                <a:spcPts val="1102"/>
              </a:lnSpc>
              <a:spcBef>
                <a:spcPts val="0"/>
              </a:spcBef>
              <a:spcAft>
                <a:spcPts val="0"/>
              </a:spcAft>
              <a:buNone/>
            </a:pPr>
            <a:r>
              <a:rPr sz="950" b="0" i="0">
                <a:solidFill>
                  <a:srgbClr val="626669"/>
                </a:solidFill>
                <a:latin typeface="Fira Sans"/>
              </a:rPr>
              <a:t>The absolute value of a sum is never greater than the sum of the absolute values; the probabilities are non-negative, so they come through unchanged.</a:t>
            </a:r>
          </a:p>
        </p:txBody>
      </p:sp>
      <p:pic>
        <p:nvPicPr>
          <p:cNvPr id="19" name="Picture 18" descr="eq_ct3.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6736" y="3465576"/>
            <a:ext cx="5800725" cy="516255"/>
          </a:xfrm>
          <a:prstGeom prst="rect">
            <a:avLst/>
          </a:prstGeom>
        </p:spPr>
      </p:pic>
      <p:sp>
        <p:nvSpPr>
          <p:cNvPr id="20" name="TextBox 19"/>
          <p:cNvSpPr txBox="1"/>
          <p:nvPr/>
        </p:nvSpPr>
        <p:spPr>
          <a:xfrm>
            <a:off x="859536" y="4128135"/>
            <a:ext cx="457200" cy="237744"/>
          </a:xfrm>
          <a:prstGeom prst="rect">
            <a:avLst/>
          </a:prstGeom>
          <a:noFill/>
        </p:spPr>
        <p:txBody>
          <a:bodyPr wrap="square" lIns="0" tIns="0" rIns="0" bIns="0" anchor="t">
            <a:noAutofit/>
          </a:bodyPr>
          <a:lstStyle/>
          <a:p>
            <a:pPr marL="0" indent="0" algn="l">
              <a:lnSpc>
                <a:spcPts val="1410"/>
              </a:lnSpc>
              <a:spcBef>
                <a:spcPts val="0"/>
              </a:spcBef>
              <a:spcAft>
                <a:spcPts val="0"/>
              </a:spcAft>
              <a:buNone/>
            </a:pPr>
            <a:r>
              <a:rPr sz="1410" b="1" i="0">
                <a:solidFill>
                  <a:srgbClr val="574676"/>
                </a:solidFill>
                <a:latin typeface="Roboto Slab"/>
              </a:rPr>
              <a:t>4</a:t>
            </a:r>
          </a:p>
        </p:txBody>
      </p:sp>
      <p:sp>
        <p:nvSpPr>
          <p:cNvPr id="21" name="TextBox 20"/>
          <p:cNvSpPr txBox="1"/>
          <p:nvPr/>
        </p:nvSpPr>
        <p:spPr>
          <a:xfrm>
            <a:off x="1316736" y="4146422"/>
            <a:ext cx="4754880" cy="219456"/>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140" b="1" i="0">
                <a:solidFill>
                  <a:srgbClr val="25282A"/>
                </a:solidFill>
                <a:latin typeface="Fira Sans"/>
              </a:rPr>
              <a:t>Bound every term by the worst one, and pull it out</a:t>
            </a:r>
          </a:p>
        </p:txBody>
      </p:sp>
      <p:sp>
        <p:nvSpPr>
          <p:cNvPr id="22" name="TextBox 21"/>
          <p:cNvSpPr txBox="1"/>
          <p:nvPr/>
        </p:nvSpPr>
        <p:spPr>
          <a:xfrm>
            <a:off x="6327648" y="4137279"/>
            <a:ext cx="5870448" cy="316484"/>
          </a:xfrm>
          <a:prstGeom prst="rect">
            <a:avLst/>
          </a:prstGeom>
          <a:noFill/>
        </p:spPr>
        <p:txBody>
          <a:bodyPr wrap="square" lIns="0" tIns="0" rIns="0" bIns="0" anchor="t">
            <a:noAutofit/>
          </a:bodyPr>
          <a:lstStyle/>
          <a:p>
            <a:pPr marL="0" indent="0" algn="l">
              <a:lnSpc>
                <a:spcPts val="1102"/>
              </a:lnSpc>
              <a:spcBef>
                <a:spcPts val="0"/>
              </a:spcBef>
              <a:spcAft>
                <a:spcPts val="0"/>
              </a:spcAft>
              <a:buNone/>
            </a:pPr>
            <a:r>
              <a:rPr sz="950" b="0" i="0" dirty="0">
                <a:solidFill>
                  <a:srgbClr val="626669"/>
                </a:solidFill>
                <a:latin typeface="Fira Sans"/>
              </a:rPr>
              <a:t>By definition of the maximum norm. What remains is a sum of probabilities over all actions and all outcomes</a:t>
            </a:r>
            <a:r>
              <a:rPr lang="it-IT" sz="950" b="0" i="0" dirty="0">
                <a:solidFill>
                  <a:srgbClr val="626669"/>
                </a:solidFill>
                <a:latin typeface="Fira Sans"/>
              </a:rPr>
              <a:t>, </a:t>
            </a:r>
            <a:r>
              <a:rPr sz="950" b="0" i="0" dirty="0">
                <a:solidFill>
                  <a:srgbClr val="626669"/>
                </a:solidFill>
                <a:latin typeface="Fira Sans"/>
              </a:rPr>
              <a:t>which is exactly one.</a:t>
            </a:r>
          </a:p>
        </p:txBody>
      </p:sp>
      <p:pic>
        <p:nvPicPr>
          <p:cNvPr id="23" name="Picture 22" descr="eq_ct4.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16736" y="4402455"/>
            <a:ext cx="5452109" cy="765810"/>
          </a:xfrm>
          <a:prstGeom prst="rect">
            <a:avLst/>
          </a:prstGeom>
        </p:spPr>
      </p:pic>
      <p:sp>
        <p:nvSpPr>
          <p:cNvPr id="24" name="Rectangle 23"/>
          <p:cNvSpPr/>
          <p:nvPr/>
        </p:nvSpPr>
        <p:spPr>
          <a:xfrm>
            <a:off x="841248" y="5369433"/>
            <a:ext cx="10515600" cy="859536"/>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841248" y="5369433"/>
            <a:ext cx="41148" cy="859536"/>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115568" y="5479161"/>
            <a:ext cx="4572000" cy="201168"/>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00">
                <a:solidFill>
                  <a:srgbClr val="2B7A3E"/>
                </a:solidFill>
                <a:latin typeface="Fira Sans"/>
              </a:rPr>
              <a:t>TAKING THE LARGEST DIFFERENCE OVER ALL STATES</a:t>
            </a:r>
          </a:p>
        </p:txBody>
      </p:sp>
      <p:pic>
        <p:nvPicPr>
          <p:cNvPr id="27" name="Picture 26" descr="eq_ct5.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5568" y="5735193"/>
            <a:ext cx="3370960" cy="301625"/>
          </a:xfrm>
          <a:prstGeom prst="rect">
            <a:avLst/>
          </a:prstGeom>
        </p:spPr>
      </p:pic>
      <p:sp>
        <p:nvSpPr>
          <p:cNvPr id="28" name="TextBox 27"/>
          <p:cNvSpPr txBox="1"/>
          <p:nvPr/>
        </p:nvSpPr>
        <p:spPr>
          <a:xfrm>
            <a:off x="5047488" y="5552313"/>
            <a:ext cx="6035040"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333639"/>
                </a:solidFill>
                <a:latin typeface="Fira Sans"/>
              </a:rPr>
              <a:t>The left-hand side no longer depends on any particular state, so the bound holds for the whole value function: </a:t>
            </a:r>
            <a:r>
              <a:rPr sz="1045" b="1" i="0">
                <a:solidFill>
                  <a:srgbClr val="2B7A3E"/>
                </a:solidFill>
                <a:latin typeface="Fira Sans"/>
              </a:rPr>
              <a:t>Tπ is a γ-contraction in the maximum norm</a:t>
            </a:r>
            <a:r>
              <a:rPr sz="1045" b="0" i="0">
                <a:solidFill>
                  <a:srgbClr val="333639"/>
                </a:solidFill>
                <a:latin typeface="Fira Sans"/>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4.8  FROM CONTRACTION TO CONVERGENCE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Apply the property to the estimate and the truth, and iterate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IV — Policy evaluation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28</a:t>
            </a:r>
          </a:p>
        </p:txBody>
      </p:sp>
      <p:sp>
        <p:nvSpPr>
          <p:cNvPr id="8" name="TextBox 7"/>
          <p:cNvSpPr txBox="1"/>
          <p:nvPr/>
        </p:nvSpPr>
        <p:spPr>
          <a:xfrm>
            <a:off x="841248" y="1316736"/>
            <a:ext cx="6543446"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The contraction property holds for </a:t>
            </a:r>
            <a:r>
              <a:rPr sz="1282" b="1" i="0">
                <a:solidFill>
                  <a:srgbClr val="25282A"/>
                </a:solidFill>
                <a:latin typeface="Fira Sans"/>
              </a:rPr>
              <a:t>any</a:t>
            </a:r>
            <a:r>
              <a:rPr sz="1282" b="0" i="0">
                <a:solidFill>
                  <a:srgbClr val="333639"/>
                </a:solidFill>
                <a:latin typeface="Fira Sans"/>
              </a:rPr>
              <a:t> two value functions. Apply it to the pair we actually care about: the current estimate and the true value function.</a:t>
            </a:r>
          </a:p>
        </p:txBody>
      </p:sp>
      <p:pic>
        <p:nvPicPr>
          <p:cNvPr id="9" name="Picture 8" descr="eq_ct6.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1970034"/>
            <a:ext cx="3272027" cy="301625"/>
          </a:xfrm>
          <a:prstGeom prst="rect">
            <a:avLst/>
          </a:prstGeom>
        </p:spPr>
      </p:pic>
      <p:sp>
        <p:nvSpPr>
          <p:cNvPr id="10" name="TextBox 9"/>
          <p:cNvSpPr txBox="1"/>
          <p:nvPr/>
        </p:nvSpPr>
        <p:spPr>
          <a:xfrm>
            <a:off x="1115568" y="2344811"/>
            <a:ext cx="6269126" cy="33539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dirty="0">
                <a:solidFill>
                  <a:srgbClr val="626669"/>
                </a:solidFill>
                <a:latin typeface="Fira Sans"/>
              </a:rPr>
              <a:t>The next estimate is the operator applied to the current one, and v</a:t>
            </a:r>
            <a:r>
              <a:rPr lang="it-IT" sz="997" b="0" i="0" dirty="0">
                <a:solidFill>
                  <a:srgbClr val="626669"/>
                </a:solidFill>
                <a:latin typeface="Fira Sans"/>
              </a:rPr>
              <a:t>_</a:t>
            </a:r>
            <a:r>
              <a:rPr sz="997" b="0" i="0" dirty="0">
                <a:solidFill>
                  <a:srgbClr val="626669"/>
                </a:solidFill>
                <a:latin typeface="Fira Sans"/>
              </a:rPr>
              <a:t>π is a fixed point</a:t>
            </a:r>
            <a:r>
              <a:rPr lang="it-IT" sz="997" b="0" i="0" dirty="0">
                <a:solidFill>
                  <a:srgbClr val="626669"/>
                </a:solidFill>
                <a:latin typeface="Fira Sans"/>
              </a:rPr>
              <a:t>, </a:t>
            </a:r>
            <a:r>
              <a:rPr sz="997" b="0" i="0" dirty="0">
                <a:solidFill>
                  <a:srgbClr val="626669"/>
                </a:solidFill>
                <a:latin typeface="Fira Sans"/>
              </a:rPr>
              <a:t>so the two sides of the contraction inequality are exactly the errors before and after a sweep.</a:t>
            </a:r>
          </a:p>
        </p:txBody>
      </p:sp>
      <p:pic>
        <p:nvPicPr>
          <p:cNvPr id="11" name="Picture 10" descr="eq_ct7.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568" y="2917952"/>
            <a:ext cx="3148964" cy="332994"/>
          </a:xfrm>
          <a:prstGeom prst="rect">
            <a:avLst/>
          </a:prstGeom>
        </p:spPr>
      </p:pic>
      <p:sp>
        <p:nvSpPr>
          <p:cNvPr id="12" name="TextBox 11"/>
          <p:cNvSpPr txBox="1"/>
          <p:nvPr/>
        </p:nvSpPr>
        <p:spPr>
          <a:xfrm>
            <a:off x="1115568" y="3324098"/>
            <a:ext cx="6269126" cy="18598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Applying the same reasoning k times. The initial error is whatever it was; γ^k is what multiplies it.</a:t>
            </a:r>
          </a:p>
        </p:txBody>
      </p:sp>
      <p:pic>
        <p:nvPicPr>
          <p:cNvPr id="13" name="Picture 12" descr="eq_ct8.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568" y="3747828"/>
            <a:ext cx="5644007" cy="332994"/>
          </a:xfrm>
          <a:prstGeom prst="rect">
            <a:avLst/>
          </a:prstGeom>
        </p:spPr>
      </p:pic>
      <p:sp>
        <p:nvSpPr>
          <p:cNvPr id="14" name="TextBox 13"/>
          <p:cNvSpPr txBox="1"/>
          <p:nvPr/>
        </p:nvSpPr>
        <p:spPr>
          <a:xfrm>
            <a:off x="1115568" y="4153974"/>
            <a:ext cx="6269126" cy="18598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dirty="0">
                <a:solidFill>
                  <a:srgbClr val="626669"/>
                </a:solidFill>
                <a:latin typeface="Fira Sans"/>
              </a:rPr>
              <a:t>Because </a:t>
            </a:r>
            <a:r>
              <a:rPr sz="997" b="0" i="0" dirty="0" err="1">
                <a:solidFill>
                  <a:srgbClr val="626669"/>
                </a:solidFill>
                <a:latin typeface="Fira Sans"/>
              </a:rPr>
              <a:t>γ</a:t>
            </a:r>
            <a:r>
              <a:rPr sz="997" b="0" i="0" dirty="0">
                <a:solidFill>
                  <a:srgbClr val="626669"/>
                </a:solidFill>
                <a:latin typeface="Fira Sans"/>
              </a:rPr>
              <a:t> &lt; 1, the factor vanishes and so does the error, uniformly over all states.</a:t>
            </a:r>
          </a:p>
        </p:txBody>
      </p:sp>
      <p:sp>
        <p:nvSpPr>
          <p:cNvPr id="15" name="Rectangle 14"/>
          <p:cNvSpPr/>
          <p:nvPr/>
        </p:nvSpPr>
        <p:spPr>
          <a:xfrm>
            <a:off x="841248" y="4577704"/>
            <a:ext cx="6543446" cy="78638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41248" y="4577704"/>
            <a:ext cx="41148" cy="78638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78618" y="4702347"/>
            <a:ext cx="4572000" cy="201168"/>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ITERATIVE POLICY EVALUATION CONVERGES</a:t>
            </a:r>
          </a:p>
        </p:txBody>
      </p:sp>
      <p:pic>
        <p:nvPicPr>
          <p:cNvPr id="18" name="Picture 17" descr="eq_ct9.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97280" y="4925176"/>
            <a:ext cx="3252723" cy="417449"/>
          </a:xfrm>
          <a:prstGeom prst="rect">
            <a:avLst/>
          </a:prstGeom>
        </p:spPr>
      </p:pic>
      <p:sp>
        <p:nvSpPr>
          <p:cNvPr id="19" name="Rectangle 18"/>
          <p:cNvSpPr/>
          <p:nvPr/>
        </p:nvSpPr>
        <p:spPr>
          <a:xfrm>
            <a:off x="7618780" y="1316736"/>
            <a:ext cx="3731940" cy="1196035"/>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7618780" y="1316736"/>
            <a:ext cx="41148" cy="1196035"/>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WHAT WE ACTUALLY PROVED</a:t>
            </a:r>
          </a:p>
        </p:txBody>
      </p:sp>
      <p:sp>
        <p:nvSpPr>
          <p:cNvPr id="22" name="TextBox 21"/>
          <p:cNvSpPr txBox="1"/>
          <p:nvPr/>
        </p:nvSpPr>
        <p:spPr>
          <a:xfrm>
            <a:off x="7838236" y="1700784"/>
            <a:ext cx="33478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The proof says more than “it converges”. It says the error is multiplied by </a:t>
            </a:r>
            <a:r>
              <a:rPr sz="1092" b="0" i="0" dirty="0" err="1">
                <a:solidFill>
                  <a:srgbClr val="333639"/>
                </a:solidFill>
                <a:latin typeface="Fira Sans"/>
              </a:rPr>
              <a:t>γ</a:t>
            </a:r>
            <a:r>
              <a:rPr sz="1092" b="0" i="0" dirty="0">
                <a:solidFill>
                  <a:srgbClr val="333639"/>
                </a:solidFill>
                <a:latin typeface="Fira Sans"/>
              </a:rPr>
              <a:t> every sweep, so convergence is </a:t>
            </a:r>
            <a:r>
              <a:rPr sz="1092" b="1" i="0" dirty="0">
                <a:solidFill>
                  <a:srgbClr val="333639"/>
                </a:solidFill>
                <a:latin typeface="Fira Sans"/>
              </a:rPr>
              <a:t>geometric</a:t>
            </a:r>
            <a:r>
              <a:rPr sz="1092" b="0" i="0" dirty="0">
                <a:solidFill>
                  <a:srgbClr val="333639"/>
                </a:solidFill>
                <a:latin typeface="Fira Sans"/>
              </a:rPr>
              <a:t>, and the rate is set by the discount factor</a:t>
            </a:r>
            <a:r>
              <a:rPr lang="it-IT" sz="1092" b="0" i="0" dirty="0">
                <a:solidFill>
                  <a:srgbClr val="333639"/>
                </a:solidFill>
                <a:latin typeface="Fira Sans"/>
              </a:rPr>
              <a:t>,</a:t>
            </a:r>
            <a:r>
              <a:rPr sz="1092" b="0" i="0" dirty="0">
                <a:solidFill>
                  <a:srgbClr val="333639"/>
                </a:solidFill>
                <a:latin typeface="Fira Sans"/>
              </a:rPr>
              <a:t> not by the size of the state space.</a:t>
            </a:r>
          </a:p>
        </p:txBody>
      </p:sp>
      <p:sp>
        <p:nvSpPr>
          <p:cNvPr id="23" name="TextBox 22"/>
          <p:cNvSpPr txBox="1"/>
          <p:nvPr/>
        </p:nvSpPr>
        <p:spPr>
          <a:xfrm>
            <a:off x="7618780" y="2787091"/>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INTUITION BEHIND THE ALGEBRA</a:t>
            </a:r>
          </a:p>
        </p:txBody>
      </p:sp>
      <p:sp>
        <p:nvSpPr>
          <p:cNvPr id="24" name="TextBox 23"/>
          <p:cNvSpPr txBox="1"/>
          <p:nvPr/>
        </p:nvSpPr>
        <p:spPr>
          <a:xfrm>
            <a:off x="7618780" y="3043123"/>
            <a:ext cx="3731940" cy="1336202"/>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dirty="0">
                <a:solidFill>
                  <a:srgbClr val="333639"/>
                </a:solidFill>
                <a:latin typeface="Fira Sans"/>
              </a:rPr>
              <a:t>Each sweep propagates reward information one step further back through the state space.</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A state only has to wait until information from every reward reachable from it has arrived.</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Contributions arriving from k steps away are multiplied by </a:t>
            </a:r>
            <a:r>
              <a:rPr sz="1092" b="0" i="0" dirty="0" err="1">
                <a:solidFill>
                  <a:srgbClr val="333639"/>
                </a:solidFill>
                <a:latin typeface="Fira Sans"/>
              </a:rPr>
              <a:t>γ^k</a:t>
            </a:r>
            <a:r>
              <a:rPr sz="1092" b="0" i="0" dirty="0">
                <a:solidFill>
                  <a:srgbClr val="333639"/>
                </a:solidFill>
                <a:latin typeface="Fira Sans"/>
              </a:rPr>
              <a:t>, so distant contributions matter less and less the sum converges.</a:t>
            </a:r>
          </a:p>
        </p:txBody>
      </p:sp>
      <p:sp>
        <p:nvSpPr>
          <p:cNvPr id="25" name="Rectangle 24"/>
          <p:cNvSpPr/>
          <p:nvPr/>
        </p:nvSpPr>
        <p:spPr>
          <a:xfrm>
            <a:off x="7618780" y="4635357"/>
            <a:ext cx="3731940" cy="1167384"/>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7618780" y="4635357"/>
            <a:ext cx="41148" cy="1167384"/>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838236" y="4781661"/>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THE ONE PLACE THE ASSUMPTION BITES</a:t>
            </a:r>
          </a:p>
        </p:txBody>
      </p:sp>
      <p:sp>
        <p:nvSpPr>
          <p:cNvPr id="28" name="TextBox 27"/>
          <p:cNvSpPr txBox="1"/>
          <p:nvPr/>
        </p:nvSpPr>
        <p:spPr>
          <a:xfrm>
            <a:off x="7838236" y="5019405"/>
            <a:ext cx="3347892"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γ = 1 breaks the argument. The proof needs γ &lt; 1; for undiscounted episodic tasks convergence still holds, but the reason is different and the guarantee is weaker.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4.9  STOPPING IN PRACTICE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Convergence is a limit; an algorithm needs a criterion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IV — Policy evaluation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29</a:t>
            </a:r>
          </a:p>
        </p:txBody>
      </p:sp>
      <p:sp>
        <p:nvSpPr>
          <p:cNvPr id="8" name="TextBox 7"/>
          <p:cNvSpPr txBox="1"/>
          <p:nvPr/>
        </p:nvSpPr>
        <p:spPr>
          <a:xfrm>
            <a:off x="841248" y="1316736"/>
            <a:ext cx="6543446"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Exact convergence happens only as k → ∞, which is not an instruction a computer can follow. In practice we watch the </a:t>
            </a:r>
            <a:r>
              <a:rPr sz="1282" b="1" i="0">
                <a:solidFill>
                  <a:srgbClr val="25282A"/>
                </a:solidFill>
                <a:latin typeface="Fira Sans"/>
              </a:rPr>
              <a:t>largest change produced by a sweep</a:t>
            </a:r>
            <a:r>
              <a:rPr sz="1282" b="0" i="0">
                <a:solidFill>
                  <a:srgbClr val="333639"/>
                </a:solidFill>
                <a:latin typeface="Fira Sans"/>
              </a:rPr>
              <a:t> and stop when it becomes negligible.</a:t>
            </a:r>
          </a:p>
        </p:txBody>
      </p:sp>
      <p:pic>
        <p:nvPicPr>
          <p:cNvPr id="9" name="Picture 8" descr="eq_delta.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168667"/>
            <a:ext cx="4302633" cy="543306"/>
          </a:xfrm>
          <a:prstGeom prst="rect">
            <a:avLst/>
          </a:prstGeom>
        </p:spPr>
      </p:pic>
      <p:sp>
        <p:nvSpPr>
          <p:cNvPr id="10" name="TextBox 9"/>
          <p:cNvSpPr txBox="1"/>
          <p:nvPr/>
        </p:nvSpPr>
        <p:spPr>
          <a:xfrm>
            <a:off x="841248" y="3004581"/>
            <a:ext cx="6543446" cy="566470"/>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a:solidFill>
                  <a:srgbClr val="333639"/>
                </a:solidFill>
                <a:latin typeface="Fira Sans"/>
              </a:rPr>
              <a:t>θ is a small tolerance. It is a </a:t>
            </a:r>
            <a:r>
              <a:rPr sz="1140" b="1" i="0">
                <a:solidFill>
                  <a:srgbClr val="25282A"/>
                </a:solidFill>
                <a:latin typeface="Fira Sans"/>
              </a:rPr>
              <a:t>tuning parameter</a:t>
            </a:r>
            <a:r>
              <a:rPr sz="1140" b="0" i="0">
                <a:solidFill>
                  <a:srgbClr val="333639"/>
                </a:solidFill>
                <a:latin typeface="Fira Sans"/>
              </a:rPr>
              <a:t>, not part of the theory: too large and the values are still wrong; too small and the algorithm spends sweeps refining digits that will be discarded by the argmax anyway.</a:t>
            </a:r>
          </a:p>
        </p:txBody>
      </p:sp>
      <p:sp>
        <p:nvSpPr>
          <p:cNvPr id="11" name="Rectangle 10"/>
          <p:cNvSpPr/>
          <p:nvPr/>
        </p:nvSpPr>
        <p:spPr>
          <a:xfrm>
            <a:off x="841248" y="3808796"/>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009964"/>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IN THE CODE OF THIS CHAPTER</a:t>
            </a:r>
          </a:p>
        </p:txBody>
      </p:sp>
      <p:sp>
        <p:nvSpPr>
          <p:cNvPr id="13" name="Rectangle 12"/>
          <p:cNvSpPr/>
          <p:nvPr/>
        </p:nvSpPr>
        <p:spPr>
          <a:xfrm>
            <a:off x="841248" y="4265996"/>
            <a:ext cx="6543446" cy="30679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32688" y="4343720"/>
            <a:ext cx="1125809"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Parameter</a:t>
            </a:r>
          </a:p>
        </p:txBody>
      </p:sp>
      <p:sp>
        <p:nvSpPr>
          <p:cNvPr id="15" name="TextBox 14"/>
          <p:cNvSpPr txBox="1"/>
          <p:nvPr/>
        </p:nvSpPr>
        <p:spPr>
          <a:xfrm>
            <a:off x="2241377" y="4343720"/>
            <a:ext cx="994940"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Value</a:t>
            </a:r>
          </a:p>
        </p:txBody>
      </p:sp>
      <p:sp>
        <p:nvSpPr>
          <p:cNvPr id="16" name="TextBox 15"/>
          <p:cNvSpPr txBox="1"/>
          <p:nvPr/>
        </p:nvSpPr>
        <p:spPr>
          <a:xfrm>
            <a:off x="3419197" y="4343720"/>
            <a:ext cx="3874056"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Effect</a:t>
            </a:r>
          </a:p>
        </p:txBody>
      </p:sp>
      <p:sp>
        <p:nvSpPr>
          <p:cNvPr id="17" name="TextBox 16"/>
          <p:cNvSpPr txBox="1"/>
          <p:nvPr/>
        </p:nvSpPr>
        <p:spPr>
          <a:xfrm>
            <a:off x="932688" y="4650511"/>
            <a:ext cx="112580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gamma</a:t>
            </a:r>
          </a:p>
        </p:txBody>
      </p:sp>
      <p:sp>
        <p:nvSpPr>
          <p:cNvPr id="18" name="TextBox 17"/>
          <p:cNvSpPr txBox="1"/>
          <p:nvPr/>
        </p:nvSpPr>
        <p:spPr>
          <a:xfrm>
            <a:off x="2241377" y="4650511"/>
            <a:ext cx="9949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0.99</a:t>
            </a:r>
          </a:p>
        </p:txBody>
      </p:sp>
      <p:sp>
        <p:nvSpPr>
          <p:cNvPr id="19" name="TextBox 18"/>
          <p:cNvSpPr txBox="1"/>
          <p:nvPr/>
        </p:nvSpPr>
        <p:spPr>
          <a:xfrm>
            <a:off x="3419197" y="4650511"/>
            <a:ext cx="3874056"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sets how far ahead the agent looks, and the convergence rate</a:t>
            </a:r>
          </a:p>
        </p:txBody>
      </p:sp>
      <p:sp>
        <p:nvSpPr>
          <p:cNvPr id="20" name="Rectangle 19"/>
          <p:cNvSpPr/>
          <p:nvPr/>
        </p:nvSpPr>
        <p:spPr>
          <a:xfrm>
            <a:off x="841248" y="4895512"/>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41248" y="4900998"/>
            <a:ext cx="6543446" cy="48268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32688" y="4978722"/>
            <a:ext cx="1125809"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theta</a:t>
            </a:r>
          </a:p>
        </p:txBody>
      </p:sp>
      <p:sp>
        <p:nvSpPr>
          <p:cNvPr id="23" name="TextBox 22"/>
          <p:cNvSpPr txBox="1"/>
          <p:nvPr/>
        </p:nvSpPr>
        <p:spPr>
          <a:xfrm>
            <a:off x="2241377" y="4978722"/>
            <a:ext cx="994940"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1e-10</a:t>
            </a:r>
          </a:p>
        </p:txBody>
      </p:sp>
      <p:sp>
        <p:nvSpPr>
          <p:cNvPr id="24" name="TextBox 23"/>
          <p:cNvSpPr txBox="1"/>
          <p:nvPr/>
        </p:nvSpPr>
        <p:spPr>
          <a:xfrm>
            <a:off x="3419197" y="4978722"/>
            <a:ext cx="3874056"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a deliberately strict tolerance, so the numbers are exact to 2 decimals</a:t>
            </a:r>
          </a:p>
        </p:txBody>
      </p:sp>
      <p:sp>
        <p:nvSpPr>
          <p:cNvPr id="25" name="Rectangle 24"/>
          <p:cNvSpPr/>
          <p:nvPr/>
        </p:nvSpPr>
        <p:spPr>
          <a:xfrm>
            <a:off x="841248" y="5378198"/>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32688" y="5461408"/>
            <a:ext cx="112580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sweeps</a:t>
            </a:r>
          </a:p>
        </p:txBody>
      </p:sp>
      <p:sp>
        <p:nvSpPr>
          <p:cNvPr id="27" name="TextBox 26"/>
          <p:cNvSpPr txBox="1"/>
          <p:nvPr/>
        </p:nvSpPr>
        <p:spPr>
          <a:xfrm>
            <a:off x="2241377" y="5461408"/>
            <a:ext cx="9949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returned</a:t>
            </a:r>
          </a:p>
        </p:txBody>
      </p:sp>
      <p:sp>
        <p:nvSpPr>
          <p:cNvPr id="28" name="TextBox 27"/>
          <p:cNvSpPr txBox="1"/>
          <p:nvPr/>
        </p:nvSpPr>
        <p:spPr>
          <a:xfrm>
            <a:off x="3419197" y="5461408"/>
            <a:ext cx="3874056"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lets us compare the cost of the algorithms in Part VI</a:t>
            </a:r>
          </a:p>
        </p:txBody>
      </p:sp>
      <p:sp>
        <p:nvSpPr>
          <p:cNvPr id="29" name="Rectangle 28"/>
          <p:cNvSpPr/>
          <p:nvPr/>
        </p:nvSpPr>
        <p:spPr>
          <a:xfrm>
            <a:off x="841248" y="5706409"/>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7618780" y="1316736"/>
            <a:ext cx="3731940" cy="1362456"/>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7618780" y="1316736"/>
            <a:ext cx="41148" cy="136245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WHAT Δ DOES AND DOES NOT MEASURE</a:t>
            </a:r>
          </a:p>
        </p:txBody>
      </p:sp>
      <p:sp>
        <p:nvSpPr>
          <p:cNvPr id="33" name="TextBox 32"/>
          <p:cNvSpPr txBox="1"/>
          <p:nvPr/>
        </p:nvSpPr>
        <p:spPr>
          <a:xfrm>
            <a:off x="7838236" y="1700784"/>
            <a:ext cx="3347892"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err="1">
                <a:solidFill>
                  <a:srgbClr val="333639"/>
                </a:solidFill>
                <a:latin typeface="Fira Sans"/>
              </a:rPr>
              <a:t>Δ</a:t>
            </a:r>
            <a:r>
              <a:rPr sz="1092" b="0" i="0" dirty="0">
                <a:solidFill>
                  <a:srgbClr val="333639"/>
                </a:solidFill>
                <a:latin typeface="Fira Sans"/>
              </a:rPr>
              <a:t> measures how much the </a:t>
            </a:r>
            <a:r>
              <a:rPr sz="1092" b="1" i="0" dirty="0">
                <a:solidFill>
                  <a:srgbClr val="333639"/>
                </a:solidFill>
                <a:latin typeface="Fira Sans"/>
              </a:rPr>
              <a:t>estimate moved</a:t>
            </a:r>
            <a:r>
              <a:rPr sz="1092" b="0" i="0" dirty="0">
                <a:solidFill>
                  <a:srgbClr val="333639"/>
                </a:solidFill>
                <a:latin typeface="Fira Sans"/>
              </a:rPr>
              <a:t>, not how far it is from the truth. The two are related</a:t>
            </a:r>
            <a:r>
              <a:rPr lang="it-IT" sz="1092" b="0" i="0" dirty="0">
                <a:solidFill>
                  <a:srgbClr val="333639"/>
                </a:solidFill>
                <a:latin typeface="Fira Sans"/>
              </a:rPr>
              <a:t>, </a:t>
            </a:r>
            <a:r>
              <a:rPr sz="1092" b="0" i="0" dirty="0">
                <a:solidFill>
                  <a:srgbClr val="333639"/>
                </a:solidFill>
                <a:latin typeface="Fira Sans"/>
              </a:rPr>
              <a:t>but not the same number, and the difference grows as </a:t>
            </a:r>
            <a:r>
              <a:rPr sz="1092" b="0" i="0" dirty="0" err="1">
                <a:solidFill>
                  <a:srgbClr val="333639"/>
                </a:solidFill>
                <a:latin typeface="Fira Sans"/>
              </a:rPr>
              <a:t>γ</a:t>
            </a:r>
            <a:r>
              <a:rPr sz="1092" b="0" i="0" dirty="0">
                <a:solidFill>
                  <a:srgbClr val="333639"/>
                </a:solidFill>
                <a:latin typeface="Fira Sans"/>
              </a:rPr>
              <a:t> approaches 1.</a:t>
            </a:r>
          </a:p>
        </p:txBody>
      </p:sp>
      <p:sp>
        <p:nvSpPr>
          <p:cNvPr id="34" name="TextBox 33"/>
          <p:cNvSpPr txBox="1"/>
          <p:nvPr/>
        </p:nvSpPr>
        <p:spPr>
          <a:xfrm>
            <a:off x="7618780" y="2953511"/>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WE HAVE AT THIS POINT</a:t>
            </a:r>
          </a:p>
        </p:txBody>
      </p:sp>
      <p:sp>
        <p:nvSpPr>
          <p:cNvPr id="35" name="TextBox 34"/>
          <p:cNvSpPr txBox="1"/>
          <p:nvPr/>
        </p:nvSpPr>
        <p:spPr>
          <a:xfrm>
            <a:off x="7618780" y="3209544"/>
            <a:ext cx="3731940" cy="1180876"/>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dirty="0">
                <a:solidFill>
                  <a:srgbClr val="333639"/>
                </a:solidFill>
                <a:latin typeface="Fira Sans"/>
              </a:rPr>
              <a:t>An algorithm that computes </a:t>
            </a:r>
            <a:r>
              <a:rPr sz="1092" b="1" i="0" dirty="0">
                <a:solidFill>
                  <a:srgbClr val="25282A"/>
                </a:solidFill>
                <a:latin typeface="Fira Sans"/>
              </a:rPr>
              <a:t>v</a:t>
            </a:r>
            <a:r>
              <a:rPr lang="it-IT" sz="1092" b="1" i="0" dirty="0">
                <a:solidFill>
                  <a:srgbClr val="25282A"/>
                </a:solidFill>
                <a:latin typeface="Fira Sans"/>
              </a:rPr>
              <a:t>_</a:t>
            </a:r>
            <a:r>
              <a:rPr sz="1092" b="1" i="0" dirty="0">
                <a:solidFill>
                  <a:srgbClr val="25282A"/>
                </a:solidFill>
                <a:latin typeface="Fira Sans"/>
              </a:rPr>
              <a:t>π exactly</a:t>
            </a:r>
            <a:r>
              <a:rPr sz="1092" b="0" i="0" dirty="0">
                <a:solidFill>
                  <a:srgbClr val="333639"/>
                </a:solidFill>
                <a:latin typeface="Fira Sans"/>
              </a:rPr>
              <a:t>, for any policy, from the model alone.</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A proof that it converges, and a rate.</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But still only an </a:t>
            </a:r>
            <a:r>
              <a:rPr sz="1092" b="1" i="0" dirty="0">
                <a:solidFill>
                  <a:srgbClr val="C8102E"/>
                </a:solidFill>
                <a:latin typeface="Fira Sans"/>
              </a:rPr>
              <a:t>evaluation</a:t>
            </a:r>
            <a:r>
              <a:rPr sz="1092" b="0" i="0" dirty="0">
                <a:solidFill>
                  <a:srgbClr val="333639"/>
                </a:solidFill>
                <a:latin typeface="Fira Sans"/>
              </a:rPr>
              <a:t>: we can now say how good a policy is, and we still have no way to find a better one. That is Part V.</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V</a:t>
            </a:r>
          </a:p>
        </p:txBody>
      </p:sp>
      <p:sp>
        <p:nvSpPr>
          <p:cNvPr id="5" name="TextBox 4"/>
          <p:cNvSpPr txBox="1"/>
          <p:nvPr/>
        </p:nvSpPr>
        <p:spPr>
          <a:xfrm>
            <a:off x="859536" y="2395728"/>
            <a:ext cx="6309360" cy="80772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Policy improvement and policy iteration</a:t>
            </a:r>
          </a:p>
        </p:txBody>
      </p:sp>
      <p:sp>
        <p:nvSpPr>
          <p:cNvPr id="6" name="TextBox 5"/>
          <p:cNvSpPr txBox="1"/>
          <p:nvPr/>
        </p:nvSpPr>
        <p:spPr>
          <a:xfrm>
            <a:off x="859536" y="3477768"/>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dirty="0">
                <a:solidFill>
                  <a:srgbClr val="D6D0E0"/>
                </a:solidFill>
                <a:latin typeface="Fira Sans"/>
              </a:rPr>
              <a:t>Using the value of a policy to build a better one, and alternating the two operations until no further improvement is possible</a:t>
            </a:r>
            <a:r>
              <a:rPr lang="it-IT" sz="1282" b="0" i="0" dirty="0">
                <a:solidFill>
                  <a:srgbClr val="D6D0E0"/>
                </a:solidFill>
                <a:latin typeface="Fira Sans"/>
              </a:rPr>
              <a:t>, </a:t>
            </a:r>
            <a:r>
              <a:rPr sz="1282" b="0" i="0" dirty="0">
                <a:solidFill>
                  <a:srgbClr val="D6D0E0"/>
                </a:solidFill>
                <a:latin typeface="Fira Sans"/>
              </a:rPr>
              <a:t>which turns out to mean optimal.</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Why can a policy that cannot be improved locally not be merely locally good?</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Should we deviate?</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policy improvement theorem</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Acting greedily</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Careful becomes Careful+</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Policy iteration</a:t>
            </a:r>
          </a:p>
          <a:p>
            <a:pPr marL="0" indent="0" algn="l">
              <a:lnSpc>
                <a:spcPts val="1378"/>
              </a:lnSpc>
              <a:spcBef>
                <a:spcPts val="1300"/>
              </a:spcBef>
              <a:spcAft>
                <a:spcPts val="0"/>
              </a:spcAft>
              <a:buNone/>
            </a:pPr>
            <a:r>
              <a:rPr sz="1188" b="1" i="0">
                <a:solidFill>
                  <a:srgbClr val="B2A7C4"/>
                </a:solidFill>
                <a:latin typeface="Fira Sans"/>
              </a:rPr>
              <a:t>06   </a:t>
            </a:r>
            <a:r>
              <a:rPr sz="1188" b="0" i="0">
                <a:solidFill>
                  <a:srgbClr val="FFFFFF"/>
                </a:solidFill>
                <a:latin typeface="Fira Sans"/>
              </a:rPr>
              <a:t>Why stability means optimality</a:t>
            </a:r>
          </a:p>
          <a:p>
            <a:pPr marL="0" indent="0" algn="l">
              <a:lnSpc>
                <a:spcPts val="1378"/>
              </a:lnSpc>
              <a:spcBef>
                <a:spcPts val="1300"/>
              </a:spcBef>
              <a:spcAft>
                <a:spcPts val="0"/>
              </a:spcAft>
              <a:buNone/>
            </a:pPr>
            <a:r>
              <a:rPr sz="1188" b="1" i="0">
                <a:solidFill>
                  <a:srgbClr val="B2A7C4"/>
                </a:solidFill>
                <a:latin typeface="Fira Sans"/>
              </a:rPr>
              <a:t>07   </a:t>
            </a:r>
            <a:r>
              <a:rPr sz="1188" b="0" i="0">
                <a:solidFill>
                  <a:srgbClr val="FFFFFF"/>
                </a:solidFill>
                <a:latin typeface="Fira Sans"/>
              </a:rPr>
              <a:t>Many optimal policies, one value function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  SHOULD WE DEVIATE?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reason for computing a value function is to find a better policy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 — Policy improvement and policy iteration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31</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lang="en-GB" sz="1282" b="0" i="0" noProof="0" dirty="0">
                <a:solidFill>
                  <a:srgbClr val="333639"/>
                </a:solidFill>
                <a:latin typeface="Fira Sans"/>
              </a:rPr>
              <a:t>Suppose we have evaluated a policy and know its value function. For a given state we can now ask a concrete question: should we keep following the policy here, or would some </a:t>
            </a:r>
            <a:r>
              <a:rPr lang="en-GB" sz="1282" b="1" i="0" noProof="0" dirty="0">
                <a:solidFill>
                  <a:srgbClr val="25282A"/>
                </a:solidFill>
                <a:latin typeface="Fira Sans"/>
              </a:rPr>
              <a:t>other action</a:t>
            </a:r>
            <a:r>
              <a:rPr lang="en-GB" sz="1282" b="0" i="0" noProof="0" dirty="0">
                <a:solidFill>
                  <a:srgbClr val="333639"/>
                </a:solidFill>
                <a:latin typeface="Fira Sans"/>
              </a:rPr>
              <a:t> be better taken once, and then following the policy as before?</a:t>
            </a:r>
          </a:p>
        </p:txBody>
      </p:sp>
      <p:pic>
        <p:nvPicPr>
          <p:cNvPr id="9" name="Picture 8" descr="improve_idea.png"/>
          <p:cNvPicPr>
            <a:picLocks noChangeAspect="1"/>
          </p:cNvPicPr>
          <p:nvPr/>
        </p:nvPicPr>
        <p:blipFill>
          <a:blip r:embed="rId2"/>
          <a:stretch>
            <a:fillRect/>
          </a:stretch>
        </p:blipFill>
        <p:spPr>
          <a:xfrm>
            <a:off x="1974472" y="1951746"/>
            <a:ext cx="8249151" cy="1920240"/>
          </a:xfrm>
          <a:prstGeom prst="rect">
            <a:avLst/>
          </a:prstGeom>
        </p:spPr>
      </p:pic>
      <p:sp>
        <p:nvSpPr>
          <p:cNvPr id="10" name="TextBox 9"/>
          <p:cNvSpPr txBox="1"/>
          <p:nvPr/>
        </p:nvSpPr>
        <p:spPr>
          <a:xfrm>
            <a:off x="841248" y="3981714"/>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a:solidFill>
                  <a:srgbClr val="626669"/>
                </a:solidFill>
                <a:latin typeface="Fira Sans"/>
              </a:rPr>
              <a:t>Deviating in a single state, then reverting to π. If that is better, a new policy that differs from π only in this state is better than π.</a:t>
            </a:r>
          </a:p>
        </p:txBody>
      </p:sp>
      <p:sp>
        <p:nvSpPr>
          <p:cNvPr id="11" name="TextBox 10"/>
          <p:cNvSpPr txBox="1"/>
          <p:nvPr/>
        </p:nvSpPr>
        <p:spPr>
          <a:xfrm>
            <a:off x="841248" y="4391670"/>
            <a:ext cx="5120640"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25282A"/>
                </a:solidFill>
                <a:latin typeface="Fira Sans"/>
              </a:rPr>
              <a:t>The expected return of deviating once</a:t>
            </a:r>
          </a:p>
        </p:txBody>
      </p:sp>
      <p:pic>
        <p:nvPicPr>
          <p:cNvPr id="12" name="Picture 11" descr="eq_q_lookahea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4128" y="4720854"/>
            <a:ext cx="3823589" cy="585089"/>
          </a:xfrm>
          <a:prstGeom prst="rect">
            <a:avLst/>
          </a:prstGeom>
        </p:spPr>
      </p:pic>
      <p:sp>
        <p:nvSpPr>
          <p:cNvPr id="13" name="TextBox 12"/>
          <p:cNvSpPr txBox="1"/>
          <p:nvPr/>
        </p:nvSpPr>
        <p:spPr>
          <a:xfrm>
            <a:off x="841248" y="5360934"/>
            <a:ext cx="5120640"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dirty="0">
                <a:solidFill>
                  <a:srgbClr val="626669"/>
                </a:solidFill>
                <a:latin typeface="Fira Sans"/>
              </a:rPr>
              <a:t>This is just q</a:t>
            </a:r>
            <a:r>
              <a:rPr lang="it-IT" sz="1045" b="0" i="0" dirty="0">
                <a:solidFill>
                  <a:srgbClr val="626669"/>
                </a:solidFill>
                <a:latin typeface="Fira Sans"/>
              </a:rPr>
              <a:t>_</a:t>
            </a:r>
            <a:r>
              <a:rPr sz="1045" b="0" i="0" dirty="0">
                <a:solidFill>
                  <a:srgbClr val="626669"/>
                </a:solidFill>
                <a:latin typeface="Fira Sans"/>
              </a:rPr>
              <a:t>π(s, a), written as a one-step lookahead through the model. It uses only v</a:t>
            </a:r>
            <a:r>
              <a:rPr lang="it-IT" sz="1045" b="0" i="0" dirty="0">
                <a:solidFill>
                  <a:srgbClr val="626669"/>
                </a:solidFill>
                <a:latin typeface="Fira Sans"/>
              </a:rPr>
              <a:t>_</a:t>
            </a:r>
            <a:r>
              <a:rPr sz="1045" b="0" i="0" dirty="0">
                <a:solidFill>
                  <a:srgbClr val="626669"/>
                </a:solidFill>
                <a:latin typeface="Fira Sans"/>
              </a:rPr>
              <a:t>π, which we already have.</a:t>
            </a:r>
          </a:p>
        </p:txBody>
      </p:sp>
      <p:sp>
        <p:nvSpPr>
          <p:cNvPr id="14" name="TextBox 13"/>
          <p:cNvSpPr txBox="1"/>
          <p:nvPr/>
        </p:nvSpPr>
        <p:spPr>
          <a:xfrm>
            <a:off x="6236207" y="4391670"/>
            <a:ext cx="5120640"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25282A"/>
                </a:solidFill>
                <a:latin typeface="Fira Sans"/>
              </a:rPr>
              <a:t>The comparison that matters</a:t>
            </a:r>
          </a:p>
        </p:txBody>
      </p:sp>
      <p:pic>
        <p:nvPicPr>
          <p:cNvPr id="15" name="Picture 14" descr="eq_pi_better.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19088" y="4720854"/>
            <a:ext cx="3776091" cy="587248"/>
          </a:xfrm>
          <a:prstGeom prst="rect">
            <a:avLst/>
          </a:prstGeom>
        </p:spPr>
      </p:pic>
      <p:sp>
        <p:nvSpPr>
          <p:cNvPr id="16" name="TextBox 15"/>
          <p:cNvSpPr txBox="1"/>
          <p:nvPr/>
        </p:nvSpPr>
        <p:spPr>
          <a:xfrm>
            <a:off x="6236207" y="5360934"/>
            <a:ext cx="5120640"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dirty="0">
                <a:solidFill>
                  <a:srgbClr val="626669"/>
                </a:solidFill>
                <a:latin typeface="Fira Sans"/>
              </a:rPr>
              <a:t>If the deviation is worth more than following the policy, then taking action a in state s is </a:t>
            </a:r>
            <a:r>
              <a:rPr sz="1045" b="1" i="0" dirty="0">
                <a:solidFill>
                  <a:srgbClr val="2B7A3E"/>
                </a:solidFill>
                <a:latin typeface="Fira Sans"/>
              </a:rPr>
              <a:t>strictly better</a:t>
            </a:r>
            <a:r>
              <a:rPr sz="1045" b="0" i="0" dirty="0">
                <a:solidFill>
                  <a:srgbClr val="626669"/>
                </a:solidFill>
                <a:latin typeface="Fira Sans"/>
              </a:rPr>
              <a:t> and we should change the policy there.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5.2  THE POLICY IMPROVEMENT THEOREM</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Improving in every state improves the policy as a whole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 — Policy improvement and policy iteration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32</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The comparison above concerns a single deviation. The theorem turns it into a statement about entire policies: if the new policy is at least as good </a:t>
            </a:r>
            <a:r>
              <a:rPr sz="1282" b="1" i="0" dirty="0">
                <a:solidFill>
                  <a:srgbClr val="25282A"/>
                </a:solidFill>
                <a:latin typeface="Fira Sans"/>
              </a:rPr>
              <a:t>in every state</a:t>
            </a:r>
            <a:r>
              <a:rPr sz="1282" b="0" i="0" dirty="0">
                <a:solidFill>
                  <a:srgbClr val="333639"/>
                </a:solidFill>
                <a:latin typeface="Fira Sans"/>
              </a:rPr>
              <a:t>, judged by the old policy’s own value function, then the new policy is at least as good.</a:t>
            </a:r>
          </a:p>
        </p:txBody>
      </p:sp>
      <p:sp>
        <p:nvSpPr>
          <p:cNvPr id="9" name="Rectangle 8"/>
          <p:cNvSpPr/>
          <p:nvPr/>
        </p:nvSpPr>
        <p:spPr>
          <a:xfrm>
            <a:off x="841248" y="1970034"/>
            <a:ext cx="10515600" cy="841248"/>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1970034"/>
            <a:ext cx="41148" cy="841248"/>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15568" y="2079762"/>
            <a:ext cx="5486400" cy="201168"/>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THE POLICY IMPROVEMENT THEOREM</a:t>
            </a:r>
          </a:p>
        </p:txBody>
      </p:sp>
      <p:pic>
        <p:nvPicPr>
          <p:cNvPr id="12" name="Picture 11" descr="eq_pit.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317506"/>
            <a:ext cx="6715506" cy="386715"/>
          </a:xfrm>
          <a:prstGeom prst="rect">
            <a:avLst/>
          </a:prstGeom>
        </p:spPr>
      </p:pic>
      <p:sp>
        <p:nvSpPr>
          <p:cNvPr id="13" name="Rectangle 12"/>
          <p:cNvSpPr/>
          <p:nvPr/>
        </p:nvSpPr>
        <p:spPr>
          <a:xfrm>
            <a:off x="841248" y="299416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1248" y="3195330"/>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PROOF — EXPAND THE INEQUALITY ONE STEP AT A TIME</a:t>
            </a:r>
          </a:p>
        </p:txBody>
      </p:sp>
      <p:pic>
        <p:nvPicPr>
          <p:cNvPr id="15" name="Picture 14" descr="eq_pit1.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6424" y="3524514"/>
            <a:ext cx="4558665" cy="276225"/>
          </a:xfrm>
          <a:prstGeom prst="rect">
            <a:avLst/>
          </a:prstGeom>
        </p:spPr>
      </p:pic>
      <p:sp>
        <p:nvSpPr>
          <p:cNvPr id="16" name="TextBox 15"/>
          <p:cNvSpPr txBox="1"/>
          <p:nvPr/>
        </p:nvSpPr>
        <p:spPr>
          <a:xfrm>
            <a:off x="7333488" y="3515370"/>
            <a:ext cx="4023360"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by definition of the action-value function</a:t>
            </a:r>
          </a:p>
        </p:txBody>
      </p:sp>
      <p:pic>
        <p:nvPicPr>
          <p:cNvPr id="17" name="Picture 16" descr="eq_pit2.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07008" y="3910467"/>
            <a:ext cx="3249930" cy="238125"/>
          </a:xfrm>
          <a:prstGeom prst="rect">
            <a:avLst/>
          </a:prstGeom>
        </p:spPr>
      </p:pic>
      <p:sp>
        <p:nvSpPr>
          <p:cNvPr id="18" name="TextBox 17"/>
          <p:cNvSpPr txBox="1"/>
          <p:nvPr/>
        </p:nvSpPr>
        <p:spPr>
          <a:xfrm>
            <a:off x="7333488" y="3901323"/>
            <a:ext cx="4023360"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so the value of s is bounded by one step under π′, then π</a:t>
            </a:r>
          </a:p>
        </p:txBody>
      </p:sp>
      <p:pic>
        <p:nvPicPr>
          <p:cNvPr id="19" name="Picture 18" descr="eq_pit3.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5568" y="4258320"/>
            <a:ext cx="4053840" cy="276225"/>
          </a:xfrm>
          <a:prstGeom prst="rect">
            <a:avLst/>
          </a:prstGeom>
        </p:spPr>
      </p:pic>
      <p:sp>
        <p:nvSpPr>
          <p:cNvPr id="20" name="TextBox 19"/>
          <p:cNvSpPr txBox="1"/>
          <p:nvPr/>
        </p:nvSpPr>
        <p:spPr>
          <a:xfrm>
            <a:off x="7333488" y="4249176"/>
            <a:ext cx="4023360"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apply the same inequality again at the successor state</a:t>
            </a:r>
          </a:p>
        </p:txBody>
      </p:sp>
      <p:pic>
        <p:nvPicPr>
          <p:cNvPr id="21" name="Picture 20" descr="eq_pit4.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70432" y="4644273"/>
            <a:ext cx="4516755" cy="281940"/>
          </a:xfrm>
          <a:prstGeom prst="rect">
            <a:avLst/>
          </a:prstGeom>
        </p:spPr>
      </p:pic>
      <p:sp>
        <p:nvSpPr>
          <p:cNvPr id="22" name="TextBox 21"/>
          <p:cNvSpPr txBox="1"/>
          <p:nvPr/>
        </p:nvSpPr>
        <p:spPr>
          <a:xfrm>
            <a:off x="7333488" y="4635129"/>
            <a:ext cx="4023360"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repeating k times</a:t>
            </a:r>
          </a:p>
        </p:txBody>
      </p:sp>
      <p:pic>
        <p:nvPicPr>
          <p:cNvPr id="23" name="Picture 22" descr="eq_pit5.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78992" y="5035941"/>
            <a:ext cx="5017770" cy="276225"/>
          </a:xfrm>
          <a:prstGeom prst="rect">
            <a:avLst/>
          </a:prstGeom>
        </p:spPr>
      </p:pic>
      <p:sp>
        <p:nvSpPr>
          <p:cNvPr id="24" name="TextBox 23"/>
          <p:cNvSpPr txBox="1"/>
          <p:nvPr/>
        </p:nvSpPr>
        <p:spPr>
          <a:xfrm>
            <a:off x="7333488" y="5026797"/>
            <a:ext cx="4023360"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the remaining term vanishes, and the right-hand side is exactly vπ′</a:t>
            </a:r>
          </a:p>
        </p:txBody>
      </p:sp>
      <p:sp>
        <p:nvSpPr>
          <p:cNvPr id="25" name="Rectangle 24"/>
          <p:cNvSpPr/>
          <p:nvPr/>
        </p:nvSpPr>
        <p:spPr>
          <a:xfrm>
            <a:off x="841248" y="5440182"/>
            <a:ext cx="10515600" cy="863193"/>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841248" y="5440182"/>
            <a:ext cx="41148" cy="86319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060704" y="5586486"/>
            <a:ext cx="102229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WHAT THE ALGEBRA IS SAYING</a:t>
            </a:r>
          </a:p>
        </p:txBody>
      </p:sp>
      <p:sp>
        <p:nvSpPr>
          <p:cNvPr id="28" name="TextBox 27"/>
          <p:cNvSpPr txBox="1"/>
          <p:nvPr/>
        </p:nvSpPr>
        <p:spPr>
          <a:xfrm>
            <a:off x="1060704" y="5824230"/>
            <a:ext cx="10131552"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intuition is simple: if the new policy always chooses an action at least as good as continuing with the old one, then following the new policy repeatedly cannot produce a lower expected return. </a:t>
            </a:r>
            <a:r>
              <a:rPr sz="1092" b="1" i="0">
                <a:solidFill>
                  <a:srgbClr val="333639"/>
                </a:solidFill>
                <a:latin typeface="Fira Sans"/>
              </a:rPr>
              <a:t>The inequality compounds instead of cancelling.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5.3  ACTING GREEDILY IN EVERY STATE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Apply the theorem everywhere at once, and the new policy writes itself</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 — Policy improvement and policy iteration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33</a:t>
            </a:r>
          </a:p>
        </p:txBody>
      </p:sp>
      <p:sp>
        <p:nvSpPr>
          <p:cNvPr id="8" name="TextBox 7"/>
          <p:cNvSpPr txBox="1"/>
          <p:nvPr/>
        </p:nvSpPr>
        <p:spPr>
          <a:xfrm>
            <a:off x="841248" y="1316736"/>
            <a:ext cx="6543446"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Rather than improving one state, apply the idea to all of them: in each state, take the action with the largest action value. The resulting policy is said to be </a:t>
            </a:r>
            <a:r>
              <a:rPr sz="1282" b="1" i="0">
                <a:solidFill>
                  <a:srgbClr val="25282A"/>
                </a:solidFill>
                <a:latin typeface="Fira Sans"/>
              </a:rPr>
              <a:t>greedy</a:t>
            </a:r>
            <a:r>
              <a:rPr sz="1282" b="0" i="0">
                <a:solidFill>
                  <a:srgbClr val="333639"/>
                </a:solidFill>
                <a:latin typeface="Fira Sans"/>
              </a:rPr>
              <a:t> with respect to the value function of the original policy.</a:t>
            </a:r>
          </a:p>
        </p:txBody>
      </p:sp>
      <p:pic>
        <p:nvPicPr>
          <p:cNvPr id="9" name="Picture 8" descr="eq_greedy_all.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168667"/>
            <a:ext cx="3034284" cy="539241"/>
          </a:xfrm>
          <a:prstGeom prst="rect">
            <a:avLst/>
          </a:prstGeom>
        </p:spPr>
      </p:pic>
      <p:sp>
        <p:nvSpPr>
          <p:cNvPr id="10" name="TextBox 9"/>
          <p:cNvSpPr txBox="1"/>
          <p:nvPr/>
        </p:nvSpPr>
        <p:spPr>
          <a:xfrm>
            <a:off x="841248" y="2982229"/>
            <a:ext cx="6543446" cy="389839"/>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dirty="0">
                <a:solidFill>
                  <a:srgbClr val="333639"/>
                </a:solidFill>
                <a:latin typeface="Fira Sans"/>
              </a:rPr>
              <a:t>We never need to build and store the action-value function of the new policy. Because we know v</a:t>
            </a:r>
            <a:r>
              <a:rPr lang="it-IT" sz="1140" b="0" i="0" dirty="0">
                <a:solidFill>
                  <a:srgbClr val="333639"/>
                </a:solidFill>
                <a:latin typeface="Fira Sans"/>
              </a:rPr>
              <a:t>_</a:t>
            </a:r>
            <a:r>
              <a:rPr sz="1140" b="0" i="0" dirty="0">
                <a:solidFill>
                  <a:srgbClr val="333639"/>
                </a:solidFill>
                <a:latin typeface="Fira Sans"/>
              </a:rPr>
              <a:t>π and the dynamics, a </a:t>
            </a:r>
            <a:r>
              <a:rPr sz="1140" b="1" i="0" dirty="0">
                <a:solidFill>
                  <a:srgbClr val="25282A"/>
                </a:solidFill>
                <a:latin typeface="Fira Sans"/>
              </a:rPr>
              <a:t>one-step lookahead</a:t>
            </a:r>
            <a:r>
              <a:rPr sz="1140" b="0" i="0" dirty="0">
                <a:solidFill>
                  <a:srgbClr val="333639"/>
                </a:solidFill>
                <a:latin typeface="Fira Sans"/>
              </a:rPr>
              <a:t> gives every q</a:t>
            </a:r>
            <a:r>
              <a:rPr lang="it-IT" sz="1140" b="0" i="0" dirty="0">
                <a:solidFill>
                  <a:srgbClr val="333639"/>
                </a:solidFill>
                <a:latin typeface="Fira Sans"/>
              </a:rPr>
              <a:t>_</a:t>
            </a:r>
            <a:r>
              <a:rPr sz="1140" b="0" i="0" dirty="0">
                <a:solidFill>
                  <a:srgbClr val="333639"/>
                </a:solidFill>
                <a:latin typeface="Fira Sans"/>
              </a:rPr>
              <a:t>π(s, a) we need, on the fly:</a:t>
            </a:r>
          </a:p>
        </p:txBody>
      </p:sp>
      <p:pic>
        <p:nvPicPr>
          <p:cNvPr id="11" name="Picture 10" descr="eq_greedy_lookahea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2688" y="3573236"/>
            <a:ext cx="4939411" cy="653923"/>
          </a:xfrm>
          <a:prstGeom prst="rect">
            <a:avLst/>
          </a:prstGeom>
        </p:spPr>
      </p:pic>
      <p:sp>
        <p:nvSpPr>
          <p:cNvPr id="12" name="Rectangle 11"/>
          <p:cNvSpPr/>
          <p:nvPr/>
        </p:nvSpPr>
        <p:spPr>
          <a:xfrm>
            <a:off x="841248" y="4501479"/>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4702647"/>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GUARANTEE THAT COMES WITH IT</a:t>
            </a:r>
          </a:p>
        </p:txBody>
      </p:sp>
      <p:sp>
        <p:nvSpPr>
          <p:cNvPr id="14" name="TextBox 13"/>
          <p:cNvSpPr txBox="1"/>
          <p:nvPr/>
        </p:nvSpPr>
        <p:spPr>
          <a:xfrm>
            <a:off x="841248" y="4940391"/>
            <a:ext cx="6543446" cy="566470"/>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dirty="0">
                <a:solidFill>
                  <a:srgbClr val="333639"/>
                </a:solidFill>
                <a:latin typeface="Fira Sans"/>
              </a:rPr>
              <a:t>The greedy policy satisfies the hypothesis of the theorem by construction</a:t>
            </a:r>
            <a:r>
              <a:rPr lang="it-IT" sz="1140" b="0" i="0" dirty="0">
                <a:solidFill>
                  <a:srgbClr val="333639"/>
                </a:solidFill>
                <a:latin typeface="Fira Sans"/>
              </a:rPr>
              <a:t>: </a:t>
            </a:r>
            <a:r>
              <a:rPr sz="1140" b="0" i="0" dirty="0">
                <a:solidFill>
                  <a:srgbClr val="333639"/>
                </a:solidFill>
                <a:latin typeface="Fira Sans"/>
              </a:rPr>
              <a:t>its action is the maximizing one, so it can never be worse than π’s. Therefore </a:t>
            </a:r>
            <a:r>
              <a:rPr sz="1140" b="1" i="0" dirty="0">
                <a:solidFill>
                  <a:srgbClr val="2B7A3E"/>
                </a:solidFill>
                <a:latin typeface="Fira Sans"/>
              </a:rPr>
              <a:t>greedy improvement can never make a policy worse</a:t>
            </a:r>
            <a:r>
              <a:rPr sz="1140" b="0" i="0" dirty="0">
                <a:solidFill>
                  <a:srgbClr val="333639"/>
                </a:solidFill>
                <a:latin typeface="Fira Sans"/>
              </a:rPr>
              <a:t>. It either strictly improves it, or leaves it unchanged.</a:t>
            </a:r>
          </a:p>
        </p:txBody>
      </p:sp>
      <p:sp>
        <p:nvSpPr>
          <p:cNvPr id="15" name="Rectangle 14"/>
          <p:cNvSpPr/>
          <p:nvPr/>
        </p:nvSpPr>
        <p:spPr>
          <a:xfrm>
            <a:off x="7618780" y="1316736"/>
            <a:ext cx="4186124" cy="2939567"/>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6" name="Rectangle 15"/>
          <p:cNvSpPr/>
          <p:nvPr/>
        </p:nvSpPr>
        <p:spPr>
          <a:xfrm>
            <a:off x="7618780" y="1316736"/>
            <a:ext cx="41148" cy="2939567"/>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801660" y="1399032"/>
            <a:ext cx="336618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policy_improvement</a:t>
            </a:r>
          </a:p>
        </p:txBody>
      </p:sp>
      <p:sp>
        <p:nvSpPr>
          <p:cNvPr id="18" name="TextBox 17"/>
          <p:cNvSpPr txBox="1"/>
          <p:nvPr/>
        </p:nvSpPr>
        <p:spPr>
          <a:xfrm>
            <a:off x="7801660" y="1700784"/>
            <a:ext cx="3421044" cy="2482367"/>
          </a:xfrm>
          <a:prstGeom prst="rect">
            <a:avLst/>
          </a:prstGeom>
          <a:noFill/>
        </p:spPr>
        <p:txBody>
          <a:bodyPr wrap="none" lIns="0" tIns="0" rIns="0" bIns="0" anchor="t">
            <a:noAutofit/>
          </a:bodyPr>
          <a:lstStyle/>
          <a:p>
            <a:pPr marL="0" indent="0" algn="l">
              <a:lnSpc>
                <a:spcPts val="1070"/>
              </a:lnSpc>
              <a:spcBef>
                <a:spcPts val="0"/>
              </a:spcBef>
              <a:spcAft>
                <a:spcPts val="0"/>
              </a:spcAft>
              <a:buNone/>
            </a:pPr>
            <a:r>
              <a:rPr sz="823" b="0" i="0" dirty="0">
                <a:solidFill>
                  <a:srgbClr val="1F2A37"/>
                </a:solidFill>
                <a:latin typeface="Consolas"/>
              </a:rPr>
              <a:t>def </a:t>
            </a:r>
            <a:r>
              <a:rPr sz="823" b="0" i="0" dirty="0" err="1">
                <a:solidFill>
                  <a:srgbClr val="1F2A37"/>
                </a:solidFill>
                <a:latin typeface="Consolas"/>
              </a:rPr>
              <a:t>policy_improvement</a:t>
            </a:r>
            <a:r>
              <a:rPr sz="823" b="0" i="0" dirty="0">
                <a:solidFill>
                  <a:srgbClr val="1F2A37"/>
                </a:solidFill>
                <a:latin typeface="Consolas"/>
              </a:rPr>
              <a:t>(V, env, gamma=0.99):</a:t>
            </a:r>
          </a:p>
          <a:p>
            <a:pPr marL="0" indent="0" algn="l">
              <a:lnSpc>
                <a:spcPts val="1070"/>
              </a:lnSpc>
              <a:spcBef>
                <a:spcPts val="0"/>
              </a:spcBef>
              <a:spcAft>
                <a:spcPts val="0"/>
              </a:spcAft>
              <a:buNone/>
            </a:pPr>
            <a:r>
              <a:rPr sz="823" b="0" i="0" dirty="0">
                <a:solidFill>
                  <a:srgbClr val="333639"/>
                </a:solidFill>
                <a:latin typeface="Consolas"/>
              </a:rPr>
              <a:t> </a:t>
            </a:r>
          </a:p>
          <a:p>
            <a:pPr marL="0" indent="0" algn="l">
              <a:lnSpc>
                <a:spcPts val="1070"/>
              </a:lnSpc>
              <a:spcBef>
                <a:spcPts val="0"/>
              </a:spcBef>
              <a:spcAft>
                <a:spcPts val="0"/>
              </a:spcAft>
              <a:buNone/>
            </a:pPr>
            <a:r>
              <a:rPr sz="823" b="0" i="0" dirty="0">
                <a:solidFill>
                  <a:srgbClr val="1F2A37"/>
                </a:solidFill>
                <a:latin typeface="Consolas"/>
              </a:rPr>
              <a:t>    dynamics = </a:t>
            </a:r>
            <a:r>
              <a:rPr sz="823" b="0" i="0" dirty="0" err="1">
                <a:solidFill>
                  <a:srgbClr val="1F2A37"/>
                </a:solidFill>
                <a:latin typeface="Consolas"/>
              </a:rPr>
              <a:t>env.unwrapped.P</a:t>
            </a:r>
            <a:endParaRPr sz="823" b="0" i="0" dirty="0">
              <a:solidFill>
                <a:srgbClr val="1F2A37"/>
              </a:solidFill>
              <a:latin typeface="Consolas"/>
            </a:endParaRPr>
          </a:p>
          <a:p>
            <a:pPr marL="0" indent="0" algn="l">
              <a:lnSpc>
                <a:spcPts val="1070"/>
              </a:lnSpc>
              <a:spcBef>
                <a:spcPts val="0"/>
              </a:spcBef>
              <a:spcAft>
                <a:spcPts val="0"/>
              </a:spcAft>
              <a:buNone/>
            </a:pPr>
            <a:r>
              <a:rPr sz="823" b="0" i="0" dirty="0">
                <a:solidFill>
                  <a:srgbClr val="1F2A37"/>
                </a:solidFill>
                <a:latin typeface="Consolas"/>
              </a:rPr>
              <a:t>    </a:t>
            </a:r>
            <a:r>
              <a:rPr sz="823" b="0" i="0" dirty="0" err="1">
                <a:solidFill>
                  <a:srgbClr val="1F2A37"/>
                </a:solidFill>
                <a:latin typeface="Consolas"/>
              </a:rPr>
              <a:t>n_states</a:t>
            </a:r>
            <a:r>
              <a:rPr sz="823" b="0" i="0" dirty="0">
                <a:solidFill>
                  <a:srgbClr val="1F2A37"/>
                </a:solidFill>
                <a:latin typeface="Consolas"/>
              </a:rPr>
              <a:t>, </a:t>
            </a:r>
            <a:r>
              <a:rPr sz="823" b="0" i="0" dirty="0" err="1">
                <a:solidFill>
                  <a:srgbClr val="1F2A37"/>
                </a:solidFill>
                <a:latin typeface="Consolas"/>
              </a:rPr>
              <a:t>n_actions</a:t>
            </a:r>
            <a:r>
              <a:rPr sz="823" b="0" i="0" dirty="0">
                <a:solidFill>
                  <a:srgbClr val="1F2A37"/>
                </a:solidFill>
                <a:latin typeface="Consolas"/>
              </a:rPr>
              <a:t> = </a:t>
            </a:r>
            <a:r>
              <a:rPr sz="823" b="0" i="0" dirty="0" err="1">
                <a:solidFill>
                  <a:srgbClr val="1F2A37"/>
                </a:solidFill>
                <a:latin typeface="Consolas"/>
              </a:rPr>
              <a:t>len</a:t>
            </a:r>
            <a:r>
              <a:rPr sz="823" b="0" i="0" dirty="0">
                <a:solidFill>
                  <a:srgbClr val="1F2A37"/>
                </a:solidFill>
                <a:latin typeface="Consolas"/>
              </a:rPr>
              <a:t>(dynamics), </a:t>
            </a:r>
            <a:r>
              <a:rPr sz="823" b="0" i="0" dirty="0" err="1">
                <a:solidFill>
                  <a:srgbClr val="1F2A37"/>
                </a:solidFill>
                <a:latin typeface="Consolas"/>
              </a:rPr>
              <a:t>env.action_space.n</a:t>
            </a:r>
            <a:endParaRPr sz="823" b="0" i="0" dirty="0">
              <a:solidFill>
                <a:srgbClr val="1F2A37"/>
              </a:solidFill>
              <a:latin typeface="Consolas"/>
            </a:endParaRPr>
          </a:p>
          <a:p>
            <a:pPr marL="0" indent="0" algn="l">
              <a:lnSpc>
                <a:spcPts val="1070"/>
              </a:lnSpc>
              <a:spcBef>
                <a:spcPts val="0"/>
              </a:spcBef>
              <a:spcAft>
                <a:spcPts val="0"/>
              </a:spcAft>
              <a:buNone/>
            </a:pPr>
            <a:r>
              <a:rPr sz="823" b="0" i="0" dirty="0">
                <a:solidFill>
                  <a:srgbClr val="1F2A37"/>
                </a:solidFill>
                <a:latin typeface="Consolas"/>
              </a:rPr>
              <a:t>    Q = </a:t>
            </a:r>
            <a:r>
              <a:rPr sz="823" b="0" i="0" dirty="0" err="1">
                <a:solidFill>
                  <a:srgbClr val="1F2A37"/>
                </a:solidFill>
                <a:latin typeface="Consolas"/>
              </a:rPr>
              <a:t>np.zeros</a:t>
            </a:r>
            <a:r>
              <a:rPr sz="823" b="0" i="0" dirty="0">
                <a:solidFill>
                  <a:srgbClr val="1F2A37"/>
                </a:solidFill>
                <a:latin typeface="Consolas"/>
              </a:rPr>
              <a:t>((</a:t>
            </a:r>
            <a:r>
              <a:rPr sz="823" b="0" i="0" dirty="0" err="1">
                <a:solidFill>
                  <a:srgbClr val="1F2A37"/>
                </a:solidFill>
                <a:latin typeface="Consolas"/>
              </a:rPr>
              <a:t>n_states</a:t>
            </a:r>
            <a:r>
              <a:rPr sz="823" b="0" i="0" dirty="0">
                <a:solidFill>
                  <a:srgbClr val="1F2A37"/>
                </a:solidFill>
                <a:latin typeface="Consolas"/>
              </a:rPr>
              <a:t>, </a:t>
            </a:r>
            <a:r>
              <a:rPr sz="823" b="0" i="0" dirty="0" err="1">
                <a:solidFill>
                  <a:srgbClr val="1F2A37"/>
                </a:solidFill>
                <a:latin typeface="Consolas"/>
              </a:rPr>
              <a:t>n_actions</a:t>
            </a:r>
            <a:r>
              <a:rPr sz="823" b="0" i="0" dirty="0">
                <a:solidFill>
                  <a:srgbClr val="1F2A37"/>
                </a:solidFill>
                <a:latin typeface="Consolas"/>
              </a:rPr>
              <a:t>))</a:t>
            </a:r>
          </a:p>
          <a:p>
            <a:pPr marL="0" indent="0" algn="l">
              <a:lnSpc>
                <a:spcPts val="1070"/>
              </a:lnSpc>
              <a:spcBef>
                <a:spcPts val="0"/>
              </a:spcBef>
              <a:spcAft>
                <a:spcPts val="0"/>
              </a:spcAft>
              <a:buNone/>
            </a:pPr>
            <a:r>
              <a:rPr sz="823" b="0" i="0" dirty="0">
                <a:solidFill>
                  <a:srgbClr val="333639"/>
                </a:solidFill>
                <a:latin typeface="Consolas"/>
              </a:rPr>
              <a:t> </a:t>
            </a:r>
          </a:p>
          <a:p>
            <a:pPr marL="0" indent="0" algn="l">
              <a:lnSpc>
                <a:spcPts val="1070"/>
              </a:lnSpc>
              <a:spcBef>
                <a:spcPts val="0"/>
              </a:spcBef>
              <a:spcAft>
                <a:spcPts val="0"/>
              </a:spcAft>
              <a:buNone/>
            </a:pPr>
            <a:r>
              <a:rPr sz="823" b="0" i="0" dirty="0">
                <a:solidFill>
                  <a:srgbClr val="1F2A37"/>
                </a:solidFill>
                <a:latin typeface="Consolas"/>
              </a:rPr>
              <a:t>    </a:t>
            </a:r>
            <a:r>
              <a:rPr sz="823" b="0" i="1" dirty="0">
                <a:solidFill>
                  <a:srgbClr val="768896"/>
                </a:solidFill>
                <a:latin typeface="Consolas"/>
              </a:rPr>
              <a:t># one-step lookahead for every state-action pair</a:t>
            </a:r>
          </a:p>
          <a:p>
            <a:pPr marL="0" indent="0" algn="l">
              <a:lnSpc>
                <a:spcPts val="1070"/>
              </a:lnSpc>
              <a:spcBef>
                <a:spcPts val="0"/>
              </a:spcBef>
              <a:spcAft>
                <a:spcPts val="0"/>
              </a:spcAft>
              <a:buNone/>
            </a:pPr>
            <a:r>
              <a:rPr sz="823" b="0" i="0" dirty="0">
                <a:solidFill>
                  <a:srgbClr val="1F2A37"/>
                </a:solidFill>
                <a:latin typeface="Consolas"/>
              </a:rPr>
              <a:t>    for s in range(</a:t>
            </a:r>
            <a:r>
              <a:rPr sz="823" b="0" i="0" dirty="0" err="1">
                <a:solidFill>
                  <a:srgbClr val="1F2A37"/>
                </a:solidFill>
                <a:latin typeface="Consolas"/>
              </a:rPr>
              <a:t>n_states</a:t>
            </a:r>
            <a:r>
              <a:rPr sz="823" b="0" i="0" dirty="0">
                <a:solidFill>
                  <a:srgbClr val="1F2A37"/>
                </a:solidFill>
                <a:latin typeface="Consolas"/>
              </a:rPr>
              <a:t>):</a:t>
            </a:r>
          </a:p>
          <a:p>
            <a:pPr marL="0" indent="0" algn="l">
              <a:lnSpc>
                <a:spcPts val="1070"/>
              </a:lnSpc>
              <a:spcBef>
                <a:spcPts val="0"/>
              </a:spcBef>
              <a:spcAft>
                <a:spcPts val="0"/>
              </a:spcAft>
              <a:buNone/>
            </a:pPr>
            <a:r>
              <a:rPr sz="823" b="0" i="0" dirty="0">
                <a:solidFill>
                  <a:srgbClr val="1F2A37"/>
                </a:solidFill>
                <a:latin typeface="Consolas"/>
              </a:rPr>
              <a:t>        for a in range(</a:t>
            </a:r>
            <a:r>
              <a:rPr sz="823" b="0" i="0" dirty="0" err="1">
                <a:solidFill>
                  <a:srgbClr val="1F2A37"/>
                </a:solidFill>
                <a:latin typeface="Consolas"/>
              </a:rPr>
              <a:t>n_actions</a:t>
            </a:r>
            <a:r>
              <a:rPr sz="823" b="0" i="0" dirty="0">
                <a:solidFill>
                  <a:srgbClr val="1F2A37"/>
                </a:solidFill>
                <a:latin typeface="Consolas"/>
              </a:rPr>
              <a:t>):</a:t>
            </a:r>
          </a:p>
          <a:p>
            <a:pPr marL="0" indent="0" algn="l">
              <a:lnSpc>
                <a:spcPts val="1070"/>
              </a:lnSpc>
              <a:spcBef>
                <a:spcPts val="0"/>
              </a:spcBef>
              <a:spcAft>
                <a:spcPts val="0"/>
              </a:spcAft>
              <a:buNone/>
            </a:pPr>
            <a:r>
              <a:rPr sz="823" b="0" i="0" dirty="0">
                <a:solidFill>
                  <a:srgbClr val="1F2A37"/>
                </a:solidFill>
                <a:latin typeface="Consolas"/>
              </a:rPr>
              <a:t>            for prob, </a:t>
            </a:r>
            <a:r>
              <a:rPr sz="823" b="0" i="0" dirty="0" err="1">
                <a:solidFill>
                  <a:srgbClr val="1F2A37"/>
                </a:solidFill>
                <a:latin typeface="Consolas"/>
              </a:rPr>
              <a:t>next_state</a:t>
            </a:r>
            <a:r>
              <a:rPr sz="823" b="0" i="0" dirty="0">
                <a:solidFill>
                  <a:srgbClr val="1F2A37"/>
                </a:solidFill>
                <a:latin typeface="Consolas"/>
              </a:rPr>
              <a:t>, reward, done in dynamics[s][a]:</a:t>
            </a:r>
          </a:p>
          <a:p>
            <a:pPr marL="0" indent="0" algn="l">
              <a:lnSpc>
                <a:spcPts val="1070"/>
              </a:lnSpc>
              <a:spcBef>
                <a:spcPts val="0"/>
              </a:spcBef>
              <a:spcAft>
                <a:spcPts val="0"/>
              </a:spcAft>
              <a:buNone/>
            </a:pPr>
            <a:r>
              <a:rPr sz="823" b="0" i="0" dirty="0">
                <a:solidFill>
                  <a:srgbClr val="1F2A37"/>
                </a:solidFill>
                <a:latin typeface="Consolas"/>
              </a:rPr>
              <a:t>                continuation = 0.0 if done else gamma * V[</a:t>
            </a:r>
            <a:r>
              <a:rPr sz="823" b="0" i="0" dirty="0" err="1">
                <a:solidFill>
                  <a:srgbClr val="1F2A37"/>
                </a:solidFill>
                <a:latin typeface="Consolas"/>
              </a:rPr>
              <a:t>next_state</a:t>
            </a:r>
            <a:r>
              <a:rPr sz="823" b="0" i="0" dirty="0">
                <a:solidFill>
                  <a:srgbClr val="1F2A37"/>
                </a:solidFill>
                <a:latin typeface="Consolas"/>
              </a:rPr>
              <a:t>]</a:t>
            </a:r>
          </a:p>
          <a:p>
            <a:pPr marL="0" indent="0" algn="l">
              <a:lnSpc>
                <a:spcPts val="1070"/>
              </a:lnSpc>
              <a:spcBef>
                <a:spcPts val="0"/>
              </a:spcBef>
              <a:spcAft>
                <a:spcPts val="0"/>
              </a:spcAft>
              <a:buNone/>
            </a:pPr>
            <a:r>
              <a:rPr sz="823" b="0" i="0" dirty="0">
                <a:solidFill>
                  <a:srgbClr val="1F2A37"/>
                </a:solidFill>
                <a:latin typeface="Consolas"/>
              </a:rPr>
              <a:t>                Q[s, a] += prob * (reward + continuation)</a:t>
            </a:r>
          </a:p>
          <a:p>
            <a:pPr marL="0" indent="0" algn="l">
              <a:lnSpc>
                <a:spcPts val="1070"/>
              </a:lnSpc>
              <a:spcBef>
                <a:spcPts val="0"/>
              </a:spcBef>
              <a:spcAft>
                <a:spcPts val="0"/>
              </a:spcAft>
              <a:buNone/>
            </a:pPr>
            <a:r>
              <a:rPr sz="823" b="0" i="0" dirty="0">
                <a:solidFill>
                  <a:srgbClr val="333639"/>
                </a:solidFill>
                <a:latin typeface="Consolas"/>
              </a:rPr>
              <a:t> </a:t>
            </a:r>
          </a:p>
          <a:p>
            <a:pPr marL="0" indent="0" algn="l">
              <a:lnSpc>
                <a:spcPts val="1070"/>
              </a:lnSpc>
              <a:spcBef>
                <a:spcPts val="0"/>
              </a:spcBef>
              <a:spcAft>
                <a:spcPts val="0"/>
              </a:spcAft>
              <a:buNone/>
            </a:pPr>
            <a:r>
              <a:rPr sz="823" b="0" i="0" dirty="0">
                <a:solidFill>
                  <a:srgbClr val="1F2A37"/>
                </a:solidFill>
                <a:latin typeface="Consolas"/>
              </a:rPr>
              <a:t>    </a:t>
            </a:r>
            <a:r>
              <a:rPr sz="823" b="0" i="1" dirty="0">
                <a:solidFill>
                  <a:srgbClr val="768896"/>
                </a:solidFill>
                <a:latin typeface="Consolas"/>
              </a:rPr>
              <a:t># the new policy is greedy with respect to Q</a:t>
            </a:r>
          </a:p>
          <a:p>
            <a:pPr marL="0" indent="0" algn="l">
              <a:lnSpc>
                <a:spcPts val="1070"/>
              </a:lnSpc>
              <a:spcBef>
                <a:spcPts val="0"/>
              </a:spcBef>
              <a:spcAft>
                <a:spcPts val="0"/>
              </a:spcAft>
              <a:buNone/>
            </a:pPr>
            <a:r>
              <a:rPr sz="823" b="1" i="0" dirty="0">
                <a:solidFill>
                  <a:srgbClr val="574676"/>
                </a:solidFill>
                <a:latin typeface="Consolas"/>
              </a:rPr>
              <a:t>    def </a:t>
            </a:r>
            <a:r>
              <a:rPr sz="823" b="1" i="0" dirty="0" err="1">
                <a:solidFill>
                  <a:srgbClr val="574676"/>
                </a:solidFill>
                <a:latin typeface="Consolas"/>
              </a:rPr>
              <a:t>new_pi</a:t>
            </a:r>
            <a:r>
              <a:rPr sz="823" b="1" i="0" dirty="0">
                <a:solidFill>
                  <a:srgbClr val="574676"/>
                </a:solidFill>
                <a:latin typeface="Consolas"/>
              </a:rPr>
              <a:t>(s):</a:t>
            </a:r>
          </a:p>
          <a:p>
            <a:pPr marL="0" indent="0" algn="l">
              <a:lnSpc>
                <a:spcPts val="1070"/>
              </a:lnSpc>
              <a:spcBef>
                <a:spcPts val="0"/>
              </a:spcBef>
              <a:spcAft>
                <a:spcPts val="0"/>
              </a:spcAft>
              <a:buNone/>
            </a:pPr>
            <a:r>
              <a:rPr sz="823" b="1" i="0" dirty="0">
                <a:solidFill>
                  <a:srgbClr val="574676"/>
                </a:solidFill>
                <a:latin typeface="Consolas"/>
              </a:rPr>
              <a:t>        return </a:t>
            </a:r>
            <a:r>
              <a:rPr sz="823" b="1" i="0" dirty="0" err="1">
                <a:solidFill>
                  <a:srgbClr val="574676"/>
                </a:solidFill>
                <a:latin typeface="Consolas"/>
              </a:rPr>
              <a:t>np.argmax</a:t>
            </a:r>
            <a:r>
              <a:rPr sz="823" b="1" i="0" dirty="0">
                <a:solidFill>
                  <a:srgbClr val="574676"/>
                </a:solidFill>
                <a:latin typeface="Consolas"/>
              </a:rPr>
              <a:t>(Q[s])</a:t>
            </a:r>
          </a:p>
          <a:p>
            <a:pPr marL="0" indent="0" algn="l">
              <a:lnSpc>
                <a:spcPts val="1070"/>
              </a:lnSpc>
              <a:spcBef>
                <a:spcPts val="0"/>
              </a:spcBef>
              <a:spcAft>
                <a:spcPts val="0"/>
              </a:spcAft>
              <a:buNone/>
            </a:pPr>
            <a:r>
              <a:rPr sz="823" b="0" i="0" dirty="0">
                <a:solidFill>
                  <a:srgbClr val="333639"/>
                </a:solidFill>
                <a:latin typeface="Consolas"/>
              </a:rPr>
              <a:t> </a:t>
            </a:r>
          </a:p>
          <a:p>
            <a:pPr marL="0" indent="0" algn="l">
              <a:lnSpc>
                <a:spcPts val="1070"/>
              </a:lnSpc>
              <a:spcBef>
                <a:spcPts val="0"/>
              </a:spcBef>
              <a:spcAft>
                <a:spcPts val="0"/>
              </a:spcAft>
              <a:buNone/>
            </a:pPr>
            <a:r>
              <a:rPr sz="823" b="0" i="0" dirty="0">
                <a:solidFill>
                  <a:srgbClr val="1F2A37"/>
                </a:solidFill>
                <a:latin typeface="Consolas"/>
              </a:rPr>
              <a:t>    return </a:t>
            </a:r>
            <a:r>
              <a:rPr sz="823" b="0" i="0" dirty="0" err="1">
                <a:solidFill>
                  <a:srgbClr val="1F2A37"/>
                </a:solidFill>
                <a:latin typeface="Consolas"/>
              </a:rPr>
              <a:t>new_pi</a:t>
            </a:r>
            <a:endParaRPr sz="823" b="0" i="0" dirty="0">
              <a:solidFill>
                <a:srgbClr val="1F2A37"/>
              </a:solidFill>
              <a:latin typeface="Consola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5.4  CAREFUL BECOMES CAREFUL+</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improvement step, and the weakest state of the policy is repaired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 — Policy improvement and policy iteration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34</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Apply one improvement step to the Careful policy of Part IV. The middle panel is its action-value function, obtained by one-step lookahead; the right panel is the greedy policy built from it. Only </a:t>
            </a:r>
            <a:r>
              <a:rPr sz="1235" b="1" i="0" dirty="0">
                <a:solidFill>
                  <a:srgbClr val="C8102E"/>
                </a:solidFill>
                <a:latin typeface="Fira Sans"/>
              </a:rPr>
              <a:t>two states change</a:t>
            </a:r>
            <a:r>
              <a:rPr sz="1235" b="0" i="0" dirty="0">
                <a:solidFill>
                  <a:srgbClr val="333639"/>
                </a:solidFill>
                <a:latin typeface="Fira Sans"/>
              </a:rPr>
              <a:t> </a:t>
            </a:r>
            <a:r>
              <a:rPr lang="it-IT" sz="1235" dirty="0">
                <a:solidFill>
                  <a:srgbClr val="333639"/>
                </a:solidFill>
                <a:latin typeface="Fira Sans"/>
              </a:rPr>
              <a:t>(</a:t>
            </a:r>
            <a:r>
              <a:rPr sz="1235" b="0" i="0" dirty="0">
                <a:solidFill>
                  <a:srgbClr val="333639"/>
                </a:solidFill>
                <a:latin typeface="Fira Sans"/>
              </a:rPr>
              <a:t>states 6 and 14</a:t>
            </a:r>
            <a:r>
              <a:rPr lang="it-IT" sz="1235" b="0" i="0" dirty="0">
                <a:solidFill>
                  <a:srgbClr val="333639"/>
                </a:solidFill>
                <a:latin typeface="Fira Sans"/>
              </a:rPr>
              <a:t>)</a:t>
            </a:r>
            <a:r>
              <a:rPr sz="1235" b="0" i="0" dirty="0">
                <a:solidFill>
                  <a:srgbClr val="333639"/>
                </a:solidFill>
                <a:latin typeface="Fira Sans"/>
              </a:rPr>
              <a:t> and they are exactly the states where Careful was weakest.</a:t>
            </a:r>
          </a:p>
        </p:txBody>
      </p:sp>
      <p:pic>
        <p:nvPicPr>
          <p:cNvPr id="9" name="Picture 8" descr="careful_full.png"/>
          <p:cNvPicPr>
            <a:picLocks noChangeAspect="1"/>
          </p:cNvPicPr>
          <p:nvPr/>
        </p:nvPicPr>
        <p:blipFill>
          <a:blip r:embed="rId2"/>
          <a:stretch>
            <a:fillRect/>
          </a:stretch>
        </p:blipFill>
        <p:spPr>
          <a:xfrm>
            <a:off x="841248" y="1965096"/>
            <a:ext cx="10228596" cy="3868344"/>
          </a:xfrm>
          <a:prstGeom prst="rect">
            <a:avLst/>
          </a:prstGeom>
        </p:spPr>
      </p:pic>
      <p:sp>
        <p:nvSpPr>
          <p:cNvPr id="10" name="TextBox 9"/>
          <p:cNvSpPr txBox="1"/>
          <p:nvPr/>
        </p:nvSpPr>
        <p:spPr>
          <a:xfrm>
            <a:off x="822960" y="5969685"/>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a:solidFill>
                  <a:srgbClr val="626669"/>
                </a:solidFill>
                <a:latin typeface="Fira Sans"/>
              </a:rPr>
              <a:t>Careful (left), its action-value function (centre, with the maximising action in red), and the greedy policy Careful+ (right). Red arrows mark the two actions that changed.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5.5  THE IMPROVEMENT, MEASURED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Every state gains value as the theorem promised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 — Policy improvement and policy iteration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35</a:t>
            </a:r>
          </a:p>
        </p:txBody>
      </p:sp>
      <p:sp>
        <p:nvSpPr>
          <p:cNvPr id="8" name="TextBox 7"/>
          <p:cNvSpPr txBox="1"/>
          <p:nvPr/>
        </p:nvSpPr>
        <p:spPr>
          <a:xfrm>
            <a:off x="841248" y="1316736"/>
            <a:ext cx="10515600"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The theorem guarantees that Careful+ is at least as good as Careful in every state. Evaluating both and subtracting shows that it is in fact </a:t>
            </a:r>
            <a:r>
              <a:rPr sz="1282" b="1" i="0" dirty="0">
                <a:solidFill>
                  <a:srgbClr val="2B7A3E"/>
                </a:solidFill>
                <a:latin typeface="Fira Sans"/>
              </a:rPr>
              <a:t>strictly better everywhere</a:t>
            </a:r>
            <a:r>
              <a:rPr lang="it-IT" sz="1282" dirty="0">
                <a:solidFill>
                  <a:srgbClr val="333639"/>
                </a:solidFill>
                <a:latin typeface="Fira Sans"/>
              </a:rPr>
              <a:t>, </a:t>
            </a:r>
            <a:r>
              <a:rPr sz="1282" b="0" i="0" dirty="0">
                <a:solidFill>
                  <a:srgbClr val="333639"/>
                </a:solidFill>
                <a:latin typeface="Fira Sans"/>
              </a:rPr>
              <a:t>including in states whose action never changed, because the value of a state depends on what happens afterwards.</a:t>
            </a:r>
          </a:p>
        </p:txBody>
      </p:sp>
      <p:sp>
        <p:nvSpPr>
          <p:cNvPr id="9" name="TextBox 8"/>
          <p:cNvSpPr txBox="1"/>
          <p:nvPr/>
        </p:nvSpPr>
        <p:spPr>
          <a:xfrm>
            <a:off x="1024128" y="2040651"/>
            <a:ext cx="297180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90">
                <a:solidFill>
                  <a:srgbClr val="626669"/>
                </a:solidFill>
                <a:latin typeface="Fira Sans"/>
              </a:rPr>
              <a:t>CAREFUL</a:t>
            </a:r>
          </a:p>
        </p:txBody>
      </p:sp>
      <p:sp>
        <p:nvSpPr>
          <p:cNvPr id="10" name="Rectangle 9"/>
          <p:cNvSpPr/>
          <p:nvPr/>
        </p:nvSpPr>
        <p:spPr>
          <a:xfrm>
            <a:off x="1024128" y="231497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0704" y="233325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0</a:t>
            </a:r>
          </a:p>
        </p:txBody>
      </p:sp>
      <p:sp>
        <p:nvSpPr>
          <p:cNvPr id="12" name="TextBox 11"/>
          <p:cNvSpPr txBox="1"/>
          <p:nvPr/>
        </p:nvSpPr>
        <p:spPr>
          <a:xfrm>
            <a:off x="1024128" y="249785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0.41</a:t>
            </a:r>
          </a:p>
        </p:txBody>
      </p:sp>
      <p:sp>
        <p:nvSpPr>
          <p:cNvPr id="13" name="Rectangle 12"/>
          <p:cNvSpPr/>
          <p:nvPr/>
        </p:nvSpPr>
        <p:spPr>
          <a:xfrm>
            <a:off x="1572768" y="231497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609344" y="233325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a:t>
            </a:r>
          </a:p>
        </p:txBody>
      </p:sp>
      <p:sp>
        <p:nvSpPr>
          <p:cNvPr id="15" name="TextBox 14"/>
          <p:cNvSpPr txBox="1"/>
          <p:nvPr/>
        </p:nvSpPr>
        <p:spPr>
          <a:xfrm>
            <a:off x="1572768" y="249785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0.38</a:t>
            </a:r>
          </a:p>
        </p:txBody>
      </p:sp>
      <p:sp>
        <p:nvSpPr>
          <p:cNvPr id="16" name="Rectangle 15"/>
          <p:cNvSpPr/>
          <p:nvPr/>
        </p:nvSpPr>
        <p:spPr>
          <a:xfrm>
            <a:off x="2121408" y="231497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2157984" y="233325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2</a:t>
            </a:r>
          </a:p>
        </p:txBody>
      </p:sp>
      <p:sp>
        <p:nvSpPr>
          <p:cNvPr id="18" name="TextBox 17"/>
          <p:cNvSpPr txBox="1"/>
          <p:nvPr/>
        </p:nvSpPr>
        <p:spPr>
          <a:xfrm>
            <a:off x="2121408" y="249785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0.35</a:t>
            </a:r>
          </a:p>
        </p:txBody>
      </p:sp>
      <p:sp>
        <p:nvSpPr>
          <p:cNvPr id="19" name="Rectangle 18"/>
          <p:cNvSpPr/>
          <p:nvPr/>
        </p:nvSpPr>
        <p:spPr>
          <a:xfrm>
            <a:off x="2670048" y="231497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706624" y="233325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3</a:t>
            </a:r>
          </a:p>
        </p:txBody>
      </p:sp>
      <p:sp>
        <p:nvSpPr>
          <p:cNvPr id="21" name="TextBox 20"/>
          <p:cNvSpPr txBox="1"/>
          <p:nvPr/>
        </p:nvSpPr>
        <p:spPr>
          <a:xfrm>
            <a:off x="2670048" y="249785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0.34</a:t>
            </a:r>
          </a:p>
        </p:txBody>
      </p:sp>
      <p:sp>
        <p:nvSpPr>
          <p:cNvPr id="22" name="Rectangle 21"/>
          <p:cNvSpPr/>
          <p:nvPr/>
        </p:nvSpPr>
        <p:spPr>
          <a:xfrm>
            <a:off x="1024128" y="286361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060704" y="288189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4</a:t>
            </a:r>
          </a:p>
        </p:txBody>
      </p:sp>
      <p:sp>
        <p:nvSpPr>
          <p:cNvPr id="24" name="TextBox 23"/>
          <p:cNvSpPr txBox="1"/>
          <p:nvPr/>
        </p:nvSpPr>
        <p:spPr>
          <a:xfrm>
            <a:off x="1024128" y="304649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0.42</a:t>
            </a:r>
          </a:p>
        </p:txBody>
      </p:sp>
      <p:sp>
        <p:nvSpPr>
          <p:cNvPr id="25" name="Rectangle 24"/>
          <p:cNvSpPr/>
          <p:nvPr/>
        </p:nvSpPr>
        <p:spPr>
          <a:xfrm>
            <a:off x="1572768" y="2863611"/>
            <a:ext cx="548640" cy="548640"/>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609344" y="288189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5</a:t>
            </a:r>
          </a:p>
        </p:txBody>
      </p:sp>
      <p:sp>
        <p:nvSpPr>
          <p:cNvPr id="27" name="TextBox 26"/>
          <p:cNvSpPr txBox="1"/>
          <p:nvPr/>
        </p:nvSpPr>
        <p:spPr>
          <a:xfrm>
            <a:off x="1572768" y="3046491"/>
            <a:ext cx="548640"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28" name="Rectangle 27"/>
          <p:cNvSpPr/>
          <p:nvPr/>
        </p:nvSpPr>
        <p:spPr>
          <a:xfrm>
            <a:off x="2121408" y="286361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2157984" y="288189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6</a:t>
            </a:r>
          </a:p>
        </p:txBody>
      </p:sp>
      <p:sp>
        <p:nvSpPr>
          <p:cNvPr id="30" name="TextBox 29"/>
          <p:cNvSpPr txBox="1"/>
          <p:nvPr/>
        </p:nvSpPr>
        <p:spPr>
          <a:xfrm>
            <a:off x="2121408" y="304649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0.12</a:t>
            </a:r>
          </a:p>
        </p:txBody>
      </p:sp>
      <p:sp>
        <p:nvSpPr>
          <p:cNvPr id="31" name="Rectangle 30"/>
          <p:cNvSpPr/>
          <p:nvPr/>
        </p:nvSpPr>
        <p:spPr>
          <a:xfrm>
            <a:off x="2670048" y="2863611"/>
            <a:ext cx="548640" cy="548640"/>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2706624" y="288189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7</a:t>
            </a:r>
          </a:p>
        </p:txBody>
      </p:sp>
      <p:sp>
        <p:nvSpPr>
          <p:cNvPr id="33" name="TextBox 32"/>
          <p:cNvSpPr txBox="1"/>
          <p:nvPr/>
        </p:nvSpPr>
        <p:spPr>
          <a:xfrm>
            <a:off x="2670048" y="3046491"/>
            <a:ext cx="548640"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34" name="Rectangle 33"/>
          <p:cNvSpPr/>
          <p:nvPr/>
        </p:nvSpPr>
        <p:spPr>
          <a:xfrm>
            <a:off x="1024128" y="341225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1060704" y="343053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8</a:t>
            </a:r>
          </a:p>
        </p:txBody>
      </p:sp>
      <p:sp>
        <p:nvSpPr>
          <p:cNvPr id="36" name="TextBox 35"/>
          <p:cNvSpPr txBox="1"/>
          <p:nvPr/>
        </p:nvSpPr>
        <p:spPr>
          <a:xfrm>
            <a:off x="1024128" y="359513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0.45</a:t>
            </a:r>
          </a:p>
        </p:txBody>
      </p:sp>
      <p:sp>
        <p:nvSpPr>
          <p:cNvPr id="37" name="Rectangle 36"/>
          <p:cNvSpPr/>
          <p:nvPr/>
        </p:nvSpPr>
        <p:spPr>
          <a:xfrm>
            <a:off x="1572768" y="341225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1609344" y="343053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9</a:t>
            </a:r>
          </a:p>
        </p:txBody>
      </p:sp>
      <p:sp>
        <p:nvSpPr>
          <p:cNvPr id="39" name="TextBox 38"/>
          <p:cNvSpPr txBox="1"/>
          <p:nvPr/>
        </p:nvSpPr>
        <p:spPr>
          <a:xfrm>
            <a:off x="1572768" y="359513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0.48</a:t>
            </a:r>
          </a:p>
        </p:txBody>
      </p:sp>
      <p:sp>
        <p:nvSpPr>
          <p:cNvPr id="40" name="Rectangle 39"/>
          <p:cNvSpPr/>
          <p:nvPr/>
        </p:nvSpPr>
        <p:spPr>
          <a:xfrm>
            <a:off x="2121408" y="341225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2157984" y="343053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10</a:t>
            </a:r>
          </a:p>
        </p:txBody>
      </p:sp>
      <p:sp>
        <p:nvSpPr>
          <p:cNvPr id="42" name="TextBox 41"/>
          <p:cNvSpPr txBox="1"/>
          <p:nvPr/>
        </p:nvSpPr>
        <p:spPr>
          <a:xfrm>
            <a:off x="2121408" y="359513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0.43</a:t>
            </a:r>
          </a:p>
        </p:txBody>
      </p:sp>
      <p:sp>
        <p:nvSpPr>
          <p:cNvPr id="43" name="Rectangle 42"/>
          <p:cNvSpPr/>
          <p:nvPr/>
        </p:nvSpPr>
        <p:spPr>
          <a:xfrm>
            <a:off x="2670048" y="3412251"/>
            <a:ext cx="548640" cy="548640"/>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2706624" y="343053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11</a:t>
            </a:r>
          </a:p>
        </p:txBody>
      </p:sp>
      <p:sp>
        <p:nvSpPr>
          <p:cNvPr id="45" name="TextBox 44"/>
          <p:cNvSpPr txBox="1"/>
          <p:nvPr/>
        </p:nvSpPr>
        <p:spPr>
          <a:xfrm>
            <a:off x="2670048" y="3595131"/>
            <a:ext cx="548640"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46" name="Rectangle 45"/>
          <p:cNvSpPr/>
          <p:nvPr/>
        </p:nvSpPr>
        <p:spPr>
          <a:xfrm>
            <a:off x="1024128" y="3960891"/>
            <a:ext cx="548640" cy="548640"/>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1060704" y="397917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12</a:t>
            </a:r>
          </a:p>
        </p:txBody>
      </p:sp>
      <p:sp>
        <p:nvSpPr>
          <p:cNvPr id="48" name="TextBox 47"/>
          <p:cNvSpPr txBox="1"/>
          <p:nvPr/>
        </p:nvSpPr>
        <p:spPr>
          <a:xfrm>
            <a:off x="1024128" y="4143771"/>
            <a:ext cx="548640"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49" name="Rectangle 48"/>
          <p:cNvSpPr/>
          <p:nvPr/>
        </p:nvSpPr>
        <p:spPr>
          <a:xfrm>
            <a:off x="1572768" y="396089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1609344" y="397917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13</a:t>
            </a:r>
          </a:p>
        </p:txBody>
      </p:sp>
      <p:sp>
        <p:nvSpPr>
          <p:cNvPr id="51" name="TextBox 50"/>
          <p:cNvSpPr txBox="1"/>
          <p:nvPr/>
        </p:nvSpPr>
        <p:spPr>
          <a:xfrm>
            <a:off x="1572768" y="414377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0.59</a:t>
            </a:r>
          </a:p>
        </p:txBody>
      </p:sp>
      <p:sp>
        <p:nvSpPr>
          <p:cNvPr id="52" name="Rectangle 51"/>
          <p:cNvSpPr/>
          <p:nvPr/>
        </p:nvSpPr>
        <p:spPr>
          <a:xfrm>
            <a:off x="2121408" y="396089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2157984" y="397917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14</a:t>
            </a:r>
          </a:p>
        </p:txBody>
      </p:sp>
      <p:sp>
        <p:nvSpPr>
          <p:cNvPr id="54" name="TextBox 53"/>
          <p:cNvSpPr txBox="1"/>
          <p:nvPr/>
        </p:nvSpPr>
        <p:spPr>
          <a:xfrm>
            <a:off x="2121408" y="414377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0.71</a:t>
            </a:r>
          </a:p>
        </p:txBody>
      </p:sp>
      <p:sp>
        <p:nvSpPr>
          <p:cNvPr id="55" name="Rectangle 54"/>
          <p:cNvSpPr/>
          <p:nvPr/>
        </p:nvSpPr>
        <p:spPr>
          <a:xfrm>
            <a:off x="2670048" y="3960891"/>
            <a:ext cx="548640" cy="548640"/>
          </a:xfrm>
          <a:prstGeom prst="rect">
            <a:avLst/>
          </a:prstGeom>
          <a:solidFill>
            <a:srgbClr val="EAF2EB"/>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2706624" y="397917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15</a:t>
            </a:r>
          </a:p>
        </p:txBody>
      </p:sp>
      <p:sp>
        <p:nvSpPr>
          <p:cNvPr id="57" name="TextBox 56"/>
          <p:cNvSpPr txBox="1"/>
          <p:nvPr/>
        </p:nvSpPr>
        <p:spPr>
          <a:xfrm>
            <a:off x="2670048" y="4143771"/>
            <a:ext cx="548640"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2B7A3E"/>
                </a:solidFill>
                <a:latin typeface="Fira Sans"/>
              </a:rPr>
              <a:t>goal</a:t>
            </a:r>
          </a:p>
        </p:txBody>
      </p:sp>
      <p:sp>
        <p:nvSpPr>
          <p:cNvPr id="58" name="TextBox 57"/>
          <p:cNvSpPr txBox="1"/>
          <p:nvPr/>
        </p:nvSpPr>
        <p:spPr>
          <a:xfrm>
            <a:off x="3675888" y="2040651"/>
            <a:ext cx="297180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90">
                <a:solidFill>
                  <a:srgbClr val="2B7A3E"/>
                </a:solidFill>
                <a:latin typeface="Fira Sans"/>
              </a:rPr>
              <a:t>CAREFUL+</a:t>
            </a:r>
          </a:p>
        </p:txBody>
      </p:sp>
      <p:sp>
        <p:nvSpPr>
          <p:cNvPr id="59" name="Rectangle 58"/>
          <p:cNvSpPr/>
          <p:nvPr/>
        </p:nvSpPr>
        <p:spPr>
          <a:xfrm>
            <a:off x="3675888" y="231497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3712464" y="233325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0</a:t>
            </a:r>
          </a:p>
        </p:txBody>
      </p:sp>
      <p:sp>
        <p:nvSpPr>
          <p:cNvPr id="61" name="TextBox 60"/>
          <p:cNvSpPr txBox="1"/>
          <p:nvPr/>
        </p:nvSpPr>
        <p:spPr>
          <a:xfrm>
            <a:off x="3675888" y="249785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0.54</a:t>
            </a:r>
          </a:p>
        </p:txBody>
      </p:sp>
      <p:sp>
        <p:nvSpPr>
          <p:cNvPr id="62" name="Rectangle 61"/>
          <p:cNvSpPr/>
          <p:nvPr/>
        </p:nvSpPr>
        <p:spPr>
          <a:xfrm>
            <a:off x="4224528" y="231497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4261104" y="233325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a:t>
            </a:r>
          </a:p>
        </p:txBody>
      </p:sp>
      <p:sp>
        <p:nvSpPr>
          <p:cNvPr id="64" name="TextBox 63"/>
          <p:cNvSpPr txBox="1"/>
          <p:nvPr/>
        </p:nvSpPr>
        <p:spPr>
          <a:xfrm>
            <a:off x="4224528" y="249785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0.50</a:t>
            </a:r>
          </a:p>
        </p:txBody>
      </p:sp>
      <p:sp>
        <p:nvSpPr>
          <p:cNvPr id="65" name="Rectangle 64"/>
          <p:cNvSpPr/>
          <p:nvPr/>
        </p:nvSpPr>
        <p:spPr>
          <a:xfrm>
            <a:off x="4773168" y="231497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4809744" y="233325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2</a:t>
            </a:r>
          </a:p>
        </p:txBody>
      </p:sp>
      <p:sp>
        <p:nvSpPr>
          <p:cNvPr id="67" name="TextBox 66"/>
          <p:cNvSpPr txBox="1"/>
          <p:nvPr/>
        </p:nvSpPr>
        <p:spPr>
          <a:xfrm>
            <a:off x="4773168" y="249785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0.47</a:t>
            </a:r>
          </a:p>
        </p:txBody>
      </p:sp>
      <p:sp>
        <p:nvSpPr>
          <p:cNvPr id="68" name="Rectangle 67"/>
          <p:cNvSpPr/>
          <p:nvPr/>
        </p:nvSpPr>
        <p:spPr>
          <a:xfrm>
            <a:off x="5321808" y="231497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8"/>
          <p:cNvSpPr txBox="1"/>
          <p:nvPr/>
        </p:nvSpPr>
        <p:spPr>
          <a:xfrm>
            <a:off x="5358384" y="233325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3</a:t>
            </a:r>
          </a:p>
        </p:txBody>
      </p:sp>
      <p:sp>
        <p:nvSpPr>
          <p:cNvPr id="70" name="TextBox 69"/>
          <p:cNvSpPr txBox="1"/>
          <p:nvPr/>
        </p:nvSpPr>
        <p:spPr>
          <a:xfrm>
            <a:off x="5321808" y="249785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0.46</a:t>
            </a:r>
          </a:p>
        </p:txBody>
      </p:sp>
      <p:sp>
        <p:nvSpPr>
          <p:cNvPr id="71" name="Rectangle 70"/>
          <p:cNvSpPr/>
          <p:nvPr/>
        </p:nvSpPr>
        <p:spPr>
          <a:xfrm>
            <a:off x="3675888" y="286361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TextBox 71"/>
          <p:cNvSpPr txBox="1"/>
          <p:nvPr/>
        </p:nvSpPr>
        <p:spPr>
          <a:xfrm>
            <a:off x="3712464" y="288189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4</a:t>
            </a:r>
          </a:p>
        </p:txBody>
      </p:sp>
      <p:sp>
        <p:nvSpPr>
          <p:cNvPr id="73" name="TextBox 72"/>
          <p:cNvSpPr txBox="1"/>
          <p:nvPr/>
        </p:nvSpPr>
        <p:spPr>
          <a:xfrm>
            <a:off x="3675888" y="304649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0.56</a:t>
            </a:r>
          </a:p>
        </p:txBody>
      </p:sp>
      <p:sp>
        <p:nvSpPr>
          <p:cNvPr id="74" name="Rectangle 73"/>
          <p:cNvSpPr/>
          <p:nvPr/>
        </p:nvSpPr>
        <p:spPr>
          <a:xfrm>
            <a:off x="4224528" y="2863611"/>
            <a:ext cx="548640" cy="548640"/>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TextBox 74"/>
          <p:cNvSpPr txBox="1"/>
          <p:nvPr/>
        </p:nvSpPr>
        <p:spPr>
          <a:xfrm>
            <a:off x="4261104" y="288189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5</a:t>
            </a:r>
          </a:p>
        </p:txBody>
      </p:sp>
      <p:sp>
        <p:nvSpPr>
          <p:cNvPr id="76" name="TextBox 75"/>
          <p:cNvSpPr txBox="1"/>
          <p:nvPr/>
        </p:nvSpPr>
        <p:spPr>
          <a:xfrm>
            <a:off x="4224528" y="3046491"/>
            <a:ext cx="548640"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77" name="Rectangle 76"/>
          <p:cNvSpPr/>
          <p:nvPr/>
        </p:nvSpPr>
        <p:spPr>
          <a:xfrm>
            <a:off x="4773168" y="286361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TextBox 77"/>
          <p:cNvSpPr txBox="1"/>
          <p:nvPr/>
        </p:nvSpPr>
        <p:spPr>
          <a:xfrm>
            <a:off x="4809744" y="288189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6</a:t>
            </a:r>
          </a:p>
        </p:txBody>
      </p:sp>
      <p:sp>
        <p:nvSpPr>
          <p:cNvPr id="79" name="TextBox 78"/>
          <p:cNvSpPr txBox="1"/>
          <p:nvPr/>
        </p:nvSpPr>
        <p:spPr>
          <a:xfrm>
            <a:off x="4773168" y="304649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0.36</a:t>
            </a:r>
          </a:p>
        </p:txBody>
      </p:sp>
      <p:sp>
        <p:nvSpPr>
          <p:cNvPr id="80" name="Rectangle 79"/>
          <p:cNvSpPr/>
          <p:nvPr/>
        </p:nvSpPr>
        <p:spPr>
          <a:xfrm>
            <a:off x="5321808" y="2863611"/>
            <a:ext cx="548640" cy="548640"/>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TextBox 80"/>
          <p:cNvSpPr txBox="1"/>
          <p:nvPr/>
        </p:nvSpPr>
        <p:spPr>
          <a:xfrm>
            <a:off x="5358384" y="288189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7</a:t>
            </a:r>
          </a:p>
        </p:txBody>
      </p:sp>
      <p:sp>
        <p:nvSpPr>
          <p:cNvPr id="82" name="TextBox 81"/>
          <p:cNvSpPr txBox="1"/>
          <p:nvPr/>
        </p:nvSpPr>
        <p:spPr>
          <a:xfrm>
            <a:off x="5321808" y="3046491"/>
            <a:ext cx="548640"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83" name="Rectangle 82"/>
          <p:cNvSpPr/>
          <p:nvPr/>
        </p:nvSpPr>
        <p:spPr>
          <a:xfrm>
            <a:off x="3675888" y="341225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TextBox 83"/>
          <p:cNvSpPr txBox="1"/>
          <p:nvPr/>
        </p:nvSpPr>
        <p:spPr>
          <a:xfrm>
            <a:off x="3712464" y="343053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8</a:t>
            </a:r>
          </a:p>
        </p:txBody>
      </p:sp>
      <p:sp>
        <p:nvSpPr>
          <p:cNvPr id="85" name="TextBox 84"/>
          <p:cNvSpPr txBox="1"/>
          <p:nvPr/>
        </p:nvSpPr>
        <p:spPr>
          <a:xfrm>
            <a:off x="3675888" y="359513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0.59</a:t>
            </a:r>
          </a:p>
        </p:txBody>
      </p:sp>
      <p:sp>
        <p:nvSpPr>
          <p:cNvPr id="86" name="Rectangle 85"/>
          <p:cNvSpPr/>
          <p:nvPr/>
        </p:nvSpPr>
        <p:spPr>
          <a:xfrm>
            <a:off x="4224528" y="341225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TextBox 86"/>
          <p:cNvSpPr txBox="1"/>
          <p:nvPr/>
        </p:nvSpPr>
        <p:spPr>
          <a:xfrm>
            <a:off x="4261104" y="343053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9</a:t>
            </a:r>
          </a:p>
        </p:txBody>
      </p:sp>
      <p:sp>
        <p:nvSpPr>
          <p:cNvPr id="88" name="TextBox 87"/>
          <p:cNvSpPr txBox="1"/>
          <p:nvPr/>
        </p:nvSpPr>
        <p:spPr>
          <a:xfrm>
            <a:off x="4224528" y="359513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0.64</a:t>
            </a:r>
          </a:p>
        </p:txBody>
      </p:sp>
      <p:sp>
        <p:nvSpPr>
          <p:cNvPr id="89" name="Rectangle 88"/>
          <p:cNvSpPr/>
          <p:nvPr/>
        </p:nvSpPr>
        <p:spPr>
          <a:xfrm>
            <a:off x="4773168" y="341225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TextBox 89"/>
          <p:cNvSpPr txBox="1"/>
          <p:nvPr/>
        </p:nvSpPr>
        <p:spPr>
          <a:xfrm>
            <a:off x="4809744" y="343053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10</a:t>
            </a:r>
          </a:p>
        </p:txBody>
      </p:sp>
      <p:sp>
        <p:nvSpPr>
          <p:cNvPr id="91" name="TextBox 90"/>
          <p:cNvSpPr txBox="1"/>
          <p:nvPr/>
        </p:nvSpPr>
        <p:spPr>
          <a:xfrm>
            <a:off x="4773168" y="359513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0.62</a:t>
            </a:r>
          </a:p>
        </p:txBody>
      </p:sp>
      <p:sp>
        <p:nvSpPr>
          <p:cNvPr id="92" name="Rectangle 91"/>
          <p:cNvSpPr/>
          <p:nvPr/>
        </p:nvSpPr>
        <p:spPr>
          <a:xfrm>
            <a:off x="5321808" y="3412251"/>
            <a:ext cx="548640" cy="548640"/>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Box 92"/>
          <p:cNvSpPr txBox="1"/>
          <p:nvPr/>
        </p:nvSpPr>
        <p:spPr>
          <a:xfrm>
            <a:off x="5358384" y="343053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11</a:t>
            </a:r>
          </a:p>
        </p:txBody>
      </p:sp>
      <p:sp>
        <p:nvSpPr>
          <p:cNvPr id="94" name="TextBox 93"/>
          <p:cNvSpPr txBox="1"/>
          <p:nvPr/>
        </p:nvSpPr>
        <p:spPr>
          <a:xfrm>
            <a:off x="5321808" y="3595131"/>
            <a:ext cx="548640"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95" name="Rectangle 94"/>
          <p:cNvSpPr/>
          <p:nvPr/>
        </p:nvSpPr>
        <p:spPr>
          <a:xfrm>
            <a:off x="3675888" y="3960891"/>
            <a:ext cx="548640" cy="548640"/>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Box 95"/>
          <p:cNvSpPr txBox="1"/>
          <p:nvPr/>
        </p:nvSpPr>
        <p:spPr>
          <a:xfrm>
            <a:off x="3712464" y="397917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12</a:t>
            </a:r>
          </a:p>
        </p:txBody>
      </p:sp>
      <p:sp>
        <p:nvSpPr>
          <p:cNvPr id="97" name="TextBox 96"/>
          <p:cNvSpPr txBox="1"/>
          <p:nvPr/>
        </p:nvSpPr>
        <p:spPr>
          <a:xfrm>
            <a:off x="3675888" y="4143771"/>
            <a:ext cx="548640"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98" name="Rectangle 97"/>
          <p:cNvSpPr/>
          <p:nvPr/>
        </p:nvSpPr>
        <p:spPr>
          <a:xfrm>
            <a:off x="4224528" y="396089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TextBox 98"/>
          <p:cNvSpPr txBox="1"/>
          <p:nvPr/>
        </p:nvSpPr>
        <p:spPr>
          <a:xfrm>
            <a:off x="4261104" y="397917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13</a:t>
            </a:r>
          </a:p>
        </p:txBody>
      </p:sp>
      <p:sp>
        <p:nvSpPr>
          <p:cNvPr id="100" name="TextBox 99"/>
          <p:cNvSpPr txBox="1"/>
          <p:nvPr/>
        </p:nvSpPr>
        <p:spPr>
          <a:xfrm>
            <a:off x="4224528" y="414377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0.74</a:t>
            </a:r>
          </a:p>
        </p:txBody>
      </p:sp>
      <p:sp>
        <p:nvSpPr>
          <p:cNvPr id="101" name="Rectangle 100"/>
          <p:cNvSpPr/>
          <p:nvPr/>
        </p:nvSpPr>
        <p:spPr>
          <a:xfrm>
            <a:off x="4773168" y="396089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TextBox 101"/>
          <p:cNvSpPr txBox="1"/>
          <p:nvPr/>
        </p:nvSpPr>
        <p:spPr>
          <a:xfrm>
            <a:off x="4809744" y="397917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14</a:t>
            </a:r>
          </a:p>
        </p:txBody>
      </p:sp>
      <p:sp>
        <p:nvSpPr>
          <p:cNvPr id="103" name="TextBox 102"/>
          <p:cNvSpPr txBox="1"/>
          <p:nvPr/>
        </p:nvSpPr>
        <p:spPr>
          <a:xfrm>
            <a:off x="4773168" y="414377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0.86</a:t>
            </a:r>
          </a:p>
        </p:txBody>
      </p:sp>
      <p:sp>
        <p:nvSpPr>
          <p:cNvPr id="104" name="Rectangle 103"/>
          <p:cNvSpPr/>
          <p:nvPr/>
        </p:nvSpPr>
        <p:spPr>
          <a:xfrm>
            <a:off x="5321808" y="3960891"/>
            <a:ext cx="548640" cy="548640"/>
          </a:xfrm>
          <a:prstGeom prst="rect">
            <a:avLst/>
          </a:prstGeom>
          <a:solidFill>
            <a:srgbClr val="EAF2EB"/>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TextBox 104"/>
          <p:cNvSpPr txBox="1"/>
          <p:nvPr/>
        </p:nvSpPr>
        <p:spPr>
          <a:xfrm>
            <a:off x="5358384" y="397917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15</a:t>
            </a:r>
          </a:p>
        </p:txBody>
      </p:sp>
      <p:sp>
        <p:nvSpPr>
          <p:cNvPr id="106" name="TextBox 105"/>
          <p:cNvSpPr txBox="1"/>
          <p:nvPr/>
        </p:nvSpPr>
        <p:spPr>
          <a:xfrm>
            <a:off x="5321808" y="4143771"/>
            <a:ext cx="548640"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2B7A3E"/>
                </a:solidFill>
                <a:latin typeface="Fira Sans"/>
              </a:rPr>
              <a:t>goal</a:t>
            </a:r>
          </a:p>
        </p:txBody>
      </p:sp>
      <p:sp>
        <p:nvSpPr>
          <p:cNvPr id="107" name="TextBox 106"/>
          <p:cNvSpPr txBox="1"/>
          <p:nvPr/>
        </p:nvSpPr>
        <p:spPr>
          <a:xfrm>
            <a:off x="6327648" y="2040651"/>
            <a:ext cx="297180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90">
                <a:solidFill>
                  <a:srgbClr val="C8102E"/>
                </a:solidFill>
                <a:latin typeface="Fira Sans"/>
              </a:rPr>
              <a:t>DIFFERENCE</a:t>
            </a:r>
          </a:p>
        </p:txBody>
      </p:sp>
      <p:sp>
        <p:nvSpPr>
          <p:cNvPr id="108" name="Rectangle 107"/>
          <p:cNvSpPr/>
          <p:nvPr/>
        </p:nvSpPr>
        <p:spPr>
          <a:xfrm>
            <a:off x="6327648" y="231497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TextBox 108"/>
          <p:cNvSpPr txBox="1"/>
          <p:nvPr/>
        </p:nvSpPr>
        <p:spPr>
          <a:xfrm>
            <a:off x="6364224" y="233325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0</a:t>
            </a:r>
          </a:p>
        </p:txBody>
      </p:sp>
      <p:sp>
        <p:nvSpPr>
          <p:cNvPr id="110" name="TextBox 109"/>
          <p:cNvSpPr txBox="1"/>
          <p:nvPr/>
        </p:nvSpPr>
        <p:spPr>
          <a:xfrm>
            <a:off x="6327648" y="249785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0.13</a:t>
            </a:r>
          </a:p>
        </p:txBody>
      </p:sp>
      <p:sp>
        <p:nvSpPr>
          <p:cNvPr id="111" name="Rectangle 110"/>
          <p:cNvSpPr/>
          <p:nvPr/>
        </p:nvSpPr>
        <p:spPr>
          <a:xfrm>
            <a:off x="6876288" y="231497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TextBox 111"/>
          <p:cNvSpPr txBox="1"/>
          <p:nvPr/>
        </p:nvSpPr>
        <p:spPr>
          <a:xfrm>
            <a:off x="6912864" y="233325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a:t>
            </a:r>
          </a:p>
        </p:txBody>
      </p:sp>
      <p:sp>
        <p:nvSpPr>
          <p:cNvPr id="113" name="TextBox 112"/>
          <p:cNvSpPr txBox="1"/>
          <p:nvPr/>
        </p:nvSpPr>
        <p:spPr>
          <a:xfrm>
            <a:off x="6876288" y="249785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0.12</a:t>
            </a:r>
          </a:p>
        </p:txBody>
      </p:sp>
      <p:sp>
        <p:nvSpPr>
          <p:cNvPr id="114" name="Rectangle 113"/>
          <p:cNvSpPr/>
          <p:nvPr/>
        </p:nvSpPr>
        <p:spPr>
          <a:xfrm>
            <a:off x="7424927" y="231497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TextBox 114"/>
          <p:cNvSpPr txBox="1"/>
          <p:nvPr/>
        </p:nvSpPr>
        <p:spPr>
          <a:xfrm>
            <a:off x="7461503" y="233325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2</a:t>
            </a:r>
          </a:p>
        </p:txBody>
      </p:sp>
      <p:sp>
        <p:nvSpPr>
          <p:cNvPr id="116" name="TextBox 115"/>
          <p:cNvSpPr txBox="1"/>
          <p:nvPr/>
        </p:nvSpPr>
        <p:spPr>
          <a:xfrm>
            <a:off x="7424927" y="249785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0.12</a:t>
            </a:r>
          </a:p>
        </p:txBody>
      </p:sp>
      <p:sp>
        <p:nvSpPr>
          <p:cNvPr id="117" name="Rectangle 116"/>
          <p:cNvSpPr/>
          <p:nvPr/>
        </p:nvSpPr>
        <p:spPr>
          <a:xfrm>
            <a:off x="7973567" y="231497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TextBox 117"/>
          <p:cNvSpPr txBox="1"/>
          <p:nvPr/>
        </p:nvSpPr>
        <p:spPr>
          <a:xfrm>
            <a:off x="8010143" y="233325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3</a:t>
            </a:r>
          </a:p>
        </p:txBody>
      </p:sp>
      <p:sp>
        <p:nvSpPr>
          <p:cNvPr id="119" name="TextBox 118"/>
          <p:cNvSpPr txBox="1"/>
          <p:nvPr/>
        </p:nvSpPr>
        <p:spPr>
          <a:xfrm>
            <a:off x="7973567" y="249785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0.11</a:t>
            </a:r>
          </a:p>
        </p:txBody>
      </p:sp>
      <p:sp>
        <p:nvSpPr>
          <p:cNvPr id="120" name="Rectangle 119"/>
          <p:cNvSpPr/>
          <p:nvPr/>
        </p:nvSpPr>
        <p:spPr>
          <a:xfrm>
            <a:off x="6327648" y="286361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TextBox 120"/>
          <p:cNvSpPr txBox="1"/>
          <p:nvPr/>
        </p:nvSpPr>
        <p:spPr>
          <a:xfrm>
            <a:off x="6364224" y="288189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4</a:t>
            </a:r>
          </a:p>
        </p:txBody>
      </p:sp>
      <p:sp>
        <p:nvSpPr>
          <p:cNvPr id="122" name="TextBox 121"/>
          <p:cNvSpPr txBox="1"/>
          <p:nvPr/>
        </p:nvSpPr>
        <p:spPr>
          <a:xfrm>
            <a:off x="6327648" y="304649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0.14</a:t>
            </a:r>
          </a:p>
        </p:txBody>
      </p:sp>
      <p:sp>
        <p:nvSpPr>
          <p:cNvPr id="123" name="Rectangle 122"/>
          <p:cNvSpPr/>
          <p:nvPr/>
        </p:nvSpPr>
        <p:spPr>
          <a:xfrm>
            <a:off x="6876288" y="2863611"/>
            <a:ext cx="548640" cy="548640"/>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TextBox 123"/>
          <p:cNvSpPr txBox="1"/>
          <p:nvPr/>
        </p:nvSpPr>
        <p:spPr>
          <a:xfrm>
            <a:off x="6912864" y="288189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5</a:t>
            </a:r>
          </a:p>
        </p:txBody>
      </p:sp>
      <p:sp>
        <p:nvSpPr>
          <p:cNvPr id="125" name="TextBox 124"/>
          <p:cNvSpPr txBox="1"/>
          <p:nvPr/>
        </p:nvSpPr>
        <p:spPr>
          <a:xfrm>
            <a:off x="6876288" y="3046491"/>
            <a:ext cx="548640"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126" name="Rectangle 125"/>
          <p:cNvSpPr/>
          <p:nvPr/>
        </p:nvSpPr>
        <p:spPr>
          <a:xfrm>
            <a:off x="7424927" y="2863611"/>
            <a:ext cx="548640" cy="548640"/>
          </a:xfrm>
          <a:prstGeom prst="rect">
            <a:avLst/>
          </a:prstGeom>
          <a:solidFill>
            <a:srgbClr val="EEEBF2"/>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TextBox 126"/>
          <p:cNvSpPr txBox="1"/>
          <p:nvPr/>
        </p:nvSpPr>
        <p:spPr>
          <a:xfrm>
            <a:off x="7461503" y="288189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6</a:t>
            </a:r>
          </a:p>
        </p:txBody>
      </p:sp>
      <p:sp>
        <p:nvSpPr>
          <p:cNvPr id="128" name="TextBox 127"/>
          <p:cNvSpPr txBox="1"/>
          <p:nvPr/>
        </p:nvSpPr>
        <p:spPr>
          <a:xfrm>
            <a:off x="7424927" y="304649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1" i="0">
                <a:solidFill>
                  <a:srgbClr val="C8102E"/>
                </a:solidFill>
                <a:latin typeface="Fira Sans"/>
              </a:rPr>
              <a:t>0.24</a:t>
            </a:r>
          </a:p>
        </p:txBody>
      </p:sp>
      <p:sp>
        <p:nvSpPr>
          <p:cNvPr id="129" name="Rectangle 128"/>
          <p:cNvSpPr/>
          <p:nvPr/>
        </p:nvSpPr>
        <p:spPr>
          <a:xfrm>
            <a:off x="7973567" y="2863611"/>
            <a:ext cx="548640" cy="548640"/>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TextBox 129"/>
          <p:cNvSpPr txBox="1"/>
          <p:nvPr/>
        </p:nvSpPr>
        <p:spPr>
          <a:xfrm>
            <a:off x="8010143" y="288189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7</a:t>
            </a:r>
          </a:p>
        </p:txBody>
      </p:sp>
      <p:sp>
        <p:nvSpPr>
          <p:cNvPr id="131" name="TextBox 130"/>
          <p:cNvSpPr txBox="1"/>
          <p:nvPr/>
        </p:nvSpPr>
        <p:spPr>
          <a:xfrm>
            <a:off x="7973567" y="3046491"/>
            <a:ext cx="548640"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132" name="Rectangle 131"/>
          <p:cNvSpPr/>
          <p:nvPr/>
        </p:nvSpPr>
        <p:spPr>
          <a:xfrm>
            <a:off x="6327648" y="341225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TextBox 132"/>
          <p:cNvSpPr txBox="1"/>
          <p:nvPr/>
        </p:nvSpPr>
        <p:spPr>
          <a:xfrm>
            <a:off x="6364224" y="343053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8</a:t>
            </a:r>
          </a:p>
        </p:txBody>
      </p:sp>
      <p:sp>
        <p:nvSpPr>
          <p:cNvPr id="134" name="TextBox 133"/>
          <p:cNvSpPr txBox="1"/>
          <p:nvPr/>
        </p:nvSpPr>
        <p:spPr>
          <a:xfrm>
            <a:off x="6327648" y="359513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0.15</a:t>
            </a:r>
          </a:p>
        </p:txBody>
      </p:sp>
      <p:sp>
        <p:nvSpPr>
          <p:cNvPr id="135" name="Rectangle 134"/>
          <p:cNvSpPr/>
          <p:nvPr/>
        </p:nvSpPr>
        <p:spPr>
          <a:xfrm>
            <a:off x="6876288" y="341225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TextBox 135"/>
          <p:cNvSpPr txBox="1"/>
          <p:nvPr/>
        </p:nvSpPr>
        <p:spPr>
          <a:xfrm>
            <a:off x="6912864" y="343053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9</a:t>
            </a:r>
          </a:p>
        </p:txBody>
      </p:sp>
      <p:sp>
        <p:nvSpPr>
          <p:cNvPr id="137" name="TextBox 136"/>
          <p:cNvSpPr txBox="1"/>
          <p:nvPr/>
        </p:nvSpPr>
        <p:spPr>
          <a:xfrm>
            <a:off x="6876288" y="359513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0.16</a:t>
            </a:r>
          </a:p>
        </p:txBody>
      </p:sp>
      <p:sp>
        <p:nvSpPr>
          <p:cNvPr id="138" name="Rectangle 137"/>
          <p:cNvSpPr/>
          <p:nvPr/>
        </p:nvSpPr>
        <p:spPr>
          <a:xfrm>
            <a:off x="7424927" y="341225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9" name="TextBox 138"/>
          <p:cNvSpPr txBox="1"/>
          <p:nvPr/>
        </p:nvSpPr>
        <p:spPr>
          <a:xfrm>
            <a:off x="7461503" y="343053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10</a:t>
            </a:r>
          </a:p>
        </p:txBody>
      </p:sp>
      <p:sp>
        <p:nvSpPr>
          <p:cNvPr id="140" name="TextBox 139"/>
          <p:cNvSpPr txBox="1"/>
          <p:nvPr/>
        </p:nvSpPr>
        <p:spPr>
          <a:xfrm>
            <a:off x="7424927" y="359513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0.18</a:t>
            </a:r>
          </a:p>
        </p:txBody>
      </p:sp>
      <p:sp>
        <p:nvSpPr>
          <p:cNvPr id="141" name="Rectangle 140"/>
          <p:cNvSpPr/>
          <p:nvPr/>
        </p:nvSpPr>
        <p:spPr>
          <a:xfrm>
            <a:off x="7973567" y="3412251"/>
            <a:ext cx="548640" cy="548640"/>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TextBox 141"/>
          <p:cNvSpPr txBox="1"/>
          <p:nvPr/>
        </p:nvSpPr>
        <p:spPr>
          <a:xfrm>
            <a:off x="8010143" y="343053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11</a:t>
            </a:r>
          </a:p>
        </p:txBody>
      </p:sp>
      <p:sp>
        <p:nvSpPr>
          <p:cNvPr id="143" name="TextBox 142"/>
          <p:cNvSpPr txBox="1"/>
          <p:nvPr/>
        </p:nvSpPr>
        <p:spPr>
          <a:xfrm>
            <a:off x="7973567" y="3595131"/>
            <a:ext cx="548640"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144" name="Rectangle 143"/>
          <p:cNvSpPr/>
          <p:nvPr/>
        </p:nvSpPr>
        <p:spPr>
          <a:xfrm>
            <a:off x="6327648" y="3960891"/>
            <a:ext cx="548640" cy="548640"/>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TextBox 144"/>
          <p:cNvSpPr txBox="1"/>
          <p:nvPr/>
        </p:nvSpPr>
        <p:spPr>
          <a:xfrm>
            <a:off x="6364224" y="397917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12</a:t>
            </a:r>
          </a:p>
        </p:txBody>
      </p:sp>
      <p:sp>
        <p:nvSpPr>
          <p:cNvPr id="146" name="TextBox 145"/>
          <p:cNvSpPr txBox="1"/>
          <p:nvPr/>
        </p:nvSpPr>
        <p:spPr>
          <a:xfrm>
            <a:off x="6327648" y="4143771"/>
            <a:ext cx="548640"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147" name="Rectangle 146"/>
          <p:cNvSpPr/>
          <p:nvPr/>
        </p:nvSpPr>
        <p:spPr>
          <a:xfrm>
            <a:off x="6876288" y="396089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TextBox 147"/>
          <p:cNvSpPr txBox="1"/>
          <p:nvPr/>
        </p:nvSpPr>
        <p:spPr>
          <a:xfrm>
            <a:off x="6912864" y="397917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13</a:t>
            </a:r>
          </a:p>
        </p:txBody>
      </p:sp>
      <p:sp>
        <p:nvSpPr>
          <p:cNvPr id="149" name="TextBox 148"/>
          <p:cNvSpPr txBox="1"/>
          <p:nvPr/>
        </p:nvSpPr>
        <p:spPr>
          <a:xfrm>
            <a:off x="6876288" y="414377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0.15</a:t>
            </a:r>
          </a:p>
        </p:txBody>
      </p:sp>
      <p:sp>
        <p:nvSpPr>
          <p:cNvPr id="150" name="Rectangle 149"/>
          <p:cNvSpPr/>
          <p:nvPr/>
        </p:nvSpPr>
        <p:spPr>
          <a:xfrm>
            <a:off x="7424927" y="3960891"/>
            <a:ext cx="548640" cy="548640"/>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TextBox 150"/>
          <p:cNvSpPr txBox="1"/>
          <p:nvPr/>
        </p:nvSpPr>
        <p:spPr>
          <a:xfrm>
            <a:off x="7461503" y="397917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14</a:t>
            </a:r>
          </a:p>
        </p:txBody>
      </p:sp>
      <p:sp>
        <p:nvSpPr>
          <p:cNvPr id="152" name="TextBox 151"/>
          <p:cNvSpPr txBox="1"/>
          <p:nvPr/>
        </p:nvSpPr>
        <p:spPr>
          <a:xfrm>
            <a:off x="7424927" y="4143771"/>
            <a:ext cx="548640"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0.15</a:t>
            </a:r>
          </a:p>
        </p:txBody>
      </p:sp>
      <p:sp>
        <p:nvSpPr>
          <p:cNvPr id="153" name="Rectangle 152"/>
          <p:cNvSpPr/>
          <p:nvPr/>
        </p:nvSpPr>
        <p:spPr>
          <a:xfrm>
            <a:off x="7973567" y="3960891"/>
            <a:ext cx="548640" cy="548640"/>
          </a:xfrm>
          <a:prstGeom prst="rect">
            <a:avLst/>
          </a:prstGeom>
          <a:solidFill>
            <a:srgbClr val="EAF2EB"/>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TextBox 153"/>
          <p:cNvSpPr txBox="1"/>
          <p:nvPr/>
        </p:nvSpPr>
        <p:spPr>
          <a:xfrm>
            <a:off x="8010143" y="3979179"/>
            <a:ext cx="475488"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15</a:t>
            </a:r>
          </a:p>
        </p:txBody>
      </p:sp>
      <p:sp>
        <p:nvSpPr>
          <p:cNvPr id="155" name="TextBox 154"/>
          <p:cNvSpPr txBox="1"/>
          <p:nvPr/>
        </p:nvSpPr>
        <p:spPr>
          <a:xfrm>
            <a:off x="7973567" y="4143771"/>
            <a:ext cx="548640"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2B7A3E"/>
                </a:solidFill>
                <a:latin typeface="Fira Sans"/>
              </a:rPr>
              <a:t>goal</a:t>
            </a:r>
          </a:p>
        </p:txBody>
      </p:sp>
      <p:sp>
        <p:nvSpPr>
          <p:cNvPr id="156" name="TextBox 155"/>
          <p:cNvSpPr txBox="1"/>
          <p:nvPr/>
        </p:nvSpPr>
        <p:spPr>
          <a:xfrm>
            <a:off x="8979408" y="2040651"/>
            <a:ext cx="2377440" cy="2127474"/>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140" b="1" i="0" dirty="0">
                <a:solidFill>
                  <a:srgbClr val="25282A"/>
                </a:solidFill>
                <a:latin typeface="Fira Sans"/>
              </a:rPr>
              <a:t>Reading the third grid</a:t>
            </a:r>
          </a:p>
          <a:p>
            <a:pPr marL="0" indent="0" algn="l">
              <a:lnSpc>
                <a:spcPts val="1176"/>
              </a:lnSpc>
              <a:spcBef>
                <a:spcPts val="800"/>
              </a:spcBef>
              <a:spcAft>
                <a:spcPts val="0"/>
              </a:spcAft>
              <a:buNone/>
            </a:pPr>
            <a:r>
              <a:rPr sz="997" b="0" i="0" dirty="0">
                <a:solidFill>
                  <a:srgbClr val="626669"/>
                </a:solidFill>
                <a:latin typeface="Fira Sans"/>
              </a:rPr>
              <a:t>Every entry is positive: no state was made worse. The start state gains 0.13, from 0.41 to 0.54.</a:t>
            </a:r>
          </a:p>
          <a:p>
            <a:pPr marL="0" indent="0" algn="l">
              <a:lnSpc>
                <a:spcPts val="1176"/>
              </a:lnSpc>
              <a:spcBef>
                <a:spcPts val="800"/>
              </a:spcBef>
              <a:spcAft>
                <a:spcPts val="0"/>
              </a:spcAft>
              <a:buNone/>
            </a:pPr>
            <a:r>
              <a:rPr sz="997" b="0" i="0" dirty="0">
                <a:solidFill>
                  <a:srgbClr val="626669"/>
                </a:solidFill>
                <a:latin typeface="Fira Sans"/>
              </a:rPr>
              <a:t>The largest gain, </a:t>
            </a:r>
            <a:r>
              <a:rPr sz="997" b="1" i="0" dirty="0">
                <a:solidFill>
                  <a:srgbClr val="C8102E"/>
                </a:solidFill>
                <a:latin typeface="Fira Sans"/>
              </a:rPr>
              <a:t>+0.24</a:t>
            </a:r>
            <a:r>
              <a:rPr sz="997" b="0" i="0" dirty="0">
                <a:solidFill>
                  <a:srgbClr val="626669"/>
                </a:solidFill>
                <a:latin typeface="Fira Sans"/>
              </a:rPr>
              <a:t>, is in state 6</a:t>
            </a:r>
            <a:r>
              <a:rPr lang="it-IT" sz="997" b="0" i="0" dirty="0">
                <a:solidFill>
                  <a:srgbClr val="626669"/>
                </a:solidFill>
                <a:latin typeface="Fira Sans"/>
              </a:rPr>
              <a:t>, </a:t>
            </a:r>
            <a:r>
              <a:rPr sz="997" b="0" i="0" dirty="0">
                <a:solidFill>
                  <a:srgbClr val="626669"/>
                </a:solidFill>
                <a:latin typeface="Fira Sans"/>
              </a:rPr>
              <a:t>the state where Careful was worth only 0.12. That is where the greedy action changed.</a:t>
            </a:r>
          </a:p>
          <a:p>
            <a:pPr marL="0" indent="0" algn="l">
              <a:lnSpc>
                <a:spcPts val="1176"/>
              </a:lnSpc>
              <a:spcBef>
                <a:spcPts val="800"/>
              </a:spcBef>
              <a:spcAft>
                <a:spcPts val="0"/>
              </a:spcAft>
              <a:buNone/>
            </a:pPr>
            <a:r>
              <a:rPr sz="997" b="0" i="0" dirty="0">
                <a:solidFill>
                  <a:srgbClr val="626669"/>
                </a:solidFill>
                <a:latin typeface="Fira Sans"/>
              </a:rPr>
              <a:t>States that kept the same action still gain, because they now reach a better-behaved successor.</a:t>
            </a:r>
          </a:p>
        </p:txBody>
      </p:sp>
      <p:sp>
        <p:nvSpPr>
          <p:cNvPr id="157" name="Rectangle 156"/>
          <p:cNvSpPr/>
          <p:nvPr/>
        </p:nvSpPr>
        <p:spPr>
          <a:xfrm>
            <a:off x="841248" y="4838715"/>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Rectangle 157"/>
          <p:cNvSpPr/>
          <p:nvPr/>
        </p:nvSpPr>
        <p:spPr>
          <a:xfrm>
            <a:off x="841248" y="5058171"/>
            <a:ext cx="10515600" cy="87782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Rectangle 158"/>
          <p:cNvSpPr/>
          <p:nvPr/>
        </p:nvSpPr>
        <p:spPr>
          <a:xfrm>
            <a:off x="841248" y="5058171"/>
            <a:ext cx="41148" cy="87782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TextBox 159"/>
          <p:cNvSpPr txBox="1"/>
          <p:nvPr/>
        </p:nvSpPr>
        <p:spPr>
          <a:xfrm>
            <a:off x="1060704" y="5204475"/>
            <a:ext cx="102229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WHAT JUST HAPPENED</a:t>
            </a:r>
          </a:p>
        </p:txBody>
      </p:sp>
      <p:sp>
        <p:nvSpPr>
          <p:cNvPr id="161" name="TextBox 160"/>
          <p:cNvSpPr txBox="1"/>
          <p:nvPr/>
        </p:nvSpPr>
        <p:spPr>
          <a:xfrm>
            <a:off x="1060704" y="5442219"/>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Acting greedily with respect to the action-value function of a policy produced a strictly better policy. This is the whole of policy improvement: </a:t>
            </a:r>
            <a:r>
              <a:rPr sz="1140" b="1" i="0">
                <a:solidFill>
                  <a:srgbClr val="333639"/>
                </a:solidFill>
                <a:latin typeface="Fira Sans"/>
              </a:rPr>
              <a:t>evaluate, then act greedily on what the evaluation found</a:t>
            </a:r>
            <a:r>
              <a:rPr sz="1140" b="0" i="0">
                <a:solidFill>
                  <a:srgbClr val="333639"/>
                </a:solidFill>
                <a:latin typeface="Fira Sans"/>
              </a:rPr>
              <a:t>. The natural next question is whether we can do it again.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5.6  POLICY ITERATION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Alternate the two operations until the policy stops changing</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 — Policy improvement and policy iteration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36</a:t>
            </a:r>
          </a:p>
        </p:txBody>
      </p:sp>
      <p:sp>
        <p:nvSpPr>
          <p:cNvPr id="8" name="TextBox 7"/>
          <p:cNvSpPr txBox="1"/>
          <p:nvPr/>
        </p:nvSpPr>
        <p:spPr>
          <a:xfrm>
            <a:off x="841248" y="1316736"/>
            <a:ext cx="6543446" cy="831108"/>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Careful+ is itself a policy, so we can evaluate it and improve it again</a:t>
            </a:r>
            <a:r>
              <a:rPr lang="it-IT" sz="1282" b="0" i="0" dirty="0">
                <a:solidFill>
                  <a:srgbClr val="333639"/>
                </a:solidFill>
                <a:latin typeface="Fira Sans"/>
              </a:rPr>
              <a:t>, </a:t>
            </a:r>
            <a:r>
              <a:rPr sz="1282" b="0" i="0" dirty="0">
                <a:solidFill>
                  <a:srgbClr val="333639"/>
                </a:solidFill>
                <a:latin typeface="Fira Sans"/>
              </a:rPr>
              <a:t>obtaining Careful++. Doing so changes </a:t>
            </a:r>
            <a:r>
              <a:rPr sz="1282" b="1" i="0" dirty="0">
                <a:solidFill>
                  <a:srgbClr val="C8102E"/>
                </a:solidFill>
                <a:latin typeface="Fira Sans"/>
              </a:rPr>
              <a:t>nothing</a:t>
            </a:r>
            <a:r>
              <a:rPr sz="1282" b="0" i="0" dirty="0">
                <a:solidFill>
                  <a:srgbClr val="333639"/>
                </a:solidFill>
                <a:latin typeface="Fira Sans"/>
              </a:rPr>
              <a:t>: every value is identical, to ten decimal places. Careful+ was </a:t>
            </a:r>
            <a:r>
              <a:rPr sz="1282" b="1" i="0" dirty="0">
                <a:solidFill>
                  <a:srgbClr val="333639"/>
                </a:solidFill>
                <a:latin typeface="Fira Sans"/>
              </a:rPr>
              <a:t>already optimal</a:t>
            </a:r>
            <a:r>
              <a:rPr sz="1282" b="0" i="0" dirty="0">
                <a:solidFill>
                  <a:srgbClr val="333639"/>
                </a:solidFill>
                <a:latin typeface="Fira Sans"/>
              </a:rPr>
              <a:t>. That suggests the algorithm: </a:t>
            </a:r>
            <a:r>
              <a:rPr sz="1282" b="1" i="0" dirty="0">
                <a:solidFill>
                  <a:srgbClr val="25282A"/>
                </a:solidFill>
                <a:latin typeface="Fira Sans"/>
              </a:rPr>
              <a:t>alternate evaluation and improvement until the policy is stable</a:t>
            </a:r>
            <a:r>
              <a:rPr sz="1282" b="0" i="0" dirty="0">
                <a:solidFill>
                  <a:srgbClr val="333639"/>
                </a:solidFill>
                <a:latin typeface="Fira Sans"/>
              </a:rPr>
              <a:t>.</a:t>
            </a:r>
          </a:p>
        </p:txBody>
      </p:sp>
      <p:pic>
        <p:nvPicPr>
          <p:cNvPr id="9" name="Picture 8" descr="eq_pi_chain.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2829" y="2676908"/>
            <a:ext cx="6711865" cy="450797"/>
          </a:xfrm>
          <a:prstGeom prst="rect">
            <a:avLst/>
          </a:prstGeom>
        </p:spPr>
      </p:pic>
      <p:sp>
        <p:nvSpPr>
          <p:cNvPr id="10" name="TextBox 9"/>
          <p:cNvSpPr txBox="1"/>
          <p:nvPr/>
        </p:nvSpPr>
        <p:spPr>
          <a:xfrm>
            <a:off x="841248" y="3393229"/>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E = evaluate (a full policy evaluation);  I = improve (one greedy step).</a:t>
            </a:r>
          </a:p>
        </p:txBody>
      </p:sp>
      <p:sp>
        <p:nvSpPr>
          <p:cNvPr id="11" name="Rectangle 10"/>
          <p:cNvSpPr/>
          <p:nvPr/>
        </p:nvSpPr>
        <p:spPr>
          <a:xfrm>
            <a:off x="841248" y="4003177"/>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204345"/>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WHY IT MUST TERMINATE</a:t>
            </a:r>
          </a:p>
        </p:txBody>
      </p:sp>
      <p:sp>
        <p:nvSpPr>
          <p:cNvPr id="13" name="TextBox 12"/>
          <p:cNvSpPr txBox="1"/>
          <p:nvPr/>
        </p:nvSpPr>
        <p:spPr>
          <a:xfrm>
            <a:off x="841248" y="4460377"/>
            <a:ext cx="6543446" cy="1059687"/>
          </a:xfrm>
          <a:prstGeom prst="rect">
            <a:avLst/>
          </a:prstGeom>
          <a:noFill/>
        </p:spPr>
        <p:txBody>
          <a:bodyPr wrap="square" lIns="0" tIns="0" rIns="0" bIns="0" anchor="t">
            <a:noAutofit/>
          </a:bodyPr>
          <a:lstStyle/>
          <a:p>
            <a:pPr marL="182880" indent="-182880" algn="l">
              <a:lnSpc>
                <a:spcPts val="1277"/>
              </a:lnSpc>
              <a:spcBef>
                <a:spcPts val="0"/>
              </a:spcBef>
              <a:spcAft>
                <a:spcPts val="0"/>
              </a:spcAft>
              <a:buClr>
                <a:srgbClr val="1971C2"/>
              </a:buClr>
              <a:buFont typeface="Fira Sans"/>
              <a:buChar char="–"/>
            </a:pPr>
            <a:r>
              <a:rPr sz="1140" b="0" i="0" dirty="0">
                <a:solidFill>
                  <a:srgbClr val="333639"/>
                </a:solidFill>
                <a:latin typeface="Fira Sans"/>
              </a:rPr>
              <a:t>Each improvement step produces a policy that is </a:t>
            </a:r>
            <a:r>
              <a:rPr sz="1140" b="1" i="0" dirty="0">
                <a:solidFill>
                  <a:srgbClr val="2B7A3E"/>
                </a:solidFill>
                <a:latin typeface="Fira Sans"/>
              </a:rPr>
              <a:t>strictly better</a:t>
            </a:r>
            <a:r>
              <a:rPr sz="1140" b="0" i="0" dirty="0">
                <a:solidFill>
                  <a:srgbClr val="333639"/>
                </a:solidFill>
                <a:latin typeface="Fira Sans"/>
              </a:rPr>
              <a:t> unless it is already optimal</a:t>
            </a:r>
            <a:r>
              <a:rPr lang="it-IT" sz="1140" b="0" i="0" dirty="0">
                <a:solidFill>
                  <a:srgbClr val="333639"/>
                </a:solidFill>
                <a:latin typeface="Fira Sans"/>
              </a:rPr>
              <a:t>, </a:t>
            </a:r>
            <a:r>
              <a:rPr sz="1140" b="0" i="0" dirty="0">
                <a:solidFill>
                  <a:srgbClr val="333639"/>
                </a:solidFill>
                <a:latin typeface="Fira Sans"/>
              </a:rPr>
              <a:t>so the sequence can never revisit an earlier policy.</a:t>
            </a:r>
          </a:p>
          <a:p>
            <a:pPr marL="182880" indent="-182880" algn="l">
              <a:lnSpc>
                <a:spcPts val="1277"/>
              </a:lnSpc>
              <a:spcBef>
                <a:spcPts val="800"/>
              </a:spcBef>
              <a:spcAft>
                <a:spcPts val="0"/>
              </a:spcAft>
              <a:buClr>
                <a:srgbClr val="1971C2"/>
              </a:buClr>
              <a:buFont typeface="Fira Sans"/>
              <a:buChar char="–"/>
            </a:pPr>
            <a:r>
              <a:rPr sz="1140" b="0" i="0" dirty="0">
                <a:solidFill>
                  <a:srgbClr val="333639"/>
                </a:solidFill>
                <a:latin typeface="Fira Sans"/>
              </a:rPr>
              <a:t>A finite MDP has finitely many deterministic policies.</a:t>
            </a:r>
          </a:p>
          <a:p>
            <a:pPr marL="182880" indent="-182880" algn="l">
              <a:lnSpc>
                <a:spcPts val="1277"/>
              </a:lnSpc>
              <a:spcBef>
                <a:spcPts val="800"/>
              </a:spcBef>
              <a:spcAft>
                <a:spcPts val="0"/>
              </a:spcAft>
              <a:buClr>
                <a:srgbClr val="1971C2"/>
              </a:buClr>
              <a:buFont typeface="Fira Sans"/>
              <a:buChar char="–"/>
            </a:pPr>
            <a:r>
              <a:rPr sz="1140" b="0" i="0" dirty="0">
                <a:solidFill>
                  <a:srgbClr val="333639"/>
                </a:solidFill>
                <a:latin typeface="Fira Sans"/>
              </a:rPr>
              <a:t>A strictly increasing sequence in a finite set must stop. Therefore policy iteration reaches an optimal policy in a </a:t>
            </a:r>
            <a:r>
              <a:rPr sz="1140" b="1" i="0" dirty="0">
                <a:solidFill>
                  <a:srgbClr val="25282A"/>
                </a:solidFill>
                <a:latin typeface="Fira Sans"/>
              </a:rPr>
              <a:t>finite number of improvement steps</a:t>
            </a:r>
            <a:r>
              <a:rPr sz="1140" b="0" i="0" dirty="0">
                <a:solidFill>
                  <a:srgbClr val="333639"/>
                </a:solidFill>
                <a:latin typeface="Fira Sans"/>
              </a:rPr>
              <a:t>.</a:t>
            </a:r>
          </a:p>
        </p:txBody>
      </p:sp>
      <p:sp>
        <p:nvSpPr>
          <p:cNvPr id="14" name="Rectangle 13"/>
          <p:cNvSpPr/>
          <p:nvPr/>
        </p:nvSpPr>
        <p:spPr>
          <a:xfrm>
            <a:off x="7618780" y="1316736"/>
            <a:ext cx="4167836" cy="4343247"/>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618780" y="1316736"/>
            <a:ext cx="41148" cy="4343247"/>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801660" y="1399032"/>
            <a:ext cx="336618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policy_iteration</a:t>
            </a:r>
          </a:p>
        </p:txBody>
      </p:sp>
      <p:sp>
        <p:nvSpPr>
          <p:cNvPr id="17" name="TextBox 16"/>
          <p:cNvSpPr txBox="1"/>
          <p:nvPr/>
        </p:nvSpPr>
        <p:spPr>
          <a:xfrm>
            <a:off x="7801660" y="1700784"/>
            <a:ext cx="3802076" cy="4197096"/>
          </a:xfrm>
          <a:prstGeom prst="rect">
            <a:avLst/>
          </a:prstGeom>
          <a:noFill/>
        </p:spPr>
        <p:txBody>
          <a:bodyPr wrap="none" lIns="0" tIns="0" rIns="0" bIns="0" anchor="t">
            <a:noAutofit/>
          </a:bodyPr>
          <a:lstStyle/>
          <a:p>
            <a:pPr marL="0" indent="0" algn="l">
              <a:lnSpc>
                <a:spcPts val="1045"/>
              </a:lnSpc>
              <a:spcBef>
                <a:spcPts val="0"/>
              </a:spcBef>
              <a:spcAft>
                <a:spcPts val="0"/>
              </a:spcAft>
              <a:buNone/>
            </a:pPr>
            <a:r>
              <a:rPr sz="900" b="0" i="0" dirty="0">
                <a:solidFill>
                  <a:srgbClr val="1F2A37"/>
                </a:solidFill>
                <a:latin typeface="Consolas"/>
              </a:rPr>
              <a:t>def </a:t>
            </a:r>
            <a:r>
              <a:rPr sz="900" b="0" i="0" dirty="0" err="1">
                <a:solidFill>
                  <a:srgbClr val="1F2A37"/>
                </a:solidFill>
                <a:latin typeface="Consolas"/>
              </a:rPr>
              <a:t>policy_iteration</a:t>
            </a:r>
            <a:r>
              <a:rPr sz="900" b="0" i="0" dirty="0">
                <a:solidFill>
                  <a:srgbClr val="1F2A37"/>
                </a:solidFill>
                <a:latin typeface="Consolas"/>
              </a:rPr>
              <a:t>(env, gamma=0.99, theta=1e-10):</a:t>
            </a:r>
          </a:p>
          <a:p>
            <a:pPr marL="0" indent="0" algn="l">
              <a:lnSpc>
                <a:spcPts val="1045"/>
              </a:lnSpc>
              <a:spcBef>
                <a:spcPts val="0"/>
              </a:spcBef>
              <a:spcAft>
                <a:spcPts val="0"/>
              </a:spcAft>
              <a:buNone/>
            </a:pPr>
            <a:r>
              <a:rPr sz="900" b="0" i="0" dirty="0">
                <a:solidFill>
                  <a:srgbClr val="333639"/>
                </a:solidFill>
                <a:latin typeface="Consolas"/>
              </a:rPr>
              <a:t> </a:t>
            </a:r>
          </a:p>
          <a:p>
            <a:pPr marL="0" indent="0" algn="l">
              <a:lnSpc>
                <a:spcPts val="1045"/>
              </a:lnSpc>
              <a:spcBef>
                <a:spcPts val="0"/>
              </a:spcBef>
              <a:spcAft>
                <a:spcPts val="0"/>
              </a:spcAft>
              <a:buNone/>
            </a:pPr>
            <a:r>
              <a:rPr sz="900" b="0" i="0" dirty="0">
                <a:solidFill>
                  <a:srgbClr val="1F2A37"/>
                </a:solidFill>
                <a:latin typeface="Consolas"/>
              </a:rPr>
              <a:t>    dynamics = </a:t>
            </a:r>
            <a:r>
              <a:rPr sz="900" b="0" i="0" dirty="0" err="1">
                <a:solidFill>
                  <a:srgbClr val="1F2A37"/>
                </a:solidFill>
                <a:latin typeface="Consolas"/>
              </a:rPr>
              <a:t>env.unwrapped.P</a:t>
            </a:r>
            <a:endParaRPr sz="900" b="0" i="0" dirty="0">
              <a:solidFill>
                <a:srgbClr val="1F2A37"/>
              </a:solidFill>
              <a:latin typeface="Consolas"/>
            </a:endParaRPr>
          </a:p>
          <a:p>
            <a:pPr marL="0" indent="0" algn="l">
              <a:lnSpc>
                <a:spcPts val="1045"/>
              </a:lnSpc>
              <a:spcBef>
                <a:spcPts val="0"/>
              </a:spcBef>
              <a:spcAft>
                <a:spcPts val="0"/>
              </a:spcAft>
              <a:buNone/>
            </a:pPr>
            <a:r>
              <a:rPr sz="900" b="0" i="0" dirty="0">
                <a:solidFill>
                  <a:srgbClr val="333639"/>
                </a:solidFill>
                <a:latin typeface="Consolas"/>
              </a:rPr>
              <a:t> </a:t>
            </a:r>
          </a:p>
          <a:p>
            <a:pPr marL="0" indent="0" algn="l">
              <a:lnSpc>
                <a:spcPts val="1045"/>
              </a:lnSpc>
              <a:spcBef>
                <a:spcPts val="0"/>
              </a:spcBef>
              <a:spcAft>
                <a:spcPts val="0"/>
              </a:spcAft>
              <a:buNone/>
            </a:pPr>
            <a:r>
              <a:rPr sz="900" b="0" i="0" dirty="0">
                <a:solidFill>
                  <a:srgbClr val="1F2A37"/>
                </a:solidFill>
                <a:latin typeface="Consolas"/>
              </a:rPr>
              <a:t>    </a:t>
            </a:r>
            <a:r>
              <a:rPr sz="900" b="0" i="1" dirty="0">
                <a:solidFill>
                  <a:srgbClr val="768896"/>
                </a:solidFill>
                <a:latin typeface="Consolas"/>
              </a:rPr>
              <a:t># start from an arbitrary deterministic policy</a:t>
            </a:r>
          </a:p>
          <a:p>
            <a:pPr marL="0" indent="0" algn="l">
              <a:lnSpc>
                <a:spcPts val="1045"/>
              </a:lnSpc>
              <a:spcBef>
                <a:spcPts val="0"/>
              </a:spcBef>
              <a:spcAft>
                <a:spcPts val="0"/>
              </a:spcAft>
              <a:buNone/>
            </a:pPr>
            <a:r>
              <a:rPr sz="900" b="0" i="0" dirty="0">
                <a:solidFill>
                  <a:srgbClr val="1F2A37"/>
                </a:solidFill>
                <a:latin typeface="Consolas"/>
              </a:rPr>
              <a:t>    actions = tuple(dynamics[0].keys())</a:t>
            </a:r>
          </a:p>
          <a:p>
            <a:pPr marL="0" indent="0" algn="l">
              <a:lnSpc>
                <a:spcPts val="1045"/>
              </a:lnSpc>
              <a:spcBef>
                <a:spcPts val="0"/>
              </a:spcBef>
              <a:spcAft>
                <a:spcPts val="0"/>
              </a:spcAft>
              <a:buNone/>
            </a:pPr>
            <a:r>
              <a:rPr sz="900" b="0" i="0" dirty="0">
                <a:solidFill>
                  <a:srgbClr val="1F2A37"/>
                </a:solidFill>
                <a:latin typeface="Consolas"/>
              </a:rPr>
              <a:t>    </a:t>
            </a:r>
            <a:r>
              <a:rPr sz="900" b="0" i="0" dirty="0" err="1">
                <a:solidFill>
                  <a:srgbClr val="1F2A37"/>
                </a:solidFill>
                <a:latin typeface="Consolas"/>
              </a:rPr>
              <a:t>random_actions</a:t>
            </a:r>
            <a:r>
              <a:rPr sz="900" b="0" i="0" dirty="0">
                <a:solidFill>
                  <a:srgbClr val="1F2A37"/>
                </a:solidFill>
                <a:latin typeface="Consolas"/>
              </a:rPr>
              <a:t> = {s: </a:t>
            </a:r>
            <a:r>
              <a:rPr sz="900" b="0" i="0" dirty="0" err="1">
                <a:solidFill>
                  <a:srgbClr val="1F2A37"/>
                </a:solidFill>
                <a:latin typeface="Consolas"/>
              </a:rPr>
              <a:t>np.random.choice</a:t>
            </a:r>
            <a:r>
              <a:rPr sz="900" b="0" i="0" dirty="0">
                <a:solidFill>
                  <a:srgbClr val="1F2A37"/>
                </a:solidFill>
                <a:latin typeface="Consolas"/>
              </a:rPr>
              <a:t>(actions)</a:t>
            </a:r>
          </a:p>
          <a:p>
            <a:pPr marL="0" indent="0" algn="l">
              <a:lnSpc>
                <a:spcPts val="1045"/>
              </a:lnSpc>
              <a:spcBef>
                <a:spcPts val="0"/>
              </a:spcBef>
              <a:spcAft>
                <a:spcPts val="0"/>
              </a:spcAft>
              <a:buNone/>
            </a:pPr>
            <a:r>
              <a:rPr sz="900" b="0" i="0" dirty="0">
                <a:solidFill>
                  <a:srgbClr val="1F2A37"/>
                </a:solidFill>
                <a:latin typeface="Consolas"/>
              </a:rPr>
              <a:t>                      for s in range(</a:t>
            </a:r>
            <a:r>
              <a:rPr sz="900" b="0" i="0" dirty="0" err="1">
                <a:solidFill>
                  <a:srgbClr val="1F2A37"/>
                </a:solidFill>
                <a:latin typeface="Consolas"/>
              </a:rPr>
              <a:t>len</a:t>
            </a:r>
            <a:r>
              <a:rPr sz="900" b="0" i="0" dirty="0">
                <a:solidFill>
                  <a:srgbClr val="1F2A37"/>
                </a:solidFill>
                <a:latin typeface="Consolas"/>
              </a:rPr>
              <a:t>(dynamics))}</a:t>
            </a:r>
          </a:p>
          <a:p>
            <a:pPr marL="0" indent="0" algn="l">
              <a:lnSpc>
                <a:spcPts val="1045"/>
              </a:lnSpc>
              <a:spcBef>
                <a:spcPts val="0"/>
              </a:spcBef>
              <a:spcAft>
                <a:spcPts val="0"/>
              </a:spcAft>
              <a:buNone/>
            </a:pPr>
            <a:r>
              <a:rPr sz="900" b="0" i="0" dirty="0">
                <a:solidFill>
                  <a:srgbClr val="1F2A37"/>
                </a:solidFill>
                <a:latin typeface="Consolas"/>
              </a:rPr>
              <a:t>    def pi(s):</a:t>
            </a:r>
          </a:p>
          <a:p>
            <a:pPr marL="0" indent="0" algn="l">
              <a:lnSpc>
                <a:spcPts val="1045"/>
              </a:lnSpc>
              <a:spcBef>
                <a:spcPts val="0"/>
              </a:spcBef>
              <a:spcAft>
                <a:spcPts val="0"/>
              </a:spcAft>
              <a:buNone/>
            </a:pPr>
            <a:r>
              <a:rPr sz="900" b="0" i="0" dirty="0">
                <a:solidFill>
                  <a:srgbClr val="1F2A37"/>
                </a:solidFill>
                <a:latin typeface="Consolas"/>
              </a:rPr>
              <a:t>        return </a:t>
            </a:r>
            <a:r>
              <a:rPr sz="900" b="0" i="0" dirty="0" err="1">
                <a:solidFill>
                  <a:srgbClr val="1F2A37"/>
                </a:solidFill>
                <a:latin typeface="Consolas"/>
              </a:rPr>
              <a:t>random_actions</a:t>
            </a:r>
            <a:r>
              <a:rPr sz="900" b="0" i="0" dirty="0">
                <a:solidFill>
                  <a:srgbClr val="1F2A37"/>
                </a:solidFill>
                <a:latin typeface="Consolas"/>
              </a:rPr>
              <a:t>[s]</a:t>
            </a:r>
          </a:p>
          <a:p>
            <a:pPr marL="0" indent="0" algn="l">
              <a:lnSpc>
                <a:spcPts val="1045"/>
              </a:lnSpc>
              <a:spcBef>
                <a:spcPts val="0"/>
              </a:spcBef>
              <a:spcAft>
                <a:spcPts val="0"/>
              </a:spcAft>
              <a:buNone/>
            </a:pPr>
            <a:r>
              <a:rPr sz="900" b="0" i="0" dirty="0">
                <a:solidFill>
                  <a:srgbClr val="333639"/>
                </a:solidFill>
                <a:latin typeface="Consolas"/>
              </a:rPr>
              <a:t> </a:t>
            </a:r>
          </a:p>
          <a:p>
            <a:pPr marL="0" indent="0" algn="l">
              <a:lnSpc>
                <a:spcPts val="1045"/>
              </a:lnSpc>
              <a:spcBef>
                <a:spcPts val="0"/>
              </a:spcBef>
              <a:spcAft>
                <a:spcPts val="0"/>
              </a:spcAft>
              <a:buNone/>
            </a:pPr>
            <a:r>
              <a:rPr sz="900" b="0" i="0" dirty="0">
                <a:solidFill>
                  <a:srgbClr val="1F2A37"/>
                </a:solidFill>
                <a:latin typeface="Consolas"/>
              </a:rPr>
              <a:t>    </a:t>
            </a:r>
            <a:r>
              <a:rPr sz="900" b="0" i="0" dirty="0" err="1">
                <a:solidFill>
                  <a:srgbClr val="1F2A37"/>
                </a:solidFill>
                <a:latin typeface="Consolas"/>
              </a:rPr>
              <a:t>total_sweeps</a:t>
            </a:r>
            <a:r>
              <a:rPr sz="900" b="0" i="0" dirty="0">
                <a:solidFill>
                  <a:srgbClr val="1F2A37"/>
                </a:solidFill>
                <a:latin typeface="Consolas"/>
              </a:rPr>
              <a:t>, cycles = 0, 0</a:t>
            </a:r>
          </a:p>
          <a:p>
            <a:pPr marL="0" indent="0" algn="l">
              <a:lnSpc>
                <a:spcPts val="1045"/>
              </a:lnSpc>
              <a:spcBef>
                <a:spcPts val="0"/>
              </a:spcBef>
              <a:spcAft>
                <a:spcPts val="0"/>
              </a:spcAft>
              <a:buNone/>
            </a:pPr>
            <a:r>
              <a:rPr sz="900" b="0" i="0" dirty="0">
                <a:solidFill>
                  <a:srgbClr val="333639"/>
                </a:solidFill>
                <a:latin typeface="Consolas"/>
              </a:rPr>
              <a:t> </a:t>
            </a:r>
          </a:p>
          <a:p>
            <a:pPr marL="0" indent="0" algn="l">
              <a:lnSpc>
                <a:spcPts val="1045"/>
              </a:lnSpc>
              <a:spcBef>
                <a:spcPts val="0"/>
              </a:spcBef>
              <a:spcAft>
                <a:spcPts val="0"/>
              </a:spcAft>
              <a:buNone/>
            </a:pPr>
            <a:r>
              <a:rPr sz="900" b="0" i="0" dirty="0">
                <a:solidFill>
                  <a:srgbClr val="1F2A37"/>
                </a:solidFill>
                <a:latin typeface="Consolas"/>
              </a:rPr>
              <a:t>    while True:</a:t>
            </a:r>
          </a:p>
          <a:p>
            <a:pPr marL="0" indent="0" algn="l">
              <a:lnSpc>
                <a:spcPts val="1045"/>
              </a:lnSpc>
              <a:spcBef>
                <a:spcPts val="0"/>
              </a:spcBef>
              <a:spcAft>
                <a:spcPts val="0"/>
              </a:spcAft>
              <a:buNone/>
            </a:pPr>
            <a:r>
              <a:rPr sz="900" b="1" i="0" dirty="0">
                <a:solidFill>
                  <a:srgbClr val="574676"/>
                </a:solidFill>
                <a:latin typeface="Consolas"/>
              </a:rPr>
              <a:t>        V, sweeps = </a:t>
            </a:r>
            <a:r>
              <a:rPr sz="900" b="1" i="0" dirty="0" err="1">
                <a:solidFill>
                  <a:srgbClr val="574676"/>
                </a:solidFill>
                <a:latin typeface="Consolas"/>
              </a:rPr>
              <a:t>policy_evaluation</a:t>
            </a:r>
            <a:r>
              <a:rPr sz="900" b="1" i="0" dirty="0">
                <a:solidFill>
                  <a:srgbClr val="574676"/>
                </a:solidFill>
                <a:latin typeface="Consolas"/>
              </a:rPr>
              <a:t>(pi, env, gamma, theta)</a:t>
            </a:r>
          </a:p>
          <a:p>
            <a:pPr marL="0" indent="0" algn="l">
              <a:lnSpc>
                <a:spcPts val="1045"/>
              </a:lnSpc>
              <a:spcBef>
                <a:spcPts val="0"/>
              </a:spcBef>
              <a:spcAft>
                <a:spcPts val="0"/>
              </a:spcAft>
              <a:buNone/>
            </a:pPr>
            <a:r>
              <a:rPr sz="900" b="1" i="0" dirty="0">
                <a:solidFill>
                  <a:srgbClr val="574676"/>
                </a:solidFill>
                <a:latin typeface="Consolas"/>
              </a:rPr>
              <a:t>        </a:t>
            </a:r>
            <a:r>
              <a:rPr sz="900" b="1" i="0" dirty="0" err="1">
                <a:solidFill>
                  <a:srgbClr val="574676"/>
                </a:solidFill>
                <a:latin typeface="Consolas"/>
              </a:rPr>
              <a:t>new_pi</a:t>
            </a:r>
            <a:r>
              <a:rPr sz="900" b="1" i="0" dirty="0">
                <a:solidFill>
                  <a:srgbClr val="574676"/>
                </a:solidFill>
                <a:latin typeface="Consolas"/>
              </a:rPr>
              <a:t>    = </a:t>
            </a:r>
            <a:r>
              <a:rPr sz="900" b="1" i="0" dirty="0" err="1">
                <a:solidFill>
                  <a:srgbClr val="574676"/>
                </a:solidFill>
                <a:latin typeface="Consolas"/>
              </a:rPr>
              <a:t>policy_improvement</a:t>
            </a:r>
            <a:r>
              <a:rPr sz="900" b="1" i="0" dirty="0">
                <a:solidFill>
                  <a:srgbClr val="574676"/>
                </a:solidFill>
                <a:latin typeface="Consolas"/>
              </a:rPr>
              <a:t>(V, env, gamma)</a:t>
            </a:r>
          </a:p>
          <a:p>
            <a:pPr marL="0" indent="0" algn="l">
              <a:lnSpc>
                <a:spcPts val="1045"/>
              </a:lnSpc>
              <a:spcBef>
                <a:spcPts val="0"/>
              </a:spcBef>
              <a:spcAft>
                <a:spcPts val="0"/>
              </a:spcAft>
              <a:buNone/>
            </a:pPr>
            <a:r>
              <a:rPr sz="900" b="0" i="0" dirty="0">
                <a:solidFill>
                  <a:srgbClr val="333639"/>
                </a:solidFill>
                <a:latin typeface="Consolas"/>
              </a:rPr>
              <a:t> </a:t>
            </a:r>
          </a:p>
          <a:p>
            <a:pPr marL="0" indent="0" algn="l">
              <a:lnSpc>
                <a:spcPts val="1045"/>
              </a:lnSpc>
              <a:spcBef>
                <a:spcPts val="0"/>
              </a:spcBef>
              <a:spcAft>
                <a:spcPts val="0"/>
              </a:spcAft>
              <a:buNone/>
            </a:pPr>
            <a:r>
              <a:rPr sz="900" b="0" i="0" dirty="0">
                <a:solidFill>
                  <a:srgbClr val="1F2A37"/>
                </a:solidFill>
                <a:latin typeface="Consolas"/>
              </a:rPr>
              <a:t>        </a:t>
            </a:r>
            <a:r>
              <a:rPr sz="900" b="0" i="0" dirty="0" err="1">
                <a:solidFill>
                  <a:srgbClr val="1F2A37"/>
                </a:solidFill>
                <a:latin typeface="Consolas"/>
              </a:rPr>
              <a:t>total_sweeps</a:t>
            </a:r>
            <a:r>
              <a:rPr sz="900" b="0" i="0" dirty="0">
                <a:solidFill>
                  <a:srgbClr val="1F2A37"/>
                </a:solidFill>
                <a:latin typeface="Consolas"/>
              </a:rPr>
              <a:t> += sweeps</a:t>
            </a:r>
          </a:p>
          <a:p>
            <a:pPr marL="0" indent="0" algn="l">
              <a:lnSpc>
                <a:spcPts val="1045"/>
              </a:lnSpc>
              <a:spcBef>
                <a:spcPts val="0"/>
              </a:spcBef>
              <a:spcAft>
                <a:spcPts val="0"/>
              </a:spcAft>
              <a:buNone/>
            </a:pPr>
            <a:r>
              <a:rPr sz="900" b="0" i="0" dirty="0">
                <a:solidFill>
                  <a:srgbClr val="1F2A37"/>
                </a:solidFill>
                <a:latin typeface="Consolas"/>
              </a:rPr>
              <a:t>        cycles += 1</a:t>
            </a:r>
          </a:p>
          <a:p>
            <a:pPr marL="0" indent="0" algn="l">
              <a:lnSpc>
                <a:spcPts val="1045"/>
              </a:lnSpc>
              <a:spcBef>
                <a:spcPts val="0"/>
              </a:spcBef>
              <a:spcAft>
                <a:spcPts val="0"/>
              </a:spcAft>
              <a:buNone/>
            </a:pPr>
            <a:r>
              <a:rPr sz="900" b="0" i="0" dirty="0">
                <a:solidFill>
                  <a:srgbClr val="333639"/>
                </a:solidFill>
                <a:latin typeface="Consolas"/>
              </a:rPr>
              <a:t> </a:t>
            </a:r>
          </a:p>
          <a:p>
            <a:pPr marL="0" indent="0" algn="l">
              <a:lnSpc>
                <a:spcPts val="1045"/>
              </a:lnSpc>
              <a:spcBef>
                <a:spcPts val="0"/>
              </a:spcBef>
              <a:spcAft>
                <a:spcPts val="0"/>
              </a:spcAft>
              <a:buNone/>
            </a:pPr>
            <a:r>
              <a:rPr sz="900" b="0" i="0" dirty="0">
                <a:solidFill>
                  <a:srgbClr val="1F2A37"/>
                </a:solidFill>
                <a:latin typeface="Consolas"/>
              </a:rPr>
              <a:t>        </a:t>
            </a:r>
            <a:r>
              <a:rPr sz="900" b="0" i="1" dirty="0">
                <a:solidFill>
                  <a:srgbClr val="768896"/>
                </a:solidFill>
                <a:latin typeface="Consolas"/>
              </a:rPr>
              <a:t># stable policy =&gt; optimal policy</a:t>
            </a:r>
          </a:p>
          <a:p>
            <a:pPr marL="0" indent="0" algn="l">
              <a:lnSpc>
                <a:spcPts val="1045"/>
              </a:lnSpc>
              <a:spcBef>
                <a:spcPts val="0"/>
              </a:spcBef>
              <a:spcAft>
                <a:spcPts val="0"/>
              </a:spcAft>
              <a:buNone/>
            </a:pPr>
            <a:r>
              <a:rPr sz="900" b="0" i="0" dirty="0">
                <a:solidFill>
                  <a:srgbClr val="1F2A37"/>
                </a:solidFill>
                <a:latin typeface="Consolas"/>
              </a:rPr>
              <a:t>        </a:t>
            </a:r>
            <a:r>
              <a:rPr sz="900" b="0" i="0" dirty="0" err="1">
                <a:solidFill>
                  <a:srgbClr val="1F2A37"/>
                </a:solidFill>
                <a:latin typeface="Consolas"/>
              </a:rPr>
              <a:t>policy_stable</a:t>
            </a:r>
            <a:r>
              <a:rPr sz="900" b="0" i="0" dirty="0">
                <a:solidFill>
                  <a:srgbClr val="1F2A37"/>
                </a:solidFill>
                <a:latin typeface="Consolas"/>
              </a:rPr>
              <a:t> = all(pi(s) == </a:t>
            </a:r>
            <a:r>
              <a:rPr sz="900" b="0" i="0" dirty="0" err="1">
                <a:solidFill>
                  <a:srgbClr val="1F2A37"/>
                </a:solidFill>
                <a:latin typeface="Consolas"/>
              </a:rPr>
              <a:t>new_pi</a:t>
            </a:r>
            <a:r>
              <a:rPr sz="900" b="0" i="0" dirty="0">
                <a:solidFill>
                  <a:srgbClr val="1F2A37"/>
                </a:solidFill>
                <a:latin typeface="Consolas"/>
              </a:rPr>
              <a:t>(s)</a:t>
            </a:r>
          </a:p>
          <a:p>
            <a:pPr marL="0" indent="0" algn="l">
              <a:lnSpc>
                <a:spcPts val="1045"/>
              </a:lnSpc>
              <a:spcBef>
                <a:spcPts val="0"/>
              </a:spcBef>
              <a:spcAft>
                <a:spcPts val="0"/>
              </a:spcAft>
              <a:buNone/>
            </a:pPr>
            <a:r>
              <a:rPr sz="900" b="0" i="0" dirty="0">
                <a:solidFill>
                  <a:srgbClr val="1F2A37"/>
                </a:solidFill>
                <a:latin typeface="Consolas"/>
              </a:rPr>
              <a:t>                            for s in range(</a:t>
            </a:r>
            <a:r>
              <a:rPr sz="900" b="0" i="0" dirty="0" err="1">
                <a:solidFill>
                  <a:srgbClr val="1F2A37"/>
                </a:solidFill>
                <a:latin typeface="Consolas"/>
              </a:rPr>
              <a:t>len</a:t>
            </a:r>
            <a:r>
              <a:rPr sz="900" b="0" i="0" dirty="0">
                <a:solidFill>
                  <a:srgbClr val="1F2A37"/>
                </a:solidFill>
                <a:latin typeface="Consolas"/>
              </a:rPr>
              <a:t>(dynamics)))</a:t>
            </a:r>
          </a:p>
          <a:p>
            <a:pPr marL="0" indent="0" algn="l">
              <a:lnSpc>
                <a:spcPts val="1045"/>
              </a:lnSpc>
              <a:spcBef>
                <a:spcPts val="0"/>
              </a:spcBef>
              <a:spcAft>
                <a:spcPts val="0"/>
              </a:spcAft>
              <a:buNone/>
            </a:pPr>
            <a:r>
              <a:rPr sz="900" b="1" i="0" dirty="0">
                <a:solidFill>
                  <a:srgbClr val="574676"/>
                </a:solidFill>
                <a:latin typeface="Consolas"/>
              </a:rPr>
              <a:t>        if </a:t>
            </a:r>
            <a:r>
              <a:rPr sz="900" b="1" i="0" dirty="0" err="1">
                <a:solidFill>
                  <a:srgbClr val="574676"/>
                </a:solidFill>
                <a:latin typeface="Consolas"/>
              </a:rPr>
              <a:t>policy_stable</a:t>
            </a:r>
            <a:r>
              <a:rPr sz="900" b="1" i="0" dirty="0">
                <a:solidFill>
                  <a:srgbClr val="574676"/>
                </a:solidFill>
                <a:latin typeface="Consolas"/>
              </a:rPr>
              <a:t>:</a:t>
            </a:r>
          </a:p>
          <a:p>
            <a:pPr marL="0" indent="0" algn="l">
              <a:lnSpc>
                <a:spcPts val="1045"/>
              </a:lnSpc>
              <a:spcBef>
                <a:spcPts val="0"/>
              </a:spcBef>
              <a:spcAft>
                <a:spcPts val="0"/>
              </a:spcAft>
              <a:buNone/>
            </a:pPr>
            <a:r>
              <a:rPr sz="900" b="0" i="0" dirty="0">
                <a:solidFill>
                  <a:srgbClr val="1F2A37"/>
                </a:solidFill>
                <a:latin typeface="Consolas"/>
              </a:rPr>
              <a:t>            break</a:t>
            </a:r>
          </a:p>
          <a:p>
            <a:pPr marL="0" indent="0" algn="l">
              <a:lnSpc>
                <a:spcPts val="1045"/>
              </a:lnSpc>
              <a:spcBef>
                <a:spcPts val="0"/>
              </a:spcBef>
              <a:spcAft>
                <a:spcPts val="0"/>
              </a:spcAft>
              <a:buNone/>
            </a:pPr>
            <a:r>
              <a:rPr sz="900" b="0" i="0" dirty="0">
                <a:solidFill>
                  <a:srgbClr val="333639"/>
                </a:solidFill>
                <a:latin typeface="Consolas"/>
              </a:rPr>
              <a:t> </a:t>
            </a:r>
          </a:p>
          <a:p>
            <a:pPr marL="0" indent="0" algn="l">
              <a:lnSpc>
                <a:spcPts val="1045"/>
              </a:lnSpc>
              <a:spcBef>
                <a:spcPts val="0"/>
              </a:spcBef>
              <a:spcAft>
                <a:spcPts val="0"/>
              </a:spcAft>
              <a:buNone/>
            </a:pPr>
            <a:r>
              <a:rPr sz="900" b="0" i="0" dirty="0">
                <a:solidFill>
                  <a:srgbClr val="1F2A37"/>
                </a:solidFill>
                <a:latin typeface="Consolas"/>
              </a:rPr>
              <a:t>        pi = </a:t>
            </a:r>
            <a:r>
              <a:rPr sz="900" b="0" i="0" dirty="0" err="1">
                <a:solidFill>
                  <a:srgbClr val="1F2A37"/>
                </a:solidFill>
                <a:latin typeface="Consolas"/>
              </a:rPr>
              <a:t>new_pi</a:t>
            </a:r>
            <a:endParaRPr sz="900" b="0" i="0" dirty="0">
              <a:solidFill>
                <a:srgbClr val="1F2A37"/>
              </a:solidFill>
              <a:latin typeface="Consolas"/>
            </a:endParaRPr>
          </a:p>
          <a:p>
            <a:pPr marL="0" indent="0" algn="l">
              <a:lnSpc>
                <a:spcPts val="1045"/>
              </a:lnSpc>
              <a:spcBef>
                <a:spcPts val="0"/>
              </a:spcBef>
              <a:spcAft>
                <a:spcPts val="0"/>
              </a:spcAft>
              <a:buNone/>
            </a:pPr>
            <a:r>
              <a:rPr sz="900" b="0" i="0" dirty="0">
                <a:solidFill>
                  <a:srgbClr val="333639"/>
                </a:solidFill>
                <a:latin typeface="Consolas"/>
              </a:rPr>
              <a:t> </a:t>
            </a:r>
          </a:p>
          <a:p>
            <a:pPr marL="0" indent="0" algn="l">
              <a:lnSpc>
                <a:spcPts val="1045"/>
              </a:lnSpc>
              <a:spcBef>
                <a:spcPts val="0"/>
              </a:spcBef>
              <a:spcAft>
                <a:spcPts val="0"/>
              </a:spcAft>
              <a:buNone/>
            </a:pPr>
            <a:r>
              <a:rPr sz="900" b="0" i="0" dirty="0">
                <a:solidFill>
                  <a:srgbClr val="1F2A37"/>
                </a:solidFill>
                <a:latin typeface="Consolas"/>
              </a:rPr>
              <a:t>    return V, </a:t>
            </a:r>
            <a:r>
              <a:rPr sz="900" b="0" i="0" dirty="0" err="1">
                <a:solidFill>
                  <a:srgbClr val="1F2A37"/>
                </a:solidFill>
                <a:latin typeface="Consolas"/>
              </a:rPr>
              <a:t>new_pi</a:t>
            </a:r>
            <a:r>
              <a:rPr sz="900" b="0" i="0" dirty="0">
                <a:solidFill>
                  <a:srgbClr val="1F2A37"/>
                </a:solidFill>
                <a:latin typeface="Consolas"/>
              </a:rPr>
              <a:t>, cycles, </a:t>
            </a:r>
            <a:r>
              <a:rPr sz="900" b="0" i="0" dirty="0" err="1">
                <a:solidFill>
                  <a:srgbClr val="1F2A37"/>
                </a:solidFill>
                <a:latin typeface="Consolas"/>
              </a:rPr>
              <a:t>total_sweeps</a:t>
            </a:r>
            <a:endParaRPr sz="900" b="0" i="0" dirty="0">
              <a:solidFill>
                <a:srgbClr val="1F2A37"/>
              </a:solidFill>
              <a:latin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5.7  STARTING FROM A DELIBERATELY POOR POLICY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initial policy does not matter — only how many cycles are needed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 — Policy improvement and policy iteration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37</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Careful needed a single improvement step because it was already good. To see the process properly, start instead from a policy that pushes the agent </a:t>
            </a:r>
            <a:r>
              <a:rPr sz="1235" b="1" i="0">
                <a:solidFill>
                  <a:srgbClr val="C8102E"/>
                </a:solidFill>
                <a:latin typeface="Fira Sans"/>
              </a:rPr>
              <a:t>away from the goal and toward the holes</a:t>
            </a:r>
            <a:r>
              <a:rPr sz="1235" b="0" i="0">
                <a:solidFill>
                  <a:srgbClr val="333639"/>
                </a:solidFill>
                <a:latin typeface="Fira Sans"/>
              </a:rPr>
              <a:t>, and plot how far the value function still is from the optimum after each cycle:</a:t>
            </a:r>
          </a:p>
        </p:txBody>
      </p:sp>
      <p:pic>
        <p:nvPicPr>
          <p:cNvPr id="9" name="Picture 8" descr="eq_gap_k.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110244"/>
            <a:ext cx="3088640" cy="457200"/>
          </a:xfrm>
          <a:prstGeom prst="rect">
            <a:avLst/>
          </a:prstGeom>
        </p:spPr>
      </p:pic>
      <p:pic>
        <p:nvPicPr>
          <p:cNvPr id="10" name="Picture 9" descr="gap.png"/>
          <p:cNvPicPr>
            <a:picLocks noChangeAspect="1"/>
          </p:cNvPicPr>
          <p:nvPr/>
        </p:nvPicPr>
        <p:blipFill>
          <a:blip r:embed="rId3"/>
          <a:stretch>
            <a:fillRect/>
          </a:stretch>
        </p:blipFill>
        <p:spPr>
          <a:xfrm>
            <a:off x="1005872" y="2606773"/>
            <a:ext cx="5893241" cy="3367567"/>
          </a:xfrm>
          <a:prstGeom prst="rect">
            <a:avLst/>
          </a:prstGeom>
        </p:spPr>
      </p:pic>
      <p:sp>
        <p:nvSpPr>
          <p:cNvPr id="11" name="TextBox 10"/>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THE CURVE SHOWS</a:t>
            </a:r>
          </a:p>
        </p:txBody>
      </p:sp>
      <p:sp>
        <p:nvSpPr>
          <p:cNvPr id="12" name="TextBox 11"/>
          <p:cNvSpPr txBox="1"/>
          <p:nvPr/>
        </p:nvSpPr>
        <p:spPr>
          <a:xfrm>
            <a:off x="7618780" y="1572768"/>
            <a:ext cx="3731940" cy="1336202"/>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dirty="0">
                <a:solidFill>
                  <a:srgbClr val="333639"/>
                </a:solidFill>
                <a:latin typeface="Fira Sans"/>
              </a:rPr>
              <a:t>The gap starts at </a:t>
            </a:r>
            <a:r>
              <a:rPr sz="1092" b="1" i="0" dirty="0">
                <a:solidFill>
                  <a:srgbClr val="C8102E"/>
                </a:solidFill>
                <a:latin typeface="Fira Sans"/>
              </a:rPr>
              <a:t>0.86</a:t>
            </a:r>
            <a:r>
              <a:rPr sz="1092" b="0" i="0" dirty="0">
                <a:solidFill>
                  <a:srgbClr val="333639"/>
                </a:solidFill>
                <a:latin typeface="Fira Sans"/>
              </a:rPr>
              <a:t> and reaches </a:t>
            </a:r>
            <a:r>
              <a:rPr sz="1092" b="1" i="0" dirty="0">
                <a:solidFill>
                  <a:srgbClr val="2B7A3E"/>
                </a:solidFill>
                <a:latin typeface="Fira Sans"/>
              </a:rPr>
              <a:t>exactly zero</a:t>
            </a:r>
            <a:r>
              <a:rPr sz="1092" b="0" i="0" dirty="0">
                <a:solidFill>
                  <a:srgbClr val="333639"/>
                </a:solidFill>
                <a:latin typeface="Fira Sans"/>
              </a:rPr>
              <a:t> after six improvement steps.</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It decreases </a:t>
            </a:r>
            <a:r>
              <a:rPr sz="1092" b="1" i="0" dirty="0">
                <a:solidFill>
                  <a:srgbClr val="25282A"/>
                </a:solidFill>
                <a:latin typeface="Fira Sans"/>
              </a:rPr>
              <a:t>monotonically</a:t>
            </a:r>
            <a:r>
              <a:rPr lang="it-IT" sz="1092" dirty="0">
                <a:solidFill>
                  <a:srgbClr val="333639"/>
                </a:solidFill>
                <a:latin typeface="Fira Sans"/>
              </a:rPr>
              <a:t>, </a:t>
            </a:r>
            <a:r>
              <a:rPr sz="1092" b="0" i="0" dirty="0">
                <a:solidFill>
                  <a:srgbClr val="333639"/>
                </a:solidFill>
                <a:latin typeface="Fira Sans"/>
              </a:rPr>
              <a:t>guaranteed by the policy improvement theorem, not by luck.</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The last step is a drop to zero, not an asymptote: policy iteration reaches the optimum </a:t>
            </a:r>
            <a:r>
              <a:rPr sz="1092" b="1" i="0" dirty="0">
                <a:solidFill>
                  <a:srgbClr val="25282A"/>
                </a:solidFill>
                <a:latin typeface="Fira Sans"/>
              </a:rPr>
              <a:t>exactly</a:t>
            </a:r>
            <a:r>
              <a:rPr sz="1092" b="0" i="0" dirty="0">
                <a:solidFill>
                  <a:srgbClr val="333639"/>
                </a:solidFill>
                <a:latin typeface="Fira Sans"/>
              </a:rPr>
              <a:t>, and then detects it because the policy stops changing.</a:t>
            </a:r>
          </a:p>
        </p:txBody>
      </p:sp>
      <p:sp>
        <p:nvSpPr>
          <p:cNvPr id="13" name="Rectangle 12"/>
          <p:cNvSpPr/>
          <p:nvPr/>
        </p:nvSpPr>
        <p:spPr>
          <a:xfrm>
            <a:off x="7618780" y="3165002"/>
            <a:ext cx="3731940" cy="1196035"/>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7618780" y="3165002"/>
            <a:ext cx="41148" cy="1196035"/>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838236" y="3311306"/>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COMPARE WITH BRUTE FORCE</a:t>
            </a:r>
          </a:p>
        </p:txBody>
      </p:sp>
      <p:sp>
        <p:nvSpPr>
          <p:cNvPr id="16" name="TextBox 15"/>
          <p:cNvSpPr txBox="1"/>
          <p:nvPr/>
        </p:nvSpPr>
        <p:spPr>
          <a:xfrm>
            <a:off x="7838236" y="3549050"/>
            <a:ext cx="33478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Six cycles instead of 4</a:t>
            </a:r>
            <a:r>
              <a:rPr lang="it-IT" sz="1092" b="0" i="0" dirty="0">
                <a:solidFill>
                  <a:srgbClr val="333639"/>
                </a:solidFill>
                <a:latin typeface="Fira Sans"/>
              </a:rPr>
              <a:t>.</a:t>
            </a:r>
            <a:r>
              <a:rPr sz="1092" b="0" i="0" dirty="0">
                <a:solidFill>
                  <a:srgbClr val="333639"/>
                </a:solidFill>
                <a:latin typeface="Fira Sans"/>
              </a:rPr>
              <a:t>294</a:t>
            </a:r>
            <a:r>
              <a:rPr lang="it-IT" sz="1092" b="0" i="0" dirty="0">
                <a:solidFill>
                  <a:srgbClr val="333639"/>
                </a:solidFill>
                <a:latin typeface="Fira Sans"/>
              </a:rPr>
              <a:t>.</a:t>
            </a:r>
            <a:r>
              <a:rPr sz="1092" b="0" i="0" dirty="0">
                <a:solidFill>
                  <a:srgbClr val="333639"/>
                </a:solidFill>
                <a:latin typeface="Fira Sans"/>
              </a:rPr>
              <a:t>967</a:t>
            </a:r>
            <a:r>
              <a:rPr lang="it-IT" sz="1092" b="0" i="0" dirty="0">
                <a:solidFill>
                  <a:srgbClr val="333639"/>
                </a:solidFill>
                <a:latin typeface="Fira Sans"/>
              </a:rPr>
              <a:t>.</a:t>
            </a:r>
            <a:r>
              <a:rPr sz="1092" b="0" i="0" dirty="0">
                <a:solidFill>
                  <a:srgbClr val="333639"/>
                </a:solidFill>
                <a:latin typeface="Fira Sans"/>
              </a:rPr>
              <a:t>296 policy evaluations. And each of the seven policies visited was </a:t>
            </a:r>
            <a:r>
              <a:rPr sz="1092" b="1" i="0" dirty="0">
                <a:solidFill>
                  <a:srgbClr val="333639"/>
                </a:solidFill>
                <a:latin typeface="Fira Sans"/>
              </a:rPr>
              <a:t>constructed from the previous one</a:t>
            </a:r>
            <a:r>
              <a:rPr sz="1092" b="0" i="0" dirty="0">
                <a:solidFill>
                  <a:srgbClr val="333639"/>
                </a:solidFill>
                <a:latin typeface="Fira Sans"/>
              </a:rPr>
              <a:t>, not guessed.</a:t>
            </a:r>
          </a:p>
        </p:txBody>
      </p:sp>
      <p:sp>
        <p:nvSpPr>
          <p:cNvPr id="17" name="Rectangle 16"/>
          <p:cNvSpPr/>
          <p:nvPr/>
        </p:nvSpPr>
        <p:spPr>
          <a:xfrm>
            <a:off x="7618780" y="4598781"/>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618780" y="4598781"/>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838236" y="4745085"/>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READING THE AXIS</a:t>
            </a:r>
          </a:p>
        </p:txBody>
      </p:sp>
      <p:sp>
        <p:nvSpPr>
          <p:cNvPr id="20" name="TextBox 19"/>
          <p:cNvSpPr txBox="1"/>
          <p:nvPr/>
        </p:nvSpPr>
        <p:spPr>
          <a:xfrm>
            <a:off x="7838236" y="4982829"/>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Note that the vertical axis is a distance between value functions, not a success rate. It is measured in the same units as the returns.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5.8  WHY A STABLE POLICY IS GLOBALLY OPTIMAL</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one place where a local condition turns into a global guarantee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 — Policy improvement and policy iteration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38</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Policy iteration stops when greedy improvement changes nothing. Why should that mean the policy is optimal, rather than merely </a:t>
            </a:r>
            <a:r>
              <a:rPr sz="1282" b="0" i="1" dirty="0">
                <a:solidFill>
                  <a:srgbClr val="333639"/>
                </a:solidFill>
                <a:latin typeface="Fira Sans"/>
              </a:rPr>
              <a:t>locally</a:t>
            </a:r>
            <a:r>
              <a:rPr sz="1282" b="0" i="0" dirty="0">
                <a:solidFill>
                  <a:srgbClr val="333639"/>
                </a:solidFill>
                <a:latin typeface="Fira Sans"/>
              </a:rPr>
              <a:t> unimprovable?</a:t>
            </a:r>
          </a:p>
        </p:txBody>
      </p:sp>
      <p:pic>
        <p:nvPicPr>
          <p:cNvPr id="9" name="Picture 8" descr="eq_stabl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07008" y="1988322"/>
            <a:ext cx="1964689" cy="276352"/>
          </a:xfrm>
          <a:prstGeom prst="rect">
            <a:avLst/>
          </a:prstGeom>
        </p:spPr>
      </p:pic>
      <p:sp>
        <p:nvSpPr>
          <p:cNvPr id="10" name="TextBox 9"/>
          <p:cNvSpPr txBox="1"/>
          <p:nvPr/>
        </p:nvSpPr>
        <p:spPr>
          <a:xfrm>
            <a:off x="6693408" y="2006610"/>
            <a:ext cx="4663440"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Stability means the greedy policy equals the current one, in every state.</a:t>
            </a:r>
          </a:p>
        </p:txBody>
      </p:sp>
      <p:pic>
        <p:nvPicPr>
          <p:cNvPr id="11" name="Picture 10" descr="eq_st1.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4440" y="2447554"/>
            <a:ext cx="2273426" cy="408051"/>
          </a:xfrm>
          <a:prstGeom prst="rect">
            <a:avLst/>
          </a:prstGeom>
        </p:spPr>
      </p:pic>
      <p:sp>
        <p:nvSpPr>
          <p:cNvPr id="12" name="TextBox 11"/>
          <p:cNvSpPr txBox="1"/>
          <p:nvPr/>
        </p:nvSpPr>
        <p:spPr>
          <a:xfrm>
            <a:off x="6693408" y="2465842"/>
            <a:ext cx="4663440"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dirty="0">
                <a:solidFill>
                  <a:srgbClr val="626669"/>
                </a:solidFill>
                <a:latin typeface="Fira Sans"/>
              </a:rPr>
              <a:t>So the action the policy already takes is a maximizing action of its own q</a:t>
            </a:r>
          </a:p>
        </p:txBody>
      </p:sp>
      <p:pic>
        <p:nvPicPr>
          <p:cNvPr id="13" name="Picture 12" descr="eq_st2.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97864" y="3038485"/>
            <a:ext cx="3393948" cy="388619"/>
          </a:xfrm>
          <a:prstGeom prst="rect">
            <a:avLst/>
          </a:prstGeom>
        </p:spPr>
      </p:pic>
      <p:sp>
        <p:nvSpPr>
          <p:cNvPr id="14" name="TextBox 13"/>
          <p:cNvSpPr txBox="1"/>
          <p:nvPr/>
        </p:nvSpPr>
        <p:spPr>
          <a:xfrm>
            <a:off x="6693408" y="3056773"/>
            <a:ext cx="4663440" cy="330332"/>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The value of a state is the value of the action the policy takes — which is therefore the maximum over actions.</a:t>
            </a:r>
          </a:p>
        </p:txBody>
      </p:sp>
      <p:pic>
        <p:nvPicPr>
          <p:cNvPr id="15" name="Picture 14" descr="eq_st3.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88720" y="3609985"/>
            <a:ext cx="4054602" cy="585089"/>
          </a:xfrm>
          <a:prstGeom prst="rect">
            <a:avLst/>
          </a:prstGeom>
        </p:spPr>
      </p:pic>
      <p:sp>
        <p:nvSpPr>
          <p:cNvPr id="16" name="TextBox 15"/>
          <p:cNvSpPr txBox="1"/>
          <p:nvPr/>
        </p:nvSpPr>
        <p:spPr>
          <a:xfrm>
            <a:off x="6693408" y="3628273"/>
            <a:ext cx="4663440"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dirty="0">
                <a:solidFill>
                  <a:srgbClr val="626669"/>
                </a:solidFill>
                <a:latin typeface="Fira Sans"/>
              </a:rPr>
              <a:t>Expanding q</a:t>
            </a:r>
            <a:r>
              <a:rPr lang="it-IT" sz="997" b="0" i="0" dirty="0">
                <a:solidFill>
                  <a:srgbClr val="626669"/>
                </a:solidFill>
                <a:latin typeface="Fira Sans"/>
              </a:rPr>
              <a:t>_</a:t>
            </a:r>
            <a:r>
              <a:rPr sz="997" b="0" i="0" dirty="0">
                <a:solidFill>
                  <a:srgbClr val="626669"/>
                </a:solidFill>
                <a:latin typeface="Fira Sans"/>
              </a:rPr>
              <a:t>π as a one-step lookahead gives an equation in v</a:t>
            </a:r>
            <a:r>
              <a:rPr lang="it-IT" sz="997" b="0" i="0" dirty="0">
                <a:solidFill>
                  <a:srgbClr val="626669"/>
                </a:solidFill>
                <a:latin typeface="Fira Sans"/>
              </a:rPr>
              <a:t>_</a:t>
            </a:r>
            <a:r>
              <a:rPr sz="997" b="0" i="0" dirty="0">
                <a:solidFill>
                  <a:srgbClr val="626669"/>
                </a:solidFill>
                <a:latin typeface="Fira Sans"/>
              </a:rPr>
              <a:t>π alone.</a:t>
            </a:r>
          </a:p>
        </p:txBody>
      </p:sp>
      <p:sp>
        <p:nvSpPr>
          <p:cNvPr id="17" name="Rectangle 16"/>
          <p:cNvSpPr/>
          <p:nvPr/>
        </p:nvSpPr>
        <p:spPr>
          <a:xfrm>
            <a:off x="841248" y="4652479"/>
            <a:ext cx="10515600" cy="1080340"/>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it-IT" dirty="0"/>
          </a:p>
          <a:p>
            <a:endParaRPr dirty="0"/>
          </a:p>
        </p:txBody>
      </p:sp>
      <p:sp>
        <p:nvSpPr>
          <p:cNvPr id="18" name="Rectangle 17"/>
          <p:cNvSpPr/>
          <p:nvPr/>
        </p:nvSpPr>
        <p:spPr>
          <a:xfrm flipH="1">
            <a:off x="841249" y="4652479"/>
            <a:ext cx="45719" cy="105565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115568" y="4780495"/>
            <a:ext cx="7315200" cy="201168"/>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90">
                <a:solidFill>
                  <a:srgbClr val="C8102E"/>
                </a:solidFill>
                <a:latin typeface="Fira Sans"/>
              </a:rPr>
              <a:t>BUT THIS IS NOT THE BELLMAN EQUATION FOR π — IT IS THE BELLMAN OPTIMALITY EQUATION</a:t>
            </a:r>
          </a:p>
        </p:txBody>
      </p:sp>
      <p:pic>
        <p:nvPicPr>
          <p:cNvPr id="20" name="Picture 19" descr="eq_bell_opt_v.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5568" y="5036527"/>
            <a:ext cx="4258818" cy="619506"/>
          </a:xfrm>
          <a:prstGeom prst="rect">
            <a:avLst/>
          </a:prstGeom>
        </p:spPr>
      </p:pic>
      <p:sp>
        <p:nvSpPr>
          <p:cNvPr id="21" name="TextBox 20"/>
          <p:cNvSpPr txBox="1"/>
          <p:nvPr/>
        </p:nvSpPr>
        <p:spPr>
          <a:xfrm>
            <a:off x="5955792" y="5057653"/>
            <a:ext cx="5120640" cy="506387"/>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dirty="0">
                <a:solidFill>
                  <a:srgbClr val="333639"/>
                </a:solidFill>
                <a:latin typeface="Fira Sans"/>
              </a:rPr>
              <a:t>For a finite discounted MDP the Bellman optimality equation has a </a:t>
            </a:r>
            <a:r>
              <a:rPr sz="1045" b="1" i="0" dirty="0">
                <a:solidFill>
                  <a:srgbClr val="C8102E"/>
                </a:solidFill>
                <a:latin typeface="Fira Sans"/>
              </a:rPr>
              <a:t>unique</a:t>
            </a:r>
            <a:r>
              <a:rPr sz="1045" b="0" i="0" dirty="0">
                <a:solidFill>
                  <a:srgbClr val="333639"/>
                </a:solidFill>
                <a:latin typeface="Fira Sans"/>
              </a:rPr>
              <a:t> solution. Since v</a:t>
            </a:r>
            <a:r>
              <a:rPr lang="it-IT" sz="1045" b="0" i="0" dirty="0">
                <a:solidFill>
                  <a:srgbClr val="333639"/>
                </a:solidFill>
                <a:latin typeface="Fira Sans"/>
              </a:rPr>
              <a:t>_</a:t>
            </a:r>
            <a:r>
              <a:rPr sz="1045" b="0" i="0" dirty="0">
                <a:solidFill>
                  <a:srgbClr val="333639"/>
                </a:solidFill>
                <a:latin typeface="Fira Sans"/>
              </a:rPr>
              <a:t>π satisfies exactly that equation, v</a:t>
            </a:r>
            <a:r>
              <a:rPr lang="it-IT" sz="1045" b="0" i="0" dirty="0">
                <a:solidFill>
                  <a:srgbClr val="333639"/>
                </a:solidFill>
                <a:latin typeface="Fira Sans"/>
              </a:rPr>
              <a:t>_</a:t>
            </a:r>
            <a:r>
              <a:rPr sz="1045" b="0" i="0" dirty="0">
                <a:solidFill>
                  <a:srgbClr val="333639"/>
                </a:solidFill>
                <a:latin typeface="Fira Sans"/>
              </a:rPr>
              <a:t>π = v*, and the stable policy is optimal. There are no local optima to get trapped in.</a:t>
            </a:r>
          </a:p>
        </p:txBody>
      </p:sp>
      <p:sp>
        <p:nvSpPr>
          <p:cNvPr id="23" name="CasellaDiTesto 22">
            <a:extLst>
              <a:ext uri="{FF2B5EF4-FFF2-40B4-BE49-F238E27FC236}">
                <a16:creationId xmlns:a16="http://schemas.microsoft.com/office/drawing/2014/main" id="{41E2DFC2-736C-394E-2CE1-0BEA9382CC84}"/>
              </a:ext>
            </a:extLst>
          </p:cNvPr>
          <p:cNvSpPr txBox="1"/>
          <p:nvPr/>
        </p:nvSpPr>
        <p:spPr>
          <a:xfrm>
            <a:off x="-329184" y="4197096"/>
            <a:ext cx="0" cy="0"/>
          </a:xfrm>
          <a:prstGeom prst="rect">
            <a:avLst/>
          </a:prstGeom>
        </p:spPr>
        <p:txBody>
          <a:bodyPr vert="horz" wrap="none" lIns="91440" tIns="45720" rIns="91440" bIns="45720" rtlCol="0" anchor="ctr">
            <a:normAutofit fontScale="25000" lnSpcReduction="20000"/>
          </a:bodyPr>
          <a:lstStyle/>
          <a:p>
            <a:pPr marL="0" indent="0" algn="l">
              <a:buNone/>
            </a:pPr>
            <a:endParaRPr lang="en-GB" sz="1050" b="0" i="1" dirty="0">
              <a:latin typeface="Fira Sans" panose="020B05030500000200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5.9  MANY OPTIMAL POLICIES, ONE OPTIMAL VALUE FUNCTION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Ties in the action values are what makes the plural possible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 — Policy improvement and policy iteration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39</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Policy iteration returns </a:t>
            </a:r>
            <a:r>
              <a:rPr sz="1235" b="1" i="1">
                <a:solidFill>
                  <a:srgbClr val="25282A"/>
                </a:solidFill>
                <a:latin typeface="Fira Sans"/>
              </a:rPr>
              <a:t>an</a:t>
            </a:r>
            <a:r>
              <a:rPr sz="1235" b="0" i="0">
                <a:solidFill>
                  <a:srgbClr val="333639"/>
                </a:solidFill>
                <a:latin typeface="Fira Sans"/>
              </a:rPr>
              <a:t> optimal policy and </a:t>
            </a:r>
            <a:r>
              <a:rPr sz="1235" b="1" i="1">
                <a:solidFill>
                  <a:srgbClr val="25282A"/>
                </a:solidFill>
                <a:latin typeface="Fira Sans"/>
              </a:rPr>
              <a:t>the</a:t>
            </a:r>
            <a:r>
              <a:rPr sz="1235" b="0" i="0">
                <a:solidFill>
                  <a:srgbClr val="333639"/>
                </a:solidFill>
                <a:latin typeface="Fira Sans"/>
              </a:rPr>
              <a:t> optimal value function. The distinction is deliberate. Since v*(s) = maxₐ q*(s, a), if two actions achieve the same maximum in a state, either may be selected — and the two resulting policies are </a:t>
            </a:r>
            <a:r>
              <a:rPr sz="1235" b="1" i="0">
                <a:solidFill>
                  <a:srgbClr val="2B7A3E"/>
                </a:solidFill>
                <a:latin typeface="Fira Sans"/>
              </a:rPr>
              <a:t>different but equally optimal</a:t>
            </a:r>
            <a:r>
              <a:rPr sz="1235" b="0" i="0">
                <a:solidFill>
                  <a:srgbClr val="333639"/>
                </a:solidFill>
                <a:latin typeface="Fira Sans"/>
              </a:rPr>
              <a:t>.</a:t>
            </a:r>
          </a:p>
        </p:txBody>
      </p:sp>
      <p:sp>
        <p:nvSpPr>
          <p:cNvPr id="11" name="Rectangle 10"/>
          <p:cNvSpPr/>
          <p:nvPr/>
        </p:nvSpPr>
        <p:spPr>
          <a:xfrm>
            <a:off x="2029968" y="5181777"/>
            <a:ext cx="8138160" cy="863193"/>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029968" y="5181777"/>
            <a:ext cx="41148" cy="86319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2249424" y="5328081"/>
            <a:ext cx="784555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THE STOCHASTIC VERSION</a:t>
            </a:r>
          </a:p>
        </p:txBody>
      </p:sp>
      <p:sp>
        <p:nvSpPr>
          <p:cNvPr id="14" name="TextBox 13"/>
          <p:cNvSpPr txBox="1"/>
          <p:nvPr/>
        </p:nvSpPr>
        <p:spPr>
          <a:xfrm>
            <a:off x="2249424" y="5565825"/>
            <a:ext cx="7754112"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For a stochastic greedy policy the same observation is useful in the other direction: probability can be distributed freely among the maximising actions, provided every non-maximising action gets zero.</a:t>
            </a:r>
          </a:p>
        </p:txBody>
      </p:sp>
      <p:pic>
        <p:nvPicPr>
          <p:cNvPr id="15" name="Immagine 14">
            <a:extLst>
              <a:ext uri="{FF2B5EF4-FFF2-40B4-BE49-F238E27FC236}">
                <a16:creationId xmlns:a16="http://schemas.microsoft.com/office/drawing/2014/main" id="{D4D91AAA-D485-F4B7-6A15-40B823C379B1}"/>
              </a:ext>
            </a:extLst>
          </p:cNvPr>
          <p:cNvPicPr>
            <a:picLocks noChangeAspect="1"/>
          </p:cNvPicPr>
          <p:nvPr/>
        </p:nvPicPr>
        <p:blipFill>
          <a:blip r:embed="rId2"/>
          <a:stretch>
            <a:fillRect/>
          </a:stretch>
        </p:blipFill>
        <p:spPr>
          <a:xfrm>
            <a:off x="1232579" y="1726892"/>
            <a:ext cx="9151934" cy="342745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5.10  POLICY ITERATION VERSUS BRUTE FORCE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The same policy space</a:t>
            </a:r>
            <a:r>
              <a:rPr lang="it-IT" sz="2162" b="1" i="0" dirty="0">
                <a:solidFill>
                  <a:srgbClr val="25282A"/>
                </a:solidFill>
                <a:latin typeface="Roboto Slab"/>
              </a:rPr>
              <a:t>, </a:t>
            </a:r>
            <a:r>
              <a:rPr sz="2162" b="1" i="0" dirty="0">
                <a:solidFill>
                  <a:srgbClr val="25282A"/>
                </a:solidFill>
                <a:latin typeface="Roboto Slab"/>
              </a:rPr>
              <a:t>but traversed along a directed path</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 — Policy improvement and policy iteration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40</a:t>
            </a:r>
          </a:p>
        </p:txBody>
      </p:sp>
      <p:sp>
        <p:nvSpPr>
          <p:cNvPr id="8" name="TextBox 7"/>
          <p:cNvSpPr txBox="1"/>
          <p:nvPr/>
        </p:nvSpPr>
        <p:spPr>
          <a:xfrm>
            <a:off x="841248" y="1316736"/>
            <a:ext cx="6543446" cy="801979"/>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Both methods search the same space of deterministic policies. The difference is that policy iteration </a:t>
            </a:r>
            <a:r>
              <a:rPr sz="1235" b="1" i="0">
                <a:solidFill>
                  <a:srgbClr val="25282A"/>
                </a:solidFill>
                <a:latin typeface="Fira Sans"/>
              </a:rPr>
              <a:t>does not explore that space blindly</a:t>
            </a:r>
            <a:r>
              <a:rPr sz="1235" b="0" i="0">
                <a:solidFill>
                  <a:srgbClr val="333639"/>
                </a:solidFill>
                <a:latin typeface="Fira Sans"/>
              </a:rPr>
              <a:t>: each policy it considers is constructed by improving the previous one. If K improvement steps are needed, only K+1 policies are ever examined.</a:t>
            </a:r>
          </a:p>
        </p:txBody>
      </p:sp>
      <p:pic>
        <p:nvPicPr>
          <p:cNvPr id="9" name="Picture 8" descr="eq_npi.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338171"/>
            <a:ext cx="1672209" cy="288036"/>
          </a:xfrm>
          <a:prstGeom prst="rect">
            <a:avLst/>
          </a:prstGeom>
        </p:spPr>
      </p:pic>
      <p:pic>
        <p:nvPicPr>
          <p:cNvPr id="10" name="Picture 9" descr="eq_nbf.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568" y="2882239"/>
            <a:ext cx="1642872" cy="376047"/>
          </a:xfrm>
          <a:prstGeom prst="rect">
            <a:avLst/>
          </a:prstGeom>
        </p:spPr>
      </p:pic>
      <p:sp>
        <p:nvSpPr>
          <p:cNvPr id="11" name="Rectangle 10"/>
          <p:cNvSpPr/>
          <p:nvPr/>
        </p:nvSpPr>
        <p:spPr>
          <a:xfrm>
            <a:off x="841248" y="3550894"/>
            <a:ext cx="6543446" cy="78638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3550894"/>
            <a:ext cx="41148" cy="78638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eq_npi_cmp.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568" y="3788638"/>
            <a:ext cx="3571240" cy="358140"/>
          </a:xfrm>
          <a:prstGeom prst="rect">
            <a:avLst/>
          </a:prstGeom>
        </p:spPr>
      </p:pic>
      <p:sp>
        <p:nvSpPr>
          <p:cNvPr id="14" name="TextBox 13"/>
          <p:cNvSpPr txBox="1"/>
          <p:nvPr/>
        </p:nvSpPr>
        <p:spPr>
          <a:xfrm>
            <a:off x="841248" y="4483582"/>
            <a:ext cx="6543446"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626669"/>
                </a:solidFill>
                <a:latin typeface="Fira Sans"/>
              </a:rPr>
              <a:t>K depends on the MDP and on the initial policy, so this should be read as a </a:t>
            </a:r>
            <a:r>
              <a:rPr sz="1092" b="1" i="0" dirty="0">
                <a:solidFill>
                  <a:srgbClr val="C8102E"/>
                </a:solidFill>
                <a:latin typeface="Fira Sans"/>
              </a:rPr>
              <a:t>practical observation, not a worst-case complexity bound</a:t>
            </a:r>
            <a:r>
              <a:rPr sz="1092" b="0" i="0" dirty="0">
                <a:solidFill>
                  <a:srgbClr val="626669"/>
                </a:solidFill>
                <a:latin typeface="Fira Sans"/>
              </a:rPr>
              <a:t>. Ye (2011) proved that policy iteration is strongly polynomial for a fixed discount rate</a:t>
            </a:r>
            <a:r>
              <a:rPr lang="it-IT" sz="1092" b="0" i="0" dirty="0">
                <a:solidFill>
                  <a:srgbClr val="626669"/>
                </a:solidFill>
                <a:latin typeface="Fira Sans"/>
              </a:rPr>
              <a:t>, </a:t>
            </a:r>
            <a:r>
              <a:rPr sz="1092" b="0" i="0" dirty="0">
                <a:solidFill>
                  <a:srgbClr val="626669"/>
                </a:solidFill>
                <a:latin typeface="Fira Sans"/>
              </a:rPr>
              <a:t>a much stronger and much harder result.</a:t>
            </a:r>
          </a:p>
        </p:txBody>
      </p:sp>
      <p:sp>
        <p:nvSpPr>
          <p:cNvPr id="15" name="TextBox 14"/>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FROZEN LAKE, IN NUMBERS</a:t>
            </a:r>
          </a:p>
        </p:txBody>
      </p:sp>
      <p:sp>
        <p:nvSpPr>
          <p:cNvPr id="16" name="Rectangle 15"/>
          <p:cNvSpPr/>
          <p:nvPr/>
        </p:nvSpPr>
        <p:spPr>
          <a:xfrm>
            <a:off x="7618780" y="1572768"/>
            <a:ext cx="3731940" cy="30679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10220" y="1650492"/>
            <a:ext cx="2056284"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endParaRPr/>
          </a:p>
        </p:txBody>
      </p:sp>
      <p:sp>
        <p:nvSpPr>
          <p:cNvPr id="18" name="TextBox 17"/>
          <p:cNvSpPr txBox="1"/>
          <p:nvPr/>
        </p:nvSpPr>
        <p:spPr>
          <a:xfrm>
            <a:off x="9949385" y="1650492"/>
            <a:ext cx="1309896"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Policies examined</a:t>
            </a:r>
          </a:p>
        </p:txBody>
      </p:sp>
      <p:sp>
        <p:nvSpPr>
          <p:cNvPr id="19" name="TextBox 18"/>
          <p:cNvSpPr txBox="1"/>
          <p:nvPr/>
        </p:nvSpPr>
        <p:spPr>
          <a:xfrm>
            <a:off x="7710220" y="1957283"/>
            <a:ext cx="2056284"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Brute force</a:t>
            </a:r>
          </a:p>
        </p:txBody>
      </p:sp>
      <p:sp>
        <p:nvSpPr>
          <p:cNvPr id="20" name="TextBox 19"/>
          <p:cNvSpPr txBox="1"/>
          <p:nvPr/>
        </p:nvSpPr>
        <p:spPr>
          <a:xfrm>
            <a:off x="9949385" y="1957283"/>
            <a:ext cx="1309896"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C8102E"/>
                </a:solidFill>
                <a:latin typeface="Fira Sans"/>
              </a:rPr>
              <a:t>4 294 967 296</a:t>
            </a:r>
          </a:p>
        </p:txBody>
      </p:sp>
      <p:sp>
        <p:nvSpPr>
          <p:cNvPr id="21" name="Rectangle 20"/>
          <p:cNvSpPr/>
          <p:nvPr/>
        </p:nvSpPr>
        <p:spPr>
          <a:xfrm>
            <a:off x="7618780" y="2202284"/>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618780" y="2207770"/>
            <a:ext cx="3731940" cy="328211"/>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10220" y="2285494"/>
            <a:ext cx="2056284"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Policy iteration (from Careful)</a:t>
            </a:r>
          </a:p>
        </p:txBody>
      </p:sp>
      <p:sp>
        <p:nvSpPr>
          <p:cNvPr id="24" name="TextBox 23"/>
          <p:cNvSpPr txBox="1"/>
          <p:nvPr/>
        </p:nvSpPr>
        <p:spPr>
          <a:xfrm>
            <a:off x="9949385" y="2285494"/>
            <a:ext cx="1309896"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2B7A3E"/>
                </a:solidFill>
                <a:latin typeface="Fira Sans"/>
              </a:rPr>
              <a:t>2</a:t>
            </a:r>
          </a:p>
        </p:txBody>
      </p:sp>
      <p:sp>
        <p:nvSpPr>
          <p:cNvPr id="25" name="Rectangle 24"/>
          <p:cNvSpPr/>
          <p:nvPr/>
        </p:nvSpPr>
        <p:spPr>
          <a:xfrm>
            <a:off x="7618780" y="2530495"/>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710220" y="2613705"/>
            <a:ext cx="2056284"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Policy iteration (from the poor policy)</a:t>
            </a:r>
          </a:p>
        </p:txBody>
      </p:sp>
      <p:sp>
        <p:nvSpPr>
          <p:cNvPr id="27" name="TextBox 26"/>
          <p:cNvSpPr txBox="1"/>
          <p:nvPr/>
        </p:nvSpPr>
        <p:spPr>
          <a:xfrm>
            <a:off x="9949385" y="2613705"/>
            <a:ext cx="1309896" cy="327238"/>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2B7A3E"/>
                </a:solidFill>
                <a:latin typeface="Fira Sans"/>
              </a:rPr>
              <a:t>7</a:t>
            </a:r>
          </a:p>
        </p:txBody>
      </p:sp>
      <p:sp>
        <p:nvSpPr>
          <p:cNvPr id="28" name="Rectangle 27"/>
          <p:cNvSpPr/>
          <p:nvPr/>
        </p:nvSpPr>
        <p:spPr>
          <a:xfrm>
            <a:off x="7618780" y="3013181"/>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7618780" y="3274700"/>
            <a:ext cx="3731940" cy="1196035"/>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7618780" y="3274700"/>
            <a:ext cx="41148" cy="1196035"/>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838236" y="3421004"/>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THE REAL REASON IT WINS</a:t>
            </a:r>
          </a:p>
        </p:txBody>
      </p:sp>
      <p:sp>
        <p:nvSpPr>
          <p:cNvPr id="32" name="TextBox 31"/>
          <p:cNvSpPr txBox="1"/>
          <p:nvPr/>
        </p:nvSpPr>
        <p:spPr>
          <a:xfrm>
            <a:off x="7838236" y="3658748"/>
            <a:ext cx="33478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The fundamental advantage is not that fewer policies are tried. It is that </a:t>
            </a:r>
            <a:r>
              <a:rPr sz="1092" b="1" i="0" dirty="0">
                <a:solidFill>
                  <a:srgbClr val="333639"/>
                </a:solidFill>
                <a:latin typeface="Fira Sans"/>
              </a:rPr>
              <a:t>every policy tried is built from information obtained from the previous one</a:t>
            </a:r>
            <a:r>
              <a:rPr lang="it-IT" sz="1092" dirty="0">
                <a:solidFill>
                  <a:srgbClr val="333639"/>
                </a:solidFill>
                <a:latin typeface="Fira Sans"/>
              </a:rPr>
              <a:t>,</a:t>
            </a:r>
            <a:r>
              <a:rPr sz="1092" b="0" i="0" dirty="0">
                <a:solidFill>
                  <a:srgbClr val="333639"/>
                </a:solidFill>
                <a:latin typeface="Fira Sans"/>
              </a:rPr>
              <a:t> brute force throws that information away.</a:t>
            </a:r>
          </a:p>
        </p:txBody>
      </p:sp>
      <p:sp>
        <p:nvSpPr>
          <p:cNvPr id="33" name="Rectangle 32"/>
          <p:cNvSpPr/>
          <p:nvPr/>
        </p:nvSpPr>
        <p:spPr>
          <a:xfrm>
            <a:off x="7618780" y="4708479"/>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7618780" y="4708479"/>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838236" y="4854783"/>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BEYOND DETERMINISTIC POLICIES</a:t>
            </a:r>
          </a:p>
        </p:txBody>
      </p:sp>
      <p:sp>
        <p:nvSpPr>
          <p:cNvPr id="36" name="TextBox 35"/>
          <p:cNvSpPr txBox="1"/>
          <p:nvPr/>
        </p:nvSpPr>
        <p:spPr>
          <a:xfrm>
            <a:off x="7838236" y="5092527"/>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The ideas extend unchanged to stochastic policies: when several actions tie, the greedy policy may spread probability among them.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VI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Value iteration and GPI</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dirty="0">
                <a:solidFill>
                  <a:srgbClr val="D6D0E0"/>
                </a:solidFill>
                <a:latin typeface="Fira Sans"/>
              </a:rPr>
              <a:t>Truncating evaluation to a single sweep gives a second algorithm with the same </a:t>
            </a:r>
            <a:r>
              <a:rPr sz="1282" b="0" i="0" dirty="0" err="1">
                <a:solidFill>
                  <a:srgbClr val="D6D0E0"/>
                </a:solidFill>
                <a:latin typeface="Fira Sans"/>
              </a:rPr>
              <a:t>guarante</a:t>
            </a:r>
            <a:r>
              <a:rPr sz="1282" b="0" i="0" dirty="0">
                <a:solidFill>
                  <a:srgbClr val="D6D0E0"/>
                </a:solidFill>
                <a:latin typeface="Fira Sans"/>
              </a:rPr>
              <a:t> and reveals the pattern that most of reinforcement learning follows.</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What survives when we stop assuming the model is known?</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Do we need exact intermediate values?</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value iteration update</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Bellman optimality operator</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Contraction, again</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Comparing the two algorithms</a:t>
            </a:r>
          </a:p>
          <a:p>
            <a:pPr marL="0" indent="0" algn="l">
              <a:lnSpc>
                <a:spcPts val="1378"/>
              </a:lnSpc>
              <a:spcBef>
                <a:spcPts val="1300"/>
              </a:spcBef>
              <a:spcAft>
                <a:spcPts val="0"/>
              </a:spcAft>
              <a:buNone/>
            </a:pPr>
            <a:r>
              <a:rPr sz="1188" b="1" i="0">
                <a:solidFill>
                  <a:srgbClr val="B2A7C4"/>
                </a:solidFill>
                <a:latin typeface="Fira Sans"/>
              </a:rPr>
              <a:t>06   </a:t>
            </a:r>
            <a:r>
              <a:rPr sz="1188" b="0" i="0">
                <a:solidFill>
                  <a:srgbClr val="FFFFFF"/>
                </a:solidFill>
                <a:latin typeface="Fira Sans"/>
              </a:rPr>
              <a:t>The effect of discounting</a:t>
            </a:r>
          </a:p>
          <a:p>
            <a:pPr marL="0" indent="0" algn="l">
              <a:lnSpc>
                <a:spcPts val="1378"/>
              </a:lnSpc>
              <a:spcBef>
                <a:spcPts val="1300"/>
              </a:spcBef>
              <a:spcAft>
                <a:spcPts val="0"/>
              </a:spcAft>
              <a:buNone/>
            </a:pPr>
            <a:r>
              <a:rPr sz="1188" b="1" i="0">
                <a:solidFill>
                  <a:srgbClr val="B2A7C4"/>
                </a:solidFill>
                <a:latin typeface="Fira Sans"/>
              </a:rPr>
              <a:t>07   </a:t>
            </a:r>
            <a:r>
              <a:rPr sz="1188" b="0" i="0">
                <a:solidFill>
                  <a:srgbClr val="FFFFFF"/>
                </a:solidFill>
                <a:latin typeface="Fira Sans"/>
              </a:rPr>
              <a:t>Generalized Policy Iteration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6.1  DO WE NEED THE EXACT VALUE OF EVERY INTERMEDIATE POLICY?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Policy evaluation is run to convergence on policies we are about to discard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VI — Value iteration and GPI</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42</a:t>
            </a:r>
          </a:p>
        </p:txBody>
      </p:sp>
      <p:sp>
        <p:nvSpPr>
          <p:cNvPr id="8" name="TextBox 7"/>
          <p:cNvSpPr txBox="1"/>
          <p:nvPr/>
        </p:nvSpPr>
        <p:spPr>
          <a:xfrm>
            <a:off x="841248" y="1316736"/>
            <a:ext cx="10515600"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Policy iteration solves two different problems in alternation. The expensive one is evaluation: on Frozen Lake it took 546 sweeps to evaluate Careful to full precision</a:t>
            </a:r>
            <a:r>
              <a:rPr lang="it-IT" sz="1282" b="0" i="0" dirty="0">
                <a:solidFill>
                  <a:srgbClr val="333639"/>
                </a:solidFill>
                <a:latin typeface="Fira Sans"/>
              </a:rPr>
              <a:t>, </a:t>
            </a:r>
            <a:r>
              <a:rPr sz="1282" b="0" i="0" dirty="0">
                <a:solidFill>
                  <a:srgbClr val="333639"/>
                </a:solidFill>
                <a:latin typeface="Fira Sans"/>
              </a:rPr>
              <a:t>even though the policy was about to be replaced. If the goal is the </a:t>
            </a:r>
            <a:r>
              <a:rPr sz="1282" b="1" i="0" dirty="0">
                <a:solidFill>
                  <a:srgbClr val="25282A"/>
                </a:solidFill>
                <a:latin typeface="Fira Sans"/>
              </a:rPr>
              <a:t>optimal</a:t>
            </a:r>
            <a:r>
              <a:rPr sz="1282" b="0" i="0" dirty="0">
                <a:solidFill>
                  <a:srgbClr val="333639"/>
                </a:solidFill>
                <a:latin typeface="Fira Sans"/>
              </a:rPr>
              <a:t> value function, why compute exact values for policies that are only stepping stones?</a:t>
            </a:r>
          </a:p>
        </p:txBody>
      </p:sp>
      <p:sp>
        <p:nvSpPr>
          <p:cNvPr id="9" name="TextBox 8"/>
          <p:cNvSpPr txBox="1"/>
          <p:nvPr/>
        </p:nvSpPr>
        <p:spPr>
          <a:xfrm>
            <a:off x="841248" y="2223531"/>
            <a:ext cx="5093208"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574676"/>
                </a:solidFill>
                <a:latin typeface="Fira Sans"/>
              </a:rPr>
              <a:t>What policy evaluation solves</a:t>
            </a:r>
          </a:p>
        </p:txBody>
      </p:sp>
      <p:pic>
        <p:nvPicPr>
          <p:cNvPr id="10" name="Picture 9" descr="eq_vi_question.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2688" y="2552715"/>
            <a:ext cx="3937634" cy="796290"/>
          </a:xfrm>
          <a:prstGeom prst="rect">
            <a:avLst/>
          </a:prstGeom>
        </p:spPr>
      </p:pic>
      <p:sp>
        <p:nvSpPr>
          <p:cNvPr id="11" name="TextBox 10"/>
          <p:cNvSpPr txBox="1"/>
          <p:nvPr/>
        </p:nvSpPr>
        <p:spPr>
          <a:xfrm>
            <a:off x="6263640" y="2223531"/>
            <a:ext cx="5093208"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C8102E"/>
                </a:solidFill>
                <a:latin typeface="Fira Sans"/>
              </a:rPr>
              <a:t>What we actually want</a:t>
            </a:r>
          </a:p>
        </p:txBody>
      </p:sp>
      <p:pic>
        <p:nvPicPr>
          <p:cNvPr id="12" name="Picture 11" descr="eq_vi_target.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55080" y="2552715"/>
            <a:ext cx="3347085" cy="796290"/>
          </a:xfrm>
          <a:prstGeom prst="rect">
            <a:avLst/>
          </a:prstGeom>
        </p:spPr>
      </p:pic>
      <p:sp>
        <p:nvSpPr>
          <p:cNvPr id="13" name="Rectangle 12"/>
          <p:cNvSpPr/>
          <p:nvPr/>
        </p:nvSpPr>
        <p:spPr>
          <a:xfrm>
            <a:off x="841248" y="3467115"/>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1248" y="3668283"/>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MORE DIRECT STRATEGY</a:t>
            </a:r>
          </a:p>
        </p:txBody>
      </p:sp>
      <p:sp>
        <p:nvSpPr>
          <p:cNvPr id="15" name="TextBox 14"/>
          <p:cNvSpPr txBox="1"/>
          <p:nvPr/>
        </p:nvSpPr>
        <p:spPr>
          <a:xfrm>
            <a:off x="841248" y="3942603"/>
            <a:ext cx="1051560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Instead of repeatedly solving the left equation and then replacing the policy, iterate directly toward the solution of the right one. Take the Bellman </a:t>
            </a:r>
            <a:r>
              <a:rPr sz="1188" b="1" i="0">
                <a:solidFill>
                  <a:srgbClr val="C8102E"/>
                </a:solidFill>
                <a:latin typeface="Fira Sans"/>
              </a:rPr>
              <a:t>optimality</a:t>
            </a:r>
            <a:r>
              <a:rPr sz="1188" b="0" i="0">
                <a:solidFill>
                  <a:srgbClr val="333639"/>
                </a:solidFill>
                <a:latin typeface="Fira Sans"/>
              </a:rPr>
              <a:t> equation and turn it into an update rule, exactly as we did with the Bellman expectation equation in Part IV.</a:t>
            </a:r>
          </a:p>
        </p:txBody>
      </p:sp>
      <p:pic>
        <p:nvPicPr>
          <p:cNvPr id="16" name="Picture 15" descr="eq_vi_updat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31321" y="4530196"/>
            <a:ext cx="5529325" cy="757174"/>
          </a:xfrm>
          <a:prstGeom prst="rect">
            <a:avLst/>
          </a:prstGeom>
        </p:spPr>
      </p:pic>
      <p:pic>
        <p:nvPicPr>
          <p:cNvPr id="17" name="Picture 16" descr="eq_vi_seq.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29808" y="5451962"/>
            <a:ext cx="3332353" cy="260603"/>
          </a:xfrm>
          <a:prstGeom prst="rect">
            <a:avLst/>
          </a:prstGeom>
        </p:spPr>
      </p:pic>
      <p:sp>
        <p:nvSpPr>
          <p:cNvPr id="18" name="TextBox 17"/>
          <p:cNvSpPr txBox="1"/>
          <p:nvPr/>
        </p:nvSpPr>
        <p:spPr>
          <a:xfrm>
            <a:off x="841248" y="5858870"/>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a:solidFill>
                  <a:srgbClr val="626669"/>
                </a:solidFill>
                <a:latin typeface="Fira Sans"/>
              </a:rPr>
              <a:t>One sweep, one maximisation. Evaluation is truncated after a single sweep, and the improvement is folded into it.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6.2  THE BELLMAN OPTIMALITY OPERATOR</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same argument as Part IV, with one extra ingredient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VI — Value iteration and GPI</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43</a:t>
            </a:r>
          </a:p>
        </p:txBody>
      </p:sp>
      <p:sp>
        <p:nvSpPr>
          <p:cNvPr id="8" name="TextBox 7"/>
          <p:cNvSpPr txBox="1"/>
          <p:nvPr/>
        </p:nvSpPr>
        <p:spPr>
          <a:xfrm>
            <a:off x="841248" y="1316736"/>
            <a:ext cx="6543446"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Convergence is justified exactly as before. The only change is that the Bellman expectation operator is replaced by the </a:t>
            </a:r>
            <a:r>
              <a:rPr sz="1282" b="1" i="0">
                <a:solidFill>
                  <a:srgbClr val="25282A"/>
                </a:solidFill>
                <a:latin typeface="Fira Sans"/>
              </a:rPr>
              <a:t>Bellman optimality operator</a:t>
            </a:r>
            <a:r>
              <a:rPr sz="1282" b="0" i="0">
                <a:solidFill>
                  <a:srgbClr val="333639"/>
                </a:solidFill>
                <a:latin typeface="Fira Sans"/>
              </a:rPr>
              <a:t>, written T with a star.</a:t>
            </a:r>
          </a:p>
        </p:txBody>
      </p:sp>
      <p:pic>
        <p:nvPicPr>
          <p:cNvPr id="9" name="Picture 8" descr="eq_op_star.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78408" y="2168667"/>
            <a:ext cx="4871847" cy="653923"/>
          </a:xfrm>
          <a:prstGeom prst="rect">
            <a:avLst/>
          </a:prstGeom>
        </p:spPr>
      </p:pic>
      <p:pic>
        <p:nvPicPr>
          <p:cNvPr id="10" name="Picture 9" descr="eq_op_star_sweep.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568" y="3078622"/>
            <a:ext cx="1594866" cy="306705"/>
          </a:xfrm>
          <a:prstGeom prst="rect">
            <a:avLst/>
          </a:prstGeom>
        </p:spPr>
      </p:pic>
      <p:pic>
        <p:nvPicPr>
          <p:cNvPr id="11" name="Picture 10" descr="eq_op_star_fix.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33011" y="3078622"/>
            <a:ext cx="1328166" cy="288036"/>
          </a:xfrm>
          <a:prstGeom prst="rect">
            <a:avLst/>
          </a:prstGeom>
        </p:spPr>
      </p:pic>
      <p:sp>
        <p:nvSpPr>
          <p:cNvPr id="12" name="TextBox 11"/>
          <p:cNvSpPr txBox="1"/>
          <p:nvPr/>
        </p:nvSpPr>
        <p:spPr>
          <a:xfrm>
            <a:off x="1115568" y="3462670"/>
            <a:ext cx="3043123"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one complete value-iteration sweep</a:t>
            </a:r>
          </a:p>
        </p:txBody>
      </p:sp>
      <p:sp>
        <p:nvSpPr>
          <p:cNvPr id="13" name="TextBox 12"/>
          <p:cNvSpPr txBox="1"/>
          <p:nvPr/>
        </p:nvSpPr>
        <p:spPr>
          <a:xfrm>
            <a:off x="4433011" y="3462670"/>
            <a:ext cx="3043123"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v* is a fixed point of the operator</a:t>
            </a:r>
          </a:p>
        </p:txBody>
      </p:sp>
      <p:sp>
        <p:nvSpPr>
          <p:cNvPr id="14" name="Rectangle 13"/>
          <p:cNvSpPr/>
          <p:nvPr/>
        </p:nvSpPr>
        <p:spPr>
          <a:xfrm>
            <a:off x="841248" y="3828430"/>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1248" y="4047886"/>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ONE NEW INGREDIENT: AN INEQUALITY ABOUT MAXIMA</a:t>
            </a:r>
          </a:p>
        </p:txBody>
      </p:sp>
      <p:pic>
        <p:nvPicPr>
          <p:cNvPr id="16" name="Picture 15" descr="eq_maxineq.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5568" y="4358782"/>
            <a:ext cx="4107180" cy="560069"/>
          </a:xfrm>
          <a:prstGeom prst="rect">
            <a:avLst/>
          </a:prstGeom>
        </p:spPr>
      </p:pic>
      <p:sp>
        <p:nvSpPr>
          <p:cNvPr id="17" name="TextBox 16"/>
          <p:cNvSpPr txBox="1"/>
          <p:nvPr/>
        </p:nvSpPr>
        <p:spPr>
          <a:xfrm>
            <a:off x="841248" y="5138308"/>
            <a:ext cx="6543446" cy="566470"/>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dirty="0">
                <a:solidFill>
                  <a:srgbClr val="333639"/>
                </a:solidFill>
                <a:latin typeface="Fira Sans"/>
              </a:rPr>
              <a:t>The difference between two maxima cannot be larger than the largest difference between the quantities being maximized. This is the only step of the proof that Tπ did not need</a:t>
            </a:r>
            <a:r>
              <a:rPr lang="it-IT" sz="1140" b="0" i="0" dirty="0">
                <a:solidFill>
                  <a:srgbClr val="333639"/>
                </a:solidFill>
                <a:latin typeface="Fira Sans"/>
              </a:rPr>
              <a:t>, </a:t>
            </a:r>
            <a:r>
              <a:rPr sz="1140" b="0" i="0" dirty="0">
                <a:solidFill>
                  <a:srgbClr val="333639"/>
                </a:solidFill>
                <a:latin typeface="Fira Sans"/>
              </a:rPr>
              <a:t>everything else is identical.</a:t>
            </a:r>
          </a:p>
        </p:txBody>
      </p:sp>
      <p:sp>
        <p:nvSpPr>
          <p:cNvPr id="18" name="Rectangle 17"/>
          <p:cNvSpPr/>
          <p:nvPr/>
        </p:nvSpPr>
        <p:spPr>
          <a:xfrm>
            <a:off x="7618780" y="1316736"/>
            <a:ext cx="3731940" cy="152887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618780" y="1316736"/>
            <a:ext cx="41148" cy="152887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WHAT T∗ IS NOT</a:t>
            </a:r>
          </a:p>
        </p:txBody>
      </p:sp>
      <p:sp>
        <p:nvSpPr>
          <p:cNvPr id="21" name="TextBox 20"/>
          <p:cNvSpPr txBox="1"/>
          <p:nvPr/>
        </p:nvSpPr>
        <p:spPr>
          <a:xfrm>
            <a:off x="7838236" y="1700784"/>
            <a:ext cx="3347892" cy="998524"/>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T∗ is not the Bellman operator of any single policy. It applies the maximum in every state, and the actions it selects may not be consistent with any policy that we are currently evaluating</a:t>
            </a:r>
            <a:r>
              <a:rPr lang="it-IT" sz="1092" b="0" i="0" dirty="0">
                <a:solidFill>
                  <a:srgbClr val="333639"/>
                </a:solidFill>
                <a:latin typeface="Fira Sans"/>
              </a:rPr>
              <a:t>,</a:t>
            </a:r>
            <a:r>
              <a:rPr sz="1092" b="0" i="0" dirty="0">
                <a:solidFill>
                  <a:srgbClr val="333639"/>
                </a:solidFill>
                <a:latin typeface="Fira Sans"/>
              </a:rPr>
              <a:t> which is exactly why value iteration needs no explicit policy at all until the end.</a:t>
            </a:r>
          </a:p>
        </p:txBody>
      </p:sp>
      <p:sp>
        <p:nvSpPr>
          <p:cNvPr id="22" name="TextBox 21"/>
          <p:cNvSpPr txBox="1"/>
          <p:nvPr/>
        </p:nvSpPr>
        <p:spPr>
          <a:xfrm>
            <a:off x="7618780" y="3119932"/>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WHY THE INEQUALITY IS TRUE</a:t>
            </a:r>
          </a:p>
        </p:txBody>
      </p:sp>
      <p:sp>
        <p:nvSpPr>
          <p:cNvPr id="23" name="TextBox 22"/>
          <p:cNvSpPr txBox="1"/>
          <p:nvPr/>
        </p:nvSpPr>
        <p:spPr>
          <a:xfrm>
            <a:off x="7618780" y="3375964"/>
            <a:ext cx="3731940" cy="1336202"/>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Suppose the first maximum is attained at action a. Then the difference of the maxima is at most xₐ − yₐ, because the second maximum is at least yₐ.</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The same argument with the roles exchanged bounds the difference in the other direction.</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Together they bound the </a:t>
            </a:r>
            <a:r>
              <a:rPr sz="1092" b="1" i="0">
                <a:solidFill>
                  <a:srgbClr val="25282A"/>
                </a:solidFill>
                <a:latin typeface="Fira Sans"/>
              </a:rPr>
              <a:t>absolute</a:t>
            </a:r>
            <a:r>
              <a:rPr sz="1092" b="0" i="0">
                <a:solidFill>
                  <a:srgbClr val="333639"/>
                </a:solidFill>
                <a:latin typeface="Fira Sans"/>
              </a:rPr>
              <a:t> difference by the largest |xₐ − yₐ|.</a:t>
            </a:r>
          </a:p>
        </p:txBody>
      </p:sp>
      <p:sp>
        <p:nvSpPr>
          <p:cNvPr id="24" name="Rectangle 23"/>
          <p:cNvSpPr/>
          <p:nvPr/>
        </p:nvSpPr>
        <p:spPr>
          <a:xfrm>
            <a:off x="7618780" y="4968199"/>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7618780" y="4968199"/>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838236" y="5114503"/>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SOURCE</a:t>
            </a:r>
          </a:p>
        </p:txBody>
      </p:sp>
      <p:sp>
        <p:nvSpPr>
          <p:cNvPr id="27" name="TextBox 26"/>
          <p:cNvSpPr txBox="1"/>
          <p:nvPr/>
        </p:nvSpPr>
        <p:spPr>
          <a:xfrm>
            <a:off x="7838236" y="5352247"/>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Sennott (1999), </a:t>
            </a:r>
            <a:r>
              <a:rPr sz="1045" b="0" i="1">
                <a:solidFill>
                  <a:srgbClr val="333639"/>
                </a:solidFill>
                <a:latin typeface="Fira Sans"/>
              </a:rPr>
              <a:t>The Value Iteration Method for Countable State Markov Decision Processes</a:t>
            </a:r>
            <a:r>
              <a:rPr sz="1045" b="0" i="0">
                <a:solidFill>
                  <a:srgbClr val="333639"/>
                </a:solidFill>
                <a:latin typeface="Fira Sans"/>
              </a:rPr>
              <a:t>, extends the result beyond finite state spaces.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6.3  PROOF: THE BELLMAN OPTIMALITY OPERATOR IS A CONTRACTION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Three steps, and the conclusion of Part IV carries over unchanged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VI — Value iteration and GPI</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44</a:t>
            </a:r>
          </a:p>
        </p:txBody>
      </p:sp>
      <p:sp>
        <p:nvSpPr>
          <p:cNvPr id="8" name="TextBox 7"/>
          <p:cNvSpPr txBox="1"/>
          <p:nvPr/>
        </p:nvSpPr>
        <p:spPr>
          <a:xfrm>
            <a:off x="859536" y="1298448"/>
            <a:ext cx="457200" cy="237744"/>
          </a:xfrm>
          <a:prstGeom prst="rect">
            <a:avLst/>
          </a:prstGeom>
          <a:noFill/>
        </p:spPr>
        <p:txBody>
          <a:bodyPr wrap="square" lIns="0" tIns="0" rIns="0" bIns="0" anchor="t">
            <a:noAutofit/>
          </a:bodyPr>
          <a:lstStyle/>
          <a:p>
            <a:pPr marL="0" indent="0" algn="l">
              <a:lnSpc>
                <a:spcPts val="1410"/>
              </a:lnSpc>
              <a:spcBef>
                <a:spcPts val="0"/>
              </a:spcBef>
              <a:spcAft>
                <a:spcPts val="0"/>
              </a:spcAft>
              <a:buNone/>
            </a:pPr>
            <a:r>
              <a:rPr sz="1410" b="1" i="0">
                <a:solidFill>
                  <a:srgbClr val="574676"/>
                </a:solidFill>
                <a:latin typeface="Roboto Slab"/>
              </a:rPr>
              <a:t>1</a:t>
            </a:r>
          </a:p>
        </p:txBody>
      </p:sp>
      <p:sp>
        <p:nvSpPr>
          <p:cNvPr id="9" name="TextBox 8"/>
          <p:cNvSpPr txBox="1"/>
          <p:nvPr/>
        </p:nvSpPr>
        <p:spPr>
          <a:xfrm>
            <a:off x="1316736" y="1316736"/>
            <a:ext cx="5120640" cy="219456"/>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140" b="1" i="0">
                <a:solidFill>
                  <a:srgbClr val="25282A"/>
                </a:solidFill>
                <a:latin typeface="Fira Sans"/>
              </a:rPr>
              <a:t>Apply one sweep to both, and subtract — a difference of two maxima</a:t>
            </a:r>
          </a:p>
        </p:txBody>
      </p:sp>
      <p:sp>
        <p:nvSpPr>
          <p:cNvPr id="10" name="TextBox 9"/>
          <p:cNvSpPr txBox="1"/>
          <p:nvPr/>
        </p:nvSpPr>
        <p:spPr>
          <a:xfrm>
            <a:off x="6693408" y="1307592"/>
            <a:ext cx="5504688" cy="316484"/>
          </a:xfrm>
          <a:prstGeom prst="rect">
            <a:avLst/>
          </a:prstGeom>
          <a:noFill/>
        </p:spPr>
        <p:txBody>
          <a:bodyPr wrap="square" lIns="0" tIns="0" rIns="0" bIns="0" anchor="t">
            <a:noAutofit/>
          </a:bodyPr>
          <a:lstStyle/>
          <a:p>
            <a:pPr marL="0" indent="0" algn="l">
              <a:lnSpc>
                <a:spcPts val="1102"/>
              </a:lnSpc>
              <a:spcBef>
                <a:spcPts val="0"/>
              </a:spcBef>
              <a:spcAft>
                <a:spcPts val="0"/>
              </a:spcAft>
              <a:buNone/>
            </a:pPr>
            <a:r>
              <a:rPr sz="950" b="0" i="0">
                <a:solidFill>
                  <a:srgbClr val="626669"/>
                </a:solidFill>
                <a:latin typeface="Fira Sans"/>
              </a:rPr>
              <a:t>This is precisely the situation the inequality above was introduced for, with xₐ and yₐ the bracketed sums.</a:t>
            </a:r>
          </a:p>
        </p:txBody>
      </p:sp>
      <p:pic>
        <p:nvPicPr>
          <p:cNvPr id="11" name="Picture 10" descr="eq_vct1.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16736" y="1572768"/>
            <a:ext cx="7660005" cy="516255"/>
          </a:xfrm>
          <a:prstGeom prst="rect">
            <a:avLst/>
          </a:prstGeom>
        </p:spPr>
      </p:pic>
      <p:sp>
        <p:nvSpPr>
          <p:cNvPr id="12" name="TextBox 11"/>
          <p:cNvSpPr txBox="1"/>
          <p:nvPr/>
        </p:nvSpPr>
        <p:spPr>
          <a:xfrm>
            <a:off x="859536" y="2253615"/>
            <a:ext cx="457200" cy="237744"/>
          </a:xfrm>
          <a:prstGeom prst="rect">
            <a:avLst/>
          </a:prstGeom>
          <a:noFill/>
        </p:spPr>
        <p:txBody>
          <a:bodyPr wrap="square" lIns="0" tIns="0" rIns="0" bIns="0" anchor="t">
            <a:noAutofit/>
          </a:bodyPr>
          <a:lstStyle/>
          <a:p>
            <a:pPr marL="0" indent="0" algn="l">
              <a:lnSpc>
                <a:spcPts val="1410"/>
              </a:lnSpc>
              <a:spcBef>
                <a:spcPts val="0"/>
              </a:spcBef>
              <a:spcAft>
                <a:spcPts val="0"/>
              </a:spcAft>
              <a:buNone/>
            </a:pPr>
            <a:r>
              <a:rPr sz="1410" b="1" i="0">
                <a:solidFill>
                  <a:srgbClr val="574676"/>
                </a:solidFill>
                <a:latin typeface="Roboto Slab"/>
              </a:rPr>
              <a:t>2</a:t>
            </a:r>
          </a:p>
        </p:txBody>
      </p:sp>
      <p:sp>
        <p:nvSpPr>
          <p:cNvPr id="13" name="TextBox 12"/>
          <p:cNvSpPr txBox="1"/>
          <p:nvPr/>
        </p:nvSpPr>
        <p:spPr>
          <a:xfrm>
            <a:off x="1316736" y="2271903"/>
            <a:ext cx="5120640" cy="219456"/>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140" b="1" i="0">
                <a:solidFill>
                  <a:srgbClr val="25282A"/>
                </a:solidFill>
                <a:latin typeface="Fira Sans"/>
              </a:rPr>
              <a:t>Apply the inequality; for a fixed action the rewards cancel</a:t>
            </a:r>
          </a:p>
        </p:txBody>
      </p:sp>
      <p:sp>
        <p:nvSpPr>
          <p:cNvPr id="14" name="TextBox 13"/>
          <p:cNvSpPr txBox="1"/>
          <p:nvPr/>
        </p:nvSpPr>
        <p:spPr>
          <a:xfrm>
            <a:off x="6693408" y="2262759"/>
            <a:ext cx="5504688" cy="316484"/>
          </a:xfrm>
          <a:prstGeom prst="rect">
            <a:avLst/>
          </a:prstGeom>
          <a:noFill/>
        </p:spPr>
        <p:txBody>
          <a:bodyPr wrap="square" lIns="0" tIns="0" rIns="0" bIns="0" anchor="t">
            <a:noAutofit/>
          </a:bodyPr>
          <a:lstStyle/>
          <a:p>
            <a:pPr marL="0" indent="0" algn="l">
              <a:lnSpc>
                <a:spcPts val="1102"/>
              </a:lnSpc>
              <a:spcBef>
                <a:spcPts val="0"/>
              </a:spcBef>
              <a:spcAft>
                <a:spcPts val="0"/>
              </a:spcAft>
              <a:buNone/>
            </a:pPr>
            <a:r>
              <a:rPr sz="950" b="0" i="0">
                <a:solidFill>
                  <a:srgbClr val="626669"/>
                </a:solidFill>
                <a:latin typeface="Fira Sans"/>
              </a:rPr>
              <a:t>Inside the maximum, a is held fixed, so r appears identically in both terms and disappears — exactly as in the proof for Tπ.</a:t>
            </a:r>
          </a:p>
        </p:txBody>
      </p:sp>
      <p:pic>
        <p:nvPicPr>
          <p:cNvPr id="15" name="Picture 14" descr="eq_vct2.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6736" y="2527935"/>
            <a:ext cx="5345430" cy="649605"/>
          </a:xfrm>
          <a:prstGeom prst="rect">
            <a:avLst/>
          </a:prstGeom>
        </p:spPr>
      </p:pic>
      <p:sp>
        <p:nvSpPr>
          <p:cNvPr id="16" name="TextBox 15"/>
          <p:cNvSpPr txBox="1"/>
          <p:nvPr/>
        </p:nvSpPr>
        <p:spPr>
          <a:xfrm>
            <a:off x="859536" y="3342132"/>
            <a:ext cx="457200" cy="237744"/>
          </a:xfrm>
          <a:prstGeom prst="rect">
            <a:avLst/>
          </a:prstGeom>
          <a:noFill/>
        </p:spPr>
        <p:txBody>
          <a:bodyPr wrap="square" lIns="0" tIns="0" rIns="0" bIns="0" anchor="t">
            <a:noAutofit/>
          </a:bodyPr>
          <a:lstStyle/>
          <a:p>
            <a:pPr marL="0" indent="0" algn="l">
              <a:lnSpc>
                <a:spcPts val="1410"/>
              </a:lnSpc>
              <a:spcBef>
                <a:spcPts val="0"/>
              </a:spcBef>
              <a:spcAft>
                <a:spcPts val="0"/>
              </a:spcAft>
              <a:buNone/>
            </a:pPr>
            <a:r>
              <a:rPr sz="1410" b="1" i="0">
                <a:solidFill>
                  <a:srgbClr val="574676"/>
                </a:solidFill>
                <a:latin typeface="Roboto Slab"/>
              </a:rPr>
              <a:t>3</a:t>
            </a:r>
          </a:p>
        </p:txBody>
      </p:sp>
      <p:sp>
        <p:nvSpPr>
          <p:cNvPr id="17" name="TextBox 16"/>
          <p:cNvSpPr txBox="1"/>
          <p:nvPr/>
        </p:nvSpPr>
        <p:spPr>
          <a:xfrm>
            <a:off x="1316736" y="3360420"/>
            <a:ext cx="5120640" cy="219456"/>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140" b="1" i="0">
                <a:solidFill>
                  <a:srgbClr val="25282A"/>
                </a:solidFill>
                <a:latin typeface="Fira Sans"/>
              </a:rPr>
              <a:t>Bound by the max-norm; the probabilities sum to one</a:t>
            </a:r>
          </a:p>
        </p:txBody>
      </p:sp>
      <p:sp>
        <p:nvSpPr>
          <p:cNvPr id="18" name="TextBox 17"/>
          <p:cNvSpPr txBox="1"/>
          <p:nvPr/>
        </p:nvSpPr>
        <p:spPr>
          <a:xfrm>
            <a:off x="6693408" y="3351276"/>
            <a:ext cx="5504688" cy="176530"/>
          </a:xfrm>
          <a:prstGeom prst="rect">
            <a:avLst/>
          </a:prstGeom>
          <a:noFill/>
        </p:spPr>
        <p:txBody>
          <a:bodyPr wrap="square" lIns="0" tIns="0" rIns="0" bIns="0" anchor="t">
            <a:noAutofit/>
          </a:bodyPr>
          <a:lstStyle/>
          <a:p>
            <a:pPr marL="0" indent="0" algn="l">
              <a:lnSpc>
                <a:spcPts val="1102"/>
              </a:lnSpc>
              <a:spcBef>
                <a:spcPts val="0"/>
              </a:spcBef>
              <a:spcAft>
                <a:spcPts val="0"/>
              </a:spcAft>
              <a:buNone/>
            </a:pPr>
            <a:r>
              <a:rPr sz="950" b="0" i="0">
                <a:solidFill>
                  <a:srgbClr val="626669"/>
                </a:solidFill>
                <a:latin typeface="Fira Sans"/>
              </a:rPr>
              <a:t>The bound no longer depends on a, so it also bounds the maximum over a.</a:t>
            </a:r>
          </a:p>
        </p:txBody>
      </p:sp>
      <p:pic>
        <p:nvPicPr>
          <p:cNvPr id="19" name="Picture 18" descr="eq_vct3.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6736" y="3616452"/>
            <a:ext cx="5465445" cy="899160"/>
          </a:xfrm>
          <a:prstGeom prst="rect">
            <a:avLst/>
          </a:prstGeom>
        </p:spPr>
      </p:pic>
      <p:sp>
        <p:nvSpPr>
          <p:cNvPr id="20" name="Rectangle 19"/>
          <p:cNvSpPr/>
          <p:nvPr/>
        </p:nvSpPr>
        <p:spPr>
          <a:xfrm>
            <a:off x="841248" y="4698491"/>
            <a:ext cx="10515600" cy="82296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41248" y="4698491"/>
            <a:ext cx="41148" cy="8229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15568" y="4808220"/>
            <a:ext cx="4937760" cy="201168"/>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00">
                <a:solidFill>
                  <a:srgbClr val="2B7A3E"/>
                </a:solidFill>
                <a:latin typeface="Fira Sans"/>
              </a:rPr>
              <a:t>T∗ IS ALSO A γ-CONTRACTION</a:t>
            </a:r>
          </a:p>
        </p:txBody>
      </p:sp>
      <p:pic>
        <p:nvPicPr>
          <p:cNvPr id="23" name="Picture 22" descr="eq_vct4.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5568" y="5064252"/>
            <a:ext cx="3159252" cy="285750"/>
          </a:xfrm>
          <a:prstGeom prst="rect">
            <a:avLst/>
          </a:prstGeom>
        </p:spPr>
      </p:pic>
      <p:sp>
        <p:nvSpPr>
          <p:cNvPr id="24" name="TextBox 23"/>
          <p:cNvSpPr txBox="1"/>
          <p:nvPr/>
        </p:nvSpPr>
        <p:spPr>
          <a:xfrm>
            <a:off x="4864608" y="4881372"/>
            <a:ext cx="6217920"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333639"/>
                </a:solidFill>
                <a:latin typeface="Fira Sans"/>
              </a:rPr>
              <a:t>From here the argument of Part IV applies word for word: the error is multiplied by γ at every sweep, so it vanishes geometrically.</a:t>
            </a:r>
          </a:p>
        </p:txBody>
      </p:sp>
      <p:pic>
        <p:nvPicPr>
          <p:cNvPr id="25" name="Picture 24" descr="eq_vct5.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07008" y="5667755"/>
            <a:ext cx="2948939" cy="315468"/>
          </a:xfrm>
          <a:prstGeom prst="rect">
            <a:avLst/>
          </a:prstGeom>
        </p:spPr>
      </p:pic>
      <p:pic>
        <p:nvPicPr>
          <p:cNvPr id="26" name="Picture 25" descr="eq_vct6.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91656" y="5667755"/>
            <a:ext cx="3065526" cy="39547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6.4  THE SAME MECHANISM, TWO DIFFERENT FIXED POINTS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What changes between the two algorithms is not the proof</a:t>
            </a:r>
            <a:r>
              <a:rPr lang="it-IT" sz="2162" b="1" i="0" dirty="0">
                <a:solidFill>
                  <a:srgbClr val="25282A"/>
                </a:solidFill>
                <a:latin typeface="Roboto Slab"/>
              </a:rPr>
              <a:t>,</a:t>
            </a:r>
            <a:r>
              <a:rPr sz="2162" b="1" i="0" dirty="0">
                <a:solidFill>
                  <a:srgbClr val="25282A"/>
                </a:solidFill>
                <a:latin typeface="Roboto Slab"/>
              </a:rPr>
              <a:t> it is the target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VI — Value iteration and GPI</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45</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The convergence mechanism is identical in both cases: repeatedly apply a contraction, and the iterate is drawn to its unique fixed point. The only difference is </a:t>
            </a:r>
            <a:r>
              <a:rPr sz="1282" b="1" i="0">
                <a:solidFill>
                  <a:srgbClr val="25282A"/>
                </a:solidFill>
                <a:latin typeface="Fira Sans"/>
              </a:rPr>
              <a:t>which fixed point</a:t>
            </a:r>
            <a:r>
              <a:rPr sz="1282" b="0" i="0">
                <a:solidFill>
                  <a:srgbClr val="333639"/>
                </a:solidFill>
                <a:latin typeface="Fira Sans"/>
              </a:rPr>
              <a:t>.</a:t>
            </a:r>
          </a:p>
        </p:txBody>
      </p:sp>
      <p:pic>
        <p:nvPicPr>
          <p:cNvPr id="9" name="Picture 8" descr="eq_parallel.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16920" y="2006610"/>
            <a:ext cx="6358128" cy="798576"/>
          </a:xfrm>
          <a:prstGeom prst="rect">
            <a:avLst/>
          </a:prstGeom>
        </p:spPr>
      </p:pic>
      <p:sp>
        <p:nvSpPr>
          <p:cNvPr id="10" name="Rectangle 9"/>
          <p:cNvSpPr/>
          <p:nvPr/>
        </p:nvSpPr>
        <p:spPr>
          <a:xfrm>
            <a:off x="841248" y="307950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3280674"/>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AND ONE PRACTICAL CONSEQUENCE: THE POLICY COMES AT THE END</a:t>
            </a:r>
          </a:p>
        </p:txBody>
      </p:sp>
      <p:pic>
        <p:nvPicPr>
          <p:cNvPr id="12" name="Picture 11" descr="eq_vi_greedy.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07008" y="3573282"/>
            <a:ext cx="4883912" cy="653923"/>
          </a:xfrm>
          <a:prstGeom prst="rect">
            <a:avLst/>
          </a:prstGeom>
        </p:spPr>
      </p:pic>
      <p:sp>
        <p:nvSpPr>
          <p:cNvPr id="13" name="TextBox 12"/>
          <p:cNvSpPr txBox="1"/>
          <p:nvPr/>
        </p:nvSpPr>
        <p:spPr>
          <a:xfrm>
            <a:off x="841248" y="4410085"/>
            <a:ext cx="1051560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dirty="0">
                <a:solidFill>
                  <a:srgbClr val="333639"/>
                </a:solidFill>
                <a:latin typeface="Fira Sans"/>
              </a:rPr>
              <a:t>Value iteration </a:t>
            </a:r>
            <a:r>
              <a:rPr sz="1188" b="1" i="0" dirty="0">
                <a:solidFill>
                  <a:srgbClr val="333639"/>
                </a:solidFill>
                <a:latin typeface="Fira Sans"/>
              </a:rPr>
              <a:t>never maintains an explicit policy </a:t>
            </a:r>
            <a:r>
              <a:rPr sz="1188" b="0" i="0" dirty="0">
                <a:solidFill>
                  <a:srgbClr val="333639"/>
                </a:solidFill>
                <a:latin typeface="Fira Sans"/>
              </a:rPr>
              <a:t>while it runs. Only once the values have converged do we construct one, by a single greedy pass. Policy iteration, by contrast, carries a policy from the first cycle and improves it</a:t>
            </a:r>
            <a:r>
              <a:rPr lang="it-IT" sz="1188" b="0" i="0" dirty="0">
                <a:solidFill>
                  <a:srgbClr val="333639"/>
                </a:solidFill>
                <a:latin typeface="Fira Sans"/>
              </a:rPr>
              <a:t>, </a:t>
            </a:r>
            <a:r>
              <a:rPr sz="1188" b="0" i="0" dirty="0">
                <a:solidFill>
                  <a:srgbClr val="333639"/>
                </a:solidFill>
                <a:latin typeface="Fira Sans"/>
              </a:rPr>
              <a:t>which is why it can report </a:t>
            </a:r>
            <a:r>
              <a:rPr sz="1188" b="1" i="0" dirty="0">
                <a:solidFill>
                  <a:srgbClr val="25282A"/>
                </a:solidFill>
                <a:latin typeface="Fira Sans"/>
              </a:rPr>
              <a:t>how many policies it examined</a:t>
            </a:r>
            <a:r>
              <a:rPr sz="1188" b="0" i="0" dirty="0">
                <a:solidFill>
                  <a:srgbClr val="333639"/>
                </a:solidFill>
                <a:latin typeface="Fira Sans"/>
              </a:rPr>
              <a:t>, and value iteration cannot.</a:t>
            </a:r>
          </a:p>
        </p:txBody>
      </p:sp>
      <p:sp>
        <p:nvSpPr>
          <p:cNvPr id="14" name="Rectangle 13"/>
          <p:cNvSpPr/>
          <p:nvPr/>
        </p:nvSpPr>
        <p:spPr>
          <a:xfrm>
            <a:off x="841248" y="5181747"/>
            <a:ext cx="10515600" cy="87782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41248" y="5181747"/>
            <a:ext cx="41148" cy="87782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60704" y="5328051"/>
            <a:ext cx="102229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THE RELATIONSHIP BETWEEN THE TWO ALGORITHMS</a:t>
            </a:r>
          </a:p>
        </p:txBody>
      </p:sp>
      <p:sp>
        <p:nvSpPr>
          <p:cNvPr id="17" name="TextBox 16"/>
          <p:cNvSpPr txBox="1"/>
          <p:nvPr/>
        </p:nvSpPr>
        <p:spPr>
          <a:xfrm>
            <a:off x="1060704" y="5565795"/>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dirty="0">
                <a:solidFill>
                  <a:srgbClr val="333639"/>
                </a:solidFill>
                <a:latin typeface="Fira Sans"/>
              </a:rPr>
              <a:t>A useful way to see value iteration: it is policy iteration in which evaluation is truncated after exactly one sweep, and improvement is applied inside that sweep. Neither operation is ever run to completion</a:t>
            </a:r>
            <a:r>
              <a:rPr lang="it-IT" sz="1140" b="0" i="0" dirty="0">
                <a:solidFill>
                  <a:srgbClr val="333639"/>
                </a:solidFill>
                <a:latin typeface="Fira Sans"/>
              </a:rPr>
              <a:t>,</a:t>
            </a:r>
            <a:r>
              <a:rPr sz="1140" b="0" i="0" dirty="0">
                <a:solidFill>
                  <a:srgbClr val="333639"/>
                </a:solidFill>
                <a:latin typeface="Fira Sans"/>
              </a:rPr>
              <a:t> and yet the result is exact.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6.5  VALUE ITERATION IN PYTHON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sweep over all state–action pairs, then keep the best action of each state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VI — Value iteration and GPI</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46</a:t>
            </a:r>
          </a:p>
        </p:txBody>
      </p:sp>
      <p:sp>
        <p:nvSpPr>
          <p:cNvPr id="8" name="Rectangle 7"/>
          <p:cNvSpPr/>
          <p:nvPr/>
        </p:nvSpPr>
        <p:spPr>
          <a:xfrm>
            <a:off x="841248" y="1316736"/>
            <a:ext cx="7223760" cy="4885436"/>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41148" cy="488543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24128" y="1399032"/>
            <a:ext cx="685800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value_iteration</a:t>
            </a:r>
          </a:p>
        </p:txBody>
      </p:sp>
      <p:sp>
        <p:nvSpPr>
          <p:cNvPr id="11" name="TextBox 10"/>
          <p:cNvSpPr txBox="1"/>
          <p:nvPr/>
        </p:nvSpPr>
        <p:spPr>
          <a:xfrm>
            <a:off x="1024128" y="1700784"/>
            <a:ext cx="6912864" cy="4428236"/>
          </a:xfrm>
          <a:prstGeom prst="rect">
            <a:avLst/>
          </a:prstGeom>
          <a:noFill/>
        </p:spPr>
        <p:txBody>
          <a:bodyPr wrap="none" lIns="0" tIns="0" rIns="0" bIns="0" anchor="t">
            <a:noAutofit/>
          </a:bodyPr>
          <a:lstStyle/>
          <a:p>
            <a:pPr marL="0" indent="0" algn="l">
              <a:lnSpc>
                <a:spcPts val="1235"/>
              </a:lnSpc>
              <a:spcBef>
                <a:spcPts val="0"/>
              </a:spcBef>
              <a:spcAft>
                <a:spcPts val="0"/>
              </a:spcAft>
              <a:buNone/>
            </a:pPr>
            <a:r>
              <a:rPr sz="950" b="0" i="0" dirty="0">
                <a:solidFill>
                  <a:srgbClr val="1F2A37"/>
                </a:solidFill>
                <a:latin typeface="Consolas"/>
              </a:rPr>
              <a:t>def </a:t>
            </a:r>
            <a:r>
              <a:rPr sz="950" b="0" i="0" dirty="0" err="1">
                <a:solidFill>
                  <a:srgbClr val="1F2A37"/>
                </a:solidFill>
                <a:latin typeface="Consolas"/>
              </a:rPr>
              <a:t>value_iteration</a:t>
            </a:r>
            <a:r>
              <a:rPr sz="950" b="0" i="0" dirty="0">
                <a:solidFill>
                  <a:srgbClr val="1F2A37"/>
                </a:solidFill>
                <a:latin typeface="Consolas"/>
              </a:rPr>
              <a:t>(env, gamma=0.99, theta=1e-10):</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0" i="0" dirty="0">
                <a:solidFill>
                  <a:srgbClr val="1F2A37"/>
                </a:solidFill>
                <a:latin typeface="Consolas"/>
              </a:rPr>
              <a:t>    dynamics = </a:t>
            </a:r>
            <a:r>
              <a:rPr sz="950" b="0" i="0" dirty="0" err="1">
                <a:solidFill>
                  <a:srgbClr val="1F2A37"/>
                </a:solidFill>
                <a:latin typeface="Consolas"/>
              </a:rPr>
              <a:t>env.unwrapped.P</a:t>
            </a:r>
            <a:endParaRPr sz="950" b="0" i="0" dirty="0">
              <a:solidFill>
                <a:srgbClr val="1F2A37"/>
              </a:solidFill>
              <a:latin typeface="Consolas"/>
            </a:endParaRPr>
          </a:p>
          <a:p>
            <a:pPr marL="0" indent="0" algn="l">
              <a:lnSpc>
                <a:spcPts val="1235"/>
              </a:lnSpc>
              <a:spcBef>
                <a:spcPts val="0"/>
              </a:spcBef>
              <a:spcAft>
                <a:spcPts val="0"/>
              </a:spcAft>
              <a:buNone/>
            </a:pPr>
            <a:r>
              <a:rPr sz="950" b="0" i="0" dirty="0">
                <a:solidFill>
                  <a:srgbClr val="1F2A37"/>
                </a:solidFill>
                <a:latin typeface="Consolas"/>
              </a:rPr>
              <a:t>    V = </a:t>
            </a:r>
            <a:r>
              <a:rPr sz="950" b="0" i="0" dirty="0" err="1">
                <a:solidFill>
                  <a:srgbClr val="1F2A37"/>
                </a:solidFill>
                <a:latin typeface="Consolas"/>
              </a:rPr>
              <a:t>np.zeros</a:t>
            </a:r>
            <a:r>
              <a:rPr sz="950" b="0" i="0" dirty="0">
                <a:solidFill>
                  <a:srgbClr val="1F2A37"/>
                </a:solidFill>
                <a:latin typeface="Consolas"/>
              </a:rPr>
              <a:t>(</a:t>
            </a:r>
            <a:r>
              <a:rPr sz="950" b="0" i="0" dirty="0" err="1">
                <a:solidFill>
                  <a:srgbClr val="1F2A37"/>
                </a:solidFill>
                <a:latin typeface="Consolas"/>
              </a:rPr>
              <a:t>len</a:t>
            </a:r>
            <a:r>
              <a:rPr sz="950" b="0" i="0" dirty="0">
                <a:solidFill>
                  <a:srgbClr val="1F2A37"/>
                </a:solidFill>
                <a:latin typeface="Consolas"/>
              </a:rPr>
              <a:t>(dynamics))         </a:t>
            </a:r>
            <a:r>
              <a:rPr sz="950" b="0" i="1" dirty="0">
                <a:solidFill>
                  <a:srgbClr val="768896"/>
                </a:solidFill>
                <a:latin typeface="Consolas"/>
              </a:rPr>
              <a:t># initialize V_0 arbitrarily</a:t>
            </a:r>
          </a:p>
          <a:p>
            <a:pPr marL="0" indent="0" algn="l">
              <a:lnSpc>
                <a:spcPts val="1235"/>
              </a:lnSpc>
              <a:spcBef>
                <a:spcPts val="0"/>
              </a:spcBef>
              <a:spcAft>
                <a:spcPts val="0"/>
              </a:spcAft>
              <a:buNone/>
            </a:pPr>
            <a:r>
              <a:rPr sz="950" b="0" i="0" dirty="0">
                <a:solidFill>
                  <a:srgbClr val="1F2A37"/>
                </a:solidFill>
                <a:latin typeface="Consolas"/>
              </a:rPr>
              <a:t>    sweeps = 0</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0" i="0" dirty="0">
                <a:solidFill>
                  <a:srgbClr val="1F2A37"/>
                </a:solidFill>
                <a:latin typeface="Consolas"/>
              </a:rPr>
              <a:t>    while True:</a:t>
            </a:r>
          </a:p>
          <a:p>
            <a:pPr marL="0" indent="0" algn="l">
              <a:lnSpc>
                <a:spcPts val="1235"/>
              </a:lnSpc>
              <a:spcBef>
                <a:spcPts val="0"/>
              </a:spcBef>
              <a:spcAft>
                <a:spcPts val="0"/>
              </a:spcAft>
              <a:buNone/>
            </a:pPr>
            <a:r>
              <a:rPr sz="950" b="0" i="0" dirty="0">
                <a:solidFill>
                  <a:srgbClr val="1F2A37"/>
                </a:solidFill>
                <a:latin typeface="Consolas"/>
              </a:rPr>
              <a:t>        Q = </a:t>
            </a:r>
            <a:r>
              <a:rPr sz="950" b="0" i="0" dirty="0" err="1">
                <a:solidFill>
                  <a:srgbClr val="1F2A37"/>
                </a:solidFill>
                <a:latin typeface="Consolas"/>
              </a:rPr>
              <a:t>np.zeros</a:t>
            </a:r>
            <a:r>
              <a:rPr sz="950" b="0" i="0" dirty="0">
                <a:solidFill>
                  <a:srgbClr val="1F2A37"/>
                </a:solidFill>
                <a:latin typeface="Consolas"/>
              </a:rPr>
              <a:t>((</a:t>
            </a:r>
            <a:r>
              <a:rPr sz="950" b="0" i="0" dirty="0" err="1">
                <a:solidFill>
                  <a:srgbClr val="1F2A37"/>
                </a:solidFill>
                <a:latin typeface="Consolas"/>
              </a:rPr>
              <a:t>len</a:t>
            </a:r>
            <a:r>
              <a:rPr sz="950" b="0" i="0" dirty="0">
                <a:solidFill>
                  <a:srgbClr val="1F2A37"/>
                </a:solidFill>
                <a:latin typeface="Consolas"/>
              </a:rPr>
              <a:t>(dynamics), </a:t>
            </a:r>
            <a:r>
              <a:rPr sz="950" b="0" i="0" dirty="0" err="1">
                <a:solidFill>
                  <a:srgbClr val="1F2A37"/>
                </a:solidFill>
                <a:latin typeface="Consolas"/>
              </a:rPr>
              <a:t>env.action_space.n</a:t>
            </a:r>
            <a:r>
              <a:rPr sz="950" b="0" i="0" dirty="0">
                <a:solidFill>
                  <a:srgbClr val="1F2A37"/>
                </a:solidFill>
                <a:latin typeface="Consolas"/>
              </a:rPr>
              <a:t>))</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0" i="0" dirty="0">
                <a:solidFill>
                  <a:srgbClr val="1F2A37"/>
                </a:solidFill>
                <a:latin typeface="Consolas"/>
              </a:rPr>
              <a:t>        for s in range(</a:t>
            </a:r>
            <a:r>
              <a:rPr sz="950" b="0" i="0" dirty="0" err="1">
                <a:solidFill>
                  <a:srgbClr val="1F2A37"/>
                </a:solidFill>
                <a:latin typeface="Consolas"/>
              </a:rPr>
              <a:t>len</a:t>
            </a:r>
            <a:r>
              <a:rPr sz="950" b="0" i="0" dirty="0">
                <a:solidFill>
                  <a:srgbClr val="1F2A37"/>
                </a:solidFill>
                <a:latin typeface="Consolas"/>
              </a:rPr>
              <a:t>(dynamics)):          </a:t>
            </a:r>
            <a:r>
              <a:rPr sz="950" b="0" i="1" dirty="0">
                <a:solidFill>
                  <a:srgbClr val="768896"/>
                </a:solidFill>
                <a:latin typeface="Consolas"/>
              </a:rPr>
              <a:t># sweep over states</a:t>
            </a:r>
          </a:p>
          <a:p>
            <a:pPr marL="0" indent="0" algn="l">
              <a:lnSpc>
                <a:spcPts val="1235"/>
              </a:lnSpc>
              <a:spcBef>
                <a:spcPts val="0"/>
              </a:spcBef>
              <a:spcAft>
                <a:spcPts val="0"/>
              </a:spcAft>
              <a:buNone/>
            </a:pPr>
            <a:r>
              <a:rPr sz="950" b="0" i="0" dirty="0">
                <a:solidFill>
                  <a:srgbClr val="1F2A37"/>
                </a:solidFill>
                <a:latin typeface="Consolas"/>
              </a:rPr>
              <a:t>            for a in range(</a:t>
            </a:r>
            <a:r>
              <a:rPr sz="950" b="0" i="0" dirty="0" err="1">
                <a:solidFill>
                  <a:srgbClr val="1F2A37"/>
                </a:solidFill>
                <a:latin typeface="Consolas"/>
              </a:rPr>
              <a:t>env.action_space.n</a:t>
            </a:r>
            <a:r>
              <a:rPr sz="950" b="0" i="0" dirty="0">
                <a:solidFill>
                  <a:srgbClr val="1F2A37"/>
                </a:solidFill>
                <a:latin typeface="Consolas"/>
              </a:rPr>
              <a:t>): </a:t>
            </a:r>
            <a:r>
              <a:rPr sz="950" b="0" i="1" dirty="0">
                <a:solidFill>
                  <a:srgbClr val="768896"/>
                </a:solidFill>
                <a:latin typeface="Consolas"/>
              </a:rPr>
              <a:t># and over actions</a:t>
            </a:r>
          </a:p>
          <a:p>
            <a:pPr marL="0" indent="0" algn="l">
              <a:lnSpc>
                <a:spcPts val="1235"/>
              </a:lnSpc>
              <a:spcBef>
                <a:spcPts val="0"/>
              </a:spcBef>
              <a:spcAft>
                <a:spcPts val="0"/>
              </a:spcAft>
              <a:buNone/>
            </a:pPr>
            <a:r>
              <a:rPr sz="950" b="0" i="0" dirty="0">
                <a:solidFill>
                  <a:srgbClr val="1F2A37"/>
                </a:solidFill>
                <a:latin typeface="Consolas"/>
              </a:rPr>
              <a:t>                for prob, </a:t>
            </a:r>
            <a:r>
              <a:rPr sz="950" b="0" i="0" dirty="0" err="1">
                <a:solidFill>
                  <a:srgbClr val="1F2A37"/>
                </a:solidFill>
                <a:latin typeface="Consolas"/>
              </a:rPr>
              <a:t>next_state</a:t>
            </a:r>
            <a:r>
              <a:rPr sz="950" b="0" i="0" dirty="0">
                <a:solidFill>
                  <a:srgbClr val="1F2A37"/>
                </a:solidFill>
                <a:latin typeface="Consolas"/>
              </a:rPr>
              <a:t>, reward, done in dynamics[s][a]:</a:t>
            </a:r>
          </a:p>
          <a:p>
            <a:pPr marL="0" indent="0" algn="l">
              <a:lnSpc>
                <a:spcPts val="1235"/>
              </a:lnSpc>
              <a:spcBef>
                <a:spcPts val="0"/>
              </a:spcBef>
              <a:spcAft>
                <a:spcPts val="0"/>
              </a:spcAft>
              <a:buNone/>
            </a:pPr>
            <a:r>
              <a:rPr sz="950" b="0" i="0" dirty="0">
                <a:solidFill>
                  <a:srgbClr val="1F2A37"/>
                </a:solidFill>
                <a:latin typeface="Consolas"/>
              </a:rPr>
              <a:t>                    continuation = 0.0 if done else gamma * V[</a:t>
            </a:r>
            <a:r>
              <a:rPr sz="950" b="0" i="0" dirty="0" err="1">
                <a:solidFill>
                  <a:srgbClr val="1F2A37"/>
                </a:solidFill>
                <a:latin typeface="Consolas"/>
              </a:rPr>
              <a:t>next_state</a:t>
            </a:r>
            <a:r>
              <a:rPr sz="950" b="0" i="0" dirty="0">
                <a:solidFill>
                  <a:srgbClr val="1F2A37"/>
                </a:solidFill>
                <a:latin typeface="Consolas"/>
              </a:rPr>
              <a:t>]</a:t>
            </a:r>
          </a:p>
          <a:p>
            <a:pPr marL="0" indent="0" algn="l">
              <a:lnSpc>
                <a:spcPts val="1235"/>
              </a:lnSpc>
              <a:spcBef>
                <a:spcPts val="0"/>
              </a:spcBef>
              <a:spcAft>
                <a:spcPts val="0"/>
              </a:spcAft>
              <a:buNone/>
            </a:pPr>
            <a:r>
              <a:rPr sz="950" b="0" i="0" dirty="0">
                <a:solidFill>
                  <a:srgbClr val="1F2A37"/>
                </a:solidFill>
                <a:latin typeface="Consolas"/>
              </a:rPr>
              <a:t>                    Q[s, a] += prob * (reward + continuation)</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1" i="0" dirty="0">
                <a:solidFill>
                  <a:srgbClr val="574676"/>
                </a:solidFill>
                <a:latin typeface="Consolas"/>
              </a:rPr>
              <a:t>        </a:t>
            </a:r>
            <a:r>
              <a:rPr sz="950" b="1" i="0" dirty="0" err="1">
                <a:solidFill>
                  <a:srgbClr val="574676"/>
                </a:solidFill>
                <a:latin typeface="Consolas"/>
              </a:rPr>
              <a:t>new_V</a:t>
            </a:r>
            <a:r>
              <a:rPr sz="950" b="1" i="0" dirty="0">
                <a:solidFill>
                  <a:srgbClr val="574676"/>
                </a:solidFill>
                <a:latin typeface="Consolas"/>
              </a:rPr>
              <a:t> = </a:t>
            </a:r>
            <a:r>
              <a:rPr sz="950" b="1" i="0" dirty="0" err="1">
                <a:solidFill>
                  <a:srgbClr val="574676"/>
                </a:solidFill>
                <a:latin typeface="Consolas"/>
              </a:rPr>
              <a:t>np.max</a:t>
            </a:r>
            <a:r>
              <a:rPr sz="950" b="1" i="0" dirty="0">
                <a:solidFill>
                  <a:srgbClr val="574676"/>
                </a:solidFill>
                <a:latin typeface="Consolas"/>
              </a:rPr>
              <a:t>(Q, axis=1)   </a:t>
            </a:r>
            <a:r>
              <a:rPr sz="950" b="0" i="1" dirty="0">
                <a:solidFill>
                  <a:srgbClr val="768896"/>
                </a:solidFill>
                <a:latin typeface="Consolas"/>
              </a:rPr>
              <a:t># keep the best action in each state</a:t>
            </a:r>
          </a:p>
          <a:p>
            <a:pPr marL="0" indent="0" algn="l">
              <a:lnSpc>
                <a:spcPts val="1235"/>
              </a:lnSpc>
              <a:spcBef>
                <a:spcPts val="0"/>
              </a:spcBef>
              <a:spcAft>
                <a:spcPts val="0"/>
              </a:spcAft>
              <a:buNone/>
            </a:pPr>
            <a:r>
              <a:rPr sz="950" b="0" i="0" dirty="0">
                <a:solidFill>
                  <a:srgbClr val="1F2A37"/>
                </a:solidFill>
                <a:latin typeface="Consolas"/>
              </a:rPr>
              <a:t>        delta = </a:t>
            </a:r>
            <a:r>
              <a:rPr sz="950" b="0" i="0" dirty="0" err="1">
                <a:solidFill>
                  <a:srgbClr val="1F2A37"/>
                </a:solidFill>
                <a:latin typeface="Consolas"/>
              </a:rPr>
              <a:t>np.max</a:t>
            </a:r>
            <a:r>
              <a:rPr sz="950" b="0" i="0" dirty="0">
                <a:solidFill>
                  <a:srgbClr val="1F2A37"/>
                </a:solidFill>
                <a:latin typeface="Consolas"/>
              </a:rPr>
              <a:t>(</a:t>
            </a:r>
            <a:r>
              <a:rPr sz="950" b="0" i="0" dirty="0" err="1">
                <a:solidFill>
                  <a:srgbClr val="1F2A37"/>
                </a:solidFill>
                <a:latin typeface="Consolas"/>
              </a:rPr>
              <a:t>np.abs</a:t>
            </a:r>
            <a:r>
              <a:rPr sz="950" b="0" i="0" dirty="0">
                <a:solidFill>
                  <a:srgbClr val="1F2A37"/>
                </a:solidFill>
                <a:latin typeface="Consolas"/>
              </a:rPr>
              <a:t>(</a:t>
            </a:r>
            <a:r>
              <a:rPr sz="950" b="0" i="0" dirty="0" err="1">
                <a:solidFill>
                  <a:srgbClr val="1F2A37"/>
                </a:solidFill>
                <a:latin typeface="Consolas"/>
              </a:rPr>
              <a:t>new_V</a:t>
            </a:r>
            <a:r>
              <a:rPr sz="950" b="0" i="0" dirty="0">
                <a:solidFill>
                  <a:srgbClr val="1F2A37"/>
                </a:solidFill>
                <a:latin typeface="Consolas"/>
              </a:rPr>
              <a:t> - V))</a:t>
            </a:r>
          </a:p>
          <a:p>
            <a:pPr marL="0" indent="0" algn="l">
              <a:lnSpc>
                <a:spcPts val="1235"/>
              </a:lnSpc>
              <a:spcBef>
                <a:spcPts val="0"/>
              </a:spcBef>
              <a:spcAft>
                <a:spcPts val="0"/>
              </a:spcAft>
              <a:buNone/>
            </a:pPr>
            <a:r>
              <a:rPr sz="950" b="0" i="0" dirty="0">
                <a:solidFill>
                  <a:srgbClr val="1F2A37"/>
                </a:solidFill>
                <a:latin typeface="Consolas"/>
              </a:rPr>
              <a:t>        V = </a:t>
            </a:r>
            <a:r>
              <a:rPr sz="950" b="0" i="0" dirty="0" err="1">
                <a:solidFill>
                  <a:srgbClr val="1F2A37"/>
                </a:solidFill>
                <a:latin typeface="Consolas"/>
              </a:rPr>
              <a:t>new_V</a:t>
            </a:r>
            <a:endParaRPr sz="950" b="0" i="0" dirty="0">
              <a:solidFill>
                <a:srgbClr val="1F2A37"/>
              </a:solidFill>
              <a:latin typeface="Consolas"/>
            </a:endParaRPr>
          </a:p>
          <a:p>
            <a:pPr marL="0" indent="0" algn="l">
              <a:lnSpc>
                <a:spcPts val="1235"/>
              </a:lnSpc>
              <a:spcBef>
                <a:spcPts val="0"/>
              </a:spcBef>
              <a:spcAft>
                <a:spcPts val="0"/>
              </a:spcAft>
              <a:buNone/>
            </a:pPr>
            <a:r>
              <a:rPr sz="950" b="0" i="0" dirty="0">
                <a:solidFill>
                  <a:srgbClr val="1F2A37"/>
                </a:solidFill>
                <a:latin typeface="Consolas"/>
              </a:rPr>
              <a:t>        sweeps += 1</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0" i="0" dirty="0">
                <a:solidFill>
                  <a:srgbClr val="1F2A37"/>
                </a:solidFill>
                <a:latin typeface="Consolas"/>
              </a:rPr>
              <a:t>        if delta &lt; theta:</a:t>
            </a:r>
          </a:p>
          <a:p>
            <a:pPr marL="0" indent="0" algn="l">
              <a:lnSpc>
                <a:spcPts val="1235"/>
              </a:lnSpc>
              <a:spcBef>
                <a:spcPts val="0"/>
              </a:spcBef>
              <a:spcAft>
                <a:spcPts val="0"/>
              </a:spcAft>
              <a:buNone/>
            </a:pPr>
            <a:r>
              <a:rPr sz="950" b="0" i="0" dirty="0">
                <a:solidFill>
                  <a:srgbClr val="1F2A37"/>
                </a:solidFill>
                <a:latin typeface="Consolas"/>
              </a:rPr>
              <a:t>            break</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0" i="0" dirty="0">
                <a:solidFill>
                  <a:srgbClr val="1F2A37"/>
                </a:solidFill>
                <a:latin typeface="Consolas"/>
              </a:rPr>
              <a:t>    </a:t>
            </a:r>
            <a:r>
              <a:rPr sz="950" b="0" i="1" dirty="0">
                <a:solidFill>
                  <a:srgbClr val="768896"/>
                </a:solidFill>
                <a:latin typeface="Consolas"/>
              </a:rPr>
              <a:t># only now do we need a policy</a:t>
            </a:r>
          </a:p>
          <a:p>
            <a:pPr marL="0" indent="0" algn="l">
              <a:lnSpc>
                <a:spcPts val="1235"/>
              </a:lnSpc>
              <a:spcBef>
                <a:spcPts val="0"/>
              </a:spcBef>
              <a:spcAft>
                <a:spcPts val="0"/>
              </a:spcAft>
              <a:buNone/>
            </a:pPr>
            <a:r>
              <a:rPr sz="950" b="1" i="0" dirty="0">
                <a:solidFill>
                  <a:srgbClr val="574676"/>
                </a:solidFill>
                <a:latin typeface="Consolas"/>
              </a:rPr>
              <a:t>    def pi(s):</a:t>
            </a:r>
          </a:p>
          <a:p>
            <a:pPr marL="0" indent="0" algn="l">
              <a:lnSpc>
                <a:spcPts val="1235"/>
              </a:lnSpc>
              <a:spcBef>
                <a:spcPts val="0"/>
              </a:spcBef>
              <a:spcAft>
                <a:spcPts val="0"/>
              </a:spcAft>
              <a:buNone/>
            </a:pPr>
            <a:r>
              <a:rPr sz="950" b="1" i="0" dirty="0">
                <a:solidFill>
                  <a:srgbClr val="574676"/>
                </a:solidFill>
                <a:latin typeface="Consolas"/>
              </a:rPr>
              <a:t>        return </a:t>
            </a:r>
            <a:r>
              <a:rPr sz="950" b="1" i="0" dirty="0" err="1">
                <a:solidFill>
                  <a:srgbClr val="574676"/>
                </a:solidFill>
                <a:latin typeface="Consolas"/>
              </a:rPr>
              <a:t>np.argmax</a:t>
            </a:r>
            <a:r>
              <a:rPr sz="950" b="1" i="0" dirty="0">
                <a:solidFill>
                  <a:srgbClr val="574676"/>
                </a:solidFill>
                <a:latin typeface="Consolas"/>
              </a:rPr>
              <a:t>(Q[s])</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0" i="0" dirty="0">
                <a:solidFill>
                  <a:srgbClr val="1F2A37"/>
                </a:solidFill>
                <a:latin typeface="Consolas"/>
              </a:rPr>
              <a:t>    return V, pi, sweeps</a:t>
            </a:r>
          </a:p>
        </p:txBody>
      </p:sp>
      <p:sp>
        <p:nvSpPr>
          <p:cNvPr id="12" name="TextBox 11"/>
          <p:cNvSpPr txBox="1"/>
          <p:nvPr/>
        </p:nvSpPr>
        <p:spPr>
          <a:xfrm>
            <a:off x="8302752" y="1316736"/>
            <a:ext cx="3047969"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DIFFERS FROM POLICY EVALUATION</a:t>
            </a:r>
          </a:p>
        </p:txBody>
      </p:sp>
      <p:sp>
        <p:nvSpPr>
          <p:cNvPr id="13" name="TextBox 12"/>
          <p:cNvSpPr txBox="1"/>
          <p:nvPr/>
        </p:nvSpPr>
        <p:spPr>
          <a:xfrm>
            <a:off x="8302752" y="1572768"/>
            <a:ext cx="3047969" cy="1289405"/>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0" i="0">
                <a:solidFill>
                  <a:srgbClr val="333639"/>
                </a:solidFill>
                <a:latin typeface="Fira Sans"/>
              </a:rPr>
              <a:t>There is </a:t>
            </a:r>
            <a:r>
              <a:rPr sz="1045" b="1" i="0">
                <a:solidFill>
                  <a:srgbClr val="25282A"/>
                </a:solidFill>
                <a:latin typeface="Fira Sans"/>
              </a:rPr>
              <a:t>no policy argument</a:t>
            </a:r>
            <a:r>
              <a:rPr sz="1045" b="0" i="0">
                <a:solidFill>
                  <a:srgbClr val="333639"/>
                </a:solidFill>
                <a:latin typeface="Fira Sans"/>
              </a:rPr>
              <a:t>: the inner loop runs over every action, not the one the policy prescribes.</a:t>
            </a:r>
          </a:p>
          <a:p>
            <a:pPr marL="182880" indent="-182880" algn="l">
              <a:lnSpc>
                <a:spcPts val="1170"/>
              </a:lnSpc>
              <a:spcBef>
                <a:spcPts val="800"/>
              </a:spcBef>
              <a:spcAft>
                <a:spcPts val="0"/>
              </a:spcAft>
              <a:buClr>
                <a:srgbClr val="1971C2"/>
              </a:buClr>
              <a:buFont typeface="Fira Sans"/>
              <a:buChar char="–"/>
            </a:pPr>
            <a:r>
              <a:rPr sz="997" b="0" i="0">
                <a:solidFill>
                  <a:srgbClr val="25282A"/>
                </a:solidFill>
                <a:latin typeface="Consolas"/>
              </a:rPr>
              <a:t>np.max(Q, axis=1)</a:t>
            </a:r>
            <a:r>
              <a:rPr sz="1045" b="0" i="0">
                <a:solidFill>
                  <a:srgbClr val="333639"/>
                </a:solidFill>
                <a:latin typeface="Fira Sans"/>
              </a:rPr>
              <a:t> is the improvement step, applied inside every sweep.</a:t>
            </a:r>
          </a:p>
          <a:p>
            <a:pPr marL="182880" indent="-182880" algn="l">
              <a:lnSpc>
                <a:spcPts val="1170"/>
              </a:lnSpc>
              <a:spcBef>
                <a:spcPts val="800"/>
              </a:spcBef>
              <a:spcAft>
                <a:spcPts val="0"/>
              </a:spcAft>
              <a:buClr>
                <a:srgbClr val="1971C2"/>
              </a:buClr>
              <a:buFont typeface="Fira Sans"/>
              <a:buChar char="–"/>
            </a:pPr>
            <a:r>
              <a:rPr sz="1045" b="0" i="0">
                <a:solidFill>
                  <a:srgbClr val="333639"/>
                </a:solidFill>
                <a:latin typeface="Fira Sans"/>
              </a:rPr>
              <a:t>The greedy policy is extracted </a:t>
            </a:r>
            <a:r>
              <a:rPr sz="1045" b="1" i="0">
                <a:solidFill>
                  <a:srgbClr val="25282A"/>
                </a:solidFill>
                <a:latin typeface="Fira Sans"/>
              </a:rPr>
              <a:t>once</a:t>
            </a:r>
            <a:r>
              <a:rPr sz="1045" b="0" i="0">
                <a:solidFill>
                  <a:srgbClr val="333639"/>
                </a:solidFill>
                <a:latin typeface="Fira Sans"/>
              </a:rPr>
              <a:t>, after convergence, from the last Q computed.</a:t>
            </a:r>
          </a:p>
        </p:txBody>
      </p:sp>
      <p:sp>
        <p:nvSpPr>
          <p:cNvPr id="14" name="Rectangle 13"/>
          <p:cNvSpPr/>
          <p:nvPr/>
        </p:nvSpPr>
        <p:spPr>
          <a:xfrm>
            <a:off x="8302752" y="3099917"/>
            <a:ext cx="3047969" cy="116738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302752" y="3099917"/>
            <a:ext cx="41148" cy="116738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522208" y="3246221"/>
            <a:ext cx="275536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THE TRADE</a:t>
            </a:r>
          </a:p>
        </p:txBody>
      </p:sp>
      <p:sp>
        <p:nvSpPr>
          <p:cNvPr id="17" name="TextBox 16"/>
          <p:cNvSpPr txBox="1"/>
          <p:nvPr/>
        </p:nvSpPr>
        <p:spPr>
          <a:xfrm>
            <a:off x="8522208" y="3483965"/>
            <a:ext cx="2663921"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The cost per sweep is higher — |𝒜| times as many inner loops</a:t>
            </a:r>
            <a:r>
              <a:rPr lang="it-IT" sz="1045" b="0" i="0" dirty="0">
                <a:solidFill>
                  <a:srgbClr val="333639"/>
                </a:solidFill>
                <a:latin typeface="Fira Sans"/>
              </a:rPr>
              <a:t>,</a:t>
            </a:r>
            <a:r>
              <a:rPr sz="1045" b="0" i="0" dirty="0">
                <a:solidFill>
                  <a:srgbClr val="333639"/>
                </a:solidFill>
                <a:latin typeface="Fira Sans"/>
              </a:rPr>
              <a:t> but no sweep is wasted on a policy that is about to be discarded.</a:t>
            </a:r>
          </a:p>
        </p:txBody>
      </p:sp>
      <p:sp>
        <p:nvSpPr>
          <p:cNvPr id="18" name="Rectangle 17"/>
          <p:cNvSpPr/>
          <p:nvPr/>
        </p:nvSpPr>
        <p:spPr>
          <a:xfrm>
            <a:off x="8302752" y="4486757"/>
            <a:ext cx="3047969" cy="1138123"/>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8302752" y="4486757"/>
            <a:ext cx="41148" cy="1138123"/>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522208" y="4633061"/>
            <a:ext cx="275536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A NOTE ON THE CODE</a:t>
            </a:r>
          </a:p>
        </p:txBody>
      </p:sp>
      <p:sp>
        <p:nvSpPr>
          <p:cNvPr id="21" name="TextBox 20"/>
          <p:cNvSpPr txBox="1"/>
          <p:nvPr/>
        </p:nvSpPr>
        <p:spPr>
          <a:xfrm>
            <a:off x="8522208" y="4870805"/>
            <a:ext cx="2663921"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Reusing the last Q to extract the policy is a small implementation shortcut: it is the lookahead on the converged V, so the result is the same.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6.6  POLICY ITERATION VERSUS VALUE ITERATION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Same answer, different distribution of the work</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VI — Value iteration and GPI</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47</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Both algorithms converge to the same optimal value function on Frozen Lake — the optimality gap with respect to Careful+ is zero everywhere, for both. What differs is how the computation is spent.</a:t>
            </a:r>
          </a:p>
        </p:txBody>
      </p:sp>
      <p:sp>
        <p:nvSpPr>
          <p:cNvPr id="9" name="Rectangle 8"/>
          <p:cNvSpPr/>
          <p:nvPr/>
        </p:nvSpPr>
        <p:spPr>
          <a:xfrm>
            <a:off x="841248" y="2006610"/>
            <a:ext cx="10515600" cy="30679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32688" y="2084334"/>
            <a:ext cx="1394460"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endParaRPr/>
          </a:p>
        </p:txBody>
      </p:sp>
      <p:sp>
        <p:nvSpPr>
          <p:cNvPr id="11" name="TextBox 10"/>
          <p:cNvSpPr txBox="1"/>
          <p:nvPr/>
        </p:nvSpPr>
        <p:spPr>
          <a:xfrm>
            <a:off x="2510028" y="2084334"/>
            <a:ext cx="1920240"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Outer iterations</a:t>
            </a:r>
          </a:p>
        </p:txBody>
      </p:sp>
      <p:sp>
        <p:nvSpPr>
          <p:cNvPr id="12" name="TextBox 11"/>
          <p:cNvSpPr txBox="1"/>
          <p:nvPr/>
        </p:nvSpPr>
        <p:spPr>
          <a:xfrm>
            <a:off x="4613148" y="2084334"/>
            <a:ext cx="973836"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Total sweeps</a:t>
            </a:r>
          </a:p>
        </p:txBody>
      </p:sp>
      <p:sp>
        <p:nvSpPr>
          <p:cNvPr id="13" name="TextBox 12"/>
          <p:cNvSpPr txBox="1"/>
          <p:nvPr/>
        </p:nvSpPr>
        <p:spPr>
          <a:xfrm>
            <a:off x="5769864" y="2084334"/>
            <a:ext cx="763524"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Time</a:t>
            </a:r>
          </a:p>
        </p:txBody>
      </p:sp>
      <p:sp>
        <p:nvSpPr>
          <p:cNvPr id="14" name="TextBox 13"/>
          <p:cNvSpPr txBox="1"/>
          <p:nvPr/>
        </p:nvSpPr>
        <p:spPr>
          <a:xfrm>
            <a:off x="6716268" y="2084334"/>
            <a:ext cx="4549140"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Cost per outer iteration</a:t>
            </a:r>
          </a:p>
        </p:txBody>
      </p:sp>
      <p:sp>
        <p:nvSpPr>
          <p:cNvPr id="15" name="TextBox 14"/>
          <p:cNvSpPr txBox="1"/>
          <p:nvPr/>
        </p:nvSpPr>
        <p:spPr>
          <a:xfrm>
            <a:off x="932688" y="2391125"/>
            <a:ext cx="1394460"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Policy iteration</a:t>
            </a:r>
          </a:p>
        </p:txBody>
      </p:sp>
      <p:sp>
        <p:nvSpPr>
          <p:cNvPr id="16" name="TextBox 15"/>
          <p:cNvSpPr txBox="1"/>
          <p:nvPr/>
        </p:nvSpPr>
        <p:spPr>
          <a:xfrm>
            <a:off x="2510028" y="2391125"/>
            <a:ext cx="1920240"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4 evaluate–improve cycles</a:t>
            </a:r>
          </a:p>
        </p:txBody>
      </p:sp>
      <p:sp>
        <p:nvSpPr>
          <p:cNvPr id="17" name="TextBox 16"/>
          <p:cNvSpPr txBox="1"/>
          <p:nvPr/>
        </p:nvSpPr>
        <p:spPr>
          <a:xfrm>
            <a:off x="4613148" y="2391125"/>
            <a:ext cx="973836"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dirty="0">
                <a:solidFill>
                  <a:srgbClr val="333639"/>
                </a:solidFill>
                <a:latin typeface="Fira Sans"/>
              </a:rPr>
              <a:t>1250</a:t>
            </a:r>
          </a:p>
        </p:txBody>
      </p:sp>
      <p:sp>
        <p:nvSpPr>
          <p:cNvPr id="18" name="TextBox 17"/>
          <p:cNvSpPr txBox="1"/>
          <p:nvPr/>
        </p:nvSpPr>
        <p:spPr>
          <a:xfrm>
            <a:off x="5769864" y="2391125"/>
            <a:ext cx="763524"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30.9 ms</a:t>
            </a:r>
          </a:p>
        </p:txBody>
      </p:sp>
      <p:sp>
        <p:nvSpPr>
          <p:cNvPr id="19" name="TextBox 18"/>
          <p:cNvSpPr txBox="1"/>
          <p:nvPr/>
        </p:nvSpPr>
        <p:spPr>
          <a:xfrm>
            <a:off x="6716268" y="2391125"/>
            <a:ext cx="4549140"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O(|𝒮|² (L + |𝒜|))  —  L sweeps of evaluation, then one improvement</a:t>
            </a:r>
          </a:p>
        </p:txBody>
      </p:sp>
      <p:sp>
        <p:nvSpPr>
          <p:cNvPr id="20" name="Rectangle 19"/>
          <p:cNvSpPr/>
          <p:nvPr/>
        </p:nvSpPr>
        <p:spPr>
          <a:xfrm>
            <a:off x="841248" y="2643563"/>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41248" y="2649049"/>
            <a:ext cx="10515600" cy="33564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32688" y="2726773"/>
            <a:ext cx="1394460"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Value iteration</a:t>
            </a:r>
          </a:p>
        </p:txBody>
      </p:sp>
      <p:sp>
        <p:nvSpPr>
          <p:cNvPr id="23" name="TextBox 22"/>
          <p:cNvSpPr txBox="1"/>
          <p:nvPr/>
        </p:nvSpPr>
        <p:spPr>
          <a:xfrm>
            <a:off x="2510028" y="2726773"/>
            <a:ext cx="1920240"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a:t>
            </a:r>
          </a:p>
        </p:txBody>
      </p:sp>
      <p:sp>
        <p:nvSpPr>
          <p:cNvPr id="24" name="TextBox 23"/>
          <p:cNvSpPr txBox="1"/>
          <p:nvPr/>
        </p:nvSpPr>
        <p:spPr>
          <a:xfrm>
            <a:off x="4613148" y="2726773"/>
            <a:ext cx="973836"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571</a:t>
            </a:r>
          </a:p>
        </p:txBody>
      </p:sp>
      <p:sp>
        <p:nvSpPr>
          <p:cNvPr id="25" name="TextBox 24"/>
          <p:cNvSpPr txBox="1"/>
          <p:nvPr/>
        </p:nvSpPr>
        <p:spPr>
          <a:xfrm>
            <a:off x="5769864" y="2726773"/>
            <a:ext cx="763524"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21.3 ms</a:t>
            </a:r>
          </a:p>
        </p:txBody>
      </p:sp>
      <p:sp>
        <p:nvSpPr>
          <p:cNvPr id="26" name="TextBox 25"/>
          <p:cNvSpPr txBox="1"/>
          <p:nvPr/>
        </p:nvSpPr>
        <p:spPr>
          <a:xfrm>
            <a:off x="6716268" y="2726773"/>
            <a:ext cx="4549140"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O(|𝒮|² |𝒜|)  —  every sweep evaluates and improves at once</a:t>
            </a:r>
          </a:p>
        </p:txBody>
      </p:sp>
      <p:sp>
        <p:nvSpPr>
          <p:cNvPr id="27" name="Rectangle 26"/>
          <p:cNvSpPr/>
          <p:nvPr/>
        </p:nvSpPr>
        <p:spPr>
          <a:xfrm>
            <a:off x="841248" y="2979211"/>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eq_cost_pi.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07008" y="3259018"/>
            <a:ext cx="2937510" cy="331470"/>
          </a:xfrm>
          <a:prstGeom prst="rect">
            <a:avLst/>
          </a:prstGeom>
        </p:spPr>
      </p:pic>
      <p:pic>
        <p:nvPicPr>
          <p:cNvPr id="29" name="Picture 28" descr="eq_cost_vi.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91656" y="3259018"/>
            <a:ext cx="2377440" cy="331470"/>
          </a:xfrm>
          <a:prstGeom prst="rect">
            <a:avLst/>
          </a:prstGeom>
        </p:spPr>
      </p:pic>
      <p:sp>
        <p:nvSpPr>
          <p:cNvPr id="30" name="Rectangle 29"/>
          <p:cNvSpPr/>
          <p:nvPr/>
        </p:nvSpPr>
        <p:spPr>
          <a:xfrm>
            <a:off x="841248" y="364306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841248" y="3862522"/>
            <a:ext cx="334670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841248" y="4008826"/>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Policy iteration</a:t>
            </a:r>
          </a:p>
        </p:txBody>
      </p:sp>
      <p:sp>
        <p:nvSpPr>
          <p:cNvPr id="33" name="TextBox 32"/>
          <p:cNvSpPr txBox="1"/>
          <p:nvPr/>
        </p:nvSpPr>
        <p:spPr>
          <a:xfrm>
            <a:off x="841248" y="4301434"/>
            <a:ext cx="3346704" cy="673608"/>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Few but expensive outer iterations. Each policy is evaluated almost to convergence before being improved, so most sweeps refine a policy that will change.</a:t>
            </a:r>
          </a:p>
        </p:txBody>
      </p:sp>
      <p:sp>
        <p:nvSpPr>
          <p:cNvPr id="34" name="Rectangle 33"/>
          <p:cNvSpPr/>
          <p:nvPr/>
        </p:nvSpPr>
        <p:spPr>
          <a:xfrm>
            <a:off x="4425696" y="3862522"/>
            <a:ext cx="3346704"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4425696" y="4008826"/>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Value iteration</a:t>
            </a:r>
          </a:p>
        </p:txBody>
      </p:sp>
      <p:sp>
        <p:nvSpPr>
          <p:cNvPr id="36" name="TextBox 35"/>
          <p:cNvSpPr txBox="1"/>
          <p:nvPr/>
        </p:nvSpPr>
        <p:spPr>
          <a:xfrm>
            <a:off x="4425696" y="4301434"/>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Many but cheaper sweeps. Every sweep immediately incorporates the best action according to the current values, so no sweep is spent on an intermediate policy.</a:t>
            </a:r>
          </a:p>
        </p:txBody>
      </p:sp>
      <p:sp>
        <p:nvSpPr>
          <p:cNvPr id="37" name="Rectangle 36"/>
          <p:cNvSpPr/>
          <p:nvPr/>
        </p:nvSpPr>
        <p:spPr>
          <a:xfrm>
            <a:off x="8010144" y="3862522"/>
            <a:ext cx="3346704"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8010144" y="4008826"/>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Neither always wins</a:t>
            </a:r>
          </a:p>
        </p:txBody>
      </p:sp>
      <p:sp>
        <p:nvSpPr>
          <p:cNvPr id="39" name="TextBox 38"/>
          <p:cNvSpPr txBox="1"/>
          <p:nvPr/>
        </p:nvSpPr>
        <p:spPr>
          <a:xfrm>
            <a:off x="8010144" y="4301434"/>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Value iteration is faster here, but this is not a general rule. When evaluation converges quickly, or |𝒜| is large, policy iteration can be the cheaper of the two.</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6.7  THE EFFECT OF DISCOUNTING</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γ decides not only how much the future counts, but which route is best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03 — Dynamic Programming   ·   Part VI — Value iteration and GPI</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48</a:t>
            </a:r>
          </a:p>
        </p:txBody>
      </p:sp>
      <p:sp>
        <p:nvSpPr>
          <p:cNvPr id="8" name="TextBox 7"/>
          <p:cNvSpPr txBox="1"/>
          <p:nvPr/>
        </p:nvSpPr>
        <p:spPr>
          <a:xfrm>
            <a:off x="841248" y="1316736"/>
            <a:ext cx="10515600"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Frozen Lake pays a reward only on reaching the goal. With no discounting, reaching it after a long detour is worth exactly as much as reaching it quickly. Discounting shrinks the same reward the longer it takes, so it introduces a preference not only for reaching the goal but for </a:t>
            </a:r>
            <a:r>
              <a:rPr sz="1235" b="1" i="0">
                <a:solidFill>
                  <a:srgbClr val="25282A"/>
                </a:solidFill>
                <a:latin typeface="Fira Sans"/>
              </a:rPr>
              <a:t>reaching it sooner</a:t>
            </a:r>
            <a:r>
              <a:rPr sz="1235" b="0" i="0">
                <a:solidFill>
                  <a:srgbClr val="333639"/>
                </a:solidFill>
                <a:latin typeface="Fira Sans"/>
              </a:rPr>
              <a:t>.</a:t>
            </a:r>
          </a:p>
        </p:txBody>
      </p:sp>
      <p:pic>
        <p:nvPicPr>
          <p:cNvPr id="9" name="Picture 8" descr="eq_return.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22154" y="1926354"/>
            <a:ext cx="4120515" cy="349377"/>
          </a:xfrm>
          <a:prstGeom prst="rect">
            <a:avLst/>
          </a:prstGeom>
        </p:spPr>
      </p:pic>
      <p:sp>
        <p:nvSpPr>
          <p:cNvPr id="10" name="TextBox 9"/>
          <p:cNvSpPr txBox="1"/>
          <p:nvPr/>
        </p:nvSpPr>
        <p:spPr>
          <a:xfrm>
            <a:off x="1115568" y="2477909"/>
            <a:ext cx="2898648"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90">
                <a:solidFill>
                  <a:srgbClr val="574676"/>
                </a:solidFill>
                <a:latin typeface="Fira Sans"/>
              </a:rPr>
              <a:t>γ = 1.00   ·   806 SWEEPS</a:t>
            </a:r>
          </a:p>
        </p:txBody>
      </p:sp>
      <p:sp>
        <p:nvSpPr>
          <p:cNvPr id="11" name="Rectangle 10"/>
          <p:cNvSpPr/>
          <p:nvPr/>
        </p:nvSpPr>
        <p:spPr>
          <a:xfrm>
            <a:off x="1115568" y="2752229"/>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52144" y="2770517"/>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0</a:t>
            </a:r>
          </a:p>
        </p:txBody>
      </p:sp>
      <p:sp>
        <p:nvSpPr>
          <p:cNvPr id="13" name="TextBox 12"/>
          <p:cNvSpPr txBox="1"/>
          <p:nvPr/>
        </p:nvSpPr>
        <p:spPr>
          <a:xfrm>
            <a:off x="1115568" y="2925965"/>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0.82</a:t>
            </a:r>
          </a:p>
        </p:txBody>
      </p:sp>
      <p:sp>
        <p:nvSpPr>
          <p:cNvPr id="14" name="Rectangle 13"/>
          <p:cNvSpPr/>
          <p:nvPr/>
        </p:nvSpPr>
        <p:spPr>
          <a:xfrm>
            <a:off x="1645919" y="2752229"/>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682495" y="2770517"/>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a:t>
            </a:r>
          </a:p>
        </p:txBody>
      </p:sp>
      <p:sp>
        <p:nvSpPr>
          <p:cNvPr id="16" name="TextBox 15"/>
          <p:cNvSpPr txBox="1"/>
          <p:nvPr/>
        </p:nvSpPr>
        <p:spPr>
          <a:xfrm>
            <a:off x="1645919" y="2925965"/>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0.82</a:t>
            </a:r>
          </a:p>
        </p:txBody>
      </p:sp>
      <p:sp>
        <p:nvSpPr>
          <p:cNvPr id="17" name="Rectangle 16"/>
          <p:cNvSpPr/>
          <p:nvPr/>
        </p:nvSpPr>
        <p:spPr>
          <a:xfrm>
            <a:off x="2176272" y="2752229"/>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2212848" y="2770517"/>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2</a:t>
            </a:r>
          </a:p>
        </p:txBody>
      </p:sp>
      <p:sp>
        <p:nvSpPr>
          <p:cNvPr id="19" name="TextBox 18"/>
          <p:cNvSpPr txBox="1"/>
          <p:nvPr/>
        </p:nvSpPr>
        <p:spPr>
          <a:xfrm>
            <a:off x="2176272" y="2925965"/>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0.82</a:t>
            </a:r>
          </a:p>
        </p:txBody>
      </p:sp>
      <p:sp>
        <p:nvSpPr>
          <p:cNvPr id="20" name="Rectangle 19"/>
          <p:cNvSpPr/>
          <p:nvPr/>
        </p:nvSpPr>
        <p:spPr>
          <a:xfrm>
            <a:off x="2706624" y="2752229"/>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2743200" y="2770517"/>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3</a:t>
            </a:r>
          </a:p>
        </p:txBody>
      </p:sp>
      <p:sp>
        <p:nvSpPr>
          <p:cNvPr id="22" name="TextBox 21"/>
          <p:cNvSpPr txBox="1"/>
          <p:nvPr/>
        </p:nvSpPr>
        <p:spPr>
          <a:xfrm>
            <a:off x="2706624" y="2925965"/>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0.82</a:t>
            </a:r>
          </a:p>
        </p:txBody>
      </p:sp>
      <p:sp>
        <p:nvSpPr>
          <p:cNvPr id="23" name="Rectangle 22"/>
          <p:cNvSpPr/>
          <p:nvPr/>
        </p:nvSpPr>
        <p:spPr>
          <a:xfrm>
            <a:off x="1115568" y="3282581"/>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152144" y="3300869"/>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4</a:t>
            </a:r>
          </a:p>
        </p:txBody>
      </p:sp>
      <p:sp>
        <p:nvSpPr>
          <p:cNvPr id="25" name="TextBox 24"/>
          <p:cNvSpPr txBox="1"/>
          <p:nvPr/>
        </p:nvSpPr>
        <p:spPr>
          <a:xfrm>
            <a:off x="1115568" y="3456317"/>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0.82</a:t>
            </a:r>
          </a:p>
        </p:txBody>
      </p:sp>
      <p:sp>
        <p:nvSpPr>
          <p:cNvPr id="26" name="Rectangle 25"/>
          <p:cNvSpPr/>
          <p:nvPr/>
        </p:nvSpPr>
        <p:spPr>
          <a:xfrm>
            <a:off x="1645919" y="3282581"/>
            <a:ext cx="530352" cy="530352"/>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682495" y="3300869"/>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5</a:t>
            </a:r>
          </a:p>
        </p:txBody>
      </p:sp>
      <p:sp>
        <p:nvSpPr>
          <p:cNvPr id="28" name="TextBox 27"/>
          <p:cNvSpPr txBox="1"/>
          <p:nvPr/>
        </p:nvSpPr>
        <p:spPr>
          <a:xfrm>
            <a:off x="1645919" y="3456317"/>
            <a:ext cx="530352"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29" name="Rectangle 28"/>
          <p:cNvSpPr/>
          <p:nvPr/>
        </p:nvSpPr>
        <p:spPr>
          <a:xfrm>
            <a:off x="2176272" y="3282581"/>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2212848" y="3300869"/>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6</a:t>
            </a:r>
          </a:p>
        </p:txBody>
      </p:sp>
      <p:sp>
        <p:nvSpPr>
          <p:cNvPr id="31" name="TextBox 30"/>
          <p:cNvSpPr txBox="1"/>
          <p:nvPr/>
        </p:nvSpPr>
        <p:spPr>
          <a:xfrm>
            <a:off x="2176272" y="3456317"/>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0.53</a:t>
            </a:r>
          </a:p>
        </p:txBody>
      </p:sp>
      <p:sp>
        <p:nvSpPr>
          <p:cNvPr id="32" name="Rectangle 31"/>
          <p:cNvSpPr/>
          <p:nvPr/>
        </p:nvSpPr>
        <p:spPr>
          <a:xfrm>
            <a:off x="2706624" y="3282581"/>
            <a:ext cx="530352" cy="530352"/>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2743200" y="3300869"/>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7</a:t>
            </a:r>
          </a:p>
        </p:txBody>
      </p:sp>
      <p:sp>
        <p:nvSpPr>
          <p:cNvPr id="34" name="TextBox 33"/>
          <p:cNvSpPr txBox="1"/>
          <p:nvPr/>
        </p:nvSpPr>
        <p:spPr>
          <a:xfrm>
            <a:off x="2706624" y="3456317"/>
            <a:ext cx="530352"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35" name="Rectangle 34"/>
          <p:cNvSpPr/>
          <p:nvPr/>
        </p:nvSpPr>
        <p:spPr>
          <a:xfrm>
            <a:off x="1115568" y="3812933"/>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1152144" y="3831221"/>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8</a:t>
            </a:r>
          </a:p>
        </p:txBody>
      </p:sp>
      <p:sp>
        <p:nvSpPr>
          <p:cNvPr id="37" name="TextBox 36"/>
          <p:cNvSpPr txBox="1"/>
          <p:nvPr/>
        </p:nvSpPr>
        <p:spPr>
          <a:xfrm>
            <a:off x="1115568" y="3986669"/>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0.82</a:t>
            </a:r>
          </a:p>
        </p:txBody>
      </p:sp>
      <p:sp>
        <p:nvSpPr>
          <p:cNvPr id="38" name="Rectangle 37"/>
          <p:cNvSpPr/>
          <p:nvPr/>
        </p:nvSpPr>
        <p:spPr>
          <a:xfrm>
            <a:off x="1645919" y="3812933"/>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1682495" y="3831221"/>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9</a:t>
            </a:r>
          </a:p>
        </p:txBody>
      </p:sp>
      <p:sp>
        <p:nvSpPr>
          <p:cNvPr id="40" name="TextBox 39"/>
          <p:cNvSpPr txBox="1"/>
          <p:nvPr/>
        </p:nvSpPr>
        <p:spPr>
          <a:xfrm>
            <a:off x="1645919" y="3986669"/>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0.82</a:t>
            </a:r>
          </a:p>
        </p:txBody>
      </p:sp>
      <p:sp>
        <p:nvSpPr>
          <p:cNvPr id="41" name="Rectangle 40"/>
          <p:cNvSpPr/>
          <p:nvPr/>
        </p:nvSpPr>
        <p:spPr>
          <a:xfrm>
            <a:off x="2176272" y="3812933"/>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2212848" y="3831221"/>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10</a:t>
            </a:r>
          </a:p>
        </p:txBody>
      </p:sp>
      <p:sp>
        <p:nvSpPr>
          <p:cNvPr id="43" name="TextBox 42"/>
          <p:cNvSpPr txBox="1"/>
          <p:nvPr/>
        </p:nvSpPr>
        <p:spPr>
          <a:xfrm>
            <a:off x="2176272" y="3986669"/>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0.76</a:t>
            </a:r>
          </a:p>
        </p:txBody>
      </p:sp>
      <p:sp>
        <p:nvSpPr>
          <p:cNvPr id="44" name="Rectangle 43"/>
          <p:cNvSpPr/>
          <p:nvPr/>
        </p:nvSpPr>
        <p:spPr>
          <a:xfrm>
            <a:off x="2706624" y="3812933"/>
            <a:ext cx="530352" cy="530352"/>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2743200" y="3831221"/>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11</a:t>
            </a:r>
          </a:p>
        </p:txBody>
      </p:sp>
      <p:sp>
        <p:nvSpPr>
          <p:cNvPr id="46" name="TextBox 45"/>
          <p:cNvSpPr txBox="1"/>
          <p:nvPr/>
        </p:nvSpPr>
        <p:spPr>
          <a:xfrm>
            <a:off x="2706624" y="3986669"/>
            <a:ext cx="530352"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47" name="Rectangle 46"/>
          <p:cNvSpPr/>
          <p:nvPr/>
        </p:nvSpPr>
        <p:spPr>
          <a:xfrm>
            <a:off x="1115568" y="4343285"/>
            <a:ext cx="530352" cy="530352"/>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1152144" y="4361573"/>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12</a:t>
            </a:r>
          </a:p>
        </p:txBody>
      </p:sp>
      <p:sp>
        <p:nvSpPr>
          <p:cNvPr id="49" name="TextBox 48"/>
          <p:cNvSpPr txBox="1"/>
          <p:nvPr/>
        </p:nvSpPr>
        <p:spPr>
          <a:xfrm>
            <a:off x="1115568" y="4517021"/>
            <a:ext cx="530352"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50" name="Rectangle 49"/>
          <p:cNvSpPr/>
          <p:nvPr/>
        </p:nvSpPr>
        <p:spPr>
          <a:xfrm>
            <a:off x="1645919" y="4343285"/>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1682495" y="4361573"/>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13</a:t>
            </a:r>
          </a:p>
        </p:txBody>
      </p:sp>
      <p:sp>
        <p:nvSpPr>
          <p:cNvPr id="52" name="TextBox 51"/>
          <p:cNvSpPr txBox="1"/>
          <p:nvPr/>
        </p:nvSpPr>
        <p:spPr>
          <a:xfrm>
            <a:off x="1645919" y="4517021"/>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0.88</a:t>
            </a:r>
          </a:p>
        </p:txBody>
      </p:sp>
      <p:sp>
        <p:nvSpPr>
          <p:cNvPr id="53" name="Rectangle 52"/>
          <p:cNvSpPr/>
          <p:nvPr/>
        </p:nvSpPr>
        <p:spPr>
          <a:xfrm>
            <a:off x="2176272" y="4343285"/>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2212848" y="4361573"/>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14</a:t>
            </a:r>
          </a:p>
        </p:txBody>
      </p:sp>
      <p:sp>
        <p:nvSpPr>
          <p:cNvPr id="55" name="TextBox 54"/>
          <p:cNvSpPr txBox="1"/>
          <p:nvPr/>
        </p:nvSpPr>
        <p:spPr>
          <a:xfrm>
            <a:off x="2176272" y="4517021"/>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0.94</a:t>
            </a:r>
          </a:p>
        </p:txBody>
      </p:sp>
      <p:sp>
        <p:nvSpPr>
          <p:cNvPr id="56" name="Rectangle 55"/>
          <p:cNvSpPr/>
          <p:nvPr/>
        </p:nvSpPr>
        <p:spPr>
          <a:xfrm>
            <a:off x="2706624" y="4343285"/>
            <a:ext cx="530352" cy="530352"/>
          </a:xfrm>
          <a:prstGeom prst="rect">
            <a:avLst/>
          </a:prstGeom>
          <a:solidFill>
            <a:srgbClr val="EAF2EB"/>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2743200" y="4361573"/>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15</a:t>
            </a:r>
          </a:p>
        </p:txBody>
      </p:sp>
      <p:sp>
        <p:nvSpPr>
          <p:cNvPr id="58" name="TextBox 57"/>
          <p:cNvSpPr txBox="1"/>
          <p:nvPr/>
        </p:nvSpPr>
        <p:spPr>
          <a:xfrm>
            <a:off x="2706624" y="4517021"/>
            <a:ext cx="530352"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2B7A3E"/>
                </a:solidFill>
                <a:latin typeface="Fira Sans"/>
              </a:rPr>
              <a:t>goal</a:t>
            </a:r>
          </a:p>
        </p:txBody>
      </p:sp>
      <p:sp>
        <p:nvSpPr>
          <p:cNvPr id="59" name="TextBox 58"/>
          <p:cNvSpPr txBox="1"/>
          <p:nvPr/>
        </p:nvSpPr>
        <p:spPr>
          <a:xfrm>
            <a:off x="4133088" y="2477909"/>
            <a:ext cx="2898648"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90">
                <a:solidFill>
                  <a:srgbClr val="C8102E"/>
                </a:solidFill>
                <a:latin typeface="Fira Sans"/>
              </a:rPr>
              <a:t>γ = 0.95   ·   241 SWEEPS</a:t>
            </a:r>
          </a:p>
        </p:txBody>
      </p:sp>
      <p:sp>
        <p:nvSpPr>
          <p:cNvPr id="60" name="Rectangle 59"/>
          <p:cNvSpPr/>
          <p:nvPr/>
        </p:nvSpPr>
        <p:spPr>
          <a:xfrm>
            <a:off x="4133088" y="2752229"/>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4169664" y="2770517"/>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0</a:t>
            </a:r>
          </a:p>
        </p:txBody>
      </p:sp>
      <p:sp>
        <p:nvSpPr>
          <p:cNvPr id="62" name="TextBox 61"/>
          <p:cNvSpPr txBox="1"/>
          <p:nvPr/>
        </p:nvSpPr>
        <p:spPr>
          <a:xfrm>
            <a:off x="4133088" y="2925965"/>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0.18</a:t>
            </a:r>
          </a:p>
        </p:txBody>
      </p:sp>
      <p:sp>
        <p:nvSpPr>
          <p:cNvPr id="63" name="Rectangle 62"/>
          <p:cNvSpPr/>
          <p:nvPr/>
        </p:nvSpPr>
        <p:spPr>
          <a:xfrm>
            <a:off x="4663440" y="2752229"/>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4700016" y="2770517"/>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a:t>
            </a:r>
          </a:p>
        </p:txBody>
      </p:sp>
      <p:sp>
        <p:nvSpPr>
          <p:cNvPr id="65" name="TextBox 64"/>
          <p:cNvSpPr txBox="1"/>
          <p:nvPr/>
        </p:nvSpPr>
        <p:spPr>
          <a:xfrm>
            <a:off x="4663440" y="2925965"/>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0.15</a:t>
            </a:r>
          </a:p>
        </p:txBody>
      </p:sp>
      <p:sp>
        <p:nvSpPr>
          <p:cNvPr id="66" name="Rectangle 65"/>
          <p:cNvSpPr/>
          <p:nvPr/>
        </p:nvSpPr>
        <p:spPr>
          <a:xfrm>
            <a:off x="5193792" y="2752229"/>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Box 66"/>
          <p:cNvSpPr txBox="1"/>
          <p:nvPr/>
        </p:nvSpPr>
        <p:spPr>
          <a:xfrm>
            <a:off x="5230368" y="2770517"/>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2</a:t>
            </a:r>
          </a:p>
        </p:txBody>
      </p:sp>
      <p:sp>
        <p:nvSpPr>
          <p:cNvPr id="68" name="TextBox 67"/>
          <p:cNvSpPr txBox="1"/>
          <p:nvPr/>
        </p:nvSpPr>
        <p:spPr>
          <a:xfrm>
            <a:off x="5193792" y="2925965"/>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0.15</a:t>
            </a:r>
          </a:p>
        </p:txBody>
      </p:sp>
      <p:sp>
        <p:nvSpPr>
          <p:cNvPr id="69" name="Rectangle 68"/>
          <p:cNvSpPr/>
          <p:nvPr/>
        </p:nvSpPr>
        <p:spPr>
          <a:xfrm>
            <a:off x="5724144" y="2752229"/>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p:cNvSpPr txBox="1"/>
          <p:nvPr/>
        </p:nvSpPr>
        <p:spPr>
          <a:xfrm>
            <a:off x="5760720" y="2770517"/>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3</a:t>
            </a:r>
          </a:p>
        </p:txBody>
      </p:sp>
      <p:sp>
        <p:nvSpPr>
          <p:cNvPr id="71" name="TextBox 70"/>
          <p:cNvSpPr txBox="1"/>
          <p:nvPr/>
        </p:nvSpPr>
        <p:spPr>
          <a:xfrm>
            <a:off x="5724144" y="2925965"/>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0.13</a:t>
            </a:r>
          </a:p>
        </p:txBody>
      </p:sp>
      <p:sp>
        <p:nvSpPr>
          <p:cNvPr id="72" name="Rectangle 71"/>
          <p:cNvSpPr/>
          <p:nvPr/>
        </p:nvSpPr>
        <p:spPr>
          <a:xfrm>
            <a:off x="4133088" y="3282581"/>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Box 72"/>
          <p:cNvSpPr txBox="1"/>
          <p:nvPr/>
        </p:nvSpPr>
        <p:spPr>
          <a:xfrm>
            <a:off x="4169664" y="3300869"/>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4</a:t>
            </a:r>
          </a:p>
        </p:txBody>
      </p:sp>
      <p:sp>
        <p:nvSpPr>
          <p:cNvPr id="74" name="TextBox 73"/>
          <p:cNvSpPr txBox="1"/>
          <p:nvPr/>
        </p:nvSpPr>
        <p:spPr>
          <a:xfrm>
            <a:off x="4133088" y="3456317"/>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0.21</a:t>
            </a:r>
          </a:p>
        </p:txBody>
      </p:sp>
      <p:sp>
        <p:nvSpPr>
          <p:cNvPr id="75" name="Rectangle 74"/>
          <p:cNvSpPr/>
          <p:nvPr/>
        </p:nvSpPr>
        <p:spPr>
          <a:xfrm>
            <a:off x="4663440" y="3282581"/>
            <a:ext cx="530352" cy="530352"/>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Box 75"/>
          <p:cNvSpPr txBox="1"/>
          <p:nvPr/>
        </p:nvSpPr>
        <p:spPr>
          <a:xfrm>
            <a:off x="4700016" y="3300869"/>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5</a:t>
            </a:r>
          </a:p>
        </p:txBody>
      </p:sp>
      <p:sp>
        <p:nvSpPr>
          <p:cNvPr id="77" name="TextBox 76"/>
          <p:cNvSpPr txBox="1"/>
          <p:nvPr/>
        </p:nvSpPr>
        <p:spPr>
          <a:xfrm>
            <a:off x="4663440" y="3456317"/>
            <a:ext cx="530352"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78" name="Rectangle 77"/>
          <p:cNvSpPr/>
          <p:nvPr/>
        </p:nvSpPr>
        <p:spPr>
          <a:xfrm>
            <a:off x="5193792" y="3282581"/>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TextBox 78"/>
          <p:cNvSpPr txBox="1"/>
          <p:nvPr/>
        </p:nvSpPr>
        <p:spPr>
          <a:xfrm>
            <a:off x="5230368" y="3300869"/>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6</a:t>
            </a:r>
          </a:p>
        </p:txBody>
      </p:sp>
      <p:sp>
        <p:nvSpPr>
          <p:cNvPr id="80" name="TextBox 79"/>
          <p:cNvSpPr txBox="1"/>
          <p:nvPr/>
        </p:nvSpPr>
        <p:spPr>
          <a:xfrm>
            <a:off x="5193792" y="3456317"/>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0.18</a:t>
            </a:r>
          </a:p>
        </p:txBody>
      </p:sp>
      <p:sp>
        <p:nvSpPr>
          <p:cNvPr id="81" name="Rectangle 80"/>
          <p:cNvSpPr/>
          <p:nvPr/>
        </p:nvSpPr>
        <p:spPr>
          <a:xfrm>
            <a:off x="5724144" y="3282581"/>
            <a:ext cx="530352" cy="530352"/>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Box 81"/>
          <p:cNvSpPr txBox="1"/>
          <p:nvPr/>
        </p:nvSpPr>
        <p:spPr>
          <a:xfrm>
            <a:off x="5760720" y="3300869"/>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7</a:t>
            </a:r>
          </a:p>
        </p:txBody>
      </p:sp>
      <p:sp>
        <p:nvSpPr>
          <p:cNvPr id="83" name="TextBox 82"/>
          <p:cNvSpPr txBox="1"/>
          <p:nvPr/>
        </p:nvSpPr>
        <p:spPr>
          <a:xfrm>
            <a:off x="5724144" y="3456317"/>
            <a:ext cx="530352"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84" name="Rectangle 83"/>
          <p:cNvSpPr/>
          <p:nvPr/>
        </p:nvSpPr>
        <p:spPr>
          <a:xfrm>
            <a:off x="4133088" y="3812933"/>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TextBox 84"/>
          <p:cNvSpPr txBox="1"/>
          <p:nvPr/>
        </p:nvSpPr>
        <p:spPr>
          <a:xfrm>
            <a:off x="4169664" y="3831221"/>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8</a:t>
            </a:r>
          </a:p>
        </p:txBody>
      </p:sp>
      <p:sp>
        <p:nvSpPr>
          <p:cNvPr id="86" name="TextBox 85"/>
          <p:cNvSpPr txBox="1"/>
          <p:nvPr/>
        </p:nvSpPr>
        <p:spPr>
          <a:xfrm>
            <a:off x="4133088" y="3986669"/>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0.27</a:t>
            </a:r>
          </a:p>
        </p:txBody>
      </p:sp>
      <p:sp>
        <p:nvSpPr>
          <p:cNvPr id="87" name="Rectangle 86"/>
          <p:cNvSpPr/>
          <p:nvPr/>
        </p:nvSpPr>
        <p:spPr>
          <a:xfrm>
            <a:off x="4663440" y="3812933"/>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TextBox 87"/>
          <p:cNvSpPr txBox="1"/>
          <p:nvPr/>
        </p:nvSpPr>
        <p:spPr>
          <a:xfrm>
            <a:off x="4700016" y="3831221"/>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9</a:t>
            </a:r>
          </a:p>
        </p:txBody>
      </p:sp>
      <p:sp>
        <p:nvSpPr>
          <p:cNvPr id="89" name="TextBox 88"/>
          <p:cNvSpPr txBox="1"/>
          <p:nvPr/>
        </p:nvSpPr>
        <p:spPr>
          <a:xfrm>
            <a:off x="4663440" y="3986669"/>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0.37</a:t>
            </a:r>
          </a:p>
        </p:txBody>
      </p:sp>
      <p:sp>
        <p:nvSpPr>
          <p:cNvPr id="90" name="Rectangle 89"/>
          <p:cNvSpPr/>
          <p:nvPr/>
        </p:nvSpPr>
        <p:spPr>
          <a:xfrm>
            <a:off x="5193792" y="3812933"/>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TextBox 90"/>
          <p:cNvSpPr txBox="1"/>
          <p:nvPr/>
        </p:nvSpPr>
        <p:spPr>
          <a:xfrm>
            <a:off x="5230368" y="3831221"/>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10</a:t>
            </a:r>
          </a:p>
        </p:txBody>
      </p:sp>
      <p:sp>
        <p:nvSpPr>
          <p:cNvPr id="92" name="TextBox 91"/>
          <p:cNvSpPr txBox="1"/>
          <p:nvPr/>
        </p:nvSpPr>
        <p:spPr>
          <a:xfrm>
            <a:off x="5193792" y="3986669"/>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0.40</a:t>
            </a:r>
          </a:p>
        </p:txBody>
      </p:sp>
      <p:sp>
        <p:nvSpPr>
          <p:cNvPr id="93" name="Rectangle 92"/>
          <p:cNvSpPr/>
          <p:nvPr/>
        </p:nvSpPr>
        <p:spPr>
          <a:xfrm>
            <a:off x="5724144" y="3812933"/>
            <a:ext cx="530352" cy="530352"/>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TextBox 93"/>
          <p:cNvSpPr txBox="1"/>
          <p:nvPr/>
        </p:nvSpPr>
        <p:spPr>
          <a:xfrm>
            <a:off x="5760720" y="3831221"/>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11</a:t>
            </a:r>
          </a:p>
        </p:txBody>
      </p:sp>
      <p:sp>
        <p:nvSpPr>
          <p:cNvPr id="95" name="TextBox 94"/>
          <p:cNvSpPr txBox="1"/>
          <p:nvPr/>
        </p:nvSpPr>
        <p:spPr>
          <a:xfrm>
            <a:off x="5724144" y="3986669"/>
            <a:ext cx="530352"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96" name="Rectangle 95"/>
          <p:cNvSpPr/>
          <p:nvPr/>
        </p:nvSpPr>
        <p:spPr>
          <a:xfrm>
            <a:off x="4133088" y="4343285"/>
            <a:ext cx="530352" cy="530352"/>
          </a:xfrm>
          <a:prstGeom prst="rect">
            <a:avLst/>
          </a:prstGeom>
          <a:solidFill>
            <a:srgbClr val="F5F5F3"/>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TextBox 96"/>
          <p:cNvSpPr txBox="1"/>
          <p:nvPr/>
        </p:nvSpPr>
        <p:spPr>
          <a:xfrm>
            <a:off x="4169664" y="4361573"/>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12</a:t>
            </a:r>
          </a:p>
        </p:txBody>
      </p:sp>
      <p:sp>
        <p:nvSpPr>
          <p:cNvPr id="98" name="TextBox 97"/>
          <p:cNvSpPr txBox="1"/>
          <p:nvPr/>
        </p:nvSpPr>
        <p:spPr>
          <a:xfrm>
            <a:off x="4133088" y="4517021"/>
            <a:ext cx="530352"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8E9295"/>
                </a:solidFill>
                <a:latin typeface="Fira Sans"/>
              </a:rPr>
              <a:t>hole</a:t>
            </a:r>
          </a:p>
        </p:txBody>
      </p:sp>
      <p:sp>
        <p:nvSpPr>
          <p:cNvPr id="99" name="Rectangle 98"/>
          <p:cNvSpPr/>
          <p:nvPr/>
        </p:nvSpPr>
        <p:spPr>
          <a:xfrm>
            <a:off x="4663440" y="4343285"/>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Box 99"/>
          <p:cNvSpPr txBox="1"/>
          <p:nvPr/>
        </p:nvSpPr>
        <p:spPr>
          <a:xfrm>
            <a:off x="4700016" y="4361573"/>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13</a:t>
            </a:r>
          </a:p>
        </p:txBody>
      </p:sp>
      <p:sp>
        <p:nvSpPr>
          <p:cNvPr id="101" name="TextBox 100"/>
          <p:cNvSpPr txBox="1"/>
          <p:nvPr/>
        </p:nvSpPr>
        <p:spPr>
          <a:xfrm>
            <a:off x="4663440" y="4517021"/>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0.51</a:t>
            </a:r>
          </a:p>
        </p:txBody>
      </p:sp>
      <p:sp>
        <p:nvSpPr>
          <p:cNvPr id="102" name="Rectangle 101"/>
          <p:cNvSpPr/>
          <p:nvPr/>
        </p:nvSpPr>
        <p:spPr>
          <a:xfrm>
            <a:off x="5193792" y="4343285"/>
            <a:ext cx="530352" cy="530352"/>
          </a:xfrm>
          <a:prstGeom prst="rect">
            <a:avLst/>
          </a:prstGeom>
          <a:solidFill>
            <a:srgbClr val="FFFFFF"/>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TextBox 102"/>
          <p:cNvSpPr txBox="1"/>
          <p:nvPr/>
        </p:nvSpPr>
        <p:spPr>
          <a:xfrm>
            <a:off x="5230368" y="4361573"/>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14</a:t>
            </a:r>
          </a:p>
        </p:txBody>
      </p:sp>
      <p:sp>
        <p:nvSpPr>
          <p:cNvPr id="104" name="TextBox 103"/>
          <p:cNvSpPr txBox="1"/>
          <p:nvPr/>
        </p:nvSpPr>
        <p:spPr>
          <a:xfrm>
            <a:off x="5193792" y="4517021"/>
            <a:ext cx="530352" cy="219456"/>
          </a:xfrm>
          <a:prstGeom prst="rect">
            <a:avLst/>
          </a:prstGeom>
          <a:noFill/>
        </p:spPr>
        <p:txBody>
          <a:bodyPr wrap="square" lIns="0" tIns="0" rIns="0" bIns="0" anchor="ctr">
            <a:noAutofit/>
          </a:bodyPr>
          <a:lstStyle/>
          <a:p>
            <a:pPr marL="0" indent="0" algn="ctr">
              <a:lnSpc>
                <a:spcPts val="1092"/>
              </a:lnSpc>
              <a:spcBef>
                <a:spcPts val="0"/>
              </a:spcBef>
              <a:spcAft>
                <a:spcPts val="0"/>
              </a:spcAft>
              <a:buNone/>
            </a:pPr>
            <a:r>
              <a:rPr sz="1092" b="0" i="0">
                <a:solidFill>
                  <a:srgbClr val="333639"/>
                </a:solidFill>
                <a:latin typeface="Fira Sans"/>
              </a:rPr>
              <a:t>0.72</a:t>
            </a:r>
          </a:p>
        </p:txBody>
      </p:sp>
      <p:sp>
        <p:nvSpPr>
          <p:cNvPr id="105" name="Rectangle 104"/>
          <p:cNvSpPr/>
          <p:nvPr/>
        </p:nvSpPr>
        <p:spPr>
          <a:xfrm>
            <a:off x="5724144" y="4343285"/>
            <a:ext cx="530352" cy="530352"/>
          </a:xfrm>
          <a:prstGeom prst="rect">
            <a:avLst/>
          </a:prstGeom>
          <a:solidFill>
            <a:srgbClr val="EAF2EB"/>
          </a:solidFill>
          <a:ln w="635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Box 105"/>
          <p:cNvSpPr txBox="1"/>
          <p:nvPr/>
        </p:nvSpPr>
        <p:spPr>
          <a:xfrm>
            <a:off x="5760720" y="4361573"/>
            <a:ext cx="457199" cy="146304"/>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0" i="0">
                <a:solidFill>
                  <a:srgbClr val="8E9295"/>
                </a:solidFill>
                <a:latin typeface="Fira Sans"/>
              </a:rPr>
              <a:t>15</a:t>
            </a:r>
          </a:p>
        </p:txBody>
      </p:sp>
      <p:sp>
        <p:nvSpPr>
          <p:cNvPr id="107" name="TextBox 106"/>
          <p:cNvSpPr txBox="1"/>
          <p:nvPr/>
        </p:nvSpPr>
        <p:spPr>
          <a:xfrm>
            <a:off x="5724144" y="4517021"/>
            <a:ext cx="530352" cy="219456"/>
          </a:xfrm>
          <a:prstGeom prst="rect">
            <a:avLst/>
          </a:prstGeom>
          <a:noFill/>
        </p:spPr>
        <p:txBody>
          <a:bodyPr wrap="square" lIns="0" tIns="0" rIns="0" bIns="0" anchor="ctr">
            <a:noAutofit/>
          </a:bodyPr>
          <a:lstStyle/>
          <a:p>
            <a:pPr marL="0" indent="0" algn="ctr">
              <a:lnSpc>
                <a:spcPts val="833"/>
              </a:lnSpc>
              <a:spcBef>
                <a:spcPts val="0"/>
              </a:spcBef>
              <a:spcAft>
                <a:spcPts val="0"/>
              </a:spcAft>
              <a:buNone/>
            </a:pPr>
            <a:r>
              <a:rPr sz="833" b="0" i="1">
                <a:solidFill>
                  <a:srgbClr val="2B7A3E"/>
                </a:solidFill>
                <a:latin typeface="Fira Sans"/>
              </a:rPr>
              <a:t>goal</a:t>
            </a:r>
          </a:p>
        </p:txBody>
      </p:sp>
      <p:sp>
        <p:nvSpPr>
          <p:cNvPr id="108" name="TextBox 107"/>
          <p:cNvSpPr txBox="1"/>
          <p:nvPr/>
        </p:nvSpPr>
        <p:spPr>
          <a:xfrm>
            <a:off x="1115568" y="4928501"/>
            <a:ext cx="2121408" cy="169316"/>
          </a:xfrm>
          <a:prstGeom prst="rect">
            <a:avLst/>
          </a:prstGeom>
          <a:noFill/>
        </p:spPr>
        <p:txBody>
          <a:bodyPr wrap="square" lIns="0" tIns="0" rIns="0" bIns="0" anchor="t">
            <a:noAutofit/>
          </a:bodyPr>
          <a:lstStyle/>
          <a:p>
            <a:pPr marL="0" indent="0" algn="ctr">
              <a:lnSpc>
                <a:spcPts val="1117"/>
              </a:lnSpc>
              <a:spcBef>
                <a:spcPts val="0"/>
              </a:spcBef>
              <a:spcAft>
                <a:spcPts val="0"/>
              </a:spcAft>
              <a:buNone/>
            </a:pPr>
            <a:r>
              <a:rPr sz="931" b="0" i="1">
                <a:solidFill>
                  <a:srgbClr val="626669"/>
                </a:solidFill>
                <a:latin typeface="Fira Sans"/>
              </a:rPr>
              <a:t>no discounting</a:t>
            </a:r>
          </a:p>
        </p:txBody>
      </p:sp>
      <p:sp>
        <p:nvSpPr>
          <p:cNvPr id="109" name="TextBox 108"/>
          <p:cNvSpPr txBox="1"/>
          <p:nvPr/>
        </p:nvSpPr>
        <p:spPr>
          <a:xfrm>
            <a:off x="4133088" y="4928501"/>
            <a:ext cx="2121408" cy="169316"/>
          </a:xfrm>
          <a:prstGeom prst="rect">
            <a:avLst/>
          </a:prstGeom>
          <a:noFill/>
        </p:spPr>
        <p:txBody>
          <a:bodyPr wrap="square" lIns="0" tIns="0" rIns="0" bIns="0" anchor="t">
            <a:noAutofit/>
          </a:bodyPr>
          <a:lstStyle/>
          <a:p>
            <a:pPr marL="0" indent="0" algn="ctr">
              <a:lnSpc>
                <a:spcPts val="1117"/>
              </a:lnSpc>
              <a:spcBef>
                <a:spcPts val="0"/>
              </a:spcBef>
              <a:spcAft>
                <a:spcPts val="0"/>
              </a:spcAft>
              <a:buNone/>
            </a:pPr>
            <a:r>
              <a:rPr sz="931" b="0" i="1">
                <a:solidFill>
                  <a:srgbClr val="626669"/>
                </a:solidFill>
                <a:latin typeface="Fira Sans"/>
              </a:rPr>
              <a:t>strong discounting</a:t>
            </a:r>
          </a:p>
        </p:txBody>
      </p:sp>
      <p:sp>
        <p:nvSpPr>
          <p:cNvPr id="110" name="TextBox 109"/>
          <p:cNvSpPr txBox="1"/>
          <p:nvPr/>
        </p:nvSpPr>
        <p:spPr>
          <a:xfrm>
            <a:off x="7242048" y="2477909"/>
            <a:ext cx="4114800" cy="1994738"/>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140" b="1" i="0">
                <a:solidFill>
                  <a:srgbClr val="25282A"/>
                </a:solidFill>
                <a:latin typeface="Fira Sans"/>
              </a:rPr>
              <a:t>What changes, and what does not</a:t>
            </a:r>
          </a:p>
          <a:p>
            <a:pPr marL="0" indent="0" algn="l">
              <a:lnSpc>
                <a:spcPts val="1176"/>
              </a:lnSpc>
              <a:spcBef>
                <a:spcPts val="800"/>
              </a:spcBef>
              <a:spcAft>
                <a:spcPts val="0"/>
              </a:spcAft>
              <a:buNone/>
            </a:pPr>
            <a:r>
              <a:rPr sz="997" b="0" i="0">
                <a:solidFill>
                  <a:srgbClr val="626669"/>
                </a:solidFill>
                <a:latin typeface="Fira Sans"/>
              </a:rPr>
              <a:t>With γ = 1.00 every state is worth roughly 0.82: from almost anywhere the agent eventually reaches the goal, and time costs nothing. The value function is nearly flat, and says very little about </a:t>
            </a:r>
            <a:r>
              <a:rPr sz="997" b="0" i="1">
                <a:solidFill>
                  <a:srgbClr val="626669"/>
                </a:solidFill>
                <a:latin typeface="Fira Sans"/>
              </a:rPr>
              <a:t>where</a:t>
            </a:r>
            <a:r>
              <a:rPr sz="997" b="0" i="0">
                <a:solidFill>
                  <a:srgbClr val="626669"/>
                </a:solidFill>
                <a:latin typeface="Fira Sans"/>
              </a:rPr>
              <a:t> the agent is.</a:t>
            </a:r>
          </a:p>
          <a:p>
            <a:pPr marL="0" indent="0" algn="l">
              <a:lnSpc>
                <a:spcPts val="1176"/>
              </a:lnSpc>
              <a:spcBef>
                <a:spcPts val="800"/>
              </a:spcBef>
              <a:spcAft>
                <a:spcPts val="0"/>
              </a:spcAft>
              <a:buNone/>
            </a:pPr>
            <a:r>
              <a:rPr sz="997" b="0" i="0">
                <a:solidFill>
                  <a:srgbClr val="626669"/>
                </a:solidFill>
                <a:latin typeface="Fira Sans"/>
              </a:rPr>
              <a:t>With γ = 0.95 the values fall sharply with distance from the goal — 0.18 at the start, 0.72 next to it. The value function now encodes </a:t>
            </a:r>
            <a:r>
              <a:rPr sz="997" b="1" i="0">
                <a:solidFill>
                  <a:srgbClr val="25282A"/>
                </a:solidFill>
                <a:latin typeface="Fira Sans"/>
              </a:rPr>
              <a:t>how far away the reward is</a:t>
            </a:r>
            <a:r>
              <a:rPr sz="997" b="0" i="0">
                <a:solidFill>
                  <a:srgbClr val="626669"/>
                </a:solidFill>
                <a:latin typeface="Fira Sans"/>
              </a:rPr>
              <a:t>.</a:t>
            </a:r>
          </a:p>
          <a:p>
            <a:pPr marL="0" indent="0" algn="l">
              <a:lnSpc>
                <a:spcPts val="1176"/>
              </a:lnSpc>
              <a:spcBef>
                <a:spcPts val="800"/>
              </a:spcBef>
              <a:spcAft>
                <a:spcPts val="0"/>
              </a:spcAft>
              <a:buNone/>
            </a:pPr>
            <a:r>
              <a:rPr sz="997" b="0" i="0">
                <a:solidFill>
                  <a:srgbClr val="626669"/>
                </a:solidFill>
                <a:latin typeface="Fira Sans"/>
              </a:rPr>
              <a:t>In a stochastic environment this can also change the optimal policy: because delayed reward is worth less, discounting can favour </a:t>
            </a:r>
            <a:r>
              <a:rPr sz="997" b="1" i="0">
                <a:solidFill>
                  <a:srgbClr val="C8102E"/>
                </a:solidFill>
                <a:latin typeface="Fira Sans"/>
              </a:rPr>
              <a:t>faster but riskier paths</a:t>
            </a:r>
            <a:r>
              <a:rPr sz="997" b="0" i="0">
                <a:solidFill>
                  <a:srgbClr val="626669"/>
                </a:solidFill>
                <a:latin typeface="Fira Sans"/>
              </a:rPr>
              <a:t> over safer, slower ones.</a:t>
            </a:r>
          </a:p>
        </p:txBody>
      </p:sp>
      <p:sp>
        <p:nvSpPr>
          <p:cNvPr id="111" name="Rectangle 110"/>
          <p:cNvSpPr/>
          <p:nvPr/>
        </p:nvSpPr>
        <p:spPr>
          <a:xfrm>
            <a:off x="841248" y="5184533"/>
            <a:ext cx="6400800" cy="1029614"/>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Rectangle 111"/>
          <p:cNvSpPr/>
          <p:nvPr/>
        </p:nvSpPr>
        <p:spPr>
          <a:xfrm>
            <a:off x="841248" y="5184533"/>
            <a:ext cx="41148" cy="1029614"/>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TextBox 112"/>
          <p:cNvSpPr txBox="1"/>
          <p:nvPr/>
        </p:nvSpPr>
        <p:spPr>
          <a:xfrm>
            <a:off x="1060704" y="5330837"/>
            <a:ext cx="61081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THE POINT</a:t>
            </a:r>
          </a:p>
        </p:txBody>
      </p:sp>
      <p:sp>
        <p:nvSpPr>
          <p:cNvPr id="114" name="TextBox 113"/>
          <p:cNvSpPr txBox="1"/>
          <p:nvPr/>
        </p:nvSpPr>
        <p:spPr>
          <a:xfrm>
            <a:off x="1060704" y="5568581"/>
            <a:ext cx="6016752"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err="1">
                <a:solidFill>
                  <a:srgbClr val="333639"/>
                </a:solidFill>
                <a:latin typeface="Fira Sans"/>
              </a:rPr>
              <a:t>γ</a:t>
            </a:r>
            <a:r>
              <a:rPr sz="1092" b="0" i="0" dirty="0">
                <a:solidFill>
                  <a:srgbClr val="333639"/>
                </a:solidFill>
                <a:latin typeface="Fira Sans"/>
              </a:rPr>
              <a:t> is not a nuisance parameter introduced to make sums converge. It is a </a:t>
            </a:r>
            <a:r>
              <a:rPr sz="1092" b="1" i="0" dirty="0">
                <a:solidFill>
                  <a:srgbClr val="333639"/>
                </a:solidFill>
                <a:latin typeface="Fira Sans"/>
              </a:rPr>
              <a:t>modelling choice</a:t>
            </a:r>
            <a:r>
              <a:rPr sz="1092" b="0" i="0" dirty="0">
                <a:solidFill>
                  <a:srgbClr val="333639"/>
                </a:solidFill>
                <a:latin typeface="Fira Sans"/>
              </a:rPr>
              <a:t> that states how much the agent should care about the distant future</a:t>
            </a:r>
            <a:r>
              <a:rPr lang="it-IT" sz="1092" b="0" i="0" dirty="0">
                <a:solidFill>
                  <a:srgbClr val="333639"/>
                </a:solidFill>
                <a:latin typeface="Fira Sans"/>
              </a:rPr>
              <a:t>,</a:t>
            </a:r>
            <a:r>
              <a:rPr sz="1092" b="0" i="0" dirty="0">
                <a:solidFill>
                  <a:srgbClr val="333639"/>
                </a:solidFill>
                <a:latin typeface="Fira Sans"/>
              </a:rPr>
              <a:t> and it changes the answer.</a:t>
            </a:r>
          </a:p>
        </p:txBody>
      </p:sp>
      <p:sp>
        <p:nvSpPr>
          <p:cNvPr id="115" name="CasellaDiTesto 114">
            <a:extLst>
              <a:ext uri="{FF2B5EF4-FFF2-40B4-BE49-F238E27FC236}">
                <a16:creationId xmlns:a16="http://schemas.microsoft.com/office/drawing/2014/main" id="{F63EBC61-B70C-C208-8F05-EA211B8C9FFD}"/>
              </a:ext>
            </a:extLst>
          </p:cNvPr>
          <p:cNvSpPr txBox="1"/>
          <p:nvPr/>
        </p:nvSpPr>
        <p:spPr>
          <a:xfrm>
            <a:off x="457200" y="5001768"/>
            <a:ext cx="0" cy="0"/>
          </a:xfrm>
          <a:prstGeom prst="rect">
            <a:avLst/>
          </a:prstGeom>
        </p:spPr>
        <p:txBody>
          <a:bodyPr vert="horz" wrap="none" lIns="91440" tIns="45720" rIns="91440" bIns="45720" rtlCol="0" anchor="ctr">
            <a:normAutofit fontScale="25000" lnSpcReduction="20000"/>
          </a:bodyPr>
          <a:lstStyle/>
          <a:p>
            <a:pPr marL="0" indent="0" algn="l">
              <a:buNone/>
            </a:pPr>
            <a:endParaRPr lang="en-GB" sz="1050" b="0" i="1" dirty="0">
              <a:latin typeface="Fira Sans" panose="020B05030500000200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lang="en-GB" sz="931" b="1" i="0" spc="110" noProof="0" dirty="0">
                <a:solidFill>
                  <a:srgbClr val="574676"/>
                </a:solidFill>
                <a:latin typeface="Fira Sans Medium"/>
              </a:rPr>
              <a:t>6.8  GENERALIZED POLICY ITERATION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lang="en-GB" sz="2162" b="1" i="0" noProof="0" dirty="0">
                <a:solidFill>
                  <a:srgbClr val="25282A"/>
                </a:solidFill>
                <a:latin typeface="Roboto Slab"/>
              </a:rPr>
              <a:t>Two processes, cooperating and competing, at any granularity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GB" noProof="0" dirty="0"/>
          </a:p>
        </p:txBody>
      </p:sp>
      <p:sp>
        <p:nvSpPr>
          <p:cNvPr id="5" name="FOOTER-rule"/>
          <p:cNvSpPr/>
          <p:nvPr/>
        </p:nvSpPr>
        <p:spPr>
          <a:xfrm>
            <a:off x="841248" y="620877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GB" noProof="0" dirty="0"/>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lang="en-GB" sz="784" b="0" i="0" noProof="0" dirty="0">
                <a:solidFill>
                  <a:srgbClr val="8E9295"/>
                </a:solidFill>
                <a:latin typeface="Fira Sans"/>
              </a:rPr>
              <a:t>Reinforcement Learning  ·  Chapter 03 — Dynamic Programming   ·   Part VI — Value iteration and GPI</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lang="en-GB" sz="833" b="0" i="0" noProof="0" dirty="0">
                <a:solidFill>
                  <a:srgbClr val="626669"/>
                </a:solidFill>
                <a:latin typeface="Fira Sans Medium"/>
              </a:rPr>
              <a:t>49</a:t>
            </a:r>
          </a:p>
        </p:txBody>
      </p:sp>
      <p:sp>
        <p:nvSpPr>
          <p:cNvPr id="8" name="TextBox 7"/>
          <p:cNvSpPr txBox="1"/>
          <p:nvPr/>
        </p:nvSpPr>
        <p:spPr>
          <a:xfrm>
            <a:off x="841248" y="1316736"/>
            <a:ext cx="10515600"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lang="en-GB" sz="1282" b="0" i="0" noProof="0" dirty="0">
                <a:solidFill>
                  <a:srgbClr val="333639"/>
                </a:solidFill>
                <a:latin typeface="Fira Sans"/>
              </a:rPr>
              <a:t>Every algorithm in this chapter is the interaction of the same two processes: evaluation, which makes the value function consistent with the current policy, and improvement, which makes the policy greedy with respect to the current value function. What distinguishes them is only the </a:t>
            </a:r>
            <a:r>
              <a:rPr lang="en-GB" sz="1282" b="1" i="0" noProof="0" dirty="0">
                <a:solidFill>
                  <a:srgbClr val="25282A"/>
                </a:solidFill>
                <a:latin typeface="Fira Sans"/>
              </a:rPr>
              <a:t>granularity</a:t>
            </a:r>
            <a:r>
              <a:rPr lang="en-GB" sz="1282" b="0" i="0" noProof="0" dirty="0">
                <a:solidFill>
                  <a:srgbClr val="333639"/>
                </a:solidFill>
                <a:latin typeface="Fira Sans"/>
              </a:rPr>
              <a:t> at which the two interleave.</a:t>
            </a:r>
          </a:p>
        </p:txBody>
      </p:sp>
      <p:pic>
        <p:nvPicPr>
          <p:cNvPr id="9" name="Picture 8" descr="gpi_cycle.png"/>
          <p:cNvPicPr>
            <a:picLocks noChangeAspect="1"/>
          </p:cNvPicPr>
          <p:nvPr/>
        </p:nvPicPr>
        <p:blipFill>
          <a:blip r:embed="rId2"/>
          <a:stretch>
            <a:fillRect/>
          </a:stretch>
        </p:blipFill>
        <p:spPr>
          <a:xfrm>
            <a:off x="835152" y="2281283"/>
            <a:ext cx="2559274" cy="2571178"/>
          </a:xfrm>
          <a:prstGeom prst="rect">
            <a:avLst/>
          </a:prstGeom>
        </p:spPr>
      </p:pic>
      <p:pic>
        <p:nvPicPr>
          <p:cNvPr id="10" name="Picture 9" descr="gpi_triangle.png"/>
          <p:cNvPicPr>
            <a:picLocks noChangeAspect="1"/>
          </p:cNvPicPr>
          <p:nvPr/>
        </p:nvPicPr>
        <p:blipFill>
          <a:blip r:embed="rId3"/>
          <a:stretch>
            <a:fillRect/>
          </a:stretch>
        </p:blipFill>
        <p:spPr>
          <a:xfrm>
            <a:off x="3701111" y="2400708"/>
            <a:ext cx="3860403" cy="2332327"/>
          </a:xfrm>
          <a:prstGeom prst="rect">
            <a:avLst/>
          </a:prstGeom>
        </p:spPr>
      </p:pic>
      <p:sp>
        <p:nvSpPr>
          <p:cNvPr id="11" name="TextBox 10"/>
          <p:cNvSpPr txBox="1"/>
          <p:nvPr/>
        </p:nvSpPr>
        <p:spPr>
          <a:xfrm>
            <a:off x="7868199" y="2536192"/>
            <a:ext cx="3482553" cy="2061358"/>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lang="en-GB" sz="1140" b="0" i="0" noProof="0" dirty="0">
                <a:solidFill>
                  <a:srgbClr val="333639"/>
                </a:solidFill>
                <a:latin typeface="Fira Sans"/>
              </a:rPr>
              <a:t>The two processes are </a:t>
            </a:r>
            <a:r>
              <a:rPr lang="en-GB" sz="1140" b="1" i="0" noProof="0" dirty="0">
                <a:solidFill>
                  <a:srgbClr val="25282A"/>
                </a:solidFill>
                <a:latin typeface="Fira Sans"/>
              </a:rPr>
              <a:t>simultaneously cooperating and competing</a:t>
            </a:r>
            <a:r>
              <a:rPr lang="en-GB" sz="1140" b="0" i="0" noProof="0" dirty="0">
                <a:solidFill>
                  <a:srgbClr val="333639"/>
                </a:solidFill>
                <a:latin typeface="Fira Sans"/>
              </a:rPr>
              <a:t>.</a:t>
            </a:r>
          </a:p>
          <a:p>
            <a:pPr marL="0" indent="0" algn="l">
              <a:lnSpc>
                <a:spcPts val="1254"/>
              </a:lnSpc>
              <a:spcBef>
                <a:spcPts val="800"/>
              </a:spcBef>
              <a:spcAft>
                <a:spcPts val="0"/>
              </a:spcAft>
              <a:buNone/>
            </a:pPr>
            <a:r>
              <a:rPr lang="en-GB" sz="1045" b="0" i="0" noProof="0" dirty="0">
                <a:solidFill>
                  <a:srgbClr val="626669"/>
                </a:solidFill>
                <a:latin typeface="Fira Sans"/>
              </a:rPr>
              <a:t>Improving the policy makes the current value function inconsistent with it, so the values must be updated. Updating the values may reveal that the policy is no longer greedy, creating an opportunity for further improvement. Each process pulls the other away from its own solution and the two converge only together.</a:t>
            </a:r>
          </a:p>
          <a:p>
            <a:pPr marL="0" indent="0" algn="l">
              <a:lnSpc>
                <a:spcPts val="1254"/>
              </a:lnSpc>
              <a:spcBef>
                <a:spcPts val="800"/>
              </a:spcBef>
              <a:spcAft>
                <a:spcPts val="0"/>
              </a:spcAft>
              <a:buNone/>
            </a:pPr>
            <a:r>
              <a:rPr lang="en-GB" sz="1045" b="0" i="0" noProof="0" dirty="0">
                <a:solidFill>
                  <a:srgbClr val="2B7A3E"/>
                </a:solidFill>
                <a:latin typeface="Fira Sans"/>
              </a:rPr>
              <a:t>If both stabilize, neither the values nor the policy can be improved: the value function is v* and the policy is optimal.</a:t>
            </a:r>
          </a:p>
        </p:txBody>
      </p:sp>
      <p:sp>
        <p:nvSpPr>
          <p:cNvPr id="36" name="Rectangle 110">
            <a:extLst>
              <a:ext uri="{FF2B5EF4-FFF2-40B4-BE49-F238E27FC236}">
                <a16:creationId xmlns:a16="http://schemas.microsoft.com/office/drawing/2014/main" id="{7289F31B-B713-26F5-6B5C-275E47D89126}"/>
              </a:ext>
            </a:extLst>
          </p:cNvPr>
          <p:cNvSpPr/>
          <p:nvPr/>
        </p:nvSpPr>
        <p:spPr>
          <a:xfrm>
            <a:off x="841248" y="5184533"/>
            <a:ext cx="10509504" cy="1029614"/>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GB" noProof="0" dirty="0"/>
          </a:p>
        </p:txBody>
      </p:sp>
      <p:sp>
        <p:nvSpPr>
          <p:cNvPr id="37" name="Rectangle 111">
            <a:extLst>
              <a:ext uri="{FF2B5EF4-FFF2-40B4-BE49-F238E27FC236}">
                <a16:creationId xmlns:a16="http://schemas.microsoft.com/office/drawing/2014/main" id="{EE21163A-C61D-954D-6803-425BDF65C49A}"/>
              </a:ext>
            </a:extLst>
          </p:cNvPr>
          <p:cNvSpPr/>
          <p:nvPr/>
        </p:nvSpPr>
        <p:spPr>
          <a:xfrm>
            <a:off x="841248" y="5184533"/>
            <a:ext cx="41148" cy="1029614"/>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GB" noProof="0" dirty="0"/>
          </a:p>
        </p:txBody>
      </p:sp>
      <p:sp>
        <p:nvSpPr>
          <p:cNvPr id="38" name="TextBox 112">
            <a:extLst>
              <a:ext uri="{FF2B5EF4-FFF2-40B4-BE49-F238E27FC236}">
                <a16:creationId xmlns:a16="http://schemas.microsoft.com/office/drawing/2014/main" id="{0FC46336-D67A-6DA5-A0E1-CCEE68C86ABC}"/>
              </a:ext>
            </a:extLst>
          </p:cNvPr>
          <p:cNvSpPr txBox="1"/>
          <p:nvPr/>
        </p:nvSpPr>
        <p:spPr>
          <a:xfrm>
            <a:off x="1060704" y="5330837"/>
            <a:ext cx="61081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lang="en-GB" sz="882" b="1" i="0" spc="110" noProof="0" dirty="0">
                <a:solidFill>
                  <a:srgbClr val="8A5100"/>
                </a:solidFill>
                <a:latin typeface="Fira Sans"/>
              </a:rPr>
              <a:t>THE POINT</a:t>
            </a:r>
          </a:p>
        </p:txBody>
      </p:sp>
      <p:sp>
        <p:nvSpPr>
          <p:cNvPr id="39" name="TextBox 113">
            <a:extLst>
              <a:ext uri="{FF2B5EF4-FFF2-40B4-BE49-F238E27FC236}">
                <a16:creationId xmlns:a16="http://schemas.microsoft.com/office/drawing/2014/main" id="{5B7E49AD-3D86-9D1D-747E-62CD9CE543C9}"/>
              </a:ext>
            </a:extLst>
          </p:cNvPr>
          <p:cNvSpPr txBox="1"/>
          <p:nvPr/>
        </p:nvSpPr>
        <p:spPr>
          <a:xfrm>
            <a:off x="1060704" y="5568581"/>
            <a:ext cx="9683496"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lang="en-GB" sz="1092" b="0" i="0" noProof="0" dirty="0">
                <a:solidFill>
                  <a:srgbClr val="333639"/>
                </a:solidFill>
                <a:latin typeface="Fira Sans"/>
              </a:rPr>
              <a:t>GPI is much </a:t>
            </a:r>
            <a:r>
              <a:rPr lang="en-GB" sz="1092" b="1" i="0" noProof="0" dirty="0">
                <a:solidFill>
                  <a:srgbClr val="333639"/>
                </a:solidFill>
                <a:latin typeface="Fira Sans"/>
              </a:rPr>
              <a:t>more general </a:t>
            </a:r>
            <a:r>
              <a:rPr lang="en-GB" sz="1092" b="0" i="0" noProof="0" dirty="0">
                <a:solidFill>
                  <a:srgbClr val="333639"/>
                </a:solidFill>
                <a:latin typeface="Fira Sans"/>
              </a:rPr>
              <a:t>than dynamic programming. It is the organising idea behind a large fraction of reinforcement learning: values guide the improvement of behaviour, and the resulting behaviour determines the values that should be learned. Everything in the rest of the course is a variation on that sentence.</a:t>
            </a:r>
          </a:p>
          <a:p>
            <a:pPr marL="0" indent="0" algn="l">
              <a:lnSpc>
                <a:spcPts val="1310"/>
              </a:lnSpc>
              <a:spcBef>
                <a:spcPts val="0"/>
              </a:spcBef>
              <a:spcAft>
                <a:spcPts val="0"/>
              </a:spcAft>
              <a:buNone/>
            </a:pPr>
            <a:endParaRPr lang="en-GB" sz="1092" b="0" i="0" noProof="0" dirty="0">
              <a:solidFill>
                <a:srgbClr val="333639"/>
              </a:solidFill>
              <a:latin typeface="Fira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59536" y="868680"/>
            <a:ext cx="7315200" cy="365760"/>
          </a:xfrm>
          <a:prstGeom prst="rect">
            <a:avLst/>
          </a:prstGeom>
          <a:noFill/>
        </p:spPr>
        <p:txBody>
          <a:bodyPr wrap="square" lIns="0" tIns="0" rIns="0" bIns="0" anchor="t">
            <a:noAutofit/>
          </a:bodyPr>
          <a:lstStyle/>
          <a:p>
            <a:pPr marL="0" indent="0" algn="l">
              <a:lnSpc>
                <a:spcPts val="997"/>
              </a:lnSpc>
              <a:spcBef>
                <a:spcPts val="0"/>
              </a:spcBef>
              <a:spcAft>
                <a:spcPts val="0"/>
              </a:spcAft>
              <a:buNone/>
            </a:pPr>
            <a:r>
              <a:rPr sz="997" b="1" i="0" spc="150" dirty="0">
                <a:solidFill>
                  <a:srgbClr val="B2A7C4"/>
                </a:solidFill>
                <a:latin typeface="Fira Sans Medium"/>
              </a:rPr>
              <a:t>SUMMARY</a:t>
            </a:r>
          </a:p>
        </p:txBody>
      </p:sp>
      <p:sp>
        <p:nvSpPr>
          <p:cNvPr id="4" name="TextBox 3"/>
          <p:cNvSpPr txBox="1"/>
          <p:nvPr/>
        </p:nvSpPr>
        <p:spPr>
          <a:xfrm>
            <a:off x="859536" y="1225296"/>
            <a:ext cx="6766560" cy="640080"/>
          </a:xfrm>
          <a:prstGeom prst="rect">
            <a:avLst/>
          </a:prstGeom>
          <a:noFill/>
        </p:spPr>
        <p:txBody>
          <a:bodyPr wrap="square" lIns="0" tIns="0" rIns="0" bIns="0" anchor="t">
            <a:noAutofit/>
          </a:bodyPr>
          <a:lstStyle/>
          <a:p>
            <a:pPr marL="0" indent="0" algn="l">
              <a:lnSpc>
                <a:spcPts val="2685"/>
              </a:lnSpc>
              <a:spcBef>
                <a:spcPts val="0"/>
              </a:spcBef>
              <a:spcAft>
                <a:spcPts val="0"/>
              </a:spcAft>
              <a:buNone/>
            </a:pPr>
            <a:r>
              <a:rPr lang="it-IT" sz="2632" b="1" i="0" dirty="0">
                <a:solidFill>
                  <a:srgbClr val="FFFFFF"/>
                </a:solidFill>
                <a:latin typeface="Roboto Slab"/>
              </a:rPr>
              <a:t>Key Takeaways</a:t>
            </a:r>
            <a:endParaRPr sz="2632" b="1" i="0" dirty="0">
              <a:solidFill>
                <a:srgbClr val="FFFFFF"/>
              </a:solidFill>
              <a:latin typeface="Roboto Slab"/>
            </a:endParaRPr>
          </a:p>
        </p:txBody>
      </p:sp>
      <p:sp>
        <p:nvSpPr>
          <p:cNvPr id="5" name="TextBox 4"/>
          <p:cNvSpPr txBox="1"/>
          <p:nvPr/>
        </p:nvSpPr>
        <p:spPr>
          <a:xfrm>
            <a:off x="859536" y="2212847"/>
            <a:ext cx="6400800" cy="4115589"/>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dirty="0">
                <a:solidFill>
                  <a:srgbClr val="B2A7C4"/>
                </a:solidFill>
                <a:latin typeface="Fira Sans"/>
              </a:rPr>
              <a:t>01   </a:t>
            </a:r>
            <a:r>
              <a:rPr sz="1188" b="1" i="0" dirty="0">
                <a:solidFill>
                  <a:srgbClr val="FFFFFF"/>
                </a:solidFill>
                <a:latin typeface="Fira Sans"/>
              </a:rPr>
              <a:t>A value function replaces enumeration.</a:t>
            </a:r>
          </a:p>
          <a:p>
            <a:pPr marL="384048" indent="0" algn="l">
              <a:lnSpc>
                <a:spcPts val="1233"/>
              </a:lnSpc>
              <a:spcBef>
                <a:spcPts val="300"/>
              </a:spcBef>
              <a:spcAft>
                <a:spcPts val="0"/>
              </a:spcAft>
              <a:buNone/>
            </a:pPr>
            <a:r>
              <a:rPr sz="1045" b="0" i="0" dirty="0">
                <a:solidFill>
                  <a:srgbClr val="D6D0E0"/>
                </a:solidFill>
                <a:latin typeface="Fira Sans"/>
              </a:rPr>
              <a:t>Brute force evaluates every policy in a space of size |𝒜| to the power |𝒮|. Value functions decompose the problem by state, so each subproblem is solved once and reused everywhere it appears.</a:t>
            </a:r>
          </a:p>
          <a:p>
            <a:pPr marL="0" indent="0" algn="l">
              <a:lnSpc>
                <a:spcPts val="1331"/>
              </a:lnSpc>
              <a:spcBef>
                <a:spcPts val="1300"/>
              </a:spcBef>
              <a:spcAft>
                <a:spcPts val="0"/>
              </a:spcAft>
              <a:buNone/>
            </a:pPr>
            <a:r>
              <a:rPr sz="1188" b="1" i="0" dirty="0">
                <a:solidFill>
                  <a:srgbClr val="B2A7C4"/>
                </a:solidFill>
                <a:latin typeface="Fira Sans"/>
              </a:rPr>
              <a:t>02   </a:t>
            </a:r>
            <a:r>
              <a:rPr sz="1188" b="1" i="0" dirty="0">
                <a:solidFill>
                  <a:srgbClr val="FFFFFF"/>
                </a:solidFill>
                <a:latin typeface="Fira Sans"/>
              </a:rPr>
              <a:t>The Bellman equations are the recursion.</a:t>
            </a:r>
          </a:p>
          <a:p>
            <a:pPr marL="384048" indent="0" algn="l">
              <a:lnSpc>
                <a:spcPts val="1233"/>
              </a:lnSpc>
              <a:spcBef>
                <a:spcPts val="300"/>
              </a:spcBef>
              <a:spcAft>
                <a:spcPts val="0"/>
              </a:spcAft>
              <a:buNone/>
            </a:pPr>
            <a:r>
              <a:rPr sz="1045" b="0" i="0" dirty="0">
                <a:solidFill>
                  <a:srgbClr val="D6D0E0"/>
                </a:solidFill>
                <a:latin typeface="Fira Sans"/>
              </a:rPr>
              <a:t>The expectation form averages over the policy; the optimality form takes a maximum. That one difference separates evaluating a policy from finding the best one.</a:t>
            </a:r>
          </a:p>
          <a:p>
            <a:pPr marL="0" indent="0" algn="l">
              <a:lnSpc>
                <a:spcPts val="1331"/>
              </a:lnSpc>
              <a:spcBef>
                <a:spcPts val="1300"/>
              </a:spcBef>
              <a:spcAft>
                <a:spcPts val="0"/>
              </a:spcAft>
              <a:buNone/>
            </a:pPr>
            <a:r>
              <a:rPr sz="1188" b="1" i="0" dirty="0">
                <a:solidFill>
                  <a:srgbClr val="B2A7C4"/>
                </a:solidFill>
                <a:latin typeface="Fira Sans"/>
              </a:rPr>
              <a:t>03   </a:t>
            </a:r>
            <a:r>
              <a:rPr sz="1188" b="1" i="0" dirty="0">
                <a:solidFill>
                  <a:srgbClr val="FFFFFF"/>
                </a:solidFill>
                <a:latin typeface="Fira Sans"/>
              </a:rPr>
              <a:t>Convergence rests on one property: contraction.</a:t>
            </a:r>
          </a:p>
          <a:p>
            <a:pPr marL="384048" indent="0" algn="l">
              <a:lnSpc>
                <a:spcPts val="1233"/>
              </a:lnSpc>
              <a:spcBef>
                <a:spcPts val="300"/>
              </a:spcBef>
              <a:spcAft>
                <a:spcPts val="0"/>
              </a:spcAft>
              <a:buNone/>
            </a:pPr>
            <a:r>
              <a:rPr sz="1045" b="0" i="0" dirty="0">
                <a:solidFill>
                  <a:srgbClr val="D6D0E0"/>
                </a:solidFill>
                <a:latin typeface="Fira Sans"/>
              </a:rPr>
              <a:t>Both Tπ and T∗ shrink the max-norm distance between any two value functions by </a:t>
            </a:r>
            <a:r>
              <a:rPr sz="1045" b="0" i="0" dirty="0" err="1">
                <a:solidFill>
                  <a:srgbClr val="D6D0E0"/>
                </a:solidFill>
                <a:latin typeface="Fira Sans"/>
              </a:rPr>
              <a:t>γ</a:t>
            </a:r>
            <a:r>
              <a:rPr sz="1045" b="0" i="0" dirty="0">
                <a:solidFill>
                  <a:srgbClr val="D6D0E0"/>
                </a:solidFill>
                <a:latin typeface="Fira Sans"/>
              </a:rPr>
              <a:t>. A contraction has a unique fixed point and iteration reaches it from anywhere.</a:t>
            </a:r>
          </a:p>
          <a:p>
            <a:pPr marL="0" indent="0" algn="l">
              <a:lnSpc>
                <a:spcPts val="1331"/>
              </a:lnSpc>
              <a:spcBef>
                <a:spcPts val="1300"/>
              </a:spcBef>
              <a:spcAft>
                <a:spcPts val="0"/>
              </a:spcAft>
              <a:buNone/>
            </a:pPr>
            <a:r>
              <a:rPr sz="1188" b="1" i="0" dirty="0">
                <a:solidFill>
                  <a:srgbClr val="B2A7C4"/>
                </a:solidFill>
                <a:latin typeface="Fira Sans"/>
              </a:rPr>
              <a:t>04   </a:t>
            </a:r>
            <a:r>
              <a:rPr sz="1188" b="1" i="0" dirty="0">
                <a:solidFill>
                  <a:srgbClr val="FFFFFF"/>
                </a:solidFill>
                <a:latin typeface="Fira Sans"/>
              </a:rPr>
              <a:t>Evaluation and improvement are the two moves.</a:t>
            </a:r>
          </a:p>
          <a:p>
            <a:pPr marL="384048" indent="0" algn="l">
              <a:lnSpc>
                <a:spcPts val="1233"/>
              </a:lnSpc>
              <a:spcBef>
                <a:spcPts val="300"/>
              </a:spcBef>
              <a:spcAft>
                <a:spcPts val="0"/>
              </a:spcAft>
              <a:buNone/>
            </a:pPr>
            <a:r>
              <a:rPr sz="1045" b="0" i="0" dirty="0">
                <a:solidFill>
                  <a:srgbClr val="D6D0E0"/>
                </a:solidFill>
                <a:latin typeface="Fira Sans"/>
              </a:rPr>
              <a:t>Evaluation makes V consistent with π; greedy improvement makes π consistent with V. Policy iteration runs them to convergence, value iteration interleaves them.</a:t>
            </a:r>
          </a:p>
          <a:p>
            <a:pPr marL="0" indent="0" algn="l">
              <a:lnSpc>
                <a:spcPts val="1331"/>
              </a:lnSpc>
              <a:spcBef>
                <a:spcPts val="1300"/>
              </a:spcBef>
              <a:spcAft>
                <a:spcPts val="0"/>
              </a:spcAft>
              <a:buNone/>
            </a:pPr>
            <a:r>
              <a:rPr sz="1188" b="1" i="0" dirty="0">
                <a:solidFill>
                  <a:srgbClr val="B2A7C4"/>
                </a:solidFill>
                <a:latin typeface="Fira Sans"/>
              </a:rPr>
              <a:t>05   </a:t>
            </a:r>
            <a:r>
              <a:rPr sz="1188" b="1" i="0" dirty="0">
                <a:solidFill>
                  <a:srgbClr val="FFFFFF"/>
                </a:solidFill>
                <a:latin typeface="Fira Sans"/>
              </a:rPr>
              <a:t>Stability implies global optimality.</a:t>
            </a:r>
          </a:p>
          <a:p>
            <a:pPr marL="384048" indent="0" algn="l">
              <a:lnSpc>
                <a:spcPts val="1233"/>
              </a:lnSpc>
              <a:spcBef>
                <a:spcPts val="300"/>
              </a:spcBef>
              <a:spcAft>
                <a:spcPts val="0"/>
              </a:spcAft>
              <a:buNone/>
            </a:pPr>
            <a:r>
              <a:rPr sz="1045" b="0" i="0" dirty="0">
                <a:solidFill>
                  <a:srgbClr val="D6D0E0"/>
                </a:solidFill>
                <a:latin typeface="Fira Sans"/>
              </a:rPr>
              <a:t>If greedy improvement changes nothing, vπ satisfies the Bellman optimality equation — which has a unique solution. There are no local optima to get stuck in.</a:t>
            </a:r>
          </a:p>
          <a:p>
            <a:pPr marL="0" indent="0" algn="l">
              <a:lnSpc>
                <a:spcPts val="1331"/>
              </a:lnSpc>
              <a:spcBef>
                <a:spcPts val="1300"/>
              </a:spcBef>
              <a:spcAft>
                <a:spcPts val="0"/>
              </a:spcAft>
              <a:buNone/>
            </a:pPr>
            <a:r>
              <a:rPr sz="1188" b="1" i="0" dirty="0">
                <a:solidFill>
                  <a:srgbClr val="B2A7C4"/>
                </a:solidFill>
                <a:latin typeface="Fira Sans"/>
              </a:rPr>
              <a:t>06   </a:t>
            </a:r>
            <a:r>
              <a:rPr sz="1188" b="1" i="0" dirty="0">
                <a:solidFill>
                  <a:srgbClr val="FFFFFF"/>
                </a:solidFill>
                <a:latin typeface="Fira Sans"/>
              </a:rPr>
              <a:t>Chapter 04 removes the model.</a:t>
            </a:r>
          </a:p>
          <a:p>
            <a:pPr marL="384048" indent="0" algn="l">
              <a:lnSpc>
                <a:spcPts val="1233"/>
              </a:lnSpc>
              <a:spcBef>
                <a:spcPts val="300"/>
              </a:spcBef>
              <a:spcAft>
                <a:spcPts val="0"/>
              </a:spcAft>
              <a:buNone/>
            </a:pPr>
            <a:r>
              <a:rPr sz="1045" b="0" i="0" dirty="0">
                <a:solidFill>
                  <a:srgbClr val="D6D0E0"/>
                </a:solidFill>
                <a:latin typeface="Fira Sans"/>
              </a:rPr>
              <a:t>Everything here needs p(s′, r | s, a). Monte Carlo methods keep the GPI skeleton but replace the expected update with an average over sampled episodes.</a:t>
            </a:r>
          </a:p>
        </p:txBody>
      </p:sp>
      <p:sp>
        <p:nvSpPr>
          <p:cNvPr id="6" name="Rectangle 5"/>
          <p:cNvSpPr/>
          <p:nvPr/>
        </p:nvSpPr>
        <p:spPr>
          <a:xfrm>
            <a:off x="7635240" y="1225296"/>
            <a:ext cx="10972" cy="448056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138160" y="1225296"/>
            <a:ext cx="3383280" cy="27432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40">
                <a:solidFill>
                  <a:srgbClr val="B2A7C4"/>
                </a:solidFill>
                <a:latin typeface="Fira Sans Medium"/>
              </a:rPr>
              <a:t>PRIMARY SOURCES</a:t>
            </a:r>
          </a:p>
        </p:txBody>
      </p:sp>
      <p:sp>
        <p:nvSpPr>
          <p:cNvPr id="8" name="TextBox 7"/>
          <p:cNvSpPr txBox="1"/>
          <p:nvPr/>
        </p:nvSpPr>
        <p:spPr>
          <a:xfrm>
            <a:off x="8138160" y="1609344"/>
            <a:ext cx="3474720" cy="3154680"/>
          </a:xfrm>
          <a:prstGeom prst="rect">
            <a:avLst/>
          </a:prstGeom>
          <a:noFill/>
        </p:spPr>
        <p:txBody>
          <a:bodyPr wrap="square" lIns="0" tIns="0" rIns="0" bIns="0" anchor="t">
            <a:noAutofit/>
          </a:bodyPr>
          <a:lstStyle/>
          <a:p>
            <a:pPr marL="0" indent="0" algn="l">
              <a:lnSpc>
                <a:spcPts val="1077"/>
              </a:lnSpc>
              <a:spcBef>
                <a:spcPts val="0"/>
              </a:spcBef>
              <a:spcAft>
                <a:spcPts val="0"/>
              </a:spcAft>
              <a:buNone/>
            </a:pPr>
            <a:r>
              <a:rPr sz="997" b="1" i="0">
                <a:solidFill>
                  <a:srgbClr val="FFFFFF"/>
                </a:solidFill>
                <a:latin typeface="Fira Sans"/>
              </a:rPr>
              <a:t>Blackwell (1965)</a:t>
            </a:r>
          </a:p>
          <a:p>
            <a:pPr marL="0" indent="0" algn="l">
              <a:lnSpc>
                <a:spcPts val="1061"/>
              </a:lnSpc>
              <a:spcBef>
                <a:spcPts val="100"/>
              </a:spcBef>
              <a:spcAft>
                <a:spcPts val="0"/>
              </a:spcAft>
              <a:buNone/>
            </a:pPr>
            <a:r>
              <a:rPr sz="931" b="0" i="1">
                <a:solidFill>
                  <a:srgbClr val="B2A7C4"/>
                </a:solidFill>
                <a:latin typeface="Fira Sans"/>
              </a:rPr>
              <a:t>Discounted Dynamic Programming</a:t>
            </a:r>
          </a:p>
          <a:p>
            <a:pPr marL="0" indent="0" algn="l">
              <a:lnSpc>
                <a:spcPts val="1077"/>
              </a:lnSpc>
              <a:spcBef>
                <a:spcPts val="1100"/>
              </a:spcBef>
              <a:spcAft>
                <a:spcPts val="0"/>
              </a:spcAft>
              <a:buNone/>
            </a:pPr>
            <a:r>
              <a:rPr sz="997" b="1" i="0">
                <a:solidFill>
                  <a:srgbClr val="FFFFFF"/>
                </a:solidFill>
                <a:latin typeface="Fira Sans"/>
              </a:rPr>
              <a:t>Denardo (1967)</a:t>
            </a:r>
          </a:p>
          <a:p>
            <a:pPr marL="0" indent="0" algn="l">
              <a:lnSpc>
                <a:spcPts val="1061"/>
              </a:lnSpc>
              <a:spcBef>
                <a:spcPts val="100"/>
              </a:spcBef>
              <a:spcAft>
                <a:spcPts val="0"/>
              </a:spcAft>
              <a:buNone/>
            </a:pPr>
            <a:r>
              <a:rPr sz="931" b="0" i="1">
                <a:solidFill>
                  <a:srgbClr val="B2A7C4"/>
                </a:solidFill>
                <a:latin typeface="Fira Sans"/>
              </a:rPr>
              <a:t>Contraction Mappings in the Theory
Underlying Dynamic Programming</a:t>
            </a:r>
          </a:p>
          <a:p>
            <a:pPr marL="0" indent="0" algn="l">
              <a:lnSpc>
                <a:spcPts val="1077"/>
              </a:lnSpc>
              <a:spcBef>
                <a:spcPts val="1100"/>
              </a:spcBef>
              <a:spcAft>
                <a:spcPts val="0"/>
              </a:spcAft>
              <a:buNone/>
            </a:pPr>
            <a:r>
              <a:rPr sz="997" b="1" i="0">
                <a:solidFill>
                  <a:srgbClr val="FFFFFF"/>
                </a:solidFill>
                <a:latin typeface="Fira Sans"/>
              </a:rPr>
              <a:t>Williams &amp; Baird (1993)</a:t>
            </a:r>
          </a:p>
          <a:p>
            <a:pPr marL="0" indent="0" algn="l">
              <a:lnSpc>
                <a:spcPts val="1061"/>
              </a:lnSpc>
              <a:spcBef>
                <a:spcPts val="100"/>
              </a:spcBef>
              <a:spcAft>
                <a:spcPts val="0"/>
              </a:spcAft>
              <a:buNone/>
            </a:pPr>
            <a:r>
              <a:rPr sz="931" b="0" i="1">
                <a:solidFill>
                  <a:srgbClr val="B2A7C4"/>
                </a:solidFill>
                <a:latin typeface="Fira Sans"/>
              </a:rPr>
              <a:t>Analysis of Some Incremental Variants
of Policy Iteration</a:t>
            </a:r>
          </a:p>
          <a:p>
            <a:pPr marL="0" indent="0" algn="l">
              <a:lnSpc>
                <a:spcPts val="1077"/>
              </a:lnSpc>
              <a:spcBef>
                <a:spcPts val="1100"/>
              </a:spcBef>
              <a:spcAft>
                <a:spcPts val="0"/>
              </a:spcAft>
              <a:buNone/>
            </a:pPr>
            <a:r>
              <a:rPr sz="997" b="1" i="0">
                <a:solidFill>
                  <a:srgbClr val="FFFFFF"/>
                </a:solidFill>
                <a:latin typeface="Fira Sans"/>
              </a:rPr>
              <a:t>Sennott (1999)</a:t>
            </a:r>
          </a:p>
          <a:p>
            <a:pPr marL="0" indent="0" algn="l">
              <a:lnSpc>
                <a:spcPts val="1061"/>
              </a:lnSpc>
              <a:spcBef>
                <a:spcPts val="100"/>
              </a:spcBef>
              <a:spcAft>
                <a:spcPts val="0"/>
              </a:spcAft>
              <a:buNone/>
            </a:pPr>
            <a:r>
              <a:rPr sz="931" b="0" i="1">
                <a:solidFill>
                  <a:srgbClr val="B2A7C4"/>
                </a:solidFill>
                <a:latin typeface="Fira Sans"/>
              </a:rPr>
              <a:t>The Value Iteration Method for Countable
State Markov Decision Processes</a:t>
            </a:r>
          </a:p>
          <a:p>
            <a:pPr marL="0" indent="0" algn="l">
              <a:lnSpc>
                <a:spcPts val="1077"/>
              </a:lnSpc>
              <a:spcBef>
                <a:spcPts val="1100"/>
              </a:spcBef>
              <a:spcAft>
                <a:spcPts val="0"/>
              </a:spcAft>
              <a:buNone/>
            </a:pPr>
            <a:r>
              <a:rPr sz="997" b="1" i="0">
                <a:solidFill>
                  <a:srgbClr val="FFFFFF"/>
                </a:solidFill>
                <a:latin typeface="Fira Sans"/>
              </a:rPr>
              <a:t>Ye (2011)</a:t>
            </a:r>
          </a:p>
          <a:p>
            <a:pPr marL="0" indent="0" algn="l">
              <a:lnSpc>
                <a:spcPts val="1061"/>
              </a:lnSpc>
              <a:spcBef>
                <a:spcPts val="100"/>
              </a:spcBef>
              <a:spcAft>
                <a:spcPts val="0"/>
              </a:spcAft>
              <a:buNone/>
            </a:pPr>
            <a:r>
              <a:rPr sz="931" b="0" i="1">
                <a:solidFill>
                  <a:srgbClr val="B2A7C4"/>
                </a:solidFill>
                <a:latin typeface="Fira Sans"/>
              </a:rPr>
              <a:t>The Simplex and Policy-Iteration Methods
Are Strongly Polynomial…</a:t>
            </a:r>
          </a:p>
        </p:txBody>
      </p:sp>
      <p:pic>
        <p:nvPicPr>
          <p:cNvPr id="9" name="Picture 8" descr="image.png"/>
          <p:cNvPicPr>
            <a:picLocks noChangeAspect="1"/>
          </p:cNvPicPr>
          <p:nvPr/>
        </p:nvPicPr>
        <p:blipFill>
          <a:blip r:embed="rId2"/>
          <a:stretch>
            <a:fillRect/>
          </a:stretch>
        </p:blipFill>
        <p:spPr>
          <a:xfrm>
            <a:off x="10561320" y="5623560"/>
            <a:ext cx="786384" cy="527320"/>
          </a:xfrm>
          <a:prstGeom prst="rect">
            <a:avLst/>
          </a:prstGeom>
        </p:spPr>
      </p:pic>
    </p:spTree>
  </p:cSld>
  <p:clrMapOvr>
    <a:masterClrMapping/>
  </p:clrMapOvr>
</p:sld>
</file>

<file path=ppt/theme/theme1.xml><?xml version="1.0" encoding="utf-8"?>
<a:theme xmlns:a="http://schemas.openxmlformats.org/drawingml/2006/main" name="Tema di Office">
  <a:themeElements>
    <a:clrScheme name="ingegneria">
      <a:dk1>
        <a:srgbClr val="000000"/>
      </a:dk1>
      <a:lt1>
        <a:srgbClr val="FFFFFF"/>
      </a:lt1>
      <a:dk2>
        <a:srgbClr val="000000"/>
      </a:dk2>
      <a:lt2>
        <a:srgbClr val="E7E6E6"/>
      </a:lt2>
      <a:accent1>
        <a:srgbClr val="574676"/>
      </a:accent1>
      <a:accent2>
        <a:srgbClr val="574676"/>
      </a:accent2>
      <a:accent3>
        <a:srgbClr val="574676"/>
      </a:accent3>
      <a:accent4>
        <a:srgbClr val="574676"/>
      </a:accent4>
      <a:accent5>
        <a:srgbClr val="574676"/>
      </a:accent5>
      <a:accent6>
        <a:srgbClr val="574676"/>
      </a:accent6>
      <a:hlink>
        <a:srgbClr val="574676"/>
      </a:hlink>
      <a:folHlink>
        <a:srgbClr val="E7E6E6"/>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marL="0" indent="0" algn="l">
          <a:buNone/>
          <a:defRPr sz="1050" b="0" i="1" dirty="0" smtClean="0">
            <a:latin typeface="Fira Sans" panose="020B0503050000020004" pitchFamily="34" charset="0"/>
          </a:defRPr>
        </a:defPPr>
      </a:lstStyle>
    </a:txDef>
  </a:objectDefaults>
  <a:extraClrSchemeLst/>
  <a:extLst>
    <a:ext uri="{05A4C25C-085E-4340-85A3-A5531E510DB2}">
      <thm15:themeFamily xmlns:thm15="http://schemas.microsoft.com/office/thememl/2012/main" name="Presentation2" id="{9E943207-3816-4CB4-949D-1A150629494E}" vid="{FBF57FA0-DAAF-4234-A026-6691D98987D1}"/>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481</TotalTime>
  <Words>11327</Words>
  <Application>Microsoft Macintosh PowerPoint</Application>
  <PresentationFormat>Widescreen</PresentationFormat>
  <Paragraphs>1064</Paragraphs>
  <Slides>50</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50</vt:i4>
      </vt:variant>
    </vt:vector>
  </HeadingPairs>
  <TitlesOfParts>
    <vt:vector size="57" baseType="lpstr">
      <vt:lpstr>Fira Sans</vt:lpstr>
      <vt:lpstr>Fira Sans Medium</vt:lpstr>
      <vt:lpstr>Roboto Slab</vt:lpstr>
      <vt:lpstr>Arial</vt:lpstr>
      <vt:lpstr>Consolas</vt:lpstr>
      <vt:lpstr>Calibri</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Programming — Chapter 03</dc:title>
  <dc:subject>Reinforcement Learning, Chapter 03: Dynamic Programming</dc:subject>
  <dc:creator>Riccardo Berta</dc:creator>
  <cp:keywords/>
  <dc:description>Companion lecture slides generated from the Chapter 03 lecture notes (notes.ipynb), on the DITEN widescreen template. Figures reused from the notes; mathematics typeset in LaTeX as vector graphics.</dc:description>
  <cp:lastModifiedBy>Riccardo Berta</cp:lastModifiedBy>
  <cp:revision>6</cp:revision>
  <cp:lastPrinted>2019-04-15T13:03:12Z</cp:lastPrinted>
  <dcterms:created xsi:type="dcterms:W3CDTF">2020-06-03T21:02:46Z</dcterms:created>
  <dcterms:modified xsi:type="dcterms:W3CDTF">2026-10-22T07:41:15Z</dcterms:modified>
  <cp:category>University lecture slides</cp:category>
</cp:coreProperties>
</file>