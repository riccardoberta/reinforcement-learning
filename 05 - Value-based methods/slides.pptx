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7"/>
  </p:notesMasterIdLst>
  <p:handoutMasterIdLst>
    <p:handoutMasterId r:id="rId4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embeddedFontLst>
    <p:embeddedFont>
      <p:font typeface="Consolas" panose="020B0609020204030204" pitchFamily="49" charset="0"/>
      <p:regular r:id="rId49"/>
      <p:bold r:id="rId50"/>
      <p:italic r:id="rId51"/>
      <p:boldItalic r:id="rId52"/>
    </p:embeddedFont>
    <p:embeddedFont>
      <p:font typeface="Fira Sans" panose="020B0503050000020004" pitchFamily="34" charset="0"/>
      <p:regular r:id="rId53"/>
      <p:bold r:id="rId54"/>
      <p:italic r:id="rId55"/>
      <p:boldItalic r:id="rId56"/>
    </p:embeddedFont>
    <p:embeddedFont>
      <p:font typeface="Fira Sans Medium" panose="020B0603050000020004" pitchFamily="34" charset="0"/>
      <p:regular r:id="rId57"/>
      <p:italic r:id="rId58"/>
    </p:embeddedFont>
    <p:embeddedFont>
      <p:font typeface="Roboto Slab" pitchFamily="2" charset="0"/>
      <p:regular r:id="rId59"/>
      <p:bold r:id="rId60"/>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444965-B894-124E-8CED-49FEFCBD6A3E}" v="8" dt="2026-10-06T10:17:42.27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33" autoAdjust="0"/>
    <p:restoredTop sz="86441"/>
  </p:normalViewPr>
  <p:slideViewPr>
    <p:cSldViewPr snapToGrid="0" snapToObjects="1" showGuides="1">
      <p:cViewPr varScale="1">
        <p:scale>
          <a:sx n="127" d="100"/>
          <a:sy n="127" d="100"/>
        </p:scale>
        <p:origin x="72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redo custSel modSld">
      <pc:chgData name="Riccardo Berta" userId="c8694f89-bba4-4576-b0a8-456619ca5a8c" providerId="ADAL" clId="{FDDBFC5A-5EA9-5330-BEB8-433D7E3B4C4E}" dt="2026-10-06T10:25:02.552" v="1158" actId="113"/>
      <pc:docMkLst>
        <pc:docMk/>
      </pc:docMkLst>
      <pc:sldChg chg="modSp mod">
        <pc:chgData name="Riccardo Berta" userId="c8694f89-bba4-4576-b0a8-456619ca5a8c" providerId="ADAL" clId="{FDDBFC5A-5EA9-5330-BEB8-433D7E3B4C4E}" dt="2026-10-05T11:51:33.204" v="47" actId="1035"/>
        <pc:sldMkLst>
          <pc:docMk/>
          <pc:sldMk cId="0" sldId="258"/>
        </pc:sldMkLst>
        <pc:spChg chg="mod">
          <ac:chgData name="Riccardo Berta" userId="c8694f89-bba4-4576-b0a8-456619ca5a8c" providerId="ADAL" clId="{FDDBFC5A-5EA9-5330-BEB8-433D7E3B4C4E}" dt="2026-10-05T11:51:12.945" v="38" actId="20577"/>
          <ac:spMkLst>
            <pc:docMk/>
            <pc:sldMk cId="0" sldId="258"/>
            <ac:spMk id="3" creationId="{00000000-0000-0000-0000-000000000000}"/>
          </ac:spMkLst>
        </pc:spChg>
        <pc:spChg chg="mod">
          <ac:chgData name="Riccardo Berta" userId="c8694f89-bba4-4576-b0a8-456619ca5a8c" providerId="ADAL" clId="{FDDBFC5A-5EA9-5330-BEB8-433D7E3B4C4E}" dt="2026-10-05T11:51:33.204" v="47" actId="1035"/>
          <ac:spMkLst>
            <pc:docMk/>
            <pc:sldMk cId="0" sldId="258"/>
            <ac:spMk id="8" creationId="{00000000-0000-0000-0000-000000000000}"/>
          </ac:spMkLst>
        </pc:spChg>
        <pc:spChg chg="mod">
          <ac:chgData name="Riccardo Berta" userId="c8694f89-bba4-4576-b0a8-456619ca5a8c" providerId="ADAL" clId="{FDDBFC5A-5EA9-5330-BEB8-433D7E3B4C4E}" dt="2026-10-05T11:51:19.546" v="40" actId="1076"/>
          <ac:spMkLst>
            <pc:docMk/>
            <pc:sldMk cId="0" sldId="258"/>
            <ac:spMk id="10" creationId="{00000000-0000-0000-0000-000000000000}"/>
          </ac:spMkLst>
        </pc:spChg>
        <pc:picChg chg="mod">
          <ac:chgData name="Riccardo Berta" userId="c8694f89-bba4-4576-b0a8-456619ca5a8c" providerId="ADAL" clId="{FDDBFC5A-5EA9-5330-BEB8-433D7E3B4C4E}" dt="2026-10-05T11:51:23.731" v="42" actId="1076"/>
          <ac:picMkLst>
            <pc:docMk/>
            <pc:sldMk cId="0" sldId="258"/>
            <ac:picMk id="9" creationId="{00000000-0000-0000-0000-000000000000}"/>
          </ac:picMkLst>
        </pc:picChg>
      </pc:sldChg>
      <pc:sldChg chg="modSp mod">
        <pc:chgData name="Riccardo Berta" userId="c8694f89-bba4-4576-b0a8-456619ca5a8c" providerId="ADAL" clId="{FDDBFC5A-5EA9-5330-BEB8-433D7E3B4C4E}" dt="2026-10-05T11:51:40.154" v="50" actId="313"/>
        <pc:sldMkLst>
          <pc:docMk/>
          <pc:sldMk cId="0" sldId="259"/>
        </pc:sldMkLst>
        <pc:spChg chg="mod">
          <ac:chgData name="Riccardo Berta" userId="c8694f89-bba4-4576-b0a8-456619ca5a8c" providerId="ADAL" clId="{FDDBFC5A-5EA9-5330-BEB8-433D7E3B4C4E}" dt="2026-10-05T11:51:40.154" v="50" actId="313"/>
          <ac:spMkLst>
            <pc:docMk/>
            <pc:sldMk cId="0" sldId="259"/>
            <ac:spMk id="14" creationId="{00000000-0000-0000-0000-000000000000}"/>
          </ac:spMkLst>
        </pc:spChg>
      </pc:sldChg>
      <pc:sldChg chg="modSp mod">
        <pc:chgData name="Riccardo Berta" userId="c8694f89-bba4-4576-b0a8-456619ca5a8c" providerId="ADAL" clId="{FDDBFC5A-5EA9-5330-BEB8-433D7E3B4C4E}" dt="2026-10-05T11:52:03.931" v="59" actId="113"/>
        <pc:sldMkLst>
          <pc:docMk/>
          <pc:sldMk cId="0" sldId="260"/>
        </pc:sldMkLst>
        <pc:spChg chg="mod">
          <ac:chgData name="Riccardo Berta" userId="c8694f89-bba4-4576-b0a8-456619ca5a8c" providerId="ADAL" clId="{FDDBFC5A-5EA9-5330-BEB8-433D7E3B4C4E}" dt="2026-10-05T11:52:03.931" v="59" actId="113"/>
          <ac:spMkLst>
            <pc:docMk/>
            <pc:sldMk cId="0" sldId="260"/>
            <ac:spMk id="8" creationId="{00000000-0000-0000-0000-000000000000}"/>
          </ac:spMkLst>
        </pc:spChg>
        <pc:picChg chg="mod">
          <ac:chgData name="Riccardo Berta" userId="c8694f89-bba4-4576-b0a8-456619ca5a8c" providerId="ADAL" clId="{FDDBFC5A-5EA9-5330-BEB8-433D7E3B4C4E}" dt="2026-10-05T11:51:55.765" v="53" actId="1076"/>
          <ac:picMkLst>
            <pc:docMk/>
            <pc:sldMk cId="0" sldId="260"/>
            <ac:picMk id="10" creationId="{00000000-0000-0000-0000-000000000000}"/>
          </ac:picMkLst>
        </pc:picChg>
      </pc:sldChg>
      <pc:sldChg chg="modSp mod">
        <pc:chgData name="Riccardo Berta" userId="c8694f89-bba4-4576-b0a8-456619ca5a8c" providerId="ADAL" clId="{FDDBFC5A-5EA9-5330-BEB8-433D7E3B4C4E}" dt="2026-10-05T11:51:03.132" v="36" actId="20577"/>
        <pc:sldMkLst>
          <pc:docMk/>
          <pc:sldMk cId="0" sldId="261"/>
        </pc:sldMkLst>
        <pc:spChg chg="mod">
          <ac:chgData name="Riccardo Berta" userId="c8694f89-bba4-4576-b0a8-456619ca5a8c" providerId="ADAL" clId="{FDDBFC5A-5EA9-5330-BEB8-433D7E3B4C4E}" dt="2026-10-05T11:51:03.132" v="36" actId="20577"/>
          <ac:spMkLst>
            <pc:docMk/>
            <pc:sldMk cId="0" sldId="261"/>
            <ac:spMk id="3" creationId="{00000000-0000-0000-0000-000000000000}"/>
          </ac:spMkLst>
        </pc:spChg>
        <pc:spChg chg="mod">
          <ac:chgData name="Riccardo Berta" userId="c8694f89-bba4-4576-b0a8-456619ca5a8c" providerId="ADAL" clId="{FDDBFC5A-5EA9-5330-BEB8-433D7E3B4C4E}" dt="2026-10-05T11:50:24.333" v="6" actId="20577"/>
          <ac:spMkLst>
            <pc:docMk/>
            <pc:sldMk cId="0" sldId="261"/>
            <ac:spMk id="8" creationId="{00000000-0000-0000-0000-000000000000}"/>
          </ac:spMkLst>
        </pc:spChg>
        <pc:spChg chg="mod">
          <ac:chgData name="Riccardo Berta" userId="c8694f89-bba4-4576-b0a8-456619ca5a8c" providerId="ADAL" clId="{FDDBFC5A-5EA9-5330-BEB8-433D7E3B4C4E}" dt="2026-10-05T11:50:29.382" v="7" actId="1076"/>
          <ac:spMkLst>
            <pc:docMk/>
            <pc:sldMk cId="0" sldId="261"/>
            <ac:spMk id="10" creationId="{00000000-0000-0000-0000-000000000000}"/>
          </ac:spMkLst>
        </pc:spChg>
        <pc:spChg chg="mod">
          <ac:chgData name="Riccardo Berta" userId="c8694f89-bba4-4576-b0a8-456619ca5a8c" providerId="ADAL" clId="{FDDBFC5A-5EA9-5330-BEB8-433D7E3B4C4E}" dt="2026-10-05T11:50:33.087" v="8" actId="1076"/>
          <ac:spMkLst>
            <pc:docMk/>
            <pc:sldMk cId="0" sldId="261"/>
            <ac:spMk id="11" creationId="{00000000-0000-0000-0000-000000000000}"/>
          </ac:spMkLst>
        </pc:spChg>
        <pc:spChg chg="mod">
          <ac:chgData name="Riccardo Berta" userId="c8694f89-bba4-4576-b0a8-456619ca5a8c" providerId="ADAL" clId="{FDDBFC5A-5EA9-5330-BEB8-433D7E3B4C4E}" dt="2026-10-05T11:50:36.860" v="9" actId="1076"/>
          <ac:spMkLst>
            <pc:docMk/>
            <pc:sldMk cId="0" sldId="261"/>
            <ac:spMk id="13" creationId="{00000000-0000-0000-0000-000000000000}"/>
          </ac:spMkLst>
        </pc:spChg>
        <pc:picChg chg="mod">
          <ac:chgData name="Riccardo Berta" userId="c8694f89-bba4-4576-b0a8-456619ca5a8c" providerId="ADAL" clId="{FDDBFC5A-5EA9-5330-BEB8-433D7E3B4C4E}" dt="2026-10-05T11:50:20.670" v="1" actId="1076"/>
          <ac:picMkLst>
            <pc:docMk/>
            <pc:sldMk cId="0" sldId="261"/>
            <ac:picMk id="9" creationId="{00000000-0000-0000-0000-000000000000}"/>
          </ac:picMkLst>
        </pc:picChg>
        <pc:picChg chg="mod">
          <ac:chgData name="Riccardo Berta" userId="c8694f89-bba4-4576-b0a8-456619ca5a8c" providerId="ADAL" clId="{FDDBFC5A-5EA9-5330-BEB8-433D7E3B4C4E}" dt="2026-10-05T11:50:44.695" v="12" actId="1076"/>
          <ac:picMkLst>
            <pc:docMk/>
            <pc:sldMk cId="0" sldId="261"/>
            <ac:picMk id="12" creationId="{00000000-0000-0000-0000-000000000000}"/>
          </ac:picMkLst>
        </pc:picChg>
      </pc:sldChg>
      <pc:sldChg chg="modSp mod">
        <pc:chgData name="Riccardo Berta" userId="c8694f89-bba4-4576-b0a8-456619ca5a8c" providerId="ADAL" clId="{FDDBFC5A-5EA9-5330-BEB8-433D7E3B4C4E}" dt="2026-10-05T11:52:18.302" v="61" actId="20577"/>
        <pc:sldMkLst>
          <pc:docMk/>
          <pc:sldMk cId="0" sldId="262"/>
        </pc:sldMkLst>
        <pc:spChg chg="mod">
          <ac:chgData name="Riccardo Berta" userId="c8694f89-bba4-4576-b0a8-456619ca5a8c" providerId="ADAL" clId="{FDDBFC5A-5EA9-5330-BEB8-433D7E3B4C4E}" dt="2026-10-05T11:52:18.302" v="61" actId="20577"/>
          <ac:spMkLst>
            <pc:docMk/>
            <pc:sldMk cId="0" sldId="262"/>
            <ac:spMk id="6" creationId="{00000000-0000-0000-0000-000000000000}"/>
          </ac:spMkLst>
        </pc:spChg>
      </pc:sldChg>
      <pc:sldChg chg="modSp mod">
        <pc:chgData name="Riccardo Berta" userId="c8694f89-bba4-4576-b0a8-456619ca5a8c" providerId="ADAL" clId="{FDDBFC5A-5EA9-5330-BEB8-433D7E3B4C4E}" dt="2026-10-05T11:52:50.349" v="78" actId="20577"/>
        <pc:sldMkLst>
          <pc:docMk/>
          <pc:sldMk cId="0" sldId="263"/>
        </pc:sldMkLst>
        <pc:spChg chg="mod">
          <ac:chgData name="Riccardo Berta" userId="c8694f89-bba4-4576-b0a8-456619ca5a8c" providerId="ADAL" clId="{FDDBFC5A-5EA9-5330-BEB8-433D7E3B4C4E}" dt="2026-10-05T11:52:50.349" v="78" actId="20577"/>
          <ac:spMkLst>
            <pc:docMk/>
            <pc:sldMk cId="0" sldId="263"/>
            <ac:spMk id="3" creationId="{00000000-0000-0000-0000-000000000000}"/>
          </ac:spMkLst>
        </pc:spChg>
        <pc:spChg chg="mod">
          <ac:chgData name="Riccardo Berta" userId="c8694f89-bba4-4576-b0a8-456619ca5a8c" providerId="ADAL" clId="{FDDBFC5A-5EA9-5330-BEB8-433D7E3B4C4E}" dt="2026-10-05T11:52:38.549" v="69" actId="20577"/>
          <ac:spMkLst>
            <pc:docMk/>
            <pc:sldMk cId="0" sldId="263"/>
            <ac:spMk id="8" creationId="{00000000-0000-0000-0000-000000000000}"/>
          </ac:spMkLst>
        </pc:spChg>
        <pc:picChg chg="mod">
          <ac:chgData name="Riccardo Berta" userId="c8694f89-bba4-4576-b0a8-456619ca5a8c" providerId="ADAL" clId="{FDDBFC5A-5EA9-5330-BEB8-433D7E3B4C4E}" dt="2026-10-05T11:52:30.116" v="64" actId="1076"/>
          <ac:picMkLst>
            <pc:docMk/>
            <pc:sldMk cId="0" sldId="263"/>
            <ac:picMk id="9" creationId="{00000000-0000-0000-0000-000000000000}"/>
          </ac:picMkLst>
        </pc:picChg>
      </pc:sldChg>
      <pc:sldChg chg="addSp modSp mod">
        <pc:chgData name="Riccardo Berta" userId="c8694f89-bba4-4576-b0a8-456619ca5a8c" providerId="ADAL" clId="{FDDBFC5A-5EA9-5330-BEB8-433D7E3B4C4E}" dt="2026-10-06T08:50:45.891" v="1021" actId="1076"/>
        <pc:sldMkLst>
          <pc:docMk/>
          <pc:sldMk cId="0" sldId="264"/>
        </pc:sldMkLst>
        <pc:spChg chg="mod">
          <ac:chgData name="Riccardo Berta" userId="c8694f89-bba4-4576-b0a8-456619ca5a8c" providerId="ADAL" clId="{FDDBFC5A-5EA9-5330-BEB8-433D7E3B4C4E}" dt="2026-10-05T11:52:58.022" v="81" actId="1076"/>
          <ac:spMkLst>
            <pc:docMk/>
            <pc:sldMk cId="0" sldId="264"/>
            <ac:spMk id="8" creationId="{00000000-0000-0000-0000-000000000000}"/>
          </ac:spMkLst>
        </pc:spChg>
        <pc:spChg chg="mod">
          <ac:chgData name="Riccardo Berta" userId="c8694f89-bba4-4576-b0a8-456619ca5a8c" providerId="ADAL" clId="{FDDBFC5A-5EA9-5330-BEB8-433D7E3B4C4E}" dt="2026-10-05T11:54:04.502" v="119" actId="20577"/>
          <ac:spMkLst>
            <pc:docMk/>
            <pc:sldMk cId="0" sldId="264"/>
            <ac:spMk id="11" creationId="{00000000-0000-0000-0000-000000000000}"/>
          </ac:spMkLst>
        </pc:spChg>
        <pc:spChg chg="mod">
          <ac:chgData name="Riccardo Berta" userId="c8694f89-bba4-4576-b0a8-456619ca5a8c" providerId="ADAL" clId="{FDDBFC5A-5EA9-5330-BEB8-433D7E3B4C4E}" dt="2026-10-05T11:54:21.601" v="123" actId="20577"/>
          <ac:spMkLst>
            <pc:docMk/>
            <pc:sldMk cId="0" sldId="264"/>
            <ac:spMk id="17" creationId="{00000000-0000-0000-0000-000000000000}"/>
          </ac:spMkLst>
        </pc:spChg>
        <pc:picChg chg="mod">
          <ac:chgData name="Riccardo Berta" userId="c8694f89-bba4-4576-b0a8-456619ca5a8c" providerId="ADAL" clId="{FDDBFC5A-5EA9-5330-BEB8-433D7E3B4C4E}" dt="2026-10-05T11:53:51.390" v="113" actId="1038"/>
          <ac:picMkLst>
            <pc:docMk/>
            <pc:sldMk cId="0" sldId="264"/>
            <ac:picMk id="9" creationId="{00000000-0000-0000-0000-000000000000}"/>
          </ac:picMkLst>
        </pc:picChg>
        <pc:picChg chg="mod modCrop">
          <ac:chgData name="Riccardo Berta" userId="c8694f89-bba4-4576-b0a8-456619ca5a8c" providerId="ADAL" clId="{FDDBFC5A-5EA9-5330-BEB8-433D7E3B4C4E}" dt="2026-10-06T08:50:43.929" v="1020" actId="1076"/>
          <ac:picMkLst>
            <pc:docMk/>
            <pc:sldMk cId="0" sldId="264"/>
            <ac:picMk id="10" creationId="{00000000-0000-0000-0000-000000000000}"/>
          </ac:picMkLst>
        </pc:picChg>
        <pc:picChg chg="add mod">
          <ac:chgData name="Riccardo Berta" userId="c8694f89-bba4-4576-b0a8-456619ca5a8c" providerId="ADAL" clId="{FDDBFC5A-5EA9-5330-BEB8-433D7E3B4C4E}" dt="2026-10-05T11:53:39.116" v="92" actId="1076"/>
          <ac:picMkLst>
            <pc:docMk/>
            <pc:sldMk cId="0" sldId="264"/>
            <ac:picMk id="19" creationId="{B3F7BB08-D45E-61A4-4940-CC57C53CC0B3}"/>
          </ac:picMkLst>
        </pc:picChg>
        <pc:picChg chg="add mod">
          <ac:chgData name="Riccardo Berta" userId="c8694f89-bba4-4576-b0a8-456619ca5a8c" providerId="ADAL" clId="{FDDBFC5A-5EA9-5330-BEB8-433D7E3B4C4E}" dt="2026-10-06T08:50:45.891" v="1021" actId="1076"/>
          <ac:picMkLst>
            <pc:docMk/>
            <pc:sldMk cId="0" sldId="264"/>
            <ac:picMk id="21" creationId="{1B5D3D39-6E6E-F522-8A4F-57CD24DACB32}"/>
          </ac:picMkLst>
        </pc:picChg>
      </pc:sldChg>
      <pc:sldChg chg="modSp mod">
        <pc:chgData name="Riccardo Berta" userId="c8694f89-bba4-4576-b0a8-456619ca5a8c" providerId="ADAL" clId="{FDDBFC5A-5EA9-5330-BEB8-433D7E3B4C4E}" dt="2026-10-06T08:54:40.707" v="1023" actId="1076"/>
        <pc:sldMkLst>
          <pc:docMk/>
          <pc:sldMk cId="0" sldId="265"/>
        </pc:sldMkLst>
        <pc:spChg chg="mod">
          <ac:chgData name="Riccardo Berta" userId="c8694f89-bba4-4576-b0a8-456619ca5a8c" providerId="ADAL" clId="{FDDBFC5A-5EA9-5330-BEB8-433D7E3B4C4E}" dt="2026-10-05T11:54:56.962" v="129" actId="20577"/>
          <ac:spMkLst>
            <pc:docMk/>
            <pc:sldMk cId="0" sldId="265"/>
            <ac:spMk id="15" creationId="{00000000-0000-0000-0000-000000000000}"/>
          </ac:spMkLst>
        </pc:spChg>
        <pc:picChg chg="mod">
          <ac:chgData name="Riccardo Berta" userId="c8694f89-bba4-4576-b0a8-456619ca5a8c" providerId="ADAL" clId="{FDDBFC5A-5EA9-5330-BEB8-433D7E3B4C4E}" dt="2026-10-06T08:54:40.707" v="1023" actId="1076"/>
          <ac:picMkLst>
            <pc:docMk/>
            <pc:sldMk cId="0" sldId="265"/>
            <ac:picMk id="10" creationId="{00000000-0000-0000-0000-000000000000}"/>
          </ac:picMkLst>
        </pc:picChg>
        <pc:picChg chg="mod">
          <ac:chgData name="Riccardo Berta" userId="c8694f89-bba4-4576-b0a8-456619ca5a8c" providerId="ADAL" clId="{FDDBFC5A-5EA9-5330-BEB8-433D7E3B4C4E}" dt="2026-10-05T11:54:34.615" v="127" actId="14100"/>
          <ac:picMkLst>
            <pc:docMk/>
            <pc:sldMk cId="0" sldId="265"/>
            <ac:picMk id="17" creationId="{00000000-0000-0000-0000-000000000000}"/>
          </ac:picMkLst>
        </pc:picChg>
      </pc:sldChg>
      <pc:sldChg chg="modSp mod">
        <pc:chgData name="Riccardo Berta" userId="c8694f89-bba4-4576-b0a8-456619ca5a8c" providerId="ADAL" clId="{FDDBFC5A-5EA9-5330-BEB8-433D7E3B4C4E}" dt="2026-10-05T11:55:55.558" v="195" actId="14100"/>
        <pc:sldMkLst>
          <pc:docMk/>
          <pc:sldMk cId="0" sldId="266"/>
        </pc:sldMkLst>
        <pc:spChg chg="mod">
          <ac:chgData name="Riccardo Berta" userId="c8694f89-bba4-4576-b0a8-456619ca5a8c" providerId="ADAL" clId="{FDDBFC5A-5EA9-5330-BEB8-433D7E3B4C4E}" dt="2026-10-05T11:55:28.918" v="160" actId="1035"/>
          <ac:spMkLst>
            <pc:docMk/>
            <pc:sldMk cId="0" sldId="266"/>
            <ac:spMk id="5" creationId="{00000000-0000-0000-0000-000000000000}"/>
          </ac:spMkLst>
        </pc:spChg>
        <pc:spChg chg="mod">
          <ac:chgData name="Riccardo Berta" userId="c8694f89-bba4-4576-b0a8-456619ca5a8c" providerId="ADAL" clId="{FDDBFC5A-5EA9-5330-BEB8-433D7E3B4C4E}" dt="2026-10-05T11:55:10.939" v="140" actId="1035"/>
          <ac:spMkLst>
            <pc:docMk/>
            <pc:sldMk cId="0" sldId="266"/>
            <ac:spMk id="11" creationId="{00000000-0000-0000-0000-000000000000}"/>
          </ac:spMkLst>
        </pc:spChg>
        <pc:spChg chg="mod">
          <ac:chgData name="Riccardo Berta" userId="c8694f89-bba4-4576-b0a8-456619ca5a8c" providerId="ADAL" clId="{FDDBFC5A-5EA9-5330-BEB8-433D7E3B4C4E}" dt="2026-10-05T11:55:16.721" v="147" actId="1035"/>
          <ac:spMkLst>
            <pc:docMk/>
            <pc:sldMk cId="0" sldId="266"/>
            <ac:spMk id="12" creationId="{00000000-0000-0000-0000-000000000000}"/>
          </ac:spMkLst>
        </pc:spChg>
        <pc:spChg chg="mod">
          <ac:chgData name="Riccardo Berta" userId="c8694f89-bba4-4576-b0a8-456619ca5a8c" providerId="ADAL" clId="{FDDBFC5A-5EA9-5330-BEB8-433D7E3B4C4E}" dt="2026-10-05T11:55:20.029" v="156" actId="1035"/>
          <ac:spMkLst>
            <pc:docMk/>
            <pc:sldMk cId="0" sldId="266"/>
            <ac:spMk id="13" creationId="{00000000-0000-0000-0000-000000000000}"/>
          </ac:spMkLst>
        </pc:spChg>
        <pc:spChg chg="mod">
          <ac:chgData name="Riccardo Berta" userId="c8694f89-bba4-4576-b0a8-456619ca5a8c" providerId="ADAL" clId="{FDDBFC5A-5EA9-5330-BEB8-433D7E3B4C4E}" dt="2026-10-05T11:55:42.809" v="191" actId="20577"/>
          <ac:spMkLst>
            <pc:docMk/>
            <pc:sldMk cId="0" sldId="266"/>
            <ac:spMk id="15" creationId="{00000000-0000-0000-0000-000000000000}"/>
          </ac:spMkLst>
        </pc:spChg>
        <pc:spChg chg="mod">
          <ac:chgData name="Riccardo Berta" userId="c8694f89-bba4-4576-b0a8-456619ca5a8c" providerId="ADAL" clId="{FDDBFC5A-5EA9-5330-BEB8-433D7E3B4C4E}" dt="2026-10-05T11:55:16.721" v="147" actId="1035"/>
          <ac:spMkLst>
            <pc:docMk/>
            <pc:sldMk cId="0" sldId="266"/>
            <ac:spMk id="16" creationId="{00000000-0000-0000-0000-000000000000}"/>
          </ac:spMkLst>
        </pc:spChg>
        <pc:spChg chg="mod">
          <ac:chgData name="Riccardo Berta" userId="c8694f89-bba4-4576-b0a8-456619ca5a8c" providerId="ADAL" clId="{FDDBFC5A-5EA9-5330-BEB8-433D7E3B4C4E}" dt="2026-10-05T11:55:20.029" v="156" actId="1035"/>
          <ac:spMkLst>
            <pc:docMk/>
            <pc:sldMk cId="0" sldId="266"/>
            <ac:spMk id="17" creationId="{00000000-0000-0000-0000-000000000000}"/>
          </ac:spMkLst>
        </pc:spChg>
        <pc:spChg chg="mod">
          <ac:chgData name="Riccardo Berta" userId="c8694f89-bba4-4576-b0a8-456619ca5a8c" providerId="ADAL" clId="{FDDBFC5A-5EA9-5330-BEB8-433D7E3B4C4E}" dt="2026-10-05T11:55:38.984" v="186" actId="1036"/>
          <ac:spMkLst>
            <pc:docMk/>
            <pc:sldMk cId="0" sldId="266"/>
            <ac:spMk id="19" creationId="{00000000-0000-0000-0000-000000000000}"/>
          </ac:spMkLst>
        </pc:spChg>
        <pc:spChg chg="mod">
          <ac:chgData name="Riccardo Berta" userId="c8694f89-bba4-4576-b0a8-456619ca5a8c" providerId="ADAL" clId="{FDDBFC5A-5EA9-5330-BEB8-433D7E3B4C4E}" dt="2026-10-05T11:55:34.384" v="170" actId="1036"/>
          <ac:spMkLst>
            <pc:docMk/>
            <pc:sldMk cId="0" sldId="266"/>
            <ac:spMk id="20" creationId="{00000000-0000-0000-0000-000000000000}"/>
          </ac:spMkLst>
        </pc:spChg>
        <pc:spChg chg="mod">
          <ac:chgData name="Riccardo Berta" userId="c8694f89-bba4-4576-b0a8-456619ca5a8c" providerId="ADAL" clId="{FDDBFC5A-5EA9-5330-BEB8-433D7E3B4C4E}" dt="2026-10-05T11:55:34.384" v="170" actId="1036"/>
          <ac:spMkLst>
            <pc:docMk/>
            <pc:sldMk cId="0" sldId="266"/>
            <ac:spMk id="21" creationId="{00000000-0000-0000-0000-000000000000}"/>
          </ac:spMkLst>
        </pc:spChg>
        <pc:spChg chg="mod">
          <ac:chgData name="Riccardo Berta" userId="c8694f89-bba4-4576-b0a8-456619ca5a8c" providerId="ADAL" clId="{FDDBFC5A-5EA9-5330-BEB8-433D7E3B4C4E}" dt="2026-10-05T11:55:34.384" v="170" actId="1036"/>
          <ac:spMkLst>
            <pc:docMk/>
            <pc:sldMk cId="0" sldId="266"/>
            <ac:spMk id="22" creationId="{00000000-0000-0000-0000-000000000000}"/>
          </ac:spMkLst>
        </pc:spChg>
        <pc:picChg chg="mod">
          <ac:chgData name="Riccardo Berta" userId="c8694f89-bba4-4576-b0a8-456619ca5a8c" providerId="ADAL" clId="{FDDBFC5A-5EA9-5330-BEB8-433D7E3B4C4E}" dt="2026-10-05T11:55:03.853" v="130" actId="1076"/>
          <ac:picMkLst>
            <pc:docMk/>
            <pc:sldMk cId="0" sldId="266"/>
            <ac:picMk id="9" creationId="{00000000-0000-0000-0000-000000000000}"/>
          </ac:picMkLst>
        </pc:picChg>
        <pc:picChg chg="mod">
          <ac:chgData name="Riccardo Berta" userId="c8694f89-bba4-4576-b0a8-456619ca5a8c" providerId="ADAL" clId="{FDDBFC5A-5EA9-5330-BEB8-433D7E3B4C4E}" dt="2026-10-05T11:55:51.190" v="194" actId="14100"/>
          <ac:picMkLst>
            <pc:docMk/>
            <pc:sldMk cId="0" sldId="266"/>
            <ac:picMk id="14" creationId="{00000000-0000-0000-0000-000000000000}"/>
          </ac:picMkLst>
        </pc:picChg>
        <pc:picChg chg="mod">
          <ac:chgData name="Riccardo Berta" userId="c8694f89-bba4-4576-b0a8-456619ca5a8c" providerId="ADAL" clId="{FDDBFC5A-5EA9-5330-BEB8-433D7E3B4C4E}" dt="2026-10-05T11:55:55.558" v="195" actId="14100"/>
          <ac:picMkLst>
            <pc:docMk/>
            <pc:sldMk cId="0" sldId="266"/>
            <ac:picMk id="18" creationId="{00000000-0000-0000-0000-000000000000}"/>
          </ac:picMkLst>
        </pc:picChg>
      </pc:sldChg>
      <pc:sldChg chg="modSp mod">
        <pc:chgData name="Riccardo Berta" userId="c8694f89-bba4-4576-b0a8-456619ca5a8c" providerId="ADAL" clId="{FDDBFC5A-5EA9-5330-BEB8-433D7E3B4C4E}" dt="2026-10-05T11:56:20.645" v="198" actId="20577"/>
        <pc:sldMkLst>
          <pc:docMk/>
          <pc:sldMk cId="0" sldId="267"/>
        </pc:sldMkLst>
        <pc:spChg chg="mod">
          <ac:chgData name="Riccardo Berta" userId="c8694f89-bba4-4576-b0a8-456619ca5a8c" providerId="ADAL" clId="{FDDBFC5A-5EA9-5330-BEB8-433D7E3B4C4E}" dt="2026-10-05T11:56:20.645" v="198" actId="20577"/>
          <ac:spMkLst>
            <pc:docMk/>
            <pc:sldMk cId="0" sldId="267"/>
            <ac:spMk id="8" creationId="{00000000-0000-0000-0000-000000000000}"/>
          </ac:spMkLst>
        </pc:spChg>
      </pc:sldChg>
      <pc:sldChg chg="modSp mod">
        <pc:chgData name="Riccardo Berta" userId="c8694f89-bba4-4576-b0a8-456619ca5a8c" providerId="ADAL" clId="{FDDBFC5A-5EA9-5330-BEB8-433D7E3B4C4E}" dt="2026-10-06T09:07:15.397" v="1025" actId="14100"/>
        <pc:sldMkLst>
          <pc:docMk/>
          <pc:sldMk cId="0" sldId="268"/>
        </pc:sldMkLst>
        <pc:spChg chg="mod">
          <ac:chgData name="Riccardo Berta" userId="c8694f89-bba4-4576-b0a8-456619ca5a8c" providerId="ADAL" clId="{FDDBFC5A-5EA9-5330-BEB8-433D7E3B4C4E}" dt="2026-10-06T09:07:15.397" v="1025" actId="14100"/>
          <ac:spMkLst>
            <pc:docMk/>
            <pc:sldMk cId="0" sldId="268"/>
            <ac:spMk id="11" creationId="{00000000-0000-0000-0000-000000000000}"/>
          </ac:spMkLst>
        </pc:spChg>
        <pc:spChg chg="mod">
          <ac:chgData name="Riccardo Berta" userId="c8694f89-bba4-4576-b0a8-456619ca5a8c" providerId="ADAL" clId="{FDDBFC5A-5EA9-5330-BEB8-433D7E3B4C4E}" dt="2026-10-05T11:57:17.758" v="211" actId="20577"/>
          <ac:spMkLst>
            <pc:docMk/>
            <pc:sldMk cId="0" sldId="268"/>
            <ac:spMk id="12" creationId="{00000000-0000-0000-0000-000000000000}"/>
          </ac:spMkLst>
        </pc:spChg>
        <pc:spChg chg="mod">
          <ac:chgData name="Riccardo Berta" userId="c8694f89-bba4-4576-b0a8-456619ca5a8c" providerId="ADAL" clId="{FDDBFC5A-5EA9-5330-BEB8-433D7E3B4C4E}" dt="2026-10-05T11:57:41.653" v="214" actId="20577"/>
          <ac:spMkLst>
            <pc:docMk/>
            <pc:sldMk cId="0" sldId="268"/>
            <ac:spMk id="21" creationId="{00000000-0000-0000-0000-000000000000}"/>
          </ac:spMkLst>
        </pc:spChg>
      </pc:sldChg>
      <pc:sldChg chg="delSp modSp mod">
        <pc:chgData name="Riccardo Berta" userId="c8694f89-bba4-4576-b0a8-456619ca5a8c" providerId="ADAL" clId="{FDDBFC5A-5EA9-5330-BEB8-433D7E3B4C4E}" dt="2026-10-05T11:59:02.853" v="251" actId="14100"/>
        <pc:sldMkLst>
          <pc:docMk/>
          <pc:sldMk cId="0" sldId="269"/>
        </pc:sldMkLst>
        <pc:spChg chg="mod">
          <ac:chgData name="Riccardo Berta" userId="c8694f89-bba4-4576-b0a8-456619ca5a8c" providerId="ADAL" clId="{FDDBFC5A-5EA9-5330-BEB8-433D7E3B4C4E}" dt="2026-10-05T11:58:31.321" v="243" actId="1036"/>
          <ac:spMkLst>
            <pc:docMk/>
            <pc:sldMk cId="0" sldId="269"/>
            <ac:spMk id="10" creationId="{00000000-0000-0000-0000-000000000000}"/>
          </ac:spMkLst>
        </pc:spChg>
        <pc:spChg chg="mod">
          <ac:chgData name="Riccardo Berta" userId="c8694f89-bba4-4576-b0a8-456619ca5a8c" providerId="ADAL" clId="{FDDBFC5A-5EA9-5330-BEB8-433D7E3B4C4E}" dt="2026-10-05T11:58:25.770" v="235" actId="1036"/>
          <ac:spMkLst>
            <pc:docMk/>
            <pc:sldMk cId="0" sldId="269"/>
            <ac:spMk id="11" creationId="{00000000-0000-0000-0000-000000000000}"/>
          </ac:spMkLst>
        </pc:spChg>
        <pc:spChg chg="mod">
          <ac:chgData name="Riccardo Berta" userId="c8694f89-bba4-4576-b0a8-456619ca5a8c" providerId="ADAL" clId="{FDDBFC5A-5EA9-5330-BEB8-433D7E3B4C4E}" dt="2026-10-05T11:58:25.770" v="235" actId="1036"/>
          <ac:spMkLst>
            <pc:docMk/>
            <pc:sldMk cId="0" sldId="269"/>
            <ac:spMk id="12" creationId="{00000000-0000-0000-0000-000000000000}"/>
          </ac:spMkLst>
        </pc:spChg>
        <pc:spChg chg="mod">
          <ac:chgData name="Riccardo Berta" userId="c8694f89-bba4-4576-b0a8-456619ca5a8c" providerId="ADAL" clId="{FDDBFC5A-5EA9-5330-BEB8-433D7E3B4C4E}" dt="2026-10-05T11:58:25.770" v="235" actId="1036"/>
          <ac:spMkLst>
            <pc:docMk/>
            <pc:sldMk cId="0" sldId="269"/>
            <ac:spMk id="13" creationId="{00000000-0000-0000-0000-000000000000}"/>
          </ac:spMkLst>
        </pc:spChg>
        <pc:spChg chg="mod">
          <ac:chgData name="Riccardo Berta" userId="c8694f89-bba4-4576-b0a8-456619ca5a8c" providerId="ADAL" clId="{FDDBFC5A-5EA9-5330-BEB8-433D7E3B4C4E}" dt="2026-10-05T11:58:25.770" v="235" actId="1036"/>
          <ac:spMkLst>
            <pc:docMk/>
            <pc:sldMk cId="0" sldId="269"/>
            <ac:spMk id="14" creationId="{00000000-0000-0000-0000-000000000000}"/>
          </ac:spMkLst>
        </pc:spChg>
        <pc:spChg chg="del mod">
          <ac:chgData name="Riccardo Berta" userId="c8694f89-bba4-4576-b0a8-456619ca5a8c" providerId="ADAL" clId="{FDDBFC5A-5EA9-5330-BEB8-433D7E3B4C4E}" dt="2026-10-05T11:58:53.037" v="248" actId="478"/>
          <ac:spMkLst>
            <pc:docMk/>
            <pc:sldMk cId="0" sldId="269"/>
            <ac:spMk id="44" creationId="{00000000-0000-0000-0000-000000000000}"/>
          </ac:spMkLst>
        </pc:spChg>
        <pc:picChg chg="mod">
          <ac:chgData name="Riccardo Berta" userId="c8694f89-bba4-4576-b0a8-456619ca5a8c" providerId="ADAL" clId="{FDDBFC5A-5EA9-5330-BEB8-433D7E3B4C4E}" dt="2026-10-05T11:58:35.671" v="244" actId="14100"/>
          <ac:picMkLst>
            <pc:docMk/>
            <pc:sldMk cId="0" sldId="269"/>
            <ac:picMk id="9" creationId="{00000000-0000-0000-0000-000000000000}"/>
          </ac:picMkLst>
        </pc:picChg>
        <pc:picChg chg="mod">
          <ac:chgData name="Riccardo Berta" userId="c8694f89-bba4-4576-b0a8-456619ca5a8c" providerId="ADAL" clId="{FDDBFC5A-5EA9-5330-BEB8-433D7E3B4C4E}" dt="2026-10-05T11:59:02.853" v="251" actId="14100"/>
          <ac:picMkLst>
            <pc:docMk/>
            <pc:sldMk cId="0" sldId="269"/>
            <ac:picMk id="43" creationId="{00000000-0000-0000-0000-000000000000}"/>
          </ac:picMkLst>
        </pc:picChg>
      </pc:sldChg>
      <pc:sldChg chg="modSp mod">
        <pc:chgData name="Riccardo Berta" userId="c8694f89-bba4-4576-b0a8-456619ca5a8c" providerId="ADAL" clId="{FDDBFC5A-5EA9-5330-BEB8-433D7E3B4C4E}" dt="2026-10-05T11:59:38.505" v="253" actId="20577"/>
        <pc:sldMkLst>
          <pc:docMk/>
          <pc:sldMk cId="0" sldId="270"/>
        </pc:sldMkLst>
        <pc:spChg chg="mod">
          <ac:chgData name="Riccardo Berta" userId="c8694f89-bba4-4576-b0a8-456619ca5a8c" providerId="ADAL" clId="{FDDBFC5A-5EA9-5330-BEB8-433D7E3B4C4E}" dt="2026-10-05T11:59:38.505" v="253" actId="20577"/>
          <ac:spMkLst>
            <pc:docMk/>
            <pc:sldMk cId="0" sldId="270"/>
            <ac:spMk id="6" creationId="{00000000-0000-0000-0000-000000000000}"/>
          </ac:spMkLst>
        </pc:spChg>
      </pc:sldChg>
      <pc:sldChg chg="modSp mod">
        <pc:chgData name="Riccardo Berta" userId="c8694f89-bba4-4576-b0a8-456619ca5a8c" providerId="ADAL" clId="{FDDBFC5A-5EA9-5330-BEB8-433D7E3B4C4E}" dt="2026-10-05T12:01:04.875" v="286" actId="20577"/>
        <pc:sldMkLst>
          <pc:docMk/>
          <pc:sldMk cId="0" sldId="271"/>
        </pc:sldMkLst>
        <pc:spChg chg="mod">
          <ac:chgData name="Riccardo Berta" userId="c8694f89-bba4-4576-b0a8-456619ca5a8c" providerId="ADAL" clId="{FDDBFC5A-5EA9-5330-BEB8-433D7E3B4C4E}" dt="2026-10-05T11:59:55.958" v="258" actId="20577"/>
          <ac:spMkLst>
            <pc:docMk/>
            <pc:sldMk cId="0" sldId="271"/>
            <ac:spMk id="8" creationId="{00000000-0000-0000-0000-000000000000}"/>
          </ac:spMkLst>
        </pc:spChg>
        <pc:spChg chg="mod">
          <ac:chgData name="Riccardo Berta" userId="c8694f89-bba4-4576-b0a8-456619ca5a8c" providerId="ADAL" clId="{FDDBFC5A-5EA9-5330-BEB8-433D7E3B4C4E}" dt="2026-10-05T12:00:02.740" v="259" actId="14100"/>
          <ac:spMkLst>
            <pc:docMk/>
            <pc:sldMk cId="0" sldId="271"/>
            <ac:spMk id="9" creationId="{00000000-0000-0000-0000-000000000000}"/>
          </ac:spMkLst>
        </pc:spChg>
        <pc:spChg chg="mod">
          <ac:chgData name="Riccardo Berta" userId="c8694f89-bba4-4576-b0a8-456619ca5a8c" providerId="ADAL" clId="{FDDBFC5A-5EA9-5330-BEB8-433D7E3B4C4E}" dt="2026-10-05T12:00:06.536" v="260" actId="14100"/>
          <ac:spMkLst>
            <pc:docMk/>
            <pc:sldMk cId="0" sldId="271"/>
            <ac:spMk id="13" creationId="{00000000-0000-0000-0000-000000000000}"/>
          </ac:spMkLst>
        </pc:spChg>
        <pc:spChg chg="mod">
          <ac:chgData name="Riccardo Berta" userId="c8694f89-bba4-4576-b0a8-456619ca5a8c" providerId="ADAL" clId="{FDDBFC5A-5EA9-5330-BEB8-433D7E3B4C4E}" dt="2026-10-05T12:01:04.875" v="286" actId="20577"/>
          <ac:spMkLst>
            <pc:docMk/>
            <pc:sldMk cId="0" sldId="271"/>
            <ac:spMk id="16" creationId="{00000000-0000-0000-0000-000000000000}"/>
          </ac:spMkLst>
        </pc:spChg>
        <pc:spChg chg="mod">
          <ac:chgData name="Riccardo Berta" userId="c8694f89-bba4-4576-b0a8-456619ca5a8c" providerId="ADAL" clId="{FDDBFC5A-5EA9-5330-BEB8-433D7E3B4C4E}" dt="2026-10-05T12:00:23.794" v="272" actId="1035"/>
          <ac:spMkLst>
            <pc:docMk/>
            <pc:sldMk cId="0" sldId="271"/>
            <ac:spMk id="18" creationId="{00000000-0000-0000-0000-000000000000}"/>
          </ac:spMkLst>
        </pc:spChg>
        <pc:spChg chg="mod">
          <ac:chgData name="Riccardo Berta" userId="c8694f89-bba4-4576-b0a8-456619ca5a8c" providerId="ADAL" clId="{FDDBFC5A-5EA9-5330-BEB8-433D7E3B4C4E}" dt="2026-10-05T12:00:34.317" v="275" actId="1076"/>
          <ac:spMkLst>
            <pc:docMk/>
            <pc:sldMk cId="0" sldId="271"/>
            <ac:spMk id="20" creationId="{00000000-0000-0000-0000-000000000000}"/>
          </ac:spMkLst>
        </pc:spChg>
        <pc:picChg chg="mod">
          <ac:chgData name="Riccardo Berta" userId="c8694f89-bba4-4576-b0a8-456619ca5a8c" providerId="ADAL" clId="{FDDBFC5A-5EA9-5330-BEB8-433D7E3B4C4E}" dt="2026-10-05T12:00:09.338" v="261" actId="1076"/>
          <ac:picMkLst>
            <pc:docMk/>
            <pc:sldMk cId="0" sldId="271"/>
            <ac:picMk id="17" creationId="{00000000-0000-0000-0000-000000000000}"/>
          </ac:picMkLst>
        </pc:picChg>
        <pc:picChg chg="mod">
          <ac:chgData name="Riccardo Berta" userId="c8694f89-bba4-4576-b0a8-456619ca5a8c" providerId="ADAL" clId="{FDDBFC5A-5EA9-5330-BEB8-433D7E3B4C4E}" dt="2026-10-05T12:00:29.370" v="274" actId="14100"/>
          <ac:picMkLst>
            <pc:docMk/>
            <pc:sldMk cId="0" sldId="271"/>
            <ac:picMk id="19" creationId="{00000000-0000-0000-0000-000000000000}"/>
          </ac:picMkLst>
        </pc:picChg>
      </pc:sldChg>
      <pc:sldChg chg="modSp mod">
        <pc:chgData name="Riccardo Berta" userId="c8694f89-bba4-4576-b0a8-456619ca5a8c" providerId="ADAL" clId="{FDDBFC5A-5EA9-5330-BEB8-433D7E3B4C4E}" dt="2026-10-06T09:17:58.036" v="1027" actId="113"/>
        <pc:sldMkLst>
          <pc:docMk/>
          <pc:sldMk cId="0" sldId="273"/>
        </pc:sldMkLst>
        <pc:spChg chg="mod">
          <ac:chgData name="Riccardo Berta" userId="c8694f89-bba4-4576-b0a8-456619ca5a8c" providerId="ADAL" clId="{FDDBFC5A-5EA9-5330-BEB8-433D7E3B4C4E}" dt="2026-10-05T12:02:26.445" v="291" actId="20577"/>
          <ac:spMkLst>
            <pc:docMk/>
            <pc:sldMk cId="0" sldId="273"/>
            <ac:spMk id="8" creationId="{00000000-0000-0000-0000-000000000000}"/>
          </ac:spMkLst>
        </pc:spChg>
        <pc:spChg chg="mod">
          <ac:chgData name="Riccardo Berta" userId="c8694f89-bba4-4576-b0a8-456619ca5a8c" providerId="ADAL" clId="{FDDBFC5A-5EA9-5330-BEB8-433D7E3B4C4E}" dt="2026-10-05T12:03:08.016" v="311" actId="20577"/>
          <ac:spMkLst>
            <pc:docMk/>
            <pc:sldMk cId="0" sldId="273"/>
            <ac:spMk id="15" creationId="{00000000-0000-0000-0000-000000000000}"/>
          </ac:spMkLst>
        </pc:spChg>
        <pc:spChg chg="mod">
          <ac:chgData name="Riccardo Berta" userId="c8694f89-bba4-4576-b0a8-456619ca5a8c" providerId="ADAL" clId="{FDDBFC5A-5EA9-5330-BEB8-433D7E3B4C4E}" dt="2026-10-05T12:03:18.740" v="316" actId="20577"/>
          <ac:spMkLst>
            <pc:docMk/>
            <pc:sldMk cId="0" sldId="273"/>
            <ac:spMk id="18" creationId="{00000000-0000-0000-0000-000000000000}"/>
          </ac:spMkLst>
        </pc:spChg>
        <pc:spChg chg="mod">
          <ac:chgData name="Riccardo Berta" userId="c8694f89-bba4-4576-b0a8-456619ca5a8c" providerId="ADAL" clId="{FDDBFC5A-5EA9-5330-BEB8-433D7E3B4C4E}" dt="2026-10-06T09:17:58.036" v="1027" actId="113"/>
          <ac:spMkLst>
            <pc:docMk/>
            <pc:sldMk cId="0" sldId="273"/>
            <ac:spMk id="21" creationId="{00000000-0000-0000-0000-000000000000}"/>
          </ac:spMkLst>
        </pc:spChg>
        <pc:picChg chg="mod">
          <ac:chgData name="Riccardo Berta" userId="c8694f89-bba4-4576-b0a8-456619ca5a8c" providerId="ADAL" clId="{FDDBFC5A-5EA9-5330-BEB8-433D7E3B4C4E}" dt="2026-10-05T12:02:40.829" v="294" actId="1076"/>
          <ac:picMkLst>
            <pc:docMk/>
            <pc:sldMk cId="0" sldId="273"/>
            <ac:picMk id="10" creationId="{00000000-0000-0000-0000-000000000000}"/>
          </ac:picMkLst>
        </pc:picChg>
      </pc:sldChg>
      <pc:sldChg chg="delSp modSp mod">
        <pc:chgData name="Riccardo Berta" userId="c8694f89-bba4-4576-b0a8-456619ca5a8c" providerId="ADAL" clId="{FDDBFC5A-5EA9-5330-BEB8-433D7E3B4C4E}" dt="2026-10-06T09:19:46.959" v="1046" actId="1076"/>
        <pc:sldMkLst>
          <pc:docMk/>
          <pc:sldMk cId="0" sldId="274"/>
        </pc:sldMkLst>
        <pc:spChg chg="del">
          <ac:chgData name="Riccardo Berta" userId="c8694f89-bba4-4576-b0a8-456619ca5a8c" providerId="ADAL" clId="{FDDBFC5A-5EA9-5330-BEB8-433D7E3B4C4E}" dt="2026-10-05T12:03:43.714" v="317" actId="478"/>
          <ac:spMkLst>
            <pc:docMk/>
            <pc:sldMk cId="0" sldId="274"/>
            <ac:spMk id="10" creationId="{00000000-0000-0000-0000-000000000000}"/>
          </ac:spMkLst>
        </pc:spChg>
        <pc:spChg chg="mod">
          <ac:chgData name="Riccardo Berta" userId="c8694f89-bba4-4576-b0a8-456619ca5a8c" providerId="ADAL" clId="{FDDBFC5A-5EA9-5330-BEB8-433D7E3B4C4E}" dt="2026-10-06T09:19:46.959" v="1046" actId="1076"/>
          <ac:spMkLst>
            <pc:docMk/>
            <pc:sldMk cId="0" sldId="274"/>
            <ac:spMk id="11" creationId="{00000000-0000-0000-0000-000000000000}"/>
          </ac:spMkLst>
        </pc:spChg>
        <pc:spChg chg="mod">
          <ac:chgData name="Riccardo Berta" userId="c8694f89-bba4-4576-b0a8-456619ca5a8c" providerId="ADAL" clId="{FDDBFC5A-5EA9-5330-BEB8-433D7E3B4C4E}" dt="2026-10-05T12:13:16.612" v="332" actId="20577"/>
          <ac:spMkLst>
            <pc:docMk/>
            <pc:sldMk cId="0" sldId="274"/>
            <ac:spMk id="17" creationId="{00000000-0000-0000-0000-000000000000}"/>
          </ac:spMkLst>
        </pc:spChg>
        <pc:spChg chg="mod">
          <ac:chgData name="Riccardo Berta" userId="c8694f89-bba4-4576-b0a8-456619ca5a8c" providerId="ADAL" clId="{FDDBFC5A-5EA9-5330-BEB8-433D7E3B4C4E}" dt="2026-10-05T12:13:28.515" v="340" actId="20577"/>
          <ac:spMkLst>
            <pc:docMk/>
            <pc:sldMk cId="0" sldId="274"/>
            <ac:spMk id="21" creationId="{00000000-0000-0000-0000-000000000000}"/>
          </ac:spMkLst>
        </pc:spChg>
      </pc:sldChg>
      <pc:sldChg chg="delSp modSp mod">
        <pc:chgData name="Riccardo Berta" userId="c8694f89-bba4-4576-b0a8-456619ca5a8c" providerId="ADAL" clId="{FDDBFC5A-5EA9-5330-BEB8-433D7E3B4C4E}" dt="2026-10-05T12:14:49.913" v="415" actId="20577"/>
        <pc:sldMkLst>
          <pc:docMk/>
          <pc:sldMk cId="0" sldId="275"/>
        </pc:sldMkLst>
        <pc:spChg chg="mod">
          <ac:chgData name="Riccardo Berta" userId="c8694f89-bba4-4576-b0a8-456619ca5a8c" providerId="ADAL" clId="{FDDBFC5A-5EA9-5330-BEB8-433D7E3B4C4E}" dt="2026-10-05T12:14:20.583" v="397" actId="20577"/>
          <ac:spMkLst>
            <pc:docMk/>
            <pc:sldMk cId="0" sldId="275"/>
            <ac:spMk id="10" creationId="{00000000-0000-0000-0000-000000000000}"/>
          </ac:spMkLst>
        </pc:spChg>
        <pc:spChg chg="mod">
          <ac:chgData name="Riccardo Berta" userId="c8694f89-bba4-4576-b0a8-456619ca5a8c" providerId="ADAL" clId="{FDDBFC5A-5EA9-5330-BEB8-433D7E3B4C4E}" dt="2026-10-05T12:14:06.340" v="372" actId="1036"/>
          <ac:spMkLst>
            <pc:docMk/>
            <pc:sldMk cId="0" sldId="275"/>
            <ac:spMk id="11" creationId="{00000000-0000-0000-0000-000000000000}"/>
          </ac:spMkLst>
        </pc:spChg>
        <pc:spChg chg="mod">
          <ac:chgData name="Riccardo Berta" userId="c8694f89-bba4-4576-b0a8-456619ca5a8c" providerId="ADAL" clId="{FDDBFC5A-5EA9-5330-BEB8-433D7E3B4C4E}" dt="2026-10-05T12:14:06.340" v="372" actId="1036"/>
          <ac:spMkLst>
            <pc:docMk/>
            <pc:sldMk cId="0" sldId="275"/>
            <ac:spMk id="12" creationId="{00000000-0000-0000-0000-000000000000}"/>
          </ac:spMkLst>
        </pc:spChg>
        <pc:spChg chg="mod">
          <ac:chgData name="Riccardo Berta" userId="c8694f89-bba4-4576-b0a8-456619ca5a8c" providerId="ADAL" clId="{FDDBFC5A-5EA9-5330-BEB8-433D7E3B4C4E}" dt="2026-10-05T12:14:06.340" v="372" actId="1036"/>
          <ac:spMkLst>
            <pc:docMk/>
            <pc:sldMk cId="0" sldId="275"/>
            <ac:spMk id="13" creationId="{00000000-0000-0000-0000-000000000000}"/>
          </ac:spMkLst>
        </pc:spChg>
        <pc:spChg chg="del">
          <ac:chgData name="Riccardo Berta" userId="c8694f89-bba4-4576-b0a8-456619ca5a8c" providerId="ADAL" clId="{FDDBFC5A-5EA9-5330-BEB8-433D7E3B4C4E}" dt="2026-10-05T12:14:30.978" v="398" actId="478"/>
          <ac:spMkLst>
            <pc:docMk/>
            <pc:sldMk cId="0" sldId="275"/>
            <ac:spMk id="42" creationId="{00000000-0000-0000-0000-000000000000}"/>
          </ac:spMkLst>
        </pc:spChg>
        <pc:spChg chg="mod">
          <ac:chgData name="Riccardo Berta" userId="c8694f89-bba4-4576-b0a8-456619ca5a8c" providerId="ADAL" clId="{FDDBFC5A-5EA9-5330-BEB8-433D7E3B4C4E}" dt="2026-10-05T12:14:35.664" v="409" actId="1036"/>
          <ac:spMkLst>
            <pc:docMk/>
            <pc:sldMk cId="0" sldId="275"/>
            <ac:spMk id="43" creationId="{00000000-0000-0000-0000-000000000000}"/>
          </ac:spMkLst>
        </pc:spChg>
        <pc:spChg chg="mod">
          <ac:chgData name="Riccardo Berta" userId="c8694f89-bba4-4576-b0a8-456619ca5a8c" providerId="ADAL" clId="{FDDBFC5A-5EA9-5330-BEB8-433D7E3B4C4E}" dt="2026-10-05T12:14:35.664" v="409" actId="1036"/>
          <ac:spMkLst>
            <pc:docMk/>
            <pc:sldMk cId="0" sldId="275"/>
            <ac:spMk id="44" creationId="{00000000-0000-0000-0000-000000000000}"/>
          </ac:spMkLst>
        </pc:spChg>
        <pc:spChg chg="mod">
          <ac:chgData name="Riccardo Berta" userId="c8694f89-bba4-4576-b0a8-456619ca5a8c" providerId="ADAL" clId="{FDDBFC5A-5EA9-5330-BEB8-433D7E3B4C4E}" dt="2026-10-05T12:14:49.913" v="415" actId="20577"/>
          <ac:spMkLst>
            <pc:docMk/>
            <pc:sldMk cId="0" sldId="275"/>
            <ac:spMk id="45" creationId="{00000000-0000-0000-0000-000000000000}"/>
          </ac:spMkLst>
        </pc:spChg>
        <pc:picChg chg="mod">
          <ac:chgData name="Riccardo Berta" userId="c8694f89-bba4-4576-b0a8-456619ca5a8c" providerId="ADAL" clId="{FDDBFC5A-5EA9-5330-BEB8-433D7E3B4C4E}" dt="2026-10-05T12:13:43.515" v="343" actId="14100"/>
          <ac:picMkLst>
            <pc:docMk/>
            <pc:sldMk cId="0" sldId="275"/>
            <ac:picMk id="9" creationId="{00000000-0000-0000-0000-000000000000}"/>
          </ac:picMkLst>
        </pc:picChg>
        <pc:picChg chg="mod">
          <ac:chgData name="Riccardo Berta" userId="c8694f89-bba4-4576-b0a8-456619ca5a8c" providerId="ADAL" clId="{FDDBFC5A-5EA9-5330-BEB8-433D7E3B4C4E}" dt="2026-10-05T12:14:41.388" v="411" actId="14100"/>
          <ac:picMkLst>
            <pc:docMk/>
            <pc:sldMk cId="0" sldId="275"/>
            <ac:picMk id="41" creationId="{00000000-0000-0000-0000-000000000000}"/>
          </ac:picMkLst>
        </pc:picChg>
      </pc:sldChg>
      <pc:sldChg chg="modSp mod">
        <pc:chgData name="Riccardo Berta" userId="c8694f89-bba4-4576-b0a8-456619ca5a8c" providerId="ADAL" clId="{FDDBFC5A-5EA9-5330-BEB8-433D7E3B4C4E}" dt="2026-10-06T09:29:46.153" v="1047" actId="1076"/>
        <pc:sldMkLst>
          <pc:docMk/>
          <pc:sldMk cId="0" sldId="277"/>
        </pc:sldMkLst>
        <pc:spChg chg="mod">
          <ac:chgData name="Riccardo Berta" userId="c8694f89-bba4-4576-b0a8-456619ca5a8c" providerId="ADAL" clId="{FDDBFC5A-5EA9-5330-BEB8-433D7E3B4C4E}" dt="2026-10-05T12:15:20.383" v="428" actId="1035"/>
          <ac:spMkLst>
            <pc:docMk/>
            <pc:sldMk cId="0" sldId="277"/>
            <ac:spMk id="10" creationId="{00000000-0000-0000-0000-000000000000}"/>
          </ac:spMkLst>
        </pc:spChg>
        <pc:spChg chg="mod">
          <ac:chgData name="Riccardo Berta" userId="c8694f89-bba4-4576-b0a8-456619ca5a8c" providerId="ADAL" clId="{FDDBFC5A-5EA9-5330-BEB8-433D7E3B4C4E}" dt="2026-10-05T12:16:09.576" v="433" actId="20577"/>
          <ac:spMkLst>
            <pc:docMk/>
            <pc:sldMk cId="0" sldId="277"/>
            <ac:spMk id="13" creationId="{00000000-0000-0000-0000-000000000000}"/>
          </ac:spMkLst>
        </pc:spChg>
        <pc:picChg chg="mod">
          <ac:chgData name="Riccardo Berta" userId="c8694f89-bba4-4576-b0a8-456619ca5a8c" providerId="ADAL" clId="{FDDBFC5A-5EA9-5330-BEB8-433D7E3B4C4E}" dt="2026-10-06T09:29:46.153" v="1047" actId="1076"/>
          <ac:picMkLst>
            <pc:docMk/>
            <pc:sldMk cId="0" sldId="277"/>
            <ac:picMk id="9" creationId="{00000000-0000-0000-0000-000000000000}"/>
          </ac:picMkLst>
        </pc:picChg>
      </pc:sldChg>
      <pc:sldChg chg="modSp mod">
        <pc:chgData name="Riccardo Berta" userId="c8694f89-bba4-4576-b0a8-456619ca5a8c" providerId="ADAL" clId="{FDDBFC5A-5EA9-5330-BEB8-433D7E3B4C4E}" dt="2026-10-05T12:17:34.859" v="445" actId="20577"/>
        <pc:sldMkLst>
          <pc:docMk/>
          <pc:sldMk cId="0" sldId="278"/>
        </pc:sldMkLst>
        <pc:spChg chg="mod">
          <ac:chgData name="Riccardo Berta" userId="c8694f89-bba4-4576-b0a8-456619ca5a8c" providerId="ADAL" clId="{FDDBFC5A-5EA9-5330-BEB8-433D7E3B4C4E}" dt="2026-10-05T12:17:34.859" v="445" actId="20577"/>
          <ac:spMkLst>
            <pc:docMk/>
            <pc:sldMk cId="0" sldId="278"/>
            <ac:spMk id="3" creationId="{00000000-0000-0000-0000-000000000000}"/>
          </ac:spMkLst>
        </pc:spChg>
        <pc:spChg chg="mod">
          <ac:chgData name="Riccardo Berta" userId="c8694f89-bba4-4576-b0a8-456619ca5a8c" providerId="ADAL" clId="{FDDBFC5A-5EA9-5330-BEB8-433D7E3B4C4E}" dt="2026-10-05T12:17:14.048" v="441" actId="20577"/>
          <ac:spMkLst>
            <pc:docMk/>
            <pc:sldMk cId="0" sldId="278"/>
            <ac:spMk id="15" creationId="{00000000-0000-0000-0000-000000000000}"/>
          </ac:spMkLst>
        </pc:spChg>
        <pc:spChg chg="mod">
          <ac:chgData name="Riccardo Berta" userId="c8694f89-bba4-4576-b0a8-456619ca5a8c" providerId="ADAL" clId="{FDDBFC5A-5EA9-5330-BEB8-433D7E3B4C4E}" dt="2026-10-05T12:17:22.063" v="444" actId="20577"/>
          <ac:spMkLst>
            <pc:docMk/>
            <pc:sldMk cId="0" sldId="278"/>
            <ac:spMk id="18" creationId="{00000000-0000-0000-0000-000000000000}"/>
          </ac:spMkLst>
        </pc:spChg>
        <pc:picChg chg="mod">
          <ac:chgData name="Riccardo Berta" userId="c8694f89-bba4-4576-b0a8-456619ca5a8c" providerId="ADAL" clId="{FDDBFC5A-5EA9-5330-BEB8-433D7E3B4C4E}" dt="2026-10-05T12:16:46.553" v="434" actId="1076"/>
          <ac:picMkLst>
            <pc:docMk/>
            <pc:sldMk cId="0" sldId="278"/>
            <ac:picMk id="10" creationId="{00000000-0000-0000-0000-000000000000}"/>
          </ac:picMkLst>
        </pc:picChg>
      </pc:sldChg>
      <pc:sldChg chg="addSp delSp modSp mod">
        <pc:chgData name="Riccardo Berta" userId="c8694f89-bba4-4576-b0a8-456619ca5a8c" providerId="ADAL" clId="{FDDBFC5A-5EA9-5330-BEB8-433D7E3B4C4E}" dt="2026-10-05T12:18:43.248" v="529" actId="14100"/>
        <pc:sldMkLst>
          <pc:docMk/>
          <pc:sldMk cId="0" sldId="279"/>
        </pc:sldMkLst>
        <pc:spChg chg="mod">
          <ac:chgData name="Riccardo Berta" userId="c8694f89-bba4-4576-b0a8-456619ca5a8c" providerId="ADAL" clId="{FDDBFC5A-5EA9-5330-BEB8-433D7E3B4C4E}" dt="2026-10-05T12:18:14.670" v="510" actId="1036"/>
          <ac:spMkLst>
            <pc:docMk/>
            <pc:sldMk cId="0" sldId="279"/>
            <ac:spMk id="10" creationId="{00000000-0000-0000-0000-000000000000}"/>
          </ac:spMkLst>
        </pc:spChg>
        <pc:spChg chg="mod">
          <ac:chgData name="Riccardo Berta" userId="c8694f89-bba4-4576-b0a8-456619ca5a8c" providerId="ADAL" clId="{FDDBFC5A-5EA9-5330-BEB8-433D7E3B4C4E}" dt="2026-10-05T12:18:04.841" v="481" actId="1036"/>
          <ac:spMkLst>
            <pc:docMk/>
            <pc:sldMk cId="0" sldId="279"/>
            <ac:spMk id="12" creationId="{00000000-0000-0000-0000-000000000000}"/>
          </ac:spMkLst>
        </pc:spChg>
        <pc:spChg chg="mod">
          <ac:chgData name="Riccardo Berta" userId="c8694f89-bba4-4576-b0a8-456619ca5a8c" providerId="ADAL" clId="{FDDBFC5A-5EA9-5330-BEB8-433D7E3B4C4E}" dt="2026-10-05T12:18:04.841" v="481" actId="1036"/>
          <ac:spMkLst>
            <pc:docMk/>
            <pc:sldMk cId="0" sldId="279"/>
            <ac:spMk id="13" creationId="{00000000-0000-0000-0000-000000000000}"/>
          </ac:spMkLst>
        </pc:spChg>
        <pc:spChg chg="mod">
          <ac:chgData name="Riccardo Berta" userId="c8694f89-bba4-4576-b0a8-456619ca5a8c" providerId="ADAL" clId="{FDDBFC5A-5EA9-5330-BEB8-433D7E3B4C4E}" dt="2026-10-05T12:18:04.841" v="481" actId="1036"/>
          <ac:spMkLst>
            <pc:docMk/>
            <pc:sldMk cId="0" sldId="279"/>
            <ac:spMk id="14" creationId="{00000000-0000-0000-0000-000000000000}"/>
          </ac:spMkLst>
        </pc:spChg>
        <pc:spChg chg="del mod">
          <ac:chgData name="Riccardo Berta" userId="c8694f89-bba4-4576-b0a8-456619ca5a8c" providerId="ADAL" clId="{FDDBFC5A-5EA9-5330-BEB8-433D7E3B4C4E}" dt="2026-10-05T12:18:21.652" v="512" actId="478"/>
          <ac:spMkLst>
            <pc:docMk/>
            <pc:sldMk cId="0" sldId="279"/>
            <ac:spMk id="43" creationId="{00000000-0000-0000-0000-000000000000}"/>
          </ac:spMkLst>
        </pc:spChg>
        <pc:spChg chg="mod">
          <ac:chgData name="Riccardo Berta" userId="c8694f89-bba4-4576-b0a8-456619ca5a8c" providerId="ADAL" clId="{FDDBFC5A-5EA9-5330-BEB8-433D7E3B4C4E}" dt="2026-10-05T12:18:37.777" v="527" actId="1036"/>
          <ac:spMkLst>
            <pc:docMk/>
            <pc:sldMk cId="0" sldId="279"/>
            <ac:spMk id="44" creationId="{00000000-0000-0000-0000-000000000000}"/>
          </ac:spMkLst>
        </pc:spChg>
        <pc:spChg chg="mod">
          <ac:chgData name="Riccardo Berta" userId="c8694f89-bba4-4576-b0a8-456619ca5a8c" providerId="ADAL" clId="{FDDBFC5A-5EA9-5330-BEB8-433D7E3B4C4E}" dt="2026-10-05T12:18:37.777" v="527" actId="1036"/>
          <ac:spMkLst>
            <pc:docMk/>
            <pc:sldMk cId="0" sldId="279"/>
            <ac:spMk id="45" creationId="{00000000-0000-0000-0000-000000000000}"/>
          </ac:spMkLst>
        </pc:spChg>
        <pc:spChg chg="mod">
          <ac:chgData name="Riccardo Berta" userId="c8694f89-bba4-4576-b0a8-456619ca5a8c" providerId="ADAL" clId="{FDDBFC5A-5EA9-5330-BEB8-433D7E3B4C4E}" dt="2026-10-05T12:18:37.777" v="527" actId="1036"/>
          <ac:spMkLst>
            <pc:docMk/>
            <pc:sldMk cId="0" sldId="279"/>
            <ac:spMk id="46" creationId="{00000000-0000-0000-0000-000000000000}"/>
          </ac:spMkLst>
        </pc:spChg>
        <pc:spChg chg="add del mod">
          <ac:chgData name="Riccardo Berta" userId="c8694f89-bba4-4576-b0a8-456619ca5a8c" providerId="ADAL" clId="{FDDBFC5A-5EA9-5330-BEB8-433D7E3B4C4E}" dt="2026-10-05T12:17:55.718" v="451" actId="478"/>
          <ac:spMkLst>
            <pc:docMk/>
            <pc:sldMk cId="0" sldId="279"/>
            <ac:spMk id="47" creationId="{30CF8F66-D83A-B7C9-DF2D-22171A45F1FE}"/>
          </ac:spMkLst>
        </pc:spChg>
        <pc:picChg chg="mod">
          <ac:chgData name="Riccardo Berta" userId="c8694f89-bba4-4576-b0a8-456619ca5a8c" providerId="ADAL" clId="{FDDBFC5A-5EA9-5330-BEB8-433D7E3B4C4E}" dt="2026-10-05T12:17:46.675" v="448" actId="1076"/>
          <ac:picMkLst>
            <pc:docMk/>
            <pc:sldMk cId="0" sldId="279"/>
            <ac:picMk id="9" creationId="{00000000-0000-0000-0000-000000000000}"/>
          </ac:picMkLst>
        </pc:picChg>
        <pc:picChg chg="mod">
          <ac:chgData name="Riccardo Berta" userId="c8694f89-bba4-4576-b0a8-456619ca5a8c" providerId="ADAL" clId="{FDDBFC5A-5EA9-5330-BEB8-433D7E3B4C4E}" dt="2026-10-05T12:18:09.190" v="496" actId="1036"/>
          <ac:picMkLst>
            <pc:docMk/>
            <pc:sldMk cId="0" sldId="279"/>
            <ac:picMk id="11" creationId="{00000000-0000-0000-0000-000000000000}"/>
          </ac:picMkLst>
        </pc:picChg>
        <pc:picChg chg="mod">
          <ac:chgData name="Riccardo Berta" userId="c8694f89-bba4-4576-b0a8-456619ca5a8c" providerId="ADAL" clId="{FDDBFC5A-5EA9-5330-BEB8-433D7E3B4C4E}" dt="2026-10-05T12:18:43.248" v="529" actId="14100"/>
          <ac:picMkLst>
            <pc:docMk/>
            <pc:sldMk cId="0" sldId="279"/>
            <ac:picMk id="42" creationId="{00000000-0000-0000-0000-000000000000}"/>
          </ac:picMkLst>
        </pc:picChg>
      </pc:sldChg>
      <pc:sldChg chg="addSp modSp mod">
        <pc:chgData name="Riccardo Berta" userId="c8694f89-bba4-4576-b0a8-456619ca5a8c" providerId="ADAL" clId="{FDDBFC5A-5EA9-5330-BEB8-433D7E3B4C4E}" dt="2026-10-06T09:36:27.047" v="1048" actId="113"/>
        <pc:sldMkLst>
          <pc:docMk/>
          <pc:sldMk cId="0" sldId="280"/>
        </pc:sldMkLst>
        <pc:spChg chg="mod">
          <ac:chgData name="Riccardo Berta" userId="c8694f89-bba4-4576-b0a8-456619ca5a8c" providerId="ADAL" clId="{FDDBFC5A-5EA9-5330-BEB8-433D7E3B4C4E}" dt="2026-10-06T09:36:27.047" v="1048" actId="113"/>
          <ac:spMkLst>
            <pc:docMk/>
            <pc:sldMk cId="0" sldId="280"/>
            <ac:spMk id="8" creationId="{00000000-0000-0000-0000-000000000000}"/>
          </ac:spMkLst>
        </pc:spChg>
        <pc:spChg chg="mod">
          <ac:chgData name="Riccardo Berta" userId="c8694f89-bba4-4576-b0a8-456619ca5a8c" providerId="ADAL" clId="{FDDBFC5A-5EA9-5330-BEB8-433D7E3B4C4E}" dt="2026-10-05T12:20:09.791" v="545" actId="1076"/>
          <ac:spMkLst>
            <pc:docMk/>
            <pc:sldMk cId="0" sldId="280"/>
            <ac:spMk id="10" creationId="{00000000-0000-0000-0000-000000000000}"/>
          </ac:spMkLst>
        </pc:spChg>
        <pc:spChg chg="mod">
          <ac:chgData name="Riccardo Berta" userId="c8694f89-bba4-4576-b0a8-456619ca5a8c" providerId="ADAL" clId="{FDDBFC5A-5EA9-5330-BEB8-433D7E3B4C4E}" dt="2026-10-05T12:19:44.116" v="538" actId="14100"/>
          <ac:spMkLst>
            <pc:docMk/>
            <pc:sldMk cId="0" sldId="280"/>
            <ac:spMk id="11" creationId="{00000000-0000-0000-0000-000000000000}"/>
          </ac:spMkLst>
        </pc:spChg>
        <pc:spChg chg="mod">
          <ac:chgData name="Riccardo Berta" userId="c8694f89-bba4-4576-b0a8-456619ca5a8c" providerId="ADAL" clId="{FDDBFC5A-5EA9-5330-BEB8-433D7E3B4C4E}" dt="2026-10-05T12:19:54.412" v="540" actId="1076"/>
          <ac:spMkLst>
            <pc:docMk/>
            <pc:sldMk cId="0" sldId="280"/>
            <ac:spMk id="12" creationId="{00000000-0000-0000-0000-000000000000}"/>
          </ac:spMkLst>
        </pc:spChg>
        <pc:spChg chg="add mod">
          <ac:chgData name="Riccardo Berta" userId="c8694f89-bba4-4576-b0a8-456619ca5a8c" providerId="ADAL" clId="{FDDBFC5A-5EA9-5330-BEB8-433D7E3B4C4E}" dt="2026-10-05T12:19:58.183" v="543" actId="27636"/>
          <ac:spMkLst>
            <pc:docMk/>
            <pc:sldMk cId="0" sldId="280"/>
            <ac:spMk id="26" creationId="{7E6464F9-F5AC-3CDE-A588-14F38C5047E3}"/>
          </ac:spMkLst>
        </pc:spChg>
        <pc:picChg chg="mod modCrop">
          <ac:chgData name="Riccardo Berta" userId="c8694f89-bba4-4576-b0a8-456619ca5a8c" providerId="ADAL" clId="{FDDBFC5A-5EA9-5330-BEB8-433D7E3B4C4E}" dt="2026-10-05T12:19:10.726" v="532" actId="732"/>
          <ac:picMkLst>
            <pc:docMk/>
            <pc:sldMk cId="0" sldId="280"/>
            <ac:picMk id="9" creationId="{00000000-0000-0000-0000-000000000000}"/>
          </ac:picMkLst>
        </pc:picChg>
        <pc:picChg chg="mod">
          <ac:chgData name="Riccardo Berta" userId="c8694f89-bba4-4576-b0a8-456619ca5a8c" providerId="ADAL" clId="{FDDBFC5A-5EA9-5330-BEB8-433D7E3B4C4E}" dt="2026-10-05T12:20:03.680" v="544" actId="1076"/>
          <ac:picMkLst>
            <pc:docMk/>
            <pc:sldMk cId="0" sldId="280"/>
            <ac:picMk id="14" creationId="{00000000-0000-0000-0000-000000000000}"/>
          </ac:picMkLst>
        </pc:picChg>
        <pc:picChg chg="mod">
          <ac:chgData name="Riccardo Berta" userId="c8694f89-bba4-4576-b0a8-456619ca5a8c" providerId="ADAL" clId="{FDDBFC5A-5EA9-5330-BEB8-433D7E3B4C4E}" dt="2026-10-05T12:20:34.861" v="547" actId="14100"/>
          <ac:picMkLst>
            <pc:docMk/>
            <pc:sldMk cId="0" sldId="280"/>
            <ac:picMk id="17" creationId="{00000000-0000-0000-0000-000000000000}"/>
          </ac:picMkLst>
        </pc:picChg>
        <pc:picChg chg="add mod">
          <ac:chgData name="Riccardo Berta" userId="c8694f89-bba4-4576-b0a8-456619ca5a8c" providerId="ADAL" clId="{FDDBFC5A-5EA9-5330-BEB8-433D7E3B4C4E}" dt="2026-10-05T12:19:17.462" v="536" actId="1038"/>
          <ac:picMkLst>
            <pc:docMk/>
            <pc:sldMk cId="0" sldId="280"/>
            <ac:picMk id="25" creationId="{C189D7E9-4418-273F-C643-F46360B63003}"/>
          </ac:picMkLst>
        </pc:picChg>
      </pc:sldChg>
      <pc:sldChg chg="delSp modSp mod">
        <pc:chgData name="Riccardo Berta" userId="c8694f89-bba4-4576-b0a8-456619ca5a8c" providerId="ADAL" clId="{FDDBFC5A-5EA9-5330-BEB8-433D7E3B4C4E}" dt="2026-10-05T12:24:08.494" v="665" actId="113"/>
        <pc:sldMkLst>
          <pc:docMk/>
          <pc:sldMk cId="0" sldId="281"/>
        </pc:sldMkLst>
        <pc:spChg chg="mod">
          <ac:chgData name="Riccardo Berta" userId="c8694f89-bba4-4576-b0a8-456619ca5a8c" providerId="ADAL" clId="{FDDBFC5A-5EA9-5330-BEB8-433D7E3B4C4E}" dt="2026-10-05T12:22:36.314" v="625" actId="20577"/>
          <ac:spMkLst>
            <pc:docMk/>
            <pc:sldMk cId="0" sldId="281"/>
            <ac:spMk id="3" creationId="{00000000-0000-0000-0000-000000000000}"/>
          </ac:spMkLst>
        </pc:spChg>
        <pc:spChg chg="mod">
          <ac:chgData name="Riccardo Berta" userId="c8694f89-bba4-4576-b0a8-456619ca5a8c" providerId="ADAL" clId="{FDDBFC5A-5EA9-5330-BEB8-433D7E3B4C4E}" dt="2026-10-05T12:24:08.494" v="665" actId="113"/>
          <ac:spMkLst>
            <pc:docMk/>
            <pc:sldMk cId="0" sldId="281"/>
            <ac:spMk id="10" creationId="{00000000-0000-0000-0000-000000000000}"/>
          </ac:spMkLst>
        </pc:spChg>
        <pc:spChg chg="del mod">
          <ac:chgData name="Riccardo Berta" userId="c8694f89-bba4-4576-b0a8-456619ca5a8c" providerId="ADAL" clId="{FDDBFC5A-5EA9-5330-BEB8-433D7E3B4C4E}" dt="2026-10-05T12:21:28.849" v="556" actId="478"/>
          <ac:spMkLst>
            <pc:docMk/>
            <pc:sldMk cId="0" sldId="281"/>
            <ac:spMk id="11"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12"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13"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15"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16"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18"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19"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21"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22" creationId="{00000000-0000-0000-0000-000000000000}"/>
          </ac:spMkLst>
        </pc:spChg>
        <pc:spChg chg="mod">
          <ac:chgData name="Riccardo Berta" userId="c8694f89-bba4-4576-b0a8-456619ca5a8c" providerId="ADAL" clId="{FDDBFC5A-5EA9-5330-BEB8-433D7E3B4C4E}" dt="2026-10-05T12:22:10.855" v="610" actId="1036"/>
          <ac:spMkLst>
            <pc:docMk/>
            <pc:sldMk cId="0" sldId="281"/>
            <ac:spMk id="24" creationId="{00000000-0000-0000-0000-000000000000}"/>
          </ac:spMkLst>
        </pc:spChg>
        <pc:picChg chg="mod">
          <ac:chgData name="Riccardo Berta" userId="c8694f89-bba4-4576-b0a8-456619ca5a8c" providerId="ADAL" clId="{FDDBFC5A-5EA9-5330-BEB8-433D7E3B4C4E}" dt="2026-10-05T12:22:16.988" v="612" actId="1076"/>
          <ac:picMkLst>
            <pc:docMk/>
            <pc:sldMk cId="0" sldId="281"/>
            <ac:picMk id="9" creationId="{00000000-0000-0000-0000-000000000000}"/>
          </ac:picMkLst>
        </pc:picChg>
        <pc:picChg chg="mod">
          <ac:chgData name="Riccardo Berta" userId="c8694f89-bba4-4576-b0a8-456619ca5a8c" providerId="ADAL" clId="{FDDBFC5A-5EA9-5330-BEB8-433D7E3B4C4E}" dt="2026-10-05T12:22:10.855" v="610" actId="1036"/>
          <ac:picMkLst>
            <pc:docMk/>
            <pc:sldMk cId="0" sldId="281"/>
            <ac:picMk id="23" creationId="{00000000-0000-0000-0000-000000000000}"/>
          </ac:picMkLst>
        </pc:picChg>
      </pc:sldChg>
      <pc:sldChg chg="delSp modSp mod">
        <pc:chgData name="Riccardo Berta" userId="c8694f89-bba4-4576-b0a8-456619ca5a8c" providerId="ADAL" clId="{FDDBFC5A-5EA9-5330-BEB8-433D7E3B4C4E}" dt="2026-10-05T12:23:56.797" v="664" actId="20577"/>
        <pc:sldMkLst>
          <pc:docMk/>
          <pc:sldMk cId="0" sldId="282"/>
        </pc:sldMkLst>
        <pc:spChg chg="mod">
          <ac:chgData name="Riccardo Berta" userId="c8694f89-bba4-4576-b0a8-456619ca5a8c" providerId="ADAL" clId="{FDDBFC5A-5EA9-5330-BEB8-433D7E3B4C4E}" dt="2026-10-05T12:23:56.797" v="664" actId="20577"/>
          <ac:spMkLst>
            <pc:docMk/>
            <pc:sldMk cId="0" sldId="282"/>
            <ac:spMk id="8" creationId="{00000000-0000-0000-0000-000000000000}"/>
          </ac:spMkLst>
        </pc:spChg>
        <pc:spChg chg="mod">
          <ac:chgData name="Riccardo Berta" userId="c8694f89-bba4-4576-b0a8-456619ca5a8c" providerId="ADAL" clId="{FDDBFC5A-5EA9-5330-BEB8-433D7E3B4C4E}" dt="2026-10-05T12:22:53.423" v="647" actId="1035"/>
          <ac:spMkLst>
            <pc:docMk/>
            <pc:sldMk cId="0" sldId="282"/>
            <ac:spMk id="10" creationId="{00000000-0000-0000-0000-000000000000}"/>
          </ac:spMkLst>
        </pc:spChg>
        <pc:spChg chg="mod">
          <ac:chgData name="Riccardo Berta" userId="c8694f89-bba4-4576-b0a8-456619ca5a8c" providerId="ADAL" clId="{FDDBFC5A-5EA9-5330-BEB8-433D7E3B4C4E}" dt="2026-10-05T12:22:53.423" v="647" actId="1035"/>
          <ac:spMkLst>
            <pc:docMk/>
            <pc:sldMk cId="0" sldId="282"/>
            <ac:spMk id="11" creationId="{00000000-0000-0000-0000-000000000000}"/>
          </ac:spMkLst>
        </pc:spChg>
        <pc:spChg chg="mod">
          <ac:chgData name="Riccardo Berta" userId="c8694f89-bba4-4576-b0a8-456619ca5a8c" providerId="ADAL" clId="{FDDBFC5A-5EA9-5330-BEB8-433D7E3B4C4E}" dt="2026-10-05T12:22:53.423" v="647" actId="1035"/>
          <ac:spMkLst>
            <pc:docMk/>
            <pc:sldMk cId="0" sldId="282"/>
            <ac:spMk id="12" creationId="{00000000-0000-0000-0000-000000000000}"/>
          </ac:spMkLst>
        </pc:spChg>
        <pc:spChg chg="mod">
          <ac:chgData name="Riccardo Berta" userId="c8694f89-bba4-4576-b0a8-456619ca5a8c" providerId="ADAL" clId="{FDDBFC5A-5EA9-5330-BEB8-433D7E3B4C4E}" dt="2026-10-05T12:23:39.710" v="663" actId="20577"/>
          <ac:spMkLst>
            <pc:docMk/>
            <pc:sldMk cId="0" sldId="282"/>
            <ac:spMk id="13" creationId="{00000000-0000-0000-0000-000000000000}"/>
          </ac:spMkLst>
        </pc:spChg>
        <pc:spChg chg="del">
          <ac:chgData name="Riccardo Berta" userId="c8694f89-bba4-4576-b0a8-456619ca5a8c" providerId="ADAL" clId="{FDDBFC5A-5EA9-5330-BEB8-433D7E3B4C4E}" dt="2026-10-05T12:23:05.904" v="650" actId="478"/>
          <ac:spMkLst>
            <pc:docMk/>
            <pc:sldMk cId="0" sldId="282"/>
            <ac:spMk id="42" creationId="{00000000-0000-0000-0000-000000000000}"/>
          </ac:spMkLst>
        </pc:spChg>
        <pc:spChg chg="mod">
          <ac:chgData name="Riccardo Berta" userId="c8694f89-bba4-4576-b0a8-456619ca5a8c" providerId="ADAL" clId="{FDDBFC5A-5EA9-5330-BEB8-433D7E3B4C4E}" dt="2026-10-05T12:23:30.526" v="662" actId="20577"/>
          <ac:spMkLst>
            <pc:docMk/>
            <pc:sldMk cId="0" sldId="282"/>
            <ac:spMk id="45" creationId="{00000000-0000-0000-0000-000000000000}"/>
          </ac:spMkLst>
        </pc:spChg>
        <pc:picChg chg="mod">
          <ac:chgData name="Riccardo Berta" userId="c8694f89-bba4-4576-b0a8-456619ca5a8c" providerId="ADAL" clId="{FDDBFC5A-5EA9-5330-BEB8-433D7E3B4C4E}" dt="2026-10-05T12:22:59.594" v="649" actId="1076"/>
          <ac:picMkLst>
            <pc:docMk/>
            <pc:sldMk cId="0" sldId="282"/>
            <ac:picMk id="9" creationId="{00000000-0000-0000-0000-000000000000}"/>
          </ac:picMkLst>
        </pc:picChg>
        <pc:picChg chg="mod">
          <ac:chgData name="Riccardo Berta" userId="c8694f89-bba4-4576-b0a8-456619ca5a8c" providerId="ADAL" clId="{FDDBFC5A-5EA9-5330-BEB8-433D7E3B4C4E}" dt="2026-10-05T12:23:09.650" v="652" actId="14100"/>
          <ac:picMkLst>
            <pc:docMk/>
            <pc:sldMk cId="0" sldId="282"/>
            <ac:picMk id="41" creationId="{00000000-0000-0000-0000-000000000000}"/>
          </ac:picMkLst>
        </pc:picChg>
      </pc:sldChg>
      <pc:sldChg chg="modSp mod">
        <pc:chgData name="Riccardo Berta" userId="c8694f89-bba4-4576-b0a8-456619ca5a8c" providerId="ADAL" clId="{FDDBFC5A-5EA9-5330-BEB8-433D7E3B4C4E}" dt="2026-10-05T13:05:46.002" v="705" actId="14100"/>
        <pc:sldMkLst>
          <pc:docMk/>
          <pc:sldMk cId="0" sldId="284"/>
        </pc:sldMkLst>
        <pc:spChg chg="mod">
          <ac:chgData name="Riccardo Berta" userId="c8694f89-bba4-4576-b0a8-456619ca5a8c" providerId="ADAL" clId="{FDDBFC5A-5EA9-5330-BEB8-433D7E3B4C4E}" dt="2026-10-05T13:04:31.975" v="685" actId="20577"/>
          <ac:spMkLst>
            <pc:docMk/>
            <pc:sldMk cId="0" sldId="284"/>
            <ac:spMk id="3" creationId="{00000000-0000-0000-0000-000000000000}"/>
          </ac:spMkLst>
        </pc:spChg>
        <pc:spChg chg="mod">
          <ac:chgData name="Riccardo Berta" userId="c8694f89-bba4-4576-b0a8-456619ca5a8c" providerId="ADAL" clId="{FDDBFC5A-5EA9-5330-BEB8-433D7E3B4C4E}" dt="2026-10-05T13:04:46.222" v="688" actId="113"/>
          <ac:spMkLst>
            <pc:docMk/>
            <pc:sldMk cId="0" sldId="284"/>
            <ac:spMk id="8" creationId="{00000000-0000-0000-0000-000000000000}"/>
          </ac:spMkLst>
        </pc:spChg>
        <pc:spChg chg="mod">
          <ac:chgData name="Riccardo Berta" userId="c8694f89-bba4-4576-b0a8-456619ca5a8c" providerId="ADAL" clId="{FDDBFC5A-5EA9-5330-BEB8-433D7E3B4C4E}" dt="2026-10-05T13:05:42.745" v="703" actId="1076"/>
          <ac:spMkLst>
            <pc:docMk/>
            <pc:sldMk cId="0" sldId="284"/>
            <ac:spMk id="12" creationId="{00000000-0000-0000-0000-000000000000}"/>
          </ac:spMkLst>
        </pc:spChg>
        <pc:spChg chg="mod">
          <ac:chgData name="Riccardo Berta" userId="c8694f89-bba4-4576-b0a8-456619ca5a8c" providerId="ADAL" clId="{FDDBFC5A-5EA9-5330-BEB8-433D7E3B4C4E}" dt="2026-10-05T13:05:05.304" v="697" actId="20577"/>
          <ac:spMkLst>
            <pc:docMk/>
            <pc:sldMk cId="0" sldId="284"/>
            <ac:spMk id="16" creationId="{00000000-0000-0000-0000-000000000000}"/>
          </ac:spMkLst>
        </pc:spChg>
        <pc:picChg chg="mod">
          <ac:chgData name="Riccardo Berta" userId="c8694f89-bba4-4576-b0a8-456619ca5a8c" providerId="ADAL" clId="{FDDBFC5A-5EA9-5330-BEB8-433D7E3B4C4E}" dt="2026-10-05T13:04:55.276" v="695" actId="1076"/>
          <ac:picMkLst>
            <pc:docMk/>
            <pc:sldMk cId="0" sldId="284"/>
            <ac:picMk id="9" creationId="{00000000-0000-0000-0000-000000000000}"/>
          </ac:picMkLst>
        </pc:picChg>
        <pc:picChg chg="mod">
          <ac:chgData name="Riccardo Berta" userId="c8694f89-bba4-4576-b0a8-456619ca5a8c" providerId="ADAL" clId="{FDDBFC5A-5EA9-5330-BEB8-433D7E3B4C4E}" dt="2026-10-05T13:04:55.276" v="695" actId="1076"/>
          <ac:picMkLst>
            <pc:docMk/>
            <pc:sldMk cId="0" sldId="284"/>
            <ac:picMk id="10" creationId="{00000000-0000-0000-0000-000000000000}"/>
          </ac:picMkLst>
        </pc:picChg>
        <pc:picChg chg="mod modCrop">
          <ac:chgData name="Riccardo Berta" userId="c8694f89-bba4-4576-b0a8-456619ca5a8c" providerId="ADAL" clId="{FDDBFC5A-5EA9-5330-BEB8-433D7E3B4C4E}" dt="2026-10-05T13:05:46.002" v="705" actId="14100"/>
          <ac:picMkLst>
            <pc:docMk/>
            <pc:sldMk cId="0" sldId="284"/>
            <ac:picMk id="11" creationId="{00000000-0000-0000-0000-000000000000}"/>
          </ac:picMkLst>
        </pc:picChg>
      </pc:sldChg>
      <pc:sldChg chg="modSp mod">
        <pc:chgData name="Riccardo Berta" userId="c8694f89-bba4-4576-b0a8-456619ca5a8c" providerId="ADAL" clId="{FDDBFC5A-5EA9-5330-BEB8-433D7E3B4C4E}" dt="2026-10-05T13:24:35.329" v="717" actId="1076"/>
        <pc:sldMkLst>
          <pc:docMk/>
          <pc:sldMk cId="0" sldId="285"/>
        </pc:sldMkLst>
        <pc:spChg chg="mod">
          <ac:chgData name="Riccardo Berta" userId="c8694f89-bba4-4576-b0a8-456619ca5a8c" providerId="ADAL" clId="{FDDBFC5A-5EA9-5330-BEB8-433D7E3B4C4E}" dt="2026-10-05T13:06:29.950" v="714" actId="20577"/>
          <ac:spMkLst>
            <pc:docMk/>
            <pc:sldMk cId="0" sldId="285"/>
            <ac:spMk id="14" creationId="{00000000-0000-0000-0000-000000000000}"/>
          </ac:spMkLst>
        </pc:spChg>
        <pc:picChg chg="mod">
          <ac:chgData name="Riccardo Berta" userId="c8694f89-bba4-4576-b0a8-456619ca5a8c" providerId="ADAL" clId="{FDDBFC5A-5EA9-5330-BEB8-433D7E3B4C4E}" dt="2026-10-05T13:06:04.742" v="706" actId="1076"/>
          <ac:picMkLst>
            <pc:docMk/>
            <pc:sldMk cId="0" sldId="285"/>
            <ac:picMk id="9" creationId="{00000000-0000-0000-0000-000000000000}"/>
          </ac:picMkLst>
        </pc:picChg>
        <pc:picChg chg="mod">
          <ac:chgData name="Riccardo Berta" userId="c8694f89-bba4-4576-b0a8-456619ca5a8c" providerId="ADAL" clId="{FDDBFC5A-5EA9-5330-BEB8-433D7E3B4C4E}" dt="2026-10-05T13:24:35.329" v="717" actId="1076"/>
          <ac:picMkLst>
            <pc:docMk/>
            <pc:sldMk cId="0" sldId="285"/>
            <ac:picMk id="19" creationId="{00000000-0000-0000-0000-000000000000}"/>
          </ac:picMkLst>
        </pc:picChg>
      </pc:sldChg>
      <pc:sldChg chg="modSp mod">
        <pc:chgData name="Riccardo Berta" userId="c8694f89-bba4-4576-b0a8-456619ca5a8c" providerId="ADAL" clId="{FDDBFC5A-5EA9-5330-BEB8-433D7E3B4C4E}" dt="2026-10-05T13:28:01.691" v="740" actId="20577"/>
        <pc:sldMkLst>
          <pc:docMk/>
          <pc:sldMk cId="0" sldId="286"/>
        </pc:sldMkLst>
        <pc:spChg chg="mod">
          <ac:chgData name="Riccardo Berta" userId="c8694f89-bba4-4576-b0a8-456619ca5a8c" providerId="ADAL" clId="{FDDBFC5A-5EA9-5330-BEB8-433D7E3B4C4E}" dt="2026-10-05T13:25:39.091" v="723" actId="313"/>
          <ac:spMkLst>
            <pc:docMk/>
            <pc:sldMk cId="0" sldId="286"/>
            <ac:spMk id="8"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0"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1"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2"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3"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4"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5"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6"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7" creationId="{00000000-0000-0000-0000-000000000000}"/>
          </ac:spMkLst>
        </pc:spChg>
        <pc:spChg chg="mod">
          <ac:chgData name="Riccardo Berta" userId="c8694f89-bba4-4576-b0a8-456619ca5a8c" providerId="ADAL" clId="{FDDBFC5A-5EA9-5330-BEB8-433D7E3B4C4E}" dt="2026-10-05T13:27:38.954" v="734" actId="1076"/>
          <ac:spMkLst>
            <pc:docMk/>
            <pc:sldMk cId="0" sldId="286"/>
            <ac:spMk id="18" creationId="{00000000-0000-0000-0000-000000000000}"/>
          </ac:spMkLst>
        </pc:spChg>
        <pc:spChg chg="mod">
          <ac:chgData name="Riccardo Berta" userId="c8694f89-bba4-4576-b0a8-456619ca5a8c" providerId="ADAL" clId="{FDDBFC5A-5EA9-5330-BEB8-433D7E3B4C4E}" dt="2026-10-05T13:28:01.691" v="740" actId="20577"/>
          <ac:spMkLst>
            <pc:docMk/>
            <pc:sldMk cId="0" sldId="286"/>
            <ac:spMk id="19" creationId="{00000000-0000-0000-0000-000000000000}"/>
          </ac:spMkLst>
        </pc:spChg>
        <pc:picChg chg="mod">
          <ac:chgData name="Riccardo Berta" userId="c8694f89-bba4-4576-b0a8-456619ca5a8c" providerId="ADAL" clId="{FDDBFC5A-5EA9-5330-BEB8-433D7E3B4C4E}" dt="2026-10-05T13:27:44.488" v="737" actId="1076"/>
          <ac:picMkLst>
            <pc:docMk/>
            <pc:sldMk cId="0" sldId="286"/>
            <ac:picMk id="9" creationId="{00000000-0000-0000-0000-000000000000}"/>
          </ac:picMkLst>
        </pc:picChg>
      </pc:sldChg>
      <pc:sldChg chg="modSp mod">
        <pc:chgData name="Riccardo Berta" userId="c8694f89-bba4-4576-b0a8-456619ca5a8c" providerId="ADAL" clId="{FDDBFC5A-5EA9-5330-BEB8-433D7E3B4C4E}" dt="2026-10-05T13:37:05.848" v="759" actId="20577"/>
        <pc:sldMkLst>
          <pc:docMk/>
          <pc:sldMk cId="0" sldId="287"/>
        </pc:sldMkLst>
        <pc:spChg chg="mod">
          <ac:chgData name="Riccardo Berta" userId="c8694f89-bba4-4576-b0a8-456619ca5a8c" providerId="ADAL" clId="{FDDBFC5A-5EA9-5330-BEB8-433D7E3B4C4E}" dt="2026-10-05T13:28:15.990" v="741" actId="1076"/>
          <ac:spMkLst>
            <pc:docMk/>
            <pc:sldMk cId="0" sldId="287"/>
            <ac:spMk id="5" creationId="{00000000-0000-0000-0000-000000000000}"/>
          </ac:spMkLst>
        </pc:spChg>
        <pc:spChg chg="mod">
          <ac:chgData name="Riccardo Berta" userId="c8694f89-bba4-4576-b0a8-456619ca5a8c" providerId="ADAL" clId="{FDDBFC5A-5EA9-5330-BEB8-433D7E3B4C4E}" dt="2026-10-05T13:29:06.719" v="755" actId="20577"/>
          <ac:spMkLst>
            <pc:docMk/>
            <pc:sldMk cId="0" sldId="287"/>
            <ac:spMk id="8" creationId="{00000000-0000-0000-0000-000000000000}"/>
          </ac:spMkLst>
        </pc:spChg>
        <pc:spChg chg="mod">
          <ac:chgData name="Riccardo Berta" userId="c8694f89-bba4-4576-b0a8-456619ca5a8c" providerId="ADAL" clId="{FDDBFC5A-5EA9-5330-BEB8-433D7E3B4C4E}" dt="2026-10-05T13:28:30.495" v="744" actId="1076"/>
          <ac:spMkLst>
            <pc:docMk/>
            <pc:sldMk cId="0" sldId="287"/>
            <ac:spMk id="10" creationId="{00000000-0000-0000-0000-000000000000}"/>
          </ac:spMkLst>
        </pc:spChg>
        <pc:spChg chg="mod">
          <ac:chgData name="Riccardo Berta" userId="c8694f89-bba4-4576-b0a8-456619ca5a8c" providerId="ADAL" clId="{FDDBFC5A-5EA9-5330-BEB8-433D7E3B4C4E}" dt="2026-10-05T13:28:23.463" v="742" actId="1076"/>
          <ac:spMkLst>
            <pc:docMk/>
            <pc:sldMk cId="0" sldId="287"/>
            <ac:spMk id="12" creationId="{00000000-0000-0000-0000-000000000000}"/>
          </ac:spMkLst>
        </pc:spChg>
        <pc:spChg chg="mod">
          <ac:chgData name="Riccardo Berta" userId="c8694f89-bba4-4576-b0a8-456619ca5a8c" providerId="ADAL" clId="{FDDBFC5A-5EA9-5330-BEB8-433D7E3B4C4E}" dt="2026-10-05T13:28:23.463" v="742" actId="1076"/>
          <ac:spMkLst>
            <pc:docMk/>
            <pc:sldMk cId="0" sldId="287"/>
            <ac:spMk id="13" creationId="{00000000-0000-0000-0000-000000000000}"/>
          </ac:spMkLst>
        </pc:spChg>
        <pc:spChg chg="mod">
          <ac:chgData name="Riccardo Berta" userId="c8694f89-bba4-4576-b0a8-456619ca5a8c" providerId="ADAL" clId="{FDDBFC5A-5EA9-5330-BEB8-433D7E3B4C4E}" dt="2026-10-05T13:28:23.463" v="742" actId="1076"/>
          <ac:spMkLst>
            <pc:docMk/>
            <pc:sldMk cId="0" sldId="287"/>
            <ac:spMk id="14" creationId="{00000000-0000-0000-0000-000000000000}"/>
          </ac:spMkLst>
        </pc:spChg>
        <pc:spChg chg="mod">
          <ac:chgData name="Riccardo Berta" userId="c8694f89-bba4-4576-b0a8-456619ca5a8c" providerId="ADAL" clId="{FDDBFC5A-5EA9-5330-BEB8-433D7E3B4C4E}" dt="2026-10-05T13:37:05.848" v="759" actId="20577"/>
          <ac:spMkLst>
            <pc:docMk/>
            <pc:sldMk cId="0" sldId="287"/>
            <ac:spMk id="20" creationId="{00000000-0000-0000-0000-000000000000}"/>
          </ac:spMkLst>
        </pc:spChg>
        <pc:spChg chg="mod">
          <ac:chgData name="Riccardo Berta" userId="c8694f89-bba4-4576-b0a8-456619ca5a8c" providerId="ADAL" clId="{FDDBFC5A-5EA9-5330-BEB8-433D7E3B4C4E}" dt="2026-10-05T13:29:29.355" v="756" actId="1076"/>
          <ac:spMkLst>
            <pc:docMk/>
            <pc:sldMk cId="0" sldId="287"/>
            <ac:spMk id="21" creationId="{00000000-0000-0000-0000-000000000000}"/>
          </ac:spMkLst>
        </pc:spChg>
        <pc:spChg chg="mod">
          <ac:chgData name="Riccardo Berta" userId="c8694f89-bba4-4576-b0a8-456619ca5a8c" providerId="ADAL" clId="{FDDBFC5A-5EA9-5330-BEB8-433D7E3B4C4E}" dt="2026-10-05T13:29:29.355" v="756" actId="1076"/>
          <ac:spMkLst>
            <pc:docMk/>
            <pc:sldMk cId="0" sldId="287"/>
            <ac:spMk id="22" creationId="{00000000-0000-0000-0000-000000000000}"/>
          </ac:spMkLst>
        </pc:spChg>
        <pc:spChg chg="mod">
          <ac:chgData name="Riccardo Berta" userId="c8694f89-bba4-4576-b0a8-456619ca5a8c" providerId="ADAL" clId="{FDDBFC5A-5EA9-5330-BEB8-433D7E3B4C4E}" dt="2026-10-05T13:29:29.355" v="756" actId="1076"/>
          <ac:spMkLst>
            <pc:docMk/>
            <pc:sldMk cId="0" sldId="287"/>
            <ac:spMk id="23" creationId="{00000000-0000-0000-0000-000000000000}"/>
          </ac:spMkLst>
        </pc:spChg>
        <pc:picChg chg="mod">
          <ac:chgData name="Riccardo Berta" userId="c8694f89-bba4-4576-b0a8-456619ca5a8c" providerId="ADAL" clId="{FDDBFC5A-5EA9-5330-BEB8-433D7E3B4C4E}" dt="2026-10-05T13:28:46.337" v="748" actId="1076"/>
          <ac:picMkLst>
            <pc:docMk/>
            <pc:sldMk cId="0" sldId="287"/>
            <ac:picMk id="9" creationId="{00000000-0000-0000-0000-000000000000}"/>
          </ac:picMkLst>
        </pc:picChg>
        <pc:picChg chg="mod">
          <ac:chgData name="Riccardo Berta" userId="c8694f89-bba4-4576-b0a8-456619ca5a8c" providerId="ADAL" clId="{FDDBFC5A-5EA9-5330-BEB8-433D7E3B4C4E}" dt="2026-10-05T13:28:51.528" v="750" actId="1076"/>
          <ac:picMkLst>
            <pc:docMk/>
            <pc:sldMk cId="0" sldId="287"/>
            <ac:picMk id="11" creationId="{00000000-0000-0000-0000-000000000000}"/>
          </ac:picMkLst>
        </pc:picChg>
      </pc:sldChg>
      <pc:sldChg chg="delSp modSp mod">
        <pc:chgData name="Riccardo Berta" userId="c8694f89-bba4-4576-b0a8-456619ca5a8c" providerId="ADAL" clId="{FDDBFC5A-5EA9-5330-BEB8-433D7E3B4C4E}" dt="2026-10-06T10:18:19.067" v="1157" actId="14100"/>
        <pc:sldMkLst>
          <pc:docMk/>
          <pc:sldMk cId="0" sldId="288"/>
        </pc:sldMkLst>
        <pc:spChg chg="mod">
          <ac:chgData name="Riccardo Berta" userId="c8694f89-bba4-4576-b0a8-456619ca5a8c" providerId="ADAL" clId="{FDDBFC5A-5EA9-5330-BEB8-433D7E3B4C4E}" dt="2026-10-06T10:18:15.250" v="1156" actId="14100"/>
          <ac:spMkLst>
            <pc:docMk/>
            <pc:sldMk cId="0" sldId="288"/>
            <ac:spMk id="8" creationId="{00000000-0000-0000-0000-000000000000}"/>
          </ac:spMkLst>
        </pc:spChg>
        <pc:spChg chg="mod">
          <ac:chgData name="Riccardo Berta" userId="c8694f89-bba4-4576-b0a8-456619ca5a8c" providerId="ADAL" clId="{FDDBFC5A-5EA9-5330-BEB8-433D7E3B4C4E}" dt="2026-10-06T10:18:19.067" v="1157" actId="14100"/>
          <ac:spMkLst>
            <pc:docMk/>
            <pc:sldMk cId="0" sldId="288"/>
            <ac:spMk id="9" creationId="{00000000-0000-0000-0000-000000000000}"/>
          </ac:spMkLst>
        </pc:spChg>
        <pc:spChg chg="del">
          <ac:chgData name="Riccardo Berta" userId="c8694f89-bba4-4576-b0a8-456619ca5a8c" providerId="ADAL" clId="{FDDBFC5A-5EA9-5330-BEB8-433D7E3B4C4E}" dt="2026-10-05T13:37:21.683" v="760" actId="478"/>
          <ac:spMkLst>
            <pc:docMk/>
            <pc:sldMk cId="0" sldId="288"/>
            <ac:spMk id="10" creationId="{00000000-0000-0000-0000-000000000000}"/>
          </ac:spMkLst>
        </pc:spChg>
        <pc:spChg chg="mod">
          <ac:chgData name="Riccardo Berta" userId="c8694f89-bba4-4576-b0a8-456619ca5a8c" providerId="ADAL" clId="{FDDBFC5A-5EA9-5330-BEB8-433D7E3B4C4E}" dt="2026-10-06T10:18:08.215" v="1155" actId="14100"/>
          <ac:spMkLst>
            <pc:docMk/>
            <pc:sldMk cId="0" sldId="288"/>
            <ac:spMk id="11" creationId="{00000000-0000-0000-0000-000000000000}"/>
          </ac:spMkLst>
        </pc:spChg>
        <pc:spChg chg="mod">
          <ac:chgData name="Riccardo Berta" userId="c8694f89-bba4-4576-b0a8-456619ca5a8c" providerId="ADAL" clId="{FDDBFC5A-5EA9-5330-BEB8-433D7E3B4C4E}" dt="2026-10-05T13:37:43.195" v="768" actId="20577"/>
          <ac:spMkLst>
            <pc:docMk/>
            <pc:sldMk cId="0" sldId="288"/>
            <ac:spMk id="13" creationId="{00000000-0000-0000-0000-000000000000}"/>
          </ac:spMkLst>
        </pc:spChg>
        <pc:picChg chg="mod">
          <ac:chgData name="Riccardo Berta" userId="c8694f89-bba4-4576-b0a8-456619ca5a8c" providerId="ADAL" clId="{FDDBFC5A-5EA9-5330-BEB8-433D7E3B4C4E}" dt="2026-10-05T13:37:36.860" v="763" actId="1076"/>
          <ac:picMkLst>
            <pc:docMk/>
            <pc:sldMk cId="0" sldId="288"/>
            <ac:picMk id="14" creationId="{00000000-0000-0000-0000-000000000000}"/>
          </ac:picMkLst>
        </pc:picChg>
      </pc:sldChg>
      <pc:sldChg chg="modSp mod">
        <pc:chgData name="Riccardo Berta" userId="c8694f89-bba4-4576-b0a8-456619ca5a8c" providerId="ADAL" clId="{FDDBFC5A-5EA9-5330-BEB8-433D7E3B4C4E}" dt="2026-10-05T13:39:31.596" v="782" actId="20577"/>
        <pc:sldMkLst>
          <pc:docMk/>
          <pc:sldMk cId="0" sldId="289"/>
        </pc:sldMkLst>
        <pc:spChg chg="mod">
          <ac:chgData name="Riccardo Berta" userId="c8694f89-bba4-4576-b0a8-456619ca5a8c" providerId="ADAL" clId="{FDDBFC5A-5EA9-5330-BEB8-433D7E3B4C4E}" dt="2026-10-05T13:38:38.567" v="773" actId="20577"/>
          <ac:spMkLst>
            <pc:docMk/>
            <pc:sldMk cId="0" sldId="289"/>
            <ac:spMk id="8" creationId="{00000000-0000-0000-0000-000000000000}"/>
          </ac:spMkLst>
        </pc:spChg>
        <pc:spChg chg="mod">
          <ac:chgData name="Riccardo Berta" userId="c8694f89-bba4-4576-b0a8-456619ca5a8c" providerId="ADAL" clId="{FDDBFC5A-5EA9-5330-BEB8-433D7E3B4C4E}" dt="2026-10-05T13:39:31.596" v="782" actId="20577"/>
          <ac:spMkLst>
            <pc:docMk/>
            <pc:sldMk cId="0" sldId="289"/>
            <ac:spMk id="14" creationId="{00000000-0000-0000-0000-000000000000}"/>
          </ac:spMkLst>
        </pc:spChg>
        <pc:spChg chg="mod">
          <ac:chgData name="Riccardo Berta" userId="c8694f89-bba4-4576-b0a8-456619ca5a8c" providerId="ADAL" clId="{FDDBFC5A-5EA9-5330-BEB8-433D7E3B4C4E}" dt="2026-10-05T13:39:01.391" v="777" actId="20577"/>
          <ac:spMkLst>
            <pc:docMk/>
            <pc:sldMk cId="0" sldId="289"/>
            <ac:spMk id="19" creationId="{00000000-0000-0000-0000-000000000000}"/>
          </ac:spMkLst>
        </pc:spChg>
        <pc:picChg chg="mod">
          <ac:chgData name="Riccardo Berta" userId="c8694f89-bba4-4576-b0a8-456619ca5a8c" providerId="ADAL" clId="{FDDBFC5A-5EA9-5330-BEB8-433D7E3B4C4E}" dt="2026-10-05T13:38:26.024" v="769" actId="1076"/>
          <ac:picMkLst>
            <pc:docMk/>
            <pc:sldMk cId="0" sldId="289"/>
            <ac:picMk id="9" creationId="{00000000-0000-0000-0000-000000000000}"/>
          </ac:picMkLst>
        </pc:picChg>
      </pc:sldChg>
      <pc:sldChg chg="modSp mod">
        <pc:chgData name="Riccardo Berta" userId="c8694f89-bba4-4576-b0a8-456619ca5a8c" providerId="ADAL" clId="{FDDBFC5A-5EA9-5330-BEB8-433D7E3B4C4E}" dt="2026-10-06T10:03:14.231" v="1069" actId="1076"/>
        <pc:sldMkLst>
          <pc:docMk/>
          <pc:sldMk cId="0" sldId="290"/>
        </pc:sldMkLst>
        <pc:spChg chg="mod">
          <ac:chgData name="Riccardo Berta" userId="c8694f89-bba4-4576-b0a8-456619ca5a8c" providerId="ADAL" clId="{FDDBFC5A-5EA9-5330-BEB8-433D7E3B4C4E}" dt="2026-10-06T10:02:44.041" v="1066" actId="313"/>
          <ac:spMkLst>
            <pc:docMk/>
            <pc:sldMk cId="0" sldId="290"/>
            <ac:spMk id="8" creationId="{00000000-0000-0000-0000-000000000000}"/>
          </ac:spMkLst>
        </pc:spChg>
        <pc:spChg chg="mod">
          <ac:chgData name="Riccardo Berta" userId="c8694f89-bba4-4576-b0a8-456619ca5a8c" providerId="ADAL" clId="{FDDBFC5A-5EA9-5330-BEB8-433D7E3B4C4E}" dt="2026-10-05T13:39:44.270" v="783" actId="1076"/>
          <ac:spMkLst>
            <pc:docMk/>
            <pc:sldMk cId="0" sldId="290"/>
            <ac:spMk id="10" creationId="{00000000-0000-0000-0000-000000000000}"/>
          </ac:spMkLst>
        </pc:spChg>
        <pc:spChg chg="mod">
          <ac:chgData name="Riccardo Berta" userId="c8694f89-bba4-4576-b0a8-456619ca5a8c" providerId="ADAL" clId="{FDDBFC5A-5EA9-5330-BEB8-433D7E3B4C4E}" dt="2026-10-05T13:39:44.270" v="783" actId="1076"/>
          <ac:spMkLst>
            <pc:docMk/>
            <pc:sldMk cId="0" sldId="290"/>
            <ac:spMk id="11" creationId="{00000000-0000-0000-0000-000000000000}"/>
          </ac:spMkLst>
        </pc:spChg>
        <pc:spChg chg="mod">
          <ac:chgData name="Riccardo Berta" userId="c8694f89-bba4-4576-b0a8-456619ca5a8c" providerId="ADAL" clId="{FDDBFC5A-5EA9-5330-BEB8-433D7E3B4C4E}" dt="2026-10-05T13:39:44.270" v="783" actId="1076"/>
          <ac:spMkLst>
            <pc:docMk/>
            <pc:sldMk cId="0" sldId="290"/>
            <ac:spMk id="12" creationId="{00000000-0000-0000-0000-000000000000}"/>
          </ac:spMkLst>
        </pc:spChg>
        <pc:spChg chg="mod">
          <ac:chgData name="Riccardo Berta" userId="c8694f89-bba4-4576-b0a8-456619ca5a8c" providerId="ADAL" clId="{FDDBFC5A-5EA9-5330-BEB8-433D7E3B4C4E}" dt="2026-10-05T13:39:44.270" v="783" actId="1076"/>
          <ac:spMkLst>
            <pc:docMk/>
            <pc:sldMk cId="0" sldId="290"/>
            <ac:spMk id="13" creationId="{00000000-0000-0000-0000-000000000000}"/>
          </ac:spMkLst>
        </pc:spChg>
        <pc:spChg chg="mod">
          <ac:chgData name="Riccardo Berta" userId="c8694f89-bba4-4576-b0a8-456619ca5a8c" providerId="ADAL" clId="{FDDBFC5A-5EA9-5330-BEB8-433D7E3B4C4E}" dt="2026-10-05T13:41:00.548" v="804" actId="1076"/>
          <ac:spMkLst>
            <pc:docMk/>
            <pc:sldMk cId="0" sldId="290"/>
            <ac:spMk id="16" creationId="{00000000-0000-0000-0000-000000000000}"/>
          </ac:spMkLst>
        </pc:spChg>
        <pc:spChg chg="mod">
          <ac:chgData name="Riccardo Berta" userId="c8694f89-bba4-4576-b0a8-456619ca5a8c" providerId="ADAL" clId="{FDDBFC5A-5EA9-5330-BEB8-433D7E3B4C4E}" dt="2026-10-05T13:41:00.548" v="804" actId="1076"/>
          <ac:spMkLst>
            <pc:docMk/>
            <pc:sldMk cId="0" sldId="290"/>
            <ac:spMk id="18" creationId="{00000000-0000-0000-0000-000000000000}"/>
          </ac:spMkLst>
        </pc:spChg>
        <pc:spChg chg="mod">
          <ac:chgData name="Riccardo Berta" userId="c8694f89-bba4-4576-b0a8-456619ca5a8c" providerId="ADAL" clId="{FDDBFC5A-5EA9-5330-BEB8-433D7E3B4C4E}" dt="2026-10-05T13:39:48.003" v="784" actId="1076"/>
          <ac:spMkLst>
            <pc:docMk/>
            <pc:sldMk cId="0" sldId="290"/>
            <ac:spMk id="24" creationId="{00000000-0000-0000-0000-000000000000}"/>
          </ac:spMkLst>
        </pc:spChg>
        <pc:spChg chg="mod">
          <ac:chgData name="Riccardo Berta" userId="c8694f89-bba4-4576-b0a8-456619ca5a8c" providerId="ADAL" clId="{FDDBFC5A-5EA9-5330-BEB8-433D7E3B4C4E}" dt="2026-10-05T13:39:56.979" v="793" actId="1037"/>
          <ac:spMkLst>
            <pc:docMk/>
            <pc:sldMk cId="0" sldId="290"/>
            <ac:spMk id="25" creationId="{00000000-0000-0000-0000-000000000000}"/>
          </ac:spMkLst>
        </pc:spChg>
        <pc:spChg chg="mod">
          <ac:chgData name="Riccardo Berta" userId="c8694f89-bba4-4576-b0a8-456619ca5a8c" providerId="ADAL" clId="{FDDBFC5A-5EA9-5330-BEB8-433D7E3B4C4E}" dt="2026-10-05T13:41:15.447" v="805" actId="1076"/>
          <ac:spMkLst>
            <pc:docMk/>
            <pc:sldMk cId="0" sldId="290"/>
            <ac:spMk id="26" creationId="{00000000-0000-0000-0000-000000000000}"/>
          </ac:spMkLst>
        </pc:spChg>
        <pc:picChg chg="mod">
          <ac:chgData name="Riccardo Berta" userId="c8694f89-bba4-4576-b0a8-456619ca5a8c" providerId="ADAL" clId="{FDDBFC5A-5EA9-5330-BEB8-433D7E3B4C4E}" dt="2026-10-05T13:40:12.952" v="797" actId="14100"/>
          <ac:picMkLst>
            <pc:docMk/>
            <pc:sldMk cId="0" sldId="290"/>
            <ac:picMk id="9" creationId="{00000000-0000-0000-0000-000000000000}"/>
          </ac:picMkLst>
        </pc:picChg>
        <pc:picChg chg="mod">
          <ac:chgData name="Riccardo Berta" userId="c8694f89-bba4-4576-b0a8-456619ca5a8c" providerId="ADAL" clId="{FDDBFC5A-5EA9-5330-BEB8-433D7E3B4C4E}" dt="2026-10-06T10:03:10.884" v="1068" actId="1076"/>
          <ac:picMkLst>
            <pc:docMk/>
            <pc:sldMk cId="0" sldId="290"/>
            <ac:picMk id="15" creationId="{00000000-0000-0000-0000-000000000000}"/>
          </ac:picMkLst>
        </pc:picChg>
        <pc:picChg chg="mod">
          <ac:chgData name="Riccardo Berta" userId="c8694f89-bba4-4576-b0a8-456619ca5a8c" providerId="ADAL" clId="{FDDBFC5A-5EA9-5330-BEB8-433D7E3B4C4E}" dt="2026-10-06T10:03:14.231" v="1069" actId="1076"/>
          <ac:picMkLst>
            <pc:docMk/>
            <pc:sldMk cId="0" sldId="290"/>
            <ac:picMk id="17" creationId="{00000000-0000-0000-0000-000000000000}"/>
          </ac:picMkLst>
        </pc:picChg>
        <pc:picChg chg="mod">
          <ac:chgData name="Riccardo Berta" userId="c8694f89-bba4-4576-b0a8-456619ca5a8c" providerId="ADAL" clId="{FDDBFC5A-5EA9-5330-BEB8-433D7E3B4C4E}" dt="2026-10-05T13:40:05.496" v="795" actId="1076"/>
          <ac:picMkLst>
            <pc:docMk/>
            <pc:sldMk cId="0" sldId="290"/>
            <ac:picMk id="23" creationId="{00000000-0000-0000-0000-000000000000}"/>
          </ac:picMkLst>
        </pc:picChg>
      </pc:sldChg>
      <pc:sldChg chg="modSp mod">
        <pc:chgData name="Riccardo Berta" userId="c8694f89-bba4-4576-b0a8-456619ca5a8c" providerId="ADAL" clId="{FDDBFC5A-5EA9-5330-BEB8-433D7E3B4C4E}" dt="2026-10-05T13:41:55.418" v="815" actId="20577"/>
        <pc:sldMkLst>
          <pc:docMk/>
          <pc:sldMk cId="0" sldId="291"/>
        </pc:sldMkLst>
        <pc:spChg chg="mod">
          <ac:chgData name="Riccardo Berta" userId="c8694f89-bba4-4576-b0a8-456619ca5a8c" providerId="ADAL" clId="{FDDBFC5A-5EA9-5330-BEB8-433D7E3B4C4E}" dt="2026-10-05T13:41:39.074" v="806" actId="20577"/>
          <ac:spMkLst>
            <pc:docMk/>
            <pc:sldMk cId="0" sldId="291"/>
            <ac:spMk id="5" creationId="{00000000-0000-0000-0000-000000000000}"/>
          </ac:spMkLst>
        </pc:spChg>
        <pc:spChg chg="mod">
          <ac:chgData name="Riccardo Berta" userId="c8694f89-bba4-4576-b0a8-456619ca5a8c" providerId="ADAL" clId="{FDDBFC5A-5EA9-5330-BEB8-433D7E3B4C4E}" dt="2026-10-05T13:41:55.418" v="815" actId="20577"/>
          <ac:spMkLst>
            <pc:docMk/>
            <pc:sldMk cId="0" sldId="291"/>
            <ac:spMk id="6" creationId="{00000000-0000-0000-0000-000000000000}"/>
          </ac:spMkLst>
        </pc:spChg>
      </pc:sldChg>
      <pc:sldChg chg="modSp mod">
        <pc:chgData name="Riccardo Berta" userId="c8694f89-bba4-4576-b0a8-456619ca5a8c" providerId="ADAL" clId="{FDDBFC5A-5EA9-5330-BEB8-433D7E3B4C4E}" dt="2026-10-05T13:44:37.795" v="848" actId="20577"/>
        <pc:sldMkLst>
          <pc:docMk/>
          <pc:sldMk cId="0" sldId="292"/>
        </pc:sldMkLst>
        <pc:spChg chg="mod">
          <ac:chgData name="Riccardo Berta" userId="c8694f89-bba4-4576-b0a8-456619ca5a8c" providerId="ADAL" clId="{FDDBFC5A-5EA9-5330-BEB8-433D7E3B4C4E}" dt="2026-10-05T13:42:52.856" v="828" actId="20577"/>
          <ac:spMkLst>
            <pc:docMk/>
            <pc:sldMk cId="0" sldId="292"/>
            <ac:spMk id="8" creationId="{00000000-0000-0000-0000-000000000000}"/>
          </ac:spMkLst>
        </pc:spChg>
        <pc:spChg chg="mod">
          <ac:chgData name="Riccardo Berta" userId="c8694f89-bba4-4576-b0a8-456619ca5a8c" providerId="ADAL" clId="{FDDBFC5A-5EA9-5330-BEB8-433D7E3B4C4E}" dt="2026-10-05T13:42:24.054" v="817" actId="1076"/>
          <ac:spMkLst>
            <pc:docMk/>
            <pc:sldMk cId="0" sldId="292"/>
            <ac:spMk id="10" creationId="{00000000-0000-0000-0000-000000000000}"/>
          </ac:spMkLst>
        </pc:spChg>
        <pc:spChg chg="mod">
          <ac:chgData name="Riccardo Berta" userId="c8694f89-bba4-4576-b0a8-456619ca5a8c" providerId="ADAL" clId="{FDDBFC5A-5EA9-5330-BEB8-433D7E3B4C4E}" dt="2026-10-05T13:42:21.368" v="816" actId="1076"/>
          <ac:spMkLst>
            <pc:docMk/>
            <pc:sldMk cId="0" sldId="292"/>
            <ac:spMk id="11" creationId="{00000000-0000-0000-0000-000000000000}"/>
          </ac:spMkLst>
        </pc:spChg>
        <pc:spChg chg="mod">
          <ac:chgData name="Riccardo Berta" userId="c8694f89-bba4-4576-b0a8-456619ca5a8c" providerId="ADAL" clId="{FDDBFC5A-5EA9-5330-BEB8-433D7E3B4C4E}" dt="2026-10-05T13:42:21.368" v="816" actId="1076"/>
          <ac:spMkLst>
            <pc:docMk/>
            <pc:sldMk cId="0" sldId="292"/>
            <ac:spMk id="13" creationId="{00000000-0000-0000-0000-000000000000}"/>
          </ac:spMkLst>
        </pc:spChg>
        <pc:spChg chg="mod">
          <ac:chgData name="Riccardo Berta" userId="c8694f89-bba4-4576-b0a8-456619ca5a8c" providerId="ADAL" clId="{FDDBFC5A-5EA9-5330-BEB8-433D7E3B4C4E}" dt="2026-10-05T13:44:37.795" v="848" actId="20577"/>
          <ac:spMkLst>
            <pc:docMk/>
            <pc:sldMk cId="0" sldId="292"/>
            <ac:spMk id="17" creationId="{00000000-0000-0000-0000-000000000000}"/>
          </ac:spMkLst>
        </pc:spChg>
        <pc:picChg chg="mod">
          <ac:chgData name="Riccardo Berta" userId="c8694f89-bba4-4576-b0a8-456619ca5a8c" providerId="ADAL" clId="{FDDBFC5A-5EA9-5330-BEB8-433D7E3B4C4E}" dt="2026-10-05T13:43:19.639" v="832" actId="1076"/>
          <ac:picMkLst>
            <pc:docMk/>
            <pc:sldMk cId="0" sldId="292"/>
            <ac:picMk id="9" creationId="{00000000-0000-0000-0000-000000000000}"/>
          </ac:picMkLst>
        </pc:picChg>
        <pc:picChg chg="mod">
          <ac:chgData name="Riccardo Berta" userId="c8694f89-bba4-4576-b0a8-456619ca5a8c" providerId="ADAL" clId="{FDDBFC5A-5EA9-5330-BEB8-433D7E3B4C4E}" dt="2026-10-05T13:43:02.896" v="829" actId="1076"/>
          <ac:picMkLst>
            <pc:docMk/>
            <pc:sldMk cId="0" sldId="292"/>
            <ac:picMk id="12" creationId="{00000000-0000-0000-0000-000000000000}"/>
          </ac:picMkLst>
        </pc:picChg>
        <pc:picChg chg="mod">
          <ac:chgData name="Riccardo Berta" userId="c8694f89-bba4-4576-b0a8-456619ca5a8c" providerId="ADAL" clId="{FDDBFC5A-5EA9-5330-BEB8-433D7E3B4C4E}" dt="2026-10-05T13:43:09.082" v="830" actId="1076"/>
          <ac:picMkLst>
            <pc:docMk/>
            <pc:sldMk cId="0" sldId="292"/>
            <ac:picMk id="14" creationId="{00000000-0000-0000-0000-000000000000}"/>
          </ac:picMkLst>
        </pc:picChg>
      </pc:sldChg>
      <pc:sldChg chg="modSp mod">
        <pc:chgData name="Riccardo Berta" userId="c8694f89-bba4-4576-b0a8-456619ca5a8c" providerId="ADAL" clId="{FDDBFC5A-5EA9-5330-BEB8-433D7E3B4C4E}" dt="2026-10-06T10:25:02.552" v="1158" actId="113"/>
        <pc:sldMkLst>
          <pc:docMk/>
          <pc:sldMk cId="0" sldId="293"/>
        </pc:sldMkLst>
        <pc:spChg chg="mod">
          <ac:chgData name="Riccardo Berta" userId="c8694f89-bba4-4576-b0a8-456619ca5a8c" providerId="ADAL" clId="{FDDBFC5A-5EA9-5330-BEB8-433D7E3B4C4E}" dt="2026-10-06T10:25:02.552" v="1158" actId="113"/>
          <ac:spMkLst>
            <pc:docMk/>
            <pc:sldMk cId="0" sldId="293"/>
            <ac:spMk id="8" creationId="{00000000-0000-0000-0000-000000000000}"/>
          </ac:spMkLst>
        </pc:spChg>
        <pc:spChg chg="mod">
          <ac:chgData name="Riccardo Berta" userId="c8694f89-bba4-4576-b0a8-456619ca5a8c" providerId="ADAL" clId="{FDDBFC5A-5EA9-5330-BEB8-433D7E3B4C4E}" dt="2026-10-05T13:43:40.524" v="834" actId="1076"/>
          <ac:spMkLst>
            <pc:docMk/>
            <pc:sldMk cId="0" sldId="293"/>
            <ac:spMk id="10" creationId="{00000000-0000-0000-0000-000000000000}"/>
          </ac:spMkLst>
        </pc:spChg>
        <pc:spChg chg="mod">
          <ac:chgData name="Riccardo Berta" userId="c8694f89-bba4-4576-b0a8-456619ca5a8c" providerId="ADAL" clId="{FDDBFC5A-5EA9-5330-BEB8-433D7E3B4C4E}" dt="2026-10-05T13:43:56.889" v="843" actId="14100"/>
          <ac:spMkLst>
            <pc:docMk/>
            <pc:sldMk cId="0" sldId="293"/>
            <ac:spMk id="11" creationId="{00000000-0000-0000-0000-000000000000}"/>
          </ac:spMkLst>
        </pc:spChg>
        <pc:spChg chg="mod">
          <ac:chgData name="Riccardo Berta" userId="c8694f89-bba4-4576-b0a8-456619ca5a8c" providerId="ADAL" clId="{FDDBFC5A-5EA9-5330-BEB8-433D7E3B4C4E}" dt="2026-10-05T13:46:27.492" v="863" actId="1036"/>
          <ac:spMkLst>
            <pc:docMk/>
            <pc:sldMk cId="0" sldId="293"/>
            <ac:spMk id="21" creationId="{00000000-0000-0000-0000-000000000000}"/>
          </ac:spMkLst>
        </pc:spChg>
        <pc:picChg chg="mod">
          <ac:chgData name="Riccardo Berta" userId="c8694f89-bba4-4576-b0a8-456619ca5a8c" providerId="ADAL" clId="{FDDBFC5A-5EA9-5330-BEB8-433D7E3B4C4E}" dt="2026-10-05T13:45:32.723" v="853" actId="14100"/>
          <ac:picMkLst>
            <pc:docMk/>
            <pc:sldMk cId="0" sldId="293"/>
            <ac:picMk id="16" creationId="{00000000-0000-0000-0000-000000000000}"/>
          </ac:picMkLst>
        </pc:picChg>
        <pc:picChg chg="mod">
          <ac:chgData name="Riccardo Berta" userId="c8694f89-bba4-4576-b0a8-456619ca5a8c" providerId="ADAL" clId="{FDDBFC5A-5EA9-5330-BEB8-433D7E3B4C4E}" dt="2026-10-05T13:45:28.652" v="851" actId="1076"/>
          <ac:picMkLst>
            <pc:docMk/>
            <pc:sldMk cId="0" sldId="293"/>
            <ac:picMk id="17" creationId="{00000000-0000-0000-0000-000000000000}"/>
          </ac:picMkLst>
        </pc:picChg>
      </pc:sldChg>
      <pc:sldChg chg="modSp mod">
        <pc:chgData name="Riccardo Berta" userId="c8694f89-bba4-4576-b0a8-456619ca5a8c" providerId="ADAL" clId="{FDDBFC5A-5EA9-5330-BEB8-433D7E3B4C4E}" dt="2026-10-05T14:22:40.188" v="894" actId="313"/>
        <pc:sldMkLst>
          <pc:docMk/>
          <pc:sldMk cId="0" sldId="294"/>
        </pc:sldMkLst>
        <pc:spChg chg="mod">
          <ac:chgData name="Riccardo Berta" userId="c8694f89-bba4-4576-b0a8-456619ca5a8c" providerId="ADAL" clId="{FDDBFC5A-5EA9-5330-BEB8-433D7E3B4C4E}" dt="2026-10-05T14:21:48.376" v="889" actId="20577"/>
          <ac:spMkLst>
            <pc:docMk/>
            <pc:sldMk cId="0" sldId="294"/>
            <ac:spMk id="3" creationId="{00000000-0000-0000-0000-000000000000}"/>
          </ac:spMkLst>
        </pc:spChg>
        <pc:spChg chg="mod">
          <ac:chgData name="Riccardo Berta" userId="c8694f89-bba4-4576-b0a8-456619ca5a8c" providerId="ADAL" clId="{FDDBFC5A-5EA9-5330-BEB8-433D7E3B4C4E}" dt="2026-10-05T14:20:04.413" v="872" actId="20577"/>
          <ac:spMkLst>
            <pc:docMk/>
            <pc:sldMk cId="0" sldId="294"/>
            <ac:spMk id="8" creationId="{00000000-0000-0000-0000-000000000000}"/>
          </ac:spMkLst>
        </pc:spChg>
        <pc:spChg chg="mod">
          <ac:chgData name="Riccardo Berta" userId="c8694f89-bba4-4576-b0a8-456619ca5a8c" providerId="ADAL" clId="{FDDBFC5A-5EA9-5330-BEB8-433D7E3B4C4E}" dt="2026-10-05T14:20:23.103" v="884" actId="1036"/>
          <ac:spMkLst>
            <pc:docMk/>
            <pc:sldMk cId="0" sldId="294"/>
            <ac:spMk id="10" creationId="{00000000-0000-0000-0000-000000000000}"/>
          </ac:spMkLst>
        </pc:spChg>
        <pc:spChg chg="mod">
          <ac:chgData name="Riccardo Berta" userId="c8694f89-bba4-4576-b0a8-456619ca5a8c" providerId="ADAL" clId="{FDDBFC5A-5EA9-5330-BEB8-433D7E3B4C4E}" dt="2026-10-05T13:46:44.954" v="864" actId="1076"/>
          <ac:spMkLst>
            <pc:docMk/>
            <pc:sldMk cId="0" sldId="294"/>
            <ac:spMk id="11" creationId="{00000000-0000-0000-0000-000000000000}"/>
          </ac:spMkLst>
        </pc:spChg>
        <pc:spChg chg="mod">
          <ac:chgData name="Riccardo Berta" userId="c8694f89-bba4-4576-b0a8-456619ca5a8c" providerId="ADAL" clId="{FDDBFC5A-5EA9-5330-BEB8-433D7E3B4C4E}" dt="2026-10-05T13:46:44.954" v="864" actId="1076"/>
          <ac:spMkLst>
            <pc:docMk/>
            <pc:sldMk cId="0" sldId="294"/>
            <ac:spMk id="12" creationId="{00000000-0000-0000-0000-000000000000}"/>
          </ac:spMkLst>
        </pc:spChg>
        <pc:spChg chg="mod">
          <ac:chgData name="Riccardo Berta" userId="c8694f89-bba4-4576-b0a8-456619ca5a8c" providerId="ADAL" clId="{FDDBFC5A-5EA9-5330-BEB8-433D7E3B4C4E}" dt="2026-10-05T14:22:33.644" v="893" actId="313"/>
          <ac:spMkLst>
            <pc:docMk/>
            <pc:sldMk cId="0" sldId="294"/>
            <ac:spMk id="13" creationId="{00000000-0000-0000-0000-000000000000}"/>
          </ac:spMkLst>
        </pc:spChg>
        <pc:spChg chg="mod">
          <ac:chgData name="Riccardo Berta" userId="c8694f89-bba4-4576-b0a8-456619ca5a8c" providerId="ADAL" clId="{FDDBFC5A-5EA9-5330-BEB8-433D7E3B4C4E}" dt="2026-10-05T13:46:44.954" v="864" actId="1076"/>
          <ac:spMkLst>
            <pc:docMk/>
            <pc:sldMk cId="0" sldId="294"/>
            <ac:spMk id="14" creationId="{00000000-0000-0000-0000-000000000000}"/>
          </ac:spMkLst>
        </pc:spChg>
        <pc:spChg chg="mod">
          <ac:chgData name="Riccardo Berta" userId="c8694f89-bba4-4576-b0a8-456619ca5a8c" providerId="ADAL" clId="{FDDBFC5A-5EA9-5330-BEB8-433D7E3B4C4E}" dt="2026-10-05T13:46:44.954" v="864" actId="1076"/>
          <ac:spMkLst>
            <pc:docMk/>
            <pc:sldMk cId="0" sldId="294"/>
            <ac:spMk id="15" creationId="{00000000-0000-0000-0000-000000000000}"/>
          </ac:spMkLst>
        </pc:spChg>
        <pc:spChg chg="mod">
          <ac:chgData name="Riccardo Berta" userId="c8694f89-bba4-4576-b0a8-456619ca5a8c" providerId="ADAL" clId="{FDDBFC5A-5EA9-5330-BEB8-433D7E3B4C4E}" dt="2026-10-05T14:22:40.188" v="894" actId="313"/>
          <ac:spMkLst>
            <pc:docMk/>
            <pc:sldMk cId="0" sldId="294"/>
            <ac:spMk id="16" creationId="{00000000-0000-0000-0000-000000000000}"/>
          </ac:spMkLst>
        </pc:spChg>
        <pc:picChg chg="mod">
          <ac:chgData name="Riccardo Berta" userId="c8694f89-bba4-4576-b0a8-456619ca5a8c" providerId="ADAL" clId="{FDDBFC5A-5EA9-5330-BEB8-433D7E3B4C4E}" dt="2026-10-05T14:20:26.091" v="885" actId="14100"/>
          <ac:picMkLst>
            <pc:docMk/>
            <pc:sldMk cId="0" sldId="294"/>
            <ac:picMk id="9" creationId="{00000000-0000-0000-0000-000000000000}"/>
          </ac:picMkLst>
        </pc:picChg>
      </pc:sldChg>
      <pc:sldChg chg="modSp mod">
        <pc:chgData name="Riccardo Berta" userId="c8694f89-bba4-4576-b0a8-456619ca5a8c" providerId="ADAL" clId="{FDDBFC5A-5EA9-5330-BEB8-433D7E3B4C4E}" dt="2026-10-05T14:23:29.093" v="905" actId="313"/>
        <pc:sldMkLst>
          <pc:docMk/>
          <pc:sldMk cId="0" sldId="295"/>
        </pc:sldMkLst>
        <pc:spChg chg="mod">
          <ac:chgData name="Riccardo Berta" userId="c8694f89-bba4-4576-b0a8-456619ca5a8c" providerId="ADAL" clId="{FDDBFC5A-5EA9-5330-BEB8-433D7E3B4C4E}" dt="2026-10-05T14:23:02.868" v="899" actId="790"/>
          <ac:spMkLst>
            <pc:docMk/>
            <pc:sldMk cId="0" sldId="295"/>
            <ac:spMk id="8" creationId="{00000000-0000-0000-0000-000000000000}"/>
          </ac:spMkLst>
        </pc:spChg>
        <pc:spChg chg="mod">
          <ac:chgData name="Riccardo Berta" userId="c8694f89-bba4-4576-b0a8-456619ca5a8c" providerId="ADAL" clId="{FDDBFC5A-5EA9-5330-BEB8-433D7E3B4C4E}" dt="2026-10-05T14:23:29.093" v="905" actId="313"/>
          <ac:spMkLst>
            <pc:docMk/>
            <pc:sldMk cId="0" sldId="295"/>
            <ac:spMk id="18" creationId="{00000000-0000-0000-0000-000000000000}"/>
          </ac:spMkLst>
        </pc:spChg>
      </pc:sldChg>
      <pc:sldChg chg="addSp delSp modSp mod">
        <pc:chgData name="Riccardo Berta" userId="c8694f89-bba4-4576-b0a8-456619ca5a8c" providerId="ADAL" clId="{FDDBFC5A-5EA9-5330-BEB8-433D7E3B4C4E}" dt="2026-10-05T14:27:12.412" v="969" actId="1076"/>
        <pc:sldMkLst>
          <pc:docMk/>
          <pc:sldMk cId="0" sldId="296"/>
        </pc:sldMkLst>
        <pc:spChg chg="mod">
          <ac:chgData name="Riccardo Berta" userId="c8694f89-bba4-4576-b0a8-456619ca5a8c" providerId="ADAL" clId="{FDDBFC5A-5EA9-5330-BEB8-433D7E3B4C4E}" dt="2026-10-05T14:23:51.161" v="908" actId="20577"/>
          <ac:spMkLst>
            <pc:docMk/>
            <pc:sldMk cId="0" sldId="296"/>
            <ac:spMk id="8" creationId="{00000000-0000-0000-0000-000000000000}"/>
          </ac:spMkLst>
        </pc:spChg>
        <pc:spChg chg="mod">
          <ac:chgData name="Riccardo Berta" userId="c8694f89-bba4-4576-b0a8-456619ca5a8c" providerId="ADAL" clId="{FDDBFC5A-5EA9-5330-BEB8-433D7E3B4C4E}" dt="2026-10-05T14:27:12.412" v="969" actId="1076"/>
          <ac:spMkLst>
            <pc:docMk/>
            <pc:sldMk cId="0" sldId="296"/>
            <ac:spMk id="11" creationId="{00000000-0000-0000-0000-000000000000}"/>
          </ac:spMkLst>
        </pc:spChg>
        <pc:spChg chg="mod">
          <ac:chgData name="Riccardo Berta" userId="c8694f89-bba4-4576-b0a8-456619ca5a8c" providerId="ADAL" clId="{FDDBFC5A-5EA9-5330-BEB8-433D7E3B4C4E}" dt="2026-10-05T14:24:46.360" v="941" actId="1036"/>
          <ac:spMkLst>
            <pc:docMk/>
            <pc:sldMk cId="0" sldId="296"/>
            <ac:spMk id="13" creationId="{00000000-0000-0000-0000-000000000000}"/>
          </ac:spMkLst>
        </pc:spChg>
        <pc:spChg chg="mod">
          <ac:chgData name="Riccardo Berta" userId="c8694f89-bba4-4576-b0a8-456619ca5a8c" providerId="ADAL" clId="{FDDBFC5A-5EA9-5330-BEB8-433D7E3B4C4E}" dt="2026-10-05T14:24:46.360" v="941" actId="1036"/>
          <ac:spMkLst>
            <pc:docMk/>
            <pc:sldMk cId="0" sldId="296"/>
            <ac:spMk id="14" creationId="{00000000-0000-0000-0000-000000000000}"/>
          </ac:spMkLst>
        </pc:spChg>
        <pc:spChg chg="mod">
          <ac:chgData name="Riccardo Berta" userId="c8694f89-bba4-4576-b0a8-456619ca5a8c" providerId="ADAL" clId="{FDDBFC5A-5EA9-5330-BEB8-433D7E3B4C4E}" dt="2026-10-05T14:24:46.360" v="941" actId="1036"/>
          <ac:spMkLst>
            <pc:docMk/>
            <pc:sldMk cId="0" sldId="296"/>
            <ac:spMk id="15" creationId="{00000000-0000-0000-0000-000000000000}"/>
          </ac:spMkLst>
        </pc:spChg>
        <pc:spChg chg="del">
          <ac:chgData name="Riccardo Berta" userId="c8694f89-bba4-4576-b0a8-456619ca5a8c" providerId="ADAL" clId="{FDDBFC5A-5EA9-5330-BEB8-433D7E3B4C4E}" dt="2026-10-05T14:25:22.157" v="957" actId="478"/>
          <ac:spMkLst>
            <pc:docMk/>
            <pc:sldMk cId="0" sldId="296"/>
            <ac:spMk id="16" creationId="{00000000-0000-0000-0000-000000000000}"/>
          </ac:spMkLst>
        </pc:spChg>
        <pc:spChg chg="mod">
          <ac:chgData name="Riccardo Berta" userId="c8694f89-bba4-4576-b0a8-456619ca5a8c" providerId="ADAL" clId="{FDDBFC5A-5EA9-5330-BEB8-433D7E3B4C4E}" dt="2026-10-05T14:25:39.882" v="960" actId="313"/>
          <ac:spMkLst>
            <pc:docMk/>
            <pc:sldMk cId="0" sldId="296"/>
            <ac:spMk id="18"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21"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24"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29"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32"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35"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38"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41"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44"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52" creationId="{00000000-0000-0000-0000-000000000000}"/>
          </ac:spMkLst>
        </pc:spChg>
        <pc:spChg chg="mod">
          <ac:chgData name="Riccardo Berta" userId="c8694f89-bba4-4576-b0a8-456619ca5a8c" providerId="ADAL" clId="{FDDBFC5A-5EA9-5330-BEB8-433D7E3B4C4E}" dt="2026-10-05T14:25:52.563" v="961" actId="1076"/>
          <ac:spMkLst>
            <pc:docMk/>
            <pc:sldMk cId="0" sldId="296"/>
            <ac:spMk id="55" creationId="{00000000-0000-0000-0000-000000000000}"/>
          </ac:spMkLst>
        </pc:spChg>
        <pc:spChg chg="add del mod">
          <ac:chgData name="Riccardo Berta" userId="c8694f89-bba4-4576-b0a8-456619ca5a8c" providerId="ADAL" clId="{FDDBFC5A-5EA9-5330-BEB8-433D7E3B4C4E}" dt="2026-10-05T14:24:39.491" v="921" actId="478"/>
          <ac:spMkLst>
            <pc:docMk/>
            <pc:sldMk cId="0" sldId="296"/>
            <ac:spMk id="57" creationId="{0A1B3FE8-EFA3-7B34-BA7E-4DA2E299F401}"/>
          </ac:spMkLst>
        </pc:spChg>
        <pc:picChg chg="mod">
          <ac:chgData name="Riccardo Berta" userId="c8694f89-bba4-4576-b0a8-456619ca5a8c" providerId="ADAL" clId="{FDDBFC5A-5EA9-5330-BEB8-433D7E3B4C4E}" dt="2026-10-05T14:25:15.142" v="955" actId="1076"/>
          <ac:picMkLst>
            <pc:docMk/>
            <pc:sldMk cId="0" sldId="296"/>
            <ac:picMk id="9" creationId="{00000000-0000-0000-0000-000000000000}"/>
          </ac:picMkLst>
        </pc:picChg>
        <pc:picChg chg="mod">
          <ac:chgData name="Riccardo Berta" userId="c8694f89-bba4-4576-b0a8-456619ca5a8c" providerId="ADAL" clId="{FDDBFC5A-5EA9-5330-BEB8-433D7E3B4C4E}" dt="2026-10-05T14:27:05.993" v="967" actId="1076"/>
          <ac:picMkLst>
            <pc:docMk/>
            <pc:sldMk cId="0" sldId="296"/>
            <ac:picMk id="10" creationId="{00000000-0000-0000-0000-000000000000}"/>
          </ac:picMkLst>
        </pc:picChg>
        <pc:picChg chg="mod">
          <ac:chgData name="Riccardo Berta" userId="c8694f89-bba4-4576-b0a8-456619ca5a8c" providerId="ADAL" clId="{FDDBFC5A-5EA9-5330-BEB8-433D7E3B4C4E}" dt="2026-10-05T14:24:58.199" v="943" actId="1076"/>
          <ac:picMkLst>
            <pc:docMk/>
            <pc:sldMk cId="0" sldId="296"/>
            <ac:picMk id="12" creationId="{00000000-0000-0000-0000-000000000000}"/>
          </ac:picMkLst>
        </pc:picChg>
        <pc:picChg chg="mod">
          <ac:chgData name="Riccardo Berta" userId="c8694f89-bba4-4576-b0a8-456619ca5a8c" providerId="ADAL" clId="{FDDBFC5A-5EA9-5330-BEB8-433D7E3B4C4E}" dt="2026-10-05T14:25:17.679" v="956" actId="1076"/>
          <ac:picMkLst>
            <pc:docMk/>
            <pc:sldMk cId="0" sldId="296"/>
            <ac:picMk id="17" creationId="{00000000-0000-0000-0000-000000000000}"/>
          </ac:picMkLst>
        </pc:picChg>
        <pc:picChg chg="add mod">
          <ac:chgData name="Riccardo Berta" userId="c8694f89-bba4-4576-b0a8-456619ca5a8c" providerId="ADAL" clId="{FDDBFC5A-5EA9-5330-BEB8-433D7E3B4C4E}" dt="2026-10-05T14:26:57.348" v="965" actId="1076"/>
          <ac:picMkLst>
            <pc:docMk/>
            <pc:sldMk cId="0" sldId="296"/>
            <ac:picMk id="59" creationId="{FC3F8DF5-318C-8E98-DB81-A0FB2A36BEF7}"/>
          </ac:picMkLst>
        </pc:picChg>
      </pc:sldChg>
      <pc:sldChg chg="modSp mod">
        <pc:chgData name="Riccardo Berta" userId="c8694f89-bba4-4576-b0a8-456619ca5a8c" providerId="ADAL" clId="{FDDBFC5A-5EA9-5330-BEB8-433D7E3B4C4E}" dt="2026-10-05T14:29:32.231" v="989" actId="20577"/>
        <pc:sldMkLst>
          <pc:docMk/>
          <pc:sldMk cId="0" sldId="297"/>
        </pc:sldMkLst>
        <pc:spChg chg="mod">
          <ac:chgData name="Riccardo Berta" userId="c8694f89-bba4-4576-b0a8-456619ca5a8c" providerId="ADAL" clId="{FDDBFC5A-5EA9-5330-BEB8-433D7E3B4C4E}" dt="2026-10-05T14:27:24.742" v="973" actId="20577"/>
          <ac:spMkLst>
            <pc:docMk/>
            <pc:sldMk cId="0" sldId="297"/>
            <ac:spMk id="3" creationId="{00000000-0000-0000-0000-000000000000}"/>
          </ac:spMkLst>
        </pc:spChg>
        <pc:spChg chg="mod">
          <ac:chgData name="Riccardo Berta" userId="c8694f89-bba4-4576-b0a8-456619ca5a8c" providerId="ADAL" clId="{FDDBFC5A-5EA9-5330-BEB8-433D7E3B4C4E}" dt="2026-10-05T14:28:52.278" v="977" actId="20577"/>
          <ac:spMkLst>
            <pc:docMk/>
            <pc:sldMk cId="0" sldId="297"/>
            <ac:spMk id="23" creationId="{00000000-0000-0000-0000-000000000000}"/>
          </ac:spMkLst>
        </pc:spChg>
        <pc:spChg chg="mod">
          <ac:chgData name="Riccardo Berta" userId="c8694f89-bba4-4576-b0a8-456619ca5a8c" providerId="ADAL" clId="{FDDBFC5A-5EA9-5330-BEB8-433D7E3B4C4E}" dt="2026-10-05T14:29:03.636" v="982" actId="20577"/>
          <ac:spMkLst>
            <pc:docMk/>
            <pc:sldMk cId="0" sldId="297"/>
            <ac:spMk id="24" creationId="{00000000-0000-0000-0000-000000000000}"/>
          </ac:spMkLst>
        </pc:spChg>
        <pc:spChg chg="mod">
          <ac:chgData name="Riccardo Berta" userId="c8694f89-bba4-4576-b0a8-456619ca5a8c" providerId="ADAL" clId="{FDDBFC5A-5EA9-5330-BEB8-433D7E3B4C4E}" dt="2026-10-05T14:29:32.231" v="989" actId="20577"/>
          <ac:spMkLst>
            <pc:docMk/>
            <pc:sldMk cId="0" sldId="297"/>
            <ac:spMk id="25" creationId="{00000000-0000-0000-0000-000000000000}"/>
          </ac:spMkLst>
        </pc:spChg>
        <pc:picChg chg="mod">
          <ac:chgData name="Riccardo Berta" userId="c8694f89-bba4-4576-b0a8-456619ca5a8c" providerId="ADAL" clId="{FDDBFC5A-5EA9-5330-BEB8-433D7E3B4C4E}" dt="2026-10-05T14:29:20.765" v="984" actId="1076"/>
          <ac:picMkLst>
            <pc:docMk/>
            <pc:sldMk cId="0" sldId="297"/>
            <ac:picMk id="26" creationId="{00000000-0000-0000-0000-000000000000}"/>
          </ac:picMkLst>
        </pc:picChg>
      </pc:sldChg>
      <pc:sldChg chg="delSp modSp mod">
        <pc:chgData name="Riccardo Berta" userId="c8694f89-bba4-4576-b0a8-456619ca5a8c" providerId="ADAL" clId="{FDDBFC5A-5EA9-5330-BEB8-433D7E3B4C4E}" dt="2026-10-05T14:30:48.015" v="1006" actId="313"/>
        <pc:sldMkLst>
          <pc:docMk/>
          <pc:sldMk cId="0" sldId="298"/>
        </pc:sldMkLst>
        <pc:spChg chg="mod">
          <ac:chgData name="Riccardo Berta" userId="c8694f89-bba4-4576-b0a8-456619ca5a8c" providerId="ADAL" clId="{FDDBFC5A-5EA9-5330-BEB8-433D7E3B4C4E}" dt="2026-10-05T14:30:28.117" v="1002" actId="20577"/>
          <ac:spMkLst>
            <pc:docMk/>
            <pc:sldMk cId="0" sldId="298"/>
            <ac:spMk id="8" creationId="{00000000-0000-0000-0000-000000000000}"/>
          </ac:spMkLst>
        </pc:spChg>
        <pc:spChg chg="del">
          <ac:chgData name="Riccardo Berta" userId="c8694f89-bba4-4576-b0a8-456619ca5a8c" providerId="ADAL" clId="{FDDBFC5A-5EA9-5330-BEB8-433D7E3B4C4E}" dt="2026-10-05T14:29:51.617" v="991" actId="478"/>
          <ac:spMkLst>
            <pc:docMk/>
            <pc:sldMk cId="0" sldId="298"/>
            <ac:spMk id="13"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14"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15"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16"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17"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18" creationId="{00000000-0000-0000-0000-000000000000}"/>
          </ac:spMkLst>
        </pc:spChg>
        <pc:spChg chg="mod">
          <ac:chgData name="Riccardo Berta" userId="c8694f89-bba4-4576-b0a8-456619ca5a8c" providerId="ADAL" clId="{FDDBFC5A-5EA9-5330-BEB8-433D7E3B4C4E}" dt="2026-10-05T14:30:48.015" v="1006" actId="313"/>
          <ac:spMkLst>
            <pc:docMk/>
            <pc:sldMk cId="0" sldId="298"/>
            <ac:spMk id="19"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20"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21" creationId="{00000000-0000-0000-0000-000000000000}"/>
          </ac:spMkLst>
        </pc:spChg>
        <pc:spChg chg="mod">
          <ac:chgData name="Riccardo Berta" userId="c8694f89-bba4-4576-b0a8-456619ca5a8c" providerId="ADAL" clId="{FDDBFC5A-5EA9-5330-BEB8-433D7E3B4C4E}" dt="2026-10-05T14:29:56.618" v="992" actId="1076"/>
          <ac:spMkLst>
            <pc:docMk/>
            <pc:sldMk cId="0" sldId="298"/>
            <ac:spMk id="22" creationId="{00000000-0000-0000-0000-000000000000}"/>
          </ac:spMkLst>
        </pc:spChg>
        <pc:picChg chg="mod">
          <ac:chgData name="Riccardo Berta" userId="c8694f89-bba4-4576-b0a8-456619ca5a8c" providerId="ADAL" clId="{FDDBFC5A-5EA9-5330-BEB8-433D7E3B4C4E}" dt="2026-10-05T14:30:11.262" v="997" actId="14100"/>
          <ac:picMkLst>
            <pc:docMk/>
            <pc:sldMk cId="0" sldId="298"/>
            <ac:picMk id="10" creationId="{00000000-0000-0000-0000-000000000000}"/>
          </ac:picMkLst>
        </pc:picChg>
        <pc:picChg chg="mod">
          <ac:chgData name="Riccardo Berta" userId="c8694f89-bba4-4576-b0a8-456619ca5a8c" providerId="ADAL" clId="{FDDBFC5A-5EA9-5330-BEB8-433D7E3B4C4E}" dt="2026-10-05T14:30:08.716" v="996" actId="14100"/>
          <ac:picMkLst>
            <pc:docMk/>
            <pc:sldMk cId="0" sldId="298"/>
            <ac:picMk id="12" creationId="{00000000-0000-0000-0000-000000000000}"/>
          </ac:picMkLst>
        </pc:picChg>
      </pc:sldChg>
      <pc:sldChg chg="modSp mod">
        <pc:chgData name="Riccardo Berta" userId="c8694f89-bba4-4576-b0a8-456619ca5a8c" providerId="ADAL" clId="{FDDBFC5A-5EA9-5330-BEB8-433D7E3B4C4E}" dt="2026-10-05T14:31:33.613" v="1019" actId="20577"/>
        <pc:sldMkLst>
          <pc:docMk/>
          <pc:sldMk cId="0" sldId="299"/>
        </pc:sldMkLst>
        <pc:spChg chg="mod">
          <ac:chgData name="Riccardo Berta" userId="c8694f89-bba4-4576-b0a8-456619ca5a8c" providerId="ADAL" clId="{FDDBFC5A-5EA9-5330-BEB8-433D7E3B4C4E}" dt="2026-10-05T14:31:09.567" v="1010" actId="1076"/>
          <ac:spMkLst>
            <pc:docMk/>
            <pc:sldMk cId="0" sldId="299"/>
            <ac:spMk id="11" creationId="{00000000-0000-0000-0000-000000000000}"/>
          </ac:spMkLst>
        </pc:spChg>
        <pc:spChg chg="mod">
          <ac:chgData name="Riccardo Berta" userId="c8694f89-bba4-4576-b0a8-456619ca5a8c" providerId="ADAL" clId="{FDDBFC5A-5EA9-5330-BEB8-433D7E3B4C4E}" dt="2026-10-05T14:31:33.613" v="1019" actId="20577"/>
          <ac:spMkLst>
            <pc:docMk/>
            <pc:sldMk cId="0" sldId="299"/>
            <ac:spMk id="13" creationId="{00000000-0000-0000-0000-000000000000}"/>
          </ac:spMkLst>
        </pc:spChg>
        <pc:picChg chg="mod">
          <ac:chgData name="Riccardo Berta" userId="c8694f89-bba4-4576-b0a8-456619ca5a8c" providerId="ADAL" clId="{FDDBFC5A-5EA9-5330-BEB8-433D7E3B4C4E}" dt="2026-10-05T14:31:06.994" v="1009" actId="1076"/>
          <ac:picMkLst>
            <pc:docMk/>
            <pc:sldMk cId="0" sldId="299"/>
            <ac:picMk id="9" creationId="{00000000-0000-0000-0000-000000000000}"/>
          </ac:picMkLst>
        </pc:picChg>
        <pc:picChg chg="mod">
          <ac:chgData name="Riccardo Berta" userId="c8694f89-bba4-4576-b0a8-456619ca5a8c" providerId="ADAL" clId="{FDDBFC5A-5EA9-5330-BEB8-433D7E3B4C4E}" dt="2026-10-05T14:31:18.026" v="1014" actId="14100"/>
          <ac:picMkLst>
            <pc:docMk/>
            <pc:sldMk cId="0" sldId="299"/>
            <ac:picMk id="10" creationId="{00000000-0000-0000-0000-000000000000}"/>
          </ac:picMkLst>
        </pc:picChg>
      </pc:sldChg>
      <pc:sldChg chg="modSp mod">
        <pc:chgData name="Riccardo Berta" userId="c8694f89-bba4-4576-b0a8-456619ca5a8c" providerId="ADAL" clId="{FDDBFC5A-5EA9-5330-BEB8-433D7E3B4C4E}" dt="2026-10-06T09:52:42.061" v="1064" actId="1076"/>
        <pc:sldMkLst>
          <pc:docMk/>
          <pc:sldMk cId="0" sldId="300"/>
        </pc:sldMkLst>
        <pc:spChg chg="mod">
          <ac:chgData name="Riccardo Berta" userId="c8694f89-bba4-4576-b0a8-456619ca5a8c" providerId="ADAL" clId="{FDDBFC5A-5EA9-5330-BEB8-433D7E3B4C4E}" dt="2026-10-06T09:52:42.061" v="1064" actId="1076"/>
          <ac:spMkLst>
            <pc:docMk/>
            <pc:sldMk cId="0" sldId="300"/>
            <ac:spMk id="2" creationId="{00000000-0000-0000-0000-000000000000}"/>
          </ac:spMkLst>
        </pc:spChg>
        <pc:spChg chg="mod">
          <ac:chgData name="Riccardo Berta" userId="c8694f89-bba4-4576-b0a8-456619ca5a8c" providerId="ADAL" clId="{FDDBFC5A-5EA9-5330-BEB8-433D7E3B4C4E}" dt="2026-10-06T09:52:40.472" v="1063" actId="20577"/>
          <ac:spMkLst>
            <pc:docMk/>
            <pc:sldMk cId="0" sldId="300"/>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20/10/26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20/10/26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Layout" Target="../slideLayouts/slideLayout7.xml"/><Relationship Id="rId5" Type="http://schemas.openxmlformats.org/officeDocument/2006/relationships/image" Target="../media/image35.svg"/><Relationship Id="rId4" Type="http://schemas.openxmlformats.org/officeDocument/2006/relationships/image" Target="../media/image34.sv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7.xml"/><Relationship Id="rId5" Type="http://schemas.openxmlformats.org/officeDocument/2006/relationships/image" Target="../media/image45.svg"/><Relationship Id="rId4" Type="http://schemas.openxmlformats.org/officeDocument/2006/relationships/image" Target="../media/image44.svg"/></Relationships>
</file>

<file path=ppt/slides/_rels/slide2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image" Target="../media/image49.sv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svg"/></Relationships>
</file>

<file path=ppt/slides/_rels/slide26.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sv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1.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slideLayout" Target="../slideLayouts/slideLayout7.xml"/><Relationship Id="rId4" Type="http://schemas.openxmlformats.org/officeDocument/2006/relationships/image" Target="../media/image74.svg"/></Relationships>
</file>

<file path=ppt/slides/_rels/slide35.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Layout" Target="../slideLayouts/slideLayout7.xml"/><Relationship Id="rId5" Type="http://schemas.openxmlformats.org/officeDocument/2006/relationships/image" Target="../media/image78.svg"/><Relationship Id="rId4" Type="http://schemas.openxmlformats.org/officeDocument/2006/relationships/image" Target="../media/image77.sv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svg"/></Relationships>
</file>

<file path=ppt/slides/_rels/slide38.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82.sv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svg"/></Relationships>
</file>

<file path=ppt/slides/_rels/slide3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svg"/><Relationship Id="rId1" Type="http://schemas.openxmlformats.org/officeDocument/2006/relationships/slideLayout" Target="../slideLayouts/slideLayout7.xml"/><Relationship Id="rId5" Type="http://schemas.openxmlformats.org/officeDocument/2006/relationships/image" Target="../media/image91.svg"/><Relationship Id="rId4" Type="http://schemas.openxmlformats.org/officeDocument/2006/relationships/image" Target="../media/image90.svg"/></Relationships>
</file>

<file path=ppt/slides/_rels/slide41.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svg"/><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svg"/></Relationships>
</file>

<file path=ppt/slides/_rels/slide42.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98.svg"/><Relationship Id="rId7" Type="http://schemas.openxmlformats.org/officeDocument/2006/relationships/image" Target="../media/image101.svg"/><Relationship Id="rId2" Type="http://schemas.openxmlformats.org/officeDocument/2006/relationships/image" Target="../media/image97.svg"/><Relationship Id="rId1" Type="http://schemas.openxmlformats.org/officeDocument/2006/relationships/slideLayout" Target="../slideLayouts/slideLayout7.xml"/><Relationship Id="rId6" Type="http://schemas.openxmlformats.org/officeDocument/2006/relationships/image" Target="../media/image60.svg"/><Relationship Id="rId5" Type="http://schemas.openxmlformats.org/officeDocument/2006/relationships/image" Target="../media/image100.svg"/><Relationship Id="rId4" Type="http://schemas.openxmlformats.org/officeDocument/2006/relationships/image" Target="../media/image99.svg"/></Relationships>
</file>

<file path=ppt/slides/_rels/slide4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sv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REINFORCEMENT LEARNING   ·   CHAPTER 05</a:t>
            </a: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587"/>
              </a:lnSpc>
              <a:spcBef>
                <a:spcPts val="0"/>
              </a:spcBef>
              <a:spcAft>
                <a:spcPts val="0"/>
              </a:spcAft>
              <a:buNone/>
            </a:pPr>
            <a:r>
              <a:rPr sz="3384" b="1" i="0">
                <a:solidFill>
                  <a:srgbClr val="FFFFFF"/>
                </a:solidFill>
                <a:latin typeface="Roboto Slab"/>
              </a:rPr>
              <a:t>Value-based</a:t>
            </a:r>
          </a:p>
          <a:p>
            <a:pPr marL="0" indent="0" algn="l">
              <a:lnSpc>
                <a:spcPts val="3587"/>
              </a:lnSpc>
              <a:spcBef>
                <a:spcPts val="0"/>
              </a:spcBef>
              <a:spcAft>
                <a:spcPts val="0"/>
              </a:spcAft>
              <a:buNone/>
            </a:pPr>
            <a:r>
              <a:rPr sz="3384" b="1" i="0">
                <a:solidFill>
                  <a:srgbClr val="FFFFFF"/>
                </a:solidFill>
                <a:latin typeface="Roboto Slab"/>
              </a:rPr>
              <a:t>Methods</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602736"/>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dirty="0">
                <a:solidFill>
                  <a:srgbClr val="D6D0E0"/>
                </a:solidFill>
                <a:latin typeface="Fira Sans"/>
              </a:rPr>
              <a:t>Estimating value functions from experience alone: Monte Carlo, temporal-difference learning, n-step targets and eligibility traces for prediction — then SARSA, Q-Learning and their variants for control.</a:t>
            </a: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05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a:solidFill>
                  <a:srgbClr val="9486AC"/>
                </a:solidFill>
                <a:latin typeface="Fira Sans"/>
              </a:rPr>
              <a:t>PART I   </a:t>
            </a:r>
          </a:p>
          <a:p>
            <a:pPr marL="0" indent="0" algn="l">
              <a:lnSpc>
                <a:spcPts val="1283"/>
              </a:lnSpc>
              <a:spcBef>
                <a:spcPts val="200"/>
              </a:spcBef>
              <a:spcAft>
                <a:spcPts val="0"/>
              </a:spcAft>
              <a:buNone/>
            </a:pPr>
            <a:r>
              <a:rPr sz="1188" b="0" i="0">
                <a:solidFill>
                  <a:srgbClr val="FFFFFF"/>
                </a:solidFill>
                <a:latin typeface="Fira Sans Medium"/>
              </a:rPr>
              <a:t>Learning values from experience</a:t>
            </a:r>
          </a:p>
          <a:p>
            <a:pPr marL="0" indent="0" algn="l">
              <a:lnSpc>
                <a:spcPts val="882"/>
              </a:lnSpc>
              <a:spcBef>
                <a:spcPts val="1200"/>
              </a:spcBef>
              <a:spcAft>
                <a:spcPts val="0"/>
              </a:spcAft>
              <a:buNone/>
            </a:pPr>
            <a:r>
              <a:rPr sz="882" b="1" i="0" spc="80">
                <a:solidFill>
                  <a:srgbClr val="9486AC"/>
                </a:solidFill>
                <a:latin typeface="Fira Sans"/>
              </a:rPr>
              <a:t>PART II  </a:t>
            </a:r>
          </a:p>
          <a:p>
            <a:pPr marL="0" indent="0" algn="l">
              <a:lnSpc>
                <a:spcPts val="1283"/>
              </a:lnSpc>
              <a:spcBef>
                <a:spcPts val="200"/>
              </a:spcBef>
              <a:spcAft>
                <a:spcPts val="0"/>
              </a:spcAft>
              <a:buNone/>
            </a:pPr>
            <a:r>
              <a:rPr sz="1188" b="0" i="0">
                <a:solidFill>
                  <a:srgbClr val="FFFFFF"/>
                </a:solidFill>
                <a:latin typeface="Fira Sans Medium"/>
              </a:rPr>
              <a:t>Monte Carlo prediction</a:t>
            </a:r>
          </a:p>
          <a:p>
            <a:pPr marL="0" indent="0" algn="l">
              <a:lnSpc>
                <a:spcPts val="882"/>
              </a:lnSpc>
              <a:spcBef>
                <a:spcPts val="1200"/>
              </a:spcBef>
              <a:spcAft>
                <a:spcPts val="0"/>
              </a:spcAft>
              <a:buNone/>
            </a:pPr>
            <a:r>
              <a:rPr sz="882" b="1" i="0" spc="80">
                <a:solidFill>
                  <a:srgbClr val="9486AC"/>
                </a:solidFill>
                <a:latin typeface="Fira Sans"/>
              </a:rPr>
              <a:t>PART III </a:t>
            </a:r>
          </a:p>
          <a:p>
            <a:pPr marL="0" indent="0" algn="l">
              <a:lnSpc>
                <a:spcPts val="1283"/>
              </a:lnSpc>
              <a:spcBef>
                <a:spcPts val="200"/>
              </a:spcBef>
              <a:spcAft>
                <a:spcPts val="0"/>
              </a:spcAft>
              <a:buNone/>
            </a:pPr>
            <a:r>
              <a:rPr sz="1188" b="0" i="0">
                <a:solidFill>
                  <a:srgbClr val="FFFFFF"/>
                </a:solidFill>
                <a:latin typeface="Fira Sans Medium"/>
              </a:rPr>
              <a:t>Temporal-difference learning</a:t>
            </a:r>
          </a:p>
          <a:p>
            <a:pPr marL="0" indent="0" algn="l">
              <a:lnSpc>
                <a:spcPts val="882"/>
              </a:lnSpc>
              <a:spcBef>
                <a:spcPts val="1200"/>
              </a:spcBef>
              <a:spcAft>
                <a:spcPts val="0"/>
              </a:spcAft>
              <a:buNone/>
            </a:pPr>
            <a:r>
              <a:rPr sz="882" b="1" i="0" spc="80">
                <a:solidFill>
                  <a:srgbClr val="9486AC"/>
                </a:solidFill>
                <a:latin typeface="Fira Sans"/>
              </a:rPr>
              <a:t>PART IV  </a:t>
            </a:r>
          </a:p>
          <a:p>
            <a:pPr marL="0" indent="0" algn="l">
              <a:lnSpc>
                <a:spcPts val="1283"/>
              </a:lnSpc>
              <a:spcBef>
                <a:spcPts val="200"/>
              </a:spcBef>
              <a:spcAft>
                <a:spcPts val="0"/>
              </a:spcAft>
              <a:buNone/>
            </a:pPr>
            <a:r>
              <a:rPr sz="1188" b="0" i="0">
                <a:solidFill>
                  <a:srgbClr val="FFFFFF"/>
                </a:solidFill>
                <a:latin typeface="Fira Sans Medium"/>
              </a:rPr>
              <a:t>Between the two extremes</a:t>
            </a:r>
          </a:p>
          <a:p>
            <a:pPr marL="0" indent="0" algn="l">
              <a:lnSpc>
                <a:spcPts val="882"/>
              </a:lnSpc>
              <a:spcBef>
                <a:spcPts val="1200"/>
              </a:spcBef>
              <a:spcAft>
                <a:spcPts val="0"/>
              </a:spcAft>
              <a:buNone/>
            </a:pPr>
            <a:r>
              <a:rPr sz="882" b="1" i="0" spc="80">
                <a:solidFill>
                  <a:srgbClr val="9486AC"/>
                </a:solidFill>
                <a:latin typeface="Fira Sans"/>
              </a:rPr>
              <a:t>PART V   </a:t>
            </a:r>
          </a:p>
          <a:p>
            <a:pPr marL="0" indent="0" algn="l">
              <a:lnSpc>
                <a:spcPts val="1283"/>
              </a:lnSpc>
              <a:spcBef>
                <a:spcPts val="200"/>
              </a:spcBef>
              <a:spcAft>
                <a:spcPts val="0"/>
              </a:spcAft>
              <a:buNone/>
            </a:pPr>
            <a:r>
              <a:rPr sz="1188" b="0" i="0">
                <a:solidFill>
                  <a:srgbClr val="FFFFFF"/>
                </a:solidFill>
                <a:latin typeface="Fira Sans Medium"/>
              </a:rPr>
              <a:t>From prediction to control</a:t>
            </a:r>
          </a:p>
          <a:p>
            <a:pPr marL="0" indent="0" algn="l">
              <a:lnSpc>
                <a:spcPts val="882"/>
              </a:lnSpc>
              <a:spcBef>
                <a:spcPts val="1200"/>
              </a:spcBef>
              <a:spcAft>
                <a:spcPts val="0"/>
              </a:spcAft>
              <a:buNone/>
            </a:pPr>
            <a:r>
              <a:rPr sz="882" b="1" i="0" spc="80">
                <a:solidFill>
                  <a:srgbClr val="9486AC"/>
                </a:solidFill>
                <a:latin typeface="Fira Sans"/>
              </a:rPr>
              <a:t>PART VI  </a:t>
            </a:r>
          </a:p>
          <a:p>
            <a:pPr marL="0" indent="0" algn="l">
              <a:lnSpc>
                <a:spcPts val="1283"/>
              </a:lnSpc>
              <a:spcBef>
                <a:spcPts val="200"/>
              </a:spcBef>
              <a:spcAft>
                <a:spcPts val="0"/>
              </a:spcAft>
              <a:buNone/>
            </a:pPr>
            <a:r>
              <a:rPr sz="1188" b="0" i="0">
                <a:solidFill>
                  <a:srgbClr val="FFFFFF"/>
                </a:solidFill>
                <a:latin typeface="Fira Sans Medium"/>
              </a:rPr>
              <a:t>Off-policy learning and the comparison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Learning values from experience</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Dynamic programming computed value functions from a known model. Without one, the agent must estimate the same quantities from the trajectories it actually experiences.</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Which of the three quantities is the one the agent is really trying to maximise?</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Reward, return, value</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prediction problem</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Random Walk environment</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Generating a trajectory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TWO CHALLENGES, NOW AT THE SAME TIME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Balancing immediate against long-term, while not knowing the model</a:t>
            </a:r>
            <a:r>
              <a:rPr lang="it-IT" sz="2162" b="1" i="0" dirty="0">
                <a:solidFill>
                  <a:srgbClr val="25282A"/>
                </a:solidFill>
                <a:latin typeface="Roboto Slab"/>
              </a:rPr>
              <a:t>!</a:t>
            </a:r>
            <a:endParaRPr sz="2162" b="1" i="0" dirty="0">
              <a:solidFill>
                <a:srgbClr val="25282A"/>
              </a:solidFill>
              <a:latin typeface="Roboto Slab"/>
            </a:endParaRP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 — Learning values from experience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27400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Should I watch a film tonight or keep studying reinforcement learning? The first gives immediate satisfaction; the second may — only may — give much greater satisfaction later. How much greater? We cannot know without trying. </a:t>
            </a:r>
            <a:r>
              <a:rPr sz="1282" b="1" i="0" dirty="0">
                <a:solidFill>
                  <a:srgbClr val="25282A"/>
                </a:solidFill>
                <a:latin typeface="Fira Sans"/>
              </a:rPr>
              <a:t>Life does not give us its MDP.</a:t>
            </a:r>
          </a:p>
        </p:txBody>
      </p:sp>
      <p:pic>
        <p:nvPicPr>
          <p:cNvPr id="9" name="Picture 8" descr="opening.png"/>
          <p:cNvPicPr>
            <a:picLocks noChangeAspect="1"/>
          </p:cNvPicPr>
          <p:nvPr/>
        </p:nvPicPr>
        <p:blipFill>
          <a:blip r:embed="rId2"/>
          <a:stretch>
            <a:fillRect/>
          </a:stretch>
        </p:blipFill>
        <p:spPr>
          <a:xfrm>
            <a:off x="1763002" y="1764792"/>
            <a:ext cx="8665996" cy="2133102"/>
          </a:xfrm>
          <a:prstGeom prst="rect">
            <a:avLst/>
          </a:prstGeom>
        </p:spPr>
      </p:pic>
      <p:sp>
        <p:nvSpPr>
          <p:cNvPr id="10" name="TextBox 9"/>
          <p:cNvSpPr txBox="1"/>
          <p:nvPr/>
        </p:nvSpPr>
        <p:spPr>
          <a:xfrm>
            <a:off x="838200" y="4048272"/>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dirty="0">
                <a:solidFill>
                  <a:srgbClr val="626669"/>
                </a:solidFill>
                <a:latin typeface="Fira Sans"/>
              </a:rPr>
              <a:t>The two difficulties of Chapters 02 and 04, arriving together.</a:t>
            </a:r>
          </a:p>
        </p:txBody>
      </p:sp>
      <p:sp>
        <p:nvSpPr>
          <p:cNvPr id="11" name="Rectangle 10"/>
          <p:cNvSpPr/>
          <p:nvPr/>
        </p:nvSpPr>
        <p:spPr>
          <a:xfrm>
            <a:off x="841248" y="4300230"/>
            <a:ext cx="5120640"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446534"/>
            <a:ext cx="5120640"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Chapter 04 — exploration vs exploitation</a:t>
            </a:r>
          </a:p>
        </p:txBody>
      </p:sp>
      <p:sp>
        <p:nvSpPr>
          <p:cNvPr id="13" name="TextBox 12"/>
          <p:cNvSpPr txBox="1"/>
          <p:nvPr/>
        </p:nvSpPr>
        <p:spPr>
          <a:xfrm>
            <a:off x="841248" y="4739142"/>
            <a:ext cx="512064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We must balance gathering information against using it. There, the problem had one state and one step, so the two were cleanly separable.</a:t>
            </a:r>
          </a:p>
        </p:txBody>
      </p:sp>
      <p:sp>
        <p:nvSpPr>
          <p:cNvPr id="14" name="Rectangle 13"/>
          <p:cNvSpPr/>
          <p:nvPr/>
        </p:nvSpPr>
        <p:spPr>
          <a:xfrm>
            <a:off x="6236207" y="4300230"/>
            <a:ext cx="5120640"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236207" y="4446534"/>
            <a:ext cx="5120640"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Chapter 02 — immediate vs long-term reward</a:t>
            </a:r>
          </a:p>
        </p:txBody>
      </p:sp>
      <p:sp>
        <p:nvSpPr>
          <p:cNvPr id="16" name="TextBox 15"/>
          <p:cNvSpPr txBox="1"/>
          <p:nvPr/>
        </p:nvSpPr>
        <p:spPr>
          <a:xfrm>
            <a:off x="6236207" y="4739142"/>
            <a:ext cx="512064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We must reason about consequences, not only about the reward that arrives next. There, we assumed the model was known and could compute them.</a:t>
            </a:r>
          </a:p>
        </p:txBody>
      </p:sp>
      <p:sp>
        <p:nvSpPr>
          <p:cNvPr id="17" name="Rectangle 16"/>
          <p:cNvSpPr/>
          <p:nvPr/>
        </p:nvSpPr>
        <p:spPr>
          <a:xfrm>
            <a:off x="841248" y="5397510"/>
            <a:ext cx="10515600" cy="87782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397510"/>
            <a:ext cx="41148" cy="87782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60704" y="5543814"/>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CHANGES WITH RESPECT TO CHAPTER 03</a:t>
            </a:r>
          </a:p>
        </p:txBody>
      </p:sp>
      <p:sp>
        <p:nvSpPr>
          <p:cNvPr id="20" name="TextBox 19"/>
          <p:cNvSpPr txBox="1"/>
          <p:nvPr/>
        </p:nvSpPr>
        <p:spPr>
          <a:xfrm>
            <a:off x="1060704" y="578155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This chapter studies agents that estimate value functions much as dynamic programming did — with one crucial difference: </a:t>
            </a:r>
            <a:r>
              <a:rPr sz="1140" b="1" i="0">
                <a:solidFill>
                  <a:srgbClr val="333639"/>
                </a:solidFill>
                <a:latin typeface="Fira Sans"/>
              </a:rPr>
              <a:t>the agent does not know the MDP and must learn the values from experience</a:t>
            </a:r>
            <a:r>
              <a:rPr sz="1140" b="0" i="0">
                <a:solidFill>
                  <a:srgbClr val="333639"/>
                </a:solidFill>
                <a:latin typeface="Fira Sa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1.2  REWARD, RETURN, VALUE — THREE DIFFERENT THINGS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Only the third is what the agent is actually trying to maximise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 — Learning values from experience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10515600" cy="235209"/>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These three are closely related and routinely confused. Keeping them apart is what makes the rest of the chapter readable.</a:t>
            </a:r>
          </a:p>
        </p:txBody>
      </p:sp>
      <p:pic>
        <p:nvPicPr>
          <p:cNvPr id="9" name="Picture 8" descr="eq_thre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70098" y="1789689"/>
            <a:ext cx="8851773" cy="725424"/>
          </a:xfrm>
          <a:prstGeom prst="rect">
            <a:avLst/>
          </a:prstGeom>
        </p:spPr>
      </p:pic>
      <p:sp>
        <p:nvSpPr>
          <p:cNvPr id="10" name="Rectangle 9"/>
          <p:cNvSpPr/>
          <p:nvPr/>
        </p:nvSpPr>
        <p:spPr>
          <a:xfrm>
            <a:off x="841248" y="284429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3082041"/>
            <a:ext cx="3346704" cy="208483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3082041"/>
            <a:ext cx="3346704"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24128" y="3264921"/>
            <a:ext cx="2980944" cy="274320"/>
          </a:xfrm>
          <a:prstGeom prst="rect">
            <a:avLst/>
          </a:prstGeom>
          <a:noFill/>
        </p:spPr>
        <p:txBody>
          <a:bodyPr wrap="square" lIns="0" tIns="0" rIns="0" bIns="0" anchor="t">
            <a:noAutofit/>
          </a:bodyPr>
          <a:lstStyle/>
          <a:p>
            <a:pPr marL="0" indent="0" algn="l">
              <a:lnSpc>
                <a:spcPts val="1495"/>
              </a:lnSpc>
              <a:spcBef>
                <a:spcPts val="0"/>
              </a:spcBef>
              <a:spcAft>
                <a:spcPts val="0"/>
              </a:spcAft>
              <a:buNone/>
            </a:pPr>
            <a:r>
              <a:rPr sz="1410" b="1" i="0">
                <a:solidFill>
                  <a:srgbClr val="2B7A3E"/>
                </a:solidFill>
                <a:latin typeface="Roboto Slab"/>
              </a:rPr>
              <a:t>Reward</a:t>
            </a:r>
          </a:p>
        </p:txBody>
      </p:sp>
      <p:sp>
        <p:nvSpPr>
          <p:cNvPr id="14" name="TextBox 13"/>
          <p:cNvSpPr txBox="1"/>
          <p:nvPr/>
        </p:nvSpPr>
        <p:spPr>
          <a:xfrm>
            <a:off x="1024128" y="3722121"/>
            <a:ext cx="298094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one-step feedback from the environment. It says what is good immediately and maximizing it at every step is not the objective. Chasing it greedily can sacrifice much larger rewards later.</a:t>
            </a:r>
          </a:p>
        </p:txBody>
      </p:sp>
      <p:sp>
        <p:nvSpPr>
          <p:cNvPr id="15" name="Rectangle 14"/>
          <p:cNvSpPr/>
          <p:nvPr/>
        </p:nvSpPr>
        <p:spPr>
          <a:xfrm>
            <a:off x="4425696" y="3082041"/>
            <a:ext cx="3346704" cy="208483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4425696" y="3082041"/>
            <a:ext cx="3346704"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608576" y="3264921"/>
            <a:ext cx="2980944" cy="274320"/>
          </a:xfrm>
          <a:prstGeom prst="rect">
            <a:avLst/>
          </a:prstGeom>
          <a:noFill/>
        </p:spPr>
        <p:txBody>
          <a:bodyPr wrap="square" lIns="0" tIns="0" rIns="0" bIns="0" anchor="t">
            <a:noAutofit/>
          </a:bodyPr>
          <a:lstStyle/>
          <a:p>
            <a:pPr marL="0" indent="0" algn="l">
              <a:lnSpc>
                <a:spcPts val="1495"/>
              </a:lnSpc>
              <a:spcBef>
                <a:spcPts val="0"/>
              </a:spcBef>
              <a:spcAft>
                <a:spcPts val="0"/>
              </a:spcAft>
              <a:buNone/>
            </a:pPr>
            <a:r>
              <a:rPr sz="1410" b="1" i="0">
                <a:solidFill>
                  <a:srgbClr val="8A5100"/>
                </a:solidFill>
                <a:latin typeface="Roboto Slab"/>
              </a:rPr>
              <a:t>Return</a:t>
            </a:r>
          </a:p>
        </p:txBody>
      </p:sp>
      <p:sp>
        <p:nvSpPr>
          <p:cNvPr id="18" name="TextBox 17"/>
          <p:cNvSpPr txBox="1"/>
          <p:nvPr/>
        </p:nvSpPr>
        <p:spPr>
          <a:xfrm>
            <a:off x="4608576" y="3722121"/>
            <a:ext cx="2980944" cy="992124"/>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accumulated discounted reward from a given time onward. It captures long-term consequences, but in a stochastic environment it is a random variable: the same policy from the same state can produce a very high return once and a very low one next time.</a:t>
            </a:r>
          </a:p>
        </p:txBody>
      </p:sp>
      <p:sp>
        <p:nvSpPr>
          <p:cNvPr id="19" name="Rectangle 18"/>
          <p:cNvSpPr/>
          <p:nvPr/>
        </p:nvSpPr>
        <p:spPr>
          <a:xfrm>
            <a:off x="8010144" y="3082041"/>
            <a:ext cx="3346704" cy="208483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10144" y="3082041"/>
            <a:ext cx="3346704"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93023" y="3264921"/>
            <a:ext cx="2980944" cy="274320"/>
          </a:xfrm>
          <a:prstGeom prst="rect">
            <a:avLst/>
          </a:prstGeom>
          <a:noFill/>
        </p:spPr>
        <p:txBody>
          <a:bodyPr wrap="square" lIns="0" tIns="0" rIns="0" bIns="0" anchor="t">
            <a:noAutofit/>
          </a:bodyPr>
          <a:lstStyle/>
          <a:p>
            <a:pPr marL="0" indent="0" algn="l">
              <a:lnSpc>
                <a:spcPts val="1495"/>
              </a:lnSpc>
              <a:spcBef>
                <a:spcPts val="0"/>
              </a:spcBef>
              <a:spcAft>
                <a:spcPts val="0"/>
              </a:spcAft>
              <a:buNone/>
            </a:pPr>
            <a:r>
              <a:rPr sz="1410" b="1" i="0">
                <a:solidFill>
                  <a:srgbClr val="574676"/>
                </a:solidFill>
                <a:latin typeface="Roboto Slab"/>
              </a:rPr>
              <a:t>Value</a:t>
            </a:r>
          </a:p>
        </p:txBody>
      </p:sp>
      <p:sp>
        <p:nvSpPr>
          <p:cNvPr id="22" name="TextBox 21"/>
          <p:cNvSpPr txBox="1"/>
          <p:nvPr/>
        </p:nvSpPr>
        <p:spPr>
          <a:xfrm>
            <a:off x="8193023" y="3722121"/>
            <a:ext cx="2980944" cy="83286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expected return. Random transitions and stochastic policies are averaged out: individual trajectories differ, their expectation defines the value. This is the quantity the agent is trying to maximise.</a:t>
            </a:r>
          </a:p>
        </p:txBody>
      </p:sp>
      <p:sp>
        <p:nvSpPr>
          <p:cNvPr id="23" name="Rectangle 22"/>
          <p:cNvSpPr/>
          <p:nvPr/>
        </p:nvSpPr>
        <p:spPr>
          <a:xfrm>
            <a:off x="841248" y="5386329"/>
            <a:ext cx="10515600"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41248" y="5386329"/>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060704" y="5532633"/>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ONE SENTENCE TO KEEP</a:t>
            </a:r>
          </a:p>
        </p:txBody>
      </p:sp>
      <p:sp>
        <p:nvSpPr>
          <p:cNvPr id="26" name="TextBox 25"/>
          <p:cNvSpPr txBox="1"/>
          <p:nvPr/>
        </p:nvSpPr>
        <p:spPr>
          <a:xfrm>
            <a:off x="1060704" y="5770377"/>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So the agent is not maximising the immediate reward, and not a single realised return either. It is looking for behaviour that maximises the </a:t>
            </a:r>
            <a:r>
              <a:rPr sz="1140" b="1" i="0">
                <a:solidFill>
                  <a:srgbClr val="333639"/>
                </a:solidFill>
                <a:latin typeface="Fira Sans"/>
              </a:rPr>
              <a:t>expected</a:t>
            </a:r>
            <a:r>
              <a:rPr sz="1140" b="0" i="0">
                <a:solidFill>
                  <a:srgbClr val="333639"/>
                </a:solidFill>
                <a:latin typeface="Fira Sans"/>
              </a:rPr>
              <a:t> return — and value functions are exactly the tool for reasoning about that quantity.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THE PREDICTION PROBLEM, AND AN ENVIRONMENT FOR IT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Fix the policy and ask only: how good is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 — Learning values from experience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We begin with the simplest question. Suppose the policy is fixed</a:t>
            </a:r>
            <a:r>
              <a:rPr lang="it-IT" sz="1282" b="0" i="0" dirty="0">
                <a:solidFill>
                  <a:srgbClr val="333639"/>
                </a:solidFill>
                <a:latin typeface="Fira Sans"/>
              </a:rPr>
              <a:t>, </a:t>
            </a:r>
            <a:r>
              <a:rPr sz="1282" b="1" i="0" dirty="0">
                <a:solidFill>
                  <a:srgbClr val="333639"/>
                </a:solidFill>
                <a:latin typeface="Fira Sans"/>
              </a:rPr>
              <a:t>how good is it? </a:t>
            </a:r>
            <a:r>
              <a:rPr sz="1282" b="0" i="0" dirty="0">
                <a:solidFill>
                  <a:srgbClr val="333639"/>
                </a:solidFill>
                <a:latin typeface="Fira Sans"/>
              </a:rPr>
              <a:t>Answering means estimating its value function from sampled experience, with no model. This is the </a:t>
            </a:r>
            <a:r>
              <a:rPr sz="1282" b="1" i="0" dirty="0">
                <a:solidFill>
                  <a:srgbClr val="25282A"/>
                </a:solidFill>
                <a:latin typeface="Fira Sans"/>
              </a:rPr>
              <a:t>prediction problem</a:t>
            </a:r>
            <a:r>
              <a:rPr sz="1282" b="0" i="0" dirty="0">
                <a:solidFill>
                  <a:srgbClr val="333639"/>
                </a:solidFill>
                <a:latin typeface="Fira Sans"/>
              </a:rPr>
              <a:t>: learning the expected return obtained by following a given policy.</a:t>
            </a:r>
          </a:p>
        </p:txBody>
      </p:sp>
      <p:pic>
        <p:nvPicPr>
          <p:cNvPr id="9" name="Picture 8" descr="eq_v_def.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07646" y="1951746"/>
            <a:ext cx="3376676" cy="365125"/>
          </a:xfrm>
          <a:prstGeom prst="rect">
            <a:avLst/>
          </a:prstGeom>
        </p:spPr>
      </p:pic>
      <p:pic>
        <p:nvPicPr>
          <p:cNvPr id="10" name="Picture 9" descr="random_walk.png"/>
          <p:cNvPicPr>
            <a:picLocks noChangeAspect="1"/>
          </p:cNvPicPr>
          <p:nvPr/>
        </p:nvPicPr>
        <p:blipFill>
          <a:blip r:embed="rId3"/>
          <a:stretch>
            <a:fillRect/>
          </a:stretch>
        </p:blipFill>
        <p:spPr>
          <a:xfrm>
            <a:off x="2530740" y="2379355"/>
            <a:ext cx="7130520" cy="2161775"/>
          </a:xfrm>
          <a:prstGeom prst="rect">
            <a:avLst/>
          </a:prstGeom>
        </p:spPr>
      </p:pic>
      <p:sp>
        <p:nvSpPr>
          <p:cNvPr id="11" name="TextBox 10"/>
          <p:cNvSpPr txBox="1"/>
          <p:nvPr/>
        </p:nvSpPr>
        <p:spPr>
          <a:xfrm>
            <a:off x="841248" y="4602871"/>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The Random Walk: five non-terminal states, two terminal states, reward +1 only on leaving to the right. Whatever action is chosen, the agent moves left or right with probability ½.</a:t>
            </a:r>
          </a:p>
        </p:txBody>
      </p:sp>
      <p:sp>
        <p:nvSpPr>
          <p:cNvPr id="12" name="Rectangle 11"/>
          <p:cNvSpPr/>
          <p:nvPr/>
        </p:nvSpPr>
        <p:spPr>
          <a:xfrm>
            <a:off x="841248" y="4939675"/>
            <a:ext cx="5120640" cy="86319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4939675"/>
            <a:ext cx="41148" cy="86319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085979"/>
            <a:ext cx="482803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A DELIBERATELY USELESS ACTION SET</a:t>
            </a:r>
          </a:p>
        </p:txBody>
      </p:sp>
      <p:sp>
        <p:nvSpPr>
          <p:cNvPr id="15" name="TextBox 14"/>
          <p:cNvSpPr txBox="1"/>
          <p:nvPr/>
        </p:nvSpPr>
        <p:spPr>
          <a:xfrm>
            <a:off x="1060704" y="5323723"/>
            <a:ext cx="473659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Both actions have exactly the same effect, so the agent has </a:t>
            </a:r>
            <a:r>
              <a:rPr sz="1092" b="1" i="0">
                <a:solidFill>
                  <a:srgbClr val="333639"/>
                </a:solidFill>
                <a:latin typeface="Fira Sans"/>
              </a:rPr>
              <a:t>no control at all</a:t>
            </a:r>
            <a:r>
              <a:rPr sz="1092" b="0" i="0">
                <a:solidFill>
                  <a:srgbClr val="333639"/>
                </a:solidFill>
                <a:latin typeface="Fira Sans"/>
              </a:rPr>
              <a:t>. Changing the policy cannot change its behaviour or its performance.</a:t>
            </a:r>
          </a:p>
        </p:txBody>
      </p:sp>
      <p:sp>
        <p:nvSpPr>
          <p:cNvPr id="16" name="Rectangle 15"/>
          <p:cNvSpPr/>
          <p:nvPr/>
        </p:nvSpPr>
        <p:spPr>
          <a:xfrm>
            <a:off x="6236207" y="4939675"/>
            <a:ext cx="5120640" cy="119603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36207" y="4939675"/>
            <a:ext cx="41148" cy="119603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55664" y="5085979"/>
            <a:ext cx="482803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THAT IS USEFUL</a:t>
            </a:r>
          </a:p>
        </p:txBody>
      </p:sp>
      <p:sp>
        <p:nvSpPr>
          <p:cNvPr id="19" name="TextBox 18"/>
          <p:cNvSpPr txBox="1"/>
          <p:nvPr/>
        </p:nvSpPr>
        <p:spPr>
          <a:xfrm>
            <a:off x="6455664" y="5323723"/>
            <a:ext cx="47365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Which is precisely the point. With no control problem to solve, all the stochasticity comes from the environment, and we can concentrate on one question: </a:t>
            </a:r>
            <a:r>
              <a:rPr sz="1092" b="1" i="0">
                <a:solidFill>
                  <a:srgbClr val="333639"/>
                </a:solidFill>
                <a:latin typeface="Fira Sans"/>
              </a:rPr>
              <a:t>how does an agent learn the expected return from each state, using only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1.4  THE RAW MATERIAL: ONE TRAJECTORY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Everything is computed from sequences of </a:t>
            </a:r>
            <a:r>
              <a:rPr lang="it-IT" sz="2162" b="1" dirty="0" err="1">
                <a:solidFill>
                  <a:srgbClr val="25282A"/>
                </a:solidFill>
                <a:latin typeface="Roboto Slab"/>
              </a:rPr>
              <a:t>experience</a:t>
            </a:r>
            <a:endParaRPr sz="2162" b="1" i="0" dirty="0">
              <a:solidFill>
                <a:srgbClr val="25282A"/>
              </a:solidFill>
              <a:latin typeface="Roboto Slab"/>
            </a:endParaRP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 — Learning values from experience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Every algorithm here consumes experience of the same form. A helper runs the policy until termination and records each transition as a five-tuple</a:t>
            </a:r>
            <a:r>
              <a:rPr lang="it-IT" sz="1235" b="0" i="0" dirty="0">
                <a:solidFill>
                  <a:srgbClr val="333639"/>
                </a:solidFill>
                <a:latin typeface="Fira Sans"/>
              </a:rPr>
              <a:t>: </a:t>
            </a:r>
            <a:r>
              <a:rPr sz="1235" b="0" i="0" dirty="0">
                <a:solidFill>
                  <a:srgbClr val="333639"/>
                </a:solidFill>
                <a:latin typeface="Fira Sans"/>
              </a:rPr>
              <a:t>state, action, reward, next state, done.</a:t>
            </a:r>
          </a:p>
        </p:txBody>
      </p:sp>
      <p:pic>
        <p:nvPicPr>
          <p:cNvPr id="9" name="Picture 8" descr="eq_experienc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6645" y="2018804"/>
            <a:ext cx="1884006" cy="316182"/>
          </a:xfrm>
          <a:prstGeom prst="rect">
            <a:avLst/>
          </a:prstGeom>
        </p:spPr>
      </p:pic>
      <p:sp>
        <p:nvSpPr>
          <p:cNvPr id="10" name="Rectangle 9"/>
          <p:cNvSpPr/>
          <p:nvPr/>
        </p:nvSpPr>
        <p:spPr>
          <a:xfrm>
            <a:off x="841247" y="240375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7" y="249783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THE DISCOUNT FACTOR, SEEN AS A WEIGHT</a:t>
            </a:r>
          </a:p>
        </p:txBody>
      </p:sp>
      <p:pic>
        <p:nvPicPr>
          <p:cNvPr id="12" name="Picture 11" descr="gamma_weight.png"/>
          <p:cNvPicPr>
            <a:picLocks noChangeAspect="1"/>
          </p:cNvPicPr>
          <p:nvPr/>
        </p:nvPicPr>
        <p:blipFill>
          <a:blip r:embed="rId3"/>
          <a:stretch>
            <a:fillRect/>
          </a:stretch>
        </p:blipFill>
        <p:spPr>
          <a:xfrm>
            <a:off x="756645" y="2765831"/>
            <a:ext cx="6636772" cy="3086871"/>
          </a:xfrm>
          <a:prstGeom prst="rect">
            <a:avLst/>
          </a:prstGeom>
        </p:spPr>
      </p:pic>
      <p:sp>
        <p:nvSpPr>
          <p:cNvPr id="13" name="TextBox 12"/>
          <p:cNvSpPr txBox="1"/>
          <p:nvPr/>
        </p:nvSpPr>
        <p:spPr>
          <a:xfrm>
            <a:off x="841247" y="5992368"/>
            <a:ext cx="654344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A reward received k steps into the future enters the return with weight </a:t>
            </a:r>
            <a:r>
              <a:rPr sz="950" b="0" i="1" dirty="0" err="1">
                <a:solidFill>
                  <a:srgbClr val="626669"/>
                </a:solidFill>
                <a:latin typeface="Fira Sans"/>
              </a:rPr>
              <a:t>γ^k</a:t>
            </a:r>
            <a:r>
              <a:rPr sz="950" b="0" i="1" dirty="0">
                <a:solidFill>
                  <a:srgbClr val="626669"/>
                </a:solidFill>
                <a:latin typeface="Fira Sans"/>
              </a:rPr>
              <a:t>. On the Random Walk we use </a:t>
            </a:r>
            <a:r>
              <a:rPr sz="950" b="0" i="1" dirty="0" err="1">
                <a:solidFill>
                  <a:srgbClr val="626669"/>
                </a:solidFill>
                <a:latin typeface="Fira Sans"/>
              </a:rPr>
              <a:t>γ</a:t>
            </a:r>
            <a:r>
              <a:rPr sz="950" b="0" i="1" dirty="0">
                <a:solidFill>
                  <a:srgbClr val="626669"/>
                </a:solidFill>
                <a:latin typeface="Fira Sans"/>
              </a:rPr>
              <a:t> = 1, so every reward counts equally.</a:t>
            </a:r>
          </a:p>
        </p:txBody>
      </p:sp>
      <p:sp>
        <p:nvSpPr>
          <p:cNvPr id="14" name="Rectangle 13"/>
          <p:cNvSpPr/>
          <p:nvPr/>
        </p:nvSpPr>
        <p:spPr>
          <a:xfrm>
            <a:off x="7618780" y="1316736"/>
            <a:ext cx="3731940" cy="343288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618780" y="1316736"/>
            <a:ext cx="41148" cy="343288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01660" y="1399032"/>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generate_trajectory</a:t>
            </a:r>
          </a:p>
        </p:txBody>
      </p:sp>
      <p:sp>
        <p:nvSpPr>
          <p:cNvPr id="17" name="TextBox 16"/>
          <p:cNvSpPr txBox="1"/>
          <p:nvPr/>
        </p:nvSpPr>
        <p:spPr>
          <a:xfrm>
            <a:off x="7801660" y="1700784"/>
            <a:ext cx="3421044" cy="2975686"/>
          </a:xfrm>
          <a:prstGeom prst="rect">
            <a:avLst/>
          </a:prstGeom>
          <a:noFill/>
        </p:spPr>
        <p:txBody>
          <a:bodyPr wrap="none" lIns="0" tIns="0" rIns="0" bIns="0" anchor="t">
            <a:noAutofit/>
          </a:bodyPr>
          <a:lstStyle/>
          <a:p>
            <a:pPr marL="0" indent="0" algn="l">
              <a:lnSpc>
                <a:spcPts val="1006"/>
              </a:lnSpc>
              <a:spcBef>
                <a:spcPts val="0"/>
              </a:spcBef>
              <a:spcAft>
                <a:spcPts val="0"/>
              </a:spcAft>
              <a:buNone/>
            </a:pPr>
            <a:r>
              <a:rPr sz="774" b="0" i="0">
                <a:solidFill>
                  <a:srgbClr val="1F2A37"/>
                </a:solidFill>
                <a:latin typeface="Consolas"/>
              </a:rPr>
              <a:t>def generate_trajectory(pi, env, max_steps=200):</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trajectory = []</a:t>
            </a:r>
          </a:p>
          <a:p>
            <a:pPr marL="0" indent="0" algn="l">
              <a:lnSpc>
                <a:spcPts val="1006"/>
              </a:lnSpc>
              <a:spcBef>
                <a:spcPts val="0"/>
              </a:spcBef>
              <a:spcAft>
                <a:spcPts val="0"/>
              </a:spcAft>
              <a:buNone/>
            </a:pPr>
            <a:r>
              <a:rPr sz="774" b="0" i="0">
                <a:solidFill>
                  <a:srgbClr val="1F2A37"/>
                </a:solidFill>
                <a:latin typeface="Consolas"/>
              </a:rPr>
              <a:t>    state = env.reset()</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for _ in range(max_steps):</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action = pi(state)   </a:t>
            </a:r>
            <a:r>
              <a:rPr sz="774" b="0" i="1">
                <a:solidFill>
                  <a:srgbClr val="768896"/>
                </a:solidFill>
                <a:latin typeface="Consolas"/>
              </a:rPr>
              <a:t># the policy</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next_state, reward, terminated, \</a:t>
            </a:r>
          </a:p>
          <a:p>
            <a:pPr marL="0" indent="0" algn="l">
              <a:lnSpc>
                <a:spcPts val="1006"/>
              </a:lnSpc>
              <a:spcBef>
                <a:spcPts val="0"/>
              </a:spcBef>
              <a:spcAft>
                <a:spcPts val="0"/>
              </a:spcAft>
              <a:buNone/>
            </a:pPr>
            <a:r>
              <a:rPr sz="774" b="0" i="0">
                <a:solidFill>
                  <a:srgbClr val="1F2A37"/>
                </a:solidFill>
                <a:latin typeface="Consolas"/>
              </a:rPr>
              <a:t>            truncated, info = env.step(action)</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done = terminated or truncated</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a:t>
            </a:r>
            <a:r>
              <a:rPr sz="774" b="0" i="1">
                <a:solidFill>
                  <a:srgbClr val="768896"/>
                </a:solidFill>
                <a:latin typeface="Consolas"/>
              </a:rPr>
              <a:t># one complete experience</a:t>
            </a:r>
          </a:p>
          <a:p>
            <a:pPr marL="0" indent="0" algn="l">
              <a:lnSpc>
                <a:spcPts val="1006"/>
              </a:lnSpc>
              <a:spcBef>
                <a:spcPts val="0"/>
              </a:spcBef>
              <a:spcAft>
                <a:spcPts val="0"/>
              </a:spcAft>
              <a:buNone/>
            </a:pPr>
            <a:r>
              <a:rPr sz="774" b="0" i="0">
                <a:solidFill>
                  <a:srgbClr val="1F2A37"/>
                </a:solidFill>
                <a:latin typeface="Consolas"/>
              </a:rPr>
              <a:t>        trajectory.append(</a:t>
            </a:r>
          </a:p>
          <a:p>
            <a:pPr marL="0" indent="0" algn="l">
              <a:lnSpc>
                <a:spcPts val="1006"/>
              </a:lnSpc>
              <a:spcBef>
                <a:spcPts val="0"/>
              </a:spcBef>
              <a:spcAft>
                <a:spcPts val="0"/>
              </a:spcAft>
              <a:buNone/>
            </a:pPr>
            <a:r>
              <a:rPr sz="774" b="1" i="0">
                <a:solidFill>
                  <a:srgbClr val="574676"/>
                </a:solidFill>
                <a:latin typeface="Consolas"/>
              </a:rPr>
              <a:t>            (state, action, reward, next_state, done))</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if done:</a:t>
            </a:r>
          </a:p>
          <a:p>
            <a:pPr marL="0" indent="0" algn="l">
              <a:lnSpc>
                <a:spcPts val="1006"/>
              </a:lnSpc>
              <a:spcBef>
                <a:spcPts val="0"/>
              </a:spcBef>
              <a:spcAft>
                <a:spcPts val="0"/>
              </a:spcAft>
              <a:buNone/>
            </a:pPr>
            <a:r>
              <a:rPr sz="774" b="0" i="0">
                <a:solidFill>
                  <a:srgbClr val="1F2A37"/>
                </a:solidFill>
                <a:latin typeface="Consolas"/>
              </a:rPr>
              <a:t>            break</a:t>
            </a:r>
          </a:p>
          <a:p>
            <a:pPr marL="0" indent="0" algn="l">
              <a:lnSpc>
                <a:spcPts val="1006"/>
              </a:lnSpc>
              <a:spcBef>
                <a:spcPts val="0"/>
              </a:spcBef>
              <a:spcAft>
                <a:spcPts val="0"/>
              </a:spcAft>
              <a:buNone/>
            </a:pPr>
            <a:r>
              <a:rPr sz="774" b="0" i="0">
                <a:solidFill>
                  <a:srgbClr val="1F2A37"/>
                </a:solidFill>
                <a:latin typeface="Consolas"/>
              </a:rPr>
              <a:t>        state = next_state</a:t>
            </a:r>
          </a:p>
          <a:p>
            <a:pPr marL="0" indent="0" algn="l">
              <a:lnSpc>
                <a:spcPts val="1006"/>
              </a:lnSpc>
              <a:spcBef>
                <a:spcPts val="0"/>
              </a:spcBef>
              <a:spcAft>
                <a:spcPts val="0"/>
              </a:spcAft>
              <a:buNone/>
            </a:pPr>
            <a:r>
              <a:rPr sz="774" b="0" i="0">
                <a:solidFill>
                  <a:srgbClr val="333639"/>
                </a:solidFill>
                <a:latin typeface="Consolas"/>
              </a:rPr>
              <a:t> </a:t>
            </a:r>
          </a:p>
          <a:p>
            <a:pPr marL="0" indent="0" algn="l">
              <a:lnSpc>
                <a:spcPts val="1006"/>
              </a:lnSpc>
              <a:spcBef>
                <a:spcPts val="0"/>
              </a:spcBef>
              <a:spcAft>
                <a:spcPts val="0"/>
              </a:spcAft>
              <a:buNone/>
            </a:pPr>
            <a:r>
              <a:rPr sz="774" b="0" i="0">
                <a:solidFill>
                  <a:srgbClr val="1F2A37"/>
                </a:solidFill>
                <a:latin typeface="Consolas"/>
              </a:rPr>
              <a:t>    return np.array(trajectory, dtype=object)</a:t>
            </a:r>
          </a:p>
        </p:txBody>
      </p:sp>
      <p:sp>
        <p:nvSpPr>
          <p:cNvPr id="18" name="Rectangle 17"/>
          <p:cNvSpPr/>
          <p:nvPr/>
        </p:nvSpPr>
        <p:spPr>
          <a:xfrm>
            <a:off x="7618780" y="4932502"/>
            <a:ext cx="3731940" cy="1138123"/>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618780" y="4932502"/>
            <a:ext cx="41148" cy="113812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838236" y="507880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WHO NEEDS WHAT</a:t>
            </a:r>
          </a:p>
        </p:txBody>
      </p:sp>
      <p:sp>
        <p:nvSpPr>
          <p:cNvPr id="21" name="TextBox 20"/>
          <p:cNvSpPr txBox="1"/>
          <p:nvPr/>
        </p:nvSpPr>
        <p:spPr>
          <a:xfrm>
            <a:off x="7838236" y="5316550"/>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Monte Carlo needs the whole list before it can do anything; temporal-difference learning needs one row at a time. That single difference is what Parts II and III are about.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Monte Carlo prediction</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The most direct estimator of an expectation: sample complete returns and average them. Unbiased, model-free and noisy, because a whole trajectory of randomness goes into every target.</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exactly does the agent have to wait for before it can learn anything?</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Sampling and averaging</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All the returns of one episode</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incremental update</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First-visit and every-visit</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The algorithm</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Results, and the variance problem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SAMPLING AND AVERAGING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 most direct estimator of an expectation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We want the expected return from each state. A natural way to estimate an expectation is to </a:t>
            </a:r>
            <a:r>
              <a:rPr sz="1282" b="1" i="0" dirty="0">
                <a:solidFill>
                  <a:srgbClr val="25282A"/>
                </a:solidFill>
                <a:latin typeface="Fira Sans"/>
              </a:rPr>
              <a:t>sample and average</a:t>
            </a:r>
            <a:r>
              <a:rPr sz="1282" b="0" i="0" dirty="0">
                <a:solidFill>
                  <a:srgbClr val="333639"/>
                </a:solidFill>
                <a:latin typeface="Fira Sans"/>
              </a:rPr>
              <a:t>: run the policy for many episodes, collect trajectories, and average the returns observed after visiting each state. No model, no assumptions about the dynamics</a:t>
            </a:r>
            <a:r>
              <a:rPr lang="it-IT" sz="1282" dirty="0">
                <a:solidFill>
                  <a:srgbClr val="333639"/>
                </a:solidFill>
                <a:latin typeface="Fira Sans"/>
              </a:rPr>
              <a:t>;</a:t>
            </a:r>
            <a:r>
              <a:rPr sz="1282" b="0" i="0" dirty="0">
                <a:solidFill>
                  <a:srgbClr val="333639"/>
                </a:solidFill>
                <a:latin typeface="Fira Sans"/>
              </a:rPr>
              <a:t> just arithmetic on what actually happened.</a:t>
            </a:r>
          </a:p>
        </p:txBody>
      </p:sp>
      <p:pic>
        <p:nvPicPr>
          <p:cNvPr id="9" name="Picture 8" descr="mc_idea.png"/>
          <p:cNvPicPr>
            <a:picLocks noChangeAspect="1"/>
          </p:cNvPicPr>
          <p:nvPr/>
        </p:nvPicPr>
        <p:blipFill>
          <a:blip r:embed="rId2"/>
          <a:stretch>
            <a:fillRect/>
          </a:stretch>
        </p:blipFill>
        <p:spPr>
          <a:xfrm>
            <a:off x="2123597" y="1949211"/>
            <a:ext cx="7676582" cy="2615184"/>
          </a:xfrm>
          <a:prstGeom prst="rect">
            <a:avLst/>
          </a:prstGeom>
        </p:spPr>
      </p:pic>
      <p:sp>
        <p:nvSpPr>
          <p:cNvPr id="10" name="TextBox 9"/>
          <p:cNvSpPr txBox="1"/>
          <p:nvPr/>
        </p:nvSpPr>
        <p:spPr>
          <a:xfrm>
            <a:off x="841248" y="4619259"/>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Each episode run under the policy contributes return samples; their mean estimates the expectation.</a:t>
            </a:r>
          </a:p>
        </p:txBody>
      </p:sp>
      <p:sp>
        <p:nvSpPr>
          <p:cNvPr id="11" name="Rectangle 10"/>
          <p:cNvSpPr/>
          <p:nvPr/>
        </p:nvSpPr>
        <p:spPr>
          <a:xfrm>
            <a:off x="841248" y="5010927"/>
            <a:ext cx="5120640" cy="8631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010927"/>
            <a:ext cx="41148" cy="8631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157231"/>
            <a:ext cx="482803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WHOLE IDEA</a:t>
            </a:r>
          </a:p>
        </p:txBody>
      </p:sp>
      <p:sp>
        <p:nvSpPr>
          <p:cNvPr id="14" name="TextBox 13"/>
          <p:cNvSpPr txBox="1"/>
          <p:nvPr/>
        </p:nvSpPr>
        <p:spPr>
          <a:xfrm>
            <a:off x="1060704" y="5394975"/>
            <a:ext cx="473659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a:t>
            </a:r>
            <a:r>
              <a:rPr sz="1092" b="1" i="0">
                <a:solidFill>
                  <a:srgbClr val="333639"/>
                </a:solidFill>
                <a:latin typeface="Fira Sans"/>
              </a:rPr>
              <a:t>Monte Carlo prediction</a:t>
            </a:r>
            <a:r>
              <a:rPr sz="1092" b="0" i="0">
                <a:solidFill>
                  <a:srgbClr val="333639"/>
                </a:solidFill>
                <a:latin typeface="Fira Sans"/>
              </a:rPr>
              <a:t>: estimate state values directly from complete returns observed through experience.</a:t>
            </a:r>
          </a:p>
        </p:txBody>
      </p:sp>
      <p:sp>
        <p:nvSpPr>
          <p:cNvPr id="15" name="Rectangle 14"/>
          <p:cNvSpPr/>
          <p:nvPr/>
        </p:nvSpPr>
        <p:spPr>
          <a:xfrm>
            <a:off x="6236207" y="5010927"/>
            <a:ext cx="5120640" cy="102961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236207" y="5010927"/>
            <a:ext cx="41148" cy="102961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55664" y="5157231"/>
            <a:ext cx="482803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IS NOT REQUIRED</a:t>
            </a:r>
          </a:p>
        </p:txBody>
      </p:sp>
      <p:sp>
        <p:nvSpPr>
          <p:cNvPr id="18" name="TextBox 17"/>
          <p:cNvSpPr txBox="1"/>
          <p:nvPr/>
        </p:nvSpPr>
        <p:spPr>
          <a:xfrm>
            <a:off x="6455664" y="5394975"/>
            <a:ext cx="4736592"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what it does </a:t>
            </a:r>
            <a:r>
              <a:rPr sz="1092" b="1" i="1">
                <a:solidFill>
                  <a:srgbClr val="333639"/>
                </a:solidFill>
                <a:latin typeface="Fira Sans"/>
              </a:rPr>
              <a:t>not</a:t>
            </a:r>
            <a:r>
              <a:rPr sz="1092" b="0" i="0">
                <a:solidFill>
                  <a:srgbClr val="333639"/>
                </a:solidFill>
                <a:latin typeface="Fira Sans"/>
              </a:rPr>
              <a:t> need: no transition probabilities, no reward function, no value estimate of any other state. Only returns the agent has lived through.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ONE EPISODE, MANY RETURN SAMPLES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And a backward pass that computes all of them at once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9</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Consider an episode generated by following the policy. Every state visit along the way provides a different return, obtained by accumulating all subsequent discounted rewards until termination.</a:t>
            </a:r>
          </a:p>
        </p:txBody>
      </p:sp>
      <p:pic>
        <p:nvPicPr>
          <p:cNvPr id="9" name="Picture 8" descr="eq_episod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20220" y="1970034"/>
            <a:ext cx="5746495" cy="233679"/>
          </a:xfrm>
          <a:prstGeom prst="rect">
            <a:avLst/>
          </a:prstGeom>
        </p:spPr>
      </p:pic>
      <p:pic>
        <p:nvPicPr>
          <p:cNvPr id="10" name="Picture 9" descr="eq_returns_all.png"/>
          <p:cNvPicPr>
            <a:picLocks noChangeAspect="1"/>
          </p:cNvPicPr>
          <p:nvPr/>
        </p:nvPicPr>
        <p:blipFill>
          <a:blip>
            <a:extLst>
              <a:ext uri="{96DAC541-7B7A-43D3-8B79-37D633B846F1}">
                <asvg:svgBlip xmlns:asvg="http://schemas.microsoft.com/office/drawing/2016/SVG/main" r:embed="rId3"/>
              </a:ext>
            </a:extLst>
          </a:blip>
          <a:srcRect t="23129" b="27283"/>
          <a:stretch>
            <a:fillRect/>
          </a:stretch>
        </p:blipFill>
        <p:spPr>
          <a:xfrm>
            <a:off x="1243094" y="2729879"/>
            <a:ext cx="4563872" cy="648912"/>
          </a:xfrm>
          <a:prstGeom prst="rect">
            <a:avLst/>
          </a:prstGeom>
        </p:spPr>
      </p:pic>
      <p:sp>
        <p:nvSpPr>
          <p:cNvPr id="11" name="TextBox 10"/>
          <p:cNvSpPr txBox="1"/>
          <p:nvPr/>
        </p:nvSpPr>
        <p:spPr>
          <a:xfrm>
            <a:off x="6693408" y="2514610"/>
            <a:ext cx="4572000" cy="950645"/>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A single episode yields </a:t>
            </a:r>
            <a:r>
              <a:rPr sz="1092" b="1" i="0" dirty="0">
                <a:solidFill>
                  <a:srgbClr val="25282A"/>
                </a:solidFill>
                <a:latin typeface="Fira Sans"/>
              </a:rPr>
              <a:t>one return sample for each state visit</a:t>
            </a:r>
            <a:r>
              <a:rPr lang="it-IT" sz="1092" dirty="0">
                <a:solidFill>
                  <a:srgbClr val="333639"/>
                </a:solidFill>
                <a:latin typeface="Fira Sans"/>
              </a:rPr>
              <a:t>, </a:t>
            </a:r>
            <a:r>
              <a:rPr sz="1092" b="0" i="0" dirty="0">
                <a:solidFill>
                  <a:srgbClr val="333639"/>
                </a:solidFill>
                <a:latin typeface="Fira Sans"/>
              </a:rPr>
              <a:t>not one sample per episode. Short episodes still carry a lot of information.</a:t>
            </a:r>
          </a:p>
          <a:p>
            <a:pPr marL="0" indent="0" algn="l">
              <a:lnSpc>
                <a:spcPts val="1233"/>
              </a:lnSpc>
              <a:spcBef>
                <a:spcPts val="800"/>
              </a:spcBef>
              <a:spcAft>
                <a:spcPts val="0"/>
              </a:spcAft>
              <a:buNone/>
            </a:pPr>
            <a:r>
              <a:rPr sz="1045" b="0" i="0" dirty="0">
                <a:solidFill>
                  <a:srgbClr val="626669"/>
                </a:solidFill>
                <a:latin typeface="Fira Sans"/>
              </a:rPr>
              <a:t>Computing each return independently would be wasteful: the sums overlap almost completely.</a:t>
            </a:r>
          </a:p>
        </p:txBody>
      </p:sp>
      <p:sp>
        <p:nvSpPr>
          <p:cNvPr id="12" name="Rectangle 11"/>
          <p:cNvSpPr/>
          <p:nvPr/>
        </p:nvSpPr>
        <p:spPr>
          <a:xfrm>
            <a:off x="841248" y="400609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22555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CONSECUTIVE RETURNS SATISFY A RECURSION</a:t>
            </a:r>
          </a:p>
        </p:txBody>
      </p:sp>
      <p:sp>
        <p:nvSpPr>
          <p:cNvPr id="14" name="Rectangle 13"/>
          <p:cNvSpPr/>
          <p:nvPr/>
        </p:nvSpPr>
        <p:spPr>
          <a:xfrm>
            <a:off x="841248" y="4536450"/>
            <a:ext cx="10515600" cy="8229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41248" y="4536450"/>
            <a:ext cx="41148" cy="8229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eq_ret_rec.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4348" y="4792482"/>
            <a:ext cx="4843272" cy="306705"/>
          </a:xfrm>
          <a:prstGeom prst="rect">
            <a:avLst/>
          </a:prstGeom>
        </p:spPr>
      </p:pic>
      <p:sp>
        <p:nvSpPr>
          <p:cNvPr id="17" name="TextBox 16"/>
          <p:cNvSpPr txBox="1"/>
          <p:nvPr/>
        </p:nvSpPr>
        <p:spPr>
          <a:xfrm>
            <a:off x="841248" y="5524002"/>
            <a:ext cx="10515600" cy="384048"/>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So a </a:t>
            </a:r>
            <a:r>
              <a:rPr sz="1140" b="1" i="0" dirty="0">
                <a:solidFill>
                  <a:srgbClr val="574676"/>
                </a:solidFill>
                <a:latin typeface="Fira Sans"/>
              </a:rPr>
              <a:t>single backward pass</a:t>
            </a:r>
            <a:r>
              <a:rPr sz="1140" b="0" i="0" dirty="0">
                <a:solidFill>
                  <a:srgbClr val="333639"/>
                </a:solidFill>
                <a:latin typeface="Fira Sans"/>
              </a:rPr>
              <a:t> through the rewards computes every return in the episode, in linear time and with constant extra memory</a:t>
            </a:r>
            <a:r>
              <a:rPr lang="it-IT" sz="1140" b="0" i="0" dirty="0">
                <a:solidFill>
                  <a:srgbClr val="333639"/>
                </a:solidFill>
                <a:latin typeface="Fira Sans"/>
              </a:rPr>
              <a:t>. </a:t>
            </a:r>
            <a:r>
              <a:rPr sz="1140" b="0" i="0" dirty="0">
                <a:solidFill>
                  <a:srgbClr val="333639"/>
                </a:solidFill>
                <a:latin typeface="Fira Sans"/>
              </a:rPr>
              <a:t>The same recursion reappears in Part III as the starting point of temporal-difference learning.</a:t>
            </a:r>
          </a:p>
        </p:txBody>
      </p:sp>
      <p:pic>
        <p:nvPicPr>
          <p:cNvPr id="19" name="Immagine 18">
            <a:extLst>
              <a:ext uri="{FF2B5EF4-FFF2-40B4-BE49-F238E27FC236}">
                <a16:creationId xmlns:a16="http://schemas.microsoft.com/office/drawing/2014/main" id="{B3F7BB08-D45E-61A4-4940-CC57C53CC0B3}"/>
              </a:ext>
            </a:extLst>
          </p:cNvPr>
          <p:cNvPicPr>
            <a:picLocks noChangeAspect="1"/>
          </p:cNvPicPr>
          <p:nvPr/>
        </p:nvPicPr>
        <p:blipFill>
          <a:blip r:embed="rId5"/>
          <a:stretch>
            <a:fillRect/>
          </a:stretch>
        </p:blipFill>
        <p:spPr>
          <a:xfrm>
            <a:off x="1298448" y="2342615"/>
            <a:ext cx="4453164" cy="298351"/>
          </a:xfrm>
          <a:prstGeom prst="rect">
            <a:avLst/>
          </a:prstGeom>
        </p:spPr>
      </p:pic>
      <p:pic>
        <p:nvPicPr>
          <p:cNvPr id="21" name="Immagine 20">
            <a:extLst>
              <a:ext uri="{FF2B5EF4-FFF2-40B4-BE49-F238E27FC236}">
                <a16:creationId xmlns:a16="http://schemas.microsoft.com/office/drawing/2014/main" id="{1B5D3D39-6E6E-F522-8A4F-57CD24DACB32}"/>
              </a:ext>
            </a:extLst>
          </p:cNvPr>
          <p:cNvPicPr>
            <a:picLocks noChangeAspect="1"/>
          </p:cNvPicPr>
          <p:nvPr/>
        </p:nvPicPr>
        <p:blipFill>
          <a:blip r:embed="rId6"/>
          <a:stretch>
            <a:fillRect/>
          </a:stretch>
        </p:blipFill>
        <p:spPr>
          <a:xfrm>
            <a:off x="1243094" y="3369234"/>
            <a:ext cx="1401536" cy="319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2.3  FROM THE SAMPLE MEAN TO AN INCREMENTAL UPDATE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familiar shape, with the complete return as the target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After many visits to a state s we hold a collection of return samples. Monte Carlo prediction estimates the expected return by their empirical mean.</a:t>
            </a:r>
          </a:p>
        </p:txBody>
      </p:sp>
      <p:pic>
        <p:nvPicPr>
          <p:cNvPr id="9" name="Picture 8" descr="eq_mc_sample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1937181"/>
            <a:ext cx="3044952" cy="322326"/>
          </a:xfrm>
          <a:prstGeom prst="rect">
            <a:avLst/>
          </a:prstGeom>
        </p:spPr>
      </p:pic>
      <p:pic>
        <p:nvPicPr>
          <p:cNvPr id="10" name="Picture 9" descr="eq_mc_mea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7465" y="2456611"/>
            <a:ext cx="2979039" cy="949452"/>
          </a:xfrm>
          <a:prstGeom prst="rect">
            <a:avLst/>
          </a:prstGeom>
        </p:spPr>
      </p:pic>
      <p:pic>
        <p:nvPicPr>
          <p:cNvPr id="11" name="Picture 10" descr="eq_mc_limi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3593007"/>
            <a:ext cx="3362706" cy="285750"/>
          </a:xfrm>
          <a:prstGeom prst="rect">
            <a:avLst/>
          </a:prstGeom>
        </p:spPr>
      </p:pic>
      <p:sp>
        <p:nvSpPr>
          <p:cNvPr id="12" name="Rectangle 11"/>
          <p:cNvSpPr/>
          <p:nvPr/>
        </p:nvSpPr>
        <p:spPr>
          <a:xfrm>
            <a:off x="841248" y="413478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35424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WE NEED NOT STORE THE SAMPLES</a:t>
            </a:r>
          </a:p>
        </p:txBody>
      </p:sp>
      <p:pic>
        <p:nvPicPr>
          <p:cNvPr id="14" name="Picture 13" descr="eq_mc_incr.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4646853"/>
            <a:ext cx="4018788" cy="571500"/>
          </a:xfrm>
          <a:prstGeom prst="rect">
            <a:avLst/>
          </a:prstGeom>
        </p:spPr>
      </p:pic>
      <p:sp>
        <p:nvSpPr>
          <p:cNvPr id="15" name="TextBox 14"/>
          <p:cNvSpPr txBox="1"/>
          <p:nvPr/>
        </p:nvSpPr>
        <p:spPr>
          <a:xfrm>
            <a:off x="841248" y="5419521"/>
            <a:ext cx="6543446"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626669"/>
                </a:solidFill>
                <a:latin typeface="Fira Sans"/>
              </a:rPr>
              <a:t>Replacing 1/N(Sᵢ) by a learning rate and the method keeps working when the target is no longer stationary.</a:t>
            </a:r>
          </a:p>
        </p:txBody>
      </p:sp>
      <p:sp>
        <p:nvSpPr>
          <p:cNvPr id="16" name="TextBox 15"/>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MONTE CARLO UPDATE</a:t>
            </a:r>
          </a:p>
        </p:txBody>
      </p:sp>
      <p:pic>
        <p:nvPicPr>
          <p:cNvPr id="17" name="Picture 16" descr="eq_mc_updat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8780" y="1622781"/>
            <a:ext cx="3739666" cy="974011"/>
          </a:xfrm>
          <a:prstGeom prst="rect">
            <a:avLst/>
          </a:prstGeom>
        </p:spPr>
      </p:pic>
      <p:sp>
        <p:nvSpPr>
          <p:cNvPr id="18" name="Rectangle 17"/>
          <p:cNvSpPr/>
          <p:nvPr/>
        </p:nvSpPr>
        <p:spPr>
          <a:xfrm>
            <a:off x="7618780" y="2714752"/>
            <a:ext cx="3731940" cy="548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eq_pattern.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65084" y="2915920"/>
            <a:ext cx="3439332" cy="177788"/>
          </a:xfrm>
          <a:prstGeom prst="rect">
            <a:avLst/>
          </a:prstGeom>
        </p:spPr>
      </p:pic>
      <p:sp>
        <p:nvSpPr>
          <p:cNvPr id="20" name="TextBox 19"/>
          <p:cNvSpPr txBox="1"/>
          <p:nvPr/>
        </p:nvSpPr>
        <p:spPr>
          <a:xfrm>
            <a:off x="7618780" y="3446272"/>
            <a:ext cx="3731940" cy="923950"/>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The target is </a:t>
            </a:r>
            <a:r>
              <a:rPr sz="1092" b="1" i="0">
                <a:solidFill>
                  <a:srgbClr val="2B7A3E"/>
                </a:solidFill>
                <a:latin typeface="Fira Sans"/>
              </a:rPr>
              <a:t>only rewards the agent actually experienced</a:t>
            </a:r>
            <a:r>
              <a:rPr sz="1092" b="0" i="0">
                <a:solidFill>
                  <a:srgbClr val="333639"/>
                </a:solidFill>
                <a:latin typeface="Fira Sans"/>
              </a:rPr>
              <a:t>. No model, no estimate of any other state’s value.</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It is therefore an </a:t>
            </a:r>
            <a:r>
              <a:rPr sz="1092" b="1" i="0">
                <a:solidFill>
                  <a:srgbClr val="25282A"/>
                </a:solidFill>
                <a:latin typeface="Fira Sans"/>
              </a:rPr>
              <a:t>unbiased sample</a:t>
            </a:r>
            <a:r>
              <a:rPr sz="1092" b="0" i="0">
                <a:solidFill>
                  <a:srgbClr val="333639"/>
                </a:solidFill>
                <a:latin typeface="Fira Sans"/>
              </a:rPr>
              <a:t> of the quantity we want.</a:t>
            </a:r>
          </a:p>
        </p:txBody>
      </p:sp>
      <p:sp>
        <p:nvSpPr>
          <p:cNvPr id="21" name="Rectangle 20"/>
          <p:cNvSpPr/>
          <p:nvPr/>
        </p:nvSpPr>
        <p:spPr>
          <a:xfrm>
            <a:off x="7618780" y="4607966"/>
            <a:ext cx="3731940" cy="1196035"/>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4607966"/>
            <a:ext cx="41148" cy="119603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475427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COST OF USING REAL RETURNS</a:t>
            </a:r>
          </a:p>
        </p:txBody>
      </p:sp>
      <p:sp>
        <p:nvSpPr>
          <p:cNvPr id="24" name="TextBox 23"/>
          <p:cNvSpPr txBox="1"/>
          <p:nvPr/>
        </p:nvSpPr>
        <p:spPr>
          <a:xfrm>
            <a:off x="7838236" y="499201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price: the complete return is known only once the episode has terminated. Monte Carlo methods can therefore </a:t>
            </a:r>
            <a:r>
              <a:rPr sz="1092" b="1" i="0">
                <a:solidFill>
                  <a:srgbClr val="333639"/>
                </a:solidFill>
                <a:latin typeface="Fira Sans"/>
              </a:rPr>
              <a:t>update only after observing the final outcome</a:t>
            </a:r>
            <a:r>
              <a:rPr sz="1092" b="0" i="0">
                <a:solidFill>
                  <a:srgbClr val="333639"/>
                </a:solidFill>
                <a:latin typeface="Fira Sans"/>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2.4  FIRST-VISIT AND EVERY-VISIT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single trajectory may visit the same state more than once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4419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One detail has to be settled before the idea becomes an algorithm. Suppose an episode visits state A twice. The two visits generally produce different returns — should both update V(A)?</a:t>
            </a:r>
          </a:p>
        </p:txBody>
      </p:sp>
      <p:pic>
        <p:nvPicPr>
          <p:cNvPr id="9" name="Picture 8" descr="eq_revisi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0704" y="1965732"/>
            <a:ext cx="5280660" cy="258317"/>
          </a:xfrm>
          <a:prstGeom prst="rect">
            <a:avLst/>
          </a:prstGeom>
        </p:spPr>
      </p:pic>
      <p:pic>
        <p:nvPicPr>
          <p:cNvPr id="10" name="Picture 9" descr="eq_revisit_g.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008" y="2356368"/>
            <a:ext cx="4768596" cy="285750"/>
          </a:xfrm>
          <a:prstGeom prst="rect">
            <a:avLst/>
          </a:prstGeom>
        </p:spPr>
      </p:pic>
      <p:sp>
        <p:nvSpPr>
          <p:cNvPr id="11" name="Rectangle 10"/>
          <p:cNvSpPr/>
          <p:nvPr/>
        </p:nvSpPr>
        <p:spPr>
          <a:xfrm>
            <a:off x="841248" y="269132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2820209"/>
            <a:ext cx="5102352"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2922970"/>
            <a:ext cx="510235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574676"/>
                </a:solidFill>
                <a:latin typeface="Fira Sans"/>
              </a:rPr>
              <a:t>FIRST-VISIT MC  (FVMC)</a:t>
            </a:r>
          </a:p>
        </p:txBody>
      </p:sp>
      <p:pic>
        <p:nvPicPr>
          <p:cNvPr id="14" name="Picture 13" descr="fvmc.png"/>
          <p:cNvPicPr>
            <a:picLocks noChangeAspect="1"/>
          </p:cNvPicPr>
          <p:nvPr/>
        </p:nvPicPr>
        <p:blipFill>
          <a:blip r:embed="rId4"/>
          <a:stretch>
            <a:fillRect/>
          </a:stretch>
        </p:blipFill>
        <p:spPr>
          <a:xfrm>
            <a:off x="830063" y="3162237"/>
            <a:ext cx="4869057" cy="1426725"/>
          </a:xfrm>
          <a:prstGeom prst="rect">
            <a:avLst/>
          </a:prstGeom>
        </p:spPr>
      </p:pic>
      <p:sp>
        <p:nvSpPr>
          <p:cNvPr id="15" name="TextBox 14"/>
          <p:cNvSpPr txBox="1"/>
          <p:nvPr/>
        </p:nvSpPr>
        <p:spPr>
          <a:xfrm>
            <a:off x="841248" y="4717807"/>
            <a:ext cx="5102352"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Only the return following the first occurrence of each state is used, so each state contributes at most one target per episode. Those returns behave as independent samples with expectation v_π(s), so the average converges by the law of large numbers</a:t>
            </a:r>
            <a:r>
              <a:rPr lang="it-IT" sz="1045" b="0" i="0" dirty="0">
                <a:solidFill>
                  <a:srgbClr val="626669"/>
                </a:solidFill>
                <a:latin typeface="Fira Sans"/>
              </a:rPr>
              <a:t>, </a:t>
            </a:r>
            <a:r>
              <a:rPr sz="1045" b="0" i="0" dirty="0">
                <a:solidFill>
                  <a:srgbClr val="626669"/>
                </a:solidFill>
                <a:latin typeface="Fira Sans"/>
              </a:rPr>
              <a:t>a particularly direct argument.</a:t>
            </a:r>
          </a:p>
        </p:txBody>
      </p:sp>
      <p:sp>
        <p:nvSpPr>
          <p:cNvPr id="16" name="Rectangle 15"/>
          <p:cNvSpPr/>
          <p:nvPr/>
        </p:nvSpPr>
        <p:spPr>
          <a:xfrm>
            <a:off x="6254496" y="2820209"/>
            <a:ext cx="5102352"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54496" y="2922970"/>
            <a:ext cx="510235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dirty="0">
                <a:solidFill>
                  <a:srgbClr val="2B7A3E"/>
                </a:solidFill>
                <a:latin typeface="Fira Sans"/>
              </a:rPr>
              <a:t>EVERY-VISIT MC  (EVMC)</a:t>
            </a:r>
          </a:p>
        </p:txBody>
      </p:sp>
      <p:pic>
        <p:nvPicPr>
          <p:cNvPr id="18" name="Picture 17" descr="evmc.png"/>
          <p:cNvPicPr>
            <a:picLocks noChangeAspect="1"/>
          </p:cNvPicPr>
          <p:nvPr/>
        </p:nvPicPr>
        <p:blipFill>
          <a:blip r:embed="rId5"/>
          <a:stretch>
            <a:fillRect/>
          </a:stretch>
        </p:blipFill>
        <p:spPr>
          <a:xfrm>
            <a:off x="6254496" y="3162237"/>
            <a:ext cx="4323662" cy="1409265"/>
          </a:xfrm>
          <a:prstGeom prst="rect">
            <a:avLst/>
          </a:prstGeom>
        </p:spPr>
      </p:pic>
      <p:sp>
        <p:nvSpPr>
          <p:cNvPr id="19" name="TextBox 18"/>
          <p:cNvSpPr txBox="1"/>
          <p:nvPr/>
        </p:nvSpPr>
        <p:spPr>
          <a:xfrm>
            <a:off x="6254496" y="4717807"/>
            <a:ext cx="5102352"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return following every occurrence is used, so both targets contribute. It also converges, although returns from repeated visits within the same episode are generally correlated, which makes the argument less immediate.</a:t>
            </a:r>
          </a:p>
        </p:txBody>
      </p:sp>
      <p:sp>
        <p:nvSpPr>
          <p:cNvPr id="20" name="Rectangle 19"/>
          <p:cNvSpPr/>
          <p:nvPr/>
        </p:nvSpPr>
        <p:spPr>
          <a:xfrm>
            <a:off x="841248" y="5613917"/>
            <a:ext cx="10515600" cy="625449"/>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5613917"/>
            <a:ext cx="41148" cy="625449"/>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60704" y="5760221"/>
            <a:ext cx="1013155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Both are valid and both converge under standard conditions. The implementation in the notes uses </a:t>
            </a:r>
            <a:r>
              <a:rPr sz="1092" b="1" i="0" dirty="0">
                <a:solidFill>
                  <a:srgbClr val="333639"/>
                </a:solidFill>
                <a:latin typeface="Fira Sans"/>
              </a:rPr>
              <a:t>first-visit</a:t>
            </a:r>
            <a:endParaRPr sz="1092" b="0" i="0" dirty="0">
              <a:solidFill>
                <a:srgbClr val="333639"/>
              </a:solidFill>
              <a:latin typeface="Fir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2.5  THE TWO HELPERS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Collect the experience, then turn the rewards into returns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Two small functions do the work before any update: one runs the policy to termination and records what happened, the other turns that reward sequence into the return at every time step</a:t>
            </a:r>
            <a:r>
              <a:rPr lang="it-IT" sz="1188" b="0" i="0" dirty="0">
                <a:solidFill>
                  <a:srgbClr val="333639"/>
                </a:solidFill>
                <a:latin typeface="Fira Sans"/>
              </a:rPr>
              <a:t>:</a:t>
            </a:r>
            <a:endParaRPr sz="1188" b="0" i="0" dirty="0">
              <a:solidFill>
                <a:srgbClr val="333639"/>
              </a:solidFill>
              <a:latin typeface="Fira Sans"/>
            </a:endParaRPr>
          </a:p>
        </p:txBody>
      </p:sp>
      <p:sp>
        <p:nvSpPr>
          <p:cNvPr id="9" name="Rectangle 8"/>
          <p:cNvSpPr/>
          <p:nvPr/>
        </p:nvSpPr>
        <p:spPr>
          <a:xfrm>
            <a:off x="841248" y="1849465"/>
            <a:ext cx="5852160" cy="2909849"/>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849465"/>
            <a:ext cx="41148" cy="2909849"/>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1931761"/>
            <a:ext cx="54864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generate_trajectory</a:t>
            </a:r>
          </a:p>
        </p:txBody>
      </p:sp>
      <p:sp>
        <p:nvSpPr>
          <p:cNvPr id="12" name="TextBox 11"/>
          <p:cNvSpPr txBox="1"/>
          <p:nvPr/>
        </p:nvSpPr>
        <p:spPr>
          <a:xfrm>
            <a:off x="1024128" y="2233513"/>
            <a:ext cx="5541264" cy="2452649"/>
          </a:xfrm>
          <a:prstGeom prst="rect">
            <a:avLst/>
          </a:prstGeom>
          <a:noFill/>
        </p:spPr>
        <p:txBody>
          <a:bodyPr wrap="none" lIns="0" tIns="0" rIns="0" bIns="0" anchor="t">
            <a:noAutofit/>
          </a:bodyPr>
          <a:lstStyle/>
          <a:p>
            <a:pPr marL="0" indent="0" algn="l">
              <a:lnSpc>
                <a:spcPts val="1057"/>
              </a:lnSpc>
              <a:spcBef>
                <a:spcPts val="0"/>
              </a:spcBef>
              <a:spcAft>
                <a:spcPts val="0"/>
              </a:spcAft>
              <a:buNone/>
            </a:pPr>
            <a:r>
              <a:rPr sz="813" b="0" i="0">
                <a:solidFill>
                  <a:srgbClr val="1F2A37"/>
                </a:solidFill>
                <a:latin typeface="Consolas"/>
              </a:rPr>
              <a:t>def generate_trajectory(pi, env, max_steps=200):</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trajectory = []</a:t>
            </a:r>
          </a:p>
          <a:p>
            <a:pPr marL="0" indent="0" algn="l">
              <a:lnSpc>
                <a:spcPts val="1057"/>
              </a:lnSpc>
              <a:spcBef>
                <a:spcPts val="0"/>
              </a:spcBef>
              <a:spcAft>
                <a:spcPts val="0"/>
              </a:spcAft>
              <a:buNone/>
            </a:pPr>
            <a:r>
              <a:rPr sz="813" b="0" i="0">
                <a:solidFill>
                  <a:srgbClr val="1F2A37"/>
                </a:solidFill>
                <a:latin typeface="Consolas"/>
              </a:rPr>
              <a:t>    state = env.reset()</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for _ in range(max_steps):</a:t>
            </a:r>
          </a:p>
          <a:p>
            <a:pPr marL="0" indent="0" algn="l">
              <a:lnSpc>
                <a:spcPts val="1057"/>
              </a:lnSpc>
              <a:spcBef>
                <a:spcPts val="0"/>
              </a:spcBef>
              <a:spcAft>
                <a:spcPts val="0"/>
              </a:spcAft>
              <a:buNone/>
            </a:pPr>
            <a:r>
              <a:rPr sz="813" b="0" i="0">
                <a:solidFill>
                  <a:srgbClr val="1F2A37"/>
                </a:solidFill>
                <a:latin typeface="Consolas"/>
              </a:rPr>
              <a:t>        action = pi(state)</a:t>
            </a:r>
          </a:p>
          <a:p>
            <a:pPr marL="0" indent="0" algn="l">
              <a:lnSpc>
                <a:spcPts val="1057"/>
              </a:lnSpc>
              <a:spcBef>
                <a:spcPts val="0"/>
              </a:spcBef>
              <a:spcAft>
                <a:spcPts val="0"/>
              </a:spcAft>
              <a:buNone/>
            </a:pPr>
            <a:r>
              <a:rPr sz="813" b="0" i="0">
                <a:solidFill>
                  <a:srgbClr val="1F2A37"/>
                </a:solidFill>
                <a:latin typeface="Consolas"/>
              </a:rPr>
              <a:t>        next_state, reward, terminated, truncated, info = \</a:t>
            </a:r>
          </a:p>
          <a:p>
            <a:pPr marL="0" indent="0" algn="l">
              <a:lnSpc>
                <a:spcPts val="1057"/>
              </a:lnSpc>
              <a:spcBef>
                <a:spcPts val="0"/>
              </a:spcBef>
              <a:spcAft>
                <a:spcPts val="0"/>
              </a:spcAft>
              <a:buNone/>
            </a:pPr>
            <a:r>
              <a:rPr sz="813" b="0" i="0">
                <a:solidFill>
                  <a:srgbClr val="1F2A37"/>
                </a:solidFill>
                <a:latin typeface="Consolas"/>
              </a:rPr>
              <a:t>            env.step(action)</a:t>
            </a:r>
          </a:p>
          <a:p>
            <a:pPr marL="0" indent="0" algn="l">
              <a:lnSpc>
                <a:spcPts val="1057"/>
              </a:lnSpc>
              <a:spcBef>
                <a:spcPts val="0"/>
              </a:spcBef>
              <a:spcAft>
                <a:spcPts val="0"/>
              </a:spcAft>
              <a:buNone/>
            </a:pPr>
            <a:r>
              <a:rPr sz="813" b="0" i="0">
                <a:solidFill>
                  <a:srgbClr val="1F2A37"/>
                </a:solidFill>
                <a:latin typeface="Consolas"/>
              </a:rPr>
              <a:t>        done = terminated or truncated</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1" i="0">
                <a:solidFill>
                  <a:srgbClr val="574676"/>
                </a:solidFill>
                <a:latin typeface="Consolas"/>
              </a:rPr>
              <a:t>        trajectory.append(</a:t>
            </a:r>
          </a:p>
          <a:p>
            <a:pPr marL="0" indent="0" algn="l">
              <a:lnSpc>
                <a:spcPts val="1057"/>
              </a:lnSpc>
              <a:spcBef>
                <a:spcPts val="0"/>
              </a:spcBef>
              <a:spcAft>
                <a:spcPts val="0"/>
              </a:spcAft>
              <a:buNone/>
            </a:pPr>
            <a:r>
              <a:rPr sz="813" b="0" i="0">
                <a:solidFill>
                  <a:srgbClr val="1F2A37"/>
                </a:solidFill>
                <a:latin typeface="Consolas"/>
              </a:rPr>
              <a:t>            (state, action, reward, next_state, done))</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if done: break</a:t>
            </a:r>
          </a:p>
          <a:p>
            <a:pPr marL="0" indent="0" algn="l">
              <a:lnSpc>
                <a:spcPts val="1057"/>
              </a:lnSpc>
              <a:spcBef>
                <a:spcPts val="0"/>
              </a:spcBef>
              <a:spcAft>
                <a:spcPts val="0"/>
              </a:spcAft>
              <a:buNone/>
            </a:pPr>
            <a:r>
              <a:rPr sz="813" b="0" i="0">
                <a:solidFill>
                  <a:srgbClr val="1F2A37"/>
                </a:solidFill>
                <a:latin typeface="Consolas"/>
              </a:rPr>
              <a:t>        state = next_state</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return np.array(trajectory, dtype=object)</a:t>
            </a:r>
          </a:p>
        </p:txBody>
      </p:sp>
      <p:sp>
        <p:nvSpPr>
          <p:cNvPr id="13" name="Rectangle 12"/>
          <p:cNvSpPr/>
          <p:nvPr/>
        </p:nvSpPr>
        <p:spPr>
          <a:xfrm>
            <a:off x="7004304" y="1849465"/>
            <a:ext cx="4352544" cy="210449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004304" y="1849465"/>
            <a:ext cx="41148" cy="210449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187184" y="1931761"/>
            <a:ext cx="3986783"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compute_returns</a:t>
            </a:r>
          </a:p>
        </p:txBody>
      </p:sp>
      <p:sp>
        <p:nvSpPr>
          <p:cNvPr id="16" name="TextBox 15"/>
          <p:cNvSpPr txBox="1"/>
          <p:nvPr/>
        </p:nvSpPr>
        <p:spPr>
          <a:xfrm>
            <a:off x="7187184" y="2233513"/>
            <a:ext cx="4041648" cy="1647291"/>
          </a:xfrm>
          <a:prstGeom prst="rect">
            <a:avLst/>
          </a:prstGeom>
          <a:noFill/>
        </p:spPr>
        <p:txBody>
          <a:bodyPr wrap="none" lIns="0" tIns="0" rIns="0" bIns="0" anchor="t">
            <a:noAutofit/>
          </a:bodyPr>
          <a:lstStyle/>
          <a:p>
            <a:pPr marL="0" indent="0" algn="l">
              <a:lnSpc>
                <a:spcPts val="1057"/>
              </a:lnSpc>
              <a:spcBef>
                <a:spcPts val="0"/>
              </a:spcBef>
              <a:spcAft>
                <a:spcPts val="0"/>
              </a:spcAft>
              <a:buNone/>
            </a:pPr>
            <a:r>
              <a:rPr sz="813" b="0" i="0">
                <a:solidFill>
                  <a:srgbClr val="1F2A37"/>
                </a:solidFill>
                <a:latin typeface="Consolas"/>
              </a:rPr>
              <a:t>def compute_returns(rewards, gamma):</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rewards = np.asarray(rewards, dtype=float)</a:t>
            </a:r>
          </a:p>
          <a:p>
            <a:pPr marL="0" indent="0" algn="l">
              <a:lnSpc>
                <a:spcPts val="1057"/>
              </a:lnSpc>
              <a:spcBef>
                <a:spcPts val="0"/>
              </a:spcBef>
              <a:spcAft>
                <a:spcPts val="0"/>
              </a:spcAft>
              <a:buNone/>
            </a:pPr>
            <a:r>
              <a:rPr sz="813" b="0" i="0">
                <a:solidFill>
                  <a:srgbClr val="1F2A37"/>
                </a:solidFill>
                <a:latin typeface="Consolas"/>
              </a:rPr>
              <a:t>    returns = np.zeros(len(rewards), dtype=float)</a:t>
            </a:r>
          </a:p>
          <a:p>
            <a:pPr marL="0" indent="0" algn="l">
              <a:lnSpc>
                <a:spcPts val="1057"/>
              </a:lnSpc>
              <a:spcBef>
                <a:spcPts val="0"/>
              </a:spcBef>
              <a:spcAft>
                <a:spcPts val="0"/>
              </a:spcAft>
              <a:buNone/>
            </a:pPr>
            <a:r>
              <a:rPr sz="813" b="0" i="0">
                <a:solidFill>
                  <a:srgbClr val="1F2A37"/>
                </a:solidFill>
                <a:latin typeface="Consolas"/>
              </a:rPr>
              <a:t>    G = 0.0</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a:t>
            </a:r>
            <a:r>
              <a:rPr sz="813" b="0" i="1">
                <a:solidFill>
                  <a:srgbClr val="768896"/>
                </a:solidFill>
                <a:latin typeface="Consolas"/>
              </a:rPr>
              <a:t># walk backwards from the last reward</a:t>
            </a:r>
          </a:p>
          <a:p>
            <a:pPr marL="0" indent="0" algn="l">
              <a:lnSpc>
                <a:spcPts val="1057"/>
              </a:lnSpc>
              <a:spcBef>
                <a:spcPts val="0"/>
              </a:spcBef>
              <a:spcAft>
                <a:spcPts val="0"/>
              </a:spcAft>
              <a:buNone/>
            </a:pPr>
            <a:r>
              <a:rPr sz="813" b="0" i="0">
                <a:solidFill>
                  <a:srgbClr val="1F2A37"/>
                </a:solidFill>
                <a:latin typeface="Consolas"/>
              </a:rPr>
              <a:t>    for t in reversed(range(len(rewards))):</a:t>
            </a:r>
          </a:p>
          <a:p>
            <a:pPr marL="0" indent="0" algn="l">
              <a:lnSpc>
                <a:spcPts val="1057"/>
              </a:lnSpc>
              <a:spcBef>
                <a:spcPts val="0"/>
              </a:spcBef>
              <a:spcAft>
                <a:spcPts val="0"/>
              </a:spcAft>
              <a:buNone/>
            </a:pPr>
            <a:r>
              <a:rPr sz="813" b="1" i="0">
                <a:solidFill>
                  <a:srgbClr val="574676"/>
                </a:solidFill>
                <a:latin typeface="Consolas"/>
              </a:rPr>
              <a:t>        G = rewards[t] + gamma * G</a:t>
            </a:r>
          </a:p>
          <a:p>
            <a:pPr marL="0" indent="0" algn="l">
              <a:lnSpc>
                <a:spcPts val="1057"/>
              </a:lnSpc>
              <a:spcBef>
                <a:spcPts val="0"/>
              </a:spcBef>
              <a:spcAft>
                <a:spcPts val="0"/>
              </a:spcAft>
              <a:buNone/>
            </a:pPr>
            <a:r>
              <a:rPr sz="813" b="1" i="0">
                <a:solidFill>
                  <a:srgbClr val="574676"/>
                </a:solidFill>
                <a:latin typeface="Consolas"/>
              </a:rPr>
              <a:t>        returns[t] = G</a:t>
            </a:r>
          </a:p>
          <a:p>
            <a:pPr marL="0" indent="0" algn="l">
              <a:lnSpc>
                <a:spcPts val="1057"/>
              </a:lnSpc>
              <a:spcBef>
                <a:spcPts val="0"/>
              </a:spcBef>
              <a:spcAft>
                <a:spcPts val="0"/>
              </a:spcAft>
              <a:buNone/>
            </a:pPr>
            <a:r>
              <a:rPr sz="813" b="0" i="0">
                <a:solidFill>
                  <a:srgbClr val="333639"/>
                </a:solidFill>
                <a:latin typeface="Consolas"/>
              </a:rPr>
              <a:t> </a:t>
            </a:r>
          </a:p>
          <a:p>
            <a:pPr marL="0" indent="0" algn="l">
              <a:lnSpc>
                <a:spcPts val="1057"/>
              </a:lnSpc>
              <a:spcBef>
                <a:spcPts val="0"/>
              </a:spcBef>
              <a:spcAft>
                <a:spcPts val="0"/>
              </a:spcAft>
              <a:buNone/>
            </a:pPr>
            <a:r>
              <a:rPr sz="813" b="0" i="0">
                <a:solidFill>
                  <a:srgbClr val="1F2A37"/>
                </a:solidFill>
                <a:latin typeface="Consolas"/>
              </a:rPr>
              <a:t>    return returns</a:t>
            </a:r>
          </a:p>
        </p:txBody>
      </p:sp>
      <p:sp>
        <p:nvSpPr>
          <p:cNvPr id="17" name="Rectangle 16"/>
          <p:cNvSpPr/>
          <p:nvPr/>
        </p:nvSpPr>
        <p:spPr>
          <a:xfrm>
            <a:off x="841248" y="4997058"/>
            <a:ext cx="5852160" cy="834237"/>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4997058"/>
            <a:ext cx="41148" cy="834237"/>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60704" y="5143362"/>
            <a:ext cx="555955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WHAT A TRAJECTORY HOLDS</a:t>
            </a:r>
          </a:p>
        </p:txBody>
      </p:sp>
      <p:sp>
        <p:nvSpPr>
          <p:cNvPr id="20" name="TextBox 19"/>
          <p:cNvSpPr txBox="1"/>
          <p:nvPr/>
        </p:nvSpPr>
        <p:spPr>
          <a:xfrm>
            <a:off x="1060704" y="5381106"/>
            <a:ext cx="5468112" cy="303885"/>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Each entry is the five-tuple </a:t>
            </a:r>
            <a:r>
              <a:rPr sz="931" b="0" i="0">
                <a:solidFill>
                  <a:srgbClr val="25282A"/>
                </a:solidFill>
                <a:latin typeface="Consolas"/>
              </a:rPr>
              <a:t>(state, action, reward, next_state, done)</a:t>
            </a:r>
            <a:r>
              <a:rPr sz="997" b="0" i="0">
                <a:solidFill>
                  <a:srgbClr val="333639"/>
                </a:solidFill>
                <a:latin typeface="Fira Sans"/>
              </a:rPr>
              <a:t>. Only the reward column is used here; the rest is what Part V needs when prediction becomes control.</a:t>
            </a:r>
          </a:p>
        </p:txBody>
      </p:sp>
      <p:sp>
        <p:nvSpPr>
          <p:cNvPr id="21" name="TextBox 20"/>
          <p:cNvSpPr txBox="1"/>
          <p:nvPr/>
        </p:nvSpPr>
        <p:spPr>
          <a:xfrm>
            <a:off x="7004304" y="4191701"/>
            <a:ext cx="4346417"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BACKWARD PASS ON A FOUR-STEP EPISODE</a:t>
            </a:r>
          </a:p>
        </p:txBody>
      </p:sp>
      <p:sp>
        <p:nvSpPr>
          <p:cNvPr id="22" name="Rectangle 21"/>
          <p:cNvSpPr/>
          <p:nvPr/>
        </p:nvSpPr>
        <p:spPr>
          <a:xfrm>
            <a:off x="7004304" y="4447733"/>
            <a:ext cx="4352544" cy="23481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095744" y="4493453"/>
            <a:ext cx="1035832"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endParaRPr/>
          </a:p>
        </p:txBody>
      </p:sp>
      <p:sp>
        <p:nvSpPr>
          <p:cNvPr id="24" name="TextBox 23"/>
          <p:cNvSpPr txBox="1"/>
          <p:nvPr/>
        </p:nvSpPr>
        <p:spPr>
          <a:xfrm>
            <a:off x="8314456" y="4493453"/>
            <a:ext cx="600577"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t = 0</a:t>
            </a:r>
          </a:p>
        </p:txBody>
      </p:sp>
      <p:sp>
        <p:nvSpPr>
          <p:cNvPr id="25" name="TextBox 24"/>
          <p:cNvSpPr txBox="1"/>
          <p:nvPr/>
        </p:nvSpPr>
        <p:spPr>
          <a:xfrm>
            <a:off x="9097914" y="4493453"/>
            <a:ext cx="600577"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t = 1</a:t>
            </a:r>
          </a:p>
        </p:txBody>
      </p:sp>
      <p:sp>
        <p:nvSpPr>
          <p:cNvPr id="26" name="TextBox 25"/>
          <p:cNvSpPr txBox="1"/>
          <p:nvPr/>
        </p:nvSpPr>
        <p:spPr>
          <a:xfrm>
            <a:off x="9881372" y="4493453"/>
            <a:ext cx="600577"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t = 2</a:t>
            </a:r>
          </a:p>
        </p:txBody>
      </p:sp>
      <p:sp>
        <p:nvSpPr>
          <p:cNvPr id="27" name="TextBox 26"/>
          <p:cNvSpPr txBox="1"/>
          <p:nvPr/>
        </p:nvSpPr>
        <p:spPr>
          <a:xfrm>
            <a:off x="10664830" y="4493453"/>
            <a:ext cx="600577"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t = 3</a:t>
            </a:r>
          </a:p>
        </p:txBody>
      </p:sp>
      <p:sp>
        <p:nvSpPr>
          <p:cNvPr id="28" name="TextBox 27"/>
          <p:cNvSpPr txBox="1"/>
          <p:nvPr/>
        </p:nvSpPr>
        <p:spPr>
          <a:xfrm>
            <a:off x="7095744" y="4728270"/>
            <a:ext cx="1035832"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reward  r(t+1)</a:t>
            </a:r>
          </a:p>
        </p:txBody>
      </p:sp>
      <p:sp>
        <p:nvSpPr>
          <p:cNvPr id="29" name="TextBox 28"/>
          <p:cNvSpPr txBox="1"/>
          <p:nvPr/>
        </p:nvSpPr>
        <p:spPr>
          <a:xfrm>
            <a:off x="8314456" y="4728270"/>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333639"/>
                </a:solidFill>
                <a:latin typeface="Fira Sans"/>
              </a:rPr>
              <a:t>0</a:t>
            </a:r>
          </a:p>
        </p:txBody>
      </p:sp>
      <p:sp>
        <p:nvSpPr>
          <p:cNvPr id="30" name="TextBox 29"/>
          <p:cNvSpPr txBox="1"/>
          <p:nvPr/>
        </p:nvSpPr>
        <p:spPr>
          <a:xfrm>
            <a:off x="9097914" y="4728270"/>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333639"/>
                </a:solidFill>
                <a:latin typeface="Fira Sans"/>
              </a:rPr>
              <a:t>0</a:t>
            </a:r>
          </a:p>
        </p:txBody>
      </p:sp>
      <p:sp>
        <p:nvSpPr>
          <p:cNvPr id="31" name="TextBox 30"/>
          <p:cNvSpPr txBox="1"/>
          <p:nvPr/>
        </p:nvSpPr>
        <p:spPr>
          <a:xfrm>
            <a:off x="9881372" y="4728270"/>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333639"/>
                </a:solidFill>
                <a:latin typeface="Fira Sans"/>
              </a:rPr>
              <a:t>0</a:t>
            </a:r>
          </a:p>
        </p:txBody>
      </p:sp>
      <p:sp>
        <p:nvSpPr>
          <p:cNvPr id="32" name="TextBox 31"/>
          <p:cNvSpPr txBox="1"/>
          <p:nvPr/>
        </p:nvSpPr>
        <p:spPr>
          <a:xfrm>
            <a:off x="10664830" y="4728270"/>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333639"/>
                </a:solidFill>
                <a:latin typeface="Fira Sans"/>
              </a:rPr>
              <a:t>1</a:t>
            </a:r>
          </a:p>
        </p:txBody>
      </p:sp>
      <p:sp>
        <p:nvSpPr>
          <p:cNvPr id="33" name="Rectangle 32"/>
          <p:cNvSpPr/>
          <p:nvPr/>
        </p:nvSpPr>
        <p:spPr>
          <a:xfrm>
            <a:off x="7004304" y="4933985"/>
            <a:ext cx="4352544"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004304" y="4939471"/>
            <a:ext cx="4352544" cy="25692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095744" y="4985191"/>
            <a:ext cx="1035832"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return  G(t)</a:t>
            </a:r>
          </a:p>
        </p:txBody>
      </p:sp>
      <p:sp>
        <p:nvSpPr>
          <p:cNvPr id="36" name="TextBox 35"/>
          <p:cNvSpPr txBox="1"/>
          <p:nvPr/>
        </p:nvSpPr>
        <p:spPr>
          <a:xfrm>
            <a:off x="8314456" y="4985191"/>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574676"/>
                </a:solidFill>
                <a:latin typeface="Fira Sans"/>
              </a:rPr>
              <a:t>0.729</a:t>
            </a:r>
          </a:p>
        </p:txBody>
      </p:sp>
      <p:sp>
        <p:nvSpPr>
          <p:cNvPr id="37" name="TextBox 36"/>
          <p:cNvSpPr txBox="1"/>
          <p:nvPr/>
        </p:nvSpPr>
        <p:spPr>
          <a:xfrm>
            <a:off x="9097914" y="4985191"/>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574676"/>
                </a:solidFill>
                <a:latin typeface="Fira Sans"/>
              </a:rPr>
              <a:t>0.810</a:t>
            </a:r>
          </a:p>
        </p:txBody>
      </p:sp>
      <p:sp>
        <p:nvSpPr>
          <p:cNvPr id="38" name="TextBox 37"/>
          <p:cNvSpPr txBox="1"/>
          <p:nvPr/>
        </p:nvSpPr>
        <p:spPr>
          <a:xfrm>
            <a:off x="9881372" y="4985191"/>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574676"/>
                </a:solidFill>
                <a:latin typeface="Fira Sans"/>
              </a:rPr>
              <a:t>0.900</a:t>
            </a:r>
          </a:p>
        </p:txBody>
      </p:sp>
      <p:sp>
        <p:nvSpPr>
          <p:cNvPr id="39" name="TextBox 38"/>
          <p:cNvSpPr txBox="1"/>
          <p:nvPr/>
        </p:nvSpPr>
        <p:spPr>
          <a:xfrm>
            <a:off x="10664830" y="4985191"/>
            <a:ext cx="600577" cy="165481"/>
          </a:xfrm>
          <a:prstGeom prst="rect">
            <a:avLst/>
          </a:prstGeom>
          <a:noFill/>
        </p:spPr>
        <p:txBody>
          <a:bodyPr wrap="square" lIns="0" tIns="0" rIns="0" bIns="0" anchor="t">
            <a:noAutofit/>
          </a:bodyPr>
          <a:lstStyle/>
          <a:p>
            <a:pPr marL="0" indent="0" algn="r">
              <a:lnSpc>
                <a:spcPts val="1140"/>
              </a:lnSpc>
              <a:spcBef>
                <a:spcPts val="0"/>
              </a:spcBef>
              <a:spcAft>
                <a:spcPts val="0"/>
              </a:spcAft>
              <a:buNone/>
            </a:pPr>
            <a:r>
              <a:rPr sz="950" b="0" i="0">
                <a:solidFill>
                  <a:srgbClr val="574676"/>
                </a:solidFill>
                <a:latin typeface="Fira Sans"/>
              </a:rPr>
              <a:t>1.000</a:t>
            </a:r>
          </a:p>
        </p:txBody>
      </p:sp>
      <p:sp>
        <p:nvSpPr>
          <p:cNvPr id="40" name="Rectangle 39"/>
          <p:cNvSpPr/>
          <p:nvPr/>
        </p:nvSpPr>
        <p:spPr>
          <a:xfrm>
            <a:off x="7004304" y="5190906"/>
            <a:ext cx="4352544"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004304" y="5287832"/>
            <a:ext cx="4352544" cy="169316"/>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Discount factor 0.9. The bottom row is filled right to left, G(3) first.</a:t>
            </a:r>
          </a:p>
        </p:txBody>
      </p:sp>
      <p:sp>
        <p:nvSpPr>
          <p:cNvPr id="42" name="Rectangle 41"/>
          <p:cNvSpPr/>
          <p:nvPr/>
        </p:nvSpPr>
        <p:spPr>
          <a:xfrm>
            <a:off x="7004304" y="5603453"/>
            <a:ext cx="4352544" cy="5964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7004304" y="5603453"/>
            <a:ext cx="41148" cy="5964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223760" y="5749757"/>
            <a:ext cx="3968496" cy="303885"/>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One pass, so </a:t>
            </a:r>
            <a:r>
              <a:rPr sz="950" b="0" i="0">
                <a:solidFill>
                  <a:srgbClr val="25282A"/>
                </a:solidFill>
                <a:latin typeface="Consolas"/>
              </a:rPr>
              <a:t>O(T)</a:t>
            </a:r>
            <a:r>
              <a:rPr sz="997" b="0" i="0">
                <a:solidFill>
                  <a:srgbClr val="333639"/>
                </a:solidFill>
                <a:latin typeface="Fira Sans"/>
              </a:rPr>
              <a:t> per episode. Summing each return from scratch would cost </a:t>
            </a:r>
            <a:r>
              <a:rPr sz="950" b="0" i="0">
                <a:solidFill>
                  <a:srgbClr val="25282A"/>
                </a:solidFill>
                <a:latin typeface="Consolas"/>
              </a:rPr>
              <a:t>O(T²)</a:t>
            </a:r>
            <a:r>
              <a:rPr sz="997" b="0" i="0">
                <a:solidFill>
                  <a:srgbClr val="333639"/>
                </a:solidFill>
                <a:latin typeface="Fira San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2.6  FIRST-VISIT MONTE CARLO PREDICTION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Generate, compute the returns backwards, update once per state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Rectangle 7"/>
          <p:cNvSpPr/>
          <p:nvPr/>
        </p:nvSpPr>
        <p:spPr>
          <a:xfrm>
            <a:off x="841248" y="1316736"/>
            <a:ext cx="7223760" cy="481246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481246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8580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mc</a:t>
            </a:r>
          </a:p>
        </p:txBody>
      </p:sp>
      <p:sp>
        <p:nvSpPr>
          <p:cNvPr id="11" name="TextBox 10"/>
          <p:cNvSpPr txBox="1"/>
          <p:nvPr/>
        </p:nvSpPr>
        <p:spPr>
          <a:xfrm>
            <a:off x="1024128" y="1700784"/>
            <a:ext cx="6912864" cy="4428413"/>
          </a:xfrm>
          <a:prstGeom prst="rect">
            <a:avLst/>
          </a:prstGeom>
          <a:noFill/>
        </p:spPr>
        <p:txBody>
          <a:bodyPr wrap="none" lIns="0" tIns="0" rIns="0" bIns="0" anchor="t">
            <a:noAutofit/>
          </a:bodyPr>
          <a:lstStyle/>
          <a:p>
            <a:pPr marL="0" indent="0" algn="l">
              <a:lnSpc>
                <a:spcPts val="1173"/>
              </a:lnSpc>
              <a:spcBef>
                <a:spcPts val="0"/>
              </a:spcBef>
              <a:spcAft>
                <a:spcPts val="0"/>
              </a:spcAft>
              <a:buNone/>
            </a:pPr>
            <a:r>
              <a:rPr sz="902" b="0" i="0" dirty="0">
                <a:solidFill>
                  <a:srgbClr val="1F2A37"/>
                </a:solidFill>
                <a:latin typeface="Consolas"/>
              </a:rPr>
              <a:t>def mc(pi, env, gamma=1.0, alpha=0.1, </a:t>
            </a:r>
            <a:r>
              <a:rPr sz="902" b="0" i="0" dirty="0" err="1">
                <a:solidFill>
                  <a:srgbClr val="1F2A37"/>
                </a:solidFill>
                <a:latin typeface="Consolas"/>
              </a:rPr>
              <a:t>n_episodes</a:t>
            </a:r>
            <a:r>
              <a:rPr sz="902" b="0" i="0" dirty="0">
                <a:solidFill>
                  <a:srgbClr val="1F2A37"/>
                </a:solidFill>
                <a:latin typeface="Consolas"/>
              </a:rPr>
              <a:t>=500, </a:t>
            </a:r>
            <a:r>
              <a:rPr sz="902" b="0" i="0" dirty="0" err="1">
                <a:solidFill>
                  <a:srgbClr val="1F2A37"/>
                </a:solidFill>
                <a:latin typeface="Consolas"/>
              </a:rPr>
              <a:t>max_steps</a:t>
            </a:r>
            <a:r>
              <a:rPr sz="902" b="0" i="0" dirty="0">
                <a:solidFill>
                  <a:srgbClr val="1F2A37"/>
                </a:solidFill>
                <a:latin typeface="Consolas"/>
              </a:rPr>
              <a:t>=200):</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v = </a:t>
            </a:r>
            <a:r>
              <a:rPr sz="902" b="0" i="0" dirty="0" err="1">
                <a:solidFill>
                  <a:srgbClr val="1F2A37"/>
                </a:solidFill>
                <a:latin typeface="Consolas"/>
              </a:rPr>
              <a:t>np.zeros</a:t>
            </a:r>
            <a:r>
              <a:rPr sz="902" b="0" i="0" dirty="0">
                <a:solidFill>
                  <a:srgbClr val="1F2A37"/>
                </a:solidFill>
                <a:latin typeface="Consolas"/>
              </a:rPr>
              <a:t>(</a:t>
            </a:r>
            <a:r>
              <a:rPr sz="902" b="0" i="0" dirty="0" err="1">
                <a:solidFill>
                  <a:srgbClr val="1F2A37"/>
                </a:solidFill>
                <a:latin typeface="Consolas"/>
              </a:rPr>
              <a:t>env.observation_space</a:t>
            </a:r>
            <a:r>
              <a:rPr sz="902" b="0" i="0" dirty="0">
                <a:solidFill>
                  <a:srgbClr val="1F2A37"/>
                </a:solidFill>
                <a:latin typeface="Consolas"/>
              </a:rPr>
              <a:t>, </a:t>
            </a:r>
            <a:r>
              <a:rPr sz="902" b="0" i="0" dirty="0" err="1">
                <a:solidFill>
                  <a:srgbClr val="1F2A37"/>
                </a:solidFill>
                <a:latin typeface="Consolas"/>
              </a:rPr>
              <a:t>dtype</a:t>
            </a:r>
            <a:r>
              <a:rPr sz="902" b="0" i="0" dirty="0">
                <a:solidFill>
                  <a:srgbClr val="1F2A37"/>
                </a:solidFill>
                <a:latin typeface="Consolas"/>
              </a:rPr>
              <a:t>=float)</a:t>
            </a:r>
          </a:p>
          <a:p>
            <a:pPr marL="0" indent="0" algn="l">
              <a:lnSpc>
                <a:spcPts val="1173"/>
              </a:lnSpc>
              <a:spcBef>
                <a:spcPts val="0"/>
              </a:spcBef>
              <a:spcAft>
                <a:spcPts val="0"/>
              </a:spcAft>
              <a:buNone/>
            </a:pPr>
            <a:r>
              <a:rPr sz="902" b="0" i="0" dirty="0">
                <a:solidFill>
                  <a:srgbClr val="1F2A37"/>
                </a:solidFill>
                <a:latin typeface="Consolas"/>
              </a:rPr>
              <a:t>    </a:t>
            </a:r>
            <a:r>
              <a:rPr sz="902" b="0" i="0" dirty="0" err="1">
                <a:solidFill>
                  <a:srgbClr val="1F2A37"/>
                </a:solidFill>
                <a:latin typeface="Consolas"/>
              </a:rPr>
              <a:t>v_track</a:t>
            </a:r>
            <a:r>
              <a:rPr sz="902" b="0" i="0" dirty="0">
                <a:solidFill>
                  <a:srgbClr val="1F2A37"/>
                </a:solidFill>
                <a:latin typeface="Consolas"/>
              </a:rPr>
              <a:t> = </a:t>
            </a:r>
            <a:r>
              <a:rPr sz="902" b="0" i="0" dirty="0" err="1">
                <a:solidFill>
                  <a:srgbClr val="1F2A37"/>
                </a:solidFill>
                <a:latin typeface="Consolas"/>
              </a:rPr>
              <a:t>np.zeros</a:t>
            </a:r>
            <a:r>
              <a:rPr sz="902" b="0" i="0" dirty="0">
                <a:solidFill>
                  <a:srgbClr val="1F2A37"/>
                </a:solidFill>
                <a:latin typeface="Consolas"/>
              </a:rPr>
              <a:t>((</a:t>
            </a:r>
            <a:r>
              <a:rPr sz="902" b="0" i="0" dirty="0" err="1">
                <a:solidFill>
                  <a:srgbClr val="1F2A37"/>
                </a:solidFill>
                <a:latin typeface="Consolas"/>
              </a:rPr>
              <a:t>n_episodes</a:t>
            </a:r>
            <a:r>
              <a:rPr sz="902" b="0" i="0" dirty="0">
                <a:solidFill>
                  <a:srgbClr val="1F2A37"/>
                </a:solidFill>
                <a:latin typeface="Consolas"/>
              </a:rPr>
              <a:t>, </a:t>
            </a:r>
            <a:r>
              <a:rPr sz="902" b="0" i="0" dirty="0" err="1">
                <a:solidFill>
                  <a:srgbClr val="1F2A37"/>
                </a:solidFill>
                <a:latin typeface="Consolas"/>
              </a:rPr>
              <a:t>env.observation_space</a:t>
            </a:r>
            <a:r>
              <a:rPr sz="902" b="0" i="0" dirty="0">
                <a:solidFill>
                  <a:srgbClr val="1F2A37"/>
                </a:solidFill>
                <a:latin typeface="Consolas"/>
              </a:rPr>
              <a:t>))</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for e in range(</a:t>
            </a:r>
            <a:r>
              <a:rPr sz="902" b="0" i="0" dirty="0" err="1">
                <a:solidFill>
                  <a:srgbClr val="1F2A37"/>
                </a:solidFill>
                <a:latin typeface="Consolas"/>
              </a:rPr>
              <a:t>n_episodes</a:t>
            </a:r>
            <a:r>
              <a:rPr sz="902" b="0" i="0" dirty="0">
                <a:solidFill>
                  <a:srgbClr val="1F2A37"/>
                </a:solidFill>
                <a:latin typeface="Consolas"/>
              </a:rPr>
              <a:t>):</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a:t>
            </a:r>
            <a:r>
              <a:rPr sz="902" b="0" i="1" dirty="0">
                <a:solidFill>
                  <a:srgbClr val="768896"/>
                </a:solidFill>
                <a:latin typeface="Consolas"/>
              </a:rPr>
              <a:t># one complete episode is required before anything happens</a:t>
            </a:r>
          </a:p>
          <a:p>
            <a:pPr marL="0" indent="0" algn="l">
              <a:lnSpc>
                <a:spcPts val="1173"/>
              </a:lnSpc>
              <a:spcBef>
                <a:spcPts val="0"/>
              </a:spcBef>
              <a:spcAft>
                <a:spcPts val="0"/>
              </a:spcAft>
              <a:buNone/>
            </a:pPr>
            <a:r>
              <a:rPr sz="902" b="1" i="0" dirty="0">
                <a:solidFill>
                  <a:srgbClr val="574676"/>
                </a:solidFill>
                <a:latin typeface="Consolas"/>
              </a:rPr>
              <a:t>        trajectory = </a:t>
            </a:r>
            <a:r>
              <a:rPr sz="902" b="1" i="0" dirty="0" err="1">
                <a:solidFill>
                  <a:srgbClr val="574676"/>
                </a:solidFill>
                <a:latin typeface="Consolas"/>
              </a:rPr>
              <a:t>generate_trajectory</a:t>
            </a:r>
            <a:r>
              <a:rPr sz="902" b="1" i="0" dirty="0">
                <a:solidFill>
                  <a:srgbClr val="574676"/>
                </a:solidFill>
                <a:latin typeface="Consolas"/>
              </a:rPr>
              <a:t>(pi, env, </a:t>
            </a:r>
            <a:r>
              <a:rPr sz="902" b="1" i="0" dirty="0" err="1">
                <a:solidFill>
                  <a:srgbClr val="574676"/>
                </a:solidFill>
                <a:latin typeface="Consolas"/>
              </a:rPr>
              <a:t>max_steps</a:t>
            </a:r>
            <a:r>
              <a:rPr sz="902" b="1" i="0" dirty="0">
                <a:solidFill>
                  <a:srgbClr val="574676"/>
                </a:solidFill>
                <a:latin typeface="Consolas"/>
              </a:rPr>
              <a:t>)</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a:t>
            </a:r>
            <a:r>
              <a:rPr sz="902" b="0" i="1" dirty="0">
                <a:solidFill>
                  <a:srgbClr val="768896"/>
                </a:solidFill>
                <a:latin typeface="Consolas"/>
              </a:rPr>
              <a:t># every return, in a single backward pass</a:t>
            </a:r>
          </a:p>
          <a:p>
            <a:pPr marL="0" indent="0" algn="l">
              <a:lnSpc>
                <a:spcPts val="1173"/>
              </a:lnSpc>
              <a:spcBef>
                <a:spcPts val="0"/>
              </a:spcBef>
              <a:spcAft>
                <a:spcPts val="0"/>
              </a:spcAft>
              <a:buNone/>
            </a:pPr>
            <a:r>
              <a:rPr sz="902" b="1" i="0" dirty="0">
                <a:solidFill>
                  <a:srgbClr val="574676"/>
                </a:solidFill>
                <a:latin typeface="Consolas"/>
              </a:rPr>
              <a:t>        returns = </a:t>
            </a:r>
            <a:r>
              <a:rPr sz="902" b="1" i="0" dirty="0" err="1">
                <a:solidFill>
                  <a:srgbClr val="574676"/>
                </a:solidFill>
                <a:latin typeface="Consolas"/>
              </a:rPr>
              <a:t>compute_returns</a:t>
            </a:r>
            <a:r>
              <a:rPr sz="902" b="1" i="0" dirty="0">
                <a:solidFill>
                  <a:srgbClr val="574676"/>
                </a:solidFill>
                <a:latin typeface="Consolas"/>
              </a:rPr>
              <a:t>(trajectory[:, 2], gamma)</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visited = </a:t>
            </a:r>
            <a:r>
              <a:rPr sz="902" b="0" i="0" dirty="0" err="1">
                <a:solidFill>
                  <a:srgbClr val="1F2A37"/>
                </a:solidFill>
                <a:latin typeface="Consolas"/>
              </a:rPr>
              <a:t>np.zeros</a:t>
            </a:r>
            <a:r>
              <a:rPr sz="902" b="0" i="0" dirty="0">
                <a:solidFill>
                  <a:srgbClr val="1F2A37"/>
                </a:solidFill>
                <a:latin typeface="Consolas"/>
              </a:rPr>
              <a:t>(</a:t>
            </a:r>
            <a:r>
              <a:rPr sz="902" b="0" i="0" dirty="0" err="1">
                <a:solidFill>
                  <a:srgbClr val="1F2A37"/>
                </a:solidFill>
                <a:latin typeface="Consolas"/>
              </a:rPr>
              <a:t>env.observation_space</a:t>
            </a:r>
            <a:r>
              <a:rPr sz="902" b="0" i="0" dirty="0">
                <a:solidFill>
                  <a:srgbClr val="1F2A37"/>
                </a:solidFill>
                <a:latin typeface="Consolas"/>
              </a:rPr>
              <a:t>, </a:t>
            </a:r>
            <a:r>
              <a:rPr sz="902" b="0" i="0" dirty="0" err="1">
                <a:solidFill>
                  <a:srgbClr val="1F2A37"/>
                </a:solidFill>
                <a:latin typeface="Consolas"/>
              </a:rPr>
              <a:t>dtype</a:t>
            </a:r>
            <a:r>
              <a:rPr sz="902" b="0" i="0" dirty="0">
                <a:solidFill>
                  <a:srgbClr val="1F2A37"/>
                </a:solidFill>
                <a:latin typeface="Consolas"/>
              </a:rPr>
              <a:t>=bool)</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for t, (state, _, _, _, _) in enumerate(trajectory):</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a:t>
            </a:r>
            <a:r>
              <a:rPr sz="902" b="0" i="1" dirty="0">
                <a:solidFill>
                  <a:srgbClr val="768896"/>
                </a:solidFill>
                <a:latin typeface="Consolas"/>
              </a:rPr>
              <a:t># first-visit: ignore repeated visits in this episode</a:t>
            </a:r>
          </a:p>
          <a:p>
            <a:pPr marL="0" indent="0" algn="l">
              <a:lnSpc>
                <a:spcPts val="1173"/>
              </a:lnSpc>
              <a:spcBef>
                <a:spcPts val="0"/>
              </a:spcBef>
              <a:spcAft>
                <a:spcPts val="0"/>
              </a:spcAft>
              <a:buNone/>
            </a:pPr>
            <a:r>
              <a:rPr sz="902" b="0" i="0" dirty="0">
                <a:solidFill>
                  <a:srgbClr val="1F2A37"/>
                </a:solidFill>
                <a:latin typeface="Consolas"/>
              </a:rPr>
              <a:t>            if visited[state]:</a:t>
            </a:r>
          </a:p>
          <a:p>
            <a:pPr marL="0" indent="0" algn="l">
              <a:lnSpc>
                <a:spcPts val="1173"/>
              </a:lnSpc>
              <a:spcBef>
                <a:spcPts val="0"/>
              </a:spcBef>
              <a:spcAft>
                <a:spcPts val="0"/>
              </a:spcAft>
              <a:buNone/>
            </a:pPr>
            <a:r>
              <a:rPr sz="902" b="0" i="0" dirty="0">
                <a:solidFill>
                  <a:srgbClr val="1F2A37"/>
                </a:solidFill>
                <a:latin typeface="Consolas"/>
              </a:rPr>
              <a:t>                continue</a:t>
            </a:r>
          </a:p>
          <a:p>
            <a:pPr marL="0" indent="0" algn="l">
              <a:lnSpc>
                <a:spcPts val="1173"/>
              </a:lnSpc>
              <a:spcBef>
                <a:spcPts val="0"/>
              </a:spcBef>
              <a:spcAft>
                <a:spcPts val="0"/>
              </a:spcAft>
              <a:buNone/>
            </a:pPr>
            <a:r>
              <a:rPr sz="902" b="0" i="0" dirty="0">
                <a:solidFill>
                  <a:srgbClr val="1F2A37"/>
                </a:solidFill>
                <a:latin typeface="Consolas"/>
              </a:rPr>
              <a:t>            visited[state] = True</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1" i="0" dirty="0">
                <a:solidFill>
                  <a:srgbClr val="574676"/>
                </a:solidFill>
                <a:latin typeface="Consolas"/>
              </a:rPr>
              <a:t>            </a:t>
            </a:r>
            <a:r>
              <a:rPr sz="902" b="1" i="0" dirty="0" err="1">
                <a:solidFill>
                  <a:srgbClr val="574676"/>
                </a:solidFill>
                <a:latin typeface="Consolas"/>
              </a:rPr>
              <a:t>mc_target</a:t>
            </a:r>
            <a:r>
              <a:rPr sz="902" b="1" i="0" dirty="0">
                <a:solidFill>
                  <a:srgbClr val="574676"/>
                </a:solidFill>
                <a:latin typeface="Consolas"/>
              </a:rPr>
              <a:t> = returns[t]</a:t>
            </a:r>
          </a:p>
          <a:p>
            <a:pPr marL="0" indent="0" algn="l">
              <a:lnSpc>
                <a:spcPts val="1173"/>
              </a:lnSpc>
              <a:spcBef>
                <a:spcPts val="0"/>
              </a:spcBef>
              <a:spcAft>
                <a:spcPts val="0"/>
              </a:spcAft>
              <a:buNone/>
            </a:pPr>
            <a:r>
              <a:rPr sz="902" b="1" i="0" dirty="0">
                <a:solidFill>
                  <a:srgbClr val="574676"/>
                </a:solidFill>
                <a:latin typeface="Consolas"/>
              </a:rPr>
              <a:t>            </a:t>
            </a:r>
            <a:r>
              <a:rPr sz="902" b="1" i="0" dirty="0" err="1">
                <a:solidFill>
                  <a:srgbClr val="574676"/>
                </a:solidFill>
                <a:latin typeface="Consolas"/>
              </a:rPr>
              <a:t>mc_error</a:t>
            </a:r>
            <a:r>
              <a:rPr sz="902" b="1" i="0" dirty="0">
                <a:solidFill>
                  <a:srgbClr val="574676"/>
                </a:solidFill>
                <a:latin typeface="Consolas"/>
              </a:rPr>
              <a:t>  = </a:t>
            </a:r>
            <a:r>
              <a:rPr sz="902" b="1" i="0" dirty="0" err="1">
                <a:solidFill>
                  <a:srgbClr val="574676"/>
                </a:solidFill>
                <a:latin typeface="Consolas"/>
              </a:rPr>
              <a:t>mc_target</a:t>
            </a:r>
            <a:r>
              <a:rPr sz="902" b="1" i="0" dirty="0">
                <a:solidFill>
                  <a:srgbClr val="574676"/>
                </a:solidFill>
                <a:latin typeface="Consolas"/>
              </a:rPr>
              <a:t> - v[state]</a:t>
            </a:r>
          </a:p>
          <a:p>
            <a:pPr marL="0" indent="0" algn="l">
              <a:lnSpc>
                <a:spcPts val="1173"/>
              </a:lnSpc>
              <a:spcBef>
                <a:spcPts val="0"/>
              </a:spcBef>
              <a:spcAft>
                <a:spcPts val="0"/>
              </a:spcAft>
              <a:buNone/>
            </a:pPr>
            <a:r>
              <a:rPr sz="902" b="1" i="0" dirty="0">
                <a:solidFill>
                  <a:srgbClr val="574676"/>
                </a:solidFill>
                <a:latin typeface="Consolas"/>
              </a:rPr>
              <a:t>            v[state]  = v[state] + alpha * </a:t>
            </a:r>
            <a:r>
              <a:rPr sz="902" b="1" i="0" dirty="0" err="1">
                <a:solidFill>
                  <a:srgbClr val="574676"/>
                </a:solidFill>
                <a:latin typeface="Consolas"/>
              </a:rPr>
              <a:t>mc_error</a:t>
            </a:r>
            <a:endParaRPr sz="902" b="1" i="0" dirty="0">
              <a:solidFill>
                <a:srgbClr val="574676"/>
              </a:solidFill>
              <a:latin typeface="Consolas"/>
            </a:endParaRP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a:t>
            </a:r>
            <a:r>
              <a:rPr sz="902" b="0" i="0" dirty="0" err="1">
                <a:solidFill>
                  <a:srgbClr val="1F2A37"/>
                </a:solidFill>
                <a:latin typeface="Consolas"/>
              </a:rPr>
              <a:t>v_track</a:t>
            </a:r>
            <a:r>
              <a:rPr sz="902" b="0" i="0" dirty="0">
                <a:solidFill>
                  <a:srgbClr val="1F2A37"/>
                </a:solidFill>
                <a:latin typeface="Consolas"/>
              </a:rPr>
              <a:t>[e] = v</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return </a:t>
            </a:r>
            <a:r>
              <a:rPr sz="902" b="0" i="0" dirty="0" err="1">
                <a:solidFill>
                  <a:srgbClr val="1F2A37"/>
                </a:solidFill>
                <a:latin typeface="Consolas"/>
              </a:rPr>
              <a:t>v.copy</a:t>
            </a:r>
            <a:r>
              <a:rPr sz="902" b="0" i="0" dirty="0">
                <a:solidFill>
                  <a:srgbClr val="1F2A37"/>
                </a:solidFill>
                <a:latin typeface="Consolas"/>
              </a:rPr>
              <a:t>(), </a:t>
            </a:r>
            <a:r>
              <a:rPr sz="902" b="0" i="0" dirty="0" err="1">
                <a:solidFill>
                  <a:srgbClr val="1F2A37"/>
                </a:solidFill>
                <a:latin typeface="Consolas"/>
              </a:rPr>
              <a:t>v_track</a:t>
            </a:r>
            <a:endParaRPr sz="902" b="0" i="0" dirty="0">
              <a:solidFill>
                <a:srgbClr val="1F2A37"/>
              </a:solidFill>
              <a:latin typeface="Consolas"/>
            </a:endParaRPr>
          </a:p>
        </p:txBody>
      </p:sp>
      <p:sp>
        <p:nvSpPr>
          <p:cNvPr id="12" name="TextBox 11"/>
          <p:cNvSpPr txBox="1"/>
          <p:nvPr/>
        </p:nvSpPr>
        <p:spPr>
          <a:xfrm>
            <a:off x="8302752" y="1316736"/>
            <a:ext cx="304796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THE </a:t>
            </a:r>
            <a:r>
              <a:rPr lang="it-IT" sz="931" b="1" spc="120" dirty="0">
                <a:solidFill>
                  <a:srgbClr val="574676"/>
                </a:solidFill>
                <a:latin typeface="Fira Sans"/>
              </a:rPr>
              <a:t>IDEA </a:t>
            </a:r>
            <a:r>
              <a:rPr sz="931" b="1" i="0" spc="120" dirty="0">
                <a:solidFill>
                  <a:srgbClr val="574676"/>
                </a:solidFill>
                <a:latin typeface="Fira Sans"/>
              </a:rPr>
              <a:t>IN PLACE</a:t>
            </a:r>
          </a:p>
        </p:txBody>
      </p:sp>
      <p:sp>
        <p:nvSpPr>
          <p:cNvPr id="13" name="TextBox 12"/>
          <p:cNvSpPr txBox="1"/>
          <p:nvPr/>
        </p:nvSpPr>
        <p:spPr>
          <a:xfrm>
            <a:off x="8302752" y="1572768"/>
            <a:ext cx="3047969" cy="87782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950" b="0" i="0">
                <a:solidFill>
                  <a:srgbClr val="25282A"/>
                </a:solidFill>
                <a:latin typeface="Consolas"/>
              </a:rPr>
              <a:t>generate_trajectory</a:t>
            </a:r>
            <a:r>
              <a:rPr sz="1045" b="0" i="0">
                <a:solidFill>
                  <a:srgbClr val="333639"/>
                </a:solidFill>
                <a:latin typeface="Fira Sans"/>
              </a:rPr>
              <a:t> produces the whole episode; </a:t>
            </a:r>
            <a:r>
              <a:rPr sz="950" b="0" i="0">
                <a:solidFill>
                  <a:srgbClr val="25282A"/>
                </a:solidFill>
                <a:latin typeface="Consolas"/>
              </a:rPr>
              <a:t>compute_returns</a:t>
            </a:r>
            <a:r>
              <a:rPr sz="1045" b="0" i="0">
                <a:solidFill>
                  <a:srgbClr val="333639"/>
                </a:solidFill>
                <a:latin typeface="Fira Sans"/>
              </a:rPr>
              <a:t> turns its reward column into one target per time step.</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The loop body is then only the first-visit test and the familiar update.</a:t>
            </a:r>
          </a:p>
        </p:txBody>
      </p:sp>
      <p:sp>
        <p:nvSpPr>
          <p:cNvPr id="14" name="Rectangle 13"/>
          <p:cNvSpPr/>
          <p:nvPr/>
        </p:nvSpPr>
        <p:spPr>
          <a:xfrm>
            <a:off x="8302752" y="2670048"/>
            <a:ext cx="3047969" cy="1326641"/>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302752" y="2670048"/>
            <a:ext cx="41148" cy="1326641"/>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522208" y="2816352"/>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WHY THIS STRUCTURE MATTERS</a:t>
            </a:r>
          </a:p>
        </p:txBody>
      </p:sp>
      <p:sp>
        <p:nvSpPr>
          <p:cNvPr id="17" name="TextBox 16"/>
          <p:cNvSpPr txBox="1"/>
          <p:nvPr/>
        </p:nvSpPr>
        <p:spPr>
          <a:xfrm>
            <a:off x="8522208" y="3054096"/>
            <a:ext cx="2663921" cy="796289"/>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Note the ordering. The whole trajectory is generated </a:t>
            </a:r>
            <a:r>
              <a:rPr sz="1045" b="1" i="0">
                <a:solidFill>
                  <a:srgbClr val="333639"/>
                </a:solidFill>
                <a:latin typeface="Fira Sans"/>
              </a:rPr>
              <a:t>first</a:t>
            </a:r>
            <a:r>
              <a:rPr sz="1045" b="0" i="0">
                <a:solidFill>
                  <a:srgbClr val="333639"/>
                </a:solidFill>
                <a:latin typeface="Fira Sans"/>
              </a:rPr>
              <a:t>, the returns are computed second, and only then are the value estimates touched. Nothing can be learned mid-episode.</a:t>
            </a:r>
          </a:p>
        </p:txBody>
      </p:sp>
      <p:sp>
        <p:nvSpPr>
          <p:cNvPr id="18" name="Rectangle 17"/>
          <p:cNvSpPr/>
          <p:nvPr/>
        </p:nvSpPr>
        <p:spPr>
          <a:xfrm>
            <a:off x="8302752" y="4197858"/>
            <a:ext cx="3047969" cy="113812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302752" y="4197858"/>
            <a:ext cx="41148" cy="113812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522208" y="4344162"/>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INSTRUMENTATION</a:t>
            </a:r>
          </a:p>
        </p:txBody>
      </p:sp>
      <p:sp>
        <p:nvSpPr>
          <p:cNvPr id="21" name="TextBox 20"/>
          <p:cNvSpPr txBox="1"/>
          <p:nvPr/>
        </p:nvSpPr>
        <p:spPr>
          <a:xfrm>
            <a:off x="8522208" y="4581906"/>
            <a:ext cx="2663921"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err="1">
                <a:solidFill>
                  <a:srgbClr val="333639"/>
                </a:solidFill>
                <a:latin typeface="Fira Sans"/>
              </a:rPr>
              <a:t>v_track</a:t>
            </a:r>
            <a:r>
              <a:rPr sz="997" b="0" i="0" dirty="0">
                <a:solidFill>
                  <a:srgbClr val="333639"/>
                </a:solidFill>
                <a:latin typeface="Fira Sans"/>
              </a:rPr>
              <a:t> stores the value function after every episode. It is not part of the algorithm</a:t>
            </a:r>
            <a:r>
              <a:rPr lang="it-IT" sz="997" b="0" i="0" dirty="0">
                <a:solidFill>
                  <a:srgbClr val="333639"/>
                </a:solidFill>
                <a:latin typeface="Fira Sans"/>
              </a:rPr>
              <a:t>,</a:t>
            </a:r>
            <a:r>
              <a:rPr sz="997" b="0" i="0" dirty="0">
                <a:solidFill>
                  <a:srgbClr val="333639"/>
                </a:solidFill>
                <a:latin typeface="Fira Sans"/>
              </a:rPr>
              <a:t> it is what lets us draw the learning curves that follow.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2.7  MONTE CARLO ON THE RANDOM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estimates approach the true values — and keep jittering around them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 — Monte Carlo prediction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14</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500 episodes, α = 0.1, γ = 1. The estimates move toward the true state values, but the trajectories are visibly </a:t>
            </a:r>
            <a:r>
              <a:rPr sz="1235" b="1" i="0">
                <a:solidFill>
                  <a:srgbClr val="C8102E"/>
                </a:solidFill>
                <a:latin typeface="Fira Sans"/>
              </a:rPr>
              <a:t>noisy</a:t>
            </a:r>
            <a:r>
              <a:rPr sz="1235" b="0" i="0">
                <a:solidFill>
                  <a:srgbClr val="333639"/>
                </a:solidFill>
                <a:latin typeface="Fira Sans"/>
              </a:rPr>
              <a:t>: even after reaching roughly the right level they keep fluctuating from episode to episode.</a:t>
            </a:r>
          </a:p>
        </p:txBody>
      </p:sp>
      <p:pic>
        <p:nvPicPr>
          <p:cNvPr id="9" name="Picture 8" descr="mc_track.png"/>
          <p:cNvPicPr>
            <a:picLocks noChangeAspect="1"/>
          </p:cNvPicPr>
          <p:nvPr/>
        </p:nvPicPr>
        <p:blipFill>
          <a:blip r:embed="rId2"/>
          <a:stretch>
            <a:fillRect/>
          </a:stretch>
        </p:blipFill>
        <p:spPr>
          <a:xfrm>
            <a:off x="841247" y="1909347"/>
            <a:ext cx="6607377" cy="3226859"/>
          </a:xfrm>
          <a:prstGeom prst="rect">
            <a:avLst/>
          </a:prstGeom>
        </p:spPr>
      </p:pic>
      <p:sp>
        <p:nvSpPr>
          <p:cNvPr id="10" name="TextBox 9"/>
          <p:cNvSpPr txBox="1"/>
          <p:nvPr/>
        </p:nvSpPr>
        <p:spPr>
          <a:xfrm>
            <a:off x="841248" y="5077689"/>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Estimates of the five non-terminal states over 500 episodes. Dashed lines: the true values 1/6 … 5/6.</a:t>
            </a:r>
          </a:p>
        </p:txBody>
      </p:sp>
      <p:sp>
        <p:nvSpPr>
          <p:cNvPr id="11" name="Rectangle 10"/>
          <p:cNvSpPr/>
          <p:nvPr/>
        </p:nvSpPr>
        <p:spPr>
          <a:xfrm>
            <a:off x="841248" y="5356581"/>
            <a:ext cx="6543446" cy="86319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356581"/>
            <a:ext cx="41148" cy="86319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502885"/>
            <a:ext cx="62508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WHERE THE NOISE COMES FROM</a:t>
            </a:r>
          </a:p>
        </p:txBody>
      </p:sp>
      <p:sp>
        <p:nvSpPr>
          <p:cNvPr id="14" name="TextBox 13"/>
          <p:cNvSpPr txBox="1"/>
          <p:nvPr/>
        </p:nvSpPr>
        <p:spPr>
          <a:xfrm>
            <a:off x="1060704" y="5740629"/>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Each update is based on a </a:t>
            </a:r>
            <a:r>
              <a:rPr sz="1092" b="1" i="0">
                <a:solidFill>
                  <a:srgbClr val="333639"/>
                </a:solidFill>
                <a:latin typeface="Fira Sans"/>
              </a:rPr>
              <a:t>complete sampled return</a:t>
            </a:r>
            <a:r>
              <a:rPr sz="1092" b="0" i="0">
                <a:solidFill>
                  <a:srgbClr val="333639"/>
                </a:solidFill>
                <a:latin typeface="Fira Sans"/>
              </a:rPr>
              <a:t>, and complete returns vary considerably across trajectories. MC targets are unbiased, but they have high variance.</a:t>
            </a:r>
          </a:p>
        </p:txBody>
      </p:sp>
      <p:sp>
        <p:nvSpPr>
          <p:cNvPr id="15" name="Rectangle 14"/>
          <p:cNvSpPr/>
          <p:nvPr/>
        </p:nvSpPr>
        <p:spPr>
          <a:xfrm>
            <a:off x="7618780" y="1335024"/>
            <a:ext cx="3731940" cy="25192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10220" y="1385316"/>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17" name="TextBox 16"/>
          <p:cNvSpPr txBox="1"/>
          <p:nvPr/>
        </p:nvSpPr>
        <p:spPr>
          <a:xfrm>
            <a:off x="8605886"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MC estimate</a:t>
            </a:r>
          </a:p>
        </p:txBody>
      </p:sp>
      <p:sp>
        <p:nvSpPr>
          <p:cNvPr id="18" name="TextBox 17"/>
          <p:cNvSpPr txBox="1"/>
          <p:nvPr/>
        </p:nvSpPr>
        <p:spPr>
          <a:xfrm>
            <a:off x="10024024"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True value</a:t>
            </a:r>
          </a:p>
        </p:txBody>
      </p:sp>
      <p:sp>
        <p:nvSpPr>
          <p:cNvPr id="19" name="TextBox 18"/>
          <p:cNvSpPr txBox="1"/>
          <p:nvPr/>
        </p:nvSpPr>
        <p:spPr>
          <a:xfrm>
            <a:off x="7710220" y="1637243"/>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1</a:t>
            </a:r>
          </a:p>
        </p:txBody>
      </p:sp>
      <p:sp>
        <p:nvSpPr>
          <p:cNvPr id="20" name="TextBox 19"/>
          <p:cNvSpPr txBox="1"/>
          <p:nvPr/>
        </p:nvSpPr>
        <p:spPr>
          <a:xfrm>
            <a:off x="8605886"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C8102E"/>
                </a:solidFill>
                <a:latin typeface="Fira Sans"/>
              </a:rPr>
              <a:t>0.309</a:t>
            </a:r>
          </a:p>
        </p:txBody>
      </p:sp>
      <p:sp>
        <p:nvSpPr>
          <p:cNvPr id="21" name="TextBox 20"/>
          <p:cNvSpPr txBox="1"/>
          <p:nvPr/>
        </p:nvSpPr>
        <p:spPr>
          <a:xfrm>
            <a:off x="10024024"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0.167</a:t>
            </a:r>
          </a:p>
        </p:txBody>
      </p:sp>
      <p:sp>
        <p:nvSpPr>
          <p:cNvPr id="22" name="Rectangle 21"/>
          <p:cNvSpPr/>
          <p:nvPr/>
        </p:nvSpPr>
        <p:spPr>
          <a:xfrm>
            <a:off x="7618780" y="184907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1854565"/>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10220" y="1904857"/>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2</a:t>
            </a:r>
          </a:p>
        </p:txBody>
      </p:sp>
      <p:sp>
        <p:nvSpPr>
          <p:cNvPr id="25" name="TextBox 24"/>
          <p:cNvSpPr txBox="1"/>
          <p:nvPr/>
        </p:nvSpPr>
        <p:spPr>
          <a:xfrm>
            <a:off x="8605886"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C8102E"/>
                </a:solidFill>
                <a:latin typeface="Fira Sans"/>
              </a:rPr>
              <a:t>0.448</a:t>
            </a:r>
          </a:p>
        </p:txBody>
      </p:sp>
      <p:sp>
        <p:nvSpPr>
          <p:cNvPr id="26" name="TextBox 25"/>
          <p:cNvSpPr txBox="1"/>
          <p:nvPr/>
        </p:nvSpPr>
        <p:spPr>
          <a:xfrm>
            <a:off x="10024024"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0.333</a:t>
            </a:r>
          </a:p>
        </p:txBody>
      </p:sp>
      <p:sp>
        <p:nvSpPr>
          <p:cNvPr id="27" name="Rectangle 26"/>
          <p:cNvSpPr/>
          <p:nvPr/>
        </p:nvSpPr>
        <p:spPr>
          <a:xfrm>
            <a:off x="7618780" y="211669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710220" y="2172472"/>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3</a:t>
            </a:r>
          </a:p>
        </p:txBody>
      </p:sp>
      <p:sp>
        <p:nvSpPr>
          <p:cNvPr id="29" name="TextBox 28"/>
          <p:cNvSpPr txBox="1"/>
          <p:nvPr/>
        </p:nvSpPr>
        <p:spPr>
          <a:xfrm>
            <a:off x="8605886"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C8102E"/>
                </a:solidFill>
                <a:latin typeface="Fira Sans"/>
              </a:rPr>
              <a:t>0.619</a:t>
            </a:r>
          </a:p>
        </p:txBody>
      </p:sp>
      <p:sp>
        <p:nvSpPr>
          <p:cNvPr id="30" name="TextBox 29"/>
          <p:cNvSpPr txBox="1"/>
          <p:nvPr/>
        </p:nvSpPr>
        <p:spPr>
          <a:xfrm>
            <a:off x="10024024"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0.500</a:t>
            </a:r>
          </a:p>
        </p:txBody>
      </p:sp>
      <p:sp>
        <p:nvSpPr>
          <p:cNvPr id="31" name="Rectangle 30"/>
          <p:cNvSpPr/>
          <p:nvPr/>
        </p:nvSpPr>
        <p:spPr>
          <a:xfrm>
            <a:off x="7618780" y="238430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618780" y="2389794"/>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710220" y="2440086"/>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4</a:t>
            </a:r>
          </a:p>
        </p:txBody>
      </p:sp>
      <p:sp>
        <p:nvSpPr>
          <p:cNvPr id="34" name="TextBox 33"/>
          <p:cNvSpPr txBox="1"/>
          <p:nvPr/>
        </p:nvSpPr>
        <p:spPr>
          <a:xfrm>
            <a:off x="8605886"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C8102E"/>
                </a:solidFill>
                <a:latin typeface="Fira Sans"/>
              </a:rPr>
              <a:t>0.751</a:t>
            </a:r>
          </a:p>
        </p:txBody>
      </p:sp>
      <p:sp>
        <p:nvSpPr>
          <p:cNvPr id="35" name="TextBox 34"/>
          <p:cNvSpPr txBox="1"/>
          <p:nvPr/>
        </p:nvSpPr>
        <p:spPr>
          <a:xfrm>
            <a:off x="10024024"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0.667</a:t>
            </a:r>
          </a:p>
        </p:txBody>
      </p:sp>
      <p:sp>
        <p:nvSpPr>
          <p:cNvPr id="36" name="Rectangle 35"/>
          <p:cNvSpPr/>
          <p:nvPr/>
        </p:nvSpPr>
        <p:spPr>
          <a:xfrm>
            <a:off x="7618780" y="265192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710220" y="2707700"/>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5</a:t>
            </a:r>
          </a:p>
        </p:txBody>
      </p:sp>
      <p:sp>
        <p:nvSpPr>
          <p:cNvPr id="38" name="TextBox 37"/>
          <p:cNvSpPr txBox="1"/>
          <p:nvPr/>
        </p:nvSpPr>
        <p:spPr>
          <a:xfrm>
            <a:off x="8605886"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C8102E"/>
                </a:solidFill>
                <a:latin typeface="Fira Sans"/>
              </a:rPr>
              <a:t>0.895</a:t>
            </a:r>
          </a:p>
        </p:txBody>
      </p:sp>
      <p:sp>
        <p:nvSpPr>
          <p:cNvPr id="39" name="TextBox 38"/>
          <p:cNvSpPr txBox="1"/>
          <p:nvPr/>
        </p:nvSpPr>
        <p:spPr>
          <a:xfrm>
            <a:off x="10024024"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0.833</a:t>
            </a:r>
          </a:p>
        </p:txBody>
      </p:sp>
      <p:sp>
        <p:nvSpPr>
          <p:cNvPr id="40" name="Rectangle 39"/>
          <p:cNvSpPr/>
          <p:nvPr/>
        </p:nvSpPr>
        <p:spPr>
          <a:xfrm>
            <a:off x="7618780" y="291953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618780" y="3089615"/>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MEASURING IT PROPERLY</a:t>
            </a:r>
          </a:p>
        </p:txBody>
      </p:sp>
      <p:pic>
        <p:nvPicPr>
          <p:cNvPr id="42" name="Picture 41" descr="eq_rms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0220" y="3309071"/>
            <a:ext cx="2585466" cy="541528"/>
          </a:xfrm>
          <a:prstGeom prst="rect">
            <a:avLst/>
          </a:prstGeom>
        </p:spPr>
      </p:pic>
      <p:pic>
        <p:nvPicPr>
          <p:cNvPr id="43" name="Picture 42" descr="rmse_mc.png"/>
          <p:cNvPicPr>
            <a:picLocks noChangeAspect="1"/>
          </p:cNvPicPr>
          <p:nvPr/>
        </p:nvPicPr>
        <p:blipFill>
          <a:blip r:embed="rId4"/>
          <a:stretch>
            <a:fillRect/>
          </a:stretch>
        </p:blipFill>
        <p:spPr>
          <a:xfrm>
            <a:off x="7639354" y="3809203"/>
            <a:ext cx="3698192" cy="1806095"/>
          </a:xfrm>
          <a:prstGeom prst="rect">
            <a:avLst/>
          </a:prstGeom>
        </p:spPr>
      </p:pic>
      <p:sp>
        <p:nvSpPr>
          <p:cNvPr id="45" name="Rectangle 44"/>
          <p:cNvSpPr/>
          <p:nvPr/>
        </p:nvSpPr>
        <p:spPr>
          <a:xfrm>
            <a:off x="7618780" y="5537819"/>
            <a:ext cx="3731940" cy="74843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7618780" y="5537819"/>
            <a:ext cx="41148" cy="74843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7838236" y="5684123"/>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error falls quickly, then settles on a </a:t>
            </a:r>
            <a:r>
              <a:rPr sz="997" b="1" i="0">
                <a:solidFill>
                  <a:srgbClr val="333639"/>
                </a:solidFill>
                <a:latin typeface="Fira Sans"/>
              </a:rPr>
              <a:t>residual floor</a:t>
            </a:r>
            <a:r>
              <a:rPr sz="997" b="0" i="0">
                <a:solidFill>
                  <a:srgbClr val="333639"/>
                </a:solidFill>
                <a:latin typeface="Fira Sans"/>
              </a:rPr>
              <a:t> it never gets below: the variance of the MC target. Removing it is what Part III is about.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Temporal-difference learning</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Replace the unknown remainder of the return by the estimate we are already maintaining. One reward from experience, one bootstrap and the agent can learn after every step.</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would replacing a true sample by a guess ever make the estimate better?</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Two limitations of Monte Carlo</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substitution</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TD(0) update and bootstrapping</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algorithm</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MC against TD, and the bias–variance trade-off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TWO LIMITATIONS OF MONTE CARLO</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Its target is honest, and that is exactly what costs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III — Temporal-difference learning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MC target is the actual return experienced by the agent. For a fixed policy that is an </a:t>
            </a:r>
            <a:r>
              <a:rPr sz="1282" b="1" i="0" dirty="0">
                <a:solidFill>
                  <a:srgbClr val="2B7A3E"/>
                </a:solidFill>
                <a:latin typeface="Fira Sans"/>
              </a:rPr>
              <a:t>unbiased sample</a:t>
            </a:r>
            <a:r>
              <a:rPr sz="1282" b="0" i="0" dirty="0">
                <a:solidFill>
                  <a:srgbClr val="333639"/>
                </a:solidFill>
                <a:latin typeface="Fira Sans"/>
              </a:rPr>
              <a:t> of the value we want</a:t>
            </a:r>
            <a:r>
              <a:rPr lang="it-IT" sz="1282" b="0" i="0" dirty="0">
                <a:solidFill>
                  <a:srgbClr val="333639"/>
                </a:solidFill>
                <a:latin typeface="Fira Sans"/>
              </a:rPr>
              <a:t>, </a:t>
            </a:r>
            <a:r>
              <a:rPr sz="1282" b="0" i="0" dirty="0">
                <a:solidFill>
                  <a:srgbClr val="333639"/>
                </a:solidFill>
                <a:latin typeface="Fira Sans"/>
              </a:rPr>
              <a:t>which is a real virtue. It comes with two costs.</a:t>
            </a:r>
          </a:p>
        </p:txBody>
      </p:sp>
      <p:sp>
        <p:nvSpPr>
          <p:cNvPr id="9" name="Rectangle 8"/>
          <p:cNvSpPr/>
          <p:nvPr/>
        </p:nvSpPr>
        <p:spPr>
          <a:xfrm>
            <a:off x="841248" y="1988322"/>
            <a:ext cx="5102352" cy="126877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88322"/>
            <a:ext cx="510235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42416" y="2152914"/>
            <a:ext cx="470001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C8102E"/>
                </a:solidFill>
                <a:latin typeface="Fira Sans"/>
              </a:rPr>
              <a:t>LIMITATION 1  ·  IT MUST WAIT</a:t>
            </a:r>
          </a:p>
        </p:txBody>
      </p:sp>
      <p:sp>
        <p:nvSpPr>
          <p:cNvPr id="12" name="TextBox 11"/>
          <p:cNvSpPr txBox="1"/>
          <p:nvPr/>
        </p:nvSpPr>
        <p:spPr>
          <a:xfrm>
            <a:off x="1042416" y="2463810"/>
            <a:ext cx="4700016"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complete return is not known until every subsequent reward has been observed, so the agent cannot update the value of a state immediately after leaving it. On a long episode, that is a long time with no learning at all.</a:t>
            </a:r>
          </a:p>
        </p:txBody>
      </p:sp>
      <p:sp>
        <p:nvSpPr>
          <p:cNvPr id="13" name="Rectangle 12"/>
          <p:cNvSpPr/>
          <p:nvPr/>
        </p:nvSpPr>
        <p:spPr>
          <a:xfrm>
            <a:off x="6254496" y="1988322"/>
            <a:ext cx="5102352" cy="126877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254496" y="1988322"/>
            <a:ext cx="5102352"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55664" y="2152914"/>
            <a:ext cx="470001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8A5100"/>
                </a:solidFill>
                <a:latin typeface="Fira Sans"/>
              </a:rPr>
              <a:t>LIMITATION 2  ·  HIGH VARIANCE</a:t>
            </a:r>
          </a:p>
        </p:txBody>
      </p:sp>
      <p:sp>
        <p:nvSpPr>
          <p:cNvPr id="16" name="TextBox 15"/>
          <p:cNvSpPr txBox="1"/>
          <p:nvPr/>
        </p:nvSpPr>
        <p:spPr>
          <a:xfrm>
            <a:off x="6455664" y="2463810"/>
            <a:ext cx="4700016"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626669"/>
                </a:solidFill>
                <a:latin typeface="Fira Sans"/>
              </a:rPr>
              <a:t>From t to termination the trajectory may contain many stochastic transitions, and all of that randomness is accumulated into one number. The target is unbiased, but individual samples differ substantially</a:t>
            </a:r>
            <a:r>
              <a:rPr lang="it-IT" sz="1092" b="0" i="0" dirty="0">
                <a:solidFill>
                  <a:srgbClr val="626669"/>
                </a:solidFill>
                <a:latin typeface="Fira Sans"/>
              </a:rPr>
              <a:t>,</a:t>
            </a:r>
            <a:r>
              <a:rPr sz="1092" b="0" i="0" dirty="0">
                <a:solidFill>
                  <a:srgbClr val="626669"/>
                </a:solidFill>
                <a:latin typeface="Fira Sans"/>
              </a:rPr>
              <a:t> hence the noisy curves.</a:t>
            </a:r>
          </a:p>
        </p:txBody>
      </p:sp>
      <p:pic>
        <p:nvPicPr>
          <p:cNvPr id="17" name="Picture 16" descr="eq_mc_wai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86646" y="3438144"/>
            <a:ext cx="6418707" cy="289306"/>
          </a:xfrm>
          <a:prstGeom prst="rect">
            <a:avLst/>
          </a:prstGeom>
        </p:spPr>
      </p:pic>
      <p:sp>
        <p:nvSpPr>
          <p:cNvPr id="18" name="Rectangle 17"/>
          <p:cNvSpPr/>
          <p:nvPr/>
        </p:nvSpPr>
        <p:spPr>
          <a:xfrm>
            <a:off x="841248" y="388123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td_question.png"/>
          <p:cNvPicPr>
            <a:picLocks noChangeAspect="1"/>
          </p:cNvPicPr>
          <p:nvPr/>
        </p:nvPicPr>
        <p:blipFill>
          <a:blip r:embed="rId3"/>
          <a:stretch>
            <a:fillRect/>
          </a:stretch>
        </p:blipFill>
        <p:spPr>
          <a:xfrm>
            <a:off x="2018523" y="3928360"/>
            <a:ext cx="7459124" cy="2325221"/>
          </a:xfrm>
          <a:prstGeom prst="rect">
            <a:avLst/>
          </a:prstGeom>
        </p:spPr>
      </p:pic>
      <p:sp>
        <p:nvSpPr>
          <p:cNvPr id="20" name="TextBox 19"/>
          <p:cNvSpPr txBox="1"/>
          <p:nvPr/>
        </p:nvSpPr>
        <p:spPr>
          <a:xfrm>
            <a:off x="9643437" y="4628134"/>
            <a:ext cx="2304288" cy="557784"/>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Can we learn from a transition </a:t>
            </a:r>
            <a:r>
              <a:rPr sz="1140" b="1" i="0" dirty="0">
                <a:solidFill>
                  <a:srgbClr val="25282A"/>
                </a:solidFill>
                <a:latin typeface="Fira Sans"/>
              </a:rPr>
              <a:t>without waiting for the complete return?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THE SUBSTITUTION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We are already maintaining an estimate of exactly the missing piece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III — Temporal-difference learning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Recall the recursion between consecutive returns. Monte Carlo waits until the end of the episode in order to observe the second term. But we are already learning an estimate of its expectation.</a:t>
            </a:r>
          </a:p>
        </p:txBody>
      </p:sp>
      <p:pic>
        <p:nvPicPr>
          <p:cNvPr id="9" name="Picture 8" descr="eq_td_rec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40695" y="1988322"/>
            <a:ext cx="6910578" cy="336042"/>
          </a:xfrm>
          <a:prstGeom prst="rect">
            <a:avLst/>
          </a:prstGeom>
        </p:spPr>
      </p:pic>
      <p:sp>
        <p:nvSpPr>
          <p:cNvPr id="10" name="Rectangle 9"/>
          <p:cNvSpPr/>
          <p:nvPr/>
        </p:nvSpPr>
        <p:spPr>
          <a:xfrm>
            <a:off x="2852928" y="2598684"/>
            <a:ext cx="6492240" cy="71323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2852928" y="2598684"/>
            <a:ext cx="41148" cy="7132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eq_td_sub.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27248" y="2836428"/>
            <a:ext cx="6035040" cy="242722"/>
          </a:xfrm>
          <a:prstGeom prst="rect">
            <a:avLst/>
          </a:prstGeom>
        </p:spPr>
      </p:pic>
      <p:sp>
        <p:nvSpPr>
          <p:cNvPr id="13" name="TextBox 12"/>
          <p:cNvSpPr txBox="1"/>
          <p:nvPr/>
        </p:nvSpPr>
        <p:spPr>
          <a:xfrm>
            <a:off x="841248" y="349479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WHICH GIVES THE ONE-STEP TD TARGET</a:t>
            </a:r>
          </a:p>
        </p:txBody>
      </p:sp>
      <p:sp>
        <p:nvSpPr>
          <p:cNvPr id="14" name="Rectangle 13"/>
          <p:cNvSpPr/>
          <p:nvPr/>
        </p:nvSpPr>
        <p:spPr>
          <a:xfrm>
            <a:off x="841248" y="3805692"/>
            <a:ext cx="10515600" cy="73152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41248" y="3805692"/>
            <a:ext cx="41148" cy="73152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eq_td_targe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025148"/>
            <a:ext cx="3282950" cy="349250"/>
          </a:xfrm>
          <a:prstGeom prst="rect">
            <a:avLst/>
          </a:prstGeom>
        </p:spPr>
      </p:pic>
      <p:sp>
        <p:nvSpPr>
          <p:cNvPr id="17" name="TextBox 16"/>
          <p:cNvSpPr txBox="1"/>
          <p:nvPr/>
        </p:nvSpPr>
        <p:spPr>
          <a:xfrm>
            <a:off x="4498848" y="3951996"/>
            <a:ext cx="6583680" cy="36387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Fira Sans"/>
              </a:rPr>
              <a:t>Instead of waiting for the complete future, TD uses </a:t>
            </a:r>
            <a:r>
              <a:rPr sz="1092" b="1" i="0">
                <a:solidFill>
                  <a:srgbClr val="2B7A3E"/>
                </a:solidFill>
                <a:latin typeface="Fira Sans"/>
              </a:rPr>
              <a:t>one reward from experience and then its current estimate of the rest</a:t>
            </a:r>
            <a:r>
              <a:rPr sz="1092" b="0" i="0">
                <a:solidFill>
                  <a:srgbClr val="333639"/>
                </a:solidFill>
                <a:latin typeface="Fira Sans"/>
              </a:rPr>
              <a:t>. The value can therefore be updated immediately after each transition.</a:t>
            </a:r>
          </a:p>
        </p:txBody>
      </p:sp>
      <p:pic>
        <p:nvPicPr>
          <p:cNvPr id="18" name="Picture 17" descr="eq_td_updat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10594" y="4738380"/>
            <a:ext cx="4970780" cy="1076198"/>
          </a:xfrm>
          <a:prstGeom prst="rect">
            <a:avLst/>
          </a:prstGeom>
        </p:spPr>
      </p:pic>
      <p:sp>
        <p:nvSpPr>
          <p:cNvPr id="19" name="TextBox 18"/>
          <p:cNvSpPr txBox="1"/>
          <p:nvPr/>
        </p:nvSpPr>
        <p:spPr>
          <a:xfrm>
            <a:off x="841248" y="6015746"/>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The same learning structure as Monte Carlo — new estimate = old estimate + step size × error. Only the target has changed.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BOOTSTRAPPING, AND WHAT IT COSTS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Updating an estimate using another estimate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III — Temporal-difference learning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observed reward anchors the update in real experience; the value of the next state supplies a guess for everything that may happen afterwards. Using an estimate to improve an estimate is called </a:t>
            </a:r>
            <a:r>
              <a:rPr sz="1282" b="1" i="0" dirty="0">
                <a:solidFill>
                  <a:srgbClr val="25282A"/>
                </a:solidFill>
                <a:latin typeface="Fira Sans"/>
              </a:rPr>
              <a:t>bootstrapping</a:t>
            </a:r>
            <a:r>
              <a:rPr lang="it-IT" sz="1282" dirty="0">
                <a:solidFill>
                  <a:srgbClr val="333639"/>
                </a:solidFill>
                <a:latin typeface="Fira Sans"/>
              </a:rPr>
              <a:t>, </a:t>
            </a:r>
            <a:r>
              <a:rPr sz="1282" b="0" i="0" dirty="0">
                <a:solidFill>
                  <a:srgbClr val="333639"/>
                </a:solidFill>
                <a:latin typeface="Fira Sans"/>
              </a:rPr>
              <a:t>the same mechanism that made the Bellman update of Chapter 03 work.</a:t>
            </a:r>
          </a:p>
        </p:txBody>
      </p:sp>
      <p:pic>
        <p:nvPicPr>
          <p:cNvPr id="9" name="Picture 8" descr="eq_td_ancho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45417" y="2168667"/>
            <a:ext cx="4501134" cy="759967"/>
          </a:xfrm>
          <a:prstGeom prst="rect">
            <a:avLst/>
          </a:prstGeom>
        </p:spPr>
      </p:pic>
      <p:pic>
        <p:nvPicPr>
          <p:cNvPr id="10" name="Picture 9" descr="boot.png"/>
          <p:cNvPicPr>
            <a:picLocks noChangeAspect="1"/>
          </p:cNvPicPr>
          <p:nvPr/>
        </p:nvPicPr>
        <p:blipFill>
          <a:blip r:embed="rId3"/>
          <a:stretch>
            <a:fillRect/>
          </a:stretch>
        </p:blipFill>
        <p:spPr>
          <a:xfrm>
            <a:off x="2247937" y="2924906"/>
            <a:ext cx="7696093" cy="1244874"/>
          </a:xfrm>
          <a:prstGeom prst="rect">
            <a:avLst/>
          </a:prstGeom>
        </p:spPr>
      </p:pic>
      <p:sp>
        <p:nvSpPr>
          <p:cNvPr id="11" name="TextBox 10"/>
          <p:cNvSpPr txBox="1"/>
          <p:nvPr/>
        </p:nvSpPr>
        <p:spPr>
          <a:xfrm>
            <a:off x="841248" y="4428251"/>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Monte Carlo follows the trajectory to the terminal state; TD stops after one transition and substitutes an estimate.</a:t>
            </a:r>
          </a:p>
        </p:txBody>
      </p:sp>
      <p:sp>
        <p:nvSpPr>
          <p:cNvPr id="12" name="Rectangle 11"/>
          <p:cNvSpPr/>
          <p:nvPr/>
        </p:nvSpPr>
        <p:spPr>
          <a:xfrm>
            <a:off x="841248" y="481991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039375"/>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5185679"/>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MC: unbiased, high variance</a:t>
            </a:r>
          </a:p>
        </p:txBody>
      </p:sp>
      <p:sp>
        <p:nvSpPr>
          <p:cNvPr id="15" name="TextBox 14"/>
          <p:cNvSpPr txBox="1"/>
          <p:nvPr/>
        </p:nvSpPr>
        <p:spPr>
          <a:xfrm>
            <a:off x="841248" y="5478287"/>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target contains all the randomness accumulated over the whole remainder of the trajectory</a:t>
            </a:r>
            <a:r>
              <a:rPr lang="it-IT" sz="1045" b="0" i="0" dirty="0">
                <a:solidFill>
                  <a:srgbClr val="626669"/>
                </a:solidFill>
                <a:latin typeface="Fira Sans"/>
              </a:rPr>
              <a:t>, </a:t>
            </a:r>
            <a:r>
              <a:rPr sz="1045" b="0" i="0" dirty="0">
                <a:solidFill>
                  <a:srgbClr val="626669"/>
                </a:solidFill>
                <a:latin typeface="Fira Sans"/>
              </a:rPr>
              <a:t>but no bootstrapping </a:t>
            </a:r>
            <a:r>
              <a:rPr lang="it-IT" sz="1045" dirty="0" err="1">
                <a:solidFill>
                  <a:srgbClr val="626669"/>
                </a:solidFill>
                <a:latin typeface="Fira Sans"/>
              </a:rPr>
              <a:t>bias</a:t>
            </a:r>
            <a:r>
              <a:rPr sz="1045" b="0" i="0" dirty="0">
                <a:solidFill>
                  <a:srgbClr val="626669"/>
                </a:solidFill>
                <a:latin typeface="Fira Sans"/>
              </a:rPr>
              <a:t>.</a:t>
            </a:r>
          </a:p>
        </p:txBody>
      </p:sp>
      <p:sp>
        <p:nvSpPr>
          <p:cNvPr id="16" name="Rectangle 15"/>
          <p:cNvSpPr/>
          <p:nvPr/>
        </p:nvSpPr>
        <p:spPr>
          <a:xfrm>
            <a:off x="4425696" y="5039375"/>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25696" y="5185679"/>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TD: biased, low variance</a:t>
            </a:r>
          </a:p>
        </p:txBody>
      </p:sp>
      <p:sp>
        <p:nvSpPr>
          <p:cNvPr id="18" name="TextBox 17"/>
          <p:cNvSpPr txBox="1"/>
          <p:nvPr/>
        </p:nvSpPr>
        <p:spPr>
          <a:xfrm>
            <a:off x="4425696" y="5478287"/>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target depends on one observed transition before bootstrapping, so it is far less noisy</a:t>
            </a:r>
            <a:r>
              <a:rPr lang="it-IT" sz="1045" b="0" i="0" dirty="0">
                <a:solidFill>
                  <a:srgbClr val="626669"/>
                </a:solidFill>
                <a:latin typeface="Fira Sans"/>
              </a:rPr>
              <a:t>; </a:t>
            </a:r>
            <a:r>
              <a:rPr sz="1045" b="0" i="0" dirty="0">
                <a:solidFill>
                  <a:srgbClr val="626669"/>
                </a:solidFill>
                <a:latin typeface="Fira Sans"/>
              </a:rPr>
              <a:t>but it leans on V(S_{t+1}), which is itself still wrong.</a:t>
            </a:r>
          </a:p>
        </p:txBody>
      </p:sp>
      <p:sp>
        <p:nvSpPr>
          <p:cNvPr id="19" name="Rectangle 18"/>
          <p:cNvSpPr/>
          <p:nvPr/>
        </p:nvSpPr>
        <p:spPr>
          <a:xfrm>
            <a:off x="8010144" y="5039375"/>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010144" y="5185679"/>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TD sits between MC and DP</a:t>
            </a:r>
          </a:p>
        </p:txBody>
      </p:sp>
      <p:sp>
        <p:nvSpPr>
          <p:cNvPr id="21" name="TextBox 20"/>
          <p:cNvSpPr txBox="1"/>
          <p:nvPr/>
        </p:nvSpPr>
        <p:spPr>
          <a:xfrm>
            <a:off x="8010144" y="5478287"/>
            <a:ext cx="334670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Like MC it learns from </a:t>
            </a:r>
            <a:r>
              <a:rPr sz="1045" b="1" i="0" dirty="0">
                <a:solidFill>
                  <a:srgbClr val="626669"/>
                </a:solidFill>
                <a:latin typeface="Fira Sans"/>
              </a:rPr>
              <a:t>sampled experience </a:t>
            </a:r>
            <a:r>
              <a:rPr sz="1045" b="0" i="0" dirty="0">
                <a:solidFill>
                  <a:srgbClr val="626669"/>
                </a:solidFill>
                <a:latin typeface="Fira Sans"/>
              </a:rPr>
              <a:t>and needs no model. Like DP it </a:t>
            </a:r>
            <a:r>
              <a:rPr sz="1045" b="1" i="0" dirty="0">
                <a:solidFill>
                  <a:srgbClr val="626669"/>
                </a:solidFill>
                <a:latin typeface="Fira Sans"/>
              </a:rPr>
              <a:t>bootstraps</a:t>
            </a:r>
            <a:r>
              <a:rPr sz="1045" b="0" i="0" dirty="0">
                <a:solidFill>
                  <a:srgbClr val="626669"/>
                </a:solidFill>
                <a:latin typeface="Fira Sans"/>
              </a:rPr>
              <a:t>. The difference from DP: DP averages over all possible transitions, TD uses the single one that was sampled.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TD(0) IN CODE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No trajectory to store, no return to compute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III — Temporal-difference learning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Rectangle 7"/>
          <p:cNvSpPr/>
          <p:nvPr/>
        </p:nvSpPr>
        <p:spPr>
          <a:xfrm>
            <a:off x="841248" y="1316736"/>
            <a:ext cx="7223760" cy="4716703"/>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4716703"/>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85998" y="1524310"/>
            <a:ext cx="7079010" cy="4301554"/>
          </a:xfrm>
          <a:prstGeom prst="rect">
            <a:avLst/>
          </a:prstGeom>
          <a:noFill/>
        </p:spPr>
        <p:txBody>
          <a:bodyPr wrap="none" lIns="0" tIns="0" rIns="0" bIns="0" anchor="t">
            <a:noAutofit/>
          </a:bodyPr>
          <a:lstStyle/>
          <a:p>
            <a:pPr marL="0" indent="0" algn="l">
              <a:lnSpc>
                <a:spcPts val="1147"/>
              </a:lnSpc>
              <a:spcBef>
                <a:spcPts val="0"/>
              </a:spcBef>
              <a:spcAft>
                <a:spcPts val="0"/>
              </a:spcAft>
              <a:buNone/>
            </a:pPr>
            <a:r>
              <a:rPr sz="882" b="0" i="0" dirty="0">
                <a:solidFill>
                  <a:srgbClr val="1F2A37"/>
                </a:solidFill>
                <a:latin typeface="Consolas"/>
              </a:rPr>
              <a:t>def td(pi, env, gamma=1.0, alpha=0.1, </a:t>
            </a:r>
            <a:r>
              <a:rPr sz="882" b="0" i="0" dirty="0" err="1">
                <a:solidFill>
                  <a:srgbClr val="1F2A37"/>
                </a:solidFill>
                <a:latin typeface="Consolas"/>
              </a:rPr>
              <a:t>n_episodes</a:t>
            </a:r>
            <a:r>
              <a:rPr sz="882" b="0" i="0" dirty="0">
                <a:solidFill>
                  <a:srgbClr val="1F2A37"/>
                </a:solidFill>
                <a:latin typeface="Consolas"/>
              </a:rPr>
              <a:t>=500):</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v = </a:t>
            </a:r>
            <a:r>
              <a:rPr sz="882" b="0" i="0" dirty="0" err="1">
                <a:solidFill>
                  <a:srgbClr val="1F2A37"/>
                </a:solidFill>
                <a:latin typeface="Consolas"/>
              </a:rPr>
              <a:t>np.zeros</a:t>
            </a:r>
            <a:r>
              <a:rPr sz="882" b="0" i="0" dirty="0">
                <a:solidFill>
                  <a:srgbClr val="1F2A37"/>
                </a:solidFill>
                <a:latin typeface="Consolas"/>
              </a:rPr>
              <a:t>(</a:t>
            </a:r>
            <a:r>
              <a:rPr sz="882" b="0" i="0" dirty="0" err="1">
                <a:solidFill>
                  <a:srgbClr val="1F2A37"/>
                </a:solidFill>
                <a:latin typeface="Consolas"/>
              </a:rPr>
              <a:t>env.observation_space</a:t>
            </a:r>
            <a:r>
              <a:rPr sz="882" b="0" i="0" dirty="0">
                <a:solidFill>
                  <a:srgbClr val="1F2A37"/>
                </a:solidFill>
                <a:latin typeface="Consolas"/>
              </a:rPr>
              <a:t>, </a:t>
            </a:r>
            <a:r>
              <a:rPr sz="882" b="0" i="0" dirty="0" err="1">
                <a:solidFill>
                  <a:srgbClr val="1F2A37"/>
                </a:solidFill>
                <a:latin typeface="Consolas"/>
              </a:rPr>
              <a:t>dtype</a:t>
            </a:r>
            <a:r>
              <a:rPr sz="882" b="0" i="0" dirty="0">
                <a:solidFill>
                  <a:srgbClr val="1F2A37"/>
                </a:solidFill>
                <a:latin typeface="Consolas"/>
              </a:rPr>
              <a:t>=float)</a:t>
            </a:r>
          </a:p>
          <a:p>
            <a:pPr marL="0" indent="0" algn="l">
              <a:lnSpc>
                <a:spcPts val="1147"/>
              </a:lnSpc>
              <a:spcBef>
                <a:spcPts val="0"/>
              </a:spcBef>
              <a:spcAft>
                <a:spcPts val="0"/>
              </a:spcAft>
              <a:buNone/>
            </a:pPr>
            <a:r>
              <a:rPr sz="882" b="0" i="0" dirty="0">
                <a:solidFill>
                  <a:srgbClr val="1F2A37"/>
                </a:solidFill>
                <a:latin typeface="Consolas"/>
              </a:rPr>
              <a:t>    </a:t>
            </a:r>
            <a:r>
              <a:rPr sz="882" b="0" i="0" dirty="0" err="1">
                <a:solidFill>
                  <a:srgbClr val="1F2A37"/>
                </a:solidFill>
                <a:latin typeface="Consolas"/>
              </a:rPr>
              <a:t>v_track</a:t>
            </a:r>
            <a:r>
              <a:rPr sz="882" b="0" i="0" dirty="0">
                <a:solidFill>
                  <a:srgbClr val="1F2A37"/>
                </a:solidFill>
                <a:latin typeface="Consolas"/>
              </a:rPr>
              <a:t> = </a:t>
            </a:r>
            <a:r>
              <a:rPr sz="882" b="0" i="0" dirty="0" err="1">
                <a:solidFill>
                  <a:srgbClr val="1F2A37"/>
                </a:solidFill>
                <a:latin typeface="Consolas"/>
              </a:rPr>
              <a:t>np.zeros</a:t>
            </a:r>
            <a:r>
              <a:rPr sz="882" b="0" i="0" dirty="0">
                <a:solidFill>
                  <a:srgbClr val="1F2A37"/>
                </a:solidFill>
                <a:latin typeface="Consolas"/>
              </a:rPr>
              <a:t>((</a:t>
            </a:r>
            <a:r>
              <a:rPr sz="882" b="0" i="0" dirty="0" err="1">
                <a:solidFill>
                  <a:srgbClr val="1F2A37"/>
                </a:solidFill>
                <a:latin typeface="Consolas"/>
              </a:rPr>
              <a:t>n_episodes</a:t>
            </a:r>
            <a:r>
              <a:rPr sz="882" b="0" i="0" dirty="0">
                <a:solidFill>
                  <a:srgbClr val="1F2A37"/>
                </a:solidFill>
                <a:latin typeface="Consolas"/>
              </a:rPr>
              <a:t>, </a:t>
            </a:r>
            <a:r>
              <a:rPr sz="882" b="0" i="0" dirty="0" err="1">
                <a:solidFill>
                  <a:srgbClr val="1F2A37"/>
                </a:solidFill>
                <a:latin typeface="Consolas"/>
              </a:rPr>
              <a:t>env.observation_space</a:t>
            </a:r>
            <a:r>
              <a:rPr sz="882" b="0" i="0" dirty="0">
                <a:solidFill>
                  <a:srgbClr val="1F2A37"/>
                </a:solidFill>
                <a:latin typeface="Consolas"/>
              </a:rPr>
              <a:t>))</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for e in range(</a:t>
            </a:r>
            <a:r>
              <a:rPr sz="882" b="0" i="0" dirty="0" err="1">
                <a:solidFill>
                  <a:srgbClr val="1F2A37"/>
                </a:solidFill>
                <a:latin typeface="Consolas"/>
              </a:rPr>
              <a:t>n_episodes</a:t>
            </a:r>
            <a:r>
              <a:rPr sz="882" b="0" i="0" dirty="0">
                <a:solidFill>
                  <a:srgbClr val="1F2A37"/>
                </a:solidFill>
                <a:latin typeface="Consolas"/>
              </a:rPr>
              <a:t>):</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state = </a:t>
            </a:r>
            <a:r>
              <a:rPr sz="882" b="0" i="0" dirty="0" err="1">
                <a:solidFill>
                  <a:srgbClr val="1F2A37"/>
                </a:solidFill>
                <a:latin typeface="Consolas"/>
              </a:rPr>
              <a:t>env.reset</a:t>
            </a:r>
            <a:r>
              <a:rPr sz="882" b="0" i="0" dirty="0">
                <a:solidFill>
                  <a:srgbClr val="1F2A37"/>
                </a:solidFill>
                <a:latin typeface="Consolas"/>
              </a:rPr>
              <a:t>()</a:t>
            </a:r>
          </a:p>
          <a:p>
            <a:pPr marL="0" indent="0" algn="l">
              <a:lnSpc>
                <a:spcPts val="1147"/>
              </a:lnSpc>
              <a:spcBef>
                <a:spcPts val="0"/>
              </a:spcBef>
              <a:spcAft>
                <a:spcPts val="0"/>
              </a:spcAft>
              <a:buNone/>
            </a:pPr>
            <a:r>
              <a:rPr sz="882" b="0" i="0" dirty="0">
                <a:solidFill>
                  <a:srgbClr val="1F2A37"/>
                </a:solidFill>
                <a:latin typeface="Consolas"/>
              </a:rPr>
              <a:t>        done = False</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a:t>
            </a:r>
            <a:r>
              <a:rPr sz="882" b="0" i="1" dirty="0">
                <a:solidFill>
                  <a:srgbClr val="768896"/>
                </a:solidFill>
                <a:latin typeface="Consolas"/>
              </a:rPr>
              <a:t># TD learns after every transition</a:t>
            </a:r>
          </a:p>
          <a:p>
            <a:pPr marL="0" indent="0" algn="l">
              <a:lnSpc>
                <a:spcPts val="1147"/>
              </a:lnSpc>
              <a:spcBef>
                <a:spcPts val="0"/>
              </a:spcBef>
              <a:spcAft>
                <a:spcPts val="0"/>
              </a:spcAft>
              <a:buNone/>
            </a:pPr>
            <a:r>
              <a:rPr sz="882" b="0" i="0" dirty="0">
                <a:solidFill>
                  <a:srgbClr val="1F2A37"/>
                </a:solidFill>
                <a:latin typeface="Consolas"/>
              </a:rPr>
              <a:t>        while not done:</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action = pi(state)</a:t>
            </a:r>
          </a:p>
          <a:p>
            <a:pPr marL="0" indent="0" algn="l">
              <a:lnSpc>
                <a:spcPts val="1147"/>
              </a:lnSpc>
              <a:spcBef>
                <a:spcPts val="0"/>
              </a:spcBef>
              <a:spcAft>
                <a:spcPts val="0"/>
              </a:spcAft>
              <a:buNone/>
            </a:pPr>
            <a:r>
              <a:rPr sz="882" b="0" i="0" dirty="0">
                <a:solidFill>
                  <a:srgbClr val="1F2A37"/>
                </a:solidFill>
                <a:latin typeface="Consolas"/>
              </a:rPr>
              <a:t>            </a:t>
            </a:r>
            <a:r>
              <a:rPr sz="882" b="0" i="0" dirty="0" err="1">
                <a:solidFill>
                  <a:srgbClr val="1F2A37"/>
                </a:solidFill>
                <a:latin typeface="Consolas"/>
              </a:rPr>
              <a:t>next_state</a:t>
            </a:r>
            <a:r>
              <a:rPr sz="882" b="0" i="0" dirty="0">
                <a:solidFill>
                  <a:srgbClr val="1F2A37"/>
                </a:solidFill>
                <a:latin typeface="Consolas"/>
              </a:rPr>
              <a:t>, reward, terminated, truncated, info = </a:t>
            </a:r>
            <a:r>
              <a:rPr sz="882" b="0" i="0" dirty="0" err="1">
                <a:solidFill>
                  <a:srgbClr val="1F2A37"/>
                </a:solidFill>
                <a:latin typeface="Consolas"/>
              </a:rPr>
              <a:t>env.step</a:t>
            </a:r>
            <a:r>
              <a:rPr sz="882" b="0" i="0" dirty="0">
                <a:solidFill>
                  <a:srgbClr val="1F2A37"/>
                </a:solidFill>
                <a:latin typeface="Consolas"/>
              </a:rPr>
              <a:t>(action)</a:t>
            </a:r>
          </a:p>
          <a:p>
            <a:pPr marL="0" indent="0" algn="l">
              <a:lnSpc>
                <a:spcPts val="1147"/>
              </a:lnSpc>
              <a:spcBef>
                <a:spcPts val="0"/>
              </a:spcBef>
              <a:spcAft>
                <a:spcPts val="0"/>
              </a:spcAft>
              <a:buNone/>
            </a:pPr>
            <a:r>
              <a:rPr sz="882" b="0" i="0" dirty="0">
                <a:solidFill>
                  <a:srgbClr val="1F2A37"/>
                </a:solidFill>
                <a:latin typeface="Consolas"/>
              </a:rPr>
              <a:t>            done = terminated or truncated</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1" i="0" dirty="0">
                <a:solidFill>
                  <a:srgbClr val="574676"/>
                </a:solidFill>
                <a:latin typeface="Consolas"/>
              </a:rPr>
              <a:t>            </a:t>
            </a:r>
            <a:r>
              <a:rPr sz="882" b="0" i="1" dirty="0">
                <a:solidFill>
                  <a:srgbClr val="768896"/>
                </a:solidFill>
                <a:latin typeface="Consolas"/>
              </a:rPr>
              <a:t># one reward, then bootstrap; no bootstrap if terminal</a:t>
            </a:r>
          </a:p>
          <a:p>
            <a:pPr marL="0" indent="0" algn="l">
              <a:lnSpc>
                <a:spcPts val="1147"/>
              </a:lnSpc>
              <a:spcBef>
                <a:spcPts val="0"/>
              </a:spcBef>
              <a:spcAft>
                <a:spcPts val="0"/>
              </a:spcAft>
              <a:buNone/>
            </a:pPr>
            <a:r>
              <a:rPr sz="882" b="1" i="0" dirty="0">
                <a:solidFill>
                  <a:srgbClr val="574676"/>
                </a:solidFill>
                <a:latin typeface="Consolas"/>
              </a:rPr>
              <a:t>            </a:t>
            </a:r>
            <a:r>
              <a:rPr sz="882" b="1" i="0" dirty="0" err="1">
                <a:solidFill>
                  <a:srgbClr val="574676"/>
                </a:solidFill>
                <a:latin typeface="Consolas"/>
              </a:rPr>
              <a:t>td_target</a:t>
            </a:r>
            <a:r>
              <a:rPr sz="882" b="1" i="0" dirty="0">
                <a:solidFill>
                  <a:srgbClr val="574676"/>
                </a:solidFill>
                <a:latin typeface="Consolas"/>
              </a:rPr>
              <a:t> = reward + gamma * v[</a:t>
            </a:r>
            <a:r>
              <a:rPr sz="882" b="1" i="0" dirty="0" err="1">
                <a:solidFill>
                  <a:srgbClr val="574676"/>
                </a:solidFill>
                <a:latin typeface="Consolas"/>
              </a:rPr>
              <a:t>next_state</a:t>
            </a:r>
            <a:r>
              <a:rPr sz="882" b="1" i="0" dirty="0">
                <a:solidFill>
                  <a:srgbClr val="574676"/>
                </a:solidFill>
                <a:latin typeface="Consolas"/>
              </a:rPr>
              <a:t>] * (not done)</a:t>
            </a:r>
          </a:p>
          <a:p>
            <a:pPr marL="0" indent="0" algn="l">
              <a:lnSpc>
                <a:spcPts val="1147"/>
              </a:lnSpc>
              <a:spcBef>
                <a:spcPts val="0"/>
              </a:spcBef>
              <a:spcAft>
                <a:spcPts val="0"/>
              </a:spcAft>
              <a:buNone/>
            </a:pPr>
            <a:r>
              <a:rPr sz="882" b="0" i="0" dirty="0">
                <a:solidFill>
                  <a:srgbClr val="1F2A37"/>
                </a:solidFill>
                <a:latin typeface="Consolas"/>
              </a:rPr>
              <a:t>            </a:t>
            </a:r>
            <a:r>
              <a:rPr sz="882" b="0" i="0" dirty="0" err="1">
                <a:solidFill>
                  <a:srgbClr val="1F2A37"/>
                </a:solidFill>
                <a:latin typeface="Consolas"/>
              </a:rPr>
              <a:t>td_error</a:t>
            </a:r>
            <a:r>
              <a:rPr sz="882" b="0" i="0" dirty="0">
                <a:solidFill>
                  <a:srgbClr val="1F2A37"/>
                </a:solidFill>
                <a:latin typeface="Consolas"/>
              </a:rPr>
              <a:t>  = </a:t>
            </a:r>
            <a:r>
              <a:rPr sz="882" b="0" i="0" dirty="0" err="1">
                <a:solidFill>
                  <a:srgbClr val="1F2A37"/>
                </a:solidFill>
                <a:latin typeface="Consolas"/>
              </a:rPr>
              <a:t>td_target</a:t>
            </a:r>
            <a:r>
              <a:rPr sz="882" b="0" i="0" dirty="0">
                <a:solidFill>
                  <a:srgbClr val="1F2A37"/>
                </a:solidFill>
                <a:latin typeface="Consolas"/>
              </a:rPr>
              <a:t> - v[state]</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v[state] = v[state] + alpha * </a:t>
            </a:r>
            <a:r>
              <a:rPr sz="882" b="0" i="0" dirty="0" err="1">
                <a:solidFill>
                  <a:srgbClr val="1F2A37"/>
                </a:solidFill>
                <a:latin typeface="Consolas"/>
              </a:rPr>
              <a:t>td_error</a:t>
            </a:r>
            <a:endParaRPr sz="882" b="0" i="0" dirty="0">
              <a:solidFill>
                <a:srgbClr val="1F2A37"/>
              </a:solidFill>
              <a:latin typeface="Consolas"/>
            </a:endParaRP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state = </a:t>
            </a:r>
            <a:r>
              <a:rPr sz="882" b="0" i="0" dirty="0" err="1">
                <a:solidFill>
                  <a:srgbClr val="1F2A37"/>
                </a:solidFill>
                <a:latin typeface="Consolas"/>
              </a:rPr>
              <a:t>next_state</a:t>
            </a:r>
            <a:endParaRPr sz="882" b="0" i="0" dirty="0">
              <a:solidFill>
                <a:srgbClr val="1F2A37"/>
              </a:solidFill>
              <a:latin typeface="Consolas"/>
            </a:endParaRP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a:t>
            </a:r>
            <a:r>
              <a:rPr sz="882" b="0" i="0" dirty="0" err="1">
                <a:solidFill>
                  <a:srgbClr val="1F2A37"/>
                </a:solidFill>
                <a:latin typeface="Consolas"/>
              </a:rPr>
              <a:t>v_track</a:t>
            </a:r>
            <a:r>
              <a:rPr sz="882" b="0" i="0" dirty="0">
                <a:solidFill>
                  <a:srgbClr val="1F2A37"/>
                </a:solidFill>
                <a:latin typeface="Consolas"/>
              </a:rPr>
              <a:t>[e] = v</a:t>
            </a:r>
          </a:p>
          <a:p>
            <a:pPr marL="0" indent="0" algn="l">
              <a:lnSpc>
                <a:spcPts val="1147"/>
              </a:lnSpc>
              <a:spcBef>
                <a:spcPts val="0"/>
              </a:spcBef>
              <a:spcAft>
                <a:spcPts val="0"/>
              </a:spcAft>
              <a:buNone/>
            </a:pPr>
            <a:r>
              <a:rPr sz="882" b="0" i="0" dirty="0">
                <a:solidFill>
                  <a:srgbClr val="333639"/>
                </a:solidFill>
                <a:latin typeface="Consolas"/>
              </a:rPr>
              <a:t> </a:t>
            </a:r>
          </a:p>
          <a:p>
            <a:pPr marL="0" indent="0" algn="l">
              <a:lnSpc>
                <a:spcPts val="1147"/>
              </a:lnSpc>
              <a:spcBef>
                <a:spcPts val="0"/>
              </a:spcBef>
              <a:spcAft>
                <a:spcPts val="0"/>
              </a:spcAft>
              <a:buNone/>
            </a:pPr>
            <a:r>
              <a:rPr sz="882" b="0" i="0" dirty="0">
                <a:solidFill>
                  <a:srgbClr val="1F2A37"/>
                </a:solidFill>
                <a:latin typeface="Consolas"/>
              </a:rPr>
              <a:t>    return </a:t>
            </a:r>
            <a:r>
              <a:rPr sz="882" b="0" i="0" dirty="0" err="1">
                <a:solidFill>
                  <a:srgbClr val="1F2A37"/>
                </a:solidFill>
                <a:latin typeface="Consolas"/>
              </a:rPr>
              <a:t>v.copy</a:t>
            </a:r>
            <a:r>
              <a:rPr sz="882" b="0" i="0" dirty="0">
                <a:solidFill>
                  <a:srgbClr val="1F2A37"/>
                </a:solidFill>
                <a:latin typeface="Consolas"/>
              </a:rPr>
              <a:t>(), </a:t>
            </a:r>
            <a:r>
              <a:rPr sz="882" b="0" i="0" dirty="0" err="1">
                <a:solidFill>
                  <a:srgbClr val="1F2A37"/>
                </a:solidFill>
                <a:latin typeface="Consolas"/>
              </a:rPr>
              <a:t>v_track</a:t>
            </a:r>
            <a:endParaRPr sz="882" b="0" i="0" dirty="0">
              <a:solidFill>
                <a:srgbClr val="1F2A37"/>
              </a:solidFill>
              <a:latin typeface="Consolas"/>
            </a:endParaRPr>
          </a:p>
        </p:txBody>
      </p:sp>
      <p:sp>
        <p:nvSpPr>
          <p:cNvPr id="12" name="TextBox 11"/>
          <p:cNvSpPr txBox="1"/>
          <p:nvPr/>
        </p:nvSpPr>
        <p:spPr>
          <a:xfrm>
            <a:off x="8302752" y="1316736"/>
            <a:ext cx="304796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COMPARE WITH THE MC IMPLEMENTATION</a:t>
            </a:r>
          </a:p>
        </p:txBody>
      </p:sp>
      <p:sp>
        <p:nvSpPr>
          <p:cNvPr id="13" name="TextBox 12"/>
          <p:cNvSpPr txBox="1"/>
          <p:nvPr/>
        </p:nvSpPr>
        <p:spPr>
          <a:xfrm>
            <a:off x="8302752" y="1572768"/>
            <a:ext cx="3047969" cy="1412646"/>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No </a:t>
            </a:r>
            <a:r>
              <a:rPr sz="950" b="0" i="0">
                <a:solidFill>
                  <a:srgbClr val="25282A"/>
                </a:solidFill>
                <a:latin typeface="Consolas"/>
              </a:rPr>
              <a:t>generate_trajectory</a:t>
            </a:r>
            <a:r>
              <a:rPr sz="1045" b="0" i="0">
                <a:solidFill>
                  <a:srgbClr val="333639"/>
                </a:solidFill>
                <a:latin typeface="Fira Sans"/>
              </a:rPr>
              <a:t> and no </a:t>
            </a:r>
            <a:r>
              <a:rPr sz="950" b="0" i="0">
                <a:solidFill>
                  <a:srgbClr val="25282A"/>
                </a:solidFill>
                <a:latin typeface="Consolas"/>
              </a:rPr>
              <a:t>compute_returns</a:t>
            </a:r>
            <a:r>
              <a:rPr sz="1045" b="0" i="0">
                <a:solidFill>
                  <a:srgbClr val="333639"/>
                </a:solidFill>
                <a:latin typeface="Fira Sans"/>
              </a:rPr>
              <a:t>: there is nothing to store and nothing to post-process.</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A single experience tuple is enough to perform an update.</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The </a:t>
            </a:r>
            <a:r>
              <a:rPr sz="950" b="0" i="0">
                <a:solidFill>
                  <a:srgbClr val="25282A"/>
                </a:solidFill>
                <a:latin typeface="Consolas"/>
              </a:rPr>
              <a:t>(not done)</a:t>
            </a:r>
            <a:r>
              <a:rPr sz="1045" b="0" i="0">
                <a:solidFill>
                  <a:srgbClr val="333639"/>
                </a:solidFill>
                <a:latin typeface="Fira Sans"/>
              </a:rPr>
              <a:t> factor is the one subtlety: a terminal state has no future, so nothing is bootstrapped from it.</a:t>
            </a:r>
          </a:p>
        </p:txBody>
      </p:sp>
      <p:sp>
        <p:nvSpPr>
          <p:cNvPr id="14" name="Rectangle 13"/>
          <p:cNvSpPr/>
          <p:nvPr/>
        </p:nvSpPr>
        <p:spPr>
          <a:xfrm>
            <a:off x="8302752" y="3204870"/>
            <a:ext cx="3047969"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302752" y="3204870"/>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522208" y="3351174"/>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A CONSEQUENCE WORTH NOTING</a:t>
            </a:r>
          </a:p>
        </p:txBody>
      </p:sp>
      <p:sp>
        <p:nvSpPr>
          <p:cNvPr id="17" name="TextBox 16"/>
          <p:cNvSpPr txBox="1"/>
          <p:nvPr/>
        </p:nvSpPr>
        <p:spPr>
          <a:xfrm>
            <a:off x="8522208" y="3588918"/>
            <a:ext cx="2663921"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This is also why TD applies to </a:t>
            </a:r>
            <a:r>
              <a:rPr sz="1045" b="1" i="0" dirty="0">
                <a:solidFill>
                  <a:srgbClr val="333639"/>
                </a:solidFill>
                <a:latin typeface="Fira Sans"/>
              </a:rPr>
              <a:t>continuing tasks</a:t>
            </a:r>
            <a:r>
              <a:rPr sz="1045" b="0" i="0" dirty="0">
                <a:solidFill>
                  <a:srgbClr val="333639"/>
                </a:solidFill>
                <a:latin typeface="Fira Sans"/>
              </a:rPr>
              <a:t> that never terminate, where Monte Carlo simply cannot be used</a:t>
            </a:r>
            <a:r>
              <a:rPr lang="it-IT" sz="1045" b="0" i="0" dirty="0">
                <a:solidFill>
                  <a:srgbClr val="333639"/>
                </a:solidFill>
                <a:latin typeface="Fira Sans"/>
              </a:rPr>
              <a:t>: </a:t>
            </a:r>
            <a:r>
              <a:rPr sz="1045" b="0" i="0" dirty="0">
                <a:solidFill>
                  <a:srgbClr val="333639"/>
                </a:solidFill>
                <a:latin typeface="Fira Sans"/>
              </a:rPr>
              <a:t>there is no final outcome to wait for.</a:t>
            </a:r>
          </a:p>
        </p:txBody>
      </p:sp>
      <p:sp>
        <p:nvSpPr>
          <p:cNvPr id="18" name="Rectangle 17"/>
          <p:cNvSpPr/>
          <p:nvPr/>
        </p:nvSpPr>
        <p:spPr>
          <a:xfrm>
            <a:off x="8302752" y="4573422"/>
            <a:ext cx="3047969" cy="129006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302752" y="4573422"/>
            <a:ext cx="41148" cy="129006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522208" y="4719726"/>
            <a:ext cx="27553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A CONTROLLED COMPARISON</a:t>
            </a:r>
          </a:p>
        </p:txBody>
      </p:sp>
      <p:sp>
        <p:nvSpPr>
          <p:cNvPr id="21" name="TextBox 20"/>
          <p:cNvSpPr txBox="1"/>
          <p:nvPr/>
        </p:nvSpPr>
        <p:spPr>
          <a:xfrm>
            <a:off x="8522208" y="4957470"/>
            <a:ext cx="2663921" cy="75971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Everything else</a:t>
            </a:r>
            <a:r>
              <a:rPr lang="it-IT" sz="997" b="0" i="0" dirty="0">
                <a:solidFill>
                  <a:srgbClr val="333639"/>
                </a:solidFill>
                <a:latin typeface="Fira Sans"/>
              </a:rPr>
              <a:t> (</a:t>
            </a:r>
            <a:r>
              <a:rPr sz="997" b="0" i="0" dirty="0">
                <a:solidFill>
                  <a:srgbClr val="333639"/>
                </a:solidFill>
                <a:latin typeface="Fira Sans"/>
              </a:rPr>
              <a:t>the environment, the policy, the step size, the instrumentation</a:t>
            </a:r>
            <a:r>
              <a:rPr lang="it-IT" sz="997" b="0" i="0" dirty="0">
                <a:solidFill>
                  <a:srgbClr val="333639"/>
                </a:solidFill>
                <a:latin typeface="Fira Sans"/>
              </a:rPr>
              <a:t>)</a:t>
            </a:r>
            <a:r>
              <a:rPr sz="997" b="0" i="0" dirty="0">
                <a:solidFill>
                  <a:srgbClr val="333639"/>
                </a:solidFill>
                <a:latin typeface="Fira Sans"/>
              </a:rPr>
              <a:t> is identical to the MC version. The comparison that follows is therefore a comparison of targets, nothing else.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TD(0) ON THE RANDOM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Smoother than Monte Carlo, and systematically wrong at first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III — Temporal-difference learning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Same environment, same 500 episodes, same α. With a target that contains much less sampled randomness, the estimates </a:t>
            </a:r>
            <a:r>
              <a:rPr sz="1235" b="1" i="0">
                <a:solidFill>
                  <a:srgbClr val="2B7A3E"/>
                </a:solidFill>
                <a:latin typeface="Fira Sans"/>
              </a:rPr>
              <a:t>fluctuate far less</a:t>
            </a:r>
            <a:r>
              <a:rPr sz="1235" b="0" i="0">
                <a:solidFill>
                  <a:srgbClr val="333639"/>
                </a:solidFill>
                <a:latin typeface="Fira Sans"/>
              </a:rPr>
              <a:t> — but early in learning they are </a:t>
            </a:r>
            <a:r>
              <a:rPr sz="1235" b="1" i="0">
                <a:solidFill>
                  <a:srgbClr val="C8102E"/>
                </a:solidFill>
                <a:latin typeface="Fira Sans"/>
              </a:rPr>
              <a:t>systematically off</a:t>
            </a:r>
            <a:r>
              <a:rPr sz="1235" b="0" i="0">
                <a:solidFill>
                  <a:srgbClr val="333639"/>
                </a:solidFill>
                <a:latin typeface="Fira Sans"/>
              </a:rPr>
              <a:t>, because TD is bootstrapping from values that are themselves still inaccurate.</a:t>
            </a:r>
          </a:p>
        </p:txBody>
      </p:sp>
      <p:pic>
        <p:nvPicPr>
          <p:cNvPr id="9" name="Picture 8" descr="td_track.png"/>
          <p:cNvPicPr>
            <a:picLocks noChangeAspect="1"/>
          </p:cNvPicPr>
          <p:nvPr/>
        </p:nvPicPr>
        <p:blipFill>
          <a:blip r:embed="rId2"/>
          <a:stretch>
            <a:fillRect/>
          </a:stretch>
        </p:blipFill>
        <p:spPr>
          <a:xfrm>
            <a:off x="763307" y="2120806"/>
            <a:ext cx="6601963" cy="3224215"/>
          </a:xfrm>
          <a:prstGeom prst="rect">
            <a:avLst/>
          </a:prstGeom>
        </p:spPr>
      </p:pic>
      <p:sp>
        <p:nvSpPr>
          <p:cNvPr id="10" name="TextBox 9"/>
          <p:cNvSpPr txBox="1"/>
          <p:nvPr/>
        </p:nvSpPr>
        <p:spPr>
          <a:xfrm>
            <a:off x="841248" y="5399672"/>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TD(0) estimates over 500 episodes. Compare the thickness of these traces with </a:t>
            </a:r>
            <a:r>
              <a:rPr lang="it-IT" sz="950" i="1" dirty="0">
                <a:solidFill>
                  <a:srgbClr val="626669"/>
                </a:solidFill>
                <a:latin typeface="Fira Sans"/>
              </a:rPr>
              <a:t>MC</a:t>
            </a:r>
            <a:endParaRPr sz="950" b="0" i="1" dirty="0">
              <a:solidFill>
                <a:srgbClr val="626669"/>
              </a:solidFill>
              <a:latin typeface="Fira Sans"/>
            </a:endParaRPr>
          </a:p>
        </p:txBody>
      </p:sp>
      <p:sp>
        <p:nvSpPr>
          <p:cNvPr id="11" name="Rectangle 10"/>
          <p:cNvSpPr/>
          <p:nvPr/>
        </p:nvSpPr>
        <p:spPr>
          <a:xfrm>
            <a:off x="841248" y="5645903"/>
            <a:ext cx="6543446" cy="62544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645903"/>
            <a:ext cx="41148" cy="62544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792207"/>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the </a:t>
            </a:r>
            <a:r>
              <a:rPr sz="1092" b="1" i="0">
                <a:solidFill>
                  <a:srgbClr val="333639"/>
                </a:solidFill>
                <a:latin typeface="Fira Sans"/>
              </a:rPr>
              <a:t>bias–variance trade-off</a:t>
            </a:r>
            <a:r>
              <a:rPr sz="1092" b="0" i="0">
                <a:solidFill>
                  <a:srgbClr val="333639"/>
                </a:solidFill>
                <a:latin typeface="Fira Sans"/>
              </a:rPr>
              <a:t> between the two methods, visible directly in the traces: MC wobbles around the right answer, TD approaches it smoothly from the wrong side.</a:t>
            </a:r>
          </a:p>
        </p:txBody>
      </p:sp>
      <p:sp>
        <p:nvSpPr>
          <p:cNvPr id="14" name="Rectangle 13"/>
          <p:cNvSpPr/>
          <p:nvPr/>
        </p:nvSpPr>
        <p:spPr>
          <a:xfrm>
            <a:off x="7618780" y="1335024"/>
            <a:ext cx="3731940" cy="25192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10220" y="1385316"/>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16" name="TextBox 15"/>
          <p:cNvSpPr txBox="1"/>
          <p:nvPr/>
        </p:nvSpPr>
        <p:spPr>
          <a:xfrm>
            <a:off x="8605886"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TD estimate</a:t>
            </a:r>
          </a:p>
        </p:txBody>
      </p:sp>
      <p:sp>
        <p:nvSpPr>
          <p:cNvPr id="17" name="TextBox 16"/>
          <p:cNvSpPr txBox="1"/>
          <p:nvPr/>
        </p:nvSpPr>
        <p:spPr>
          <a:xfrm>
            <a:off x="10024024"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True value</a:t>
            </a:r>
          </a:p>
        </p:txBody>
      </p:sp>
      <p:sp>
        <p:nvSpPr>
          <p:cNvPr id="18" name="TextBox 17"/>
          <p:cNvSpPr txBox="1"/>
          <p:nvPr/>
        </p:nvSpPr>
        <p:spPr>
          <a:xfrm>
            <a:off x="7710220" y="1637243"/>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1</a:t>
            </a:r>
          </a:p>
        </p:txBody>
      </p:sp>
      <p:sp>
        <p:nvSpPr>
          <p:cNvPr id="19" name="TextBox 18"/>
          <p:cNvSpPr txBox="1"/>
          <p:nvPr/>
        </p:nvSpPr>
        <p:spPr>
          <a:xfrm>
            <a:off x="8605886"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002677"/>
                </a:solidFill>
                <a:latin typeface="Fira Sans"/>
              </a:rPr>
              <a:t>0.137</a:t>
            </a:r>
          </a:p>
        </p:txBody>
      </p:sp>
      <p:sp>
        <p:nvSpPr>
          <p:cNvPr id="20" name="TextBox 19"/>
          <p:cNvSpPr txBox="1"/>
          <p:nvPr/>
        </p:nvSpPr>
        <p:spPr>
          <a:xfrm>
            <a:off x="10024024"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0.167</a:t>
            </a:r>
          </a:p>
        </p:txBody>
      </p:sp>
      <p:sp>
        <p:nvSpPr>
          <p:cNvPr id="21" name="Rectangle 20"/>
          <p:cNvSpPr/>
          <p:nvPr/>
        </p:nvSpPr>
        <p:spPr>
          <a:xfrm>
            <a:off x="7618780" y="184907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1854565"/>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1904857"/>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2</a:t>
            </a:r>
          </a:p>
        </p:txBody>
      </p:sp>
      <p:sp>
        <p:nvSpPr>
          <p:cNvPr id="24" name="TextBox 23"/>
          <p:cNvSpPr txBox="1"/>
          <p:nvPr/>
        </p:nvSpPr>
        <p:spPr>
          <a:xfrm>
            <a:off x="8605886"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002677"/>
                </a:solidFill>
                <a:latin typeface="Fira Sans"/>
              </a:rPr>
              <a:t>0.288</a:t>
            </a:r>
          </a:p>
        </p:txBody>
      </p:sp>
      <p:sp>
        <p:nvSpPr>
          <p:cNvPr id="25" name="TextBox 24"/>
          <p:cNvSpPr txBox="1"/>
          <p:nvPr/>
        </p:nvSpPr>
        <p:spPr>
          <a:xfrm>
            <a:off x="10024024"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0.333</a:t>
            </a:r>
          </a:p>
        </p:txBody>
      </p:sp>
      <p:sp>
        <p:nvSpPr>
          <p:cNvPr id="26" name="Rectangle 25"/>
          <p:cNvSpPr/>
          <p:nvPr/>
        </p:nvSpPr>
        <p:spPr>
          <a:xfrm>
            <a:off x="7618780" y="211669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10220" y="2172472"/>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3</a:t>
            </a:r>
          </a:p>
        </p:txBody>
      </p:sp>
      <p:sp>
        <p:nvSpPr>
          <p:cNvPr id="28" name="TextBox 27"/>
          <p:cNvSpPr txBox="1"/>
          <p:nvPr/>
        </p:nvSpPr>
        <p:spPr>
          <a:xfrm>
            <a:off x="8605886"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002677"/>
                </a:solidFill>
                <a:latin typeface="Fira Sans"/>
              </a:rPr>
              <a:t>0.478</a:t>
            </a:r>
          </a:p>
        </p:txBody>
      </p:sp>
      <p:sp>
        <p:nvSpPr>
          <p:cNvPr id="29" name="TextBox 28"/>
          <p:cNvSpPr txBox="1"/>
          <p:nvPr/>
        </p:nvSpPr>
        <p:spPr>
          <a:xfrm>
            <a:off x="10024024"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0.500</a:t>
            </a:r>
          </a:p>
        </p:txBody>
      </p:sp>
      <p:sp>
        <p:nvSpPr>
          <p:cNvPr id="30" name="Rectangle 29"/>
          <p:cNvSpPr/>
          <p:nvPr/>
        </p:nvSpPr>
        <p:spPr>
          <a:xfrm>
            <a:off x="7618780" y="238430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2389794"/>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710220" y="2440086"/>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4</a:t>
            </a:r>
          </a:p>
        </p:txBody>
      </p:sp>
      <p:sp>
        <p:nvSpPr>
          <p:cNvPr id="33" name="TextBox 32"/>
          <p:cNvSpPr txBox="1"/>
          <p:nvPr/>
        </p:nvSpPr>
        <p:spPr>
          <a:xfrm>
            <a:off x="8605886"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002677"/>
                </a:solidFill>
                <a:latin typeface="Fira Sans"/>
              </a:rPr>
              <a:t>0.637</a:t>
            </a:r>
          </a:p>
        </p:txBody>
      </p:sp>
      <p:sp>
        <p:nvSpPr>
          <p:cNvPr id="34" name="TextBox 33"/>
          <p:cNvSpPr txBox="1"/>
          <p:nvPr/>
        </p:nvSpPr>
        <p:spPr>
          <a:xfrm>
            <a:off x="10024024"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0.667</a:t>
            </a:r>
          </a:p>
        </p:txBody>
      </p:sp>
      <p:sp>
        <p:nvSpPr>
          <p:cNvPr id="35" name="Rectangle 34"/>
          <p:cNvSpPr/>
          <p:nvPr/>
        </p:nvSpPr>
        <p:spPr>
          <a:xfrm>
            <a:off x="7618780" y="265192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710220" y="2707700"/>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5</a:t>
            </a:r>
          </a:p>
        </p:txBody>
      </p:sp>
      <p:sp>
        <p:nvSpPr>
          <p:cNvPr id="37" name="TextBox 36"/>
          <p:cNvSpPr txBox="1"/>
          <p:nvPr/>
        </p:nvSpPr>
        <p:spPr>
          <a:xfrm>
            <a:off x="8605886"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002677"/>
                </a:solidFill>
                <a:latin typeface="Fira Sans"/>
              </a:rPr>
              <a:t>0.805</a:t>
            </a:r>
          </a:p>
        </p:txBody>
      </p:sp>
      <p:sp>
        <p:nvSpPr>
          <p:cNvPr id="38" name="TextBox 37"/>
          <p:cNvSpPr txBox="1"/>
          <p:nvPr/>
        </p:nvSpPr>
        <p:spPr>
          <a:xfrm>
            <a:off x="10024024"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0.833</a:t>
            </a:r>
          </a:p>
        </p:txBody>
      </p:sp>
      <p:sp>
        <p:nvSpPr>
          <p:cNvPr id="39" name="Rectangle 38"/>
          <p:cNvSpPr/>
          <p:nvPr/>
        </p:nvSpPr>
        <p:spPr>
          <a:xfrm>
            <a:off x="7618780" y="291953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618780" y="3089615"/>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RMS ERROR OVER 100 RUNS</a:t>
            </a:r>
          </a:p>
        </p:txBody>
      </p:sp>
      <p:pic>
        <p:nvPicPr>
          <p:cNvPr id="41" name="Picture 40" descr="rmse_mc_td.png"/>
          <p:cNvPicPr>
            <a:picLocks noChangeAspect="1"/>
          </p:cNvPicPr>
          <p:nvPr/>
        </p:nvPicPr>
        <p:blipFill>
          <a:blip r:embed="rId3"/>
          <a:stretch>
            <a:fillRect/>
          </a:stretch>
        </p:blipFill>
        <p:spPr>
          <a:xfrm>
            <a:off x="7618780" y="3315942"/>
            <a:ext cx="3922513" cy="1915646"/>
          </a:xfrm>
          <a:prstGeom prst="rect">
            <a:avLst/>
          </a:prstGeom>
        </p:spPr>
      </p:pic>
      <p:sp>
        <p:nvSpPr>
          <p:cNvPr id="43" name="Rectangle 42"/>
          <p:cNvSpPr/>
          <p:nvPr/>
        </p:nvSpPr>
        <p:spPr>
          <a:xfrm>
            <a:off x="7618780" y="5411254"/>
            <a:ext cx="3731940" cy="900379"/>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7618780" y="5411254"/>
            <a:ext cx="41148" cy="90037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838236" y="5557558"/>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MC falls faster at first </a:t>
            </a:r>
            <a:r>
              <a:rPr lang="it-IT" sz="997" dirty="0">
                <a:solidFill>
                  <a:srgbClr val="333639"/>
                </a:solidFill>
                <a:latin typeface="Fira Sans"/>
              </a:rPr>
              <a:t>(</a:t>
            </a:r>
            <a:r>
              <a:rPr sz="997" b="0" i="0" dirty="0">
                <a:solidFill>
                  <a:srgbClr val="333639"/>
                </a:solidFill>
                <a:latin typeface="Fira Sans"/>
              </a:rPr>
              <a:t>from a zero table its target already carries the terminal reward</a:t>
            </a:r>
            <a:r>
              <a:rPr lang="it-IT" sz="997" b="0" i="0" dirty="0">
                <a:solidFill>
                  <a:srgbClr val="333639"/>
                </a:solidFill>
                <a:latin typeface="Fira Sans"/>
              </a:rPr>
              <a:t>)</a:t>
            </a:r>
            <a:r>
              <a:rPr sz="997" b="0" i="0" dirty="0">
                <a:solidFill>
                  <a:srgbClr val="333639"/>
                </a:solidFill>
                <a:latin typeface="Fira Sans"/>
              </a:rPr>
              <a:t>. TD crosses it near episode 90 and settles at about </a:t>
            </a:r>
            <a:r>
              <a:rPr sz="997" b="1" i="0" dirty="0">
                <a:solidFill>
                  <a:srgbClr val="333639"/>
                </a:solidFill>
                <a:latin typeface="Fira Sans"/>
              </a:rPr>
              <a:t>60%</a:t>
            </a:r>
            <a:r>
              <a:rPr sz="997" b="0" i="0" dirty="0">
                <a:solidFill>
                  <a:srgbClr val="333639"/>
                </a:solidFill>
                <a:latin typeface="Fira Sans"/>
              </a:rPr>
              <a:t> of the residual error (0.054 against 0.091).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Between the two extremes</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MC and TD(0) are the endpoints of one family. n-step methods interpolate by choosing when to bootstrap; TD(</a:t>
            </a:r>
            <a:r>
              <a:rPr sz="1282" b="0" i="0" dirty="0" err="1">
                <a:solidFill>
                  <a:srgbClr val="D6D0E0"/>
                </a:solidFill>
                <a:latin typeface="Fira Sans"/>
              </a:rPr>
              <a:t>λ</a:t>
            </a:r>
            <a:r>
              <a:rPr sz="1282" b="0" i="0" dirty="0">
                <a:solidFill>
                  <a:srgbClr val="D6D0E0"/>
                </a:solidFill>
                <a:latin typeface="Fira Sans"/>
              </a:rPr>
              <a:t>) averages over all of them at once and implements it online.</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Is there a single horizon that is right, or should we use all of them?</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n-step targets</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two extremes recovered</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TD(λ): the forward view</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backward view: eligibility traces</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Results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IS THERE ANYTHING IN BETWEEN?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MC and TD(0) are the endpoints of one family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IV — Between the two extremes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Monte Carlo waits until the end of the episode and uses every reward actually experienced. TD(0) waits exactly one step, using one observed reward and then bootstrapping. Nothing forces that choice to be 1 or ∞.</a:t>
            </a:r>
          </a:p>
        </p:txBody>
      </p:sp>
      <p:pic>
        <p:nvPicPr>
          <p:cNvPr id="9" name="Picture 8" descr="in_between.png"/>
          <p:cNvPicPr>
            <a:picLocks noChangeAspect="1"/>
          </p:cNvPicPr>
          <p:nvPr/>
        </p:nvPicPr>
        <p:blipFill>
          <a:blip r:embed="rId2"/>
          <a:stretch>
            <a:fillRect/>
          </a:stretch>
        </p:blipFill>
        <p:spPr>
          <a:xfrm>
            <a:off x="1480354" y="1915783"/>
            <a:ext cx="5265234" cy="2786443"/>
          </a:xfrm>
          <a:prstGeom prst="rect">
            <a:avLst/>
          </a:prstGeom>
        </p:spPr>
      </p:pic>
      <p:sp>
        <p:nvSpPr>
          <p:cNvPr id="10" name="TextBox 9"/>
          <p:cNvSpPr txBox="1"/>
          <p:nvPr/>
        </p:nvSpPr>
        <p:spPr>
          <a:xfrm>
            <a:off x="841248" y="4866506"/>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The two backup diagrams. Waiting two, three or n steps before bootstrapping gives the whole spectrum between them.</a:t>
            </a:r>
          </a:p>
        </p:txBody>
      </p:sp>
      <p:sp>
        <p:nvSpPr>
          <p:cNvPr id="11" name="Rectangle 10"/>
          <p:cNvSpPr/>
          <p:nvPr/>
        </p:nvSpPr>
        <p:spPr>
          <a:xfrm>
            <a:off x="841248" y="5043944"/>
            <a:ext cx="6543446"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043944"/>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190248"/>
            <a:ext cx="6159398"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This family is called </a:t>
            </a:r>
            <a:r>
              <a:rPr sz="1092" b="1" i="0" dirty="0">
                <a:solidFill>
                  <a:srgbClr val="333639"/>
                </a:solidFill>
                <a:latin typeface="Fira Sans"/>
              </a:rPr>
              <a:t>n-step temporal-difference learning</a:t>
            </a:r>
            <a:r>
              <a:rPr sz="1092" b="0" i="0" dirty="0">
                <a:solidFill>
                  <a:srgbClr val="333639"/>
                </a:solidFill>
                <a:latin typeface="Fira Sans"/>
              </a:rPr>
              <a:t>. It lets us control how many real rewards are observed before bootstrapping</a:t>
            </a:r>
            <a:r>
              <a:rPr lang="it-IT" sz="1092" b="0" i="0" dirty="0">
                <a:solidFill>
                  <a:srgbClr val="333639"/>
                </a:solidFill>
                <a:latin typeface="Fira Sans"/>
              </a:rPr>
              <a:t>: </a:t>
            </a:r>
            <a:r>
              <a:rPr sz="1092" b="0" i="0" dirty="0">
                <a:solidFill>
                  <a:srgbClr val="333639"/>
                </a:solidFill>
                <a:latin typeface="Fira Sans"/>
              </a:rPr>
              <a:t>that is, how the bias and the variance are traded off.</a:t>
            </a:r>
          </a:p>
        </p:txBody>
      </p:sp>
      <p:sp>
        <p:nvSpPr>
          <p:cNvPr id="14" name="TextBox 13"/>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N STEPS OF ACTUAL EXPERIENCE</a:t>
            </a:r>
          </a:p>
        </p:txBody>
      </p:sp>
      <p:pic>
        <p:nvPicPr>
          <p:cNvPr id="15" name="Picture 14" descr="eq_nstep_seq.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0220" y="1572768"/>
            <a:ext cx="3085211" cy="248285"/>
          </a:xfrm>
          <a:prstGeom prst="rect">
            <a:avLst/>
          </a:prstGeom>
        </p:spPr>
      </p:pic>
      <p:sp>
        <p:nvSpPr>
          <p:cNvPr id="16" name="TextBox 15"/>
          <p:cNvSpPr txBox="1"/>
          <p:nvPr/>
        </p:nvSpPr>
        <p:spPr>
          <a:xfrm>
            <a:off x="7618780" y="2022220"/>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Starting from Sₜ, interact with the environment for </a:t>
            </a:r>
            <a:r>
              <a:rPr sz="1092" b="1" i="0">
                <a:solidFill>
                  <a:srgbClr val="25282A"/>
                </a:solidFill>
                <a:latin typeface="Fira Sans"/>
              </a:rPr>
              <a:t>up to n steps</a:t>
            </a:r>
            <a:r>
              <a:rPr sz="1092" b="0" i="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If the episode terminates first, simply stop there and use the rewards available up to termination.</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A helper, </a:t>
            </a:r>
            <a:r>
              <a:rPr sz="950" b="0" i="0">
                <a:solidFill>
                  <a:srgbClr val="25282A"/>
                </a:solidFill>
                <a:latin typeface="Consolas"/>
              </a:rPr>
              <a:t>generate_path</a:t>
            </a:r>
            <a:r>
              <a:rPr sz="1092" b="0" i="0">
                <a:solidFill>
                  <a:srgbClr val="333639"/>
                </a:solidFill>
                <a:latin typeface="Fira Sans"/>
              </a:rPr>
              <a:t>, does this: the same loop as before, but bounded by n rather than by termination.</a:t>
            </a:r>
          </a:p>
        </p:txBody>
      </p:sp>
      <p:sp>
        <p:nvSpPr>
          <p:cNvPr id="17" name="Rectangle 16"/>
          <p:cNvSpPr/>
          <p:nvPr/>
        </p:nvSpPr>
        <p:spPr>
          <a:xfrm>
            <a:off x="7618780" y="3440841"/>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3440841"/>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3587145"/>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WHERE THIS IS GOING</a:t>
            </a:r>
          </a:p>
        </p:txBody>
      </p:sp>
      <p:sp>
        <p:nvSpPr>
          <p:cNvPr id="20" name="TextBox 19"/>
          <p:cNvSpPr txBox="1"/>
          <p:nvPr/>
        </p:nvSpPr>
        <p:spPr>
          <a:xfrm>
            <a:off x="7838236" y="3824889"/>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that the MC and TD implementations of Parts II and III are </a:t>
            </a:r>
            <a:r>
              <a:rPr sz="1092" b="1" i="1">
                <a:solidFill>
                  <a:srgbClr val="333639"/>
                </a:solidFill>
                <a:latin typeface="Fira Sans"/>
              </a:rPr>
              <a:t>not</a:t>
            </a:r>
            <a:r>
              <a:rPr sz="1092" b="0" i="0">
                <a:solidFill>
                  <a:srgbClr val="333639"/>
                </a:solidFill>
                <a:latin typeface="Fira Sans"/>
              </a:rPr>
              <a:t> separate ideas to be replaced. They are the two ends of what we are about to write as a single algorithm.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THE N-STEP TARGET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n real rewards, then one bootstrap</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IV — Between the two extremes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Observe n actual rewards and then bootstrap from the value of the state reached after those n steps. Everything beyond that point is summarised by the current estimate.</a:t>
            </a:r>
          </a:p>
        </p:txBody>
      </p:sp>
      <p:pic>
        <p:nvPicPr>
          <p:cNvPr id="9" name="Picture 8" descr="eq_nstep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38993" y="1988322"/>
            <a:ext cx="6713981" cy="642365"/>
          </a:xfrm>
          <a:prstGeom prst="rect">
            <a:avLst/>
          </a:prstGeom>
        </p:spPr>
      </p:pic>
      <p:pic>
        <p:nvPicPr>
          <p:cNvPr id="10" name="Picture 9" descr="eq_nstep_updat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8993" y="2913085"/>
            <a:ext cx="3789045" cy="973709"/>
          </a:xfrm>
          <a:prstGeom prst="rect">
            <a:avLst/>
          </a:prstGeom>
        </p:spPr>
      </p:pic>
      <p:sp>
        <p:nvSpPr>
          <p:cNvPr id="11" name="Rectangle 10"/>
          <p:cNvSpPr/>
          <p:nvPr/>
        </p:nvSpPr>
        <p:spPr>
          <a:xfrm>
            <a:off x="841248" y="406159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24447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BOTH FAMILIAR METHODS ARE SPECIAL CASES</a:t>
            </a:r>
          </a:p>
        </p:txBody>
      </p:sp>
      <p:sp>
        <p:nvSpPr>
          <p:cNvPr id="13" name="Rectangle 12"/>
          <p:cNvSpPr/>
          <p:nvPr/>
        </p:nvSpPr>
        <p:spPr>
          <a:xfrm>
            <a:off x="841248" y="4537085"/>
            <a:ext cx="34747" cy="96926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q_nstep_lo.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2416" y="4573661"/>
            <a:ext cx="4627244" cy="238125"/>
          </a:xfrm>
          <a:prstGeom prst="rect">
            <a:avLst/>
          </a:prstGeom>
        </p:spPr>
      </p:pic>
      <p:sp>
        <p:nvSpPr>
          <p:cNvPr id="15" name="TextBox 14"/>
          <p:cNvSpPr txBox="1"/>
          <p:nvPr/>
        </p:nvSpPr>
        <p:spPr>
          <a:xfrm>
            <a:off x="1042416" y="4921133"/>
            <a:ext cx="4828032" cy="193179"/>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626669"/>
                </a:solidFill>
                <a:latin typeface="Fira Sans"/>
              </a:rPr>
              <a:t>With n = 1, one reward and an immediate bootstrap</a:t>
            </a:r>
            <a:r>
              <a:rPr lang="it-IT" sz="1045" b="0" i="0" dirty="0">
                <a:solidFill>
                  <a:srgbClr val="626669"/>
                </a:solidFill>
                <a:latin typeface="Fira Sans"/>
              </a:rPr>
              <a:t> =&gt; </a:t>
            </a:r>
            <a:r>
              <a:rPr sz="1045" b="0" i="0" dirty="0">
                <a:solidFill>
                  <a:srgbClr val="626669"/>
                </a:solidFill>
                <a:latin typeface="Fira Sans"/>
              </a:rPr>
              <a:t>TD(0).</a:t>
            </a:r>
          </a:p>
        </p:txBody>
      </p:sp>
      <p:sp>
        <p:nvSpPr>
          <p:cNvPr id="16" name="Rectangle 15"/>
          <p:cNvSpPr/>
          <p:nvPr/>
        </p:nvSpPr>
        <p:spPr>
          <a:xfrm>
            <a:off x="6254496" y="4537085"/>
            <a:ext cx="34747" cy="96926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eq_nstep_hi.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55664" y="4573661"/>
            <a:ext cx="4486275" cy="220980"/>
          </a:xfrm>
          <a:prstGeom prst="rect">
            <a:avLst/>
          </a:prstGeom>
        </p:spPr>
      </p:pic>
      <p:sp>
        <p:nvSpPr>
          <p:cNvPr id="18" name="TextBox 17"/>
          <p:cNvSpPr txBox="1"/>
          <p:nvPr/>
        </p:nvSpPr>
        <p:spPr>
          <a:xfrm>
            <a:off x="6455664" y="4921133"/>
            <a:ext cx="4828032"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626669"/>
                </a:solidFill>
                <a:latin typeface="Fira Sans"/>
              </a:rPr>
              <a:t>If the episode ends before the n-</a:t>
            </a:r>
            <a:r>
              <a:rPr sz="1045" b="0" i="0" dirty="0" err="1">
                <a:solidFill>
                  <a:srgbClr val="626669"/>
                </a:solidFill>
                <a:latin typeface="Fira Sans"/>
              </a:rPr>
              <a:t>th</a:t>
            </a:r>
            <a:r>
              <a:rPr sz="1045" b="0" i="0" dirty="0">
                <a:solidFill>
                  <a:srgbClr val="626669"/>
                </a:solidFill>
                <a:latin typeface="Fira Sans"/>
              </a:rPr>
              <a:t> step there is no future to bootstrap from, so the target is the complete return </a:t>
            </a:r>
            <a:r>
              <a:rPr lang="it-IT" sz="1045" b="0" i="0" dirty="0">
                <a:solidFill>
                  <a:srgbClr val="626669"/>
                </a:solidFill>
                <a:latin typeface="Fira Sans"/>
              </a:rPr>
              <a:t>=&gt;</a:t>
            </a:r>
            <a:r>
              <a:rPr sz="1045" b="0" i="0" dirty="0">
                <a:solidFill>
                  <a:srgbClr val="626669"/>
                </a:solidFill>
                <a:latin typeface="Fira Sans"/>
              </a:rPr>
              <a:t> Monte Carlo.</a:t>
            </a:r>
          </a:p>
        </p:txBody>
      </p:sp>
      <p:sp>
        <p:nvSpPr>
          <p:cNvPr id="19" name="Rectangle 18"/>
          <p:cNvSpPr/>
          <p:nvPr/>
        </p:nvSpPr>
        <p:spPr>
          <a:xfrm>
            <a:off x="841248" y="5597789"/>
            <a:ext cx="10515600" cy="64008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5597789"/>
            <a:ext cx="41148" cy="64008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60704" y="5744093"/>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So TD(0) and Monte Carlo are not two different algorithms that happen to be comparable. They are </a:t>
            </a:r>
            <a:r>
              <a:rPr sz="1140" b="1" i="0">
                <a:solidFill>
                  <a:srgbClr val="333639"/>
                </a:solidFill>
                <a:latin typeface="Fira Sans"/>
              </a:rPr>
              <a:t>the two extremes of one family</a:t>
            </a:r>
            <a:r>
              <a:rPr sz="1140" b="0" i="0">
                <a:solidFill>
                  <a:srgbClr val="333639"/>
                </a:solidFill>
                <a:latin typeface="Fira Sans"/>
              </a:rPr>
              <a:t>, and n is the dial between them.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3-STEP TD ON THE RANDOM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n controls how far we rely on real experience before bootstrapping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IV — Between the two extremes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24</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Same environment, same step size, n = 3. The estimates sit between the two previous pictures: steadier than Monte Carlo, less biased early than TD(0).</a:t>
            </a:r>
          </a:p>
        </p:txBody>
      </p:sp>
      <p:pic>
        <p:nvPicPr>
          <p:cNvPr id="9" name="Picture 8" descr="ntd_track.png"/>
          <p:cNvPicPr>
            <a:picLocks noChangeAspect="1"/>
          </p:cNvPicPr>
          <p:nvPr/>
        </p:nvPicPr>
        <p:blipFill>
          <a:blip r:embed="rId2"/>
          <a:stretch>
            <a:fillRect/>
          </a:stretch>
        </p:blipFill>
        <p:spPr>
          <a:xfrm>
            <a:off x="659231" y="1681005"/>
            <a:ext cx="6907480" cy="3373421"/>
          </a:xfrm>
          <a:prstGeom prst="rect">
            <a:avLst/>
          </a:prstGeom>
        </p:spPr>
      </p:pic>
      <p:sp>
        <p:nvSpPr>
          <p:cNvPr id="10" name="TextBox 9"/>
          <p:cNvSpPr txBox="1"/>
          <p:nvPr/>
        </p:nvSpPr>
        <p:spPr>
          <a:xfrm>
            <a:off x="841248" y="4921611"/>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3-step TD estimates over 500 episodes.</a:t>
            </a:r>
          </a:p>
        </p:txBody>
      </p:sp>
      <p:pic>
        <p:nvPicPr>
          <p:cNvPr id="11" name="Picture 10" descr="eq_nstep_tradeoff.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5251444"/>
            <a:ext cx="6543446" cy="165861"/>
          </a:xfrm>
          <a:prstGeom prst="rect">
            <a:avLst/>
          </a:prstGeom>
        </p:spPr>
      </p:pic>
      <p:sp>
        <p:nvSpPr>
          <p:cNvPr id="12" name="Rectangle 11"/>
          <p:cNvSpPr/>
          <p:nvPr/>
        </p:nvSpPr>
        <p:spPr>
          <a:xfrm>
            <a:off x="841248" y="5487847"/>
            <a:ext cx="6543446" cy="79187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487847"/>
            <a:ext cx="41148" cy="79187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634151"/>
            <a:ext cx="6159398"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There is </a:t>
            </a:r>
            <a:r>
              <a:rPr sz="1092" b="1" i="0">
                <a:solidFill>
                  <a:srgbClr val="333639"/>
                </a:solidFill>
                <a:latin typeface="Fira Sans"/>
              </a:rPr>
              <a:t>no universally optimal n</a:t>
            </a:r>
            <a:r>
              <a:rPr sz="1092" b="0" i="0">
                <a:solidFill>
                  <a:srgbClr val="333639"/>
                </a:solidFill>
                <a:latin typeface="Fira Sans"/>
              </a:rPr>
              <a:t>. It depends on the environment, the reward structure, the step size and the problem. Intermediate values often beat both TD(0) and Monte Carlo — which is the classical Random Walk result.</a:t>
            </a:r>
          </a:p>
        </p:txBody>
      </p:sp>
      <p:sp>
        <p:nvSpPr>
          <p:cNvPr id="15" name="Rectangle 14"/>
          <p:cNvSpPr/>
          <p:nvPr/>
        </p:nvSpPr>
        <p:spPr>
          <a:xfrm>
            <a:off x="7618780" y="1335024"/>
            <a:ext cx="3731940" cy="25192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10220" y="1385316"/>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17" name="TextBox 16"/>
          <p:cNvSpPr txBox="1"/>
          <p:nvPr/>
        </p:nvSpPr>
        <p:spPr>
          <a:xfrm>
            <a:off x="8605886"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3-step TD</a:t>
            </a:r>
          </a:p>
        </p:txBody>
      </p:sp>
      <p:sp>
        <p:nvSpPr>
          <p:cNvPr id="18" name="TextBox 17"/>
          <p:cNvSpPr txBox="1"/>
          <p:nvPr/>
        </p:nvSpPr>
        <p:spPr>
          <a:xfrm>
            <a:off x="10024024"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True value</a:t>
            </a:r>
          </a:p>
        </p:txBody>
      </p:sp>
      <p:sp>
        <p:nvSpPr>
          <p:cNvPr id="19" name="TextBox 18"/>
          <p:cNvSpPr txBox="1"/>
          <p:nvPr/>
        </p:nvSpPr>
        <p:spPr>
          <a:xfrm>
            <a:off x="7710220" y="1637243"/>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1</a:t>
            </a:r>
          </a:p>
        </p:txBody>
      </p:sp>
      <p:sp>
        <p:nvSpPr>
          <p:cNvPr id="20" name="TextBox 19"/>
          <p:cNvSpPr txBox="1"/>
          <p:nvPr/>
        </p:nvSpPr>
        <p:spPr>
          <a:xfrm>
            <a:off x="8605886"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2B7A3E"/>
                </a:solidFill>
                <a:latin typeface="Fira Sans"/>
              </a:rPr>
              <a:t>0.111</a:t>
            </a:r>
          </a:p>
        </p:txBody>
      </p:sp>
      <p:sp>
        <p:nvSpPr>
          <p:cNvPr id="21" name="TextBox 20"/>
          <p:cNvSpPr txBox="1"/>
          <p:nvPr/>
        </p:nvSpPr>
        <p:spPr>
          <a:xfrm>
            <a:off x="10024024"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0.167</a:t>
            </a:r>
          </a:p>
        </p:txBody>
      </p:sp>
      <p:sp>
        <p:nvSpPr>
          <p:cNvPr id="22" name="Rectangle 21"/>
          <p:cNvSpPr/>
          <p:nvPr/>
        </p:nvSpPr>
        <p:spPr>
          <a:xfrm>
            <a:off x="7618780" y="184907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1854565"/>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10220" y="1904857"/>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2</a:t>
            </a:r>
          </a:p>
        </p:txBody>
      </p:sp>
      <p:sp>
        <p:nvSpPr>
          <p:cNvPr id="25" name="TextBox 24"/>
          <p:cNvSpPr txBox="1"/>
          <p:nvPr/>
        </p:nvSpPr>
        <p:spPr>
          <a:xfrm>
            <a:off x="8605886"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2B7A3E"/>
                </a:solidFill>
                <a:latin typeface="Fira Sans"/>
              </a:rPr>
              <a:t>0.391</a:t>
            </a:r>
          </a:p>
        </p:txBody>
      </p:sp>
      <p:sp>
        <p:nvSpPr>
          <p:cNvPr id="26" name="TextBox 25"/>
          <p:cNvSpPr txBox="1"/>
          <p:nvPr/>
        </p:nvSpPr>
        <p:spPr>
          <a:xfrm>
            <a:off x="10024024"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0.333</a:t>
            </a:r>
          </a:p>
        </p:txBody>
      </p:sp>
      <p:sp>
        <p:nvSpPr>
          <p:cNvPr id="27" name="Rectangle 26"/>
          <p:cNvSpPr/>
          <p:nvPr/>
        </p:nvSpPr>
        <p:spPr>
          <a:xfrm>
            <a:off x="7618780" y="211669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710220" y="2172472"/>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3</a:t>
            </a:r>
          </a:p>
        </p:txBody>
      </p:sp>
      <p:sp>
        <p:nvSpPr>
          <p:cNvPr id="29" name="TextBox 28"/>
          <p:cNvSpPr txBox="1"/>
          <p:nvPr/>
        </p:nvSpPr>
        <p:spPr>
          <a:xfrm>
            <a:off x="8605886"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2B7A3E"/>
                </a:solidFill>
                <a:latin typeface="Fira Sans"/>
              </a:rPr>
              <a:t>0.546</a:t>
            </a:r>
          </a:p>
        </p:txBody>
      </p:sp>
      <p:sp>
        <p:nvSpPr>
          <p:cNvPr id="30" name="TextBox 29"/>
          <p:cNvSpPr txBox="1"/>
          <p:nvPr/>
        </p:nvSpPr>
        <p:spPr>
          <a:xfrm>
            <a:off x="10024024"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0.500</a:t>
            </a:r>
          </a:p>
        </p:txBody>
      </p:sp>
      <p:sp>
        <p:nvSpPr>
          <p:cNvPr id="31" name="Rectangle 30"/>
          <p:cNvSpPr/>
          <p:nvPr/>
        </p:nvSpPr>
        <p:spPr>
          <a:xfrm>
            <a:off x="7618780" y="238430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618780" y="2389794"/>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710220" y="2440086"/>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4</a:t>
            </a:r>
          </a:p>
        </p:txBody>
      </p:sp>
      <p:sp>
        <p:nvSpPr>
          <p:cNvPr id="34" name="TextBox 33"/>
          <p:cNvSpPr txBox="1"/>
          <p:nvPr/>
        </p:nvSpPr>
        <p:spPr>
          <a:xfrm>
            <a:off x="8605886"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2B7A3E"/>
                </a:solidFill>
                <a:latin typeface="Fira Sans"/>
              </a:rPr>
              <a:t>0.752</a:t>
            </a:r>
          </a:p>
        </p:txBody>
      </p:sp>
      <p:sp>
        <p:nvSpPr>
          <p:cNvPr id="35" name="TextBox 34"/>
          <p:cNvSpPr txBox="1"/>
          <p:nvPr/>
        </p:nvSpPr>
        <p:spPr>
          <a:xfrm>
            <a:off x="10024024"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0.667</a:t>
            </a:r>
          </a:p>
        </p:txBody>
      </p:sp>
      <p:sp>
        <p:nvSpPr>
          <p:cNvPr id="36" name="Rectangle 35"/>
          <p:cNvSpPr/>
          <p:nvPr/>
        </p:nvSpPr>
        <p:spPr>
          <a:xfrm>
            <a:off x="7618780" y="265192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710220" y="2707700"/>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5</a:t>
            </a:r>
          </a:p>
        </p:txBody>
      </p:sp>
      <p:sp>
        <p:nvSpPr>
          <p:cNvPr id="38" name="TextBox 37"/>
          <p:cNvSpPr txBox="1"/>
          <p:nvPr/>
        </p:nvSpPr>
        <p:spPr>
          <a:xfrm>
            <a:off x="8605886"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2B7A3E"/>
                </a:solidFill>
                <a:latin typeface="Fira Sans"/>
              </a:rPr>
              <a:t>0.882</a:t>
            </a:r>
          </a:p>
        </p:txBody>
      </p:sp>
      <p:sp>
        <p:nvSpPr>
          <p:cNvPr id="39" name="TextBox 38"/>
          <p:cNvSpPr txBox="1"/>
          <p:nvPr/>
        </p:nvSpPr>
        <p:spPr>
          <a:xfrm>
            <a:off x="10024024"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0.833</a:t>
            </a:r>
          </a:p>
        </p:txBody>
      </p:sp>
      <p:sp>
        <p:nvSpPr>
          <p:cNvPr id="40" name="Rectangle 39"/>
          <p:cNvSpPr/>
          <p:nvPr/>
        </p:nvSpPr>
        <p:spPr>
          <a:xfrm>
            <a:off x="7618780" y="291953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618780" y="3089615"/>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RMS ERROR OVER 100 RUNS</a:t>
            </a:r>
          </a:p>
        </p:txBody>
      </p:sp>
      <p:pic>
        <p:nvPicPr>
          <p:cNvPr id="42" name="Picture 41" descr="rmse_ntd.png"/>
          <p:cNvPicPr>
            <a:picLocks noChangeAspect="1"/>
          </p:cNvPicPr>
          <p:nvPr/>
        </p:nvPicPr>
        <p:blipFill>
          <a:blip r:embed="rId4"/>
          <a:stretch>
            <a:fillRect/>
          </a:stretch>
        </p:blipFill>
        <p:spPr>
          <a:xfrm>
            <a:off x="7566710" y="3332377"/>
            <a:ext cx="4025829" cy="1966103"/>
          </a:xfrm>
          <a:prstGeom prst="rect">
            <a:avLst/>
          </a:prstGeom>
        </p:spPr>
      </p:pic>
      <p:sp>
        <p:nvSpPr>
          <p:cNvPr id="44" name="Rectangle 43"/>
          <p:cNvSpPr/>
          <p:nvPr/>
        </p:nvSpPr>
        <p:spPr>
          <a:xfrm>
            <a:off x="7618780" y="5371631"/>
            <a:ext cx="3731940" cy="90037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7618780" y="5371631"/>
            <a:ext cx="41148" cy="90037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7838236" y="5517935"/>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3-step TD falls almost as fast as MC early on and settles well below it</a:t>
            </a:r>
            <a:r>
              <a:rPr lang="it-IT" sz="997" b="0" i="0" dirty="0">
                <a:solidFill>
                  <a:srgbClr val="333639"/>
                </a:solidFill>
                <a:latin typeface="Fira Sans"/>
              </a:rPr>
              <a:t>, </a:t>
            </a:r>
            <a:r>
              <a:rPr sz="997" b="0" i="0" dirty="0">
                <a:solidFill>
                  <a:srgbClr val="333639"/>
                </a:solidFill>
                <a:latin typeface="Fira Sans"/>
              </a:rPr>
              <a:t> but, with these hyperparameters, not as low as TD(0) (0.079 against 0.054). The dial is real, and its best setting is not obvious.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4.4  TD(</a:t>
            </a:r>
            <a:r>
              <a:rPr sz="931" b="1" i="0" spc="110" dirty="0" err="1">
                <a:solidFill>
                  <a:srgbClr val="574676"/>
                </a:solidFill>
                <a:latin typeface="Fira Sans Medium"/>
              </a:rPr>
              <a:t>Λ</a:t>
            </a:r>
            <a:r>
              <a:rPr sz="931" b="1" i="0" spc="110" dirty="0">
                <a:solidFill>
                  <a:srgbClr val="574676"/>
                </a:solidFill>
                <a:latin typeface="Fira Sans Medium"/>
              </a:rPr>
              <a:t>): USE EVERY N AT ONCE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Instead of choosing a horizon, average over all of them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IV — Between the two extremes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n-step TD raises an awkward question: </a:t>
            </a:r>
            <a:r>
              <a:rPr sz="1235" b="1" i="0" dirty="0">
                <a:solidFill>
                  <a:srgbClr val="333639"/>
                </a:solidFill>
                <a:latin typeface="Fira Sans"/>
              </a:rPr>
              <a:t>what is a good n? </a:t>
            </a:r>
            <a:r>
              <a:rPr sz="1235" b="0" i="0" dirty="0">
                <a:solidFill>
                  <a:srgbClr val="333639"/>
                </a:solidFill>
                <a:latin typeface="Fira Sans"/>
              </a:rPr>
              <a:t>Rather than answering it, we can </a:t>
            </a:r>
            <a:r>
              <a:rPr sz="1235" b="1" i="0" dirty="0">
                <a:solidFill>
                  <a:srgbClr val="25282A"/>
                </a:solidFill>
                <a:latin typeface="Fira Sans"/>
              </a:rPr>
              <a:t>combine all the n-step targets into one</a:t>
            </a:r>
            <a:r>
              <a:rPr sz="1235" b="0" i="0" dirty="0">
                <a:solidFill>
                  <a:srgbClr val="333639"/>
                </a:solidFill>
                <a:latin typeface="Fira Sans"/>
              </a:rPr>
              <a:t>, giving more weight to short returns and exponentially less to long ones.</a:t>
            </a:r>
          </a:p>
        </p:txBody>
      </p:sp>
      <p:pic>
        <p:nvPicPr>
          <p:cNvPr id="9" name="Picture 8" descr="eq_lam_ladder.png"/>
          <p:cNvPicPr>
            <a:picLocks noChangeAspect="1"/>
          </p:cNvPicPr>
          <p:nvPr/>
        </p:nvPicPr>
        <p:blipFill>
          <a:blip>
            <a:extLst>
              <a:ext uri="{96DAC541-7B7A-43D3-8B79-37D633B846F1}">
                <asvg:svgBlip xmlns:asvg="http://schemas.microsoft.com/office/drawing/2016/SVG/main" r:embed="rId2"/>
              </a:ext>
            </a:extLst>
          </a:blip>
          <a:srcRect b="20251"/>
          <a:stretch>
            <a:fillRect/>
          </a:stretch>
        </p:blipFill>
        <p:spPr>
          <a:xfrm>
            <a:off x="1389888" y="2128532"/>
            <a:ext cx="4019296" cy="1275335"/>
          </a:xfrm>
          <a:prstGeom prst="rect">
            <a:avLst/>
          </a:prstGeom>
        </p:spPr>
      </p:pic>
      <p:sp>
        <p:nvSpPr>
          <p:cNvPr id="10" name="Rectangle 9"/>
          <p:cNvSpPr/>
          <p:nvPr/>
        </p:nvSpPr>
        <p:spPr>
          <a:xfrm>
            <a:off x="864106" y="3977455"/>
            <a:ext cx="6543446" cy="207312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1" name="Rectangle 10"/>
          <p:cNvSpPr/>
          <p:nvPr/>
        </p:nvSpPr>
        <p:spPr>
          <a:xfrm>
            <a:off x="841247" y="3965459"/>
            <a:ext cx="45719" cy="207312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15568" y="4075188"/>
            <a:ext cx="45720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λ-RETURN</a:t>
            </a:r>
          </a:p>
        </p:txBody>
      </p:sp>
      <p:pic>
        <p:nvPicPr>
          <p:cNvPr id="13" name="Picture 12" descr="eq_lam_retur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4312932"/>
            <a:ext cx="4423791" cy="712470"/>
          </a:xfrm>
          <a:prstGeom prst="rect">
            <a:avLst/>
          </a:prstGeom>
        </p:spPr>
      </p:pic>
      <p:pic>
        <p:nvPicPr>
          <p:cNvPr id="14" name="Picture 13" descr="eq_lam_updat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5024054"/>
            <a:ext cx="3584448" cy="963167"/>
          </a:xfrm>
          <a:prstGeom prst="rect">
            <a:avLst/>
          </a:prstGeom>
        </p:spPr>
      </p:pic>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WEIGHTS, AND WHY THEY SUM TO ONE</a:t>
            </a:r>
          </a:p>
        </p:txBody>
      </p:sp>
      <p:pic>
        <p:nvPicPr>
          <p:cNvPr id="16" name="Picture 15" descr="eq_lam_weights.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18780" y="1572768"/>
            <a:ext cx="3731940" cy="175098"/>
          </a:xfrm>
          <a:prstGeom prst="rect">
            <a:avLst/>
          </a:prstGeom>
        </p:spPr>
      </p:pic>
      <p:pic>
        <p:nvPicPr>
          <p:cNvPr id="17" name="Picture 16" descr="lambda_weights.png"/>
          <p:cNvPicPr>
            <a:picLocks noChangeAspect="1"/>
          </p:cNvPicPr>
          <p:nvPr/>
        </p:nvPicPr>
        <p:blipFill>
          <a:blip r:embed="rId6"/>
          <a:stretch>
            <a:fillRect/>
          </a:stretch>
        </p:blipFill>
        <p:spPr>
          <a:xfrm>
            <a:off x="7639353" y="1825142"/>
            <a:ext cx="3831439" cy="1603858"/>
          </a:xfrm>
          <a:prstGeom prst="rect">
            <a:avLst/>
          </a:prstGeom>
        </p:spPr>
      </p:pic>
      <p:sp>
        <p:nvSpPr>
          <p:cNvPr id="18" name="TextBox 17"/>
          <p:cNvSpPr txBox="1"/>
          <p:nvPr/>
        </p:nvSpPr>
        <p:spPr>
          <a:xfrm>
            <a:off x="7618780" y="3412074"/>
            <a:ext cx="3731940" cy="169316"/>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Weight given to the n-step target, for three values of λ.</a:t>
            </a:r>
          </a:p>
        </p:txBody>
      </p:sp>
      <p:sp>
        <p:nvSpPr>
          <p:cNvPr id="19" name="TextBox 18"/>
          <p:cNvSpPr txBox="1"/>
          <p:nvPr/>
        </p:nvSpPr>
        <p:spPr>
          <a:xfrm>
            <a:off x="7618780" y="3727694"/>
            <a:ext cx="3731940" cy="102646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Shorter targets get more weight; λ controls </a:t>
            </a:r>
            <a:r>
              <a:rPr sz="1045" b="1" i="0">
                <a:solidFill>
                  <a:srgbClr val="25282A"/>
                </a:solidFill>
                <a:latin typeface="Fira Sans"/>
              </a:rPr>
              <a:t>how fast the decay is</a:t>
            </a:r>
            <a:r>
              <a:rPr sz="1045" b="0" i="0">
                <a:solidFill>
                  <a:srgbClr val="333639"/>
                </a:solidFill>
                <a:latin typeface="Fira Sans"/>
              </a:rPr>
              <a:t>.</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The Monte Carlo term is different: it receives </a:t>
            </a:r>
            <a:r>
              <a:rPr sz="1045" b="1" i="0">
                <a:solidFill>
                  <a:srgbClr val="C8102E"/>
                </a:solidFill>
                <a:latin typeface="Fira Sans"/>
              </a:rPr>
              <a:t>all the remaining weight</a:t>
            </a:r>
            <a:r>
              <a:rPr sz="1045" b="0" i="0">
                <a:solidFill>
                  <a:srgbClr val="333639"/>
                </a:solidFill>
                <a:latin typeface="Fira Sans"/>
              </a:rPr>
              <a:t> once the episode ends, because no target exists beyond the terminal state. That is what makes the weights sum to one.</a:t>
            </a:r>
          </a:p>
        </p:txBody>
      </p:sp>
      <p:pic>
        <p:nvPicPr>
          <p:cNvPr id="20" name="Picture 19" descr="eq_lam_limits.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18780" y="4827311"/>
            <a:ext cx="3731940" cy="131480"/>
          </a:xfrm>
          <a:prstGeom prst="rect">
            <a:avLst/>
          </a:prstGeom>
        </p:spPr>
      </p:pic>
      <p:sp>
        <p:nvSpPr>
          <p:cNvPr id="21" name="Rectangle 20"/>
          <p:cNvSpPr/>
          <p:nvPr/>
        </p:nvSpPr>
        <p:spPr>
          <a:xfrm>
            <a:off x="7618780" y="5138207"/>
            <a:ext cx="3731940" cy="900379"/>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5138207"/>
            <a:ext cx="41148" cy="90037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5284511"/>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limitation is practical: computing the λ-return needs to know how the episode ends, so in this </a:t>
            </a:r>
            <a:r>
              <a:rPr sz="997" b="1" i="0">
                <a:solidFill>
                  <a:srgbClr val="333639"/>
                </a:solidFill>
                <a:latin typeface="Fira Sans"/>
              </a:rPr>
              <a:t>forward view</a:t>
            </a:r>
            <a:r>
              <a:rPr sz="997" b="0" i="0">
                <a:solidFill>
                  <a:srgbClr val="333639"/>
                </a:solidFill>
                <a:latin typeface="Fira Sans"/>
              </a:rPr>
              <a:t> we must still wait for termination. The next slide fixes that.</a:t>
            </a:r>
          </a:p>
        </p:txBody>
      </p:sp>
      <p:pic>
        <p:nvPicPr>
          <p:cNvPr id="25" name="Immagine 24">
            <a:extLst>
              <a:ext uri="{FF2B5EF4-FFF2-40B4-BE49-F238E27FC236}">
                <a16:creationId xmlns:a16="http://schemas.microsoft.com/office/drawing/2014/main" id="{C189D7E9-4418-273F-C643-F46360B63003}"/>
              </a:ext>
            </a:extLst>
          </p:cNvPr>
          <p:cNvPicPr>
            <a:picLocks noChangeAspect="1"/>
          </p:cNvPicPr>
          <p:nvPr/>
        </p:nvPicPr>
        <p:blipFill>
          <a:blip r:embed="rId8"/>
          <a:stretch>
            <a:fillRect/>
          </a:stretch>
        </p:blipFill>
        <p:spPr>
          <a:xfrm>
            <a:off x="1400774" y="3378876"/>
            <a:ext cx="3584448" cy="400678"/>
          </a:xfrm>
          <a:prstGeom prst="rect">
            <a:avLst/>
          </a:prstGeom>
        </p:spPr>
      </p:pic>
      <p:sp>
        <p:nvSpPr>
          <p:cNvPr id="26" name="CasellaDiTesto 25">
            <a:extLst>
              <a:ext uri="{FF2B5EF4-FFF2-40B4-BE49-F238E27FC236}">
                <a16:creationId xmlns:a16="http://schemas.microsoft.com/office/drawing/2014/main" id="{7E6464F9-F5AC-3CDE-A588-14F38C5047E3}"/>
              </a:ext>
            </a:extLst>
          </p:cNvPr>
          <p:cNvSpPr txBox="1"/>
          <p:nvPr/>
        </p:nvSpPr>
        <p:spPr>
          <a:xfrm>
            <a:off x="2246811" y="5085806"/>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4.5  THE BACKWARD VIEW: ELIGIBILITY TRACES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Reverse the question</a:t>
            </a:r>
            <a:r>
              <a:rPr lang="it-IT" sz="2162" b="1" i="0" dirty="0">
                <a:solidFill>
                  <a:srgbClr val="25282A"/>
                </a:solidFill>
                <a:latin typeface="Roboto Slab"/>
              </a:rPr>
              <a:t>: </a:t>
            </a:r>
            <a:r>
              <a:rPr sz="2162" b="1" i="0" dirty="0">
                <a:solidFill>
                  <a:srgbClr val="25282A"/>
                </a:solidFill>
                <a:latin typeface="Roboto Slab"/>
              </a:rPr>
              <a:t>which earlier states deserve credit for this </a:t>
            </a:r>
            <a:r>
              <a:rPr lang="it-IT" sz="2162" b="1" i="0" dirty="0" err="1">
                <a:solidFill>
                  <a:srgbClr val="25282A"/>
                </a:solidFill>
                <a:latin typeface="Roboto Slab"/>
              </a:rPr>
              <a:t>reward</a:t>
            </a:r>
            <a:r>
              <a:rPr sz="2162" b="1" i="0" dirty="0">
                <a:solidFill>
                  <a:srgbClr val="25282A"/>
                </a:solidFill>
                <a:latin typeface="Roboto Slab"/>
              </a:rPr>
              <a: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IV — Between the two extremes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Instead of standing at Sₜ and asking which future rewards should affect it, reverse the perspective. At every transition compute the ordinary one-step TD error and ask: </a:t>
            </a:r>
            <a:r>
              <a:rPr sz="1282" b="1" i="0">
                <a:solidFill>
                  <a:srgbClr val="25282A"/>
                </a:solidFill>
                <a:latin typeface="Fira Sans"/>
              </a:rPr>
              <a:t>which previously visited states should receive credit for this new information?</a:t>
            </a:r>
          </a:p>
        </p:txBody>
      </p:sp>
      <p:pic>
        <p:nvPicPr>
          <p:cNvPr id="9" name="Picture 8" descr="traces.png"/>
          <p:cNvPicPr>
            <a:picLocks noChangeAspect="1"/>
          </p:cNvPicPr>
          <p:nvPr/>
        </p:nvPicPr>
        <p:blipFill>
          <a:blip r:embed="rId2"/>
          <a:stretch>
            <a:fillRect/>
          </a:stretch>
        </p:blipFill>
        <p:spPr>
          <a:xfrm>
            <a:off x="1471208" y="1727318"/>
            <a:ext cx="5381822" cy="3778605"/>
          </a:xfrm>
          <a:prstGeom prst="rect">
            <a:avLst/>
          </a:prstGeom>
        </p:spPr>
      </p:pic>
      <p:sp>
        <p:nvSpPr>
          <p:cNvPr id="10" name="TextBox 9"/>
          <p:cNvSpPr txBox="1"/>
          <p:nvPr/>
        </p:nvSpPr>
        <p:spPr>
          <a:xfrm>
            <a:off x="7463245" y="2608372"/>
            <a:ext cx="2944368" cy="110724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An </a:t>
            </a:r>
            <a:r>
              <a:rPr sz="1092" b="1" i="0" dirty="0">
                <a:solidFill>
                  <a:srgbClr val="333639"/>
                </a:solidFill>
                <a:latin typeface="Fira Sans"/>
              </a:rPr>
              <a:t>eligibility trace </a:t>
            </a:r>
            <a:r>
              <a:rPr sz="1092" b="0" i="0" dirty="0">
                <a:solidFill>
                  <a:srgbClr val="333639"/>
                </a:solidFill>
                <a:latin typeface="Fira Sans"/>
              </a:rPr>
              <a:t>is a </a:t>
            </a:r>
            <a:r>
              <a:rPr sz="1092" b="1" i="0" dirty="0">
                <a:solidFill>
                  <a:srgbClr val="25282A"/>
                </a:solidFill>
                <a:latin typeface="Fira Sans"/>
              </a:rPr>
              <a:t>short-term memory</a:t>
            </a:r>
            <a:r>
              <a:rPr sz="1092" b="0" i="0" dirty="0">
                <a:solidFill>
                  <a:srgbClr val="333639"/>
                </a:solidFill>
                <a:latin typeface="Fira Sans"/>
              </a:rPr>
              <a:t> attached to each state. A visit raises it; time decays it.</a:t>
            </a:r>
          </a:p>
          <a:p>
            <a:pPr marL="0" indent="0" algn="l">
              <a:lnSpc>
                <a:spcPts val="1233"/>
              </a:lnSpc>
              <a:spcBef>
                <a:spcPts val="800"/>
              </a:spcBef>
              <a:spcAft>
                <a:spcPts val="0"/>
              </a:spcAft>
              <a:buNone/>
            </a:pPr>
            <a:r>
              <a:rPr sz="1045" b="0" i="0" dirty="0">
                <a:solidFill>
                  <a:srgbClr val="626669"/>
                </a:solidFill>
                <a:latin typeface="Fira Sans"/>
              </a:rPr>
              <a:t>Recently visited states are highly eligible and receive a large share of the next TD error; states visited long ago receive progressively less.</a:t>
            </a:r>
          </a:p>
        </p:txBody>
      </p:sp>
      <p:sp>
        <p:nvSpPr>
          <p:cNvPr id="12" name="Rectangle 11"/>
          <p:cNvSpPr/>
          <p:nvPr/>
        </p:nvSpPr>
        <p:spPr>
          <a:xfrm>
            <a:off x="841248" y="558357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671526"/>
            <a:ext cx="2478024"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q_trace_bum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5872694"/>
            <a:ext cx="1585976" cy="222250"/>
          </a:xfrm>
          <a:prstGeom prst="rect">
            <a:avLst/>
          </a:prstGeom>
        </p:spPr>
      </p:pic>
      <p:sp>
        <p:nvSpPr>
          <p:cNvPr id="15" name="TextBox 14"/>
          <p:cNvSpPr txBox="1"/>
          <p:nvPr/>
        </p:nvSpPr>
        <p:spPr>
          <a:xfrm>
            <a:off x="841248" y="6110437"/>
            <a:ext cx="2478024"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a visit raises eligibility</a:t>
            </a:r>
          </a:p>
        </p:txBody>
      </p:sp>
      <p:sp>
        <p:nvSpPr>
          <p:cNvPr id="16" name="Rectangle 15"/>
          <p:cNvSpPr/>
          <p:nvPr/>
        </p:nvSpPr>
        <p:spPr>
          <a:xfrm>
            <a:off x="3520440" y="5671526"/>
            <a:ext cx="2478024"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eq_delta.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0440" y="5872694"/>
            <a:ext cx="2409190" cy="222250"/>
          </a:xfrm>
          <a:prstGeom prst="rect">
            <a:avLst/>
          </a:prstGeom>
        </p:spPr>
      </p:pic>
      <p:sp>
        <p:nvSpPr>
          <p:cNvPr id="18" name="TextBox 17"/>
          <p:cNvSpPr txBox="1"/>
          <p:nvPr/>
        </p:nvSpPr>
        <p:spPr>
          <a:xfrm>
            <a:off x="3520440" y="6110437"/>
            <a:ext cx="2478024"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 ordinary one-step TD error</a:t>
            </a:r>
          </a:p>
        </p:txBody>
      </p:sp>
      <p:sp>
        <p:nvSpPr>
          <p:cNvPr id="19" name="Rectangle 18"/>
          <p:cNvSpPr/>
          <p:nvPr/>
        </p:nvSpPr>
        <p:spPr>
          <a:xfrm>
            <a:off x="6199632" y="5671526"/>
            <a:ext cx="2478024"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q_trace_updat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99632" y="5872694"/>
            <a:ext cx="1351280" cy="195580"/>
          </a:xfrm>
          <a:prstGeom prst="rect">
            <a:avLst/>
          </a:prstGeom>
        </p:spPr>
      </p:pic>
      <p:sp>
        <p:nvSpPr>
          <p:cNvPr id="21" name="TextBox 20"/>
          <p:cNvSpPr txBox="1"/>
          <p:nvPr/>
        </p:nvSpPr>
        <p:spPr>
          <a:xfrm>
            <a:off x="6199632" y="6110437"/>
            <a:ext cx="2478024"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every eligible state is updated</a:t>
            </a:r>
          </a:p>
        </p:txBody>
      </p:sp>
      <p:sp>
        <p:nvSpPr>
          <p:cNvPr id="22" name="Rectangle 21"/>
          <p:cNvSpPr/>
          <p:nvPr/>
        </p:nvSpPr>
        <p:spPr>
          <a:xfrm>
            <a:off x="8878824" y="5671526"/>
            <a:ext cx="2478024"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eq_trace_decay.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78824" y="5872694"/>
            <a:ext cx="926338" cy="202692"/>
          </a:xfrm>
          <a:prstGeom prst="rect">
            <a:avLst/>
          </a:prstGeom>
        </p:spPr>
      </p:pic>
      <p:sp>
        <p:nvSpPr>
          <p:cNvPr id="24" name="TextBox 23"/>
          <p:cNvSpPr txBox="1"/>
          <p:nvPr/>
        </p:nvSpPr>
        <p:spPr>
          <a:xfrm>
            <a:off x="8878824" y="6110437"/>
            <a:ext cx="2478024"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then all traces decay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4.6  TD(Λ) ON THE RANDOM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TD error, distributed over everything still eligible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IV — Between the two extremes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The TD error is still computed from one transition  but it is no longer used only for Sₜ. Through the traces, a single error can update many states visited earlier in the trajectory, which is why TD(</a:t>
            </a:r>
            <a:r>
              <a:rPr sz="1235" b="0" i="0" dirty="0" err="1">
                <a:solidFill>
                  <a:srgbClr val="333639"/>
                </a:solidFill>
                <a:latin typeface="Fira Sans"/>
              </a:rPr>
              <a:t>λ</a:t>
            </a:r>
            <a:r>
              <a:rPr sz="1235" b="0" i="0" dirty="0">
                <a:solidFill>
                  <a:srgbClr val="333639"/>
                </a:solidFill>
                <a:latin typeface="Fira Sans"/>
              </a:rPr>
              <a:t>) propagates information much faster while staying fully online.</a:t>
            </a:r>
          </a:p>
        </p:txBody>
      </p:sp>
      <p:pic>
        <p:nvPicPr>
          <p:cNvPr id="9" name="Picture 8" descr="tdl_track.png"/>
          <p:cNvPicPr>
            <a:picLocks noChangeAspect="1"/>
          </p:cNvPicPr>
          <p:nvPr/>
        </p:nvPicPr>
        <p:blipFill>
          <a:blip r:embed="rId2"/>
          <a:stretch>
            <a:fillRect/>
          </a:stretch>
        </p:blipFill>
        <p:spPr>
          <a:xfrm>
            <a:off x="733126" y="1927364"/>
            <a:ext cx="6486976" cy="3168058"/>
          </a:xfrm>
          <a:prstGeom prst="rect">
            <a:avLst/>
          </a:prstGeom>
        </p:spPr>
      </p:pic>
      <p:sp>
        <p:nvSpPr>
          <p:cNvPr id="10" name="TextBox 9"/>
          <p:cNvSpPr txBox="1"/>
          <p:nvPr/>
        </p:nvSpPr>
        <p:spPr>
          <a:xfrm>
            <a:off x="841248" y="5076383"/>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TD(</a:t>
            </a:r>
            <a:r>
              <a:rPr sz="950" b="0" i="1" dirty="0" err="1">
                <a:solidFill>
                  <a:srgbClr val="626669"/>
                </a:solidFill>
                <a:latin typeface="Fira Sans"/>
              </a:rPr>
              <a:t>λ</a:t>
            </a:r>
            <a:r>
              <a:rPr sz="950" b="0" i="1" dirty="0">
                <a:solidFill>
                  <a:srgbClr val="626669"/>
                </a:solidFill>
                <a:latin typeface="Fira Sans"/>
              </a:rPr>
              <a:t>) estimates, </a:t>
            </a:r>
            <a:r>
              <a:rPr sz="950" b="0" i="1" dirty="0" err="1">
                <a:solidFill>
                  <a:srgbClr val="626669"/>
                </a:solidFill>
                <a:latin typeface="Fira Sans"/>
              </a:rPr>
              <a:t>λ</a:t>
            </a:r>
            <a:r>
              <a:rPr sz="950" b="0" i="1" dirty="0">
                <a:solidFill>
                  <a:srgbClr val="626669"/>
                </a:solidFill>
                <a:latin typeface="Fira Sans"/>
              </a:rPr>
              <a:t> = 0.3, accumulating traces, 500 episodes.</a:t>
            </a:r>
          </a:p>
        </p:txBody>
      </p:sp>
      <p:sp>
        <p:nvSpPr>
          <p:cNvPr id="11" name="Rectangle 10"/>
          <p:cNvSpPr/>
          <p:nvPr/>
        </p:nvSpPr>
        <p:spPr>
          <a:xfrm>
            <a:off x="841248" y="5449763"/>
            <a:ext cx="6543446"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449763"/>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596067"/>
            <a:ext cx="6159398"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err="1">
                <a:solidFill>
                  <a:srgbClr val="333639"/>
                </a:solidFill>
                <a:latin typeface="Fira Sans"/>
              </a:rPr>
              <a:t>λ</a:t>
            </a:r>
            <a:r>
              <a:rPr sz="1092" b="0" i="0" dirty="0">
                <a:solidFill>
                  <a:srgbClr val="333639"/>
                </a:solidFill>
                <a:latin typeface="Fira Sans"/>
              </a:rPr>
              <a:t> gives a </a:t>
            </a:r>
            <a:r>
              <a:rPr sz="1092" b="1" i="0" dirty="0">
                <a:solidFill>
                  <a:srgbClr val="333639"/>
                </a:solidFill>
                <a:latin typeface="Fira Sans"/>
              </a:rPr>
              <a:t>continuous dial on how far credit propagates backwards</a:t>
            </a:r>
            <a:r>
              <a:rPr sz="1092" b="0" i="0" dirty="0">
                <a:solidFill>
                  <a:srgbClr val="333639"/>
                </a:solidFill>
                <a:latin typeface="Fira Sans"/>
              </a:rPr>
              <a:t>. At </a:t>
            </a:r>
            <a:r>
              <a:rPr sz="1092" b="0" i="0" dirty="0" err="1">
                <a:solidFill>
                  <a:srgbClr val="333639"/>
                </a:solidFill>
                <a:latin typeface="Fira Sans"/>
              </a:rPr>
              <a:t>λ</a:t>
            </a:r>
            <a:r>
              <a:rPr sz="1092" b="0" i="0" dirty="0">
                <a:solidFill>
                  <a:srgbClr val="333639"/>
                </a:solidFill>
                <a:latin typeface="Fira Sans"/>
              </a:rPr>
              <a:t> = 1 the method approaches Monte Carlo </a:t>
            </a:r>
            <a:r>
              <a:rPr sz="1092" b="0" i="0" dirty="0" err="1">
                <a:solidFill>
                  <a:srgbClr val="333639"/>
                </a:solidFill>
                <a:latin typeface="Fira Sans"/>
              </a:rPr>
              <a:t>behaviour</a:t>
            </a:r>
            <a:r>
              <a:rPr sz="1092" b="0" i="0" dirty="0">
                <a:solidFill>
                  <a:srgbClr val="333639"/>
                </a:solidFill>
                <a:latin typeface="Fira Sans"/>
              </a:rPr>
              <a:t> while keeping an incremental, online implementation  which the forward view could not.</a:t>
            </a:r>
          </a:p>
        </p:txBody>
      </p:sp>
      <p:sp>
        <p:nvSpPr>
          <p:cNvPr id="14" name="Rectangle 13"/>
          <p:cNvSpPr/>
          <p:nvPr/>
        </p:nvSpPr>
        <p:spPr>
          <a:xfrm>
            <a:off x="7618780" y="1335024"/>
            <a:ext cx="3731940" cy="25192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10220" y="1385316"/>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16" name="TextBox 15"/>
          <p:cNvSpPr txBox="1"/>
          <p:nvPr/>
        </p:nvSpPr>
        <p:spPr>
          <a:xfrm>
            <a:off x="8605886"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TD(λ)</a:t>
            </a:r>
          </a:p>
        </p:txBody>
      </p:sp>
      <p:sp>
        <p:nvSpPr>
          <p:cNvPr id="17" name="TextBox 16"/>
          <p:cNvSpPr txBox="1"/>
          <p:nvPr/>
        </p:nvSpPr>
        <p:spPr>
          <a:xfrm>
            <a:off x="10024024" y="1385316"/>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True value</a:t>
            </a:r>
          </a:p>
        </p:txBody>
      </p:sp>
      <p:sp>
        <p:nvSpPr>
          <p:cNvPr id="18" name="TextBox 17"/>
          <p:cNvSpPr txBox="1"/>
          <p:nvPr/>
        </p:nvSpPr>
        <p:spPr>
          <a:xfrm>
            <a:off x="7710220" y="1637243"/>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1</a:t>
            </a:r>
          </a:p>
        </p:txBody>
      </p:sp>
      <p:sp>
        <p:nvSpPr>
          <p:cNvPr id="19" name="TextBox 18"/>
          <p:cNvSpPr txBox="1"/>
          <p:nvPr/>
        </p:nvSpPr>
        <p:spPr>
          <a:xfrm>
            <a:off x="8605886"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574676"/>
                </a:solidFill>
                <a:latin typeface="Fira Sans"/>
              </a:rPr>
              <a:t>0.160</a:t>
            </a:r>
          </a:p>
        </p:txBody>
      </p:sp>
      <p:sp>
        <p:nvSpPr>
          <p:cNvPr id="20" name="TextBox 19"/>
          <p:cNvSpPr txBox="1"/>
          <p:nvPr/>
        </p:nvSpPr>
        <p:spPr>
          <a:xfrm>
            <a:off x="10024024" y="1637243"/>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0.167</a:t>
            </a:r>
          </a:p>
        </p:txBody>
      </p:sp>
      <p:sp>
        <p:nvSpPr>
          <p:cNvPr id="21" name="Rectangle 20"/>
          <p:cNvSpPr/>
          <p:nvPr/>
        </p:nvSpPr>
        <p:spPr>
          <a:xfrm>
            <a:off x="7618780" y="184907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1854565"/>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1904857"/>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2</a:t>
            </a:r>
          </a:p>
        </p:txBody>
      </p:sp>
      <p:sp>
        <p:nvSpPr>
          <p:cNvPr id="24" name="TextBox 23"/>
          <p:cNvSpPr txBox="1"/>
          <p:nvPr/>
        </p:nvSpPr>
        <p:spPr>
          <a:xfrm>
            <a:off x="8605886"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574676"/>
                </a:solidFill>
                <a:latin typeface="Fira Sans"/>
              </a:rPr>
              <a:t>0.435</a:t>
            </a:r>
          </a:p>
        </p:txBody>
      </p:sp>
      <p:sp>
        <p:nvSpPr>
          <p:cNvPr id="25" name="TextBox 24"/>
          <p:cNvSpPr txBox="1"/>
          <p:nvPr/>
        </p:nvSpPr>
        <p:spPr>
          <a:xfrm>
            <a:off x="10024024" y="1904857"/>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0.333</a:t>
            </a:r>
          </a:p>
        </p:txBody>
      </p:sp>
      <p:sp>
        <p:nvSpPr>
          <p:cNvPr id="26" name="Rectangle 25"/>
          <p:cNvSpPr/>
          <p:nvPr/>
        </p:nvSpPr>
        <p:spPr>
          <a:xfrm>
            <a:off x="7618780" y="211669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10220" y="2172472"/>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3</a:t>
            </a:r>
          </a:p>
        </p:txBody>
      </p:sp>
      <p:sp>
        <p:nvSpPr>
          <p:cNvPr id="28" name="TextBox 27"/>
          <p:cNvSpPr txBox="1"/>
          <p:nvPr/>
        </p:nvSpPr>
        <p:spPr>
          <a:xfrm>
            <a:off x="8605886"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574676"/>
                </a:solidFill>
                <a:latin typeface="Fira Sans"/>
              </a:rPr>
              <a:t>0.583</a:t>
            </a:r>
          </a:p>
        </p:txBody>
      </p:sp>
      <p:sp>
        <p:nvSpPr>
          <p:cNvPr id="29" name="TextBox 28"/>
          <p:cNvSpPr txBox="1"/>
          <p:nvPr/>
        </p:nvSpPr>
        <p:spPr>
          <a:xfrm>
            <a:off x="10024024" y="2172472"/>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0.500</a:t>
            </a:r>
          </a:p>
        </p:txBody>
      </p:sp>
      <p:sp>
        <p:nvSpPr>
          <p:cNvPr id="30" name="Rectangle 29"/>
          <p:cNvSpPr/>
          <p:nvPr/>
        </p:nvSpPr>
        <p:spPr>
          <a:xfrm>
            <a:off x="7618780" y="238430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2389794"/>
            <a:ext cx="3731940" cy="26761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710220" y="2440086"/>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4</a:t>
            </a:r>
          </a:p>
        </p:txBody>
      </p:sp>
      <p:sp>
        <p:nvSpPr>
          <p:cNvPr id="33" name="TextBox 32"/>
          <p:cNvSpPr txBox="1"/>
          <p:nvPr/>
        </p:nvSpPr>
        <p:spPr>
          <a:xfrm>
            <a:off x="8605886"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574676"/>
                </a:solidFill>
                <a:latin typeface="Fira Sans"/>
              </a:rPr>
              <a:t>0.789</a:t>
            </a:r>
          </a:p>
        </p:txBody>
      </p:sp>
      <p:sp>
        <p:nvSpPr>
          <p:cNvPr id="34" name="TextBox 33"/>
          <p:cNvSpPr txBox="1"/>
          <p:nvPr/>
        </p:nvSpPr>
        <p:spPr>
          <a:xfrm>
            <a:off x="10024024" y="2440086"/>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0.667</a:t>
            </a:r>
          </a:p>
        </p:txBody>
      </p:sp>
      <p:sp>
        <p:nvSpPr>
          <p:cNvPr id="35" name="Rectangle 34"/>
          <p:cNvSpPr/>
          <p:nvPr/>
        </p:nvSpPr>
        <p:spPr>
          <a:xfrm>
            <a:off x="7618780" y="265192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710220" y="2707700"/>
            <a:ext cx="712785" cy="167030"/>
          </a:xfrm>
          <a:prstGeom prst="rect">
            <a:avLst/>
          </a:prstGeom>
          <a:noFill/>
        </p:spPr>
        <p:txBody>
          <a:bodyPr wrap="square" lIns="0" tIns="0" rIns="0" bIns="0" anchor="t">
            <a:noAutofit/>
          </a:bodyPr>
          <a:lstStyle/>
          <a:p>
            <a:pPr marL="0" indent="0" algn="ctr">
              <a:lnSpc>
                <a:spcPts val="1152"/>
              </a:lnSpc>
              <a:spcBef>
                <a:spcPts val="0"/>
              </a:spcBef>
              <a:spcAft>
                <a:spcPts val="0"/>
              </a:spcAft>
              <a:buNone/>
            </a:pPr>
            <a:r>
              <a:rPr sz="960" b="0" i="0">
                <a:solidFill>
                  <a:srgbClr val="333639"/>
                </a:solidFill>
                <a:latin typeface="Fira Sans"/>
              </a:rPr>
              <a:t>5</a:t>
            </a:r>
          </a:p>
        </p:txBody>
      </p:sp>
      <p:sp>
        <p:nvSpPr>
          <p:cNvPr id="37" name="TextBox 36"/>
          <p:cNvSpPr txBox="1"/>
          <p:nvPr/>
        </p:nvSpPr>
        <p:spPr>
          <a:xfrm>
            <a:off x="8605886"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574676"/>
                </a:solidFill>
                <a:latin typeface="Fira Sans"/>
              </a:rPr>
              <a:t>0.906</a:t>
            </a:r>
          </a:p>
        </p:txBody>
      </p:sp>
      <p:sp>
        <p:nvSpPr>
          <p:cNvPr id="38" name="TextBox 37"/>
          <p:cNvSpPr txBox="1"/>
          <p:nvPr/>
        </p:nvSpPr>
        <p:spPr>
          <a:xfrm>
            <a:off x="10024024" y="2707700"/>
            <a:ext cx="1235257" cy="167030"/>
          </a:xfrm>
          <a:prstGeom prst="rect">
            <a:avLst/>
          </a:prstGeom>
          <a:noFill/>
        </p:spPr>
        <p:txBody>
          <a:bodyPr wrap="square" lIns="0" tIns="0" rIns="0" bIns="0" anchor="t">
            <a:noAutofit/>
          </a:bodyPr>
          <a:lstStyle/>
          <a:p>
            <a:pPr marL="0" indent="0" algn="r">
              <a:lnSpc>
                <a:spcPts val="1152"/>
              </a:lnSpc>
              <a:spcBef>
                <a:spcPts val="0"/>
              </a:spcBef>
              <a:spcAft>
                <a:spcPts val="0"/>
              </a:spcAft>
              <a:buNone/>
            </a:pPr>
            <a:r>
              <a:rPr sz="960" b="0" i="0">
                <a:solidFill>
                  <a:srgbClr val="333639"/>
                </a:solidFill>
                <a:latin typeface="Fira Sans"/>
              </a:rPr>
              <a:t>0.833</a:t>
            </a:r>
          </a:p>
        </p:txBody>
      </p:sp>
      <p:sp>
        <p:nvSpPr>
          <p:cNvPr id="39" name="Rectangle 38"/>
          <p:cNvSpPr/>
          <p:nvPr/>
        </p:nvSpPr>
        <p:spPr>
          <a:xfrm>
            <a:off x="7618780" y="291953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618780" y="3089615"/>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ALL FOUR METHODS</a:t>
            </a:r>
          </a:p>
        </p:txBody>
      </p:sp>
      <p:pic>
        <p:nvPicPr>
          <p:cNvPr id="41" name="Picture 40" descr="rmse_all.png"/>
          <p:cNvPicPr>
            <a:picLocks noChangeAspect="1"/>
          </p:cNvPicPr>
          <p:nvPr/>
        </p:nvPicPr>
        <p:blipFill>
          <a:blip r:embed="rId3"/>
          <a:stretch>
            <a:fillRect/>
          </a:stretch>
        </p:blipFill>
        <p:spPr>
          <a:xfrm>
            <a:off x="7618779" y="3332378"/>
            <a:ext cx="3730953" cy="1822094"/>
          </a:xfrm>
          <a:prstGeom prst="rect">
            <a:avLst/>
          </a:prstGeom>
        </p:spPr>
      </p:pic>
      <p:sp>
        <p:nvSpPr>
          <p:cNvPr id="43" name="Rectangle 42"/>
          <p:cNvSpPr/>
          <p:nvPr/>
        </p:nvSpPr>
        <p:spPr>
          <a:xfrm>
            <a:off x="7618780" y="5197459"/>
            <a:ext cx="3731940" cy="105232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7618780" y="5197459"/>
            <a:ext cx="41148" cy="105232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838236" y="5343763"/>
            <a:ext cx="3347892" cy="75971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For this problem and these hyperparameters TD(</a:t>
            </a:r>
            <a:r>
              <a:rPr sz="997" b="0" i="0" dirty="0" err="1">
                <a:solidFill>
                  <a:srgbClr val="333639"/>
                </a:solidFill>
                <a:latin typeface="Fira Sans"/>
              </a:rPr>
              <a:t>λ</a:t>
            </a:r>
            <a:r>
              <a:rPr sz="997" b="0" i="0" dirty="0">
                <a:solidFill>
                  <a:srgbClr val="333639"/>
                </a:solidFill>
                <a:latin typeface="Fira Sans"/>
              </a:rPr>
              <a:t>) tracks TD(0) closely and ends at 0.057. The conclusion is not that one method wins, but that the </a:t>
            </a:r>
            <a:r>
              <a:rPr sz="997" b="1" i="0" dirty="0">
                <a:solidFill>
                  <a:srgbClr val="333639"/>
                </a:solidFill>
                <a:latin typeface="Fira Sans"/>
              </a:rPr>
              <a:t>mechanism </a:t>
            </a:r>
            <a:r>
              <a:rPr lang="it-IT" sz="997" b="1" dirty="0">
                <a:solidFill>
                  <a:srgbClr val="333639"/>
                </a:solidFill>
                <a:latin typeface="Fira Sans"/>
              </a:rPr>
              <a:t>(</a:t>
            </a:r>
            <a:r>
              <a:rPr sz="997" b="1" i="0" dirty="0">
                <a:solidFill>
                  <a:srgbClr val="333639"/>
                </a:solidFill>
                <a:latin typeface="Fira Sans"/>
              </a:rPr>
              <a:t>how far information is allowed to travel</a:t>
            </a:r>
            <a:r>
              <a:rPr lang="it-IT" sz="997" b="1" dirty="0">
                <a:solidFill>
                  <a:srgbClr val="333639"/>
                </a:solidFill>
                <a:latin typeface="Fira Sans"/>
              </a:rPr>
              <a:t>) </a:t>
            </a:r>
            <a:r>
              <a:rPr sz="997" b="1" i="0" dirty="0">
                <a:solidFill>
                  <a:srgbClr val="333639"/>
                </a:solidFill>
                <a:latin typeface="Fira Sans"/>
              </a:rPr>
              <a:t>has a visible effect</a:t>
            </a:r>
            <a:r>
              <a:rPr sz="997" b="0" i="0" dirty="0">
                <a:solidFill>
                  <a:srgbClr val="333639"/>
                </a:solidFill>
                <a:latin typeface="Fira Sans"/>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From prediction to control</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Estimating a fixed policy is not enough. Learning Q instead of V, exploring on purpose, and improving the policy while the experience that feeds it is still being generated.</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can a model-free agent not simply act greedily on what it has learned?</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GPI without a model</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Two necessary changes</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Slippery Walk environment</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Decaying ε and α</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Monte Carlo control</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SARSA</a:t>
            </a:r>
          </a:p>
          <a:p>
            <a:pPr marL="0" indent="0" algn="l">
              <a:lnSpc>
                <a:spcPts val="1378"/>
              </a:lnSpc>
              <a:spcBef>
                <a:spcPts val="1300"/>
              </a:spcBef>
              <a:spcAft>
                <a:spcPts val="0"/>
              </a:spcAft>
              <a:buNone/>
            </a:pPr>
            <a:r>
              <a:rPr sz="1188" b="1" i="0">
                <a:solidFill>
                  <a:srgbClr val="B2A7C4"/>
                </a:solidFill>
                <a:latin typeface="Fira Sans"/>
              </a:rPr>
              <a:t>07   </a:t>
            </a:r>
            <a:r>
              <a:rPr sz="1188" b="0" i="0">
                <a:solidFill>
                  <a:srgbClr val="FFFFFF"/>
                </a:solidFill>
                <a:latin typeface="Fira Sans"/>
              </a:rPr>
              <a:t>Convergence: GLIE and Robbins–Monro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EVALUATING A POLICY DOES NOT IMPROVE IT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 same two processes as Chapter 03</a:t>
            </a:r>
            <a:r>
              <a:rPr lang="it-IT" sz="2162" b="1" i="0" dirty="0">
                <a:solidFill>
                  <a:srgbClr val="25282A"/>
                </a:solidFill>
                <a:latin typeface="Roboto Slab"/>
              </a:rPr>
              <a:t>, </a:t>
            </a:r>
            <a:r>
              <a:rPr sz="2162" b="1" i="0" dirty="0">
                <a:solidFill>
                  <a:srgbClr val="25282A"/>
                </a:solidFill>
                <a:latin typeface="Roboto Slab"/>
              </a:rPr>
              <a:t>but now neither has a model</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29</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So far the policy was fixed and we asked how good it is. Knowing that does not make it better. The basic idea of improvement is </a:t>
            </a:r>
            <a:r>
              <a:rPr sz="1235" b="1" i="0" dirty="0">
                <a:solidFill>
                  <a:srgbClr val="333639"/>
                </a:solidFill>
                <a:latin typeface="Fira Sans"/>
              </a:rPr>
              <a:t>unchanged from dynamic programming</a:t>
            </a:r>
            <a:r>
              <a:rPr sz="1235" b="0" i="0" dirty="0">
                <a:solidFill>
                  <a:srgbClr val="333639"/>
                </a:solidFill>
                <a:latin typeface="Fira Sans"/>
              </a:rPr>
              <a:t>: in each state, prefer the action with the highest action value.</a:t>
            </a:r>
          </a:p>
        </p:txBody>
      </p:sp>
      <p:pic>
        <p:nvPicPr>
          <p:cNvPr id="9" name="Picture 8" descr="eq_improv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8711" y="2183896"/>
            <a:ext cx="2463655" cy="379487"/>
          </a:xfrm>
          <a:prstGeom prst="rect">
            <a:avLst/>
          </a:prstGeom>
        </p:spPr>
      </p:pic>
      <p:pic>
        <p:nvPicPr>
          <p:cNvPr id="10" name="Picture 9" descr="eq_gpi_chai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2607375"/>
            <a:ext cx="4505525" cy="354146"/>
          </a:xfrm>
          <a:prstGeom prst="rect">
            <a:avLst/>
          </a:prstGeom>
        </p:spPr>
      </p:pic>
      <p:pic>
        <p:nvPicPr>
          <p:cNvPr id="11" name="Picture 10" descr="gpi.png"/>
          <p:cNvPicPr>
            <a:picLocks noChangeAspect="1"/>
          </p:cNvPicPr>
          <p:nvPr/>
        </p:nvPicPr>
        <p:blipFill>
          <a:blip r:embed="rId4"/>
          <a:srcRect l="13492" r="15474"/>
          <a:stretch>
            <a:fillRect/>
          </a:stretch>
        </p:blipFill>
        <p:spPr>
          <a:xfrm>
            <a:off x="739861" y="3243393"/>
            <a:ext cx="6179860" cy="2289641"/>
          </a:xfrm>
          <a:prstGeom prst="rect">
            <a:avLst/>
          </a:prstGeom>
        </p:spPr>
      </p:pic>
      <p:sp>
        <p:nvSpPr>
          <p:cNvPr id="12" name="TextBox 11"/>
          <p:cNvSpPr txBox="1"/>
          <p:nvPr/>
        </p:nvSpPr>
        <p:spPr>
          <a:xfrm>
            <a:off x="841248" y="5709890"/>
            <a:ext cx="6543446" cy="315849"/>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Evaluation makes the values consistent with the policy; improvement makes the policy greedy with respect to the values.</a:t>
            </a:r>
          </a:p>
        </p:txBody>
      </p:sp>
      <p:sp>
        <p:nvSpPr>
          <p:cNvPr id="13" name="Rectangle 12"/>
          <p:cNvSpPr/>
          <p:nvPr/>
        </p:nvSpPr>
        <p:spPr>
          <a:xfrm>
            <a:off x="7618780" y="1316736"/>
            <a:ext cx="3731940" cy="136245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618780" y="1316736"/>
            <a:ext cx="41148" cy="1362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FUNDAMENTAL DIFFERENCE</a:t>
            </a:r>
          </a:p>
        </p:txBody>
      </p:sp>
      <p:sp>
        <p:nvSpPr>
          <p:cNvPr id="16" name="TextBox 15"/>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In dynamic programming both steps used a </a:t>
            </a:r>
            <a:r>
              <a:rPr sz="1092" b="1" i="0" dirty="0">
                <a:solidFill>
                  <a:srgbClr val="333639"/>
                </a:solidFill>
                <a:latin typeface="Fira Sans"/>
              </a:rPr>
              <a:t>known model</a:t>
            </a:r>
            <a:r>
              <a:rPr sz="1092" b="0" i="0" dirty="0">
                <a:solidFill>
                  <a:srgbClr val="333639"/>
                </a:solidFill>
                <a:latin typeface="Fira Sans"/>
              </a:rPr>
              <a:t>. In reinforcement learning the model is unknown, so values must be learned from sampled experience and that changes the character of the loop entirely.</a:t>
            </a:r>
          </a:p>
        </p:txBody>
      </p:sp>
      <p:sp>
        <p:nvSpPr>
          <p:cNvPr id="17" name="TextBox 16"/>
          <p:cNvSpPr txBox="1"/>
          <p:nvPr/>
        </p:nvSpPr>
        <p:spPr>
          <a:xfrm>
            <a:off x="7618780" y="29352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GENERALIZED POLICY ITERATION, AGAIN</a:t>
            </a:r>
          </a:p>
        </p:txBody>
      </p:sp>
      <p:sp>
        <p:nvSpPr>
          <p:cNvPr id="18" name="TextBox 17"/>
          <p:cNvSpPr txBox="1"/>
          <p:nvPr/>
        </p:nvSpPr>
        <p:spPr>
          <a:xfrm>
            <a:off x="7618780" y="3191256"/>
            <a:ext cx="3731940" cy="1025550"/>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Evaluation learns how good the current behaviour is.</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Improvement uses those estimates to produce better behaviour.</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Neither has to </a:t>
            </a:r>
            <a:r>
              <a:rPr sz="1092" b="1" i="0">
                <a:solidFill>
                  <a:srgbClr val="25282A"/>
                </a:solidFill>
                <a:latin typeface="Fira Sans"/>
              </a:rPr>
              <a:t>finish</a:t>
            </a:r>
            <a:r>
              <a:rPr sz="1092" b="0" i="0">
                <a:solidFill>
                  <a:srgbClr val="333639"/>
                </a:solidFill>
                <a:latin typeface="Fira Sans"/>
              </a:rPr>
              <a:t> before the other starts. In practice they are interleaved at every step.</a:t>
            </a:r>
          </a:p>
        </p:txBody>
      </p:sp>
      <p:sp>
        <p:nvSpPr>
          <p:cNvPr id="19" name="Rectangle 18"/>
          <p:cNvSpPr/>
          <p:nvPr/>
        </p:nvSpPr>
        <p:spPr>
          <a:xfrm>
            <a:off x="7618780" y="4454550"/>
            <a:ext cx="3731940" cy="92964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4454550"/>
            <a:ext cx="41148" cy="92964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4600854"/>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GPI is the common architecture of a large class of RL algorithms: values are continually adjusted to predict returns better, while the policy is continually adjusted to be better with respect to those values.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TWO CHANGES ARE NECESSARY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Learn Q instead of V, and explore on purpose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10515600" cy="235209"/>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If the action-value function of the current policy were known exactly, the policy improvement theorem would apply unchanged.</a:t>
            </a:r>
          </a:p>
        </p:txBody>
      </p:sp>
      <p:pic>
        <p:nvPicPr>
          <p:cNvPr id="9" name="Picture 8" descr="eq_pi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4373" y="1797919"/>
            <a:ext cx="5516118" cy="411479"/>
          </a:xfrm>
          <a:prstGeom prst="rect">
            <a:avLst/>
          </a:prstGeom>
        </p:spPr>
      </p:pic>
      <p:sp>
        <p:nvSpPr>
          <p:cNvPr id="10" name="Rectangle 9"/>
          <p:cNvSpPr/>
          <p:nvPr/>
        </p:nvSpPr>
        <p:spPr>
          <a:xfrm>
            <a:off x="841248" y="243891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2676657"/>
            <a:ext cx="5102352" cy="14447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2676657"/>
            <a:ext cx="5102352"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42416" y="2841249"/>
            <a:ext cx="470001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574676"/>
                </a:solidFill>
                <a:latin typeface="Fira Sans"/>
              </a:rPr>
              <a:t>CHANGE 1  ·  ESTIMATE Q, NOT V</a:t>
            </a:r>
          </a:p>
        </p:txBody>
      </p:sp>
      <p:sp>
        <p:nvSpPr>
          <p:cNvPr id="14" name="TextBox 13"/>
          <p:cNvSpPr txBox="1"/>
          <p:nvPr/>
        </p:nvSpPr>
        <p:spPr>
          <a:xfrm>
            <a:off x="1042416" y="3152145"/>
            <a:ext cx="470001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626669"/>
                </a:solidFill>
                <a:latin typeface="Fira Sans"/>
              </a:rPr>
              <a:t>Without a model, knowing that a state is valuable does not say which action leads to that value</a:t>
            </a:r>
            <a:r>
              <a:rPr lang="it-IT" sz="1092" b="0" i="0" dirty="0">
                <a:solidFill>
                  <a:srgbClr val="626669"/>
                </a:solidFill>
                <a:latin typeface="Fira Sans"/>
              </a:rPr>
              <a:t>, </a:t>
            </a:r>
            <a:r>
              <a:rPr sz="1092" b="0" i="0" dirty="0">
                <a:solidFill>
                  <a:srgbClr val="626669"/>
                </a:solidFill>
                <a:latin typeface="Fira Sans"/>
              </a:rPr>
              <a:t>there is no p(s′, r | s, a) to look through. Estimating Q(s, a) lets the available actions be compared directly.</a:t>
            </a:r>
          </a:p>
        </p:txBody>
      </p:sp>
      <p:sp>
        <p:nvSpPr>
          <p:cNvPr id="15" name="Rectangle 14"/>
          <p:cNvSpPr/>
          <p:nvPr/>
        </p:nvSpPr>
        <p:spPr>
          <a:xfrm>
            <a:off x="6254496" y="2676657"/>
            <a:ext cx="5102352" cy="14447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254496" y="2676657"/>
            <a:ext cx="510235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55664" y="2841249"/>
            <a:ext cx="470001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C8102E"/>
                </a:solidFill>
                <a:latin typeface="Fira Sans"/>
              </a:rPr>
              <a:t>CHANGE 2  ·  THE AGENT MUST EXPLORE</a:t>
            </a:r>
          </a:p>
        </p:txBody>
      </p:sp>
      <p:sp>
        <p:nvSpPr>
          <p:cNvPr id="18" name="TextBox 17"/>
          <p:cNvSpPr txBox="1"/>
          <p:nvPr/>
        </p:nvSpPr>
        <p:spPr>
          <a:xfrm>
            <a:off x="6455664" y="3152145"/>
            <a:ext cx="4700016"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We obtain information only about the state–action pairs we actually visit. An agent that always takes the action it currently believes best may never try the others, so their values are never learned and the belief is never corrected.</a:t>
            </a:r>
          </a:p>
        </p:txBody>
      </p:sp>
      <p:pic>
        <p:nvPicPr>
          <p:cNvPr id="19" name="Picture 18" descr="eq_mc_q.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8311" y="4279900"/>
            <a:ext cx="5214409" cy="1075441"/>
          </a:xfrm>
          <a:prstGeom prst="rect">
            <a:avLst/>
          </a:prstGeom>
        </p:spPr>
      </p:pic>
      <p:sp>
        <p:nvSpPr>
          <p:cNvPr id="20" name="Rectangle 19"/>
          <p:cNvSpPr/>
          <p:nvPr/>
        </p:nvSpPr>
        <p:spPr>
          <a:xfrm>
            <a:off x="841248" y="5410205"/>
            <a:ext cx="10515600"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5410205"/>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60704" y="5556509"/>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GPI IN A MODEL-FREE SETTING</a:t>
            </a:r>
          </a:p>
        </p:txBody>
      </p:sp>
      <p:sp>
        <p:nvSpPr>
          <p:cNvPr id="23" name="TextBox 22"/>
          <p:cNvSpPr txBox="1"/>
          <p:nvPr/>
        </p:nvSpPr>
        <p:spPr>
          <a:xfrm>
            <a:off x="1060704" y="5794253"/>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And this is not “evaluation followed by greedy improvement”. The two are now </a:t>
            </a:r>
            <a:r>
              <a:rPr sz="1140" b="1" i="0">
                <a:solidFill>
                  <a:srgbClr val="333639"/>
                </a:solidFill>
                <a:latin typeface="Fira Sans"/>
              </a:rPr>
              <a:t>intertwined</a:t>
            </a:r>
            <a:r>
              <a:rPr sz="1140" b="0" i="0">
                <a:solidFill>
                  <a:srgbClr val="333639"/>
                </a:solidFill>
                <a:latin typeface="Fira Sans"/>
              </a:rPr>
              <a:t>: each episode is generated by the current ε-greedy policy, that experience improves Q, and the improved Q immediately changes the policy generating the next episode.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5.3  THE SLIPPERY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environment where the action finally matters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Random Walk was built so that the action did not affect the transition </a:t>
            </a:r>
            <a:r>
              <a:rPr lang="it-IT" sz="1282" dirty="0">
                <a:solidFill>
                  <a:srgbClr val="333639"/>
                </a:solidFill>
                <a:latin typeface="Fira Sans"/>
              </a:rPr>
              <a:t>(</a:t>
            </a:r>
            <a:r>
              <a:rPr sz="1282" b="0" i="0" dirty="0">
                <a:solidFill>
                  <a:srgbClr val="333639"/>
                </a:solidFill>
                <a:latin typeface="Fira Sans"/>
              </a:rPr>
              <a:t>perfect for prediction, useless for control</a:t>
            </a:r>
            <a:r>
              <a:rPr lang="it-IT" sz="1282" b="0" i="0" dirty="0">
                <a:solidFill>
                  <a:srgbClr val="333639"/>
                </a:solidFill>
                <a:latin typeface="Fira Sans"/>
              </a:rPr>
              <a:t>)</a:t>
            </a:r>
            <a:r>
              <a:rPr sz="1282" b="0" i="0" dirty="0">
                <a:solidFill>
                  <a:srgbClr val="333639"/>
                </a:solidFill>
                <a:latin typeface="Fira Sans"/>
              </a:rPr>
              <a:t> because every policy produced identical behavior. For control we need an environment in which </a:t>
            </a:r>
            <a:r>
              <a:rPr sz="1282" b="1" i="0" dirty="0">
                <a:solidFill>
                  <a:srgbClr val="25282A"/>
                </a:solidFill>
                <a:latin typeface="Fira Sans"/>
              </a:rPr>
              <a:t>actions influence the transition probabilities</a:t>
            </a:r>
            <a:r>
              <a:rPr sz="1282" b="0" i="0" dirty="0">
                <a:solidFill>
                  <a:srgbClr val="333639"/>
                </a:solidFill>
                <a:latin typeface="Fira Sans"/>
              </a:rPr>
              <a:t>.</a:t>
            </a:r>
          </a:p>
        </p:txBody>
      </p:sp>
      <p:pic>
        <p:nvPicPr>
          <p:cNvPr id="9" name="Picture 8" descr="slippery_walk.png"/>
          <p:cNvPicPr>
            <a:picLocks noChangeAspect="1"/>
          </p:cNvPicPr>
          <p:nvPr/>
        </p:nvPicPr>
        <p:blipFill>
          <a:blip r:embed="rId2"/>
          <a:stretch>
            <a:fillRect/>
          </a:stretch>
        </p:blipFill>
        <p:spPr>
          <a:xfrm>
            <a:off x="1185819" y="1760616"/>
            <a:ext cx="9789882" cy="2825334"/>
          </a:xfrm>
          <a:prstGeom prst="rect">
            <a:avLst/>
          </a:prstGeom>
        </p:spPr>
      </p:pic>
      <p:sp>
        <p:nvSpPr>
          <p:cNvPr id="10" name="TextBox 9"/>
          <p:cNvSpPr txBox="1"/>
          <p:nvPr/>
        </p:nvSpPr>
        <p:spPr>
          <a:xfrm>
            <a:off x="841248" y="4798050"/>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Seven non-terminal states. Choosing a direction moves that way with probability ½, stays put with probability ⅓, and goes the opposite way with probability ⅙.</a:t>
            </a:r>
          </a:p>
        </p:txBody>
      </p:sp>
      <p:sp>
        <p:nvSpPr>
          <p:cNvPr id="11" name="Rectangle 10"/>
          <p:cNvSpPr/>
          <p:nvPr/>
        </p:nvSpPr>
        <p:spPr>
          <a:xfrm>
            <a:off x="841248" y="5189718"/>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5336022"/>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Still stochastic</a:t>
            </a:r>
          </a:p>
        </p:txBody>
      </p:sp>
      <p:sp>
        <p:nvSpPr>
          <p:cNvPr id="13" name="TextBox 12"/>
          <p:cNvSpPr txBox="1"/>
          <p:nvPr/>
        </p:nvSpPr>
        <p:spPr>
          <a:xfrm>
            <a:off x="841248" y="5628630"/>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agent cannot control what happens</a:t>
            </a:r>
            <a:r>
              <a:rPr lang="it-IT" sz="1045" b="0" i="0" dirty="0">
                <a:solidFill>
                  <a:srgbClr val="626669"/>
                </a:solidFill>
                <a:latin typeface="Fira Sans"/>
              </a:rPr>
              <a:t>, </a:t>
            </a:r>
            <a:r>
              <a:rPr sz="1045" b="0" i="0" dirty="0">
                <a:solidFill>
                  <a:srgbClr val="626669"/>
                </a:solidFill>
                <a:latin typeface="Fira Sans"/>
              </a:rPr>
              <a:t>half the time the intended move does not occur. Slipperiness is preserved.</a:t>
            </a:r>
          </a:p>
        </p:txBody>
      </p:sp>
      <p:sp>
        <p:nvSpPr>
          <p:cNvPr id="14" name="Rectangle 13"/>
          <p:cNvSpPr/>
          <p:nvPr/>
        </p:nvSpPr>
        <p:spPr>
          <a:xfrm>
            <a:off x="4425696" y="5189718"/>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25696" y="5336022"/>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But actions now matter</a:t>
            </a:r>
          </a:p>
        </p:txBody>
      </p:sp>
      <p:sp>
        <p:nvSpPr>
          <p:cNvPr id="16" name="TextBox 15"/>
          <p:cNvSpPr txBox="1"/>
          <p:nvPr/>
        </p:nvSpPr>
        <p:spPr>
          <a:xfrm>
            <a:off x="4425696" y="5628630"/>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Different policies produce different expected returns, so learning which actions are more valuable can actually lead to a better policy.</a:t>
            </a:r>
          </a:p>
        </p:txBody>
      </p:sp>
      <p:sp>
        <p:nvSpPr>
          <p:cNvPr id="17" name="Rectangle 16"/>
          <p:cNvSpPr/>
          <p:nvPr/>
        </p:nvSpPr>
        <p:spPr>
          <a:xfrm>
            <a:off x="8010144" y="5189718"/>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10144" y="5336022"/>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Small enough to solve exactly</a:t>
            </a:r>
          </a:p>
        </p:txBody>
      </p:sp>
      <p:sp>
        <p:nvSpPr>
          <p:cNvPr id="19" name="TextBox 18"/>
          <p:cNvSpPr txBox="1"/>
          <p:nvPr/>
        </p:nvSpPr>
        <p:spPr>
          <a:xfrm>
            <a:off x="8010144" y="5628630"/>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Dynamic programming gives the optimal value function for reference. The learning algorithms never see it</a:t>
            </a:r>
            <a:r>
              <a:rPr lang="it-IT" sz="1045" b="0" i="0" dirty="0">
                <a:solidFill>
                  <a:srgbClr val="626669"/>
                </a:solidFill>
                <a:latin typeface="Fira Sans"/>
              </a:rPr>
              <a:t>,</a:t>
            </a:r>
            <a:r>
              <a:rPr sz="1045" b="0" i="0" dirty="0">
                <a:solidFill>
                  <a:srgbClr val="626669"/>
                </a:solidFill>
                <a:latin typeface="Fira Sans"/>
              </a:rPr>
              <a:t> we use it only to measure how close they get.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5.4  MOVING FROM EXPLORATION TO EXPLOITATION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Both ε and α decay on the same exponential schedule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35120" y="669742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32</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During learning we want the agent to move gradually from exploring to exploiting. We therefore decrease </a:t>
            </a:r>
            <a:r>
              <a:rPr sz="1235" b="0" i="0" dirty="0" err="1">
                <a:solidFill>
                  <a:srgbClr val="333639"/>
                </a:solidFill>
                <a:latin typeface="Fira Sans"/>
              </a:rPr>
              <a:t>ε</a:t>
            </a:r>
            <a:r>
              <a:rPr sz="1235" b="0" i="0" dirty="0">
                <a:solidFill>
                  <a:srgbClr val="333639"/>
                </a:solidFill>
                <a:latin typeface="Fira Sans"/>
              </a:rPr>
              <a:t>: early on it explores aggressively, later it relies on what it has learned. We decrease α for the same reason</a:t>
            </a:r>
            <a:r>
              <a:rPr lang="it-IT" sz="1235" b="0" i="0" dirty="0">
                <a:solidFill>
                  <a:srgbClr val="333639"/>
                </a:solidFill>
                <a:latin typeface="Fira Sans"/>
              </a:rPr>
              <a:t>: </a:t>
            </a:r>
            <a:r>
              <a:rPr sz="1235" b="0" i="0" dirty="0">
                <a:solidFill>
                  <a:srgbClr val="333639"/>
                </a:solidFill>
                <a:latin typeface="Fira Sans"/>
              </a:rPr>
              <a:t>a large step size learns fast from early experience, a smaller one makes the estimates progressively more stable.</a:t>
            </a:r>
          </a:p>
        </p:txBody>
      </p:sp>
      <p:pic>
        <p:nvPicPr>
          <p:cNvPr id="9" name="Picture 8" descr="decay.png"/>
          <p:cNvPicPr>
            <a:picLocks noChangeAspect="1"/>
          </p:cNvPicPr>
          <p:nvPr/>
        </p:nvPicPr>
        <p:blipFill>
          <a:blip r:embed="rId2"/>
          <a:stretch>
            <a:fillRect/>
          </a:stretch>
        </p:blipFill>
        <p:spPr>
          <a:xfrm>
            <a:off x="575667" y="2170744"/>
            <a:ext cx="6972247" cy="2918614"/>
          </a:xfrm>
          <a:prstGeom prst="rect">
            <a:avLst/>
          </a:prstGeom>
        </p:spPr>
      </p:pic>
      <p:sp>
        <p:nvSpPr>
          <p:cNvPr id="10" name="TextBox 9"/>
          <p:cNvSpPr txBox="1"/>
          <p:nvPr/>
        </p:nvSpPr>
        <p:spPr>
          <a:xfrm>
            <a:off x="826411" y="5036182"/>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The two schedules used for every control experiment: 1000 decay episodes out of 3000.</a:t>
            </a:r>
          </a:p>
        </p:txBody>
      </p:sp>
      <p:pic>
        <p:nvPicPr>
          <p:cNvPr id="11" name="Picture 10" descr="eq_mins.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5683" y="5347340"/>
            <a:ext cx="3586770" cy="209461"/>
          </a:xfrm>
          <a:prstGeom prst="rect">
            <a:avLst/>
          </a:prstGeom>
        </p:spPr>
      </p:pic>
      <p:sp>
        <p:nvSpPr>
          <p:cNvPr id="12" name="Rectangle 11"/>
          <p:cNvSpPr/>
          <p:nvPr/>
        </p:nvSpPr>
        <p:spPr>
          <a:xfrm>
            <a:off x="835120" y="5681852"/>
            <a:ext cx="6543446" cy="61112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35120" y="5681852"/>
            <a:ext cx="41148" cy="61112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54576" y="5828156"/>
            <a:ext cx="6159398" cy="31851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Both stop at a </a:t>
            </a:r>
            <a:r>
              <a:rPr sz="1045" b="1" i="0">
                <a:solidFill>
                  <a:srgbClr val="333639"/>
                </a:solidFill>
                <a:latin typeface="Fira Sans"/>
              </a:rPr>
              <a:t>positive minimum</a:t>
            </a:r>
            <a:r>
              <a:rPr sz="1045" b="0" i="0">
                <a:solidFill>
                  <a:srgbClr val="333639"/>
                </a:solidFill>
                <a:latin typeface="Fira Sans"/>
              </a:rPr>
              <a:t> rather than vanishing. This is a deliberate practical choice for finite experiments — and it has theoretical consequences, discussed in §5.7.</a:t>
            </a:r>
          </a:p>
        </p:txBody>
      </p:sp>
      <p:sp>
        <p:nvSpPr>
          <p:cNvPr id="15" name="Rectangle 14"/>
          <p:cNvSpPr/>
          <p:nvPr/>
        </p:nvSpPr>
        <p:spPr>
          <a:xfrm>
            <a:off x="7618780" y="1316736"/>
            <a:ext cx="3731940" cy="194995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618780" y="1316736"/>
            <a:ext cx="41148" cy="194995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01660" y="1399032"/>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behaviour policy</a:t>
            </a:r>
          </a:p>
        </p:txBody>
      </p:sp>
      <p:sp>
        <p:nvSpPr>
          <p:cNvPr id="18" name="TextBox 17"/>
          <p:cNvSpPr txBox="1"/>
          <p:nvPr/>
        </p:nvSpPr>
        <p:spPr>
          <a:xfrm>
            <a:off x="7801660" y="1700784"/>
            <a:ext cx="3421044" cy="1492758"/>
          </a:xfrm>
          <a:prstGeom prst="rect">
            <a:avLst/>
          </a:prstGeom>
          <a:noFill/>
        </p:spPr>
        <p:txBody>
          <a:bodyPr wrap="none" lIns="0" tIns="0" rIns="0" bIns="0" anchor="t">
            <a:noAutofit/>
          </a:bodyPr>
          <a:lstStyle/>
          <a:p>
            <a:pPr marL="0" indent="0" algn="l">
              <a:lnSpc>
                <a:spcPts val="1147"/>
              </a:lnSpc>
              <a:spcBef>
                <a:spcPts val="0"/>
              </a:spcBef>
              <a:spcAft>
                <a:spcPts val="0"/>
              </a:spcAft>
              <a:buNone/>
            </a:pPr>
            <a:r>
              <a:rPr sz="882" b="0" i="0">
                <a:solidFill>
                  <a:srgbClr val="1F2A37"/>
                </a:solidFill>
                <a:latin typeface="Consolas"/>
              </a:rPr>
              <a:t>def select_action(state, q, epsilon=0.1):</a:t>
            </a:r>
          </a:p>
          <a:p>
            <a:pPr marL="0" indent="0" algn="l">
              <a:lnSpc>
                <a:spcPts val="1147"/>
              </a:lnSpc>
              <a:spcBef>
                <a:spcPts val="0"/>
              </a:spcBef>
              <a:spcAft>
                <a:spcPts val="0"/>
              </a:spcAft>
              <a:buNone/>
            </a:pPr>
            <a:r>
              <a:rPr sz="882" b="0" i="0">
                <a:solidFill>
                  <a:srgbClr val="333639"/>
                </a:solidFill>
                <a:latin typeface="Consolas"/>
              </a:rPr>
              <a:t> </a:t>
            </a:r>
          </a:p>
          <a:p>
            <a:pPr marL="0" indent="0" algn="l">
              <a:lnSpc>
                <a:spcPts val="1147"/>
              </a:lnSpc>
              <a:spcBef>
                <a:spcPts val="0"/>
              </a:spcBef>
              <a:spcAft>
                <a:spcPts val="0"/>
              </a:spcAft>
              <a:buNone/>
            </a:pPr>
            <a:r>
              <a:rPr sz="882" b="0" i="0">
                <a:solidFill>
                  <a:srgbClr val="1F2A37"/>
                </a:solidFill>
                <a:latin typeface="Consolas"/>
              </a:rPr>
              <a:t>    if np.random.uniform() &gt; epsilon:</a:t>
            </a:r>
          </a:p>
          <a:p>
            <a:pPr marL="0" indent="0" algn="l">
              <a:lnSpc>
                <a:spcPts val="1147"/>
              </a:lnSpc>
              <a:spcBef>
                <a:spcPts val="0"/>
              </a:spcBef>
              <a:spcAft>
                <a:spcPts val="0"/>
              </a:spcAft>
              <a:buNone/>
            </a:pPr>
            <a:r>
              <a:rPr sz="882" b="0" i="0">
                <a:solidFill>
                  <a:srgbClr val="1F2A37"/>
                </a:solidFill>
                <a:latin typeface="Consolas"/>
              </a:rPr>
              <a:t>        </a:t>
            </a:r>
            <a:r>
              <a:rPr sz="882" b="0" i="1">
                <a:solidFill>
                  <a:srgbClr val="768896"/>
                </a:solidFill>
                <a:latin typeface="Consolas"/>
              </a:rPr>
              <a:t># exploit: the highest estimated value</a:t>
            </a:r>
          </a:p>
          <a:p>
            <a:pPr marL="0" indent="0" algn="l">
              <a:lnSpc>
                <a:spcPts val="1147"/>
              </a:lnSpc>
              <a:spcBef>
                <a:spcPts val="0"/>
              </a:spcBef>
              <a:spcAft>
                <a:spcPts val="0"/>
              </a:spcAft>
              <a:buNone/>
            </a:pPr>
            <a:r>
              <a:rPr sz="882" b="1" i="0">
                <a:solidFill>
                  <a:srgbClr val="574676"/>
                </a:solidFill>
                <a:latin typeface="Consolas"/>
              </a:rPr>
              <a:t>        action = np.argmax(q[state])</a:t>
            </a:r>
          </a:p>
          <a:p>
            <a:pPr marL="0" indent="0" algn="l">
              <a:lnSpc>
                <a:spcPts val="1147"/>
              </a:lnSpc>
              <a:spcBef>
                <a:spcPts val="0"/>
              </a:spcBef>
              <a:spcAft>
                <a:spcPts val="0"/>
              </a:spcAft>
              <a:buNone/>
            </a:pPr>
            <a:r>
              <a:rPr sz="882" b="0" i="0">
                <a:solidFill>
                  <a:srgbClr val="1F2A37"/>
                </a:solidFill>
                <a:latin typeface="Consolas"/>
              </a:rPr>
              <a:t>    else:</a:t>
            </a:r>
          </a:p>
          <a:p>
            <a:pPr marL="0" indent="0" algn="l">
              <a:lnSpc>
                <a:spcPts val="1147"/>
              </a:lnSpc>
              <a:spcBef>
                <a:spcPts val="0"/>
              </a:spcBef>
              <a:spcAft>
                <a:spcPts val="0"/>
              </a:spcAft>
              <a:buNone/>
            </a:pPr>
            <a:r>
              <a:rPr sz="882" b="0" i="0">
                <a:solidFill>
                  <a:srgbClr val="1F2A37"/>
                </a:solidFill>
                <a:latin typeface="Consolas"/>
              </a:rPr>
              <a:t>        </a:t>
            </a:r>
            <a:r>
              <a:rPr sz="882" b="0" i="1">
                <a:solidFill>
                  <a:srgbClr val="768896"/>
                </a:solidFill>
                <a:latin typeface="Consolas"/>
              </a:rPr>
              <a:t># explore: uniformly at random</a:t>
            </a:r>
          </a:p>
          <a:p>
            <a:pPr marL="0" indent="0" algn="l">
              <a:lnSpc>
                <a:spcPts val="1147"/>
              </a:lnSpc>
              <a:spcBef>
                <a:spcPts val="0"/>
              </a:spcBef>
              <a:spcAft>
                <a:spcPts val="0"/>
              </a:spcAft>
              <a:buNone/>
            </a:pPr>
            <a:r>
              <a:rPr sz="882" b="1" i="0">
                <a:solidFill>
                  <a:srgbClr val="574676"/>
                </a:solidFill>
                <a:latin typeface="Consolas"/>
              </a:rPr>
              <a:t>        action = np.random.randint(q.shape[1])</a:t>
            </a:r>
          </a:p>
          <a:p>
            <a:pPr marL="0" indent="0" algn="l">
              <a:lnSpc>
                <a:spcPts val="1147"/>
              </a:lnSpc>
              <a:spcBef>
                <a:spcPts val="0"/>
              </a:spcBef>
              <a:spcAft>
                <a:spcPts val="0"/>
              </a:spcAft>
              <a:buNone/>
            </a:pPr>
            <a:r>
              <a:rPr sz="882" b="0" i="0">
                <a:solidFill>
                  <a:srgbClr val="333639"/>
                </a:solidFill>
                <a:latin typeface="Consolas"/>
              </a:rPr>
              <a:t> </a:t>
            </a:r>
          </a:p>
          <a:p>
            <a:pPr marL="0" indent="0" algn="l">
              <a:lnSpc>
                <a:spcPts val="1147"/>
              </a:lnSpc>
              <a:spcBef>
                <a:spcPts val="0"/>
              </a:spcBef>
              <a:spcAft>
                <a:spcPts val="0"/>
              </a:spcAft>
              <a:buNone/>
            </a:pPr>
            <a:r>
              <a:rPr sz="882" b="0" i="0">
                <a:solidFill>
                  <a:srgbClr val="1F2A37"/>
                </a:solidFill>
                <a:latin typeface="Consolas"/>
              </a:rPr>
              <a:t>    return action</a:t>
            </a:r>
          </a:p>
        </p:txBody>
      </p:sp>
      <p:sp>
        <p:nvSpPr>
          <p:cNvPr id="19" name="TextBox 18"/>
          <p:cNvSpPr txBox="1"/>
          <p:nvPr/>
        </p:nvSpPr>
        <p:spPr>
          <a:xfrm>
            <a:off x="7618780" y="3504438"/>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HOW THE SCHEDULE IS BUILT</a:t>
            </a:r>
          </a:p>
        </p:txBody>
      </p:sp>
      <p:sp>
        <p:nvSpPr>
          <p:cNvPr id="20" name="TextBox 19"/>
          <p:cNvSpPr txBox="1"/>
          <p:nvPr/>
        </p:nvSpPr>
        <p:spPr>
          <a:xfrm>
            <a:off x="7618780" y="3760470"/>
            <a:ext cx="3731940" cy="1264005"/>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950" b="0" i="0" dirty="0" err="1">
                <a:solidFill>
                  <a:srgbClr val="25282A"/>
                </a:solidFill>
                <a:latin typeface="Consolas"/>
              </a:rPr>
              <a:t>np.logspace</a:t>
            </a:r>
            <a:r>
              <a:rPr sz="1045" b="0" i="0" dirty="0">
                <a:solidFill>
                  <a:srgbClr val="333639"/>
                </a:solidFill>
                <a:latin typeface="Fira Sans"/>
              </a:rPr>
              <a:t> generates a geometric sequence, which is then rescaled to run from the initial value down to the minimum.</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The remainder of the run is padded with the minimum value.</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The whole schedule is computed </a:t>
            </a:r>
            <a:r>
              <a:rPr sz="1045" b="1" i="0" dirty="0">
                <a:solidFill>
                  <a:srgbClr val="25282A"/>
                </a:solidFill>
                <a:latin typeface="Fira Sans"/>
              </a:rPr>
              <a:t>once</a:t>
            </a:r>
            <a:r>
              <a:rPr sz="1045" b="0" i="0" dirty="0">
                <a:solidFill>
                  <a:srgbClr val="333639"/>
                </a:solidFill>
                <a:latin typeface="Fira Sans"/>
              </a:rPr>
              <a:t>, before training, and indexed by episode</a:t>
            </a:r>
            <a:r>
              <a:rPr lang="it-IT" sz="1045" b="0" i="0" dirty="0">
                <a:solidFill>
                  <a:srgbClr val="333639"/>
                </a:solidFill>
                <a:latin typeface="Fira Sans"/>
              </a:rPr>
              <a:t>,</a:t>
            </a:r>
            <a:r>
              <a:rPr sz="1045" b="0" i="0" dirty="0">
                <a:solidFill>
                  <a:srgbClr val="333639"/>
                </a:solidFill>
                <a:latin typeface="Fira Sans"/>
              </a:rPr>
              <a:t> not recomputed at every step.</a:t>
            </a:r>
          </a:p>
        </p:txBody>
      </p:sp>
      <p:sp>
        <p:nvSpPr>
          <p:cNvPr id="21" name="Rectangle 20"/>
          <p:cNvSpPr/>
          <p:nvPr/>
        </p:nvSpPr>
        <p:spPr>
          <a:xfrm>
            <a:off x="7618780" y="5541264"/>
            <a:ext cx="3731940" cy="74843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5541264"/>
            <a:ext cx="41148" cy="74843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5687568"/>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Indexing by </a:t>
            </a:r>
            <a:r>
              <a:rPr sz="997" b="1" i="0">
                <a:solidFill>
                  <a:srgbClr val="333639"/>
                </a:solidFill>
                <a:latin typeface="Fira Sans"/>
              </a:rPr>
              <a:t>episode</a:t>
            </a:r>
            <a:r>
              <a:rPr sz="997" b="0" i="0">
                <a:solidFill>
                  <a:srgbClr val="333639"/>
                </a:solidFill>
                <a:latin typeface="Fira Sans"/>
              </a:rPr>
              <a:t> rather than by visits to a state–action pair is itself a simplification. The theoretical conditions are stated per pair.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5.5  MONTE CARLO CONTROL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Sample an episode, update Q at first visits, let the policy follow</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33</a:t>
            </a:r>
          </a:p>
        </p:txBody>
      </p:sp>
      <p:sp>
        <p:nvSpPr>
          <p:cNvPr id="8" name="Rectangle 7"/>
          <p:cNvSpPr/>
          <p:nvPr/>
        </p:nvSpPr>
        <p:spPr>
          <a:xfrm>
            <a:off x="841248" y="1316736"/>
            <a:ext cx="7315200" cy="4967937"/>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7" y="1316736"/>
            <a:ext cx="45719" cy="4967937"/>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73836" y="1527126"/>
            <a:ext cx="7004304" cy="4774005"/>
          </a:xfrm>
          <a:prstGeom prst="rect">
            <a:avLst/>
          </a:prstGeom>
          <a:noFill/>
        </p:spPr>
        <p:txBody>
          <a:bodyPr wrap="none" lIns="0" tIns="0" rIns="0" bIns="0" anchor="t">
            <a:noAutofit/>
          </a:bodyPr>
          <a:lstStyle/>
          <a:p>
            <a:pPr marL="0" indent="0" algn="l">
              <a:lnSpc>
                <a:spcPts val="1070"/>
              </a:lnSpc>
              <a:spcBef>
                <a:spcPts val="0"/>
              </a:spcBef>
              <a:spcAft>
                <a:spcPts val="0"/>
              </a:spcAft>
              <a:buNone/>
            </a:pPr>
            <a:r>
              <a:rPr sz="823" b="0" i="0" dirty="0">
                <a:solidFill>
                  <a:srgbClr val="1F2A37"/>
                </a:solidFill>
                <a:latin typeface="Consolas"/>
              </a:rPr>
              <a:t>def </a:t>
            </a:r>
            <a:r>
              <a:rPr sz="823" b="0" i="0" dirty="0" err="1">
                <a:solidFill>
                  <a:srgbClr val="1F2A37"/>
                </a:solidFill>
                <a:latin typeface="Consolas"/>
              </a:rPr>
              <a:t>mc_control</a:t>
            </a:r>
            <a:r>
              <a:rPr sz="823" b="0" i="0" dirty="0">
                <a:solidFill>
                  <a:srgbClr val="1F2A37"/>
                </a:solidFill>
                <a:latin typeface="Consolas"/>
              </a:rPr>
              <a:t>(env, gamma=0.99, </a:t>
            </a:r>
            <a:r>
              <a:rPr sz="823" b="0" i="0" dirty="0" err="1">
                <a:solidFill>
                  <a:srgbClr val="1F2A37"/>
                </a:solidFill>
                <a:latin typeface="Consolas"/>
              </a:rPr>
              <a:t>init_alpha</a:t>
            </a:r>
            <a:r>
              <a:rPr sz="823" b="0" i="0" dirty="0">
                <a:solidFill>
                  <a:srgbClr val="1F2A37"/>
                </a:solidFill>
                <a:latin typeface="Consolas"/>
              </a:rPr>
              <a:t>=0.5, </a:t>
            </a:r>
            <a:r>
              <a:rPr sz="823" b="0" i="0" dirty="0" err="1">
                <a:solidFill>
                  <a:srgbClr val="1F2A37"/>
                </a:solidFill>
                <a:latin typeface="Consolas"/>
              </a:rPr>
              <a:t>min_alpha</a:t>
            </a:r>
            <a:r>
              <a:rPr sz="823" b="0" i="0" dirty="0">
                <a:solidFill>
                  <a:srgbClr val="1F2A37"/>
                </a:solidFill>
                <a:latin typeface="Consolas"/>
              </a:rPr>
              <a:t>=0.01,</a:t>
            </a:r>
          </a:p>
          <a:p>
            <a:pPr marL="0" indent="0" algn="l">
              <a:lnSpc>
                <a:spcPts val="1070"/>
              </a:lnSpc>
              <a:spcBef>
                <a:spcPts val="0"/>
              </a:spcBef>
              <a:spcAft>
                <a:spcPts val="0"/>
              </a:spcAft>
              <a:buNone/>
            </a:pPr>
            <a:r>
              <a:rPr sz="823" b="0" i="0" dirty="0">
                <a:solidFill>
                  <a:srgbClr val="1F2A37"/>
                </a:solidFill>
                <a:latin typeface="Consolas"/>
              </a:rPr>
              <a:t>               </a:t>
            </a:r>
            <a:r>
              <a:rPr sz="823" b="0" i="0" dirty="0" err="1">
                <a:solidFill>
                  <a:srgbClr val="1F2A37"/>
                </a:solidFill>
                <a:latin typeface="Consolas"/>
              </a:rPr>
              <a:t>init_epsilon</a:t>
            </a:r>
            <a:r>
              <a:rPr sz="823" b="0" i="0" dirty="0">
                <a:solidFill>
                  <a:srgbClr val="1F2A37"/>
                </a:solidFill>
                <a:latin typeface="Consolas"/>
              </a:rPr>
              <a:t>=1.0, </a:t>
            </a:r>
            <a:r>
              <a:rPr sz="823" b="0" i="0" dirty="0" err="1">
                <a:solidFill>
                  <a:srgbClr val="1F2A37"/>
                </a:solidFill>
                <a:latin typeface="Consolas"/>
              </a:rPr>
              <a:t>min_epsilon</a:t>
            </a:r>
            <a:r>
              <a:rPr sz="823" b="0" i="0" dirty="0">
                <a:solidFill>
                  <a:srgbClr val="1F2A37"/>
                </a:solidFill>
                <a:latin typeface="Consolas"/>
              </a:rPr>
              <a:t>=0.1,</a:t>
            </a:r>
          </a:p>
          <a:p>
            <a:pPr marL="0" indent="0" algn="l">
              <a:lnSpc>
                <a:spcPts val="1070"/>
              </a:lnSpc>
              <a:spcBef>
                <a:spcPts val="0"/>
              </a:spcBef>
              <a:spcAft>
                <a:spcPts val="0"/>
              </a:spcAft>
              <a:buNone/>
            </a:pPr>
            <a:r>
              <a:rPr sz="823" b="0" i="0" dirty="0">
                <a:solidFill>
                  <a:srgbClr val="1F2A37"/>
                </a:solidFill>
                <a:latin typeface="Consolas"/>
              </a:rPr>
              <a:t>               </a:t>
            </a:r>
            <a:r>
              <a:rPr sz="823" b="0" i="0" dirty="0" err="1">
                <a:solidFill>
                  <a:srgbClr val="1F2A37"/>
                </a:solidFill>
                <a:latin typeface="Consolas"/>
              </a:rPr>
              <a:t>decay_episodes</a:t>
            </a:r>
            <a:r>
              <a:rPr sz="823" b="0" i="0" dirty="0">
                <a:solidFill>
                  <a:srgbClr val="1F2A37"/>
                </a:solidFill>
                <a:latin typeface="Consolas"/>
              </a:rPr>
              <a:t>=1000, </a:t>
            </a:r>
            <a:r>
              <a:rPr sz="823" b="0" i="0" dirty="0" err="1">
                <a:solidFill>
                  <a:srgbClr val="1F2A37"/>
                </a:solidFill>
                <a:latin typeface="Consolas"/>
              </a:rPr>
              <a:t>n_episodes</a:t>
            </a:r>
            <a:r>
              <a:rPr sz="823" b="0" i="0" dirty="0">
                <a:solidFill>
                  <a:srgbClr val="1F2A37"/>
                </a:solidFill>
                <a:latin typeface="Consolas"/>
              </a:rPr>
              <a:t>=3000, </a:t>
            </a:r>
            <a:r>
              <a:rPr sz="823" b="0" i="0" dirty="0" err="1">
                <a:solidFill>
                  <a:srgbClr val="1F2A37"/>
                </a:solidFill>
                <a:latin typeface="Consolas"/>
              </a:rPr>
              <a:t>max_steps</a:t>
            </a:r>
            <a:r>
              <a:rPr sz="823" b="0" i="0" dirty="0">
                <a:solidFill>
                  <a:srgbClr val="1F2A37"/>
                </a:solidFill>
                <a:latin typeface="Consolas"/>
              </a:rPr>
              <a:t>=200):</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alphas   = </a:t>
            </a:r>
            <a:r>
              <a:rPr sz="823" b="0" i="0" dirty="0" err="1">
                <a:solidFill>
                  <a:srgbClr val="1F2A37"/>
                </a:solidFill>
                <a:latin typeface="Consolas"/>
              </a:rPr>
              <a:t>decay_schedule</a:t>
            </a:r>
            <a:r>
              <a:rPr sz="823" b="0" i="0" dirty="0">
                <a:solidFill>
                  <a:srgbClr val="1F2A37"/>
                </a:solidFill>
                <a:latin typeface="Consolas"/>
              </a:rPr>
              <a:t>(</a:t>
            </a:r>
            <a:r>
              <a:rPr sz="823" b="0" i="0" dirty="0" err="1">
                <a:solidFill>
                  <a:srgbClr val="1F2A37"/>
                </a:solidFill>
                <a:latin typeface="Consolas"/>
              </a:rPr>
              <a:t>init_alpha</a:t>
            </a:r>
            <a:r>
              <a:rPr sz="823" b="0" i="0" dirty="0">
                <a:solidFill>
                  <a:srgbClr val="1F2A37"/>
                </a:solidFill>
                <a:latin typeface="Consolas"/>
              </a:rPr>
              <a:t>,   </a:t>
            </a:r>
            <a:r>
              <a:rPr sz="823" b="0" i="0" dirty="0" err="1">
                <a:solidFill>
                  <a:srgbClr val="1F2A37"/>
                </a:solidFill>
                <a:latin typeface="Consolas"/>
              </a:rPr>
              <a:t>min_alpha</a:t>
            </a:r>
            <a:r>
              <a:rPr sz="823" b="0" i="0" dirty="0">
                <a:solidFill>
                  <a:srgbClr val="1F2A37"/>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epsilons = </a:t>
            </a:r>
            <a:r>
              <a:rPr sz="823" b="0" i="0" dirty="0" err="1">
                <a:solidFill>
                  <a:srgbClr val="1F2A37"/>
                </a:solidFill>
                <a:latin typeface="Consolas"/>
              </a:rPr>
              <a:t>decay_schedule</a:t>
            </a:r>
            <a:r>
              <a:rPr sz="823" b="0" i="0" dirty="0">
                <a:solidFill>
                  <a:srgbClr val="1F2A37"/>
                </a:solidFill>
                <a:latin typeface="Consolas"/>
              </a:rPr>
              <a:t>(</a:t>
            </a:r>
            <a:r>
              <a:rPr sz="823" b="0" i="0" dirty="0" err="1">
                <a:solidFill>
                  <a:srgbClr val="1F2A37"/>
                </a:solidFill>
                <a:latin typeface="Consolas"/>
              </a:rPr>
              <a:t>init_epsilon</a:t>
            </a:r>
            <a:r>
              <a:rPr sz="823" b="0" i="0" dirty="0">
                <a:solidFill>
                  <a:srgbClr val="1F2A37"/>
                </a:solidFill>
                <a:latin typeface="Consolas"/>
              </a:rPr>
              <a:t>, </a:t>
            </a:r>
            <a:r>
              <a:rPr sz="823" b="0" i="0" dirty="0" err="1">
                <a:solidFill>
                  <a:srgbClr val="1F2A37"/>
                </a:solidFill>
                <a:latin typeface="Consolas"/>
              </a:rPr>
              <a:t>min_epsilon</a:t>
            </a:r>
            <a:r>
              <a:rPr sz="823" b="0" i="0" dirty="0">
                <a:solidFill>
                  <a:srgbClr val="1F2A37"/>
                </a:solidFill>
                <a:latin typeface="Consolas"/>
              </a:rPr>
              <a:t>, ...)</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q = </a:t>
            </a:r>
            <a:r>
              <a:rPr sz="823" b="0" i="0" dirty="0" err="1">
                <a:solidFill>
                  <a:srgbClr val="1F2A37"/>
                </a:solidFill>
                <a:latin typeface="Consolas"/>
              </a:rPr>
              <a:t>np.zeros</a:t>
            </a:r>
            <a:r>
              <a:rPr sz="823" b="0" i="0" dirty="0">
                <a:solidFill>
                  <a:srgbClr val="1F2A37"/>
                </a:solidFill>
                <a:latin typeface="Consolas"/>
              </a:rPr>
              <a:t>((</a:t>
            </a:r>
            <a:r>
              <a:rPr sz="823" b="0" i="0" dirty="0" err="1">
                <a:solidFill>
                  <a:srgbClr val="1F2A37"/>
                </a:solidFill>
                <a:latin typeface="Consolas"/>
              </a:rPr>
              <a:t>env.observation_space</a:t>
            </a:r>
            <a:r>
              <a:rPr sz="823" b="0" i="0" dirty="0">
                <a:solidFill>
                  <a:srgbClr val="1F2A37"/>
                </a:solidFill>
                <a:latin typeface="Consolas"/>
              </a:rPr>
              <a:t>, </a:t>
            </a:r>
            <a:r>
              <a:rPr sz="823" b="0" i="0" dirty="0" err="1">
                <a:solidFill>
                  <a:srgbClr val="1F2A37"/>
                </a:solidFill>
                <a:latin typeface="Consolas"/>
              </a:rPr>
              <a:t>env.action_space</a:t>
            </a:r>
            <a:r>
              <a:rPr sz="823" b="0" i="0" dirty="0">
                <a:solidFill>
                  <a:srgbClr val="1F2A37"/>
                </a:solidFill>
                <a:latin typeface="Consolas"/>
              </a:rPr>
              <a:t>))</a:t>
            </a:r>
            <a:endParaRPr lang="it-IT" sz="823" b="0" i="0" dirty="0">
              <a:solidFill>
                <a:srgbClr val="1F2A37"/>
              </a:solidFill>
              <a:latin typeface="Consolas"/>
            </a:endParaRPr>
          </a:p>
          <a:p>
            <a:pPr marL="0" indent="0" algn="l">
              <a:lnSpc>
                <a:spcPts val="1070"/>
              </a:lnSpc>
              <a:spcBef>
                <a:spcPts val="0"/>
              </a:spcBef>
              <a:spcAft>
                <a:spcPts val="0"/>
              </a:spcAft>
              <a:buNone/>
            </a:pPr>
            <a:endParaRPr lang="it-IT" sz="823" dirty="0">
              <a:solidFill>
                <a:srgbClr val="1F2A37"/>
              </a:solidFill>
              <a:latin typeface="Consolas"/>
            </a:endParaRPr>
          </a:p>
          <a:p>
            <a:pPr>
              <a:lnSpc>
                <a:spcPts val="1070"/>
              </a:lnSpc>
            </a:pPr>
            <a:r>
              <a:rPr lang="it-IT" sz="823" dirty="0">
                <a:solidFill>
                  <a:srgbClr val="1F2A37"/>
                </a:solidFill>
                <a:latin typeface="Consolas"/>
              </a:rPr>
              <a:t>    </a:t>
            </a:r>
            <a:r>
              <a:rPr lang="it-IT" sz="823" dirty="0" err="1">
                <a:solidFill>
                  <a:srgbClr val="1F2A37"/>
                </a:solidFill>
                <a:latin typeface="Consolas"/>
              </a:rPr>
              <a:t>f</a:t>
            </a:r>
            <a:r>
              <a:rPr sz="823" b="0" i="0" dirty="0">
                <a:solidFill>
                  <a:srgbClr val="1F2A37"/>
                </a:solidFill>
                <a:latin typeface="Consolas"/>
              </a:rPr>
              <a:t>or e in range(</a:t>
            </a:r>
            <a:r>
              <a:rPr sz="823" b="0" i="0" dirty="0" err="1">
                <a:solidFill>
                  <a:srgbClr val="1F2A37"/>
                </a:solidFill>
                <a:latin typeface="Consolas"/>
              </a:rPr>
              <a:t>n_episodes</a:t>
            </a:r>
            <a:r>
              <a:rPr sz="823" b="0" i="0" dirty="0">
                <a:solidFill>
                  <a:srgbClr val="1F2A37"/>
                </a:solidFill>
                <a:latin typeface="Consolas"/>
              </a:rPr>
              <a:t>):</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1" i="0" dirty="0">
                <a:solidFill>
                  <a:srgbClr val="574676"/>
                </a:solidFill>
                <a:latin typeface="Consolas"/>
              </a:rPr>
              <a:t>        </a:t>
            </a:r>
            <a:r>
              <a:rPr sz="823" b="0" i="1" dirty="0">
                <a:solidFill>
                  <a:srgbClr val="768896"/>
                </a:solidFill>
                <a:latin typeface="Consolas"/>
              </a:rPr>
              <a:t># the episode is generated by the CURRENT policy</a:t>
            </a:r>
          </a:p>
          <a:p>
            <a:pPr marL="0" indent="0" algn="l">
              <a:lnSpc>
                <a:spcPts val="1070"/>
              </a:lnSpc>
              <a:spcBef>
                <a:spcPts val="0"/>
              </a:spcBef>
              <a:spcAft>
                <a:spcPts val="0"/>
              </a:spcAft>
              <a:buNone/>
            </a:pPr>
            <a:r>
              <a:rPr sz="823" b="1" i="0" dirty="0">
                <a:solidFill>
                  <a:srgbClr val="574676"/>
                </a:solidFill>
                <a:latin typeface="Consolas"/>
              </a:rPr>
              <a:t>        trajectory = </a:t>
            </a:r>
            <a:r>
              <a:rPr sz="823" b="1" i="0" dirty="0" err="1">
                <a:solidFill>
                  <a:srgbClr val="574676"/>
                </a:solidFill>
                <a:latin typeface="Consolas"/>
              </a:rPr>
              <a:t>generate_trajectory_control</a:t>
            </a:r>
            <a:r>
              <a:rPr sz="823" b="1" i="0" dirty="0">
                <a:solidFill>
                  <a:srgbClr val="574676"/>
                </a:solidFill>
                <a:latin typeface="Consolas"/>
              </a:rPr>
              <a:t>(</a:t>
            </a:r>
          </a:p>
          <a:p>
            <a:pPr marL="0" indent="0" algn="l">
              <a:lnSpc>
                <a:spcPts val="1070"/>
              </a:lnSpc>
              <a:spcBef>
                <a:spcPts val="0"/>
              </a:spcBef>
              <a:spcAft>
                <a:spcPts val="0"/>
              </a:spcAft>
              <a:buNone/>
            </a:pPr>
            <a:r>
              <a:rPr sz="823" b="0" i="0" dirty="0">
                <a:solidFill>
                  <a:srgbClr val="1F2A37"/>
                </a:solidFill>
                <a:latin typeface="Consolas"/>
              </a:rPr>
              <a:t>            </a:t>
            </a:r>
            <a:r>
              <a:rPr sz="823" b="0" i="0" dirty="0" err="1">
                <a:solidFill>
                  <a:srgbClr val="1F2A37"/>
                </a:solidFill>
                <a:latin typeface="Consolas"/>
              </a:rPr>
              <a:t>select_action</a:t>
            </a:r>
            <a:r>
              <a:rPr sz="823" b="0" i="0" dirty="0">
                <a:solidFill>
                  <a:srgbClr val="1F2A37"/>
                </a:solidFill>
                <a:latin typeface="Consolas"/>
              </a:rPr>
              <a:t>, q, env, epsilons[e], </a:t>
            </a:r>
            <a:r>
              <a:rPr sz="823" b="0" i="0" dirty="0" err="1">
                <a:solidFill>
                  <a:srgbClr val="1F2A37"/>
                </a:solidFill>
                <a:latin typeface="Consolas"/>
              </a:rPr>
              <a:t>max_steps</a:t>
            </a:r>
            <a:r>
              <a:rPr sz="823" b="0" i="0" dirty="0">
                <a:solidFill>
                  <a:srgbClr val="1F2A37"/>
                </a:solidFill>
                <a:latin typeface="Consolas"/>
              </a:rPr>
              <a:t>)</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returns = </a:t>
            </a:r>
            <a:r>
              <a:rPr sz="823" b="0" i="0" dirty="0" err="1">
                <a:solidFill>
                  <a:srgbClr val="1F2A37"/>
                </a:solidFill>
                <a:latin typeface="Consolas"/>
              </a:rPr>
              <a:t>compute_returns</a:t>
            </a:r>
            <a:r>
              <a:rPr sz="823" b="0" i="0" dirty="0">
                <a:solidFill>
                  <a:srgbClr val="1F2A37"/>
                </a:solidFill>
                <a:latin typeface="Consolas"/>
              </a:rPr>
              <a:t>(trajectory[:, 2], gamma)</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1" i="0" dirty="0">
                <a:solidFill>
                  <a:srgbClr val="574676"/>
                </a:solidFill>
                <a:latin typeface="Consolas"/>
              </a:rPr>
              <a:t>        </a:t>
            </a:r>
            <a:r>
              <a:rPr sz="823" b="0" i="1" dirty="0">
                <a:solidFill>
                  <a:srgbClr val="768896"/>
                </a:solidFill>
                <a:latin typeface="Consolas"/>
              </a:rPr>
              <a:t># first visit, now to a STATE-ACTION pair</a:t>
            </a:r>
          </a:p>
          <a:p>
            <a:pPr marL="0" indent="0" algn="l">
              <a:lnSpc>
                <a:spcPts val="1070"/>
              </a:lnSpc>
              <a:spcBef>
                <a:spcPts val="0"/>
              </a:spcBef>
              <a:spcAft>
                <a:spcPts val="0"/>
              </a:spcAft>
              <a:buNone/>
            </a:pPr>
            <a:r>
              <a:rPr sz="823" b="0" i="0" dirty="0">
                <a:solidFill>
                  <a:srgbClr val="1F2A37"/>
                </a:solidFill>
                <a:latin typeface="Consolas"/>
              </a:rPr>
              <a:t>        visited = </a:t>
            </a:r>
            <a:r>
              <a:rPr sz="823" b="0" i="0" dirty="0" err="1">
                <a:solidFill>
                  <a:srgbClr val="1F2A37"/>
                </a:solidFill>
                <a:latin typeface="Consolas"/>
              </a:rPr>
              <a:t>np.zeros</a:t>
            </a:r>
            <a:r>
              <a:rPr sz="823" b="0" i="0" dirty="0">
                <a:solidFill>
                  <a:srgbClr val="1F2A37"/>
                </a:solidFill>
                <a:latin typeface="Consolas"/>
              </a:rPr>
              <a:t>((</a:t>
            </a:r>
            <a:r>
              <a:rPr sz="823" b="0" i="0" dirty="0" err="1">
                <a:solidFill>
                  <a:srgbClr val="1F2A37"/>
                </a:solidFill>
                <a:latin typeface="Consolas"/>
              </a:rPr>
              <a:t>env.observation_space</a:t>
            </a:r>
            <a:r>
              <a:rPr sz="823" b="0" i="0" dirty="0">
                <a:solidFill>
                  <a:srgbClr val="1F2A37"/>
                </a:solidFill>
                <a:latin typeface="Consolas"/>
              </a:rPr>
              <a:t>, </a:t>
            </a:r>
            <a:r>
              <a:rPr sz="823" b="0" i="0" dirty="0" err="1">
                <a:solidFill>
                  <a:srgbClr val="1F2A37"/>
                </a:solidFill>
                <a:latin typeface="Consolas"/>
              </a:rPr>
              <a:t>env.action_space</a:t>
            </a:r>
            <a:r>
              <a:rPr sz="823" b="0" i="0" dirty="0">
                <a:solidFill>
                  <a:srgbClr val="1F2A37"/>
                </a:solidFill>
                <a:latin typeface="Consolas"/>
              </a:rPr>
              <a:t>), bool)</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for t, (state, action, _, _, _) in enumerate(trajectory):</a:t>
            </a:r>
            <a:endParaRPr lang="it-IT" sz="823" b="0" i="0" dirty="0">
              <a:solidFill>
                <a:srgbClr val="1F2A37"/>
              </a:solidFill>
              <a:latin typeface="Consolas"/>
            </a:endParaRPr>
          </a:p>
          <a:p>
            <a:pPr marL="0" indent="0" algn="l">
              <a:lnSpc>
                <a:spcPts val="1070"/>
              </a:lnSpc>
              <a:spcBef>
                <a:spcPts val="0"/>
              </a:spcBef>
              <a:spcAft>
                <a:spcPts val="0"/>
              </a:spcAft>
              <a:buNone/>
            </a:pPr>
            <a:endParaRPr sz="823" b="0" i="0" dirty="0">
              <a:solidFill>
                <a:srgbClr val="1F2A37"/>
              </a:solidFill>
              <a:latin typeface="Consolas"/>
            </a:endParaRPr>
          </a:p>
          <a:p>
            <a:pPr marL="0" indent="0" algn="l">
              <a:lnSpc>
                <a:spcPts val="1070"/>
              </a:lnSpc>
              <a:spcBef>
                <a:spcPts val="0"/>
              </a:spcBef>
              <a:spcAft>
                <a:spcPts val="0"/>
              </a:spcAft>
              <a:buNone/>
            </a:pPr>
            <a:r>
              <a:rPr sz="823" b="0" i="0" dirty="0">
                <a:solidFill>
                  <a:srgbClr val="1F2A37"/>
                </a:solidFill>
                <a:latin typeface="Consolas"/>
              </a:rPr>
              <a:t>            if visited[state, action]:</a:t>
            </a:r>
          </a:p>
          <a:p>
            <a:pPr marL="0" indent="0" algn="l">
              <a:lnSpc>
                <a:spcPts val="1070"/>
              </a:lnSpc>
              <a:spcBef>
                <a:spcPts val="0"/>
              </a:spcBef>
              <a:spcAft>
                <a:spcPts val="0"/>
              </a:spcAft>
              <a:buNone/>
            </a:pPr>
            <a:r>
              <a:rPr sz="823" b="0" i="0" dirty="0">
                <a:solidFill>
                  <a:srgbClr val="1F2A37"/>
                </a:solidFill>
                <a:latin typeface="Consolas"/>
              </a:rPr>
              <a:t>                continue</a:t>
            </a:r>
          </a:p>
          <a:p>
            <a:pPr marL="0" indent="0" algn="l">
              <a:lnSpc>
                <a:spcPts val="1070"/>
              </a:lnSpc>
              <a:spcBef>
                <a:spcPts val="0"/>
              </a:spcBef>
              <a:spcAft>
                <a:spcPts val="0"/>
              </a:spcAft>
              <a:buNone/>
            </a:pPr>
            <a:r>
              <a:rPr sz="823" b="0" i="0" dirty="0">
                <a:solidFill>
                  <a:srgbClr val="1F2A37"/>
                </a:solidFill>
                <a:latin typeface="Consolas"/>
              </a:rPr>
              <a:t>            visited[state, action] = True</a:t>
            </a: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1" i="0" dirty="0">
                <a:solidFill>
                  <a:srgbClr val="574676"/>
                </a:solidFill>
                <a:latin typeface="Consolas"/>
              </a:rPr>
              <a:t>            </a:t>
            </a:r>
            <a:r>
              <a:rPr sz="823" b="1" i="0" dirty="0" err="1">
                <a:solidFill>
                  <a:srgbClr val="574676"/>
                </a:solidFill>
                <a:latin typeface="Consolas"/>
              </a:rPr>
              <a:t>mc_error</a:t>
            </a:r>
            <a:r>
              <a:rPr sz="823" b="1" i="0" dirty="0">
                <a:solidFill>
                  <a:srgbClr val="574676"/>
                </a:solidFill>
                <a:latin typeface="Consolas"/>
              </a:rPr>
              <a:t> = returns[t] - q[state, action]</a:t>
            </a:r>
          </a:p>
          <a:p>
            <a:pPr marL="0" indent="0" algn="l">
              <a:lnSpc>
                <a:spcPts val="1070"/>
              </a:lnSpc>
              <a:spcBef>
                <a:spcPts val="0"/>
              </a:spcBef>
              <a:spcAft>
                <a:spcPts val="0"/>
              </a:spcAft>
              <a:buNone/>
            </a:pPr>
            <a:r>
              <a:rPr sz="823" b="0" i="0" dirty="0">
                <a:solidFill>
                  <a:srgbClr val="1F2A37"/>
                </a:solidFill>
                <a:latin typeface="Consolas"/>
              </a:rPr>
              <a:t>            q[state, action] += alphas[e] * </a:t>
            </a:r>
            <a:r>
              <a:rPr sz="823" b="0" i="0" dirty="0" err="1">
                <a:solidFill>
                  <a:srgbClr val="1F2A37"/>
                </a:solidFill>
                <a:latin typeface="Consolas"/>
              </a:rPr>
              <a:t>mc_error</a:t>
            </a:r>
            <a:endParaRPr lang="it-IT" sz="823" b="0" i="0" dirty="0">
              <a:solidFill>
                <a:srgbClr val="1F2A37"/>
              </a:solidFill>
              <a:latin typeface="Consolas"/>
            </a:endParaRPr>
          </a:p>
          <a:p>
            <a:pPr marL="0" indent="0" algn="l">
              <a:lnSpc>
                <a:spcPts val="1070"/>
              </a:lnSpc>
              <a:spcBef>
                <a:spcPts val="0"/>
              </a:spcBef>
              <a:spcAft>
                <a:spcPts val="0"/>
              </a:spcAft>
              <a:buNone/>
            </a:pPr>
            <a:endParaRPr lang="it-IT" sz="823" dirty="0">
              <a:solidFill>
                <a:srgbClr val="1F2A37"/>
              </a:solidFill>
              <a:latin typeface="Consolas"/>
            </a:endParaRPr>
          </a:p>
          <a:p>
            <a:pPr marL="0" indent="0" algn="l">
              <a:lnSpc>
                <a:spcPts val="1070"/>
              </a:lnSpc>
              <a:spcBef>
                <a:spcPts val="0"/>
              </a:spcBef>
              <a:spcAft>
                <a:spcPts val="0"/>
              </a:spcAft>
              <a:buNone/>
            </a:pPr>
            <a:r>
              <a:rPr lang="it-IT" sz="823" b="0" i="0" dirty="0">
                <a:solidFill>
                  <a:srgbClr val="1F2A37"/>
                </a:solidFill>
                <a:latin typeface="Consolas"/>
              </a:rPr>
              <a:t>      # </a:t>
            </a:r>
            <a:r>
              <a:rPr lang="it-IT" sz="823" b="0" i="0" dirty="0" err="1">
                <a:solidFill>
                  <a:srgbClr val="1F2A37"/>
                </a:solidFill>
                <a:latin typeface="Consolas"/>
              </a:rPr>
              <a:t>Final</a:t>
            </a:r>
            <a:r>
              <a:rPr lang="it-IT" sz="823" b="0" i="0" dirty="0">
                <a:solidFill>
                  <a:srgbClr val="1F2A37"/>
                </a:solidFill>
                <a:latin typeface="Consolas"/>
              </a:rPr>
              <a:t> </a:t>
            </a:r>
            <a:r>
              <a:rPr lang="it-IT" sz="823" b="0" i="0" dirty="0" err="1">
                <a:solidFill>
                  <a:srgbClr val="1F2A37"/>
                </a:solidFill>
                <a:latin typeface="Consolas"/>
              </a:rPr>
              <a:t>greedy</a:t>
            </a:r>
            <a:r>
              <a:rPr lang="it-IT" sz="823" b="0" i="0" dirty="0">
                <a:solidFill>
                  <a:srgbClr val="1F2A37"/>
                </a:solidFill>
                <a:latin typeface="Consolas"/>
              </a:rPr>
              <a:t> policy</a:t>
            </a:r>
          </a:p>
          <a:p>
            <a:pPr marL="0" indent="0" algn="l">
              <a:lnSpc>
                <a:spcPts val="1070"/>
              </a:lnSpc>
              <a:spcBef>
                <a:spcPts val="0"/>
              </a:spcBef>
              <a:spcAft>
                <a:spcPts val="0"/>
              </a:spcAft>
              <a:buNone/>
            </a:pPr>
            <a:r>
              <a:rPr lang="it-IT" sz="823" b="0" i="0" dirty="0">
                <a:solidFill>
                  <a:srgbClr val="1F2A37"/>
                </a:solidFill>
                <a:latin typeface="Consolas"/>
              </a:rPr>
              <a:t>      </a:t>
            </a:r>
            <a:r>
              <a:rPr lang="it-IT" sz="823" b="0" i="0" dirty="0" err="1">
                <a:solidFill>
                  <a:srgbClr val="1F2A37"/>
                </a:solidFill>
                <a:latin typeface="Consolas"/>
              </a:rPr>
              <a:t>def</a:t>
            </a:r>
            <a:r>
              <a:rPr lang="it-IT" sz="823" b="0" i="0" dirty="0">
                <a:solidFill>
                  <a:srgbClr val="1F2A37"/>
                </a:solidFill>
                <a:latin typeface="Consolas"/>
              </a:rPr>
              <a:t> pi(</a:t>
            </a:r>
            <a:r>
              <a:rPr lang="it-IT" sz="823" b="0" i="0" dirty="0" err="1">
                <a:solidFill>
                  <a:srgbClr val="1F2A37"/>
                </a:solidFill>
                <a:latin typeface="Consolas"/>
              </a:rPr>
              <a:t>s</a:t>
            </a:r>
            <a:r>
              <a:rPr lang="it-IT" sz="823" b="0" i="0" dirty="0">
                <a:solidFill>
                  <a:srgbClr val="1F2A37"/>
                </a:solidFill>
                <a:latin typeface="Consolas"/>
              </a:rPr>
              <a:t>):</a:t>
            </a:r>
          </a:p>
          <a:p>
            <a:pPr marL="0" indent="0" algn="l">
              <a:lnSpc>
                <a:spcPts val="1070"/>
              </a:lnSpc>
              <a:spcBef>
                <a:spcPts val="0"/>
              </a:spcBef>
              <a:spcAft>
                <a:spcPts val="0"/>
              </a:spcAft>
              <a:buNone/>
            </a:pPr>
            <a:r>
              <a:rPr lang="it-IT" sz="823" b="0" i="0" dirty="0">
                <a:solidFill>
                  <a:srgbClr val="1F2A37"/>
                </a:solidFill>
                <a:latin typeface="Consolas"/>
              </a:rPr>
              <a:t>        </a:t>
            </a:r>
            <a:r>
              <a:rPr lang="it-IT" sz="823" b="0" i="0" dirty="0" err="1">
                <a:solidFill>
                  <a:srgbClr val="1F2A37"/>
                </a:solidFill>
                <a:latin typeface="Consolas"/>
              </a:rPr>
              <a:t>return</a:t>
            </a:r>
            <a:r>
              <a:rPr lang="it-IT" sz="823" b="0" i="0" dirty="0">
                <a:solidFill>
                  <a:srgbClr val="1F2A37"/>
                </a:solidFill>
                <a:latin typeface="Consolas"/>
              </a:rPr>
              <a:t> </a:t>
            </a:r>
            <a:r>
              <a:rPr lang="it-IT" sz="823" b="0" i="0" dirty="0" err="1">
                <a:solidFill>
                  <a:srgbClr val="1F2A37"/>
                </a:solidFill>
                <a:latin typeface="Consolas"/>
              </a:rPr>
              <a:t>np.argmax</a:t>
            </a:r>
            <a:r>
              <a:rPr lang="it-IT" sz="823" b="0" i="0" dirty="0">
                <a:solidFill>
                  <a:srgbClr val="1F2A37"/>
                </a:solidFill>
                <a:latin typeface="Consolas"/>
              </a:rPr>
              <a:t>(</a:t>
            </a:r>
            <a:r>
              <a:rPr lang="it-IT" sz="823" b="0" i="0" dirty="0" err="1">
                <a:solidFill>
                  <a:srgbClr val="1F2A37"/>
                </a:solidFill>
                <a:latin typeface="Consolas"/>
              </a:rPr>
              <a:t>q</a:t>
            </a:r>
            <a:r>
              <a:rPr lang="it-IT" sz="823" b="0" i="0" dirty="0">
                <a:solidFill>
                  <a:srgbClr val="1F2A37"/>
                </a:solidFill>
                <a:latin typeface="Consolas"/>
              </a:rPr>
              <a:t>[</a:t>
            </a:r>
            <a:r>
              <a:rPr lang="it-IT" sz="823" b="0" i="0" dirty="0" err="1">
                <a:solidFill>
                  <a:srgbClr val="1F2A37"/>
                </a:solidFill>
                <a:latin typeface="Consolas"/>
              </a:rPr>
              <a:t>s</a:t>
            </a:r>
            <a:r>
              <a:rPr lang="it-IT" sz="823" b="0" i="0" dirty="0">
                <a:solidFill>
                  <a:srgbClr val="1F2A37"/>
                </a:solidFill>
                <a:latin typeface="Consolas"/>
              </a:rPr>
              <a:t>])</a:t>
            </a:r>
          </a:p>
          <a:p>
            <a:pPr marL="0" indent="0" algn="l">
              <a:lnSpc>
                <a:spcPts val="1070"/>
              </a:lnSpc>
              <a:spcBef>
                <a:spcPts val="0"/>
              </a:spcBef>
              <a:spcAft>
                <a:spcPts val="0"/>
              </a:spcAft>
              <a:buNone/>
            </a:pPr>
            <a:endParaRPr lang="it-IT" sz="823" b="0" i="0" dirty="0">
              <a:solidFill>
                <a:srgbClr val="1F2A37"/>
              </a:solidFill>
              <a:latin typeface="Consolas"/>
            </a:endParaRPr>
          </a:p>
          <a:p>
            <a:pPr marL="0" indent="0" algn="l">
              <a:lnSpc>
                <a:spcPts val="1070"/>
              </a:lnSpc>
              <a:spcBef>
                <a:spcPts val="0"/>
              </a:spcBef>
              <a:spcAft>
                <a:spcPts val="0"/>
              </a:spcAft>
              <a:buNone/>
            </a:pPr>
            <a:r>
              <a:rPr lang="it-IT" sz="823" b="0" i="0" dirty="0">
                <a:solidFill>
                  <a:srgbClr val="1F2A37"/>
                </a:solidFill>
                <a:latin typeface="Consolas"/>
              </a:rPr>
              <a:t>    </a:t>
            </a:r>
            <a:r>
              <a:rPr lang="it-IT" sz="823" b="0" i="0" dirty="0" err="1">
                <a:solidFill>
                  <a:srgbClr val="1F2A37"/>
                </a:solidFill>
                <a:latin typeface="Consolas"/>
              </a:rPr>
              <a:t>return</a:t>
            </a:r>
            <a:r>
              <a:rPr lang="it-IT" sz="823" b="0" i="0" dirty="0">
                <a:solidFill>
                  <a:srgbClr val="1F2A37"/>
                </a:solidFill>
                <a:latin typeface="Consolas"/>
              </a:rPr>
              <a:t> </a:t>
            </a:r>
            <a:r>
              <a:rPr lang="it-IT" sz="823" b="0" i="0" dirty="0" err="1">
                <a:solidFill>
                  <a:srgbClr val="1F2A37"/>
                </a:solidFill>
                <a:latin typeface="Consolas"/>
              </a:rPr>
              <a:t>q</a:t>
            </a:r>
            <a:r>
              <a:rPr lang="it-IT" sz="823" b="0" i="0" dirty="0">
                <a:solidFill>
                  <a:srgbClr val="1F2A37"/>
                </a:solidFill>
                <a:latin typeface="Consolas"/>
              </a:rPr>
              <a:t>, pi</a:t>
            </a:r>
            <a:endParaRPr sz="823" b="0" i="0" dirty="0">
              <a:solidFill>
                <a:srgbClr val="1F2A37"/>
              </a:solidFill>
              <a:latin typeface="Consolas"/>
            </a:endParaRPr>
          </a:p>
          <a:p>
            <a:pPr marL="0" indent="0" algn="l">
              <a:lnSpc>
                <a:spcPts val="1070"/>
              </a:lnSpc>
              <a:spcBef>
                <a:spcPts val="0"/>
              </a:spcBef>
              <a:spcAft>
                <a:spcPts val="0"/>
              </a:spcAft>
              <a:buNone/>
            </a:pPr>
            <a:r>
              <a:rPr sz="823" b="0" i="0" dirty="0">
                <a:solidFill>
                  <a:srgbClr val="333639"/>
                </a:solidFill>
                <a:latin typeface="Consolas"/>
              </a:rPr>
              <a:t> </a:t>
            </a:r>
          </a:p>
          <a:p>
            <a:pPr marL="0" indent="0" algn="l">
              <a:lnSpc>
                <a:spcPts val="1070"/>
              </a:lnSpc>
              <a:spcBef>
                <a:spcPts val="0"/>
              </a:spcBef>
              <a:spcAft>
                <a:spcPts val="0"/>
              </a:spcAft>
              <a:buNone/>
            </a:pPr>
            <a:r>
              <a:rPr sz="823" b="0" i="0" dirty="0">
                <a:solidFill>
                  <a:srgbClr val="1F2A37"/>
                </a:solidFill>
                <a:latin typeface="Consolas"/>
              </a:rPr>
              <a:t>        </a:t>
            </a:r>
          </a:p>
        </p:txBody>
      </p:sp>
      <p:sp>
        <p:nvSpPr>
          <p:cNvPr id="12" name="TextBox 11"/>
          <p:cNvSpPr txBox="1"/>
          <p:nvPr/>
        </p:nvSpPr>
        <p:spPr>
          <a:xfrm>
            <a:off x="8394192" y="1316736"/>
            <a:ext cx="295652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CHANGED FROM MC PREDICTION</a:t>
            </a:r>
          </a:p>
        </p:txBody>
      </p:sp>
      <p:sp>
        <p:nvSpPr>
          <p:cNvPr id="13" name="TextBox 12"/>
          <p:cNvSpPr txBox="1"/>
          <p:nvPr/>
        </p:nvSpPr>
        <p:spPr>
          <a:xfrm>
            <a:off x="8394192" y="1572768"/>
            <a:ext cx="2956529" cy="966723"/>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dirty="0">
                <a:solidFill>
                  <a:srgbClr val="333639"/>
                </a:solidFill>
                <a:latin typeface="Fira Sans"/>
              </a:rPr>
              <a:t>Q, not V</a:t>
            </a:r>
            <a:r>
              <a:rPr lang="it-IT" sz="1045" b="0" i="0" dirty="0">
                <a:solidFill>
                  <a:srgbClr val="333639"/>
                </a:solidFill>
                <a:latin typeface="Fira Sans"/>
              </a:rPr>
              <a:t>: </a:t>
            </a:r>
            <a:r>
              <a:rPr sz="1045" b="0" i="0" dirty="0">
                <a:solidFill>
                  <a:srgbClr val="333639"/>
                </a:solidFill>
                <a:latin typeface="Fira Sans"/>
              </a:rPr>
              <a:t>one entry per state–action pair.</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The trajectory generator now uses </a:t>
            </a:r>
            <a:r>
              <a:rPr sz="950" b="0" i="0" dirty="0" err="1">
                <a:solidFill>
                  <a:srgbClr val="25282A"/>
                </a:solidFill>
                <a:latin typeface="Consolas"/>
              </a:rPr>
              <a:t>select_action</a:t>
            </a:r>
            <a:r>
              <a:rPr sz="1045" b="0" i="0" dirty="0">
                <a:solidFill>
                  <a:srgbClr val="333639"/>
                </a:solidFill>
                <a:latin typeface="Fira Sans"/>
              </a:rPr>
              <a:t> with the current </a:t>
            </a:r>
            <a:r>
              <a:rPr sz="1045" b="0" i="0" dirty="0" err="1">
                <a:solidFill>
                  <a:srgbClr val="333639"/>
                </a:solidFill>
                <a:latin typeface="Fira Sans"/>
              </a:rPr>
              <a:t>ε</a:t>
            </a:r>
            <a:r>
              <a:rPr sz="1045" b="0" i="0" dirty="0">
                <a:solidFill>
                  <a:srgbClr val="333639"/>
                </a:solidFill>
                <a:latin typeface="Fira Sans"/>
              </a:rPr>
              <a:t>, so the policy changes as Q changes.</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First visit now refers to </a:t>
            </a:r>
            <a:r>
              <a:rPr sz="1045" b="1" i="0" dirty="0">
                <a:solidFill>
                  <a:srgbClr val="25282A"/>
                </a:solidFill>
                <a:latin typeface="Fira Sans"/>
              </a:rPr>
              <a:t>pairs</a:t>
            </a:r>
            <a:r>
              <a:rPr sz="1045" b="0" i="0" dirty="0">
                <a:solidFill>
                  <a:srgbClr val="333639"/>
                </a:solidFill>
                <a:latin typeface="Fira Sans"/>
              </a:rPr>
              <a:t>, not states.</a:t>
            </a:r>
          </a:p>
        </p:txBody>
      </p:sp>
      <p:pic>
        <p:nvPicPr>
          <p:cNvPr id="14" name="Picture 13" descr="eq_ctrl_cycl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47888" y="2595025"/>
            <a:ext cx="3506426" cy="109727"/>
          </a:xfrm>
          <a:prstGeom prst="rect">
            <a:avLst/>
          </a:prstGeom>
        </p:spPr>
      </p:pic>
      <p:sp>
        <p:nvSpPr>
          <p:cNvPr id="15" name="Rectangle 14"/>
          <p:cNvSpPr/>
          <p:nvPr/>
        </p:nvSpPr>
        <p:spPr>
          <a:xfrm>
            <a:off x="8394192" y="2851467"/>
            <a:ext cx="2956529" cy="24278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85632" y="2897187"/>
            <a:ext cx="526687"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17" name="TextBox 16"/>
          <p:cNvSpPr txBox="1"/>
          <p:nvPr/>
        </p:nvSpPr>
        <p:spPr>
          <a:xfrm>
            <a:off x="9195199" y="2897187"/>
            <a:ext cx="940601"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MC control</a:t>
            </a:r>
          </a:p>
        </p:txBody>
      </p:sp>
      <p:sp>
        <p:nvSpPr>
          <p:cNvPr id="18" name="TextBox 17"/>
          <p:cNvSpPr txBox="1"/>
          <p:nvPr/>
        </p:nvSpPr>
        <p:spPr>
          <a:xfrm>
            <a:off x="10318680" y="2897187"/>
            <a:ext cx="940601"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Optimal</a:t>
            </a:r>
          </a:p>
        </p:txBody>
      </p:sp>
      <p:sp>
        <p:nvSpPr>
          <p:cNvPr id="19" name="TextBox 18"/>
          <p:cNvSpPr txBox="1"/>
          <p:nvPr/>
        </p:nvSpPr>
        <p:spPr>
          <a:xfrm>
            <a:off x="8485632" y="3139970"/>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1</a:t>
            </a:r>
          </a:p>
        </p:txBody>
      </p:sp>
      <p:sp>
        <p:nvSpPr>
          <p:cNvPr id="20" name="TextBox 19"/>
          <p:cNvSpPr txBox="1"/>
          <p:nvPr/>
        </p:nvSpPr>
        <p:spPr>
          <a:xfrm>
            <a:off x="9195199" y="3139970"/>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0.460</a:t>
            </a:r>
          </a:p>
        </p:txBody>
      </p:sp>
      <p:sp>
        <p:nvSpPr>
          <p:cNvPr id="21" name="TextBox 20"/>
          <p:cNvSpPr txBox="1"/>
          <p:nvPr/>
        </p:nvSpPr>
        <p:spPr>
          <a:xfrm>
            <a:off x="10318680" y="3139970"/>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0.564</a:t>
            </a:r>
          </a:p>
        </p:txBody>
      </p:sp>
      <p:sp>
        <p:nvSpPr>
          <p:cNvPr id="22" name="Rectangle 21"/>
          <p:cNvSpPr/>
          <p:nvPr/>
        </p:nvSpPr>
        <p:spPr>
          <a:xfrm>
            <a:off x="8394192" y="3344290"/>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394192" y="3349777"/>
            <a:ext cx="2956529" cy="25552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485632" y="3395497"/>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2</a:t>
            </a:r>
          </a:p>
        </p:txBody>
      </p:sp>
      <p:sp>
        <p:nvSpPr>
          <p:cNvPr id="25" name="TextBox 24"/>
          <p:cNvSpPr txBox="1"/>
          <p:nvPr/>
        </p:nvSpPr>
        <p:spPr>
          <a:xfrm>
            <a:off x="9195199" y="3395497"/>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0.671</a:t>
            </a:r>
          </a:p>
        </p:txBody>
      </p:sp>
      <p:sp>
        <p:nvSpPr>
          <p:cNvPr id="26" name="TextBox 25"/>
          <p:cNvSpPr txBox="1"/>
          <p:nvPr/>
        </p:nvSpPr>
        <p:spPr>
          <a:xfrm>
            <a:off x="10318680" y="3395497"/>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0.763</a:t>
            </a:r>
          </a:p>
        </p:txBody>
      </p:sp>
      <p:sp>
        <p:nvSpPr>
          <p:cNvPr id="27" name="Rectangle 26"/>
          <p:cNvSpPr/>
          <p:nvPr/>
        </p:nvSpPr>
        <p:spPr>
          <a:xfrm>
            <a:off x="8394192" y="3599817"/>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485632" y="3651023"/>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3</a:t>
            </a:r>
          </a:p>
        </p:txBody>
      </p:sp>
      <p:sp>
        <p:nvSpPr>
          <p:cNvPr id="29" name="TextBox 28"/>
          <p:cNvSpPr txBox="1"/>
          <p:nvPr/>
        </p:nvSpPr>
        <p:spPr>
          <a:xfrm>
            <a:off x="9195199" y="3651023"/>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0.801</a:t>
            </a:r>
          </a:p>
        </p:txBody>
      </p:sp>
      <p:sp>
        <p:nvSpPr>
          <p:cNvPr id="30" name="TextBox 29"/>
          <p:cNvSpPr txBox="1"/>
          <p:nvPr/>
        </p:nvSpPr>
        <p:spPr>
          <a:xfrm>
            <a:off x="10318680" y="3651023"/>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0.845</a:t>
            </a:r>
          </a:p>
        </p:txBody>
      </p:sp>
      <p:sp>
        <p:nvSpPr>
          <p:cNvPr id="31" name="Rectangle 30"/>
          <p:cNvSpPr/>
          <p:nvPr/>
        </p:nvSpPr>
        <p:spPr>
          <a:xfrm>
            <a:off x="8394192" y="3855344"/>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8394192" y="3860830"/>
            <a:ext cx="2956529" cy="25552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485632" y="3906550"/>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4</a:t>
            </a:r>
          </a:p>
        </p:txBody>
      </p:sp>
      <p:sp>
        <p:nvSpPr>
          <p:cNvPr id="34" name="TextBox 33"/>
          <p:cNvSpPr txBox="1"/>
          <p:nvPr/>
        </p:nvSpPr>
        <p:spPr>
          <a:xfrm>
            <a:off x="9195199" y="3906550"/>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0.872</a:t>
            </a:r>
          </a:p>
        </p:txBody>
      </p:sp>
      <p:sp>
        <p:nvSpPr>
          <p:cNvPr id="35" name="TextBox 34"/>
          <p:cNvSpPr txBox="1"/>
          <p:nvPr/>
        </p:nvSpPr>
        <p:spPr>
          <a:xfrm>
            <a:off x="10318680" y="3906550"/>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0.889</a:t>
            </a:r>
          </a:p>
        </p:txBody>
      </p:sp>
      <p:sp>
        <p:nvSpPr>
          <p:cNvPr id="36" name="Rectangle 35"/>
          <p:cNvSpPr/>
          <p:nvPr/>
        </p:nvSpPr>
        <p:spPr>
          <a:xfrm>
            <a:off x="8394192" y="4110870"/>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485632" y="4162076"/>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5</a:t>
            </a:r>
          </a:p>
        </p:txBody>
      </p:sp>
      <p:sp>
        <p:nvSpPr>
          <p:cNvPr id="38" name="TextBox 37"/>
          <p:cNvSpPr txBox="1"/>
          <p:nvPr/>
        </p:nvSpPr>
        <p:spPr>
          <a:xfrm>
            <a:off x="9195199" y="4162076"/>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0.913</a:t>
            </a:r>
          </a:p>
        </p:txBody>
      </p:sp>
      <p:sp>
        <p:nvSpPr>
          <p:cNvPr id="39" name="TextBox 38"/>
          <p:cNvSpPr txBox="1"/>
          <p:nvPr/>
        </p:nvSpPr>
        <p:spPr>
          <a:xfrm>
            <a:off x="10318680" y="4162076"/>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0.922</a:t>
            </a:r>
          </a:p>
        </p:txBody>
      </p:sp>
      <p:sp>
        <p:nvSpPr>
          <p:cNvPr id="40" name="Rectangle 39"/>
          <p:cNvSpPr/>
          <p:nvPr/>
        </p:nvSpPr>
        <p:spPr>
          <a:xfrm>
            <a:off x="8394192" y="4366397"/>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8394192" y="4371883"/>
            <a:ext cx="2956529" cy="25552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485632" y="4417603"/>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6</a:t>
            </a:r>
          </a:p>
        </p:txBody>
      </p:sp>
      <p:sp>
        <p:nvSpPr>
          <p:cNvPr id="43" name="TextBox 42"/>
          <p:cNvSpPr txBox="1"/>
          <p:nvPr/>
        </p:nvSpPr>
        <p:spPr>
          <a:xfrm>
            <a:off x="9195199" y="4417603"/>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0.948</a:t>
            </a:r>
          </a:p>
        </p:txBody>
      </p:sp>
      <p:sp>
        <p:nvSpPr>
          <p:cNvPr id="44" name="TextBox 43"/>
          <p:cNvSpPr txBox="1"/>
          <p:nvPr/>
        </p:nvSpPr>
        <p:spPr>
          <a:xfrm>
            <a:off x="10318680" y="4417603"/>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0.952</a:t>
            </a:r>
          </a:p>
        </p:txBody>
      </p:sp>
      <p:sp>
        <p:nvSpPr>
          <p:cNvPr id="45" name="Rectangle 44"/>
          <p:cNvSpPr/>
          <p:nvPr/>
        </p:nvSpPr>
        <p:spPr>
          <a:xfrm>
            <a:off x="8394192" y="4621923"/>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485632" y="4673130"/>
            <a:ext cx="526687"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7</a:t>
            </a:r>
          </a:p>
        </p:txBody>
      </p:sp>
      <p:sp>
        <p:nvSpPr>
          <p:cNvPr id="47" name="TextBox 46"/>
          <p:cNvSpPr txBox="1"/>
          <p:nvPr/>
        </p:nvSpPr>
        <p:spPr>
          <a:xfrm>
            <a:off x="9195199" y="4673130"/>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C8102E"/>
                </a:solidFill>
                <a:latin typeface="Fira Sans"/>
              </a:rPr>
              <a:t>0.978</a:t>
            </a:r>
          </a:p>
        </p:txBody>
      </p:sp>
      <p:sp>
        <p:nvSpPr>
          <p:cNvPr id="48" name="TextBox 47"/>
          <p:cNvSpPr txBox="1"/>
          <p:nvPr/>
        </p:nvSpPr>
        <p:spPr>
          <a:xfrm>
            <a:off x="10318680" y="4673130"/>
            <a:ext cx="940601"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0.981</a:t>
            </a:r>
          </a:p>
        </p:txBody>
      </p:sp>
      <p:sp>
        <p:nvSpPr>
          <p:cNvPr id="49" name="Rectangle 48"/>
          <p:cNvSpPr/>
          <p:nvPr/>
        </p:nvSpPr>
        <p:spPr>
          <a:xfrm>
            <a:off x="8394192" y="4877450"/>
            <a:ext cx="29565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ectangle 49"/>
          <p:cNvSpPr/>
          <p:nvPr/>
        </p:nvSpPr>
        <p:spPr>
          <a:xfrm>
            <a:off x="8394192" y="5047528"/>
            <a:ext cx="2956529" cy="74843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8394192" y="5047528"/>
            <a:ext cx="41148" cy="74843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8613648" y="5193832"/>
            <a:ext cx="2572481"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agent discovers a near-optimal value function </a:t>
            </a:r>
            <a:r>
              <a:rPr sz="997" b="1" i="0">
                <a:solidFill>
                  <a:srgbClr val="333639"/>
                </a:solidFill>
                <a:latin typeface="Fira Sans"/>
              </a:rPr>
              <a:t>from interaction alone</a:t>
            </a:r>
            <a:r>
              <a:rPr sz="997" b="0" i="0">
                <a:solidFill>
                  <a:srgbClr val="333639"/>
                </a:solidFill>
                <a:latin typeface="Fira Sans"/>
              </a:rPr>
              <a:t>, with no access to the transition probabilities.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5.6  SARSA</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TD counterpart of Monte Carlo control</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MC control improves the policy episode by episode: it must wait for the complete return. We already know how to remove that limitation</a:t>
            </a:r>
            <a:r>
              <a:rPr lang="it-IT" sz="1235" b="0" i="0" dirty="0">
                <a:solidFill>
                  <a:srgbClr val="333639"/>
                </a:solidFill>
                <a:latin typeface="Fira Sans"/>
              </a:rPr>
              <a:t>: </a:t>
            </a:r>
            <a:r>
              <a:rPr sz="1235" b="0" i="0" dirty="0">
                <a:solidFill>
                  <a:srgbClr val="333639"/>
                </a:solidFill>
                <a:latin typeface="Fira Sans"/>
              </a:rPr>
              <a:t> replace the complete return by a one-step TD target. Applied to action values, that is </a:t>
            </a:r>
            <a:r>
              <a:rPr sz="1235" b="1" i="0" dirty="0">
                <a:solidFill>
                  <a:srgbClr val="25282A"/>
                </a:solidFill>
                <a:latin typeface="Fira Sans"/>
              </a:rPr>
              <a:t>SARSA</a:t>
            </a:r>
            <a:r>
              <a:rPr sz="1235" b="0" i="0" dirty="0">
                <a:solidFill>
                  <a:srgbClr val="333639"/>
                </a:solidFill>
                <a:latin typeface="Fira Sans"/>
              </a:rPr>
              <a:t>.</a:t>
            </a:r>
          </a:p>
        </p:txBody>
      </p:sp>
      <p:pic>
        <p:nvPicPr>
          <p:cNvPr id="9" name="Picture 8" descr="eq_sarsa_targe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146820"/>
            <a:ext cx="3771900" cy="365760"/>
          </a:xfrm>
          <a:prstGeom prst="rect">
            <a:avLst/>
          </a:prstGeom>
        </p:spPr>
      </p:pic>
      <p:pic>
        <p:nvPicPr>
          <p:cNvPr id="10" name="Picture 9" descr="eq_sarsa_updat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2713748"/>
            <a:ext cx="5958839" cy="962913"/>
          </a:xfrm>
          <a:prstGeom prst="rect">
            <a:avLst/>
          </a:prstGeom>
        </p:spPr>
      </p:pic>
      <p:sp>
        <p:nvSpPr>
          <p:cNvPr id="11" name="Rectangle 10"/>
          <p:cNvSpPr/>
          <p:nvPr/>
        </p:nvSpPr>
        <p:spPr>
          <a:xfrm>
            <a:off x="841248" y="393269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15215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WHERE THE NAME COMES FROM</a:t>
            </a:r>
          </a:p>
        </p:txBody>
      </p:sp>
      <p:pic>
        <p:nvPicPr>
          <p:cNvPr id="13" name="Picture 12" descr="eq_sarsa_nam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7008" y="4444758"/>
            <a:ext cx="4130040" cy="292100"/>
          </a:xfrm>
          <a:prstGeom prst="rect">
            <a:avLst/>
          </a:prstGeom>
        </p:spPr>
      </p:pic>
      <p:sp>
        <p:nvSpPr>
          <p:cNvPr id="14" name="TextBox 13"/>
          <p:cNvSpPr txBox="1"/>
          <p:nvPr/>
        </p:nvSpPr>
        <p:spPr>
          <a:xfrm>
            <a:off x="841248" y="4956314"/>
            <a:ext cx="6543446"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626669"/>
                </a:solidFill>
                <a:latin typeface="Fira Sans"/>
              </a:rPr>
              <a:t>The five quantities in the update. Note that A</a:t>
            </a:r>
            <a:r>
              <a:rPr sz="882" b="0" i="0" dirty="0">
                <a:solidFill>
                  <a:srgbClr val="626669"/>
                </a:solidFill>
                <a:latin typeface="Fira Sans"/>
              </a:rPr>
              <a:t>t+1</a:t>
            </a:r>
            <a:r>
              <a:rPr sz="1092" b="0" i="0" dirty="0">
                <a:solidFill>
                  <a:srgbClr val="626669"/>
                </a:solidFill>
                <a:latin typeface="Fira Sans"/>
              </a:rPr>
              <a:t> must be selected </a:t>
            </a:r>
            <a:r>
              <a:rPr sz="1092" b="1" i="0" dirty="0">
                <a:solidFill>
                  <a:srgbClr val="25282A"/>
                </a:solidFill>
                <a:latin typeface="Fira Sans"/>
              </a:rPr>
              <a:t>before</a:t>
            </a:r>
            <a:r>
              <a:rPr sz="1092" b="0" i="0" dirty="0">
                <a:solidFill>
                  <a:srgbClr val="626669"/>
                </a:solidFill>
                <a:latin typeface="Fira Sans"/>
              </a:rPr>
              <a:t> the update can be computed</a:t>
            </a:r>
            <a:r>
              <a:rPr lang="it-IT" sz="1092" b="0" i="0" dirty="0">
                <a:solidFill>
                  <a:srgbClr val="626669"/>
                </a:solidFill>
                <a:latin typeface="Fira Sans"/>
              </a:rPr>
              <a:t>. </a:t>
            </a:r>
            <a:r>
              <a:rPr sz="1092" b="0" i="0" dirty="0">
                <a:solidFill>
                  <a:srgbClr val="626669"/>
                </a:solidFill>
                <a:latin typeface="Fira Sans"/>
              </a:rPr>
              <a:t>SARSA commits to the next action, and then learns about the one it committed to.</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DIFFERENCE IN TIMING</a:t>
            </a:r>
          </a:p>
        </p:txBody>
      </p:sp>
      <p:sp>
        <p:nvSpPr>
          <p:cNvPr id="16" name="TextBox 15"/>
          <p:cNvSpPr txBox="1"/>
          <p:nvPr/>
        </p:nvSpPr>
        <p:spPr>
          <a:xfrm>
            <a:off x="7618780" y="1554480"/>
            <a:ext cx="3731940" cy="65069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C8102E"/>
                </a:solidFill>
                <a:latin typeface="Fira Sans"/>
              </a:rPr>
              <a:t>MC control</a:t>
            </a:r>
            <a:r>
              <a:rPr sz="1140" b="0" i="0">
                <a:solidFill>
                  <a:srgbClr val="333639"/>
                </a:solidFill>
                <a:latin typeface="Fira Sans"/>
              </a:rPr>
              <a:t>   complete episode → one update per pair</a:t>
            </a:r>
          </a:p>
          <a:p>
            <a:pPr marL="0" indent="0" algn="l">
              <a:lnSpc>
                <a:spcPts val="1345"/>
              </a:lnSpc>
              <a:spcBef>
                <a:spcPts val="800"/>
              </a:spcBef>
              <a:spcAft>
                <a:spcPts val="0"/>
              </a:spcAft>
              <a:buNone/>
            </a:pPr>
            <a:r>
              <a:rPr sz="1140" b="1" i="0">
                <a:solidFill>
                  <a:srgbClr val="574676"/>
                </a:solidFill>
                <a:latin typeface="Fira Sans"/>
              </a:rPr>
              <a:t>SARSA</a:t>
            </a:r>
            <a:r>
              <a:rPr sz="1140" b="0" i="0">
                <a:solidFill>
                  <a:srgbClr val="333639"/>
                </a:solidFill>
                <a:latin typeface="Fira Sans"/>
              </a:rPr>
              <a:t>   one transition → update → next transition → update → …</a:t>
            </a:r>
          </a:p>
        </p:txBody>
      </p:sp>
      <p:sp>
        <p:nvSpPr>
          <p:cNvPr id="17" name="Rectangle 16"/>
          <p:cNvSpPr/>
          <p:nvPr/>
        </p:nvSpPr>
        <p:spPr>
          <a:xfrm>
            <a:off x="7618780" y="2388057"/>
            <a:ext cx="3731940" cy="92964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2388057"/>
            <a:ext cx="41148" cy="92964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2534361"/>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Both estimate Q and both use </a:t>
            </a:r>
            <a:r>
              <a:rPr sz="1045" b="0" i="0" dirty="0" err="1">
                <a:solidFill>
                  <a:srgbClr val="333639"/>
                </a:solidFill>
                <a:latin typeface="Fira Sans"/>
              </a:rPr>
              <a:t>ε</a:t>
            </a:r>
            <a:r>
              <a:rPr sz="1045" b="0" i="0" dirty="0">
                <a:solidFill>
                  <a:srgbClr val="333639"/>
                </a:solidFill>
                <a:latin typeface="Fira Sans"/>
              </a:rPr>
              <a:t>-greedy exploration. MC learns from complete returns, SARSA from one-step bootstrapped targets</a:t>
            </a:r>
          </a:p>
        </p:txBody>
      </p:sp>
      <p:sp>
        <p:nvSpPr>
          <p:cNvPr id="20" name="Rectangle 19"/>
          <p:cNvSpPr/>
          <p:nvPr/>
        </p:nvSpPr>
        <p:spPr>
          <a:xfrm>
            <a:off x="7618780" y="3518865"/>
            <a:ext cx="3731940" cy="24278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710220" y="3564585"/>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22" name="TextBox 21"/>
          <p:cNvSpPr txBox="1"/>
          <p:nvPr/>
        </p:nvSpPr>
        <p:spPr>
          <a:xfrm>
            <a:off x="8605886" y="3564585"/>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SARSA</a:t>
            </a:r>
          </a:p>
        </p:txBody>
      </p:sp>
      <p:sp>
        <p:nvSpPr>
          <p:cNvPr id="23" name="TextBox 22"/>
          <p:cNvSpPr txBox="1"/>
          <p:nvPr/>
        </p:nvSpPr>
        <p:spPr>
          <a:xfrm>
            <a:off x="10024024" y="3564585"/>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Optimal</a:t>
            </a:r>
          </a:p>
        </p:txBody>
      </p:sp>
      <p:sp>
        <p:nvSpPr>
          <p:cNvPr id="24" name="TextBox 23"/>
          <p:cNvSpPr txBox="1"/>
          <p:nvPr/>
        </p:nvSpPr>
        <p:spPr>
          <a:xfrm>
            <a:off x="7710220" y="3807368"/>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1</a:t>
            </a:r>
          </a:p>
        </p:txBody>
      </p:sp>
      <p:sp>
        <p:nvSpPr>
          <p:cNvPr id="25" name="TextBox 24"/>
          <p:cNvSpPr txBox="1"/>
          <p:nvPr/>
        </p:nvSpPr>
        <p:spPr>
          <a:xfrm>
            <a:off x="8605886" y="3807368"/>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0.552</a:t>
            </a:r>
          </a:p>
        </p:txBody>
      </p:sp>
      <p:sp>
        <p:nvSpPr>
          <p:cNvPr id="26" name="TextBox 25"/>
          <p:cNvSpPr txBox="1"/>
          <p:nvPr/>
        </p:nvSpPr>
        <p:spPr>
          <a:xfrm>
            <a:off x="10024024" y="3807368"/>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0.564</a:t>
            </a:r>
          </a:p>
        </p:txBody>
      </p:sp>
      <p:sp>
        <p:nvSpPr>
          <p:cNvPr id="27" name="Rectangle 26"/>
          <p:cNvSpPr/>
          <p:nvPr/>
        </p:nvSpPr>
        <p:spPr>
          <a:xfrm>
            <a:off x="7618780" y="400858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618780" y="4014076"/>
            <a:ext cx="3731940" cy="25242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710220" y="4059796"/>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2</a:t>
            </a:r>
          </a:p>
        </p:txBody>
      </p:sp>
      <p:sp>
        <p:nvSpPr>
          <p:cNvPr id="30" name="TextBox 29"/>
          <p:cNvSpPr txBox="1"/>
          <p:nvPr/>
        </p:nvSpPr>
        <p:spPr>
          <a:xfrm>
            <a:off x="8605886" y="4059796"/>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0.724</a:t>
            </a:r>
          </a:p>
        </p:txBody>
      </p:sp>
      <p:sp>
        <p:nvSpPr>
          <p:cNvPr id="31" name="TextBox 30"/>
          <p:cNvSpPr txBox="1"/>
          <p:nvPr/>
        </p:nvSpPr>
        <p:spPr>
          <a:xfrm>
            <a:off x="10024024" y="4059796"/>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0.763</a:t>
            </a:r>
          </a:p>
        </p:txBody>
      </p:sp>
      <p:sp>
        <p:nvSpPr>
          <p:cNvPr id="32" name="Rectangle 31"/>
          <p:cNvSpPr/>
          <p:nvPr/>
        </p:nvSpPr>
        <p:spPr>
          <a:xfrm>
            <a:off x="7618780" y="4261017"/>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710220" y="4312224"/>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3</a:t>
            </a:r>
          </a:p>
        </p:txBody>
      </p:sp>
      <p:sp>
        <p:nvSpPr>
          <p:cNvPr id="34" name="TextBox 33"/>
          <p:cNvSpPr txBox="1"/>
          <p:nvPr/>
        </p:nvSpPr>
        <p:spPr>
          <a:xfrm>
            <a:off x="8605886" y="4312224"/>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0.815</a:t>
            </a:r>
          </a:p>
        </p:txBody>
      </p:sp>
      <p:sp>
        <p:nvSpPr>
          <p:cNvPr id="35" name="TextBox 34"/>
          <p:cNvSpPr txBox="1"/>
          <p:nvPr/>
        </p:nvSpPr>
        <p:spPr>
          <a:xfrm>
            <a:off x="10024024" y="4312224"/>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0.845</a:t>
            </a:r>
          </a:p>
        </p:txBody>
      </p:sp>
      <p:sp>
        <p:nvSpPr>
          <p:cNvPr id="36" name="Rectangle 35"/>
          <p:cNvSpPr/>
          <p:nvPr/>
        </p:nvSpPr>
        <p:spPr>
          <a:xfrm>
            <a:off x="7618780" y="451344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618780" y="4518931"/>
            <a:ext cx="3731940" cy="25242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710220" y="4564651"/>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4</a:t>
            </a:r>
          </a:p>
        </p:txBody>
      </p:sp>
      <p:sp>
        <p:nvSpPr>
          <p:cNvPr id="39" name="TextBox 38"/>
          <p:cNvSpPr txBox="1"/>
          <p:nvPr/>
        </p:nvSpPr>
        <p:spPr>
          <a:xfrm>
            <a:off x="8605886" y="4564651"/>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0.871</a:t>
            </a:r>
          </a:p>
        </p:txBody>
      </p:sp>
      <p:sp>
        <p:nvSpPr>
          <p:cNvPr id="40" name="TextBox 39"/>
          <p:cNvSpPr txBox="1"/>
          <p:nvPr/>
        </p:nvSpPr>
        <p:spPr>
          <a:xfrm>
            <a:off x="10024024" y="4564651"/>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0.889</a:t>
            </a:r>
          </a:p>
        </p:txBody>
      </p:sp>
      <p:sp>
        <p:nvSpPr>
          <p:cNvPr id="41" name="Rectangle 40"/>
          <p:cNvSpPr/>
          <p:nvPr/>
        </p:nvSpPr>
        <p:spPr>
          <a:xfrm>
            <a:off x="7618780" y="476587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710220" y="4817079"/>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5</a:t>
            </a:r>
          </a:p>
        </p:txBody>
      </p:sp>
      <p:sp>
        <p:nvSpPr>
          <p:cNvPr id="43" name="TextBox 42"/>
          <p:cNvSpPr txBox="1"/>
          <p:nvPr/>
        </p:nvSpPr>
        <p:spPr>
          <a:xfrm>
            <a:off x="8605886" y="4817079"/>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0.914</a:t>
            </a:r>
          </a:p>
        </p:txBody>
      </p:sp>
      <p:sp>
        <p:nvSpPr>
          <p:cNvPr id="44" name="TextBox 43"/>
          <p:cNvSpPr txBox="1"/>
          <p:nvPr/>
        </p:nvSpPr>
        <p:spPr>
          <a:xfrm>
            <a:off x="10024024" y="4817079"/>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0.922</a:t>
            </a:r>
          </a:p>
        </p:txBody>
      </p:sp>
      <p:sp>
        <p:nvSpPr>
          <p:cNvPr id="45" name="Rectangle 44"/>
          <p:cNvSpPr/>
          <p:nvPr/>
        </p:nvSpPr>
        <p:spPr>
          <a:xfrm>
            <a:off x="7618780" y="501830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7618780" y="5023787"/>
            <a:ext cx="3731940" cy="25242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7710220" y="5069507"/>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6</a:t>
            </a:r>
          </a:p>
        </p:txBody>
      </p:sp>
      <p:sp>
        <p:nvSpPr>
          <p:cNvPr id="48" name="TextBox 47"/>
          <p:cNvSpPr txBox="1"/>
          <p:nvPr/>
        </p:nvSpPr>
        <p:spPr>
          <a:xfrm>
            <a:off x="8605886" y="5069507"/>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0.947</a:t>
            </a:r>
          </a:p>
        </p:txBody>
      </p:sp>
      <p:sp>
        <p:nvSpPr>
          <p:cNvPr id="49" name="TextBox 48"/>
          <p:cNvSpPr txBox="1"/>
          <p:nvPr/>
        </p:nvSpPr>
        <p:spPr>
          <a:xfrm>
            <a:off x="10024024" y="5069507"/>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0.952</a:t>
            </a:r>
          </a:p>
        </p:txBody>
      </p:sp>
      <p:sp>
        <p:nvSpPr>
          <p:cNvPr id="50" name="Rectangle 49"/>
          <p:cNvSpPr/>
          <p:nvPr/>
        </p:nvSpPr>
        <p:spPr>
          <a:xfrm>
            <a:off x="7618780" y="527072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710220" y="5321935"/>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7</a:t>
            </a:r>
          </a:p>
        </p:txBody>
      </p:sp>
      <p:sp>
        <p:nvSpPr>
          <p:cNvPr id="52" name="TextBox 51"/>
          <p:cNvSpPr txBox="1"/>
          <p:nvPr/>
        </p:nvSpPr>
        <p:spPr>
          <a:xfrm>
            <a:off x="8605886" y="5321935"/>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574676"/>
                </a:solidFill>
                <a:latin typeface="Fira Sans"/>
              </a:rPr>
              <a:t>0.978</a:t>
            </a:r>
          </a:p>
        </p:txBody>
      </p:sp>
      <p:sp>
        <p:nvSpPr>
          <p:cNvPr id="53" name="TextBox 52"/>
          <p:cNvSpPr txBox="1"/>
          <p:nvPr/>
        </p:nvSpPr>
        <p:spPr>
          <a:xfrm>
            <a:off x="10024024" y="5321935"/>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0.981</a:t>
            </a:r>
          </a:p>
        </p:txBody>
      </p:sp>
      <p:sp>
        <p:nvSpPr>
          <p:cNvPr id="54" name="Rectangle 53"/>
          <p:cNvSpPr/>
          <p:nvPr/>
        </p:nvSpPr>
        <p:spPr>
          <a:xfrm>
            <a:off x="7618780" y="552315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5.7  SARSA ON THE SLIPPERY WALK, AND WHAT CONVERGENCE REQUIRES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Two competing demands: keep exploring, and eventually stop</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 — From prediction to control</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lang="en-GB" sz="1235" b="0" i="0" noProof="0" dirty="0">
                <a:solidFill>
                  <a:srgbClr val="333639"/>
                </a:solidFill>
                <a:latin typeface="Fira Sans"/>
              </a:rPr>
              <a:t>Both MC control and SARSA are </a:t>
            </a:r>
            <a:r>
              <a:rPr lang="en-GB" sz="1235" b="1" i="0" noProof="0" dirty="0">
                <a:solidFill>
                  <a:srgbClr val="25282A"/>
                </a:solidFill>
                <a:latin typeface="Fira Sans"/>
              </a:rPr>
              <a:t>on-policy</a:t>
            </a:r>
            <a:r>
              <a:rPr lang="en-GB" sz="1235" b="0" i="0" noProof="0" dirty="0">
                <a:solidFill>
                  <a:srgbClr val="333639"/>
                </a:solidFill>
                <a:latin typeface="Fira Sans"/>
              </a:rPr>
              <a:t>: they learn action values from experience generated by the policy they are improving. For that to converge to optimal behaviour, two apparently conflicting requirements must hold at once.</a:t>
            </a:r>
          </a:p>
        </p:txBody>
      </p:sp>
      <p:pic>
        <p:nvPicPr>
          <p:cNvPr id="9" name="Picture 8" descr="sarsa_track.png"/>
          <p:cNvPicPr>
            <a:picLocks noChangeAspect="1"/>
          </p:cNvPicPr>
          <p:nvPr/>
        </p:nvPicPr>
        <p:blipFill>
          <a:blip r:embed="rId2"/>
          <a:stretch>
            <a:fillRect/>
          </a:stretch>
        </p:blipFill>
        <p:spPr>
          <a:xfrm>
            <a:off x="841248" y="1943638"/>
            <a:ext cx="6634160" cy="3239939"/>
          </a:xfrm>
          <a:prstGeom prst="rect">
            <a:avLst/>
          </a:prstGeom>
        </p:spPr>
      </p:pic>
      <p:sp>
        <p:nvSpPr>
          <p:cNvPr id="10" name="TextBox 9"/>
          <p:cNvSpPr txBox="1"/>
          <p:nvPr/>
        </p:nvSpPr>
        <p:spPr>
          <a:xfrm>
            <a:off x="841248" y="5167884"/>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SARSA estimates over 3000 episodes; dashed lines are the optimal values.</a:t>
            </a:r>
          </a:p>
        </p:txBody>
      </p:sp>
      <p:sp>
        <p:nvSpPr>
          <p:cNvPr id="11" name="Rectangle 10"/>
          <p:cNvSpPr/>
          <p:nvPr/>
        </p:nvSpPr>
        <p:spPr>
          <a:xfrm>
            <a:off x="841248" y="5541264"/>
            <a:ext cx="6543446" cy="61112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541264"/>
            <a:ext cx="41148" cy="61112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687568"/>
            <a:ext cx="6159398" cy="31851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 remaining gap and the fluctuations are expected: exploration and learning continue throughout training, and neither ε nor α ever reaches zero.</a:t>
            </a:r>
          </a:p>
        </p:txBody>
      </p:sp>
      <p:sp>
        <p:nvSpPr>
          <p:cNvPr id="14" name="TextBox 13"/>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GLIE — GREEDY IN THE LIMIT WITH INFINITE EXPLORATION</a:t>
            </a:r>
          </a:p>
        </p:txBody>
      </p:sp>
      <p:pic>
        <p:nvPicPr>
          <p:cNvPr id="15" name="Picture 14" descr="eq_glie1.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6548" y="1644178"/>
            <a:ext cx="2004772" cy="230328"/>
          </a:xfrm>
          <a:prstGeom prst="rect">
            <a:avLst/>
          </a:prstGeom>
        </p:spPr>
      </p:pic>
      <p:sp>
        <p:nvSpPr>
          <p:cNvPr id="16" name="TextBox 15"/>
          <p:cNvSpPr txBox="1"/>
          <p:nvPr/>
        </p:nvSpPr>
        <p:spPr>
          <a:xfrm>
            <a:off x="7659928" y="2009562"/>
            <a:ext cx="3366180" cy="311658"/>
          </a:xfrm>
          <a:prstGeom prst="rect">
            <a:avLst/>
          </a:prstGeom>
          <a:noFill/>
        </p:spPr>
        <p:txBody>
          <a:bodyPr wrap="square" lIns="0" tIns="0" rIns="0" bIns="0" anchor="t">
            <a:noAutofit/>
          </a:bodyPr>
          <a:lstStyle/>
          <a:p>
            <a:pPr marL="0" indent="0" algn="l">
              <a:lnSpc>
                <a:spcPts val="1083"/>
              </a:lnSpc>
              <a:spcBef>
                <a:spcPts val="0"/>
              </a:spcBef>
              <a:spcAft>
                <a:spcPts val="0"/>
              </a:spcAft>
              <a:buNone/>
            </a:pPr>
            <a:r>
              <a:rPr sz="950" b="0" i="0">
                <a:solidFill>
                  <a:srgbClr val="626669"/>
                </a:solidFill>
                <a:latin typeface="Fira Sans"/>
              </a:rPr>
              <a:t>every pair must keep being visited, or an action that looked poor early may be excluded forever</a:t>
            </a:r>
          </a:p>
        </p:txBody>
      </p:sp>
      <p:pic>
        <p:nvPicPr>
          <p:cNvPr id="17" name="Picture 16" descr="eq_glie2.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47122" y="2449322"/>
            <a:ext cx="2294128" cy="384048"/>
          </a:xfrm>
          <a:prstGeom prst="rect">
            <a:avLst/>
          </a:prstGeom>
        </p:spPr>
      </p:pic>
      <p:sp>
        <p:nvSpPr>
          <p:cNvPr id="18" name="TextBox 17"/>
          <p:cNvSpPr txBox="1"/>
          <p:nvPr/>
        </p:nvSpPr>
        <p:spPr>
          <a:xfrm>
            <a:off x="7659928" y="2943012"/>
            <a:ext cx="3366180" cy="311658"/>
          </a:xfrm>
          <a:prstGeom prst="rect">
            <a:avLst/>
          </a:prstGeom>
          <a:noFill/>
        </p:spPr>
        <p:txBody>
          <a:bodyPr wrap="square" lIns="0" tIns="0" rIns="0" bIns="0" anchor="t">
            <a:noAutofit/>
          </a:bodyPr>
          <a:lstStyle/>
          <a:p>
            <a:pPr marL="0" indent="0" algn="l">
              <a:lnSpc>
                <a:spcPts val="1083"/>
              </a:lnSpc>
              <a:spcBef>
                <a:spcPts val="0"/>
              </a:spcBef>
              <a:spcAft>
                <a:spcPts val="0"/>
              </a:spcAft>
              <a:buNone/>
            </a:pPr>
            <a:r>
              <a:rPr sz="950" b="0" i="0">
                <a:solidFill>
                  <a:srgbClr val="626669"/>
                </a:solidFill>
                <a:latin typeface="Fira Sans"/>
              </a:rPr>
              <a:t>but the behaviour itself must become optimal, so exploration cannot stay equally strong forever</a:t>
            </a:r>
          </a:p>
        </p:txBody>
      </p:sp>
      <p:sp>
        <p:nvSpPr>
          <p:cNvPr id="19" name="Rectangle 18"/>
          <p:cNvSpPr/>
          <p:nvPr/>
        </p:nvSpPr>
        <p:spPr>
          <a:xfrm>
            <a:off x="7618780" y="3382772"/>
            <a:ext cx="3731940" cy="770382"/>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3382772"/>
            <a:ext cx="41148" cy="77038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3529076"/>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 tension is the point: exploration must </a:t>
            </a:r>
            <a:r>
              <a:rPr sz="1045" b="1" i="0">
                <a:solidFill>
                  <a:srgbClr val="333639"/>
                </a:solidFill>
                <a:latin typeface="Fira Sans"/>
              </a:rPr>
              <a:t>disappear, but slowly enough</a:t>
            </a:r>
            <a:r>
              <a:rPr sz="1045" b="0" i="0">
                <a:solidFill>
                  <a:srgbClr val="333639"/>
                </a:solidFill>
                <a:latin typeface="Fira Sans"/>
              </a:rPr>
              <a:t> that every pair is still visited infinitely often.</a:t>
            </a:r>
          </a:p>
        </p:txBody>
      </p:sp>
      <p:sp>
        <p:nvSpPr>
          <p:cNvPr id="22" name="TextBox 21"/>
          <p:cNvSpPr txBox="1"/>
          <p:nvPr/>
        </p:nvSpPr>
        <p:spPr>
          <a:xfrm>
            <a:off x="7618780" y="4354322"/>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THE STEP SIZES, PER STATE–ACTION PAIR</a:t>
            </a:r>
          </a:p>
        </p:txBody>
      </p:sp>
      <p:pic>
        <p:nvPicPr>
          <p:cNvPr id="23" name="Picture 22" descr="eq_rm.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7122" y="4638701"/>
            <a:ext cx="3593949" cy="602487"/>
          </a:xfrm>
          <a:prstGeom prst="rect">
            <a:avLst/>
          </a:prstGeom>
        </p:spPr>
      </p:pic>
      <p:sp>
        <p:nvSpPr>
          <p:cNvPr id="24" name="Rectangle 23"/>
          <p:cNvSpPr/>
          <p:nvPr/>
        </p:nvSpPr>
        <p:spPr>
          <a:xfrm>
            <a:off x="7618780" y="5405694"/>
            <a:ext cx="3731940" cy="74843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626548" y="5401364"/>
            <a:ext cx="41148" cy="74843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838236" y="5550256"/>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The Robbins–Monro conditions of Chapter 04, applied separately to each pair. A classical choice satisfying both is α = 1/N(s, 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80772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dirty="0">
                <a:solidFill>
                  <a:srgbClr val="FFFFFF"/>
                </a:solidFill>
                <a:latin typeface="Roboto Slab"/>
              </a:rPr>
              <a:t>Off-policy learning</a:t>
            </a:r>
          </a:p>
        </p:txBody>
      </p:sp>
      <p:sp>
        <p:nvSpPr>
          <p:cNvPr id="6" name="TextBox 5"/>
          <p:cNvSpPr txBox="1"/>
          <p:nvPr/>
        </p:nvSpPr>
        <p:spPr>
          <a:xfrm>
            <a:off x="859536" y="3477768"/>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Separating the policy that acts from the policy that is learned about</a:t>
            </a:r>
            <a:r>
              <a:rPr lang="it-IT" sz="1282" dirty="0">
                <a:solidFill>
                  <a:srgbClr val="D6D0E0"/>
                </a:solidFill>
                <a:latin typeface="Fira Sans"/>
              </a:rPr>
              <a:t>. </a:t>
            </a:r>
            <a:r>
              <a:rPr lang="it-IT" sz="1282" dirty="0" err="1">
                <a:solidFill>
                  <a:srgbClr val="D6D0E0"/>
                </a:solidFill>
                <a:latin typeface="Fira Sans"/>
              </a:rPr>
              <a:t>W</a:t>
            </a:r>
            <a:r>
              <a:rPr sz="1282" b="0" i="0" dirty="0">
                <a:solidFill>
                  <a:srgbClr val="D6D0E0"/>
                </a:solidFill>
                <a:latin typeface="Fira Sans"/>
              </a:rPr>
              <a:t>hat that buys, the bias it introduces, and how all six algorithms actually behave.</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If the agent never behaves greedily, how can it learn what greedy behaviour is worth?</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Behaviour and target policies</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Q-Learning</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Off-policy convergence</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maximization bias</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Double Q-Learning</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SARSA(λ) and Q(λ)</a:t>
            </a:r>
          </a:p>
          <a:p>
            <a:pPr marL="0" indent="0" algn="l">
              <a:lnSpc>
                <a:spcPts val="1378"/>
              </a:lnSpc>
              <a:spcBef>
                <a:spcPts val="1300"/>
              </a:spcBef>
              <a:spcAft>
                <a:spcPts val="0"/>
              </a:spcAft>
              <a:buNone/>
            </a:pPr>
            <a:r>
              <a:rPr sz="1188" b="1" i="0">
                <a:solidFill>
                  <a:srgbClr val="B2A7C4"/>
                </a:solidFill>
                <a:latin typeface="Fira Sans"/>
              </a:rPr>
              <a:t>07   </a:t>
            </a:r>
            <a:r>
              <a:rPr sz="1188" b="0" i="0">
                <a:solidFill>
                  <a:srgbClr val="FFFFFF"/>
                </a:solidFill>
                <a:latin typeface="Fira Sans"/>
              </a:rPr>
              <a:t>All six compared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BEHAVIOUR AND TARGET POLICIES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Learning does not have to be tied to the policy that generates the experience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Separate two roles. The </a:t>
            </a:r>
            <a:r>
              <a:rPr sz="1282" b="1" i="0" dirty="0" err="1">
                <a:solidFill>
                  <a:srgbClr val="C8102E"/>
                </a:solidFill>
                <a:latin typeface="Fira Sans"/>
              </a:rPr>
              <a:t>behaviour</a:t>
            </a:r>
            <a:r>
              <a:rPr sz="1282" b="1" i="0" dirty="0">
                <a:solidFill>
                  <a:srgbClr val="C8102E"/>
                </a:solidFill>
                <a:latin typeface="Fira Sans"/>
              </a:rPr>
              <a:t> policy</a:t>
            </a:r>
            <a:r>
              <a:rPr sz="1282" b="0" i="0" dirty="0">
                <a:solidFill>
                  <a:srgbClr val="333639"/>
                </a:solidFill>
                <a:latin typeface="Fira Sans"/>
              </a:rPr>
              <a:t> interacts with the environment and generates experience </a:t>
            </a:r>
            <a:r>
              <a:rPr lang="it-IT" sz="1282" dirty="0">
                <a:solidFill>
                  <a:srgbClr val="333639"/>
                </a:solidFill>
                <a:latin typeface="Fira Sans"/>
              </a:rPr>
              <a:t>(</a:t>
            </a:r>
            <a:r>
              <a:rPr sz="1282" b="0" i="0" dirty="0">
                <a:solidFill>
                  <a:srgbClr val="333639"/>
                </a:solidFill>
                <a:latin typeface="Fira Sans"/>
              </a:rPr>
              <a:t>it determines what the agent </a:t>
            </a:r>
            <a:r>
              <a:rPr sz="1282" b="0" i="1" dirty="0">
                <a:solidFill>
                  <a:srgbClr val="333639"/>
                </a:solidFill>
                <a:latin typeface="Fira Sans"/>
              </a:rPr>
              <a:t>does</a:t>
            </a:r>
            <a:r>
              <a:rPr lang="it-IT" sz="1282" b="0" i="1" dirty="0">
                <a:solidFill>
                  <a:srgbClr val="333639"/>
                </a:solidFill>
                <a:latin typeface="Fira Sans"/>
              </a:rPr>
              <a:t>)</a:t>
            </a:r>
            <a:r>
              <a:rPr sz="1282" b="0" i="0" dirty="0">
                <a:solidFill>
                  <a:srgbClr val="333639"/>
                </a:solidFill>
                <a:latin typeface="Fira Sans"/>
              </a:rPr>
              <a:t>. The </a:t>
            </a:r>
            <a:r>
              <a:rPr sz="1282" b="1" i="0" dirty="0">
                <a:solidFill>
                  <a:srgbClr val="2B7A3E"/>
                </a:solidFill>
                <a:latin typeface="Fira Sans"/>
              </a:rPr>
              <a:t>target policy</a:t>
            </a:r>
            <a:r>
              <a:rPr sz="1282" b="0" i="0" dirty="0">
                <a:solidFill>
                  <a:srgbClr val="333639"/>
                </a:solidFill>
                <a:latin typeface="Fira Sans"/>
              </a:rPr>
              <a:t> is the one whose values we want to learn </a:t>
            </a:r>
            <a:r>
              <a:rPr lang="it-IT" sz="1282" dirty="0">
                <a:solidFill>
                  <a:srgbClr val="333639"/>
                </a:solidFill>
                <a:latin typeface="Fira Sans"/>
              </a:rPr>
              <a:t>(</a:t>
            </a:r>
            <a:r>
              <a:rPr sz="1282" b="0" i="0" dirty="0">
                <a:solidFill>
                  <a:srgbClr val="333639"/>
                </a:solidFill>
                <a:latin typeface="Fira Sans"/>
              </a:rPr>
              <a:t>it determines what the agent </a:t>
            </a:r>
            <a:r>
              <a:rPr sz="1282" b="0" i="1" dirty="0">
                <a:solidFill>
                  <a:srgbClr val="333639"/>
                </a:solidFill>
                <a:latin typeface="Fira Sans"/>
              </a:rPr>
              <a:t>learns about</a:t>
            </a:r>
            <a:r>
              <a:rPr lang="it-IT" sz="1282" b="0" i="1" dirty="0">
                <a:solidFill>
                  <a:srgbClr val="333639"/>
                </a:solidFill>
                <a:latin typeface="Fira Sans"/>
              </a:rPr>
              <a:t>)</a:t>
            </a:r>
            <a:r>
              <a:rPr sz="1282" b="0" i="0" dirty="0">
                <a:solidFill>
                  <a:srgbClr val="333639"/>
                </a:solidFill>
                <a:latin typeface="Fira Sans"/>
              </a:rPr>
              <a:t>.</a:t>
            </a:r>
          </a:p>
        </p:txBody>
      </p:sp>
      <p:pic>
        <p:nvPicPr>
          <p:cNvPr id="9" name="Picture 8" descr="behaviour_target.png"/>
          <p:cNvPicPr>
            <a:picLocks noChangeAspect="1"/>
          </p:cNvPicPr>
          <p:nvPr/>
        </p:nvPicPr>
        <p:blipFill>
          <a:blip r:embed="rId2"/>
          <a:stretch>
            <a:fillRect/>
          </a:stretch>
        </p:blipFill>
        <p:spPr>
          <a:xfrm>
            <a:off x="976791" y="1891682"/>
            <a:ext cx="9970196" cy="2694380"/>
          </a:xfrm>
          <a:prstGeom prst="rect">
            <a:avLst/>
          </a:prstGeom>
        </p:spPr>
      </p:pic>
      <p:sp>
        <p:nvSpPr>
          <p:cNvPr id="10" name="TextBox 9"/>
          <p:cNvSpPr txBox="1"/>
          <p:nvPr/>
        </p:nvSpPr>
        <p:spPr>
          <a:xfrm>
            <a:off x="841248" y="4614962"/>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dirty="0">
                <a:solidFill>
                  <a:srgbClr val="626669"/>
                </a:solidFill>
                <a:latin typeface="Fira Sans"/>
              </a:rPr>
              <a:t>The agent acts with one policy and learns the value of another.</a:t>
            </a:r>
          </a:p>
        </p:txBody>
      </p:sp>
      <p:sp>
        <p:nvSpPr>
          <p:cNvPr id="11" name="TextBox 10"/>
          <p:cNvSpPr txBox="1"/>
          <p:nvPr/>
        </p:nvSpPr>
        <p:spPr>
          <a:xfrm>
            <a:off x="841249" y="4939522"/>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dirty="0">
                <a:solidFill>
                  <a:srgbClr val="25282A"/>
                </a:solidFill>
                <a:latin typeface="Fira Sans"/>
              </a:rPr>
              <a:t>Experience comes from the </a:t>
            </a:r>
            <a:r>
              <a:rPr sz="1188" b="1" i="0" dirty="0" err="1">
                <a:solidFill>
                  <a:srgbClr val="25282A"/>
                </a:solidFill>
                <a:latin typeface="Fira Sans"/>
              </a:rPr>
              <a:t>behaviour</a:t>
            </a:r>
            <a:r>
              <a:rPr sz="1188" b="1" i="0" dirty="0">
                <a:solidFill>
                  <a:srgbClr val="25282A"/>
                </a:solidFill>
                <a:latin typeface="Fira Sans"/>
              </a:rPr>
              <a:t> policy</a:t>
            </a:r>
          </a:p>
        </p:txBody>
      </p:sp>
      <p:pic>
        <p:nvPicPr>
          <p:cNvPr id="12" name="Picture 11" descr="eq_behaviou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1382" y="5190455"/>
            <a:ext cx="2038985" cy="301625"/>
          </a:xfrm>
          <a:prstGeom prst="rect">
            <a:avLst/>
          </a:prstGeom>
        </p:spPr>
      </p:pic>
      <p:sp>
        <p:nvSpPr>
          <p:cNvPr id="13" name="TextBox 12"/>
          <p:cNvSpPr txBox="1"/>
          <p:nvPr/>
        </p:nvSpPr>
        <p:spPr>
          <a:xfrm>
            <a:off x="6236208" y="4939522"/>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But the quantity we estimate belongs to the target policy</a:t>
            </a:r>
          </a:p>
        </p:txBody>
      </p:sp>
      <p:pic>
        <p:nvPicPr>
          <p:cNvPr id="14" name="Picture 13" descr="eq_target_pol.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1120" y="5197441"/>
            <a:ext cx="3838448" cy="294639"/>
          </a:xfrm>
          <a:prstGeom prst="rect">
            <a:avLst/>
          </a:prstGeom>
        </p:spPr>
      </p:pic>
      <p:sp>
        <p:nvSpPr>
          <p:cNvPr id="15" name="Rectangle 14"/>
          <p:cNvSpPr/>
          <p:nvPr/>
        </p:nvSpPr>
        <p:spPr>
          <a:xfrm>
            <a:off x="841248" y="5671830"/>
            <a:ext cx="10515600" cy="62544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671830"/>
            <a:ext cx="41148" cy="62544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818134"/>
            <a:ext cx="1013155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This is powerful: the </a:t>
            </a:r>
            <a:r>
              <a:rPr sz="1092" b="0" i="0" dirty="0" err="1">
                <a:solidFill>
                  <a:srgbClr val="333639"/>
                </a:solidFill>
                <a:latin typeface="Fira Sans"/>
              </a:rPr>
              <a:t>behaviour</a:t>
            </a:r>
            <a:r>
              <a:rPr sz="1092" b="0" i="0" dirty="0">
                <a:solidFill>
                  <a:srgbClr val="333639"/>
                </a:solidFill>
                <a:latin typeface="Fira Sans"/>
              </a:rPr>
              <a:t> policy can keep exploring while the target policy is greedy. More generally, the experience may come from an older version of the agent, or from any other sufficiently exploratory policy. </a:t>
            </a:r>
            <a:r>
              <a:rPr sz="1092" b="1" i="0" dirty="0">
                <a:solidFill>
                  <a:srgbClr val="333639"/>
                </a:solidFill>
                <a:latin typeface="Fira Sans"/>
              </a:rPr>
              <a:t>But it creates a problem</a:t>
            </a:r>
            <a:r>
              <a:rPr lang="it-IT" sz="1092" b="1" i="0" dirty="0">
                <a:solidFill>
                  <a:srgbClr val="333639"/>
                </a:solidFill>
                <a:latin typeface="Fira Sans"/>
              </a:rPr>
              <a:t>: </a:t>
            </a:r>
            <a:r>
              <a:rPr sz="1092" b="1" i="0" dirty="0">
                <a:solidFill>
                  <a:srgbClr val="333639"/>
                </a:solidFill>
                <a:latin typeface="Fira Sans"/>
              </a:rPr>
              <a:t>how can we learn about one policy from data generated by another?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Q-LEARNING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Bootstrap from the action the target policy would take, not the one taken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38</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1" i="0" dirty="0">
                <a:solidFill>
                  <a:srgbClr val="333639"/>
                </a:solidFill>
                <a:latin typeface="Fira Sans"/>
              </a:rPr>
              <a:t>Q-Learning</a:t>
            </a:r>
            <a:r>
              <a:rPr sz="1235" b="0" i="0" dirty="0">
                <a:solidFill>
                  <a:srgbClr val="333639"/>
                </a:solidFill>
                <a:latin typeface="Fira Sans"/>
              </a:rPr>
              <a:t> gives a clever answer. Instead of bootstrapping from the action the </a:t>
            </a:r>
            <a:r>
              <a:rPr sz="1235" b="0" i="0" dirty="0" err="1">
                <a:solidFill>
                  <a:srgbClr val="333639"/>
                </a:solidFill>
                <a:latin typeface="Fira Sans"/>
              </a:rPr>
              <a:t>behaviour</a:t>
            </a:r>
            <a:r>
              <a:rPr sz="1235" b="0" i="0" dirty="0">
                <a:solidFill>
                  <a:srgbClr val="333639"/>
                </a:solidFill>
                <a:latin typeface="Fira Sans"/>
              </a:rPr>
              <a:t> policy actually selects next, it bootstraps from the </a:t>
            </a:r>
            <a:r>
              <a:rPr sz="1235" b="1" i="0" dirty="0">
                <a:solidFill>
                  <a:srgbClr val="25282A"/>
                </a:solidFill>
                <a:latin typeface="Fira Sans"/>
              </a:rPr>
              <a:t>action preferred by the greedy target policy</a:t>
            </a:r>
            <a:r>
              <a:rPr sz="1235" b="0" i="0" dirty="0">
                <a:solidFill>
                  <a:srgbClr val="333639"/>
                </a:solidFill>
                <a:latin typeface="Fira Sans"/>
              </a:rPr>
              <a:t>.</a:t>
            </a:r>
          </a:p>
        </p:txBody>
      </p:sp>
      <p:pic>
        <p:nvPicPr>
          <p:cNvPr id="9" name="Picture 8" descr="eq_sarsa_vs_q.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146820"/>
            <a:ext cx="5669280" cy="644144"/>
          </a:xfrm>
          <a:prstGeom prst="rect">
            <a:avLst/>
          </a:prstGeom>
        </p:spPr>
      </p:pic>
      <p:sp>
        <p:nvSpPr>
          <p:cNvPr id="10" name="Rectangle 9"/>
          <p:cNvSpPr/>
          <p:nvPr/>
        </p:nvSpPr>
        <p:spPr>
          <a:xfrm>
            <a:off x="841248" y="3133800"/>
            <a:ext cx="6543446" cy="138874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1" name="Rectangle 10"/>
          <p:cNvSpPr/>
          <p:nvPr/>
        </p:nvSpPr>
        <p:spPr>
          <a:xfrm>
            <a:off x="841758" y="3133800"/>
            <a:ext cx="45719" cy="138874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eq_q_targe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303028"/>
            <a:ext cx="3539871" cy="453644"/>
          </a:xfrm>
          <a:prstGeom prst="rect">
            <a:avLst/>
          </a:prstGeom>
        </p:spPr>
      </p:pic>
      <p:pic>
        <p:nvPicPr>
          <p:cNvPr id="13" name="Picture 12" descr="eq_q_target_pol.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7008" y="3997972"/>
            <a:ext cx="2977641" cy="456057"/>
          </a:xfrm>
          <a:prstGeom prst="rect">
            <a:avLst/>
          </a:prstGeom>
        </p:spPr>
      </p:pic>
      <p:sp>
        <p:nvSpPr>
          <p:cNvPr id="14" name="TextBox 13"/>
          <p:cNvSpPr txBox="1"/>
          <p:nvPr/>
        </p:nvSpPr>
        <p:spPr>
          <a:xfrm>
            <a:off x="841248" y="4691773"/>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transition (Sₜ, Aₜ, Rₜ₊₁, Sₜ₊₁) is generated by the behaviour policy, while the target is constructed according to the greedy one. In Q-Learning we therefore </a:t>
            </a:r>
            <a:r>
              <a:rPr sz="1092" b="1" i="0">
                <a:solidFill>
                  <a:srgbClr val="25282A"/>
                </a:solidFill>
                <a:latin typeface="Fira Sans"/>
              </a:rPr>
              <a:t>behave exploratively while learning greedily</a:t>
            </a:r>
            <a:r>
              <a:rPr sz="1092" b="0" i="0">
                <a:solidFill>
                  <a:srgbClr val="626669"/>
                </a:solidFill>
                <a:latin typeface="Fira Sans"/>
              </a:rPr>
              <a:t>.</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UPDATE</a:t>
            </a:r>
          </a:p>
        </p:txBody>
      </p:sp>
      <p:pic>
        <p:nvPicPr>
          <p:cNvPr id="16" name="Picture 15" descr="eq_q_updat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27371" y="1580114"/>
            <a:ext cx="4045301" cy="719672"/>
          </a:xfrm>
          <a:prstGeom prst="rect">
            <a:avLst/>
          </a:prstGeom>
        </p:spPr>
      </p:pic>
      <p:pic>
        <p:nvPicPr>
          <p:cNvPr id="17" name="Picture 16" descr="q_backup.png"/>
          <p:cNvPicPr>
            <a:picLocks noChangeAspect="1"/>
          </p:cNvPicPr>
          <p:nvPr/>
        </p:nvPicPr>
        <p:blipFill>
          <a:blip r:embed="rId6"/>
          <a:stretch>
            <a:fillRect/>
          </a:stretch>
        </p:blipFill>
        <p:spPr>
          <a:xfrm>
            <a:off x="7445259" y="2401285"/>
            <a:ext cx="3911589" cy="1261991"/>
          </a:xfrm>
          <a:prstGeom prst="rect">
            <a:avLst/>
          </a:prstGeom>
        </p:spPr>
      </p:pic>
      <p:sp>
        <p:nvSpPr>
          <p:cNvPr id="18" name="TextBox 17"/>
          <p:cNvSpPr txBox="1"/>
          <p:nvPr/>
        </p:nvSpPr>
        <p:spPr>
          <a:xfrm>
            <a:off x="7618780" y="3791172"/>
            <a:ext cx="3731940" cy="311200"/>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The backup: one sampled transition, then the maximum over the next state’s actions.</a:t>
            </a:r>
          </a:p>
        </p:txBody>
      </p:sp>
      <p:sp>
        <p:nvSpPr>
          <p:cNvPr id="19" name="Rectangle 18"/>
          <p:cNvSpPr/>
          <p:nvPr/>
        </p:nvSpPr>
        <p:spPr>
          <a:xfrm>
            <a:off x="7618780" y="4266965"/>
            <a:ext cx="3731940" cy="1088897"/>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4266965"/>
            <a:ext cx="41148" cy="108889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4455214"/>
            <a:ext cx="3347892" cy="796289"/>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Notice that the </a:t>
            </a:r>
            <a:r>
              <a:rPr sz="1045" b="0" i="0" dirty="0" err="1">
                <a:solidFill>
                  <a:srgbClr val="333639"/>
                </a:solidFill>
                <a:latin typeface="Fira Sans"/>
              </a:rPr>
              <a:t>behaviour</a:t>
            </a:r>
            <a:r>
              <a:rPr sz="1045" b="0" i="0" dirty="0">
                <a:solidFill>
                  <a:srgbClr val="333639"/>
                </a:solidFill>
                <a:latin typeface="Fira Sans"/>
              </a:rPr>
              <a:t> policy still explores according to </a:t>
            </a:r>
            <a:r>
              <a:rPr sz="1045" b="0" i="0" dirty="0" err="1">
                <a:solidFill>
                  <a:srgbClr val="333639"/>
                </a:solidFill>
                <a:latin typeface="Fira Sans"/>
              </a:rPr>
              <a:t>ε</a:t>
            </a:r>
            <a:r>
              <a:rPr lang="it-IT" sz="1045" dirty="0">
                <a:solidFill>
                  <a:srgbClr val="333639"/>
                </a:solidFill>
                <a:latin typeface="Fira Sans"/>
              </a:rPr>
              <a:t>, </a:t>
            </a:r>
            <a:r>
              <a:rPr sz="1045" b="0" i="0" dirty="0">
                <a:solidFill>
                  <a:srgbClr val="333639"/>
                </a:solidFill>
                <a:latin typeface="Fira Sans"/>
              </a:rPr>
              <a:t>but </a:t>
            </a:r>
            <a:r>
              <a:rPr sz="1045" b="1" i="0" dirty="0" err="1">
                <a:solidFill>
                  <a:srgbClr val="333639"/>
                </a:solidFill>
                <a:latin typeface="Fira Sans"/>
              </a:rPr>
              <a:t>ε</a:t>
            </a:r>
            <a:r>
              <a:rPr sz="1045" b="1" i="0" dirty="0">
                <a:solidFill>
                  <a:srgbClr val="333639"/>
                </a:solidFill>
                <a:latin typeface="Fira Sans"/>
              </a:rPr>
              <a:t> never appears in the target</a:t>
            </a:r>
            <a:r>
              <a:rPr sz="1045" b="0" i="0" dirty="0">
                <a:solidFill>
                  <a:srgbClr val="333639"/>
                </a:solidFill>
                <a:latin typeface="Fira Sans"/>
              </a:rPr>
              <a:t>. That is the key distinction from SARSA, which bootstraps from whatever action </a:t>
            </a:r>
            <a:r>
              <a:rPr sz="1045" b="0" i="0" dirty="0" err="1">
                <a:solidFill>
                  <a:srgbClr val="333639"/>
                </a:solidFill>
                <a:latin typeface="Fira Sans"/>
              </a:rPr>
              <a:t>ε</a:t>
            </a:r>
            <a:r>
              <a:rPr sz="1045" b="0" i="0" dirty="0">
                <a:solidFill>
                  <a:srgbClr val="333639"/>
                </a:solidFill>
                <a:latin typeface="Fira Sans"/>
              </a:rPr>
              <a:t> happened to choose.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Q-LEARNING ON THE SLIPPERY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Faster toward the optimum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248457"/>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Q-Learning approaches the optimal values more rapidly than SARSA here, particularly over the first few hundred episodes. This is </a:t>
            </a:r>
            <a:r>
              <a:rPr sz="1235" b="1" i="1" dirty="0">
                <a:solidFill>
                  <a:srgbClr val="C8102E"/>
                </a:solidFill>
                <a:latin typeface="Fira Sans"/>
              </a:rPr>
              <a:t>not</a:t>
            </a:r>
            <a:r>
              <a:rPr sz="1235" b="0" i="0" dirty="0">
                <a:solidFill>
                  <a:srgbClr val="333639"/>
                </a:solidFill>
                <a:latin typeface="Fira Sans"/>
              </a:rPr>
              <a:t> a general guarantee that off-policy methods learn faster</a:t>
            </a:r>
            <a:r>
              <a:rPr lang="it-IT" sz="1235" b="0" i="0" dirty="0">
                <a:solidFill>
                  <a:srgbClr val="333639"/>
                </a:solidFill>
                <a:latin typeface="Fira Sans"/>
              </a:rPr>
              <a:t>.</a:t>
            </a:r>
            <a:endParaRPr sz="1235" b="0" i="0" dirty="0">
              <a:solidFill>
                <a:srgbClr val="333639"/>
              </a:solidFill>
              <a:latin typeface="Fira Sans"/>
            </a:endParaRPr>
          </a:p>
        </p:txBody>
      </p:sp>
      <p:pic>
        <p:nvPicPr>
          <p:cNvPr id="9" name="Picture 8" descr="ql_track.png"/>
          <p:cNvPicPr>
            <a:picLocks noChangeAspect="1"/>
          </p:cNvPicPr>
          <p:nvPr/>
        </p:nvPicPr>
        <p:blipFill>
          <a:blip r:embed="rId2"/>
          <a:stretch>
            <a:fillRect/>
          </a:stretch>
        </p:blipFill>
        <p:spPr>
          <a:xfrm>
            <a:off x="658367" y="1779446"/>
            <a:ext cx="6695530" cy="3269910"/>
          </a:xfrm>
          <a:prstGeom prst="rect">
            <a:avLst/>
          </a:prstGeom>
        </p:spPr>
      </p:pic>
      <p:sp>
        <p:nvSpPr>
          <p:cNvPr id="10" name="TextBox 9"/>
          <p:cNvSpPr txBox="1"/>
          <p:nvPr/>
        </p:nvSpPr>
        <p:spPr>
          <a:xfrm>
            <a:off x="867308" y="5136921"/>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Q-Learning estimates over 3000 episodes; compare with SARSA in §5.7.</a:t>
            </a:r>
          </a:p>
        </p:txBody>
      </p:sp>
      <p:sp>
        <p:nvSpPr>
          <p:cNvPr id="11" name="Rectangle 10"/>
          <p:cNvSpPr/>
          <p:nvPr/>
        </p:nvSpPr>
        <p:spPr>
          <a:xfrm>
            <a:off x="867308" y="5359299"/>
            <a:ext cx="3152851"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67308" y="5487315"/>
            <a:ext cx="3152851" cy="237744"/>
          </a:xfrm>
          <a:prstGeom prst="rect">
            <a:avLst/>
          </a:prstGeom>
          <a:noFill/>
        </p:spPr>
        <p:txBody>
          <a:bodyPr wrap="square" lIns="0" tIns="0" rIns="0" bIns="0" anchor="t">
            <a:noAutofit/>
          </a:bodyPr>
          <a:lstStyle/>
          <a:p>
            <a:pPr marL="0" indent="0" algn="l">
              <a:lnSpc>
                <a:spcPts val="1223"/>
              </a:lnSpc>
              <a:spcBef>
                <a:spcPts val="0"/>
              </a:spcBef>
              <a:spcAft>
                <a:spcPts val="0"/>
              </a:spcAft>
              <a:buNone/>
            </a:pPr>
            <a:r>
              <a:rPr sz="1092" b="1" i="0">
                <a:solidFill>
                  <a:srgbClr val="25282A"/>
                </a:solidFill>
                <a:latin typeface="Fira Sans"/>
              </a:rPr>
              <a:t>SARSA learns the exploratory policy</a:t>
            </a:r>
          </a:p>
        </p:txBody>
      </p:sp>
      <p:sp>
        <p:nvSpPr>
          <p:cNvPr id="13" name="TextBox 12"/>
          <p:cNvSpPr txBox="1"/>
          <p:nvPr/>
        </p:nvSpPr>
        <p:spPr>
          <a:xfrm>
            <a:off x="867308" y="5761635"/>
            <a:ext cx="3152851"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Its target includes the action </a:t>
            </a:r>
            <a:r>
              <a:rPr sz="997" b="0" i="0" dirty="0" err="1">
                <a:solidFill>
                  <a:srgbClr val="626669"/>
                </a:solidFill>
                <a:latin typeface="Fira Sans"/>
              </a:rPr>
              <a:t>ε</a:t>
            </a:r>
            <a:r>
              <a:rPr sz="997" b="0" i="0" dirty="0">
                <a:solidFill>
                  <a:srgbClr val="626669"/>
                </a:solidFill>
                <a:latin typeface="Fira Sans"/>
              </a:rPr>
              <a:t>-greedy actually chose, so it values the behavior being followed</a:t>
            </a:r>
            <a:r>
              <a:rPr lang="it-IT" sz="997" b="0" i="0" dirty="0">
                <a:solidFill>
                  <a:srgbClr val="626669"/>
                </a:solidFill>
                <a:latin typeface="Fira Sans"/>
              </a:rPr>
              <a:t>,</a:t>
            </a:r>
            <a:r>
              <a:rPr sz="997" b="0" i="0" dirty="0">
                <a:solidFill>
                  <a:srgbClr val="626669"/>
                </a:solidFill>
                <a:latin typeface="Fira Sans"/>
              </a:rPr>
              <a:t> exploration included.</a:t>
            </a:r>
          </a:p>
        </p:txBody>
      </p:sp>
      <p:sp>
        <p:nvSpPr>
          <p:cNvPr id="14" name="Rectangle 13"/>
          <p:cNvSpPr/>
          <p:nvPr/>
        </p:nvSpPr>
        <p:spPr>
          <a:xfrm>
            <a:off x="4257903" y="5359299"/>
            <a:ext cx="3152851"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257903" y="5487315"/>
            <a:ext cx="3152851" cy="237744"/>
          </a:xfrm>
          <a:prstGeom prst="rect">
            <a:avLst/>
          </a:prstGeom>
          <a:noFill/>
        </p:spPr>
        <p:txBody>
          <a:bodyPr wrap="square" lIns="0" tIns="0" rIns="0" bIns="0" anchor="t">
            <a:noAutofit/>
          </a:bodyPr>
          <a:lstStyle/>
          <a:p>
            <a:pPr marL="0" indent="0" algn="l">
              <a:lnSpc>
                <a:spcPts val="1223"/>
              </a:lnSpc>
              <a:spcBef>
                <a:spcPts val="0"/>
              </a:spcBef>
              <a:spcAft>
                <a:spcPts val="0"/>
              </a:spcAft>
              <a:buNone/>
            </a:pPr>
            <a:r>
              <a:rPr sz="1092" b="1" i="0">
                <a:solidFill>
                  <a:srgbClr val="25282A"/>
                </a:solidFill>
                <a:latin typeface="Fira Sans"/>
              </a:rPr>
              <a:t>Q-Learning learns the greedy policy</a:t>
            </a:r>
          </a:p>
        </p:txBody>
      </p:sp>
      <p:sp>
        <p:nvSpPr>
          <p:cNvPr id="16" name="TextBox 15"/>
          <p:cNvSpPr txBox="1"/>
          <p:nvPr/>
        </p:nvSpPr>
        <p:spPr>
          <a:xfrm>
            <a:off x="4257903" y="5761635"/>
            <a:ext cx="3152851"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Its target always assumes greedy behavior from the next state onward, so it moves directly toward the value of the policy we actually want.</a:t>
            </a:r>
          </a:p>
        </p:txBody>
      </p:sp>
      <p:sp>
        <p:nvSpPr>
          <p:cNvPr id="17" name="Rectangle 16"/>
          <p:cNvSpPr/>
          <p:nvPr/>
        </p:nvSpPr>
        <p:spPr>
          <a:xfrm>
            <a:off x="7618780" y="1335024"/>
            <a:ext cx="3731940" cy="24278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10220" y="1380744"/>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a:solidFill>
                  <a:srgbClr val="FFFFFF"/>
                </a:solidFill>
                <a:latin typeface="Fira Sans"/>
              </a:rPr>
              <a:t>State</a:t>
            </a:r>
          </a:p>
        </p:txBody>
      </p:sp>
      <p:sp>
        <p:nvSpPr>
          <p:cNvPr id="19" name="TextBox 18"/>
          <p:cNvSpPr txBox="1"/>
          <p:nvPr/>
        </p:nvSpPr>
        <p:spPr>
          <a:xfrm>
            <a:off x="8605886" y="1380744"/>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Q-Learning</a:t>
            </a:r>
          </a:p>
        </p:txBody>
      </p:sp>
      <p:sp>
        <p:nvSpPr>
          <p:cNvPr id="20" name="TextBox 19"/>
          <p:cNvSpPr txBox="1"/>
          <p:nvPr/>
        </p:nvSpPr>
        <p:spPr>
          <a:xfrm>
            <a:off x="10024024" y="1380744"/>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Optimal</a:t>
            </a:r>
          </a:p>
        </p:txBody>
      </p:sp>
      <p:sp>
        <p:nvSpPr>
          <p:cNvPr id="21" name="TextBox 20"/>
          <p:cNvSpPr txBox="1"/>
          <p:nvPr/>
        </p:nvSpPr>
        <p:spPr>
          <a:xfrm>
            <a:off x="7710220" y="1623527"/>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1</a:t>
            </a:r>
          </a:p>
        </p:txBody>
      </p:sp>
      <p:sp>
        <p:nvSpPr>
          <p:cNvPr id="22" name="TextBox 21"/>
          <p:cNvSpPr txBox="1"/>
          <p:nvPr/>
        </p:nvSpPr>
        <p:spPr>
          <a:xfrm>
            <a:off x="8605886" y="1623527"/>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0.579</a:t>
            </a:r>
          </a:p>
        </p:txBody>
      </p:sp>
      <p:sp>
        <p:nvSpPr>
          <p:cNvPr id="23" name="TextBox 22"/>
          <p:cNvSpPr txBox="1"/>
          <p:nvPr/>
        </p:nvSpPr>
        <p:spPr>
          <a:xfrm>
            <a:off x="10024024" y="1623527"/>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0.564</a:t>
            </a:r>
          </a:p>
        </p:txBody>
      </p:sp>
      <p:sp>
        <p:nvSpPr>
          <p:cNvPr id="24" name="Rectangle 23"/>
          <p:cNvSpPr/>
          <p:nvPr/>
        </p:nvSpPr>
        <p:spPr>
          <a:xfrm>
            <a:off x="7618780" y="1827847"/>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618780" y="1833333"/>
            <a:ext cx="3731940" cy="25552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10220" y="1879053"/>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2</a:t>
            </a:r>
          </a:p>
        </p:txBody>
      </p:sp>
      <p:sp>
        <p:nvSpPr>
          <p:cNvPr id="27" name="TextBox 26"/>
          <p:cNvSpPr txBox="1"/>
          <p:nvPr/>
        </p:nvSpPr>
        <p:spPr>
          <a:xfrm>
            <a:off x="8605886" y="1879053"/>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0.784</a:t>
            </a:r>
          </a:p>
        </p:txBody>
      </p:sp>
      <p:sp>
        <p:nvSpPr>
          <p:cNvPr id="28" name="TextBox 27"/>
          <p:cNvSpPr txBox="1"/>
          <p:nvPr/>
        </p:nvSpPr>
        <p:spPr>
          <a:xfrm>
            <a:off x="10024024" y="1879053"/>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0.763</a:t>
            </a:r>
          </a:p>
        </p:txBody>
      </p:sp>
      <p:sp>
        <p:nvSpPr>
          <p:cNvPr id="29" name="Rectangle 28"/>
          <p:cNvSpPr/>
          <p:nvPr/>
        </p:nvSpPr>
        <p:spPr>
          <a:xfrm>
            <a:off x="7618780" y="208337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710220" y="2134580"/>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3</a:t>
            </a:r>
          </a:p>
        </p:txBody>
      </p:sp>
      <p:sp>
        <p:nvSpPr>
          <p:cNvPr id="31" name="TextBox 30"/>
          <p:cNvSpPr txBox="1"/>
          <p:nvPr/>
        </p:nvSpPr>
        <p:spPr>
          <a:xfrm>
            <a:off x="8605886" y="2134580"/>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0.857</a:t>
            </a:r>
          </a:p>
        </p:txBody>
      </p:sp>
      <p:sp>
        <p:nvSpPr>
          <p:cNvPr id="32" name="TextBox 31"/>
          <p:cNvSpPr txBox="1"/>
          <p:nvPr/>
        </p:nvSpPr>
        <p:spPr>
          <a:xfrm>
            <a:off x="10024024" y="2134580"/>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0.845</a:t>
            </a:r>
          </a:p>
        </p:txBody>
      </p:sp>
      <p:sp>
        <p:nvSpPr>
          <p:cNvPr id="33" name="Rectangle 32"/>
          <p:cNvSpPr/>
          <p:nvPr/>
        </p:nvSpPr>
        <p:spPr>
          <a:xfrm>
            <a:off x="7618780" y="233890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618780" y="2344386"/>
            <a:ext cx="3731940" cy="25552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710220" y="2390106"/>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4</a:t>
            </a:r>
          </a:p>
        </p:txBody>
      </p:sp>
      <p:sp>
        <p:nvSpPr>
          <p:cNvPr id="36" name="TextBox 35"/>
          <p:cNvSpPr txBox="1"/>
          <p:nvPr/>
        </p:nvSpPr>
        <p:spPr>
          <a:xfrm>
            <a:off x="8605886" y="2390106"/>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0.900</a:t>
            </a:r>
          </a:p>
        </p:txBody>
      </p:sp>
      <p:sp>
        <p:nvSpPr>
          <p:cNvPr id="37" name="TextBox 36"/>
          <p:cNvSpPr txBox="1"/>
          <p:nvPr/>
        </p:nvSpPr>
        <p:spPr>
          <a:xfrm>
            <a:off x="10024024" y="2390106"/>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0.889</a:t>
            </a:r>
          </a:p>
        </p:txBody>
      </p:sp>
      <p:sp>
        <p:nvSpPr>
          <p:cNvPr id="38" name="Rectangle 37"/>
          <p:cNvSpPr/>
          <p:nvPr/>
        </p:nvSpPr>
        <p:spPr>
          <a:xfrm>
            <a:off x="7618780" y="2594427"/>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710220" y="2645633"/>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5</a:t>
            </a:r>
          </a:p>
        </p:txBody>
      </p:sp>
      <p:sp>
        <p:nvSpPr>
          <p:cNvPr id="40" name="TextBox 39"/>
          <p:cNvSpPr txBox="1"/>
          <p:nvPr/>
        </p:nvSpPr>
        <p:spPr>
          <a:xfrm>
            <a:off x="8605886" y="2645633"/>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0.928</a:t>
            </a:r>
          </a:p>
        </p:txBody>
      </p:sp>
      <p:sp>
        <p:nvSpPr>
          <p:cNvPr id="41" name="TextBox 40"/>
          <p:cNvSpPr txBox="1"/>
          <p:nvPr/>
        </p:nvSpPr>
        <p:spPr>
          <a:xfrm>
            <a:off x="10024024" y="2645633"/>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0.922</a:t>
            </a:r>
          </a:p>
        </p:txBody>
      </p:sp>
      <p:sp>
        <p:nvSpPr>
          <p:cNvPr id="42" name="Rectangle 41"/>
          <p:cNvSpPr/>
          <p:nvPr/>
        </p:nvSpPr>
        <p:spPr>
          <a:xfrm>
            <a:off x="7618780" y="284995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7618780" y="2855440"/>
            <a:ext cx="3731940" cy="25552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710220" y="2901160"/>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6</a:t>
            </a:r>
          </a:p>
        </p:txBody>
      </p:sp>
      <p:sp>
        <p:nvSpPr>
          <p:cNvPr id="45" name="TextBox 44"/>
          <p:cNvSpPr txBox="1"/>
          <p:nvPr/>
        </p:nvSpPr>
        <p:spPr>
          <a:xfrm>
            <a:off x="8605886" y="2901160"/>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0.956</a:t>
            </a:r>
          </a:p>
        </p:txBody>
      </p:sp>
      <p:sp>
        <p:nvSpPr>
          <p:cNvPr id="46" name="TextBox 45"/>
          <p:cNvSpPr txBox="1"/>
          <p:nvPr/>
        </p:nvSpPr>
        <p:spPr>
          <a:xfrm>
            <a:off x="10024024" y="2901160"/>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0.952</a:t>
            </a:r>
          </a:p>
        </p:txBody>
      </p:sp>
      <p:sp>
        <p:nvSpPr>
          <p:cNvPr id="47" name="Rectangle 46"/>
          <p:cNvSpPr/>
          <p:nvPr/>
        </p:nvSpPr>
        <p:spPr>
          <a:xfrm>
            <a:off x="7618780" y="310548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710220" y="3156686"/>
            <a:ext cx="712785" cy="164086"/>
          </a:xfrm>
          <a:prstGeom prst="rect">
            <a:avLst/>
          </a:prstGeom>
          <a:noFill/>
        </p:spPr>
        <p:txBody>
          <a:bodyPr wrap="square" lIns="0" tIns="0" rIns="0" bIns="0" anchor="t">
            <a:noAutofit/>
          </a:bodyPr>
          <a:lstStyle/>
          <a:p>
            <a:pPr marL="0" indent="0" algn="ctr">
              <a:lnSpc>
                <a:spcPts val="1129"/>
              </a:lnSpc>
              <a:spcBef>
                <a:spcPts val="0"/>
              </a:spcBef>
              <a:spcAft>
                <a:spcPts val="0"/>
              </a:spcAft>
              <a:buNone/>
            </a:pPr>
            <a:r>
              <a:rPr sz="941" b="0" i="0">
                <a:solidFill>
                  <a:srgbClr val="333639"/>
                </a:solidFill>
                <a:latin typeface="Fira Sans"/>
              </a:rPr>
              <a:t>7</a:t>
            </a:r>
          </a:p>
        </p:txBody>
      </p:sp>
      <p:sp>
        <p:nvSpPr>
          <p:cNvPr id="49" name="TextBox 48"/>
          <p:cNvSpPr txBox="1"/>
          <p:nvPr/>
        </p:nvSpPr>
        <p:spPr>
          <a:xfrm>
            <a:off x="8605886" y="3156686"/>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002677"/>
                </a:solidFill>
                <a:latin typeface="Fira Sans"/>
              </a:rPr>
              <a:t>0.985</a:t>
            </a:r>
          </a:p>
        </p:txBody>
      </p:sp>
      <p:sp>
        <p:nvSpPr>
          <p:cNvPr id="50" name="TextBox 49"/>
          <p:cNvSpPr txBox="1"/>
          <p:nvPr/>
        </p:nvSpPr>
        <p:spPr>
          <a:xfrm>
            <a:off x="10024024" y="3156686"/>
            <a:ext cx="1235257" cy="164086"/>
          </a:xfrm>
          <a:prstGeom prst="rect">
            <a:avLst/>
          </a:prstGeom>
          <a:noFill/>
        </p:spPr>
        <p:txBody>
          <a:bodyPr wrap="square" lIns="0" tIns="0" rIns="0" bIns="0" anchor="t">
            <a:noAutofit/>
          </a:bodyPr>
          <a:lstStyle/>
          <a:p>
            <a:pPr marL="0" indent="0" algn="r">
              <a:lnSpc>
                <a:spcPts val="1129"/>
              </a:lnSpc>
              <a:spcBef>
                <a:spcPts val="0"/>
              </a:spcBef>
              <a:spcAft>
                <a:spcPts val="0"/>
              </a:spcAft>
              <a:buNone/>
            </a:pPr>
            <a:r>
              <a:rPr sz="941" b="0" i="0">
                <a:solidFill>
                  <a:srgbClr val="333639"/>
                </a:solidFill>
                <a:latin typeface="Fira Sans"/>
              </a:rPr>
              <a:t>0.981</a:t>
            </a:r>
          </a:p>
        </p:txBody>
      </p:sp>
      <p:sp>
        <p:nvSpPr>
          <p:cNvPr id="51" name="Rectangle 50"/>
          <p:cNvSpPr/>
          <p:nvPr/>
        </p:nvSpPr>
        <p:spPr>
          <a:xfrm>
            <a:off x="7618780" y="3361006"/>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7618780" y="3585949"/>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OFF-POLICY CONVERGENCE IS EASIER</a:t>
            </a:r>
          </a:p>
        </p:txBody>
      </p:sp>
      <p:sp>
        <p:nvSpPr>
          <p:cNvPr id="53" name="TextBox 52"/>
          <p:cNvSpPr txBox="1"/>
          <p:nvPr/>
        </p:nvSpPr>
        <p:spPr>
          <a:xfrm>
            <a:off x="7618780" y="3841981"/>
            <a:ext cx="3731940" cy="1264005"/>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On-policy needed GLIE: one policy had to explore </a:t>
            </a:r>
            <a:r>
              <a:rPr sz="1045" b="0" i="1">
                <a:solidFill>
                  <a:srgbClr val="333639"/>
                </a:solidFill>
                <a:latin typeface="Fira Sans"/>
              </a:rPr>
              <a:t>and</a:t>
            </a:r>
            <a:r>
              <a:rPr sz="1045" b="0" i="0">
                <a:solidFill>
                  <a:srgbClr val="333639"/>
                </a:solidFill>
                <a:latin typeface="Fira Sans"/>
              </a:rPr>
              <a:t> become greedy.</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Here the two responsibilities are </a:t>
            </a:r>
            <a:r>
              <a:rPr sz="1045" b="1" i="0">
                <a:solidFill>
                  <a:srgbClr val="25282A"/>
                </a:solidFill>
                <a:latin typeface="Fira Sans"/>
              </a:rPr>
              <a:t>decoupled</a:t>
            </a:r>
            <a:r>
              <a:rPr sz="1045" b="0" i="0">
                <a:solidFill>
                  <a:srgbClr val="333639"/>
                </a:solidFill>
                <a:latin typeface="Fira Sans"/>
              </a:rPr>
              <a:t>. The behaviour policy only has to keep visiting every pair; it never needs to become greedy.</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Greediness is built into the target itself, so GLIE is not required. The Robbins–Monro conditions on α still are.</a:t>
            </a:r>
          </a:p>
        </p:txBody>
      </p:sp>
      <p:sp>
        <p:nvSpPr>
          <p:cNvPr id="54" name="Rectangle 53"/>
          <p:cNvSpPr/>
          <p:nvPr/>
        </p:nvSpPr>
        <p:spPr>
          <a:xfrm>
            <a:off x="7618780" y="5307154"/>
            <a:ext cx="3731940" cy="90037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7618780" y="5307154"/>
            <a:ext cx="41148" cy="90037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7838236" y="5453458"/>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And accurate values are not the same as a good policy. The greedy policy depends only on </a:t>
            </a:r>
            <a:r>
              <a:rPr sz="997" b="1" i="1">
                <a:solidFill>
                  <a:srgbClr val="333639"/>
                </a:solidFill>
                <a:latin typeface="Fira Sans"/>
              </a:rPr>
              <a:t>which</a:t>
            </a:r>
            <a:r>
              <a:rPr sz="997" b="0" i="0">
                <a:solidFill>
                  <a:srgbClr val="333639"/>
                </a:solidFill>
                <a:latin typeface="Fira Sans"/>
              </a:rPr>
              <a:t> action has the largest estimate, so the policy can already be optimal while the numbers are still moving.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THE MAXIMIZATION BIAS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estimates are used both to choose an action and to value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b="0" i="0" noProof="0" dirty="0">
                <a:solidFill>
                  <a:srgbClr val="333639"/>
                </a:solidFill>
                <a:latin typeface="Fira Sans"/>
              </a:rPr>
              <a:t>Q-Learning has a </a:t>
            </a:r>
            <a:r>
              <a:rPr lang="en-GB" sz="1282" b="1" i="0" noProof="0" dirty="0">
                <a:solidFill>
                  <a:srgbClr val="333639"/>
                </a:solidFill>
                <a:latin typeface="Fira Sans"/>
              </a:rPr>
              <a:t>weakness</a:t>
            </a:r>
            <a:r>
              <a:rPr lang="en-GB" sz="1282" b="0" i="0" noProof="0" dirty="0">
                <a:solidFill>
                  <a:srgbClr val="333639"/>
                </a:solidFill>
                <a:latin typeface="Fira Sans"/>
              </a:rPr>
              <a:t>. What we want is the maximum </a:t>
            </a:r>
            <a:r>
              <a:rPr lang="en-GB" sz="1282" b="1" i="1" noProof="0" dirty="0">
                <a:solidFill>
                  <a:srgbClr val="2B7A3E"/>
                </a:solidFill>
                <a:latin typeface="Fira Sans"/>
              </a:rPr>
              <a:t>true</a:t>
            </a:r>
            <a:r>
              <a:rPr lang="en-GB" sz="1282" b="0" i="0" noProof="0" dirty="0">
                <a:solidFill>
                  <a:srgbClr val="333639"/>
                </a:solidFill>
                <a:latin typeface="Fira Sans"/>
              </a:rPr>
              <a:t> action value; what we take is the maximum over </a:t>
            </a:r>
            <a:r>
              <a:rPr lang="en-GB" sz="1282" b="1" i="0" noProof="0" dirty="0">
                <a:solidFill>
                  <a:srgbClr val="C8102E"/>
                </a:solidFill>
                <a:latin typeface="Fira Sans"/>
              </a:rPr>
              <a:t>noisy estimates</a:t>
            </a:r>
            <a:r>
              <a:rPr lang="en-GB" sz="1282" b="0" i="0" noProof="0" dirty="0">
                <a:solidFill>
                  <a:srgbClr val="333639"/>
                </a:solidFill>
                <a:latin typeface="Fira Sans"/>
              </a:rPr>
              <a:t>. These are not the same thing.</a:t>
            </a:r>
          </a:p>
        </p:txBody>
      </p:sp>
      <p:pic>
        <p:nvPicPr>
          <p:cNvPr id="9" name="Picture 8" descr="eq_max_ineq.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85066" y="1970034"/>
            <a:ext cx="4021836" cy="560069"/>
          </a:xfrm>
          <a:prstGeom prst="rect">
            <a:avLst/>
          </a:prstGeom>
        </p:spPr>
      </p:pic>
      <p:sp>
        <p:nvSpPr>
          <p:cNvPr id="10" name="Rectangle 9"/>
          <p:cNvSpPr/>
          <p:nvPr/>
        </p:nvSpPr>
        <p:spPr>
          <a:xfrm>
            <a:off x="841248" y="280442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02388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CONCRETE EXAMPLE: SUPPOSE EVERY ACTION IS TRULY WORTH ZERO</a:t>
            </a:r>
          </a:p>
        </p:txBody>
      </p:sp>
      <p:pic>
        <p:nvPicPr>
          <p:cNvPr id="12" name="Picture 11" descr="eq_bias_tru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8448" y="3334776"/>
            <a:ext cx="3316224" cy="254000"/>
          </a:xfrm>
          <a:prstGeom prst="rect">
            <a:avLst/>
          </a:prstGeom>
        </p:spPr>
      </p:pic>
      <p:pic>
        <p:nvPicPr>
          <p:cNvPr id="13" name="Picture 12" descr="eq_bias_es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98448" y="3716792"/>
            <a:ext cx="6790944" cy="254000"/>
          </a:xfrm>
          <a:prstGeom prst="rect">
            <a:avLst/>
          </a:prstGeom>
        </p:spPr>
      </p:pic>
      <p:pic>
        <p:nvPicPr>
          <p:cNvPr id="14" name="Picture 13" descr="eq_bias_cmp.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04422" y="4190248"/>
            <a:ext cx="5183124" cy="764921"/>
          </a:xfrm>
          <a:prstGeom prst="rect">
            <a:avLst/>
          </a:prstGeom>
        </p:spPr>
      </p:pic>
      <p:sp>
        <p:nvSpPr>
          <p:cNvPr id="15" name="Rectangle 14"/>
          <p:cNvSpPr/>
          <p:nvPr/>
        </p:nvSpPr>
        <p:spPr>
          <a:xfrm>
            <a:off x="841248" y="5211201"/>
            <a:ext cx="10515600" cy="1051560"/>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211201"/>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357505"/>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WHY THIS PRODUCES AN UPWARD BIAS</a:t>
            </a:r>
          </a:p>
        </p:txBody>
      </p:sp>
      <p:sp>
        <p:nvSpPr>
          <p:cNvPr id="18" name="TextBox 17"/>
          <p:cNvSpPr txBox="1"/>
          <p:nvPr/>
        </p:nvSpPr>
        <p:spPr>
          <a:xfrm>
            <a:off x="1060704" y="5595249"/>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The problem is not that the estimates contain errors</a:t>
            </a:r>
            <a:r>
              <a:rPr lang="it-IT" sz="1140" b="0" i="0" dirty="0">
                <a:solidFill>
                  <a:srgbClr val="333639"/>
                </a:solidFill>
                <a:latin typeface="Fira Sans"/>
              </a:rPr>
              <a:t>: </a:t>
            </a:r>
            <a:r>
              <a:rPr sz="1140" b="0" i="0" dirty="0">
                <a:solidFill>
                  <a:srgbClr val="333639"/>
                </a:solidFill>
                <a:latin typeface="Fira Sans"/>
              </a:rPr>
              <a:t>some are too high, some too low. The problem is that </a:t>
            </a:r>
            <a:r>
              <a:rPr sz="1140" b="1" i="0" dirty="0">
                <a:solidFill>
                  <a:srgbClr val="333639"/>
                </a:solidFill>
                <a:latin typeface="Fira Sans"/>
              </a:rPr>
              <a:t>maximization systematically selects the positive errors</a:t>
            </a:r>
            <a:r>
              <a:rPr sz="1140" b="0" i="0" dirty="0">
                <a:solidFill>
                  <a:srgbClr val="333639"/>
                </a:solidFill>
                <a:latin typeface="Fira Sans"/>
              </a:rPr>
              <a:t>. The same estimate answers both “which action looks best?” and “how good is that action?”, and the two questions must not be answered by the same noisy number.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DOUBLE Q-LEARNING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estimate selects the action, the other evaluates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41</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Maintain two independent estimates, Q₁ and Q₂. When updating Q₁, let Q₁ choose the action it considers best</a:t>
            </a:r>
            <a:r>
              <a:rPr lang="it-IT" sz="1235" b="0" i="0" dirty="0">
                <a:solidFill>
                  <a:srgbClr val="333639"/>
                </a:solidFill>
                <a:latin typeface="Fira Sans"/>
              </a:rPr>
              <a:t>,</a:t>
            </a:r>
            <a:r>
              <a:rPr sz="1235" b="0" i="0" dirty="0">
                <a:solidFill>
                  <a:srgbClr val="333639"/>
                </a:solidFill>
                <a:latin typeface="Fira Sans"/>
              </a:rPr>
              <a:t> but do not let it evaluate its own choice. Ask Q₂ for the value of that action instead.</a:t>
            </a:r>
          </a:p>
        </p:txBody>
      </p:sp>
      <p:pic>
        <p:nvPicPr>
          <p:cNvPr id="9" name="Picture 8" descr="eq_dq_selec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8556" y="3431418"/>
            <a:ext cx="2784602" cy="456057"/>
          </a:xfrm>
          <a:prstGeom prst="rect">
            <a:avLst/>
          </a:prstGeom>
        </p:spPr>
      </p:pic>
      <p:pic>
        <p:nvPicPr>
          <p:cNvPr id="10" name="Picture 9" descr="eq_dq1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5270" y="4266280"/>
            <a:ext cx="4706112" cy="737616"/>
          </a:xfrm>
          <a:prstGeom prst="rect">
            <a:avLst/>
          </a:prstGeom>
        </p:spPr>
      </p:pic>
      <p:sp>
        <p:nvSpPr>
          <p:cNvPr id="11" name="TextBox 10"/>
          <p:cNvSpPr txBox="1"/>
          <p:nvPr/>
        </p:nvSpPr>
        <p:spPr>
          <a:xfrm>
            <a:off x="932688" y="403643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AND ON ANOTHER TRANSITION THE ROLES ARE REVERSED</a:t>
            </a:r>
          </a:p>
        </p:txBody>
      </p:sp>
      <p:pic>
        <p:nvPicPr>
          <p:cNvPr id="12" name="Picture 11" descr="eq_dq2.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5270" y="4882193"/>
            <a:ext cx="4395216" cy="538479"/>
          </a:xfrm>
          <a:prstGeom prst="rect">
            <a:avLst/>
          </a:prstGeom>
        </p:spPr>
      </p:pic>
      <p:sp>
        <p:nvSpPr>
          <p:cNvPr id="13" name="Rectangle 12"/>
          <p:cNvSpPr/>
          <p:nvPr/>
        </p:nvSpPr>
        <p:spPr>
          <a:xfrm>
            <a:off x="841248" y="5462144"/>
            <a:ext cx="6543446"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5462144"/>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0704" y="5608448"/>
            <a:ext cx="6159398"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An action may be selected because Q₁ happens to overestimate it</a:t>
            </a:r>
            <a:r>
              <a:rPr lang="it-IT" sz="1092" b="0" i="0" dirty="0">
                <a:solidFill>
                  <a:srgbClr val="333639"/>
                </a:solidFill>
                <a:latin typeface="Fira Sans"/>
              </a:rPr>
              <a:t>, </a:t>
            </a:r>
            <a:r>
              <a:rPr sz="1092" b="0" i="0" dirty="0">
                <a:solidFill>
                  <a:srgbClr val="333639"/>
                </a:solidFill>
                <a:latin typeface="Fira Sans"/>
              </a:rPr>
              <a:t>but there is </a:t>
            </a:r>
            <a:r>
              <a:rPr sz="1092" b="1" i="0" dirty="0">
                <a:solidFill>
                  <a:srgbClr val="333639"/>
                </a:solidFill>
                <a:latin typeface="Fira Sans"/>
              </a:rPr>
              <a:t>no reason for the independent error in Q₂ to overestimate the same action</a:t>
            </a:r>
            <a:r>
              <a:rPr sz="1092" b="0" i="0" dirty="0">
                <a:solidFill>
                  <a:srgbClr val="333639"/>
                </a:solidFill>
                <a:latin typeface="Fira Sans"/>
              </a:rPr>
              <a:t>. Separating selection from evaluation breaks the mechanism that produced the bias.</a:t>
            </a:r>
          </a:p>
        </p:txBody>
      </p:sp>
      <p:pic>
        <p:nvPicPr>
          <p:cNvPr id="17" name="Picture 16" descr="maxbias.png"/>
          <p:cNvPicPr>
            <a:picLocks noChangeAspect="1"/>
          </p:cNvPicPr>
          <p:nvPr/>
        </p:nvPicPr>
        <p:blipFill>
          <a:blip r:embed="rId5"/>
          <a:stretch>
            <a:fillRect/>
          </a:stretch>
        </p:blipFill>
        <p:spPr>
          <a:xfrm>
            <a:off x="841248" y="1983404"/>
            <a:ext cx="6264726" cy="1131043"/>
          </a:xfrm>
          <a:prstGeom prst="rect">
            <a:avLst/>
          </a:prstGeom>
        </p:spPr>
      </p:pic>
      <p:sp>
        <p:nvSpPr>
          <p:cNvPr id="18" name="TextBox 17"/>
          <p:cNvSpPr txBox="1"/>
          <p:nvPr/>
        </p:nvSpPr>
        <p:spPr>
          <a:xfrm>
            <a:off x="848450" y="3082712"/>
            <a:ext cx="4587615" cy="311200"/>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dirty="0">
                <a:solidFill>
                  <a:srgbClr val="626669"/>
                </a:solidFill>
                <a:latin typeface="Fira Sans"/>
              </a:rPr>
              <a:t>Left: max favors the overestimated bar. Right: selection and evaluation are split.</a:t>
            </a:r>
          </a:p>
        </p:txBody>
      </p:sp>
      <p:sp>
        <p:nvSpPr>
          <p:cNvPr id="19" name="Rectangle 18"/>
          <p:cNvSpPr/>
          <p:nvPr/>
        </p:nvSpPr>
        <p:spPr>
          <a:xfrm>
            <a:off x="7527372" y="1329077"/>
            <a:ext cx="3731940" cy="24278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618812" y="1374797"/>
            <a:ext cx="712785" cy="151343"/>
          </a:xfrm>
          <a:prstGeom prst="rect">
            <a:avLst/>
          </a:prstGeom>
          <a:noFill/>
        </p:spPr>
        <p:txBody>
          <a:bodyPr wrap="square" lIns="0" tIns="0" rIns="0" bIns="0" anchor="ctr">
            <a:noAutofit/>
          </a:bodyPr>
          <a:lstStyle/>
          <a:p>
            <a:pPr marL="0" indent="0" algn="ctr">
              <a:lnSpc>
                <a:spcPts val="1024"/>
              </a:lnSpc>
              <a:spcBef>
                <a:spcPts val="0"/>
              </a:spcBef>
              <a:spcAft>
                <a:spcPts val="0"/>
              </a:spcAft>
              <a:buNone/>
            </a:pPr>
            <a:r>
              <a:rPr sz="931" b="1" i="0" spc="60" dirty="0">
                <a:solidFill>
                  <a:srgbClr val="FFFFFF"/>
                </a:solidFill>
                <a:latin typeface="Fira Sans"/>
              </a:rPr>
              <a:t>State</a:t>
            </a:r>
          </a:p>
        </p:txBody>
      </p:sp>
      <p:sp>
        <p:nvSpPr>
          <p:cNvPr id="21" name="TextBox 20"/>
          <p:cNvSpPr txBox="1"/>
          <p:nvPr/>
        </p:nvSpPr>
        <p:spPr>
          <a:xfrm>
            <a:off x="8514478" y="1374797"/>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Double Q</a:t>
            </a:r>
          </a:p>
        </p:txBody>
      </p:sp>
      <p:sp>
        <p:nvSpPr>
          <p:cNvPr id="22" name="TextBox 21"/>
          <p:cNvSpPr txBox="1"/>
          <p:nvPr/>
        </p:nvSpPr>
        <p:spPr>
          <a:xfrm>
            <a:off x="9932616" y="1374797"/>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Optimal</a:t>
            </a:r>
          </a:p>
        </p:txBody>
      </p:sp>
      <p:sp>
        <p:nvSpPr>
          <p:cNvPr id="23" name="TextBox 22"/>
          <p:cNvSpPr txBox="1"/>
          <p:nvPr/>
        </p:nvSpPr>
        <p:spPr>
          <a:xfrm>
            <a:off x="7618812" y="1617581"/>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1</a:t>
            </a:r>
          </a:p>
        </p:txBody>
      </p:sp>
      <p:sp>
        <p:nvSpPr>
          <p:cNvPr id="24" name="TextBox 23"/>
          <p:cNvSpPr txBox="1"/>
          <p:nvPr/>
        </p:nvSpPr>
        <p:spPr>
          <a:xfrm>
            <a:off x="8514478" y="1617581"/>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0.595</a:t>
            </a:r>
          </a:p>
        </p:txBody>
      </p:sp>
      <p:sp>
        <p:nvSpPr>
          <p:cNvPr id="25" name="TextBox 24"/>
          <p:cNvSpPr txBox="1"/>
          <p:nvPr/>
        </p:nvSpPr>
        <p:spPr>
          <a:xfrm>
            <a:off x="9932616" y="1617581"/>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0.564</a:t>
            </a:r>
          </a:p>
        </p:txBody>
      </p:sp>
      <p:sp>
        <p:nvSpPr>
          <p:cNvPr id="26" name="Rectangle 25"/>
          <p:cNvSpPr/>
          <p:nvPr/>
        </p:nvSpPr>
        <p:spPr>
          <a:xfrm>
            <a:off x="7527372" y="181880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7527372" y="1824288"/>
            <a:ext cx="3731940" cy="25242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618812" y="1870008"/>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2</a:t>
            </a:r>
          </a:p>
        </p:txBody>
      </p:sp>
      <p:sp>
        <p:nvSpPr>
          <p:cNvPr id="29" name="TextBox 28"/>
          <p:cNvSpPr txBox="1"/>
          <p:nvPr/>
        </p:nvSpPr>
        <p:spPr>
          <a:xfrm>
            <a:off x="8514478" y="1870008"/>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0.776</a:t>
            </a:r>
          </a:p>
        </p:txBody>
      </p:sp>
      <p:sp>
        <p:nvSpPr>
          <p:cNvPr id="30" name="TextBox 29"/>
          <p:cNvSpPr txBox="1"/>
          <p:nvPr/>
        </p:nvSpPr>
        <p:spPr>
          <a:xfrm>
            <a:off x="9932616" y="1870008"/>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0.763</a:t>
            </a:r>
          </a:p>
        </p:txBody>
      </p:sp>
      <p:sp>
        <p:nvSpPr>
          <p:cNvPr id="31" name="Rectangle 30"/>
          <p:cNvSpPr/>
          <p:nvPr/>
        </p:nvSpPr>
        <p:spPr>
          <a:xfrm>
            <a:off x="7527372" y="207123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618812" y="2122436"/>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3</a:t>
            </a:r>
          </a:p>
        </p:txBody>
      </p:sp>
      <p:sp>
        <p:nvSpPr>
          <p:cNvPr id="33" name="TextBox 32"/>
          <p:cNvSpPr txBox="1"/>
          <p:nvPr/>
        </p:nvSpPr>
        <p:spPr>
          <a:xfrm>
            <a:off x="8514478" y="2122436"/>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0.856</a:t>
            </a:r>
          </a:p>
        </p:txBody>
      </p:sp>
      <p:sp>
        <p:nvSpPr>
          <p:cNvPr id="34" name="TextBox 33"/>
          <p:cNvSpPr txBox="1"/>
          <p:nvPr/>
        </p:nvSpPr>
        <p:spPr>
          <a:xfrm>
            <a:off x="9932616" y="2122436"/>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0.845</a:t>
            </a:r>
          </a:p>
        </p:txBody>
      </p:sp>
      <p:sp>
        <p:nvSpPr>
          <p:cNvPr id="35" name="Rectangle 34"/>
          <p:cNvSpPr/>
          <p:nvPr/>
        </p:nvSpPr>
        <p:spPr>
          <a:xfrm>
            <a:off x="7527372" y="2323657"/>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7527372" y="2329144"/>
            <a:ext cx="3731940" cy="25242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618812" y="2374864"/>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4</a:t>
            </a:r>
          </a:p>
        </p:txBody>
      </p:sp>
      <p:sp>
        <p:nvSpPr>
          <p:cNvPr id="38" name="TextBox 37"/>
          <p:cNvSpPr txBox="1"/>
          <p:nvPr/>
        </p:nvSpPr>
        <p:spPr>
          <a:xfrm>
            <a:off x="8514478" y="2374864"/>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0.893</a:t>
            </a:r>
          </a:p>
        </p:txBody>
      </p:sp>
      <p:sp>
        <p:nvSpPr>
          <p:cNvPr id="39" name="TextBox 38"/>
          <p:cNvSpPr txBox="1"/>
          <p:nvPr/>
        </p:nvSpPr>
        <p:spPr>
          <a:xfrm>
            <a:off x="9932616" y="2374864"/>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0.889</a:t>
            </a:r>
          </a:p>
        </p:txBody>
      </p:sp>
      <p:sp>
        <p:nvSpPr>
          <p:cNvPr id="40" name="Rectangle 39"/>
          <p:cNvSpPr/>
          <p:nvPr/>
        </p:nvSpPr>
        <p:spPr>
          <a:xfrm>
            <a:off x="7527372" y="257608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618812" y="2627292"/>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5</a:t>
            </a:r>
          </a:p>
        </p:txBody>
      </p:sp>
      <p:sp>
        <p:nvSpPr>
          <p:cNvPr id="42" name="TextBox 41"/>
          <p:cNvSpPr txBox="1"/>
          <p:nvPr/>
        </p:nvSpPr>
        <p:spPr>
          <a:xfrm>
            <a:off x="8514478" y="2627292"/>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0.927</a:t>
            </a:r>
          </a:p>
        </p:txBody>
      </p:sp>
      <p:sp>
        <p:nvSpPr>
          <p:cNvPr id="43" name="TextBox 42"/>
          <p:cNvSpPr txBox="1"/>
          <p:nvPr/>
        </p:nvSpPr>
        <p:spPr>
          <a:xfrm>
            <a:off x="9932616" y="2627292"/>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0.922</a:t>
            </a:r>
          </a:p>
        </p:txBody>
      </p:sp>
      <p:sp>
        <p:nvSpPr>
          <p:cNvPr id="44" name="Rectangle 43"/>
          <p:cNvSpPr/>
          <p:nvPr/>
        </p:nvSpPr>
        <p:spPr>
          <a:xfrm>
            <a:off x="7527372" y="282851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7527372" y="2833999"/>
            <a:ext cx="3731940" cy="25242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7618812" y="2879719"/>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6</a:t>
            </a:r>
          </a:p>
        </p:txBody>
      </p:sp>
      <p:sp>
        <p:nvSpPr>
          <p:cNvPr id="47" name="TextBox 46"/>
          <p:cNvSpPr txBox="1"/>
          <p:nvPr/>
        </p:nvSpPr>
        <p:spPr>
          <a:xfrm>
            <a:off x="8514478" y="2879719"/>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0.955</a:t>
            </a:r>
          </a:p>
        </p:txBody>
      </p:sp>
      <p:sp>
        <p:nvSpPr>
          <p:cNvPr id="48" name="TextBox 47"/>
          <p:cNvSpPr txBox="1"/>
          <p:nvPr/>
        </p:nvSpPr>
        <p:spPr>
          <a:xfrm>
            <a:off x="9932616" y="2879719"/>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0.952</a:t>
            </a:r>
          </a:p>
        </p:txBody>
      </p:sp>
      <p:sp>
        <p:nvSpPr>
          <p:cNvPr id="49" name="Rectangle 48"/>
          <p:cNvSpPr/>
          <p:nvPr/>
        </p:nvSpPr>
        <p:spPr>
          <a:xfrm>
            <a:off x="7527372" y="308094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618812" y="3132147"/>
            <a:ext cx="712785" cy="160987"/>
          </a:xfrm>
          <a:prstGeom prst="rect">
            <a:avLst/>
          </a:prstGeom>
          <a:noFill/>
        </p:spPr>
        <p:txBody>
          <a:bodyPr wrap="square" lIns="0" tIns="0" rIns="0" bIns="0" anchor="t">
            <a:noAutofit/>
          </a:bodyPr>
          <a:lstStyle/>
          <a:p>
            <a:pPr marL="0" indent="0" algn="ctr">
              <a:lnSpc>
                <a:spcPts val="1105"/>
              </a:lnSpc>
              <a:spcBef>
                <a:spcPts val="0"/>
              </a:spcBef>
              <a:spcAft>
                <a:spcPts val="0"/>
              </a:spcAft>
              <a:buNone/>
            </a:pPr>
            <a:r>
              <a:rPr sz="921" b="0" i="0">
                <a:solidFill>
                  <a:srgbClr val="333639"/>
                </a:solidFill>
                <a:latin typeface="Fira Sans"/>
              </a:rPr>
              <a:t>7</a:t>
            </a:r>
          </a:p>
        </p:txBody>
      </p:sp>
      <p:sp>
        <p:nvSpPr>
          <p:cNvPr id="51" name="TextBox 50"/>
          <p:cNvSpPr txBox="1"/>
          <p:nvPr/>
        </p:nvSpPr>
        <p:spPr>
          <a:xfrm>
            <a:off x="8514478" y="3132147"/>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0B7285"/>
                </a:solidFill>
                <a:latin typeface="Fira Sans"/>
              </a:rPr>
              <a:t>0.984</a:t>
            </a:r>
          </a:p>
        </p:txBody>
      </p:sp>
      <p:sp>
        <p:nvSpPr>
          <p:cNvPr id="52" name="TextBox 51"/>
          <p:cNvSpPr txBox="1"/>
          <p:nvPr/>
        </p:nvSpPr>
        <p:spPr>
          <a:xfrm>
            <a:off x="9932616" y="3132147"/>
            <a:ext cx="1235257" cy="160987"/>
          </a:xfrm>
          <a:prstGeom prst="rect">
            <a:avLst/>
          </a:prstGeom>
          <a:noFill/>
        </p:spPr>
        <p:txBody>
          <a:bodyPr wrap="square" lIns="0" tIns="0" rIns="0" bIns="0" anchor="t">
            <a:noAutofit/>
          </a:bodyPr>
          <a:lstStyle/>
          <a:p>
            <a:pPr marL="0" indent="0" algn="r">
              <a:lnSpc>
                <a:spcPts val="1105"/>
              </a:lnSpc>
              <a:spcBef>
                <a:spcPts val="0"/>
              </a:spcBef>
              <a:spcAft>
                <a:spcPts val="0"/>
              </a:spcAft>
              <a:buNone/>
            </a:pPr>
            <a:r>
              <a:rPr sz="921" b="0" i="0">
                <a:solidFill>
                  <a:srgbClr val="333639"/>
                </a:solidFill>
                <a:latin typeface="Fira Sans"/>
              </a:rPr>
              <a:t>0.981</a:t>
            </a:r>
          </a:p>
        </p:txBody>
      </p:sp>
      <p:sp>
        <p:nvSpPr>
          <p:cNvPr id="53" name="Rectangle 52"/>
          <p:cNvSpPr/>
          <p:nvPr/>
        </p:nvSpPr>
        <p:spPr>
          <a:xfrm>
            <a:off x="7527372" y="333336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3"/>
          <p:cNvSpPr/>
          <p:nvPr/>
        </p:nvSpPr>
        <p:spPr>
          <a:xfrm>
            <a:off x="7527372" y="3503447"/>
            <a:ext cx="3731940" cy="74843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7527372" y="3503447"/>
            <a:ext cx="41148" cy="74843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7746828" y="3649751"/>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At each transition we pick at random which of the two to update, and the behaviour policy acts on their average. The cost is </a:t>
            </a:r>
            <a:r>
              <a:rPr sz="997" b="1" i="0">
                <a:solidFill>
                  <a:srgbClr val="333639"/>
                </a:solidFill>
                <a:latin typeface="Fira Sans"/>
              </a:rPr>
              <a:t>two tables instead of one</a:t>
            </a:r>
            <a:r>
              <a:rPr sz="997" b="0" i="0">
                <a:solidFill>
                  <a:srgbClr val="333639"/>
                </a:solidFill>
                <a:latin typeface="Fira Sans"/>
              </a:rPr>
              <a:t>.</a:t>
            </a:r>
          </a:p>
        </p:txBody>
      </p:sp>
      <p:pic>
        <p:nvPicPr>
          <p:cNvPr id="59" name="Immagine 58">
            <a:extLst>
              <a:ext uri="{FF2B5EF4-FFF2-40B4-BE49-F238E27FC236}">
                <a16:creationId xmlns:a16="http://schemas.microsoft.com/office/drawing/2014/main" id="{FC3F8DF5-318C-8E98-DB81-A0FB2A36BEF7}"/>
              </a:ext>
            </a:extLst>
          </p:cNvPr>
          <p:cNvPicPr>
            <a:picLocks noChangeAspect="1"/>
          </p:cNvPicPr>
          <p:nvPr/>
        </p:nvPicPr>
        <p:blipFill>
          <a:blip r:embed="rId6"/>
          <a:stretch>
            <a:fillRect/>
          </a:stretch>
        </p:blipFill>
        <p:spPr>
          <a:xfrm>
            <a:off x="3948134" y="3399318"/>
            <a:ext cx="1124754" cy="37491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SARSA(Λ) AND WATKINS’S Q(Λ)</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Eligibility traces for control</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42</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idea that took TD(0) to TD(λ) applies to control unchanged: instead of assigning the TD error only to the most recent pair, propagate it backwards to every pair still eligible. TD(λ) used a trace </a:t>
            </a:r>
            <a:r>
              <a:rPr sz="1235" b="0" i="1">
                <a:solidFill>
                  <a:srgbClr val="333639"/>
                </a:solidFill>
                <a:latin typeface="Fira Sans"/>
              </a:rPr>
              <a:t>vector</a:t>
            </a:r>
            <a:r>
              <a:rPr sz="1235" b="0" i="0">
                <a:solidFill>
                  <a:srgbClr val="333639"/>
                </a:solidFill>
                <a:latin typeface="Fira Sans"/>
              </a:rPr>
              <a:t> over states; here we need a trace </a:t>
            </a:r>
            <a:r>
              <a:rPr sz="1235" b="0" i="1">
                <a:solidFill>
                  <a:srgbClr val="333639"/>
                </a:solidFill>
                <a:latin typeface="Fira Sans"/>
              </a:rPr>
              <a:t>matrix</a:t>
            </a:r>
            <a:r>
              <a:rPr sz="1235" b="0" i="0">
                <a:solidFill>
                  <a:srgbClr val="333639"/>
                </a:solidFill>
                <a:latin typeface="Fira Sans"/>
              </a:rPr>
              <a:t> with the same shape as the Q-table.</a:t>
            </a:r>
          </a:p>
        </p:txBody>
      </p:sp>
      <p:sp>
        <p:nvSpPr>
          <p:cNvPr id="9" name="TextBox 8"/>
          <p:cNvSpPr txBox="1"/>
          <p:nvPr/>
        </p:nvSpPr>
        <p:spPr>
          <a:xfrm>
            <a:off x="841248" y="1973757"/>
            <a:ext cx="5102352"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574676"/>
                </a:solidFill>
                <a:latin typeface="Fira Sans"/>
              </a:rPr>
              <a:t>SARSA(λ) — the on-policy error</a:t>
            </a:r>
          </a:p>
        </p:txBody>
      </p:sp>
      <p:pic>
        <p:nvPicPr>
          <p:cNvPr id="10" name="Picture 9" descr="eq_sl_delta.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4128" y="2284653"/>
            <a:ext cx="3527552" cy="254000"/>
          </a:xfrm>
          <a:prstGeom prst="rect">
            <a:avLst/>
          </a:prstGeom>
        </p:spPr>
      </p:pic>
      <p:sp>
        <p:nvSpPr>
          <p:cNvPr id="11" name="TextBox 10"/>
          <p:cNvSpPr txBox="1"/>
          <p:nvPr/>
        </p:nvSpPr>
        <p:spPr>
          <a:xfrm>
            <a:off x="6254496" y="1973757"/>
            <a:ext cx="5102352"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B7A3E"/>
                </a:solidFill>
                <a:latin typeface="Fira Sans"/>
              </a:rPr>
              <a:t>Q(λ) — the off-policy error</a:t>
            </a:r>
          </a:p>
        </p:txBody>
      </p:sp>
      <p:pic>
        <p:nvPicPr>
          <p:cNvPr id="12" name="Picture 11" descr="eq_ql_delta.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37376" y="2284653"/>
            <a:ext cx="3675888" cy="345440"/>
          </a:xfrm>
          <a:prstGeom prst="rect">
            <a:avLst/>
          </a:prstGeom>
        </p:spPr>
      </p:pic>
      <p:sp>
        <p:nvSpPr>
          <p:cNvPr id="13" name="Rectangle 12"/>
          <p:cNvSpPr/>
          <p:nvPr/>
        </p:nvSpPr>
        <p:spPr>
          <a:xfrm>
            <a:off x="841248" y="2760141"/>
            <a:ext cx="335889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q_trace_rep.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1248" y="2961309"/>
            <a:ext cx="2335530" cy="238125"/>
          </a:xfrm>
          <a:prstGeom prst="rect">
            <a:avLst/>
          </a:prstGeom>
        </p:spPr>
      </p:pic>
      <p:sp>
        <p:nvSpPr>
          <p:cNvPr id="15" name="TextBox 14"/>
          <p:cNvSpPr txBox="1"/>
          <p:nvPr/>
        </p:nvSpPr>
        <p:spPr>
          <a:xfrm>
            <a:off x="841248" y="3400221"/>
            <a:ext cx="3358896"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replacing: a new visit resets the trace to 1</a:t>
            </a:r>
          </a:p>
        </p:txBody>
      </p:sp>
      <p:sp>
        <p:nvSpPr>
          <p:cNvPr id="16" name="Rectangle 15"/>
          <p:cNvSpPr/>
          <p:nvPr/>
        </p:nvSpPr>
        <p:spPr>
          <a:xfrm>
            <a:off x="4419600" y="2760141"/>
            <a:ext cx="335889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eq_sl_updat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9600" y="2961309"/>
            <a:ext cx="1442085" cy="217170"/>
          </a:xfrm>
          <a:prstGeom prst="rect">
            <a:avLst/>
          </a:prstGeom>
        </p:spPr>
      </p:pic>
      <p:sp>
        <p:nvSpPr>
          <p:cNvPr id="18" name="TextBox 17"/>
          <p:cNvSpPr txBox="1"/>
          <p:nvPr/>
        </p:nvSpPr>
        <p:spPr>
          <a:xfrm>
            <a:off x="4419600" y="3400221"/>
            <a:ext cx="3358896"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 error reaches every eligible pair</a:t>
            </a:r>
          </a:p>
        </p:txBody>
      </p:sp>
      <p:sp>
        <p:nvSpPr>
          <p:cNvPr id="19" name="Rectangle 18"/>
          <p:cNvSpPr/>
          <p:nvPr/>
        </p:nvSpPr>
        <p:spPr>
          <a:xfrm>
            <a:off x="7997951" y="2760141"/>
            <a:ext cx="335889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q_trace_decay.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97951" y="2961309"/>
            <a:ext cx="992504" cy="217169"/>
          </a:xfrm>
          <a:prstGeom prst="rect">
            <a:avLst/>
          </a:prstGeom>
        </p:spPr>
      </p:pic>
      <p:sp>
        <p:nvSpPr>
          <p:cNvPr id="21" name="TextBox 20"/>
          <p:cNvSpPr txBox="1"/>
          <p:nvPr/>
        </p:nvSpPr>
        <p:spPr>
          <a:xfrm>
            <a:off x="7997951" y="3400221"/>
            <a:ext cx="3358896"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then every trace decays</a:t>
            </a:r>
          </a:p>
        </p:txBody>
      </p:sp>
      <p:sp>
        <p:nvSpPr>
          <p:cNvPr id="22" name="Rectangle 21"/>
          <p:cNvSpPr/>
          <p:nvPr/>
        </p:nvSpPr>
        <p:spPr>
          <a:xfrm>
            <a:off x="841248" y="380255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 y="400372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ACCUMULATING OR REPLACIN</a:t>
            </a:r>
            <a:r>
              <a:rPr lang="it-IT" sz="931" b="1" i="0" spc="120" dirty="0">
                <a:solidFill>
                  <a:srgbClr val="574676"/>
                </a:solidFill>
                <a:latin typeface="Fira Sans"/>
              </a:rPr>
              <a:t>G?</a:t>
            </a:r>
            <a:endParaRPr sz="931" b="1" i="0" spc="120" dirty="0">
              <a:solidFill>
                <a:srgbClr val="574676"/>
              </a:solidFill>
              <a:latin typeface="Fira Sans"/>
            </a:endParaRPr>
          </a:p>
        </p:txBody>
      </p:sp>
      <p:sp>
        <p:nvSpPr>
          <p:cNvPr id="24" name="TextBox 23"/>
          <p:cNvSpPr txBox="1"/>
          <p:nvPr/>
        </p:nvSpPr>
        <p:spPr>
          <a:xfrm>
            <a:off x="841248" y="4314621"/>
            <a:ext cx="5120640" cy="819594"/>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1" i="0" dirty="0">
                <a:solidFill>
                  <a:srgbClr val="25282A"/>
                </a:solidFill>
                <a:latin typeface="Fira Sans"/>
              </a:rPr>
              <a:t>Accumulating traces</a:t>
            </a:r>
            <a:r>
              <a:rPr sz="1045" b="0" i="0" dirty="0">
                <a:solidFill>
                  <a:srgbClr val="626669"/>
                </a:solidFill>
                <a:latin typeface="Fira Sans"/>
              </a:rPr>
              <a:t> add one at every visit, so a repeatedly visited pair can exceed 1: the trace captures recency </a:t>
            </a:r>
            <a:r>
              <a:rPr sz="1045" b="0" i="1" dirty="0">
                <a:solidFill>
                  <a:srgbClr val="626669"/>
                </a:solidFill>
                <a:latin typeface="Fira Sans"/>
              </a:rPr>
              <a:t>and</a:t>
            </a:r>
            <a:r>
              <a:rPr sz="1045" b="0" i="0" dirty="0">
                <a:solidFill>
                  <a:srgbClr val="626669"/>
                </a:solidFill>
                <a:latin typeface="Fira Sans"/>
              </a:rPr>
              <a:t> frequency. </a:t>
            </a:r>
            <a:r>
              <a:rPr sz="1045" b="1" i="0" dirty="0">
                <a:solidFill>
                  <a:srgbClr val="25282A"/>
                </a:solidFill>
                <a:latin typeface="Fira Sans"/>
              </a:rPr>
              <a:t>Replacing traces</a:t>
            </a:r>
            <a:r>
              <a:rPr sz="1045" b="0" i="0" dirty="0">
                <a:solidFill>
                  <a:srgbClr val="626669"/>
                </a:solidFill>
                <a:latin typeface="Fira Sans"/>
              </a:rPr>
              <a:t> reset it to 1, capturing recency only</a:t>
            </a:r>
            <a:r>
              <a:rPr lang="it-IT" sz="1045" b="0" i="0" dirty="0">
                <a:solidFill>
                  <a:srgbClr val="626669"/>
                </a:solidFill>
                <a:latin typeface="Fira Sans"/>
              </a:rPr>
              <a:t>: </a:t>
            </a:r>
            <a:r>
              <a:rPr sz="1045" b="0" i="0" dirty="0">
                <a:solidFill>
                  <a:srgbClr val="626669"/>
                </a:solidFill>
                <a:latin typeface="Fira Sans"/>
              </a:rPr>
              <a:t>useful when trajectories contain loops. For SARSA there is a stronger variant, used in the notes, that also clears the traces of the other actions in that state.</a:t>
            </a:r>
          </a:p>
        </p:txBody>
      </p:sp>
      <p:sp>
        <p:nvSpPr>
          <p:cNvPr id="25" name="TextBox 24"/>
          <p:cNvSpPr txBox="1"/>
          <p:nvPr/>
        </p:nvSpPr>
        <p:spPr>
          <a:xfrm>
            <a:off x="6236207" y="4314621"/>
            <a:ext cx="5120640" cy="819594"/>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626669"/>
                </a:solidFill>
                <a:latin typeface="Fira Sans"/>
              </a:rPr>
              <a:t>Q(</a:t>
            </a:r>
            <a:r>
              <a:rPr sz="1045" b="0" i="0" dirty="0" err="1">
                <a:solidFill>
                  <a:srgbClr val="626669"/>
                </a:solidFill>
                <a:latin typeface="Fira Sans"/>
              </a:rPr>
              <a:t>λ</a:t>
            </a:r>
            <a:r>
              <a:rPr sz="1045" b="0" i="0" dirty="0">
                <a:solidFill>
                  <a:srgbClr val="626669"/>
                </a:solidFill>
                <a:latin typeface="Fira Sans"/>
              </a:rPr>
              <a:t>) has an extra difficulty: it is off-policy. A trace may extend backwards only while the sampled actions remain consistent with the greedy target policy. Watkins’s solution is simple</a:t>
            </a:r>
            <a:r>
              <a:rPr lang="it-IT" sz="1045" b="0" i="0" dirty="0">
                <a:solidFill>
                  <a:srgbClr val="626669"/>
                </a:solidFill>
                <a:latin typeface="Fira Sans"/>
              </a:rPr>
              <a:t>: </a:t>
            </a:r>
            <a:r>
              <a:rPr sz="1045" b="1" i="0" dirty="0">
                <a:solidFill>
                  <a:srgbClr val="C8102E"/>
                </a:solidFill>
                <a:latin typeface="Fira Sans"/>
              </a:rPr>
              <a:t>cut the traces</a:t>
            </a:r>
            <a:r>
              <a:rPr sz="1045" b="0" i="0" dirty="0">
                <a:solidFill>
                  <a:srgbClr val="626669"/>
                </a:solidFill>
                <a:latin typeface="Fira Sans"/>
              </a:rPr>
              <a:t> the moment exploration takes a non-greedy action. The exploratory transition is not discarded: it still gets the ordinary Q-Learning update. What is interrupted is the backward propagation.</a:t>
            </a:r>
          </a:p>
        </p:txBody>
      </p:sp>
      <p:pic>
        <p:nvPicPr>
          <p:cNvPr id="26" name="Picture 25" descr="eq_ql_keep.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41526" y="5499608"/>
            <a:ext cx="2492756" cy="206248"/>
          </a:xfrm>
          <a:prstGeom prst="rect">
            <a:avLst/>
          </a:prstGeom>
        </p:spPr>
      </p:pic>
      <p:pic>
        <p:nvPicPr>
          <p:cNvPr id="27" name="Picture 26" descr="eq_ql_cut.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84848" y="5539917"/>
            <a:ext cx="2547874" cy="20624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6.7  THE TWO TRACE METHODS ON THE SLIPPERY WALK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Faster temporal credit assignment, at the cost of memory and one more hyperparameter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43</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Ordinary SARSA propagates new information backwards one transition at a time. With traces, a single TD error can immediately update many pairs that contributed to reaching the current situation</a:t>
            </a:r>
            <a:r>
              <a:rPr lang="it-IT" sz="1235" b="0" i="0" dirty="0">
                <a:solidFill>
                  <a:srgbClr val="333639"/>
                </a:solidFill>
                <a:latin typeface="Fira Sans"/>
              </a:rPr>
              <a:t>, </a:t>
            </a:r>
            <a:r>
              <a:rPr sz="1235" b="0" i="0" dirty="0">
                <a:solidFill>
                  <a:srgbClr val="333639"/>
                </a:solidFill>
                <a:latin typeface="Fira Sans"/>
              </a:rPr>
              <a:t>particularly valuable when </a:t>
            </a:r>
            <a:r>
              <a:rPr sz="1235" b="1" i="0" dirty="0">
                <a:solidFill>
                  <a:srgbClr val="25282A"/>
                </a:solidFill>
                <a:latin typeface="Fira Sans"/>
              </a:rPr>
              <a:t>rewards are delayed</a:t>
            </a:r>
            <a:r>
              <a:rPr sz="1235" b="0" i="0" dirty="0">
                <a:solidFill>
                  <a:srgbClr val="333639"/>
                </a:solidFill>
                <a:latin typeface="Fira Sans"/>
              </a:rPr>
              <a:t>.</a:t>
            </a:r>
          </a:p>
        </p:txBody>
      </p:sp>
      <p:sp>
        <p:nvSpPr>
          <p:cNvPr id="9" name="TextBox 8"/>
          <p:cNvSpPr txBox="1"/>
          <p:nvPr/>
        </p:nvSpPr>
        <p:spPr>
          <a:xfrm>
            <a:off x="841248" y="191889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SARSA(Λ),  Λ = 0.5,  REPLACING TRACES</a:t>
            </a:r>
          </a:p>
        </p:txBody>
      </p:sp>
      <p:pic>
        <p:nvPicPr>
          <p:cNvPr id="10" name="Picture 9" descr="sarsal_track.png"/>
          <p:cNvPicPr>
            <a:picLocks noChangeAspect="1"/>
          </p:cNvPicPr>
          <p:nvPr/>
        </p:nvPicPr>
        <p:blipFill>
          <a:blip r:embed="rId2"/>
          <a:stretch>
            <a:fillRect/>
          </a:stretch>
        </p:blipFill>
        <p:spPr>
          <a:xfrm>
            <a:off x="445773" y="2101773"/>
            <a:ext cx="5625663" cy="2747416"/>
          </a:xfrm>
          <a:prstGeom prst="rect">
            <a:avLst/>
          </a:prstGeom>
        </p:spPr>
      </p:pic>
      <p:sp>
        <p:nvSpPr>
          <p:cNvPr id="11" name="TextBox 10"/>
          <p:cNvSpPr txBox="1"/>
          <p:nvPr/>
        </p:nvSpPr>
        <p:spPr>
          <a:xfrm>
            <a:off x="6254496" y="1918893"/>
            <a:ext cx="509622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WATKINS’S Q(Λ),  Λ = 0.5</a:t>
            </a:r>
          </a:p>
        </p:txBody>
      </p:sp>
      <p:pic>
        <p:nvPicPr>
          <p:cNvPr id="12" name="Picture 11" descr="qlam_track.png"/>
          <p:cNvPicPr>
            <a:picLocks noChangeAspect="1"/>
          </p:cNvPicPr>
          <p:nvPr/>
        </p:nvPicPr>
        <p:blipFill>
          <a:blip r:embed="rId3"/>
          <a:stretch>
            <a:fillRect/>
          </a:stretch>
        </p:blipFill>
        <p:spPr>
          <a:xfrm>
            <a:off x="6254496" y="2200529"/>
            <a:ext cx="5423448" cy="2648660"/>
          </a:xfrm>
          <a:prstGeom prst="rect">
            <a:avLst/>
          </a:prstGeom>
        </p:spPr>
      </p:pic>
      <p:sp>
        <p:nvSpPr>
          <p:cNvPr id="14" name="Rectangle 13"/>
          <p:cNvSpPr/>
          <p:nvPr/>
        </p:nvSpPr>
        <p:spPr>
          <a:xfrm>
            <a:off x="841248" y="5149419"/>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295723"/>
            <a:ext cx="3346704" cy="2377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λ sets the temporal reach</a:t>
            </a:r>
          </a:p>
        </p:txBody>
      </p:sp>
      <p:sp>
        <p:nvSpPr>
          <p:cNvPr id="16" name="TextBox 15"/>
          <p:cNvSpPr txBox="1"/>
          <p:nvPr/>
        </p:nvSpPr>
        <p:spPr>
          <a:xfrm>
            <a:off x="841248" y="5570043"/>
            <a:ext cx="3346704"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At λ = 0 all traces vanish and the algorithm reduces to ordinary SARSA. As λ grows, errors propagate further into the past.</a:t>
            </a:r>
          </a:p>
        </p:txBody>
      </p:sp>
      <p:sp>
        <p:nvSpPr>
          <p:cNvPr id="17" name="Rectangle 16"/>
          <p:cNvSpPr/>
          <p:nvPr/>
        </p:nvSpPr>
        <p:spPr>
          <a:xfrm>
            <a:off x="4425696" y="5149419"/>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425696" y="5295723"/>
            <a:ext cx="3346704" cy="2377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Exploration interacts with λ</a:t>
            </a:r>
          </a:p>
        </p:txBody>
      </p:sp>
      <p:sp>
        <p:nvSpPr>
          <p:cNvPr id="19" name="TextBox 18"/>
          <p:cNvSpPr txBox="1"/>
          <p:nvPr/>
        </p:nvSpPr>
        <p:spPr>
          <a:xfrm>
            <a:off x="4425696" y="5570043"/>
            <a:ext cx="3346704" cy="63421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In Q(</a:t>
            </a:r>
            <a:r>
              <a:rPr sz="997" b="0" i="0" dirty="0" err="1">
                <a:solidFill>
                  <a:srgbClr val="626669"/>
                </a:solidFill>
                <a:latin typeface="Fira Sans"/>
              </a:rPr>
              <a:t>λ</a:t>
            </a:r>
            <a:r>
              <a:rPr sz="997" b="0" i="0" dirty="0">
                <a:solidFill>
                  <a:srgbClr val="626669"/>
                </a:solidFill>
                <a:latin typeface="Fira Sans"/>
              </a:rPr>
              <a:t>) every non-greedy action cuts the trace. If the behavior policy explores often, long traces are interrupted often</a:t>
            </a:r>
            <a:r>
              <a:rPr lang="it-IT" sz="997" b="0" i="0" dirty="0">
                <a:solidFill>
                  <a:srgbClr val="626669"/>
                </a:solidFill>
                <a:latin typeface="Fira Sans"/>
              </a:rPr>
              <a:t>,</a:t>
            </a:r>
            <a:r>
              <a:rPr sz="997" b="0" i="0" dirty="0">
                <a:solidFill>
                  <a:srgbClr val="626669"/>
                </a:solidFill>
                <a:latin typeface="Fira Sans"/>
              </a:rPr>
              <a:t> so a large </a:t>
            </a:r>
            <a:r>
              <a:rPr sz="997" b="0" i="0" dirty="0" err="1">
                <a:solidFill>
                  <a:srgbClr val="626669"/>
                </a:solidFill>
                <a:latin typeface="Fira Sans"/>
              </a:rPr>
              <a:t>λ</a:t>
            </a:r>
            <a:r>
              <a:rPr sz="997" b="0" i="0" dirty="0">
                <a:solidFill>
                  <a:srgbClr val="626669"/>
                </a:solidFill>
                <a:latin typeface="Fira Sans"/>
              </a:rPr>
              <a:t> buys less than it promises early in training.</a:t>
            </a:r>
          </a:p>
        </p:txBody>
      </p:sp>
      <p:sp>
        <p:nvSpPr>
          <p:cNvPr id="20" name="Rectangle 19"/>
          <p:cNvSpPr/>
          <p:nvPr/>
        </p:nvSpPr>
        <p:spPr>
          <a:xfrm>
            <a:off x="8010144" y="5149419"/>
            <a:ext cx="334670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010144" y="5295723"/>
            <a:ext cx="3346704" cy="2377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cost is real</a:t>
            </a:r>
          </a:p>
        </p:txBody>
      </p:sp>
      <p:sp>
        <p:nvSpPr>
          <p:cNvPr id="22" name="TextBox 21"/>
          <p:cNvSpPr txBox="1"/>
          <p:nvPr/>
        </p:nvSpPr>
        <p:spPr>
          <a:xfrm>
            <a:off x="8010144" y="5570043"/>
            <a:ext cx="3346704"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 trace must be stored and updated for every state–action pair, and λ is one more hyperparameter whose value can substantially change the outcome.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6.8  ALL SIX ALGORITHMS COMPARED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Different mechanisms, visibly different learning dynamics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05 — Value-based Methods   ·   Part VI — Off-policy learning and the comparison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44</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For every episode, the mean absolute error of the learned state values against the optimal ones, over the seven non-terminal states, smoothed by a 100-episode moving average.</a:t>
            </a:r>
          </a:p>
        </p:txBody>
      </p:sp>
      <p:pic>
        <p:nvPicPr>
          <p:cNvPr id="9" name="Picture 8" descr="eq_ma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1736013"/>
            <a:ext cx="2735818" cy="582810"/>
          </a:xfrm>
          <a:prstGeom prst="rect">
            <a:avLst/>
          </a:prstGeom>
        </p:spPr>
      </p:pic>
      <p:pic>
        <p:nvPicPr>
          <p:cNvPr id="10" name="Picture 9" descr="mae_compare.png"/>
          <p:cNvPicPr>
            <a:picLocks noChangeAspect="1"/>
          </p:cNvPicPr>
          <p:nvPr/>
        </p:nvPicPr>
        <p:blipFill>
          <a:blip r:embed="rId3"/>
          <a:stretch>
            <a:fillRect/>
          </a:stretch>
        </p:blipFill>
        <p:spPr>
          <a:xfrm>
            <a:off x="627150" y="2420321"/>
            <a:ext cx="6980106" cy="3490053"/>
          </a:xfrm>
          <a:prstGeom prst="rect">
            <a:avLst/>
          </a:prstGeom>
        </p:spPr>
      </p:pic>
      <p:sp>
        <p:nvSpPr>
          <p:cNvPr id="11" name="TextBox 10"/>
          <p:cNvSpPr txBox="1"/>
          <p:nvPr/>
        </p:nvSpPr>
        <p:spPr>
          <a:xfrm>
            <a:off x="841248" y="5972073"/>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One run per algorithm, identical schedules and hyperparameters throughout.</a:t>
            </a:r>
          </a:p>
        </p:txBody>
      </p:sp>
      <p:sp>
        <p:nvSpPr>
          <p:cNvPr id="12" name="TextBox 11"/>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CURVES SAY</a:t>
            </a:r>
          </a:p>
        </p:txBody>
      </p:sp>
      <p:sp>
        <p:nvSpPr>
          <p:cNvPr id="13" name="TextBox 12"/>
          <p:cNvSpPr txBox="1"/>
          <p:nvPr/>
        </p:nvSpPr>
        <p:spPr>
          <a:xfrm>
            <a:off x="7618780" y="1572768"/>
            <a:ext cx="3731940" cy="2096109"/>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dirty="0">
                <a:solidFill>
                  <a:srgbClr val="333639"/>
                </a:solidFill>
                <a:latin typeface="Fira Sans"/>
              </a:rPr>
              <a:t>The two </a:t>
            </a:r>
            <a:r>
              <a:rPr sz="1045" b="1" i="0" dirty="0">
                <a:solidFill>
                  <a:srgbClr val="2B7A3E"/>
                </a:solidFill>
                <a:latin typeface="Fira Sans"/>
              </a:rPr>
              <a:t>trace methods</a:t>
            </a:r>
            <a:r>
              <a:rPr sz="1045" b="0" i="0" dirty="0">
                <a:solidFill>
                  <a:srgbClr val="333639"/>
                </a:solidFill>
                <a:latin typeface="Fira Sans"/>
              </a:rPr>
              <a:t> improve particularly quickly early on: each TD error is distributed across the trajectory instead of creeping backwards one step per episode.</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Q-Learning and Double Q-Learning also fall very fast. Their </a:t>
            </a:r>
            <a:r>
              <a:rPr sz="1045" b="1" i="0" dirty="0">
                <a:solidFill>
                  <a:srgbClr val="574676"/>
                </a:solidFill>
                <a:latin typeface="Fira Sans"/>
              </a:rPr>
              <a:t>off-policy targets</a:t>
            </a:r>
            <a:r>
              <a:rPr sz="1045" b="0" i="0" dirty="0">
                <a:solidFill>
                  <a:srgbClr val="333639"/>
                </a:solidFill>
                <a:latin typeface="Fira Sans"/>
              </a:rPr>
              <a:t> let them learn toward greedy </a:t>
            </a:r>
            <a:r>
              <a:rPr sz="1045" b="0" i="0" dirty="0" err="1">
                <a:solidFill>
                  <a:srgbClr val="333639"/>
                </a:solidFill>
                <a:latin typeface="Fira Sans"/>
              </a:rPr>
              <a:t>behaviour</a:t>
            </a:r>
            <a:r>
              <a:rPr sz="1045" b="0" i="0" dirty="0">
                <a:solidFill>
                  <a:srgbClr val="333639"/>
                </a:solidFill>
                <a:latin typeface="Fira Sans"/>
              </a:rPr>
              <a:t> while the </a:t>
            </a:r>
            <a:r>
              <a:rPr sz="1045" b="0" i="0" dirty="0" err="1">
                <a:solidFill>
                  <a:srgbClr val="333639"/>
                </a:solidFill>
                <a:latin typeface="Fira Sans"/>
              </a:rPr>
              <a:t>behaviour</a:t>
            </a:r>
            <a:r>
              <a:rPr sz="1045" b="0" i="0" dirty="0">
                <a:solidFill>
                  <a:srgbClr val="333639"/>
                </a:solidFill>
                <a:latin typeface="Fira Sans"/>
              </a:rPr>
              <a:t> policy is still exploring.</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SARSA improves more gradually: being on-policy, its estimates reflect the exploratory </a:t>
            </a:r>
            <a:r>
              <a:rPr sz="1045" b="0" i="0" dirty="0" err="1">
                <a:solidFill>
                  <a:srgbClr val="333639"/>
                </a:solidFill>
                <a:latin typeface="Fira Sans"/>
              </a:rPr>
              <a:t>behaviour</a:t>
            </a:r>
            <a:r>
              <a:rPr sz="1045" b="0" i="0" dirty="0">
                <a:solidFill>
                  <a:srgbClr val="333639"/>
                </a:solidFill>
                <a:latin typeface="Fira Sans"/>
              </a:rPr>
              <a:t> actually being followed, and only approach the greedy values as </a:t>
            </a:r>
            <a:r>
              <a:rPr sz="1045" b="0" i="0" dirty="0" err="1">
                <a:solidFill>
                  <a:srgbClr val="333639"/>
                </a:solidFill>
                <a:latin typeface="Fira Sans"/>
              </a:rPr>
              <a:t>ε</a:t>
            </a:r>
            <a:r>
              <a:rPr sz="1045" b="0" i="0" dirty="0">
                <a:solidFill>
                  <a:srgbClr val="333639"/>
                </a:solidFill>
                <a:latin typeface="Fira Sans"/>
              </a:rPr>
              <a:t> decays.</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Monte Carlo is the slowest and most irregular</a:t>
            </a:r>
            <a:r>
              <a:rPr lang="it-IT" sz="1045" b="0" i="0">
                <a:solidFill>
                  <a:srgbClr val="333639"/>
                </a:solidFill>
                <a:latin typeface="Fira Sans"/>
              </a:rPr>
              <a:t>, </a:t>
            </a:r>
            <a:r>
              <a:rPr sz="1045" b="0" i="0">
                <a:solidFill>
                  <a:srgbClr val="333639"/>
                </a:solidFill>
                <a:latin typeface="Fira Sans"/>
              </a:rPr>
              <a:t>consistent </a:t>
            </a:r>
            <a:r>
              <a:rPr sz="1045" b="0" i="0" dirty="0">
                <a:solidFill>
                  <a:srgbClr val="333639"/>
                </a:solidFill>
                <a:latin typeface="Fira Sans"/>
              </a:rPr>
              <a:t>with its reliance on complete sampled returns.</a:t>
            </a:r>
          </a:p>
        </p:txBody>
      </p:sp>
      <p:sp>
        <p:nvSpPr>
          <p:cNvPr id="14" name="Rectangle 13"/>
          <p:cNvSpPr/>
          <p:nvPr/>
        </p:nvSpPr>
        <p:spPr>
          <a:xfrm>
            <a:off x="7618780" y="3870045"/>
            <a:ext cx="3731940" cy="90037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618780" y="3870045"/>
            <a:ext cx="41148" cy="90037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38236" y="4016349"/>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After about a thousand episodes the differences shrink and all six sit in a narrow band. The residual error is expected: our schedules stop at positive minima rather than vanishing.</a:t>
            </a:r>
          </a:p>
        </p:txBody>
      </p:sp>
      <p:sp>
        <p:nvSpPr>
          <p:cNvPr id="17" name="Rectangle 16"/>
          <p:cNvSpPr/>
          <p:nvPr/>
        </p:nvSpPr>
        <p:spPr>
          <a:xfrm>
            <a:off x="7618780" y="4935016"/>
            <a:ext cx="3731940" cy="113812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4935016"/>
            <a:ext cx="41148" cy="113812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508132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A CAVEAT WORTH STATING IN CLASS</a:t>
            </a:r>
          </a:p>
        </p:txBody>
      </p:sp>
      <p:sp>
        <p:nvSpPr>
          <p:cNvPr id="20" name="TextBox 19"/>
          <p:cNvSpPr txBox="1"/>
          <p:nvPr/>
        </p:nvSpPr>
        <p:spPr>
          <a:xfrm>
            <a:off x="7838236" y="5319064"/>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Read these as the result of </a:t>
            </a:r>
            <a:r>
              <a:rPr sz="997" b="1" i="1">
                <a:solidFill>
                  <a:srgbClr val="333639"/>
                </a:solidFill>
                <a:latin typeface="Fira Sans"/>
              </a:rPr>
              <a:t>this</a:t>
            </a:r>
            <a:r>
              <a:rPr sz="997" b="0" i="0">
                <a:solidFill>
                  <a:srgbClr val="333639"/>
                </a:solidFill>
                <a:latin typeface="Fira Sans"/>
              </a:rPr>
              <a:t> run, environment and hyperparameters. A stronger comparison would repeat the whole experiment over many runs and plot the average with a measure of spread.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dirty="0">
                <a:solidFill>
                  <a:srgbClr val="B2A7C4"/>
                </a:solidFill>
                <a:latin typeface="Fira Sans Medium"/>
              </a:rPr>
              <a:t>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lang="it-IT" sz="2632" b="1" i="0" dirty="0">
                <a:solidFill>
                  <a:srgbClr val="FFFFFF"/>
                </a:solidFill>
                <a:latin typeface="Roboto Slab"/>
              </a:rPr>
              <a:t>Key Takeaways</a:t>
            </a:r>
            <a:endParaRPr sz="2632" b="1" i="0" dirty="0">
              <a:solidFill>
                <a:srgbClr val="FFFFFF"/>
              </a:solidFill>
              <a:latin typeface="Roboto Slab"/>
            </a:endParaRPr>
          </a:p>
        </p:txBody>
      </p:sp>
      <p:sp>
        <p:nvSpPr>
          <p:cNvPr id="5" name="TextBox 4"/>
          <p:cNvSpPr txBox="1"/>
          <p:nvPr/>
        </p:nvSpPr>
        <p:spPr>
          <a:xfrm>
            <a:off x="859536" y="2212848"/>
            <a:ext cx="6400800" cy="3974592"/>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B2A7C4"/>
                </a:solidFill>
                <a:latin typeface="Fira Sans"/>
              </a:rPr>
              <a:t>01   </a:t>
            </a:r>
            <a:r>
              <a:rPr sz="1188" b="1" i="0" dirty="0">
                <a:solidFill>
                  <a:srgbClr val="FFFFFF"/>
                </a:solidFill>
                <a:latin typeface="Fira Sans"/>
              </a:rPr>
              <a:t>Every algorithm here is one update rule with a different target</a:t>
            </a:r>
          </a:p>
          <a:p>
            <a:pPr marL="384048" indent="0" algn="l">
              <a:lnSpc>
                <a:spcPts val="1233"/>
              </a:lnSpc>
              <a:spcBef>
                <a:spcPts val="300"/>
              </a:spcBef>
              <a:spcAft>
                <a:spcPts val="0"/>
              </a:spcAft>
              <a:buNone/>
            </a:pPr>
            <a:r>
              <a:rPr sz="1045" b="0" i="0" dirty="0">
                <a:solidFill>
                  <a:srgbClr val="D6D0E0"/>
                </a:solidFill>
                <a:latin typeface="Fira Sans"/>
              </a:rPr>
              <a:t>New ← Old + α (target − Old). The complete return gives MC; one reward plus a bootstrap gives TD; n rewards give n-step; a weighted mixture gives TD(</a:t>
            </a:r>
            <a:r>
              <a:rPr sz="1045" b="0" i="0" dirty="0" err="1">
                <a:solidFill>
                  <a:srgbClr val="D6D0E0"/>
                </a:solidFill>
                <a:latin typeface="Fira Sans"/>
              </a:rPr>
              <a:t>λ</a:t>
            </a:r>
            <a:r>
              <a:rPr sz="1045" b="0" i="0" dirty="0">
                <a:solidFill>
                  <a:srgbClr val="D6D0E0"/>
                </a:solidFill>
                <a:latin typeface="Fira Sans"/>
              </a:rPr>
              <a:t>).</a:t>
            </a:r>
          </a:p>
          <a:p>
            <a:pPr marL="0" indent="0" algn="l">
              <a:lnSpc>
                <a:spcPts val="1331"/>
              </a:lnSpc>
              <a:spcBef>
                <a:spcPts val="1300"/>
              </a:spcBef>
              <a:spcAft>
                <a:spcPts val="0"/>
              </a:spcAft>
              <a:buNone/>
            </a:pPr>
            <a:r>
              <a:rPr sz="1188" b="1" i="0" dirty="0">
                <a:solidFill>
                  <a:srgbClr val="B2A7C4"/>
                </a:solidFill>
                <a:latin typeface="Fira Sans"/>
              </a:rPr>
              <a:t>02   </a:t>
            </a:r>
            <a:r>
              <a:rPr sz="1188" b="1" i="0" dirty="0">
                <a:solidFill>
                  <a:srgbClr val="FFFFFF"/>
                </a:solidFill>
                <a:latin typeface="Fira Sans"/>
              </a:rPr>
              <a:t>Bootstrapping trades variance for bias</a:t>
            </a:r>
          </a:p>
          <a:p>
            <a:pPr marL="384048" indent="0" algn="l">
              <a:lnSpc>
                <a:spcPts val="1233"/>
              </a:lnSpc>
              <a:spcBef>
                <a:spcPts val="300"/>
              </a:spcBef>
              <a:spcAft>
                <a:spcPts val="0"/>
              </a:spcAft>
              <a:buNone/>
            </a:pPr>
            <a:r>
              <a:rPr sz="1045" b="0" i="0" dirty="0">
                <a:solidFill>
                  <a:srgbClr val="D6D0E0"/>
                </a:solidFill>
                <a:latin typeface="Fira Sans"/>
              </a:rPr>
              <a:t>A sampled return is unbiased but carries the randomness of a whole trajectory. A bootstrapped target is low-variance but leans on an estimate that is still wrong.</a:t>
            </a:r>
          </a:p>
          <a:p>
            <a:pPr marL="0" indent="0" algn="l">
              <a:lnSpc>
                <a:spcPts val="1331"/>
              </a:lnSpc>
              <a:spcBef>
                <a:spcPts val="1300"/>
              </a:spcBef>
              <a:spcAft>
                <a:spcPts val="0"/>
              </a:spcAft>
              <a:buNone/>
            </a:pPr>
            <a:r>
              <a:rPr sz="1188" b="1" i="0" dirty="0">
                <a:solidFill>
                  <a:srgbClr val="B2A7C4"/>
                </a:solidFill>
                <a:latin typeface="Fira Sans"/>
              </a:rPr>
              <a:t>03   </a:t>
            </a:r>
            <a:r>
              <a:rPr sz="1188" b="1" i="0" dirty="0">
                <a:solidFill>
                  <a:srgbClr val="FFFFFF"/>
                </a:solidFill>
                <a:latin typeface="Fira Sans"/>
              </a:rPr>
              <a:t>Eligibility traces make the mixture online</a:t>
            </a:r>
          </a:p>
          <a:p>
            <a:pPr marL="384048" indent="0" algn="l">
              <a:lnSpc>
                <a:spcPts val="1233"/>
              </a:lnSpc>
              <a:spcBef>
                <a:spcPts val="300"/>
              </a:spcBef>
              <a:spcAft>
                <a:spcPts val="0"/>
              </a:spcAft>
              <a:buNone/>
            </a:pPr>
            <a:r>
              <a:rPr sz="1045" b="0" i="0" dirty="0">
                <a:solidFill>
                  <a:srgbClr val="D6D0E0"/>
                </a:solidFill>
                <a:latin typeface="Fira Sans"/>
              </a:rPr>
              <a:t>One TD error, distributed backwards over every state still eligible. The forward view explains what is computed; the backward view is how it is computed.</a:t>
            </a:r>
          </a:p>
          <a:p>
            <a:pPr marL="0" indent="0" algn="l">
              <a:lnSpc>
                <a:spcPts val="1331"/>
              </a:lnSpc>
              <a:spcBef>
                <a:spcPts val="1300"/>
              </a:spcBef>
              <a:spcAft>
                <a:spcPts val="0"/>
              </a:spcAft>
              <a:buNone/>
            </a:pPr>
            <a:r>
              <a:rPr sz="1188" b="1" i="0" dirty="0">
                <a:solidFill>
                  <a:srgbClr val="B2A7C4"/>
                </a:solidFill>
                <a:latin typeface="Fira Sans"/>
              </a:rPr>
              <a:t>04   </a:t>
            </a:r>
            <a:r>
              <a:rPr sz="1188" b="1" i="0" dirty="0">
                <a:solidFill>
                  <a:srgbClr val="FFFFFF"/>
                </a:solidFill>
                <a:latin typeface="Fira Sans"/>
              </a:rPr>
              <a:t>Control needs Q, and it needs exploration</a:t>
            </a:r>
          </a:p>
          <a:p>
            <a:pPr marL="384048" indent="0" algn="l">
              <a:lnSpc>
                <a:spcPts val="1233"/>
              </a:lnSpc>
              <a:spcBef>
                <a:spcPts val="300"/>
              </a:spcBef>
              <a:spcAft>
                <a:spcPts val="0"/>
              </a:spcAft>
              <a:buNone/>
            </a:pPr>
            <a:r>
              <a:rPr sz="1045" b="0" i="0" dirty="0">
                <a:solidFill>
                  <a:srgbClr val="D6D0E0"/>
                </a:solidFill>
                <a:latin typeface="Fira Sans"/>
              </a:rPr>
              <a:t>Without a model, a state value does not say which action produced it and the agent only learns about the pairs it actually visits.</a:t>
            </a:r>
          </a:p>
          <a:p>
            <a:pPr marL="0" indent="0" algn="l">
              <a:lnSpc>
                <a:spcPts val="1331"/>
              </a:lnSpc>
              <a:spcBef>
                <a:spcPts val="1300"/>
              </a:spcBef>
              <a:spcAft>
                <a:spcPts val="0"/>
              </a:spcAft>
              <a:buNone/>
            </a:pPr>
            <a:r>
              <a:rPr sz="1188" b="1" i="0" dirty="0">
                <a:solidFill>
                  <a:srgbClr val="B2A7C4"/>
                </a:solidFill>
                <a:latin typeface="Fira Sans"/>
              </a:rPr>
              <a:t>05   </a:t>
            </a:r>
            <a:r>
              <a:rPr sz="1188" b="1" i="0" dirty="0">
                <a:solidFill>
                  <a:srgbClr val="FFFFFF"/>
                </a:solidFill>
                <a:latin typeface="Fira Sans"/>
              </a:rPr>
              <a:t>On-policy learns what it does</a:t>
            </a:r>
            <a:r>
              <a:rPr lang="it-IT" sz="1188" b="1" i="0" dirty="0">
                <a:solidFill>
                  <a:srgbClr val="FFFFFF"/>
                </a:solidFill>
                <a:latin typeface="Fira Sans"/>
              </a:rPr>
              <a:t>,</a:t>
            </a:r>
            <a:r>
              <a:rPr sz="1188" b="1" i="0" dirty="0">
                <a:solidFill>
                  <a:srgbClr val="FFFFFF"/>
                </a:solidFill>
                <a:latin typeface="Fira Sans"/>
              </a:rPr>
              <a:t> off-policy learns what it would do</a:t>
            </a:r>
          </a:p>
          <a:p>
            <a:pPr marL="384048" indent="0" algn="l">
              <a:lnSpc>
                <a:spcPts val="1233"/>
              </a:lnSpc>
              <a:spcBef>
                <a:spcPts val="300"/>
              </a:spcBef>
              <a:spcAft>
                <a:spcPts val="0"/>
              </a:spcAft>
              <a:buNone/>
            </a:pPr>
            <a:r>
              <a:rPr sz="1045" b="0" i="0" dirty="0">
                <a:solidFill>
                  <a:srgbClr val="D6D0E0"/>
                </a:solidFill>
                <a:latin typeface="Fira Sans"/>
              </a:rPr>
              <a:t>SARSA bootstraps from the action behavior took, so it values the exploratory policy. Q-Learning bootstraps from the greedy action, so it values the greedy one.</a:t>
            </a:r>
          </a:p>
          <a:p>
            <a:pPr marL="0" indent="0" algn="l">
              <a:lnSpc>
                <a:spcPts val="1331"/>
              </a:lnSpc>
              <a:spcBef>
                <a:spcPts val="1300"/>
              </a:spcBef>
              <a:spcAft>
                <a:spcPts val="0"/>
              </a:spcAft>
              <a:buNone/>
            </a:pPr>
            <a:r>
              <a:rPr sz="1188" b="1" i="0" dirty="0">
                <a:solidFill>
                  <a:srgbClr val="B2A7C4"/>
                </a:solidFill>
                <a:latin typeface="Fira Sans"/>
              </a:rPr>
              <a:t>06   </a:t>
            </a:r>
            <a:r>
              <a:rPr sz="1188" b="1" i="0" dirty="0">
                <a:solidFill>
                  <a:srgbClr val="FFFFFF"/>
                </a:solidFill>
                <a:latin typeface="Fira Sans"/>
              </a:rPr>
              <a:t>Chapter 06 drops the table</a:t>
            </a:r>
          </a:p>
          <a:p>
            <a:pPr marL="384048" indent="0" algn="l">
              <a:lnSpc>
                <a:spcPts val="1233"/>
              </a:lnSpc>
              <a:spcBef>
                <a:spcPts val="300"/>
              </a:spcBef>
              <a:spcAft>
                <a:spcPts val="0"/>
              </a:spcAft>
              <a:buNone/>
            </a:pPr>
            <a:r>
              <a:rPr sz="1045" b="0" i="0" dirty="0">
                <a:solidFill>
                  <a:srgbClr val="D6D0E0"/>
                </a:solidFill>
                <a:latin typeface="Fira Sans"/>
              </a:rPr>
              <a:t>Everything here stores one number per state or per state–action pair. That becomes impossible long before the problems get interesting</a:t>
            </a:r>
            <a:r>
              <a:rPr lang="it-IT" sz="1045" b="0" i="0" dirty="0">
                <a:solidFill>
                  <a:srgbClr val="D6D0E0"/>
                </a:solidFill>
                <a:latin typeface="Fira Sans"/>
              </a:rPr>
              <a:t>,</a:t>
            </a:r>
            <a:r>
              <a:rPr sz="1045" b="0" i="0" dirty="0">
                <a:solidFill>
                  <a:srgbClr val="D6D0E0"/>
                </a:solidFill>
                <a:latin typeface="Fira Sans"/>
              </a:rPr>
              <a:t> function approximation replaces it.</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3931920"/>
          </a:xfrm>
          <a:prstGeom prst="rect">
            <a:avLst/>
          </a:prstGeom>
          <a:noFill/>
        </p:spPr>
        <p:txBody>
          <a:bodyPr wrap="square" lIns="0" tIns="0" rIns="0" bIns="0" anchor="t">
            <a:noAutofit/>
          </a:bodyPr>
          <a:lstStyle/>
          <a:p>
            <a:pPr marL="0" indent="0" algn="l">
              <a:lnSpc>
                <a:spcPts val="1077"/>
              </a:lnSpc>
              <a:spcBef>
                <a:spcPts val="0"/>
              </a:spcBef>
              <a:spcAft>
                <a:spcPts val="0"/>
              </a:spcAft>
              <a:buNone/>
            </a:pPr>
            <a:r>
              <a:rPr sz="997" b="1" i="0">
                <a:solidFill>
                  <a:srgbClr val="FFFFFF"/>
                </a:solidFill>
                <a:latin typeface="Fira Sans"/>
              </a:rPr>
              <a:t>Sutton (1988)</a:t>
            </a:r>
          </a:p>
          <a:p>
            <a:pPr marL="0" indent="0" algn="l">
              <a:lnSpc>
                <a:spcPts val="1061"/>
              </a:lnSpc>
              <a:spcBef>
                <a:spcPts val="100"/>
              </a:spcBef>
              <a:spcAft>
                <a:spcPts val="0"/>
              </a:spcAft>
              <a:buNone/>
            </a:pPr>
            <a:r>
              <a:rPr sz="931" b="0" i="1">
                <a:solidFill>
                  <a:srgbClr val="B2A7C4"/>
                </a:solidFill>
                <a:latin typeface="Fira Sans"/>
              </a:rPr>
              <a:t>Learning to Predict by the Methods
of Temporal Differences</a:t>
            </a:r>
          </a:p>
          <a:p>
            <a:pPr marL="0" indent="0" algn="l">
              <a:lnSpc>
                <a:spcPts val="1077"/>
              </a:lnSpc>
              <a:spcBef>
                <a:spcPts val="1000"/>
              </a:spcBef>
              <a:spcAft>
                <a:spcPts val="0"/>
              </a:spcAft>
              <a:buNone/>
            </a:pPr>
            <a:r>
              <a:rPr sz="997" b="1" i="0">
                <a:solidFill>
                  <a:srgbClr val="FFFFFF"/>
                </a:solidFill>
                <a:latin typeface="Fira Sans"/>
              </a:rPr>
              <a:t>Watkins (1989)</a:t>
            </a:r>
          </a:p>
          <a:p>
            <a:pPr marL="0" indent="0" algn="l">
              <a:lnSpc>
                <a:spcPts val="1061"/>
              </a:lnSpc>
              <a:spcBef>
                <a:spcPts val="100"/>
              </a:spcBef>
              <a:spcAft>
                <a:spcPts val="0"/>
              </a:spcAft>
              <a:buNone/>
            </a:pPr>
            <a:r>
              <a:rPr sz="931" b="0" i="1">
                <a:solidFill>
                  <a:srgbClr val="B2A7C4"/>
                </a:solidFill>
                <a:latin typeface="Fira Sans"/>
              </a:rPr>
              <a:t>Learning from Delayed Rewards</a:t>
            </a:r>
          </a:p>
          <a:p>
            <a:pPr marL="0" indent="0" algn="l">
              <a:lnSpc>
                <a:spcPts val="1077"/>
              </a:lnSpc>
              <a:spcBef>
                <a:spcPts val="1000"/>
              </a:spcBef>
              <a:spcAft>
                <a:spcPts val="0"/>
              </a:spcAft>
              <a:buNone/>
            </a:pPr>
            <a:r>
              <a:rPr sz="997" b="1" i="0">
                <a:solidFill>
                  <a:srgbClr val="FFFFFF"/>
                </a:solidFill>
                <a:latin typeface="Fira Sans"/>
              </a:rPr>
              <a:t>Watkins &amp; Dayan (1992)</a:t>
            </a:r>
          </a:p>
          <a:p>
            <a:pPr marL="0" indent="0" algn="l">
              <a:lnSpc>
                <a:spcPts val="1061"/>
              </a:lnSpc>
              <a:spcBef>
                <a:spcPts val="100"/>
              </a:spcBef>
              <a:spcAft>
                <a:spcPts val="0"/>
              </a:spcAft>
              <a:buNone/>
            </a:pPr>
            <a:r>
              <a:rPr sz="931" b="0" i="1">
                <a:solidFill>
                  <a:srgbClr val="B2A7C4"/>
                </a:solidFill>
                <a:latin typeface="Fira Sans"/>
              </a:rPr>
              <a:t>Q-Learning</a:t>
            </a:r>
          </a:p>
          <a:p>
            <a:pPr marL="0" indent="0" algn="l">
              <a:lnSpc>
                <a:spcPts val="1077"/>
              </a:lnSpc>
              <a:spcBef>
                <a:spcPts val="1000"/>
              </a:spcBef>
              <a:spcAft>
                <a:spcPts val="0"/>
              </a:spcAft>
              <a:buNone/>
            </a:pPr>
            <a:r>
              <a:rPr sz="997" b="1" i="0">
                <a:solidFill>
                  <a:srgbClr val="FFFFFF"/>
                </a:solidFill>
                <a:latin typeface="Fira Sans"/>
              </a:rPr>
              <a:t>Rummery &amp; Niranjan (1994)</a:t>
            </a:r>
          </a:p>
          <a:p>
            <a:pPr marL="0" indent="0" algn="l">
              <a:lnSpc>
                <a:spcPts val="1061"/>
              </a:lnSpc>
              <a:spcBef>
                <a:spcPts val="100"/>
              </a:spcBef>
              <a:spcAft>
                <a:spcPts val="0"/>
              </a:spcAft>
              <a:buNone/>
            </a:pPr>
            <a:r>
              <a:rPr sz="931" b="0" i="1">
                <a:solidFill>
                  <a:srgbClr val="B2A7C4"/>
                </a:solidFill>
                <a:latin typeface="Fira Sans"/>
              </a:rPr>
              <a:t>On-line Q-Learning using
Connectionist Systems</a:t>
            </a:r>
          </a:p>
          <a:p>
            <a:pPr marL="0" indent="0" algn="l">
              <a:lnSpc>
                <a:spcPts val="1077"/>
              </a:lnSpc>
              <a:spcBef>
                <a:spcPts val="1000"/>
              </a:spcBef>
              <a:spcAft>
                <a:spcPts val="0"/>
              </a:spcAft>
              <a:buNone/>
            </a:pPr>
            <a:r>
              <a:rPr sz="997" b="1" i="0">
                <a:solidFill>
                  <a:srgbClr val="FFFFFF"/>
                </a:solidFill>
                <a:latin typeface="Fira Sans"/>
              </a:rPr>
              <a:t>Singh et al. (2000)</a:t>
            </a:r>
          </a:p>
          <a:p>
            <a:pPr marL="0" indent="0" algn="l">
              <a:lnSpc>
                <a:spcPts val="1061"/>
              </a:lnSpc>
              <a:spcBef>
                <a:spcPts val="100"/>
              </a:spcBef>
              <a:spcAft>
                <a:spcPts val="0"/>
              </a:spcAft>
              <a:buNone/>
            </a:pPr>
            <a:r>
              <a:rPr sz="931" b="0" i="1">
                <a:solidFill>
                  <a:srgbClr val="B2A7C4"/>
                </a:solidFill>
                <a:latin typeface="Fira Sans"/>
              </a:rPr>
              <a:t>Convergence Results for Single-Step
On-Policy RL Algorithms</a:t>
            </a:r>
          </a:p>
          <a:p>
            <a:pPr marL="0" indent="0" algn="l">
              <a:lnSpc>
                <a:spcPts val="1077"/>
              </a:lnSpc>
              <a:spcBef>
                <a:spcPts val="1000"/>
              </a:spcBef>
              <a:spcAft>
                <a:spcPts val="0"/>
              </a:spcAft>
              <a:buNone/>
            </a:pPr>
            <a:r>
              <a:rPr sz="997" b="1" i="0">
                <a:solidFill>
                  <a:srgbClr val="FFFFFF"/>
                </a:solidFill>
                <a:latin typeface="Fira Sans"/>
              </a:rPr>
              <a:t>van Hasselt (2010)</a:t>
            </a:r>
          </a:p>
          <a:p>
            <a:pPr marL="0" indent="0" algn="l">
              <a:lnSpc>
                <a:spcPts val="1061"/>
              </a:lnSpc>
              <a:spcBef>
                <a:spcPts val="100"/>
              </a:spcBef>
              <a:spcAft>
                <a:spcPts val="0"/>
              </a:spcAft>
              <a:buNone/>
            </a:pPr>
            <a:r>
              <a:rPr sz="931" b="0" i="1">
                <a:solidFill>
                  <a:srgbClr val="B2A7C4"/>
                </a:solidFill>
                <a:latin typeface="Fira Sans"/>
              </a:rPr>
              <a:t>Double Q-learning</a:t>
            </a:r>
          </a:p>
        </p:txBody>
      </p:sp>
      <p:pic>
        <p:nvPicPr>
          <p:cNvPr id="9" name="Picture 8" descr="image.png"/>
          <p:cNvPicPr>
            <a:picLocks noChangeAspect="1"/>
          </p:cNvPicPr>
          <p:nvPr/>
        </p:nvPicPr>
        <p:blipFill>
          <a:blip r:embed="rId2"/>
          <a:stretch>
            <a:fillRect/>
          </a:stretch>
        </p:blipFill>
        <p:spPr>
          <a:xfrm>
            <a:off x="10561320" y="5806440"/>
            <a:ext cx="658368" cy="441477"/>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273</TotalTime>
  <Words>9080</Words>
  <Application>Microsoft Macintosh PowerPoint</Application>
  <PresentationFormat>Widescreen</PresentationFormat>
  <Paragraphs>853</Paragraphs>
  <Slides>45</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45</vt:i4>
      </vt:variant>
    </vt:vector>
  </HeadingPairs>
  <TitlesOfParts>
    <vt:vector size="52" baseType="lpstr">
      <vt:lpstr>Arial</vt:lpstr>
      <vt:lpstr>Roboto Slab</vt:lpstr>
      <vt:lpstr>Calibri</vt:lpstr>
      <vt:lpstr>Consolas</vt:lpstr>
      <vt:lpstr>Fira Sans</vt:lpstr>
      <vt:lpstr>Fira Sans Medium</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Value-based Methods — Chapter 05</dc:title>
  <dc:subject>Reinforcement Learning, Chapter 05: Value-based Methods</dc:subject>
  <dc:creator>Riccardo Berta</dc:creator>
  <cp:keywords/>
  <dc:description>Companion lecture slides generated from the Chapter 05 lecture notes (notes.ipynb), on the DITEN widescreen template. Figures reused from the notes; mathematics typeset in LaTeX as vector graphics.</dc:description>
  <cp:lastModifiedBy>Riccardo Berta</cp:lastModifiedBy>
  <cp:revision>2</cp:revision>
  <cp:lastPrinted>2019-04-15T13:03:12Z</cp:lastPrinted>
  <dcterms:created xsi:type="dcterms:W3CDTF">2020-06-03T21:02:46Z</dcterms:created>
  <dcterms:modified xsi:type="dcterms:W3CDTF">2026-10-20T19:33:58Z</dcterms:modified>
  <cp:category>University lecture slides</cp:category>
</cp:coreProperties>
</file>