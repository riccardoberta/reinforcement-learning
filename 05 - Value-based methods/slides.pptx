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4"/>
  </p:sldMasterIdLst>
  <p:notesMasterIdLst>
    <p:notesMasterId r:id="rId35"/>
  </p:notesMasterIdLst>
  <p:sldIdLst>
    <p:sldId id="256" r:id="rId5"/>
    <p:sldId id="264" r:id="rId6"/>
    <p:sldId id="265" r:id="rId7"/>
    <p:sldId id="266" r:id="rId8"/>
    <p:sldId id="272" r:id="rId9"/>
    <p:sldId id="267" r:id="rId10"/>
    <p:sldId id="268" r:id="rId11"/>
    <p:sldId id="269" r:id="rId12"/>
    <p:sldId id="270" r:id="rId13"/>
    <p:sldId id="273" r:id="rId14"/>
    <p:sldId id="297" r:id="rId15"/>
    <p:sldId id="274" r:id="rId16"/>
    <p:sldId id="275" r:id="rId17"/>
    <p:sldId id="276" r:id="rId18"/>
    <p:sldId id="277" r:id="rId19"/>
    <p:sldId id="295" r:id="rId20"/>
    <p:sldId id="271" r:id="rId21"/>
    <p:sldId id="284" r:id="rId22"/>
    <p:sldId id="285" r:id="rId23"/>
    <p:sldId id="286" r:id="rId24"/>
    <p:sldId id="293" r:id="rId25"/>
    <p:sldId id="287" r:id="rId26"/>
    <p:sldId id="296" r:id="rId27"/>
    <p:sldId id="298" r:id="rId28"/>
    <p:sldId id="288" r:id="rId29"/>
    <p:sldId id="289" r:id="rId30"/>
    <p:sldId id="290" r:id="rId31"/>
    <p:sldId id="292" r:id="rId32"/>
    <p:sldId id="279" r:id="rId33"/>
    <p:sldId id="278" r:id="rId34"/>
  </p:sldIdLst>
  <p:sldSz cx="9144000" cy="6858000" type="screen4x3"/>
  <p:notesSz cx="6858000" cy="9144000"/>
  <p:embeddedFontLst>
    <p:embeddedFont>
      <p:font typeface="Economica" panose="02000506040000020004" pitchFamily="2" charset="77"/>
      <p:regular r:id="rId36"/>
      <p:bold r:id="rId37"/>
      <p:italic r:id="rId38"/>
      <p:boldItalic r:id="rId39"/>
    </p:embeddedFont>
    <p:embeddedFont>
      <p:font typeface="Open Sans" panose="020B0606030504020204" pitchFamily="34" charset="0"/>
      <p:regular r:id="rId40"/>
      <p:bold r:id="rId41"/>
      <p:italic r:id="rId42"/>
      <p:boldItalic r:id="rId4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1FFDFA6-1C42-6449-8203-ABBB98061DA7}" v="4" dt="2025-11-05T08:37:12.42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646"/>
    <p:restoredTop sz="86416"/>
  </p:normalViewPr>
  <p:slideViewPr>
    <p:cSldViewPr snapToGrid="0" snapToObjects="1">
      <p:cViewPr varScale="1">
        <p:scale>
          <a:sx n="132" d="100"/>
          <a:sy n="132" d="100"/>
        </p:scale>
        <p:origin x="2472" y="176"/>
      </p:cViewPr>
      <p:guideLst/>
    </p:cSldViewPr>
  </p:slideViewPr>
  <p:outlineViewPr>
    <p:cViewPr>
      <p:scale>
        <a:sx n="33" d="100"/>
        <a:sy n="33" d="100"/>
      </p:scale>
      <p:origin x="0" y="-9860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font" Target="fonts/font4.fntdata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font" Target="fonts/font7.fntdata"/><Relationship Id="rId47" Type="http://schemas.openxmlformats.org/officeDocument/2006/relationships/tableStyles" Target="tableStyle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font" Target="fonts/font2.fntdata"/><Relationship Id="rId40" Type="http://schemas.openxmlformats.org/officeDocument/2006/relationships/font" Target="fonts/font5.fntdata"/><Relationship Id="rId45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font" Target="fonts/font1.fntdata"/><Relationship Id="rId49" Type="http://schemas.microsoft.com/office/2015/10/relationships/revisionInfo" Target="revisionInfo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notesMaster" Target="notesMasters/notesMaster1.xml"/><Relationship Id="rId43" Type="http://schemas.openxmlformats.org/officeDocument/2006/relationships/font" Target="fonts/font8.fntdata"/><Relationship Id="rId48" Type="http://schemas.microsoft.com/office/2016/11/relationships/changesInfo" Target="changesInfos/changesInfo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font" Target="fonts/font3.fntdata"/><Relationship Id="rId46" Type="http://schemas.openxmlformats.org/officeDocument/2006/relationships/theme" Target="theme/theme1.xml"/><Relationship Id="rId20" Type="http://schemas.openxmlformats.org/officeDocument/2006/relationships/slide" Target="slides/slide16.xml"/><Relationship Id="rId41" Type="http://schemas.openxmlformats.org/officeDocument/2006/relationships/font" Target="fonts/font6.fntdata"/><Relationship Id="rId1" Type="http://schemas.openxmlformats.org/officeDocument/2006/relationships/customXml" Target="../customXml/item1.xml"/><Relationship Id="rId6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iccardo Berta" userId="c8694f89-bba4-4576-b0a8-456619ca5a8c" providerId="ADAL" clId="{FDDBFC5A-5EA9-5330-BEB8-433D7E3B4C4E}"/>
    <pc:docChg chg="custSel addSld modSld">
      <pc:chgData name="Riccardo Berta" userId="c8694f89-bba4-4576-b0a8-456619ca5a8c" providerId="ADAL" clId="{FDDBFC5A-5EA9-5330-BEB8-433D7E3B4C4E}" dt="2025-11-05T08:57:26.786" v="204" actId="20577"/>
      <pc:docMkLst>
        <pc:docMk/>
      </pc:docMkLst>
      <pc:sldChg chg="modSp mod">
        <pc:chgData name="Riccardo Berta" userId="c8694f89-bba4-4576-b0a8-456619ca5a8c" providerId="ADAL" clId="{FDDBFC5A-5EA9-5330-BEB8-433D7E3B4C4E}" dt="2025-10-30T12:37:54.516" v="109" actId="14100"/>
        <pc:sldMkLst>
          <pc:docMk/>
          <pc:sldMk cId="2056707301" sldId="265"/>
        </pc:sldMkLst>
        <pc:spChg chg="mod">
          <ac:chgData name="Riccardo Berta" userId="c8694f89-bba4-4576-b0a8-456619ca5a8c" providerId="ADAL" clId="{FDDBFC5A-5EA9-5330-BEB8-433D7E3B4C4E}" dt="2025-10-30T12:37:54.516" v="109" actId="14100"/>
          <ac:spMkLst>
            <pc:docMk/>
            <pc:sldMk cId="2056707301" sldId="265"/>
            <ac:spMk id="84" creationId="{00000000-0000-0000-0000-000000000000}"/>
          </ac:spMkLst>
        </pc:spChg>
      </pc:sldChg>
      <pc:sldChg chg="modSp mod">
        <pc:chgData name="Riccardo Berta" userId="c8694f89-bba4-4576-b0a8-456619ca5a8c" providerId="ADAL" clId="{FDDBFC5A-5EA9-5330-BEB8-433D7E3B4C4E}" dt="2025-10-30T12:38:50.134" v="110" actId="33524"/>
        <pc:sldMkLst>
          <pc:docMk/>
          <pc:sldMk cId="1146853789" sldId="266"/>
        </pc:sldMkLst>
        <pc:spChg chg="mod">
          <ac:chgData name="Riccardo Berta" userId="c8694f89-bba4-4576-b0a8-456619ca5a8c" providerId="ADAL" clId="{FDDBFC5A-5EA9-5330-BEB8-433D7E3B4C4E}" dt="2025-10-30T12:38:50.134" v="110" actId="33524"/>
          <ac:spMkLst>
            <pc:docMk/>
            <pc:sldMk cId="1146853789" sldId="266"/>
            <ac:spMk id="84" creationId="{00000000-0000-0000-0000-000000000000}"/>
          </ac:spMkLst>
        </pc:spChg>
      </pc:sldChg>
      <pc:sldChg chg="addSp delSp modSp mod">
        <pc:chgData name="Riccardo Berta" userId="c8694f89-bba4-4576-b0a8-456619ca5a8c" providerId="ADAL" clId="{FDDBFC5A-5EA9-5330-BEB8-433D7E3B4C4E}" dt="2025-11-05T08:37:38.946" v="201" actId="478"/>
        <pc:sldMkLst>
          <pc:docMk/>
          <pc:sldMk cId="3775027952" sldId="269"/>
        </pc:sldMkLst>
        <pc:picChg chg="add del mod">
          <ac:chgData name="Riccardo Berta" userId="c8694f89-bba4-4576-b0a8-456619ca5a8c" providerId="ADAL" clId="{FDDBFC5A-5EA9-5330-BEB8-433D7E3B4C4E}" dt="2025-11-05T08:37:38.946" v="201" actId="478"/>
          <ac:picMkLst>
            <pc:docMk/>
            <pc:sldMk cId="3775027952" sldId="269"/>
            <ac:picMk id="5" creationId="{65D5FE22-53CC-351D-EF06-3A8951323DDD}"/>
          </ac:picMkLst>
        </pc:picChg>
      </pc:sldChg>
      <pc:sldChg chg="modSp add mod">
        <pc:chgData name="Riccardo Berta" userId="c8694f89-bba4-4576-b0a8-456619ca5a8c" providerId="ADAL" clId="{FDDBFC5A-5EA9-5330-BEB8-433D7E3B4C4E}" dt="2025-11-05T08:57:26.786" v="204" actId="20577"/>
        <pc:sldMkLst>
          <pc:docMk/>
          <pc:sldMk cId="4026177600" sldId="298"/>
        </pc:sldMkLst>
        <pc:spChg chg="mod">
          <ac:chgData name="Riccardo Berta" userId="c8694f89-bba4-4576-b0a8-456619ca5a8c" providerId="ADAL" clId="{FDDBFC5A-5EA9-5330-BEB8-433D7E3B4C4E}" dt="2025-11-05T06:58:17.780" v="114" actId="20577"/>
          <ac:spMkLst>
            <pc:docMk/>
            <pc:sldMk cId="4026177600" sldId="298"/>
            <ac:spMk id="83" creationId="{1D4D49BA-6174-3518-39C7-C7DF8E20A8F0}"/>
          </ac:spMkLst>
        </pc:spChg>
        <pc:spChg chg="mod">
          <ac:chgData name="Riccardo Berta" userId="c8694f89-bba4-4576-b0a8-456619ca5a8c" providerId="ADAL" clId="{FDDBFC5A-5EA9-5330-BEB8-433D7E3B4C4E}" dt="2025-11-05T08:57:26.786" v="204" actId="20577"/>
          <ac:spMkLst>
            <pc:docMk/>
            <pc:sldMk cId="4026177600" sldId="298"/>
            <ac:spMk id="84" creationId="{C70DCF73-6BD9-0236-0092-8EF8FEA65B85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309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5386649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484868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0402335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3195327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4444467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8029930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1562393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9950795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D77AA843-3BEC-6BB3-EBF6-E61ACC7512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5E792F70-2CE7-55E8-5B43-F10E027227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E5F31FD9-3F43-175D-BE7B-DE20751E8B6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0183651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2311500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8123000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5464089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3476041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452E8ADB-BA6B-0697-8F38-58DFF94AC1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B312F2F0-8C29-35D8-945C-226751DB024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A6C2135B-EC68-02E6-C32D-7CA29CFFCEF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9892935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3302002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1785917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6993015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14181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979189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3579890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3F0305A9-2B87-512A-EB8E-CC03693959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E9001400-672B-87D9-88E3-8A95E6D7C72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D0785A9C-320D-51B7-EA08-155355111EC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0055157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3EAD00A4-8B38-371E-F925-F8AA10C67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6024205C-AD81-0C67-F9A7-D2AF20F5855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088090D4-C170-240E-6A46-5E72C0106CD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9431079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1179347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9998313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8338220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2534704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3176494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818292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2744013" y="1008933"/>
            <a:ext cx="1081625" cy="1499896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/>
          <a:lstStyle/>
          <a:p>
            <a:endParaRPr lang="it-IT"/>
          </a:p>
        </p:txBody>
      </p:sp>
      <p:sp>
        <p:nvSpPr>
          <p:cNvPr id="11" name="Google Shape;11;p2"/>
          <p:cNvSpPr/>
          <p:nvPr/>
        </p:nvSpPr>
        <p:spPr>
          <a:xfrm rot="10800000">
            <a:off x="5318350" y="4355671"/>
            <a:ext cx="1081625" cy="1499896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/>
          <a:lstStyle/>
          <a:p>
            <a:endParaRPr lang="it-IT"/>
          </a:p>
        </p:txBody>
      </p:sp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3044700" y="1925674"/>
            <a:ext cx="3054600" cy="204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3044700" y="4155440"/>
            <a:ext cx="3054600" cy="9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icTheme" userDrawn="1">
  <p:cSld name="TITLE_AND_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/>
          <p:nvPr/>
        </p:nvSpPr>
        <p:spPr>
          <a:xfrm>
            <a:off x="0" y="6727600"/>
            <a:ext cx="9144000" cy="130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202700" y="1104350"/>
            <a:ext cx="8818500" cy="51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6550">
              <a:spcBef>
                <a:spcPts val="0"/>
              </a:spcBef>
              <a:spcAft>
                <a:spcPts val="0"/>
              </a:spcAft>
              <a:buSzPts val="1700"/>
              <a:buChar char="●"/>
              <a:defRPr sz="1700"/>
            </a:lvl1pPr>
            <a:lvl2pPr marL="914400" lvl="1" indent="-32385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500"/>
              <a:buChar char="○"/>
              <a:defRPr sz="1500"/>
            </a:lvl2pPr>
            <a:lvl3pPr marL="1371600" lvl="2" indent="-31750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00"/>
              <a:buChar char="■"/>
              <a:defRPr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292100">
              <a:spcBef>
                <a:spcPts val="1600"/>
              </a:spcBef>
              <a:spcAft>
                <a:spcPts val="0"/>
              </a:spcAft>
              <a:buSzPts val="1000"/>
              <a:buChar char="○"/>
              <a:defRPr sz="1000"/>
            </a:lvl5pPr>
            <a:lvl6pPr marL="2743200" lvl="5" indent="-292100">
              <a:spcBef>
                <a:spcPts val="1600"/>
              </a:spcBef>
              <a:spcAft>
                <a:spcPts val="0"/>
              </a:spcAft>
              <a:buSzPts val="1000"/>
              <a:buChar char="■"/>
              <a:defRPr sz="1000"/>
            </a:lvl6pPr>
            <a:lvl7pPr marL="3200400" lvl="6" indent="-292100">
              <a:spcBef>
                <a:spcPts val="1600"/>
              </a:spcBef>
              <a:spcAft>
                <a:spcPts val="0"/>
              </a:spcAft>
              <a:buSzPts val="1000"/>
              <a:buChar char="●"/>
              <a:defRPr sz="1000"/>
            </a:lvl7pPr>
            <a:lvl8pPr marL="3657600" lvl="7" indent="-292100">
              <a:spcBef>
                <a:spcPts val="1600"/>
              </a:spcBef>
              <a:spcAft>
                <a:spcPts val="0"/>
              </a:spcAft>
              <a:buSzPts val="1000"/>
              <a:buChar char="○"/>
              <a:defRPr sz="1000"/>
            </a:lvl8pPr>
            <a:lvl9pPr marL="4114800" lvl="8" indent="-292100">
              <a:spcBef>
                <a:spcPts val="1600"/>
              </a:spcBef>
              <a:spcAft>
                <a:spcPts val="1600"/>
              </a:spcAft>
              <a:buSzPts val="1000"/>
              <a:buChar char="■"/>
              <a:defRPr sz="1000"/>
            </a:lvl9pPr>
          </a:lstStyle>
          <a:p>
            <a:endParaRPr lang="it-IT" dirty="0"/>
          </a:p>
          <a:p>
            <a:pPr lvl="2"/>
            <a:endParaRPr dirty="0"/>
          </a:p>
        </p:txBody>
      </p:sp>
      <p:sp>
        <p:nvSpPr>
          <p:cNvPr id="24" name="Google Shape;24;p4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body" idx="1"/>
          </p:nvPr>
        </p:nvSpPr>
        <p:spPr>
          <a:xfrm>
            <a:off x="311700" y="1633633"/>
            <a:ext cx="3999900" cy="44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body" idx="2"/>
          </p:nvPr>
        </p:nvSpPr>
        <p:spPr>
          <a:xfrm>
            <a:off x="4832400" y="1633633"/>
            <a:ext cx="3999900" cy="44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6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>
            <a:spLocks noGrp="1"/>
          </p:cNvSpPr>
          <p:nvPr>
            <p:ph type="title"/>
          </p:nvPr>
        </p:nvSpPr>
        <p:spPr>
          <a:xfrm>
            <a:off x="311700" y="740800"/>
            <a:ext cx="2808000" cy="100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body" idx="1"/>
          </p:nvPr>
        </p:nvSpPr>
        <p:spPr>
          <a:xfrm>
            <a:off x="311700" y="1865867"/>
            <a:ext cx="2808000" cy="371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0" y="6727600"/>
            <a:ext cx="9144000" cy="130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8"/>
          <p:cNvSpPr txBox="1">
            <a:spLocks noGrp="1"/>
          </p:cNvSpPr>
          <p:nvPr>
            <p:ph type="title"/>
          </p:nvPr>
        </p:nvSpPr>
        <p:spPr>
          <a:xfrm>
            <a:off x="490250" y="600200"/>
            <a:ext cx="5878800" cy="5454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40" name="Google Shape;40;p8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9"/>
          <p:cNvSpPr/>
          <p:nvPr/>
        </p:nvSpPr>
        <p:spPr>
          <a:xfrm>
            <a:off x="4572000" y="-33"/>
            <a:ext cx="4572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43" name="Google Shape;43;p9"/>
          <p:cNvCxnSpPr/>
          <p:nvPr/>
        </p:nvCxnSpPr>
        <p:spPr>
          <a:xfrm>
            <a:off x="5029675" y="5994000"/>
            <a:ext cx="4683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4" name="Google Shape;44;p9"/>
          <p:cNvSpPr txBox="1">
            <a:spLocks noGrp="1"/>
          </p:cNvSpPr>
          <p:nvPr>
            <p:ph type="title"/>
          </p:nvPr>
        </p:nvSpPr>
        <p:spPr>
          <a:xfrm>
            <a:off x="265500" y="1239033"/>
            <a:ext cx="4045200" cy="2381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45" name="Google Shape;45;p9"/>
          <p:cNvSpPr txBox="1">
            <a:spLocks noGrp="1"/>
          </p:cNvSpPr>
          <p:nvPr>
            <p:ph type="subTitle" idx="1"/>
          </p:nvPr>
        </p:nvSpPr>
        <p:spPr>
          <a:xfrm>
            <a:off x="265500" y="3692001"/>
            <a:ext cx="4045200" cy="209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46" name="Google Shape;46;p9"/>
          <p:cNvSpPr txBox="1">
            <a:spLocks noGrp="1"/>
          </p:cNvSpPr>
          <p:nvPr>
            <p:ph type="body" idx="2"/>
          </p:nvPr>
        </p:nvSpPr>
        <p:spPr>
          <a:xfrm>
            <a:off x="4939500" y="965600"/>
            <a:ext cx="3837000" cy="4926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" name="Google Shape;47;p9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0"/>
          <p:cNvSpPr txBox="1">
            <a:spLocks noGrp="1"/>
          </p:cNvSpPr>
          <p:nvPr>
            <p:ph type="body" idx="1"/>
          </p:nvPr>
        </p:nvSpPr>
        <p:spPr>
          <a:xfrm>
            <a:off x="319500" y="5625233"/>
            <a:ext cx="5998800" cy="79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</a:lstStyle>
          <a:p>
            <a:endParaRPr/>
          </a:p>
        </p:txBody>
      </p:sp>
      <p:sp>
        <p:nvSpPr>
          <p:cNvPr id="50" name="Google Shape;50;p10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1"/>
          <p:cNvSpPr/>
          <p:nvPr/>
        </p:nvSpPr>
        <p:spPr>
          <a:xfrm>
            <a:off x="0" y="6727600"/>
            <a:ext cx="9144000" cy="130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276167"/>
            <a:ext cx="8520600" cy="283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4" name="Google Shape;54;p11"/>
          <p:cNvSpPr txBox="1">
            <a:spLocks noGrp="1"/>
          </p:cNvSpPr>
          <p:nvPr>
            <p:ph type="body" idx="1"/>
          </p:nvPr>
        </p:nvSpPr>
        <p:spPr>
          <a:xfrm>
            <a:off x="311700" y="4216000"/>
            <a:ext cx="8520600" cy="142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5" name="Google Shape;55;p11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luxe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633633"/>
            <a:ext cx="8520600" cy="447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  <a:defRPr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 dirty="0"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60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3"/>
          <p:cNvSpPr txBox="1">
            <a:spLocks noGrp="1"/>
          </p:cNvSpPr>
          <p:nvPr>
            <p:ph type="ctrTitle"/>
          </p:nvPr>
        </p:nvSpPr>
        <p:spPr>
          <a:xfrm>
            <a:off x="2888012" y="1937550"/>
            <a:ext cx="3367975" cy="204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/>
              <a:t>Policy</a:t>
            </a:r>
            <a:br>
              <a:rPr lang="en-GB"/>
            </a:br>
            <a:r>
              <a:rPr lang="en-GB"/>
              <a:t>Evaluation</a:t>
            </a:r>
            <a:endParaRPr lang="en-GB" dirty="0"/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15B4D833-F59D-26E4-3DCB-AF8E72E5F3AE}"/>
              </a:ext>
            </a:extLst>
          </p:cNvPr>
          <p:cNvSpPr txBox="1"/>
          <p:nvPr/>
        </p:nvSpPr>
        <p:spPr>
          <a:xfrm>
            <a:off x="10456606" y="8377084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GB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Objectives</a:t>
            </a:r>
            <a:endParaRPr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311700" y="1533636"/>
            <a:ext cx="8520600" cy="458581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sz="1800" dirty="0"/>
              <a:t>Immediate and long-term goals</a:t>
            </a:r>
          </a:p>
          <a:p>
            <a:pPr lvl="0"/>
            <a:r>
              <a:rPr lang="en-GB" sz="1800" dirty="0"/>
              <a:t>Reward, Return and Value functions</a:t>
            </a:r>
          </a:p>
          <a:p>
            <a:r>
              <a:rPr lang="en-GB" sz="1800" dirty="0"/>
              <a:t>Random Walk Environment</a:t>
            </a:r>
          </a:p>
          <a:p>
            <a:pPr lvl="0"/>
            <a:r>
              <a:rPr lang="en-GB" sz="1800" dirty="0"/>
              <a:t>Monte Carlo prediction (MC)</a:t>
            </a:r>
          </a:p>
          <a:p>
            <a:pPr lvl="0"/>
            <a:r>
              <a:rPr lang="en-GB" sz="1800" dirty="0"/>
              <a:t>Temporal-Difference Learning (TD)</a:t>
            </a:r>
          </a:p>
          <a:p>
            <a:pPr lvl="0"/>
            <a:r>
              <a:rPr lang="en-GB" sz="1800" dirty="0"/>
              <a:t>n-steps TD </a:t>
            </a:r>
          </a:p>
          <a:p>
            <a:pPr lvl="0"/>
            <a:r>
              <a:rPr lang="en-GB" sz="1800" dirty="0"/>
              <a:t>TD(𝜆)</a:t>
            </a:r>
          </a:p>
          <a:p>
            <a:pPr lvl="0"/>
            <a:r>
              <a:rPr lang="en-GB" sz="1800" dirty="0"/>
              <a:t>Backward-view TD(𝜆)</a:t>
            </a:r>
          </a:p>
          <a:p>
            <a:pPr lvl="0"/>
            <a:r>
              <a:rPr lang="en-GB" sz="1800" dirty="0"/>
              <a:t>Comparison</a:t>
            </a:r>
          </a:p>
          <a:p>
            <a:pPr lvl="0"/>
            <a:endParaRPr lang="en-GB" sz="1800" dirty="0"/>
          </a:p>
          <a:p>
            <a:pPr lvl="0"/>
            <a:endParaRPr lang="en-GB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sz="4000" dirty="0"/>
              <a:t>Immediate and long-term goals</a:t>
            </a:r>
            <a:endParaRPr sz="4000"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162750" y="1150989"/>
            <a:ext cx="8818500" cy="528577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Balancing </a:t>
            </a:r>
            <a:r>
              <a:rPr lang="en-GB" b="1" dirty="0"/>
              <a:t>immediate</a:t>
            </a:r>
            <a:r>
              <a:rPr lang="en-GB" dirty="0"/>
              <a:t> and </a:t>
            </a:r>
            <a:r>
              <a:rPr lang="en-GB" b="1" dirty="0"/>
              <a:t>long-term goals </a:t>
            </a:r>
            <a:r>
              <a:rPr lang="en-GB" dirty="0"/>
              <a:t>is challenging</a:t>
            </a:r>
          </a:p>
          <a:p>
            <a:pPr lvl="1"/>
            <a:r>
              <a:rPr lang="en-GB" dirty="0"/>
              <a:t>should I watch Netflix tonight?</a:t>
            </a:r>
          </a:p>
          <a:p>
            <a:pPr lvl="2"/>
            <a:r>
              <a:rPr lang="en-GB" dirty="0"/>
              <a:t>immediate satisfaction</a:t>
            </a:r>
          </a:p>
          <a:p>
            <a:pPr lvl="1"/>
            <a:r>
              <a:rPr lang="en-GB" dirty="0"/>
              <a:t>keep studying reinforcement learning? </a:t>
            </a:r>
          </a:p>
          <a:p>
            <a:pPr lvl="2"/>
            <a:r>
              <a:rPr lang="en-GB" dirty="0"/>
              <a:t>maybe (and only maybe) will provide much higher satisfaction in the long term</a:t>
            </a:r>
          </a:p>
          <a:p>
            <a:r>
              <a:rPr lang="en-GB" dirty="0"/>
              <a:t>How much more satisfaction exactly? </a:t>
            </a:r>
          </a:p>
          <a:p>
            <a:pPr lvl="1"/>
            <a:r>
              <a:rPr lang="en-GB" dirty="0"/>
              <a:t>I don’t know, you don’t know, and we won’t know </a:t>
            </a:r>
            <a:r>
              <a:rPr lang="en-GB" b="1" dirty="0"/>
              <a:t>unless we try it out</a:t>
            </a:r>
            <a:r>
              <a:rPr lang="en-GB" dirty="0"/>
              <a:t>, unless we </a:t>
            </a:r>
            <a:r>
              <a:rPr lang="en-GB" b="1" dirty="0"/>
              <a:t>explore</a:t>
            </a:r>
            <a:r>
              <a:rPr lang="en-GB" dirty="0"/>
              <a:t> it</a:t>
            </a:r>
          </a:p>
          <a:p>
            <a:r>
              <a:rPr lang="en-GB" dirty="0"/>
              <a:t>Life doesn’t give us its MDP transition function! </a:t>
            </a:r>
          </a:p>
          <a:p>
            <a:pPr lvl="1"/>
            <a:r>
              <a:rPr lang="en-GB" dirty="0"/>
              <a:t>we need to balance information gathering and information utilization (exploration- exploitation trade-off)</a:t>
            </a:r>
          </a:p>
          <a:p>
            <a:pPr lvl="1"/>
            <a:r>
              <a:rPr lang="en-GB" dirty="0"/>
              <a:t>considering </a:t>
            </a:r>
            <a:r>
              <a:rPr lang="en-GB" b="1" dirty="0"/>
              <a:t>long-term effect </a:t>
            </a:r>
            <a:r>
              <a:rPr lang="en-GB" dirty="0"/>
              <a:t>and </a:t>
            </a:r>
            <a:r>
              <a:rPr lang="en-GB" b="1" dirty="0"/>
              <a:t>not only the current situation </a:t>
            </a:r>
          </a:p>
          <a:p>
            <a:pPr lvl="1"/>
            <a:endParaRPr lang="en-GB" sz="500" dirty="0"/>
          </a:p>
          <a:p>
            <a:r>
              <a:rPr lang="en-GB" dirty="0"/>
              <a:t>We need agents that can learn to </a:t>
            </a:r>
            <a:r>
              <a:rPr lang="en-GB" b="1" dirty="0"/>
              <a:t>estimate the value of policies</a:t>
            </a:r>
          </a:p>
          <a:p>
            <a:pPr lvl="1"/>
            <a:r>
              <a:rPr lang="en-GB" dirty="0"/>
              <a:t>like the policy-evaluation method of Dynamic Programming</a:t>
            </a:r>
          </a:p>
          <a:p>
            <a:pPr lvl="1"/>
            <a:r>
              <a:rPr lang="en-GB" dirty="0"/>
              <a:t>this time without the MDP</a:t>
            </a:r>
            <a:endParaRPr lang="en-GB" b="1" dirty="0"/>
          </a:p>
          <a:p>
            <a:pPr marL="590550" lvl="1" indent="0">
              <a:buNone/>
            </a:pPr>
            <a:endParaRPr lang="en-GB" dirty="0"/>
          </a:p>
          <a:p>
            <a:pPr lvl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567073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Reward, Return and Value functions</a:t>
            </a:r>
            <a:endParaRPr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311700" y="1234697"/>
            <a:ext cx="8520600" cy="520207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sz="1800" b="1" dirty="0"/>
              <a:t>Reward</a:t>
            </a:r>
            <a:r>
              <a:rPr lang="en-GB" sz="1800" dirty="0"/>
              <a:t>: the one-step signal the agent gets</a:t>
            </a:r>
          </a:p>
          <a:p>
            <a:pPr lvl="1"/>
            <a:r>
              <a:rPr lang="en-GB" sz="1600" dirty="0"/>
              <a:t>agent observes a state, selects an action, and receives a reward signal</a:t>
            </a:r>
          </a:p>
          <a:p>
            <a:pPr lvl="1"/>
            <a:r>
              <a:rPr lang="en-GB" sz="1600" dirty="0"/>
              <a:t>not what the agent is trying to maximize</a:t>
            </a:r>
          </a:p>
          <a:p>
            <a:pPr lvl="1"/>
            <a:r>
              <a:rPr lang="en-GB" sz="1600" dirty="0"/>
              <a:t>if agent maximizes reward, in the long-term, it’s getting less than it could</a:t>
            </a:r>
          </a:p>
          <a:p>
            <a:r>
              <a:rPr lang="en-GB" sz="1800" b="1" dirty="0"/>
              <a:t>Return</a:t>
            </a:r>
            <a:r>
              <a:rPr lang="en-GB" sz="1800" dirty="0"/>
              <a:t>: the total discounted rewards</a:t>
            </a:r>
          </a:p>
          <a:p>
            <a:pPr lvl="1"/>
            <a:r>
              <a:rPr lang="en-GB" sz="1600" dirty="0"/>
              <a:t>how much reward the agent obtains in an episode</a:t>
            </a:r>
          </a:p>
          <a:p>
            <a:pPr lvl="1"/>
            <a:r>
              <a:rPr lang="en-GB" sz="1600" dirty="0"/>
              <a:t>a better indicators of performance: it contains a long-term sequence</a:t>
            </a:r>
          </a:p>
          <a:p>
            <a:pPr lvl="1"/>
            <a:r>
              <a:rPr lang="en-GB" sz="1600" dirty="0"/>
              <a:t>isn’t what an agent tries to maximize </a:t>
            </a:r>
          </a:p>
          <a:p>
            <a:pPr lvl="1"/>
            <a:r>
              <a:rPr lang="en-GB" sz="1600" dirty="0"/>
              <a:t>if agent maximizes return, it may find a policy that takes it through a noisy path: sometimes this path will provide a high return, but perhaps most of the time a low one</a:t>
            </a:r>
          </a:p>
          <a:p>
            <a:r>
              <a:rPr lang="en-GB" sz="1800" b="1" dirty="0"/>
              <a:t>Value function</a:t>
            </a:r>
            <a:r>
              <a:rPr lang="en-GB" sz="1800" dirty="0"/>
              <a:t>: the </a:t>
            </a:r>
            <a:r>
              <a:rPr lang="en-GB" sz="1800" b="1" dirty="0"/>
              <a:t>expectation</a:t>
            </a:r>
            <a:r>
              <a:rPr lang="en-GB" sz="1800" dirty="0"/>
              <a:t> of returns </a:t>
            </a:r>
          </a:p>
          <a:p>
            <a:pPr lvl="1"/>
            <a:r>
              <a:rPr lang="en-GB" sz="1600" dirty="0"/>
              <a:t>we want high returns, but high in expectation (on average)</a:t>
            </a:r>
          </a:p>
          <a:p>
            <a:pPr lvl="1"/>
            <a:r>
              <a:rPr lang="en-GB" sz="1600" dirty="0"/>
              <a:t>agent must maximize the expected total discounted reward</a:t>
            </a:r>
          </a:p>
          <a:p>
            <a:pPr lvl="0"/>
            <a:endParaRPr lang="en-GB" sz="1800" dirty="0"/>
          </a:p>
          <a:p>
            <a:pPr lvl="0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468537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Random Walk Environment</a:t>
            </a:r>
            <a:endParaRPr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311700" y="1114071"/>
            <a:ext cx="8520600" cy="532269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sz="1800" dirty="0"/>
              <a:t>A </a:t>
            </a:r>
            <a:r>
              <a:rPr lang="en-GB" sz="1800" b="1" dirty="0"/>
              <a:t>single-row grid-world</a:t>
            </a:r>
            <a:r>
              <a:rPr lang="en-GB" sz="1800" dirty="0"/>
              <a:t> environment</a:t>
            </a:r>
          </a:p>
          <a:p>
            <a:pPr lvl="0"/>
            <a:endParaRPr lang="en-GB" sz="1800" dirty="0"/>
          </a:p>
          <a:p>
            <a:pPr lvl="0"/>
            <a:endParaRPr lang="en-GB" sz="1800" dirty="0"/>
          </a:p>
          <a:p>
            <a:pPr lvl="0"/>
            <a:endParaRPr lang="en-GB" sz="1800" dirty="0"/>
          </a:p>
          <a:p>
            <a:pPr lvl="0"/>
            <a:endParaRPr lang="en-GB" sz="1800" dirty="0"/>
          </a:p>
          <a:p>
            <a:pPr lvl="0"/>
            <a:endParaRPr lang="en-GB" sz="1600" dirty="0"/>
          </a:p>
          <a:p>
            <a:pPr lvl="0"/>
            <a:endParaRPr lang="en-GB" sz="1800" dirty="0"/>
          </a:p>
          <a:p>
            <a:pPr lvl="0"/>
            <a:endParaRPr lang="en-GB" sz="1200" dirty="0"/>
          </a:p>
          <a:p>
            <a:pPr lvl="1"/>
            <a:r>
              <a:rPr lang="en-GB" sz="1600" dirty="0"/>
              <a:t>five non-terminal states</a:t>
            </a:r>
          </a:p>
          <a:p>
            <a:pPr lvl="1"/>
            <a:r>
              <a:rPr lang="en-GB" sz="1600" dirty="0"/>
              <a:t>the agent has no control of where it goes! </a:t>
            </a:r>
          </a:p>
          <a:p>
            <a:pPr lvl="2"/>
            <a:r>
              <a:rPr lang="en-GB" sz="1500" dirty="0"/>
              <a:t>probability of going left is equal to the probability of going right </a:t>
            </a:r>
            <a:endParaRPr lang="en-GB" sz="1600" dirty="0"/>
          </a:p>
          <a:p>
            <a:pPr lvl="1"/>
            <a:r>
              <a:rPr lang="en-GB" sz="1600" dirty="0"/>
              <a:t>the goal is to estimate the expected total discounted reward the agent can obtain given these circumstances </a:t>
            </a:r>
          </a:p>
          <a:p>
            <a:pPr lvl="1"/>
            <a:endParaRPr lang="en-GB" sz="100" dirty="0"/>
          </a:p>
          <a:p>
            <a:pPr lvl="0"/>
            <a:r>
              <a:rPr lang="en-GB" sz="1800" dirty="0"/>
              <a:t>Useful when focusing on the </a:t>
            </a:r>
            <a:r>
              <a:rPr lang="en-GB" sz="1800" b="1" dirty="0"/>
              <a:t>evaluation problem</a:t>
            </a:r>
          </a:p>
          <a:p>
            <a:pPr lvl="1"/>
            <a:r>
              <a:rPr lang="en-GB" sz="1600" dirty="0"/>
              <a:t>the dynamics of the environment make policy being evaluated irrelevant</a:t>
            </a:r>
            <a:endParaRPr lang="en-GB" sz="1800" dirty="0"/>
          </a:p>
          <a:p>
            <a:pPr lvl="0"/>
            <a:endParaRPr lang="en-GB" dirty="0"/>
          </a:p>
        </p:txBody>
      </p:sp>
      <p:pic>
        <p:nvPicPr>
          <p:cNvPr id="2" name="Immagine 1" descr="Immagine che contiene Carattere, Elementi grafici, logo, cerchio&#10;&#10;Descrizione generata automaticamente">
            <a:extLst>
              <a:ext uri="{FF2B5EF4-FFF2-40B4-BE49-F238E27FC236}">
                <a16:creationId xmlns:a16="http://schemas.microsoft.com/office/drawing/2014/main" id="{79779214-B528-1A7E-37B9-F4C598B9B3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61328" y="65196"/>
            <a:ext cx="407258" cy="495579"/>
          </a:xfrm>
          <a:prstGeom prst="rect">
            <a:avLst/>
          </a:prstGeom>
        </p:spPr>
      </p:pic>
      <p:pic>
        <p:nvPicPr>
          <p:cNvPr id="3" name="Immagine 2">
            <a:extLst>
              <a:ext uri="{FF2B5EF4-FFF2-40B4-BE49-F238E27FC236}">
                <a16:creationId xmlns:a16="http://schemas.microsoft.com/office/drawing/2014/main" id="{9ACF8E5E-C190-D74A-0430-2893E30A9E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8936" y="1580019"/>
            <a:ext cx="6446376" cy="2053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19124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Monte Carlo prediction (1) </a:t>
            </a:r>
            <a:endParaRPr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311700" y="1234697"/>
            <a:ext cx="8520600" cy="520207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sz="1800" dirty="0"/>
              <a:t>The goal is to estimate the state-value function 𝑣</a:t>
            </a:r>
            <a:r>
              <a:rPr lang="en-GB" sz="1800" baseline="-25000" dirty="0"/>
              <a:t>𝜋</a:t>
            </a:r>
            <a:r>
              <a:rPr lang="en-GB" sz="1800" dirty="0"/>
              <a:t>(𝑠) of a policy 𝜋:</a:t>
            </a:r>
          </a:p>
          <a:p>
            <a:pPr lvl="0"/>
            <a:endParaRPr lang="en-GB" sz="1800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r>
              <a:rPr lang="en-GB" dirty="0"/>
              <a:t>We can run several episodes, collect hundreds of trajectories and then calculate averages for every state</a:t>
            </a:r>
          </a:p>
          <a:p>
            <a:pPr lvl="1"/>
            <a:r>
              <a:rPr lang="en-GB" dirty="0"/>
              <a:t>agent interacts with the environment using the policy until a terminal state</a:t>
            </a:r>
          </a:p>
          <a:p>
            <a:pPr lvl="1"/>
            <a:r>
              <a:rPr lang="en-GB" dirty="0"/>
              <a:t>the collection of  (𝑆</a:t>
            </a:r>
            <a:r>
              <a:rPr lang="en-GB" baseline="-25000" dirty="0"/>
              <a:t>𝑡</a:t>
            </a:r>
            <a:r>
              <a:rPr lang="en-GB" dirty="0"/>
              <a:t>, 𝐴</a:t>
            </a:r>
            <a:r>
              <a:rPr lang="en-GB" baseline="-25000" dirty="0"/>
              <a:t>𝑡</a:t>
            </a:r>
            <a:r>
              <a:rPr lang="en-GB" dirty="0"/>
              <a:t>, 𝑅</a:t>
            </a:r>
            <a:r>
              <a:rPr lang="en-GB" baseline="-25000" dirty="0"/>
              <a:t>𝑡+1</a:t>
            </a:r>
            <a:r>
              <a:rPr lang="en-GB" dirty="0"/>
              <a:t>, 𝑆</a:t>
            </a:r>
            <a:r>
              <a:rPr lang="en-GB" baseline="-25000" dirty="0"/>
              <a:t>𝑡+1</a:t>
            </a:r>
            <a:r>
              <a:rPr lang="en-GB" dirty="0"/>
              <a:t>) is called an </a:t>
            </a:r>
            <a:r>
              <a:rPr lang="en-GB" b="1" dirty="0"/>
              <a:t>experience</a:t>
            </a:r>
            <a:r>
              <a:rPr lang="en-GB" dirty="0"/>
              <a:t> tuple</a:t>
            </a:r>
          </a:p>
          <a:p>
            <a:pPr lvl="1"/>
            <a:r>
              <a:rPr lang="en-GB" dirty="0"/>
              <a:t>a sequence of experiences is called a </a:t>
            </a:r>
            <a:r>
              <a:rPr lang="en-GB" b="1" dirty="0"/>
              <a:t>trajectory</a:t>
            </a:r>
            <a:endParaRPr lang="en-GB" dirty="0"/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4A865457-8BB4-06C5-1804-6FFE38CF71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479" y="1810657"/>
            <a:ext cx="2247900" cy="330200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5E73E738-F385-77B2-D4E9-069E0EAD5E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1679" y="4399713"/>
            <a:ext cx="2095500" cy="1765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36561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Monte Carlo prediction (2) </a:t>
            </a:r>
            <a:endParaRPr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311700" y="1234697"/>
            <a:ext cx="8520600" cy="520207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sz="1800" dirty="0"/>
              <a:t>Once we have a trajectory, we can calculate the return</a:t>
            </a:r>
            <a:endParaRPr lang="en-GB" sz="1800" baseline="-25000" dirty="0"/>
          </a:p>
          <a:p>
            <a:pPr lvl="0"/>
            <a:endParaRPr lang="en-GB" sz="1800" dirty="0"/>
          </a:p>
          <a:p>
            <a:pPr lvl="0"/>
            <a:endParaRPr lang="en-GB" sz="1800" dirty="0"/>
          </a:p>
          <a:p>
            <a:pPr lvl="0"/>
            <a:r>
              <a:rPr lang="en-GB" sz="1800" dirty="0"/>
              <a:t>Then, add up the per-state returns and increment a count</a:t>
            </a:r>
          </a:p>
          <a:p>
            <a:pPr lvl="0"/>
            <a:endParaRPr lang="en-GB" sz="1800" dirty="0"/>
          </a:p>
          <a:p>
            <a:pPr lvl="0"/>
            <a:endParaRPr lang="en-GB" sz="1800" dirty="0"/>
          </a:p>
          <a:p>
            <a:pPr lvl="0"/>
            <a:endParaRPr lang="en-GB" sz="1800" dirty="0"/>
          </a:p>
          <a:p>
            <a:pPr lvl="0"/>
            <a:endParaRPr lang="en-GB" sz="1800" dirty="0"/>
          </a:p>
          <a:p>
            <a:pPr lvl="0"/>
            <a:r>
              <a:rPr lang="en-GB" sz="1800" dirty="0"/>
              <a:t>Finally, we can </a:t>
            </a:r>
            <a:r>
              <a:rPr lang="en-GB" sz="1800" b="1" dirty="0"/>
              <a:t>estimate the expectation</a:t>
            </a:r>
            <a:r>
              <a:rPr lang="en-GB" sz="1800" dirty="0"/>
              <a:t> using the </a:t>
            </a:r>
            <a:r>
              <a:rPr lang="en-GB" sz="1800" b="1" dirty="0"/>
              <a:t>empirical mean </a:t>
            </a:r>
            <a:r>
              <a:rPr lang="en-GB" sz="1800" dirty="0"/>
              <a:t>(also incrementally)</a:t>
            </a:r>
          </a:p>
          <a:p>
            <a:pPr lvl="0"/>
            <a:endParaRPr lang="en-GB" sz="1800" b="1" dirty="0"/>
          </a:p>
          <a:p>
            <a:pPr lvl="0"/>
            <a:endParaRPr lang="en-GB" sz="1800" b="1" dirty="0"/>
          </a:p>
          <a:p>
            <a:pPr lvl="0"/>
            <a:endParaRPr lang="en-GB" sz="1800" dirty="0"/>
          </a:p>
          <a:p>
            <a:pPr lvl="0"/>
            <a:r>
              <a:rPr lang="en-GB" sz="1800" dirty="0"/>
              <a:t>As the counts approach infinity, the estimate will approach the true value</a:t>
            </a:r>
          </a:p>
          <a:p>
            <a:pPr lvl="0"/>
            <a:endParaRPr lang="en-GB" sz="1800" dirty="0"/>
          </a:p>
          <a:p>
            <a:pPr lvl="0"/>
            <a:endParaRPr lang="en-GB" sz="1800" dirty="0"/>
          </a:p>
          <a:p>
            <a:pPr lvl="0"/>
            <a:endParaRPr lang="en-GB" dirty="0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10904DD7-F14C-F913-00D7-B6C998737C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136" y="1734683"/>
            <a:ext cx="3251200" cy="393700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CA43B1AC-2C49-1A97-C1AA-E8D4AF4442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136" y="5815071"/>
            <a:ext cx="2832100" cy="368300"/>
          </a:xfrm>
          <a:prstGeom prst="rect">
            <a:avLst/>
          </a:prstGeom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91C3D34B-48C4-B8E9-FE66-54E3C89F23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6936" y="2854429"/>
            <a:ext cx="2058921" cy="713603"/>
          </a:xfrm>
          <a:prstGeom prst="rect">
            <a:avLst/>
          </a:prstGeom>
        </p:spPr>
      </p:pic>
      <p:pic>
        <p:nvPicPr>
          <p:cNvPr id="12" name="Immagine 11">
            <a:extLst>
              <a:ext uri="{FF2B5EF4-FFF2-40B4-BE49-F238E27FC236}">
                <a16:creationId xmlns:a16="http://schemas.microsoft.com/office/drawing/2014/main" id="{9AE8F587-072C-1FE4-6797-282ED00DDF1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3136" y="4621564"/>
            <a:ext cx="1592862" cy="713602"/>
          </a:xfrm>
          <a:prstGeom prst="rect">
            <a:avLst/>
          </a:prstGeom>
        </p:spPr>
      </p:pic>
      <p:pic>
        <p:nvPicPr>
          <p:cNvPr id="4" name="Immagine 3">
            <a:extLst>
              <a:ext uri="{FF2B5EF4-FFF2-40B4-BE49-F238E27FC236}">
                <a16:creationId xmlns:a16="http://schemas.microsoft.com/office/drawing/2014/main" id="{49488C78-CF5E-2AF1-86CC-8E6052D1619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67434" y="4610399"/>
            <a:ext cx="3052103" cy="665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16774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311700" y="1072469"/>
            <a:ext cx="8603700" cy="550531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sz="1800" dirty="0"/>
              <a:t>We can replace the mean for a </a:t>
            </a:r>
            <a:r>
              <a:rPr lang="en-GB" sz="1800" b="1" dirty="0"/>
              <a:t>learning rate</a:t>
            </a:r>
            <a:endParaRPr lang="en-GB" sz="1800" dirty="0"/>
          </a:p>
          <a:p>
            <a:pPr marL="120650" lvl="0" indent="0">
              <a:buNone/>
            </a:pPr>
            <a:endParaRPr lang="en-GB" sz="1100" dirty="0"/>
          </a:p>
          <a:p>
            <a:pPr marL="120650" lvl="0" indent="0">
              <a:buNone/>
            </a:pPr>
            <a:endParaRPr lang="en-GB" sz="1600" dirty="0"/>
          </a:p>
          <a:p>
            <a:pPr lvl="1"/>
            <a:r>
              <a:rPr lang="en-GB" sz="1600" dirty="0"/>
              <a:t>𝐺</a:t>
            </a:r>
            <a:r>
              <a:rPr lang="en-GB" sz="1600" baseline="-25000" dirty="0"/>
              <a:t>𝑡:𝑇</a:t>
            </a:r>
            <a:r>
              <a:rPr lang="en-GB" sz="1600" dirty="0"/>
              <a:t> is the </a:t>
            </a:r>
            <a:r>
              <a:rPr lang="en-GB" sz="1600" b="1" dirty="0"/>
              <a:t>MC target </a:t>
            </a:r>
          </a:p>
          <a:p>
            <a:pPr lvl="1"/>
            <a:r>
              <a:rPr lang="en-GB" sz="1600" dirty="0"/>
              <a:t>𝐺</a:t>
            </a:r>
            <a:r>
              <a:rPr lang="en-GB" sz="1600" baseline="-25000" dirty="0"/>
              <a:t>𝑡:𝑇 </a:t>
            </a:r>
            <a:r>
              <a:rPr lang="en-GB" sz="1600" dirty="0"/>
              <a:t>− 𝑉(𝑆</a:t>
            </a:r>
            <a:r>
              <a:rPr lang="en-GB" sz="1600" baseline="-25000" dirty="0"/>
              <a:t>𝑡</a:t>
            </a:r>
            <a:r>
              <a:rPr lang="en-GB" sz="1600" dirty="0"/>
              <a:t>)  is the </a:t>
            </a:r>
            <a:r>
              <a:rPr lang="en-GB" sz="1600" b="1" dirty="0"/>
              <a:t>MC error</a:t>
            </a:r>
          </a:p>
          <a:p>
            <a:pPr lvl="1"/>
            <a:endParaRPr lang="en-GB" sz="1600" b="1" dirty="0"/>
          </a:p>
          <a:p>
            <a:pPr lvl="1"/>
            <a:endParaRPr lang="en-GB" sz="1600" b="1" dirty="0"/>
          </a:p>
          <a:p>
            <a:pPr lvl="1"/>
            <a:endParaRPr lang="en-GB" sz="1600" b="1" dirty="0"/>
          </a:p>
          <a:p>
            <a:pPr lvl="1"/>
            <a:endParaRPr lang="en-GB" sz="1600" b="1" dirty="0"/>
          </a:p>
          <a:p>
            <a:pPr lvl="1"/>
            <a:endParaRPr lang="en-GB" sz="1600" b="1" dirty="0"/>
          </a:p>
          <a:p>
            <a:pPr lvl="1"/>
            <a:endParaRPr lang="en-GB" sz="1600" b="1" dirty="0"/>
          </a:p>
          <a:p>
            <a:pPr lvl="1"/>
            <a:endParaRPr lang="en-GB" sz="1600" b="1" dirty="0"/>
          </a:p>
          <a:p>
            <a:pPr lvl="1"/>
            <a:endParaRPr lang="en-GB" sz="700" b="1" dirty="0"/>
          </a:p>
          <a:p>
            <a:r>
              <a:rPr lang="en-GB" sz="1800" dirty="0"/>
              <a:t>Notice that V is calculated </a:t>
            </a:r>
            <a:r>
              <a:rPr lang="en-GB" sz="1800" b="1" dirty="0"/>
              <a:t>only at the end of an episode</a:t>
            </a:r>
          </a:p>
          <a:p>
            <a:pPr lvl="1"/>
            <a:r>
              <a:rPr lang="en-GB" sz="1600" dirty="0"/>
              <a:t>because the returns depends on it</a:t>
            </a:r>
          </a:p>
          <a:p>
            <a:pPr lvl="0"/>
            <a:endParaRPr lang="en-GB" sz="1800" dirty="0"/>
          </a:p>
          <a:p>
            <a:pPr lvl="0"/>
            <a:endParaRPr lang="en-GB" dirty="0"/>
          </a:p>
        </p:txBody>
      </p:sp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Monte Carlo prediction (3) </a:t>
            </a:r>
            <a:endParaRPr dirty="0"/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B25C01C4-4ADD-A245-63AE-029C0B22E7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1505707"/>
            <a:ext cx="3390900" cy="469900"/>
          </a:xfrm>
          <a:prstGeom prst="rect">
            <a:avLst/>
          </a:prstGeom>
        </p:spPr>
      </p:pic>
      <p:pic>
        <p:nvPicPr>
          <p:cNvPr id="2" name="Immagine 1">
            <a:extLst>
              <a:ext uri="{FF2B5EF4-FFF2-40B4-BE49-F238E27FC236}">
                <a16:creationId xmlns:a16="http://schemas.microsoft.com/office/drawing/2014/main" id="{37DDBB29-B59A-833F-168F-A2132EC8FA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5037" y="2827706"/>
            <a:ext cx="7977263" cy="2852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50279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Monte Carlo prediction (4) </a:t>
            </a:r>
            <a:endParaRPr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311700" y="1228215"/>
            <a:ext cx="8520600" cy="506028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sz="1800" dirty="0"/>
              <a:t>The learning value can be time dependant </a:t>
            </a:r>
          </a:p>
          <a:p>
            <a:pPr lvl="1"/>
            <a:r>
              <a:rPr lang="en-GB" sz="1600" dirty="0"/>
              <a:t>this </a:t>
            </a:r>
            <a:r>
              <a:rPr lang="en-GB" sz="1600" b="1" dirty="0"/>
              <a:t>hyperparameter</a:t>
            </a:r>
            <a:r>
              <a:rPr lang="en-GB" sz="1600" dirty="0"/>
              <a:t> is essential</a:t>
            </a:r>
          </a:p>
          <a:p>
            <a:pPr lvl="1"/>
            <a:r>
              <a:rPr lang="en-GB" sz="1600" dirty="0"/>
              <a:t>a constant alpha helps with learning in non-stationary environments</a:t>
            </a:r>
          </a:p>
          <a:p>
            <a:pPr lvl="1"/>
            <a:r>
              <a:rPr lang="en-GB" sz="1600" dirty="0"/>
              <a:t>we can decay alpha to show convergence</a:t>
            </a:r>
          </a:p>
          <a:p>
            <a:pPr lvl="0"/>
            <a:endParaRPr lang="en-GB" sz="900" dirty="0"/>
          </a:p>
          <a:p>
            <a:pPr lvl="0"/>
            <a:r>
              <a:rPr lang="en-GB" sz="1800" dirty="0"/>
              <a:t>A single trajectory may contain </a:t>
            </a:r>
            <a:r>
              <a:rPr lang="en-GB" sz="1800" b="1" dirty="0"/>
              <a:t>multiple visits</a:t>
            </a:r>
            <a:r>
              <a:rPr lang="en-GB" sz="1800" dirty="0"/>
              <a:t> to the same state</a:t>
            </a:r>
          </a:p>
          <a:p>
            <a:pPr lvl="1"/>
            <a:r>
              <a:rPr lang="en-GB" sz="1600" dirty="0"/>
              <a:t>should we calculate the returns following each of those visits independently?</a:t>
            </a:r>
          </a:p>
          <a:p>
            <a:pPr lvl="1"/>
            <a:r>
              <a:rPr lang="en-GB" sz="1600" dirty="0"/>
              <a:t>should we only use the first visit to each state? </a:t>
            </a:r>
          </a:p>
          <a:p>
            <a:pPr lvl="1"/>
            <a:endParaRPr lang="en-GB" sz="400" dirty="0"/>
          </a:p>
          <a:p>
            <a:r>
              <a:rPr lang="en-GB" sz="1800" dirty="0"/>
              <a:t>Both are valid approaches, and they have similar theoretical properties</a:t>
            </a:r>
          </a:p>
          <a:p>
            <a:pPr lvl="1"/>
            <a:r>
              <a:rPr lang="en-GB" sz="1600" dirty="0"/>
              <a:t>the more standard version is </a:t>
            </a:r>
            <a:r>
              <a:rPr lang="en-GB" sz="1600" b="1" dirty="0"/>
              <a:t>First-Visit Monte Carlo (FVMC)</a:t>
            </a:r>
          </a:p>
          <a:p>
            <a:pPr lvl="2"/>
            <a:r>
              <a:rPr lang="en-GB" sz="1500" dirty="0"/>
              <a:t>convergence properties are easy to justify</a:t>
            </a:r>
          </a:p>
          <a:p>
            <a:pPr lvl="1"/>
            <a:r>
              <a:rPr lang="en-GB" sz="1600" b="1" dirty="0"/>
              <a:t>Every-visit Monte Carlo (EVMC)</a:t>
            </a:r>
          </a:p>
          <a:p>
            <a:pPr lvl="2"/>
            <a:r>
              <a:rPr lang="en-GB" sz="1500" dirty="0"/>
              <a:t>proven to converge also</a:t>
            </a:r>
          </a:p>
          <a:p>
            <a:pPr marL="120650" lvl="0" indent="0">
              <a:buNone/>
            </a:pPr>
            <a:endParaRPr lang="en-GB" sz="1000" dirty="0"/>
          </a:p>
        </p:txBody>
      </p:sp>
    </p:spTree>
    <p:extLst>
      <p:ext uri="{BB962C8B-B14F-4D97-AF65-F5344CB8AC3E}">
        <p14:creationId xmlns:p14="http://schemas.microsoft.com/office/powerpoint/2010/main" val="13103101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Monte-Carlo prediction (5)</a:t>
            </a:r>
            <a:endParaRPr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311700" y="1246729"/>
            <a:ext cx="8520600" cy="520207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endParaRPr lang="en-GB" sz="1800" dirty="0"/>
          </a:p>
          <a:p>
            <a:pPr lvl="0"/>
            <a:endParaRPr lang="en-GB" sz="1800" dirty="0"/>
          </a:p>
          <a:p>
            <a:pPr lvl="0"/>
            <a:endParaRPr lang="en-GB" sz="1800" dirty="0"/>
          </a:p>
          <a:p>
            <a:pPr lvl="0"/>
            <a:endParaRPr lang="en-GB" sz="1800" dirty="0"/>
          </a:p>
          <a:p>
            <a:pPr lvl="0"/>
            <a:endParaRPr lang="en-GB" sz="1800" dirty="0"/>
          </a:p>
          <a:p>
            <a:pPr lvl="0"/>
            <a:endParaRPr lang="en-GB" sz="1800" dirty="0"/>
          </a:p>
          <a:p>
            <a:pPr lvl="0"/>
            <a:endParaRPr lang="en-GB" sz="1800" dirty="0"/>
          </a:p>
          <a:p>
            <a:pPr lvl="0"/>
            <a:endParaRPr lang="en-GB" sz="1800" dirty="0"/>
          </a:p>
          <a:p>
            <a:pPr lvl="0"/>
            <a:endParaRPr lang="en-GB" sz="1800" dirty="0"/>
          </a:p>
          <a:p>
            <a:pPr lvl="0"/>
            <a:endParaRPr lang="en-GB" sz="1800" dirty="0"/>
          </a:p>
          <a:p>
            <a:pPr lvl="0"/>
            <a:endParaRPr lang="en-GB" sz="1800" dirty="0"/>
          </a:p>
          <a:p>
            <a:pPr lvl="0"/>
            <a:endParaRPr lang="en-GB" sz="1800" dirty="0"/>
          </a:p>
          <a:p>
            <a:pPr lvl="0"/>
            <a:endParaRPr lang="en-GB" sz="1800" dirty="0"/>
          </a:p>
          <a:p>
            <a:pPr lvl="0"/>
            <a:r>
              <a:rPr lang="en-GB" dirty="0"/>
              <a:t>MC convergence to the true values</a:t>
            </a:r>
          </a:p>
          <a:p>
            <a:pPr lvl="1"/>
            <a:r>
              <a:rPr lang="en-GB" dirty="0"/>
              <a:t>running estimates are </a:t>
            </a:r>
            <a:r>
              <a:rPr lang="en-GB" b="1" dirty="0"/>
              <a:t>very noisy</a:t>
            </a:r>
          </a:p>
          <a:p>
            <a:pPr lvl="1"/>
            <a:r>
              <a:rPr lang="en-GB" dirty="0"/>
              <a:t>jump back and forth around the true values</a:t>
            </a:r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DCC6CAAD-0559-8398-98AA-0E6212EA80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165" y="1200877"/>
            <a:ext cx="8647135" cy="4143419"/>
          </a:xfrm>
          <a:prstGeom prst="rect">
            <a:avLst/>
          </a:prstGeom>
        </p:spPr>
      </p:pic>
      <p:pic>
        <p:nvPicPr>
          <p:cNvPr id="3" name="Immagine 2" descr="Immagine che contiene Carattere, Elementi grafici, logo, cerchio&#10;&#10;Descrizione generata automaticamente">
            <a:extLst>
              <a:ext uri="{FF2B5EF4-FFF2-40B4-BE49-F238E27FC236}">
                <a16:creationId xmlns:a16="http://schemas.microsoft.com/office/drawing/2014/main" id="{D5EF1469-BADC-72EA-1A19-A2475A5476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1328" y="65196"/>
            <a:ext cx="407258" cy="495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5692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4489431D-6A7C-1E3E-2FB2-C396C06D0B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B439FBAD-019C-44AE-B21C-6DD7BDCDFFF8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Monte-Carlo prediction (6)</a:t>
            </a:r>
            <a:endParaRPr dirty="0"/>
          </a:p>
        </p:txBody>
      </p:sp>
      <p:sp>
        <p:nvSpPr>
          <p:cNvPr id="84" name="Google Shape;84;p14">
            <a:extLst>
              <a:ext uri="{FF2B5EF4-FFF2-40B4-BE49-F238E27FC236}">
                <a16:creationId xmlns:a16="http://schemas.microsoft.com/office/drawing/2014/main" id="{488FC6D0-5F36-8945-22BC-7DC97269FC5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043733"/>
            <a:ext cx="8520600" cy="520207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1800" dirty="0"/>
              <a:t>Run an experiment over 100 runs</a:t>
            </a:r>
          </a:p>
          <a:p>
            <a:pPr lvl="1"/>
            <a:r>
              <a:rPr lang="en-GB" sz="1600" dirty="0"/>
              <a:t>calculate the learning curves</a:t>
            </a:r>
          </a:p>
          <a:p>
            <a:pPr lvl="1"/>
            <a:r>
              <a:rPr lang="en-GB" sz="1600" dirty="0"/>
              <a:t>measure the root mean-squared (RMS) error between the learned and the true values</a:t>
            </a:r>
            <a:endParaRPr lang="en-GB" sz="1800" dirty="0"/>
          </a:p>
          <a:p>
            <a:pPr lvl="0"/>
            <a:endParaRPr lang="en-GB" sz="1800" dirty="0"/>
          </a:p>
          <a:p>
            <a:pPr lvl="0"/>
            <a:endParaRPr lang="en-GB" sz="1800" dirty="0"/>
          </a:p>
          <a:p>
            <a:pPr marL="120650" lvl="0" indent="0">
              <a:buNone/>
            </a:pPr>
            <a:endParaRPr lang="en-GB" sz="1800" dirty="0"/>
          </a:p>
        </p:txBody>
      </p:sp>
      <p:pic>
        <p:nvPicPr>
          <p:cNvPr id="3" name="Immagine 2" descr="Immagine che contiene Carattere, Elementi grafici, logo, cerchio&#10;&#10;Descrizione generata automaticamente">
            <a:extLst>
              <a:ext uri="{FF2B5EF4-FFF2-40B4-BE49-F238E27FC236}">
                <a16:creationId xmlns:a16="http://schemas.microsoft.com/office/drawing/2014/main" id="{95F1CAE2-53C5-37AF-F36D-310FDA7808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61328" y="65196"/>
            <a:ext cx="407258" cy="495579"/>
          </a:xfrm>
          <a:prstGeom prst="rect">
            <a:avLst/>
          </a:prstGeom>
        </p:spPr>
      </p:pic>
      <p:pic>
        <p:nvPicPr>
          <p:cNvPr id="4" name="Immagine 3">
            <a:extLst>
              <a:ext uri="{FF2B5EF4-FFF2-40B4-BE49-F238E27FC236}">
                <a16:creationId xmlns:a16="http://schemas.microsoft.com/office/drawing/2014/main" id="{112E6D5D-CF5B-3FFA-1E98-C92F0C1AC5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5497" y="2433591"/>
            <a:ext cx="6562630" cy="4209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22734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Temporal-Difference Learning (1)</a:t>
            </a:r>
            <a:endParaRPr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311700" y="1234697"/>
            <a:ext cx="8520600" cy="520207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sz="1800" dirty="0"/>
              <a:t>In MC the agent must </a:t>
            </a:r>
            <a:r>
              <a:rPr lang="en-GB" sz="1800" b="1" dirty="0"/>
              <a:t>wait until the end of an episode </a:t>
            </a:r>
            <a:r>
              <a:rPr lang="en-GB" sz="1800" dirty="0"/>
              <a:t>before it can update the estimate </a:t>
            </a:r>
          </a:p>
          <a:p>
            <a:pPr lvl="1"/>
            <a:r>
              <a:rPr lang="en-GB" sz="1600" dirty="0"/>
              <a:t>solid convergence properties: it updates the estimate using the actual return, which is an </a:t>
            </a:r>
            <a:r>
              <a:rPr lang="en-GB" sz="1600" b="1" dirty="0"/>
              <a:t>unbiased</a:t>
            </a:r>
            <a:r>
              <a:rPr lang="en-GB" sz="1600" dirty="0"/>
              <a:t> estimate</a:t>
            </a:r>
          </a:p>
          <a:p>
            <a:pPr lvl="1"/>
            <a:r>
              <a:rPr lang="en-GB" sz="1600" dirty="0"/>
              <a:t>however, it has </a:t>
            </a:r>
            <a:r>
              <a:rPr lang="en-GB" sz="1600" b="1" dirty="0"/>
              <a:t>high-variance</a:t>
            </a:r>
            <a:r>
              <a:rPr lang="en-GB" sz="1600" dirty="0"/>
              <a:t> since actual returns accumulate many random events in their trajectory</a:t>
            </a:r>
            <a:endParaRPr lang="en-GB" sz="1800" dirty="0"/>
          </a:p>
          <a:p>
            <a:pPr lvl="0"/>
            <a:r>
              <a:rPr lang="en-GB" sz="1800" dirty="0"/>
              <a:t>Instead, we can </a:t>
            </a:r>
            <a:r>
              <a:rPr lang="en-GB" sz="1800" b="1" dirty="0"/>
              <a:t>wait for a single step</a:t>
            </a:r>
          </a:p>
          <a:p>
            <a:pPr lvl="1"/>
            <a:r>
              <a:rPr lang="en-GB" sz="1600" dirty="0"/>
              <a:t>get a single-step reward R</a:t>
            </a:r>
            <a:r>
              <a:rPr lang="en-GB" sz="1600" baseline="-25000" dirty="0"/>
              <a:t>t+1</a:t>
            </a:r>
          </a:p>
          <a:p>
            <a:pPr lvl="1"/>
            <a:r>
              <a:rPr lang="en-GB" sz="1600" dirty="0"/>
              <a:t>observe the next state S</a:t>
            </a:r>
            <a:r>
              <a:rPr lang="en-GB" sz="1600" baseline="-25000" dirty="0"/>
              <a:t>t+1</a:t>
            </a:r>
          </a:p>
          <a:p>
            <a:pPr lvl="1"/>
            <a:r>
              <a:rPr lang="en-GB" sz="1600" dirty="0"/>
              <a:t>use the current V to estimate the return at the next step</a:t>
            </a:r>
            <a:endParaRPr lang="en-GB" dirty="0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30EC4DDD-F5AC-A253-9088-288CB536E1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1732" y="4863781"/>
            <a:ext cx="4076700" cy="1257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5502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Temporal-Difference Learning (2)</a:t>
            </a:r>
            <a:endParaRPr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311700" y="1443243"/>
            <a:ext cx="8520600" cy="520207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sz="1800" dirty="0"/>
              <a:t>This means we could estimate the final return on every time step</a:t>
            </a:r>
          </a:p>
          <a:p>
            <a:pPr lvl="0"/>
            <a:endParaRPr lang="en-GB" sz="1800" dirty="0"/>
          </a:p>
          <a:p>
            <a:pPr lvl="0"/>
            <a:endParaRPr lang="en-GB" sz="1800" dirty="0"/>
          </a:p>
          <a:p>
            <a:pPr lvl="1"/>
            <a:r>
              <a:rPr lang="en-GB" sz="1600" dirty="0"/>
              <a:t>we use the subscript to indicate how many </a:t>
            </a:r>
            <a:r>
              <a:rPr lang="en-GB" sz="1600" b="1" dirty="0"/>
              <a:t>real rewards</a:t>
            </a:r>
            <a:r>
              <a:rPr lang="en-GB" sz="1600" dirty="0"/>
              <a:t> are used to calculate the return </a:t>
            </a:r>
          </a:p>
          <a:p>
            <a:pPr lvl="1"/>
            <a:r>
              <a:rPr lang="en-GB" sz="1600" dirty="0" err="1"/>
              <a:t>t:T</a:t>
            </a:r>
            <a:r>
              <a:rPr lang="en-GB" sz="1600" dirty="0"/>
              <a:t> means all rewards from t until the end (MC)</a:t>
            </a:r>
          </a:p>
          <a:p>
            <a:pPr lvl="1"/>
            <a:r>
              <a:rPr lang="en-GB" sz="1600" dirty="0"/>
              <a:t>t:t+1 means just the next reward (TD)</a:t>
            </a:r>
          </a:p>
          <a:p>
            <a:r>
              <a:rPr lang="en-GB" sz="1800" dirty="0"/>
              <a:t>Then we can substitute in the formula for the evaluation of the state-value function:</a:t>
            </a:r>
          </a:p>
          <a:p>
            <a:pPr lvl="0"/>
            <a:endParaRPr lang="en-GB" sz="1800" dirty="0"/>
          </a:p>
          <a:p>
            <a:pPr lvl="0"/>
            <a:endParaRPr lang="en-GB" sz="1800" dirty="0"/>
          </a:p>
          <a:p>
            <a:pPr lvl="1"/>
            <a:r>
              <a:rPr lang="en-GB" sz="1800" dirty="0"/>
              <a:t>         is the </a:t>
            </a:r>
            <a:r>
              <a:rPr lang="en-GB" sz="1800" b="1" dirty="0"/>
              <a:t>TD target </a:t>
            </a:r>
          </a:p>
          <a:p>
            <a:pPr lvl="1"/>
            <a:r>
              <a:rPr lang="en-GB" sz="1800" dirty="0"/>
              <a:t>                       is the </a:t>
            </a:r>
            <a:r>
              <a:rPr lang="en-GB" sz="1800" b="1" dirty="0"/>
              <a:t>TD error</a:t>
            </a:r>
          </a:p>
          <a:p>
            <a:pPr lvl="0"/>
            <a:endParaRPr lang="en-GB" dirty="0"/>
          </a:p>
        </p:txBody>
      </p:sp>
      <p:pic>
        <p:nvPicPr>
          <p:cNvPr id="6" name="Immagine 5" descr="Immagine che contiene Carattere, simbolo, testo, bianco&#10;&#10;Descrizione generata automaticamente">
            <a:extLst>
              <a:ext uri="{FF2B5EF4-FFF2-40B4-BE49-F238E27FC236}">
                <a16:creationId xmlns:a16="http://schemas.microsoft.com/office/drawing/2014/main" id="{840F8EE7-FFE5-71FE-B64C-8B1EAD1D39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4266" y="5195562"/>
            <a:ext cx="571500" cy="342900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D3D572E1-D55F-4F10-2E03-50597F93E1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5501" y="5672015"/>
            <a:ext cx="1435100" cy="304800"/>
          </a:xfrm>
          <a:prstGeom prst="rect">
            <a:avLst/>
          </a:prstGeom>
        </p:spPr>
      </p:pic>
      <p:pic>
        <p:nvPicPr>
          <p:cNvPr id="8" name="Immagine 7" descr="Immagine che contiene Carattere, testo, tipografia, calligrafia&#10;&#10;Descrizione generata automaticamente">
            <a:extLst>
              <a:ext uri="{FF2B5EF4-FFF2-40B4-BE49-F238E27FC236}">
                <a16:creationId xmlns:a16="http://schemas.microsoft.com/office/drawing/2014/main" id="{ADCC9895-B658-E969-62A4-48781E81126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" y="2041992"/>
            <a:ext cx="2552700" cy="381000"/>
          </a:xfrm>
          <a:prstGeom prst="rect">
            <a:avLst/>
          </a:prstGeom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E2E4D612-EAC9-A9E9-300E-4B9CB83B4BD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7900" y="4679203"/>
            <a:ext cx="3594100" cy="44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75030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Temporal-Difference Learning (3)</a:t>
            </a:r>
            <a:endParaRPr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311700" y="1234697"/>
            <a:ext cx="8520600" cy="520207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endParaRPr lang="en-GB" sz="1800" dirty="0"/>
          </a:p>
          <a:p>
            <a:pPr lvl="0"/>
            <a:endParaRPr lang="en-GB" sz="1800" dirty="0"/>
          </a:p>
          <a:p>
            <a:pPr lvl="0"/>
            <a:endParaRPr lang="en-GB" sz="1800" dirty="0"/>
          </a:p>
          <a:p>
            <a:pPr lvl="0"/>
            <a:endParaRPr lang="en-GB" sz="1800" dirty="0"/>
          </a:p>
          <a:p>
            <a:pPr lvl="0"/>
            <a:endParaRPr lang="en-GB" sz="1800" dirty="0"/>
          </a:p>
          <a:p>
            <a:pPr lvl="0"/>
            <a:endParaRPr lang="en-GB" sz="1800" dirty="0"/>
          </a:p>
          <a:p>
            <a:pPr lvl="0"/>
            <a:endParaRPr lang="en-GB" sz="1800" dirty="0"/>
          </a:p>
          <a:p>
            <a:pPr lvl="0"/>
            <a:endParaRPr lang="en-GB" sz="1800" dirty="0"/>
          </a:p>
          <a:p>
            <a:pPr lvl="0"/>
            <a:endParaRPr lang="en-GB" sz="1800" dirty="0"/>
          </a:p>
          <a:p>
            <a:pPr lvl="0"/>
            <a:endParaRPr lang="en-GB" sz="1800" dirty="0"/>
          </a:p>
          <a:p>
            <a:pPr marL="120650" lvl="0" indent="0">
              <a:buNone/>
            </a:pPr>
            <a:endParaRPr lang="en-GB" sz="1800" dirty="0"/>
          </a:p>
          <a:p>
            <a:pPr lvl="0"/>
            <a:r>
              <a:rPr lang="en-GB" dirty="0"/>
              <a:t>TD estimates the value function using an estimate of the value function</a:t>
            </a:r>
          </a:p>
          <a:p>
            <a:pPr lvl="1"/>
            <a:r>
              <a:rPr lang="en-GB" dirty="0"/>
              <a:t>reward signal progressively </a:t>
            </a:r>
            <a:r>
              <a:rPr lang="en-GB" b="1" dirty="0"/>
              <a:t>injects reality</a:t>
            </a:r>
            <a:r>
              <a:rPr lang="en-GB" dirty="0"/>
              <a:t> into the estimates </a:t>
            </a:r>
          </a:p>
          <a:p>
            <a:pPr lvl="1"/>
            <a:r>
              <a:rPr lang="en-GB" b="1" dirty="0"/>
              <a:t>bootstrapping</a:t>
            </a:r>
            <a:r>
              <a:rPr lang="en-GB" dirty="0"/>
              <a:t> </a:t>
            </a:r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7B742222-5B6F-C3FB-AB91-EE68ED4DB3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2" y="1704518"/>
            <a:ext cx="8183876" cy="2606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3395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Temporal-Difference Learning (4)</a:t>
            </a:r>
            <a:endParaRPr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311700" y="1043733"/>
            <a:ext cx="8520600" cy="520207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sz="1800" dirty="0"/>
              <a:t>It is a combination of MC and DP ideas </a:t>
            </a:r>
          </a:p>
          <a:p>
            <a:pPr lvl="1"/>
            <a:r>
              <a:rPr lang="en-GB" sz="1600" dirty="0"/>
              <a:t>like Monte Carlo, it learn directly from raw experience (without a model)</a:t>
            </a:r>
          </a:p>
          <a:p>
            <a:pPr lvl="1"/>
            <a:r>
              <a:rPr lang="en-GB" sz="1600" dirty="0"/>
              <a:t>like dynamic programming, it update estimates based on other learned estimates (without waiting for a final outcome)</a:t>
            </a:r>
          </a:p>
          <a:p>
            <a:pPr marL="120650" lvl="0" indent="0">
              <a:buNone/>
            </a:pPr>
            <a:endParaRPr lang="en-GB" dirty="0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B24D9C62-9E1D-9F8D-F689-FC2C53DAD8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462" y="2482456"/>
            <a:ext cx="8727626" cy="4207101"/>
          </a:xfrm>
          <a:prstGeom prst="rect">
            <a:avLst/>
          </a:prstGeom>
        </p:spPr>
      </p:pic>
      <p:pic>
        <p:nvPicPr>
          <p:cNvPr id="2" name="Immagine 1" descr="Immagine che contiene Carattere, Elementi grafici, logo, cerchio&#10;&#10;Descrizione generata automaticamente">
            <a:extLst>
              <a:ext uri="{FF2B5EF4-FFF2-40B4-BE49-F238E27FC236}">
                <a16:creationId xmlns:a16="http://schemas.microsoft.com/office/drawing/2014/main" id="{8C9C34BB-49AF-2593-12FA-424F967FC3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1328" y="65196"/>
            <a:ext cx="407258" cy="495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70732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57BE2CFF-4405-69BF-2CC9-A77F4FB29D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97A17793-53B5-B969-8703-DC4754ABAFC4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Temporal-Difference Learning (5)</a:t>
            </a:r>
            <a:endParaRPr dirty="0"/>
          </a:p>
        </p:txBody>
      </p:sp>
      <p:pic>
        <p:nvPicPr>
          <p:cNvPr id="2" name="Immagine 1" descr="Immagine che contiene Carattere, Elementi grafici, logo, cerchio&#10;&#10;Descrizione generata automaticamente">
            <a:extLst>
              <a:ext uri="{FF2B5EF4-FFF2-40B4-BE49-F238E27FC236}">
                <a16:creationId xmlns:a16="http://schemas.microsoft.com/office/drawing/2014/main" id="{650F7685-D035-FC85-C27D-8EF7C23D64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61328" y="65196"/>
            <a:ext cx="407258" cy="495579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D14353BB-BD17-718A-8A7B-E818C63D1F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9406" y="1059774"/>
            <a:ext cx="8581320" cy="56297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96311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Batch updating (1)</a:t>
            </a:r>
            <a:endParaRPr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311700" y="1131416"/>
            <a:ext cx="8520600" cy="541089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sz="1800" dirty="0"/>
              <a:t>Suppose there is available only a </a:t>
            </a:r>
            <a:r>
              <a:rPr lang="en-GB" sz="1800" b="1" dirty="0"/>
              <a:t>finite amount of experience</a:t>
            </a:r>
            <a:r>
              <a:rPr lang="en-GB" sz="1800" dirty="0"/>
              <a:t> </a:t>
            </a:r>
          </a:p>
          <a:p>
            <a:pPr lvl="1"/>
            <a:r>
              <a:rPr lang="en-GB" sz="1600" dirty="0"/>
              <a:t>a common approach is to present the experience repeatedly until the method converges upon an answer</a:t>
            </a:r>
            <a:endParaRPr lang="en-GB" sz="1800" dirty="0"/>
          </a:p>
          <a:p>
            <a:r>
              <a:rPr lang="en-GB" sz="1800" dirty="0"/>
              <a:t>Suppose we observe the following episodes:</a:t>
            </a:r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lvl="1"/>
            <a:endParaRPr lang="en-GB" sz="900" dirty="0"/>
          </a:p>
          <a:p>
            <a:pPr lvl="1"/>
            <a:r>
              <a:rPr lang="en-GB" dirty="0"/>
              <a:t>first episode started in A, transitioned to B and terminates with a reward of 0 </a:t>
            </a:r>
          </a:p>
          <a:p>
            <a:pPr lvl="1"/>
            <a:r>
              <a:rPr lang="en-GB" sz="1600" dirty="0"/>
              <a:t>other episodes were shorter, starting from B and terminating immediately</a:t>
            </a:r>
          </a:p>
          <a:p>
            <a:r>
              <a:rPr lang="en-GB" sz="1800" dirty="0"/>
              <a:t>What are the optimal estimates V(A) and V(B)?	</a:t>
            </a:r>
          </a:p>
          <a:p>
            <a:pPr lvl="1"/>
            <a:r>
              <a:rPr lang="en-GB" sz="1600" dirty="0"/>
              <a:t>probably we agree that the optimal value for V(B) is 3/4 </a:t>
            </a:r>
          </a:p>
          <a:p>
            <a:pPr lvl="2"/>
            <a:r>
              <a:rPr lang="en-GB" sz="1500" dirty="0"/>
              <a:t>six times process terminates with a return of 1; two times terminated with 0</a:t>
            </a:r>
          </a:p>
          <a:p>
            <a:pPr lvl="1"/>
            <a:r>
              <a:rPr lang="en-GB" sz="1600" dirty="0"/>
              <a:t>but what is the optimal value for V(A)?</a:t>
            </a:r>
          </a:p>
          <a:p>
            <a:pPr lvl="0"/>
            <a:endParaRPr lang="en-GB" dirty="0"/>
          </a:p>
        </p:txBody>
      </p:sp>
      <p:pic>
        <p:nvPicPr>
          <p:cNvPr id="3" name="Immagine 2" descr="Immagine che contiene testo, Carattere, bianco, design&#10;&#10;Descrizione generata automaticamente">
            <a:extLst>
              <a:ext uri="{FF2B5EF4-FFF2-40B4-BE49-F238E27FC236}">
                <a16:creationId xmlns:a16="http://schemas.microsoft.com/office/drawing/2014/main" id="{DCD1C262-9BE0-9086-0402-F99F9EEB48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6171" y="2583541"/>
            <a:ext cx="2133600" cy="177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090707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Batch updating (2)</a:t>
            </a:r>
            <a:endParaRPr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311700" y="1234697"/>
            <a:ext cx="8520600" cy="520207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1800" dirty="0"/>
              <a:t>Two </a:t>
            </a:r>
            <a:r>
              <a:rPr lang="en-GB" sz="1800" b="1" dirty="0"/>
              <a:t>reasonable answers</a:t>
            </a:r>
          </a:p>
          <a:p>
            <a:pPr lvl="1"/>
            <a:r>
              <a:rPr lang="en-GB" sz="1600" dirty="0"/>
              <a:t>all the times the process was in A, it travers to B and because we have decided that V(B) is 3/4 , therefore A have value 3/4 as well</a:t>
            </a:r>
          </a:p>
          <a:p>
            <a:pPr lvl="2"/>
            <a:r>
              <a:rPr lang="en-GB" sz="1500" dirty="0"/>
              <a:t>this is the answer that TD gives</a:t>
            </a:r>
          </a:p>
          <a:p>
            <a:pPr lvl="1"/>
            <a:r>
              <a:rPr lang="en-GB" sz="1600" dirty="0"/>
              <a:t>we have seen A once and the return that followed it was 0, we therefore estimate V(A) as 0</a:t>
            </a:r>
          </a:p>
          <a:p>
            <a:pPr lvl="2"/>
            <a:r>
              <a:rPr lang="en-GB" sz="1500" dirty="0"/>
              <a:t>this is the answer that MC gives</a:t>
            </a:r>
          </a:p>
          <a:p>
            <a:pPr lvl="2"/>
            <a:r>
              <a:rPr lang="en-GB" sz="1500" dirty="0"/>
              <a:t>it is also the answer that gives minimum squared error on the training data </a:t>
            </a:r>
          </a:p>
          <a:p>
            <a:pPr lvl="1"/>
            <a:r>
              <a:rPr lang="en-GB" sz="1600" dirty="0"/>
              <a:t>However, we expect the first answer to be better: will produce lower error on future data</a:t>
            </a:r>
          </a:p>
          <a:p>
            <a:pPr marL="1054100" lvl="2" indent="0">
              <a:buNone/>
            </a:pPr>
            <a:endParaRPr lang="en-GB" sz="800" dirty="0"/>
          </a:p>
          <a:p>
            <a:pPr lvl="0"/>
            <a:r>
              <a:rPr lang="en-GB" sz="1800" dirty="0"/>
              <a:t>A general difference between TD and MC methods</a:t>
            </a:r>
          </a:p>
          <a:p>
            <a:pPr lvl="1"/>
            <a:r>
              <a:rPr lang="en-GB" sz="1600" dirty="0"/>
              <a:t>MC always find the estimates that </a:t>
            </a:r>
            <a:r>
              <a:rPr lang="en-GB" sz="1600" b="1" dirty="0"/>
              <a:t>minimize mean-squared error on the training set</a:t>
            </a:r>
          </a:p>
          <a:p>
            <a:pPr lvl="1"/>
            <a:r>
              <a:rPr lang="en-GB" sz="1600" dirty="0"/>
              <a:t>TD always finds the estimates </a:t>
            </a:r>
            <a:r>
              <a:rPr lang="en-GB" sz="1600" b="1" dirty="0"/>
              <a:t>for a model of the Markov process</a:t>
            </a:r>
          </a:p>
          <a:p>
            <a:pPr lvl="0"/>
            <a:endParaRPr lang="en-GB" sz="1800" dirty="0"/>
          </a:p>
          <a:p>
            <a:pPr lvl="0"/>
            <a:endParaRPr lang="en-GB" sz="1800" dirty="0"/>
          </a:p>
          <a:p>
            <a:pPr lvl="0"/>
            <a:endParaRPr lang="en-GB" sz="1800" dirty="0"/>
          </a:p>
          <a:p>
            <a:pPr lvl="0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586930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Batch updating (3)</a:t>
            </a:r>
            <a:endParaRPr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311700" y="1234697"/>
            <a:ext cx="8520600" cy="520207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sz="1800" dirty="0"/>
              <a:t>The TD model is formed from the observed episodes</a:t>
            </a:r>
          </a:p>
          <a:p>
            <a:pPr lvl="1"/>
            <a:r>
              <a:rPr lang="en-GB" sz="1600" dirty="0"/>
              <a:t>estimated transition probability from </a:t>
            </a:r>
            <a:r>
              <a:rPr lang="en-GB" sz="1600" dirty="0" err="1"/>
              <a:t>i</a:t>
            </a:r>
            <a:r>
              <a:rPr lang="en-GB" sz="1600" dirty="0"/>
              <a:t> to j is the fraction of observed transitions from </a:t>
            </a:r>
            <a:r>
              <a:rPr lang="en-GB" sz="1600" dirty="0" err="1"/>
              <a:t>i</a:t>
            </a:r>
            <a:r>
              <a:rPr lang="en-GB" sz="1600" dirty="0"/>
              <a:t> that went to j</a:t>
            </a:r>
          </a:p>
          <a:p>
            <a:pPr lvl="1"/>
            <a:r>
              <a:rPr lang="en-GB" sz="1600" dirty="0"/>
              <a:t>the associated expected reward is the average of the rewards observed on those transitions</a:t>
            </a:r>
          </a:p>
          <a:p>
            <a:pPr lvl="0"/>
            <a:endParaRPr lang="en-GB" sz="1800" dirty="0"/>
          </a:p>
          <a:p>
            <a:pPr lvl="0"/>
            <a:r>
              <a:rPr lang="en-GB" sz="1800" dirty="0"/>
              <a:t>Given the model, we can compute the estimate of the value function that would be correct if the model were correct</a:t>
            </a:r>
          </a:p>
          <a:p>
            <a:pPr marL="120650" lvl="0" indent="0">
              <a:buNone/>
            </a:pPr>
            <a:endParaRPr lang="en-GB" sz="1800" dirty="0"/>
          </a:p>
          <a:p>
            <a:pPr lvl="0"/>
            <a:r>
              <a:rPr lang="en-GB" sz="1800" dirty="0"/>
              <a:t>This helps to explain intuitively why TD method converges more quickly than MC method</a:t>
            </a:r>
          </a:p>
          <a:p>
            <a:pPr lvl="0"/>
            <a:endParaRPr lang="en-GB" sz="1800" dirty="0"/>
          </a:p>
          <a:p>
            <a:pPr lvl="0"/>
            <a:endParaRPr lang="en-GB" sz="1800" dirty="0"/>
          </a:p>
          <a:p>
            <a:pPr lvl="0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1595573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n-steps TD (1)</a:t>
            </a:r>
            <a:endParaRPr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311700" y="995607"/>
            <a:ext cx="8520600" cy="539303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1800" dirty="0"/>
              <a:t>There something in between? </a:t>
            </a:r>
          </a:p>
          <a:p>
            <a:pPr lvl="1"/>
            <a:r>
              <a:rPr lang="en-GB" sz="1600" dirty="0"/>
              <a:t>MC samples the environment all the way through the end of the episode before it estimates the value function</a:t>
            </a:r>
          </a:p>
          <a:p>
            <a:pPr lvl="1"/>
            <a:r>
              <a:rPr lang="en-GB" sz="1600" dirty="0"/>
              <a:t>TD interacts with the environment only once, and it estimates the value function</a:t>
            </a:r>
          </a:p>
          <a:p>
            <a:pPr lvl="0"/>
            <a:endParaRPr lang="en-GB" sz="1800" dirty="0"/>
          </a:p>
          <a:p>
            <a:pPr lvl="0"/>
            <a:endParaRPr lang="en-GB" sz="1800" dirty="0"/>
          </a:p>
          <a:p>
            <a:pPr lvl="0"/>
            <a:endParaRPr lang="en-GB" sz="1800" dirty="0"/>
          </a:p>
          <a:p>
            <a:pPr lvl="0"/>
            <a:endParaRPr lang="en-GB" sz="1800" dirty="0"/>
          </a:p>
          <a:p>
            <a:pPr lvl="0"/>
            <a:endParaRPr lang="en-GB" sz="1800" dirty="0"/>
          </a:p>
          <a:p>
            <a:pPr lvl="0"/>
            <a:endParaRPr lang="en-GB" sz="1800" dirty="0"/>
          </a:p>
          <a:p>
            <a:pPr lvl="0"/>
            <a:endParaRPr lang="en-GB" sz="1800" dirty="0"/>
          </a:p>
          <a:p>
            <a:pPr lvl="0"/>
            <a:endParaRPr lang="en-GB" sz="1800" dirty="0"/>
          </a:p>
          <a:p>
            <a:pPr lvl="0"/>
            <a:r>
              <a:rPr lang="en-GB" sz="1800" dirty="0"/>
              <a:t>How about </a:t>
            </a:r>
            <a:r>
              <a:rPr lang="en-GB" sz="1800" b="1" dirty="0"/>
              <a:t>bootstrapping after two steps? Three? Four? </a:t>
            </a:r>
          </a:p>
          <a:p>
            <a:pPr lvl="1"/>
            <a:r>
              <a:rPr lang="en-GB" sz="1600" dirty="0"/>
              <a:t>there’s a </a:t>
            </a:r>
            <a:r>
              <a:rPr lang="en-GB" sz="1600" b="1" dirty="0"/>
              <a:t>spectrum of algorithms </a:t>
            </a:r>
            <a:r>
              <a:rPr lang="en-GB" sz="1600" dirty="0"/>
              <a:t>lying in between MC and TD</a:t>
            </a:r>
          </a:p>
          <a:p>
            <a:pPr lvl="1"/>
            <a:r>
              <a:rPr lang="en-GB" sz="1600" dirty="0"/>
              <a:t>we can </a:t>
            </a:r>
            <a:r>
              <a:rPr lang="en-GB" sz="1600" b="1" dirty="0"/>
              <a:t>tune how much bootstrapping</a:t>
            </a:r>
            <a:r>
              <a:rPr lang="en-GB" sz="1600" dirty="0"/>
              <a:t>, letting us balance bias and variance</a:t>
            </a:r>
          </a:p>
          <a:p>
            <a:pPr lvl="0"/>
            <a:endParaRPr lang="en-GB" sz="1800" dirty="0"/>
          </a:p>
          <a:p>
            <a:pPr lvl="0"/>
            <a:endParaRPr lang="en-GB" sz="1800" dirty="0"/>
          </a:p>
          <a:p>
            <a:pPr lvl="0"/>
            <a:endParaRPr lang="en-GB" sz="1800" dirty="0"/>
          </a:p>
          <a:p>
            <a:pPr lvl="0"/>
            <a:endParaRPr lang="en-GB" dirty="0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0625F31E-D5B9-94AC-BD4A-E6D18B7EE7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05693" y="2612736"/>
            <a:ext cx="4491842" cy="26190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948973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n-steps TD (2)</a:t>
            </a:r>
            <a:endParaRPr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311700" y="1234697"/>
            <a:ext cx="8520600" cy="463671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sz="1800" dirty="0"/>
              <a:t>Two extremes: </a:t>
            </a:r>
          </a:p>
          <a:p>
            <a:pPr lvl="1"/>
            <a:r>
              <a:rPr lang="en-GB" sz="1600" dirty="0"/>
              <a:t>MC is an </a:t>
            </a:r>
            <a:r>
              <a:rPr lang="en-GB" sz="1600" b="1" dirty="0"/>
              <a:t>infinite-step method:</a:t>
            </a:r>
            <a:r>
              <a:rPr lang="en-GB" sz="1600" dirty="0"/>
              <a:t> goes all the way until the end of the episode </a:t>
            </a:r>
          </a:p>
          <a:p>
            <a:pPr lvl="1"/>
            <a:r>
              <a:rPr lang="en-GB" sz="1600" dirty="0"/>
              <a:t>TD is a </a:t>
            </a:r>
            <a:r>
              <a:rPr lang="en-GB" sz="1600" b="1" dirty="0"/>
              <a:t>one-step method:</a:t>
            </a:r>
            <a:r>
              <a:rPr lang="en-GB" sz="1600" dirty="0"/>
              <a:t> interacts with the environment for a single step </a:t>
            </a:r>
          </a:p>
          <a:p>
            <a:r>
              <a:rPr lang="en-GB" sz="1800" dirty="0"/>
              <a:t>We can generalize into an </a:t>
            </a:r>
            <a:r>
              <a:rPr lang="en-GB" sz="1800" b="1" dirty="0"/>
              <a:t>n-step method</a:t>
            </a:r>
          </a:p>
          <a:p>
            <a:pPr lvl="1"/>
            <a:r>
              <a:rPr lang="en-GB" sz="1600" dirty="0"/>
              <a:t>instead of doing a single step or the full episode, it uses n-steps</a:t>
            </a:r>
          </a:p>
          <a:p>
            <a:pPr marL="590550" lvl="1" indent="0">
              <a:buNone/>
            </a:pPr>
            <a:endParaRPr lang="en-GB" sz="1600" dirty="0"/>
          </a:p>
          <a:p>
            <a:pPr lvl="1"/>
            <a:r>
              <a:rPr lang="en-GB" sz="1600" dirty="0"/>
              <a:t>and then it makes the estimation</a:t>
            </a:r>
          </a:p>
          <a:p>
            <a:pPr lvl="1"/>
            <a:endParaRPr lang="en-GB" sz="1600" dirty="0"/>
          </a:p>
          <a:p>
            <a:pPr marL="590550" lvl="1" indent="0">
              <a:buNone/>
            </a:pPr>
            <a:endParaRPr lang="en-GB" sz="1800" dirty="0"/>
          </a:p>
          <a:p>
            <a:pPr lvl="2"/>
            <a:r>
              <a:rPr lang="en-GB" sz="1500" dirty="0"/>
              <a:t>             is the </a:t>
            </a:r>
            <a:r>
              <a:rPr lang="en-GB" sz="1500" b="1" dirty="0"/>
              <a:t>n-step TD target </a:t>
            </a:r>
          </a:p>
          <a:p>
            <a:pPr lvl="2"/>
            <a:r>
              <a:rPr lang="en-GB" sz="1500" dirty="0"/>
              <a:t>                              is the </a:t>
            </a:r>
            <a:r>
              <a:rPr lang="en-GB" sz="1500" b="1" dirty="0"/>
              <a:t>n-step TD error</a:t>
            </a:r>
          </a:p>
          <a:p>
            <a:pPr lvl="1"/>
            <a:endParaRPr lang="en-GB" sz="1600" dirty="0"/>
          </a:p>
          <a:p>
            <a:pPr marL="120650" indent="0">
              <a:buNone/>
            </a:pPr>
            <a:endParaRPr lang="en-GB" sz="1800" dirty="0"/>
          </a:p>
          <a:p>
            <a:pPr lvl="1"/>
            <a:endParaRPr lang="en-GB" sz="1800" dirty="0"/>
          </a:p>
          <a:p>
            <a:pPr lvl="0"/>
            <a:endParaRPr lang="en-GB" sz="1800" dirty="0"/>
          </a:p>
          <a:p>
            <a:pPr lvl="0"/>
            <a:endParaRPr lang="en-GB" sz="1800" dirty="0"/>
          </a:p>
          <a:p>
            <a:pPr lvl="0"/>
            <a:endParaRPr lang="en-GB" dirty="0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B6911059-0EBE-F1FE-2AC9-C5F90E680B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532" y="3154610"/>
            <a:ext cx="3073400" cy="368300"/>
          </a:xfrm>
          <a:prstGeom prst="rect">
            <a:avLst/>
          </a:prstGeom>
        </p:spPr>
      </p:pic>
      <p:grpSp>
        <p:nvGrpSpPr>
          <p:cNvPr id="14" name="Gruppo 13">
            <a:extLst>
              <a:ext uri="{FF2B5EF4-FFF2-40B4-BE49-F238E27FC236}">
                <a16:creationId xmlns:a16="http://schemas.microsoft.com/office/drawing/2014/main" id="{356BCE8A-B47A-BD9B-39BC-7A8127375118}"/>
              </a:ext>
            </a:extLst>
          </p:cNvPr>
          <p:cNvGrpSpPr/>
          <p:nvPr/>
        </p:nvGrpSpPr>
        <p:grpSpPr>
          <a:xfrm>
            <a:off x="6595690" y="3922089"/>
            <a:ext cx="2305406" cy="736002"/>
            <a:chOff x="6659858" y="3649375"/>
            <a:chExt cx="2305406" cy="736002"/>
          </a:xfrm>
        </p:grpSpPr>
        <p:sp>
          <p:nvSpPr>
            <p:cNvPr id="10" name="CasellaDiTesto 9">
              <a:extLst>
                <a:ext uri="{FF2B5EF4-FFF2-40B4-BE49-F238E27FC236}">
                  <a16:creationId xmlns:a16="http://schemas.microsoft.com/office/drawing/2014/main" id="{022126D6-0754-D28A-4051-F82DCBC16F22}"/>
                </a:ext>
              </a:extLst>
            </p:cNvPr>
            <p:cNvSpPr txBox="1"/>
            <p:nvPr/>
          </p:nvSpPr>
          <p:spPr>
            <a:xfrm>
              <a:off x="6659858" y="3649375"/>
              <a:ext cx="36099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900" dirty="0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MC</a:t>
              </a:r>
            </a:p>
          </p:txBody>
        </p:sp>
        <p:pic>
          <p:nvPicPr>
            <p:cNvPr id="4" name="Immagine 3" descr="Immagine che contiene Carattere, testo, bianco, tipografia&#10;&#10;Descrizione generata automaticamente">
              <a:extLst>
                <a:ext uri="{FF2B5EF4-FFF2-40B4-BE49-F238E27FC236}">
                  <a16:creationId xmlns:a16="http://schemas.microsoft.com/office/drawing/2014/main" id="{CCE8A003-866C-24C2-C182-A5C47EB1726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704184" y="3872224"/>
              <a:ext cx="2261080" cy="513153"/>
            </a:xfrm>
            <a:prstGeom prst="rect">
              <a:avLst/>
            </a:prstGeom>
          </p:spPr>
        </p:pic>
      </p:grpSp>
      <p:grpSp>
        <p:nvGrpSpPr>
          <p:cNvPr id="15" name="Gruppo 14">
            <a:extLst>
              <a:ext uri="{FF2B5EF4-FFF2-40B4-BE49-F238E27FC236}">
                <a16:creationId xmlns:a16="http://schemas.microsoft.com/office/drawing/2014/main" id="{43362BDD-3450-392C-5EF4-5B058B24C3B8}"/>
              </a:ext>
            </a:extLst>
          </p:cNvPr>
          <p:cNvGrpSpPr/>
          <p:nvPr/>
        </p:nvGrpSpPr>
        <p:grpSpPr>
          <a:xfrm>
            <a:off x="6636364" y="4844510"/>
            <a:ext cx="2345497" cy="792064"/>
            <a:chOff x="6700532" y="4571796"/>
            <a:chExt cx="2345497" cy="792064"/>
          </a:xfrm>
        </p:grpSpPr>
        <p:sp>
          <p:nvSpPr>
            <p:cNvPr id="11" name="CasellaDiTesto 10">
              <a:extLst>
                <a:ext uri="{FF2B5EF4-FFF2-40B4-BE49-F238E27FC236}">
                  <a16:creationId xmlns:a16="http://schemas.microsoft.com/office/drawing/2014/main" id="{8608BA2B-CF43-A908-45EF-EBEFB966AA92}"/>
                </a:ext>
              </a:extLst>
            </p:cNvPr>
            <p:cNvSpPr txBox="1"/>
            <p:nvPr/>
          </p:nvSpPr>
          <p:spPr>
            <a:xfrm>
              <a:off x="6700532" y="4571796"/>
              <a:ext cx="332142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900" dirty="0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TD</a:t>
              </a:r>
            </a:p>
          </p:txBody>
        </p:sp>
        <p:pic>
          <p:nvPicPr>
            <p:cNvPr id="8" name="Immagine 7" descr="Immagine che contiene testo, Carattere, bianco, calligrafia&#10;&#10;Descrizione generata automaticamente">
              <a:extLst>
                <a:ext uri="{FF2B5EF4-FFF2-40B4-BE49-F238E27FC236}">
                  <a16:creationId xmlns:a16="http://schemas.microsoft.com/office/drawing/2014/main" id="{FC27D39C-042B-EDD8-FAE1-DF3B5DA1083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736151" y="4803128"/>
              <a:ext cx="2309878" cy="560732"/>
            </a:xfrm>
            <a:prstGeom prst="rect">
              <a:avLst/>
            </a:prstGeom>
          </p:spPr>
        </p:pic>
      </p:grpSp>
      <p:pic>
        <p:nvPicPr>
          <p:cNvPr id="17" name="Immagine 16" descr="Immagine che contiene testo, Carattere, calligrafia, bianco&#10;&#10;Descrizione generata automaticamente">
            <a:extLst>
              <a:ext uri="{FF2B5EF4-FFF2-40B4-BE49-F238E27FC236}">
                <a16:creationId xmlns:a16="http://schemas.microsoft.com/office/drawing/2014/main" id="{7FF9481C-9183-D393-0471-8A470A1E46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80494" y="3980860"/>
            <a:ext cx="4715506" cy="809033"/>
          </a:xfrm>
          <a:prstGeom prst="rect">
            <a:avLst/>
          </a:prstGeom>
        </p:spPr>
      </p:pic>
      <p:pic>
        <p:nvPicPr>
          <p:cNvPr id="19" name="Immagine 18" descr="Immagine che contiene Carattere, testo, calligrafia, simbolo&#10;&#10;Descrizione generata automaticamente">
            <a:extLst>
              <a:ext uri="{FF2B5EF4-FFF2-40B4-BE49-F238E27FC236}">
                <a16:creationId xmlns:a16="http://schemas.microsoft.com/office/drawing/2014/main" id="{BFD03797-58CF-3737-95CD-185771BF26E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31119" y="4825624"/>
            <a:ext cx="653781" cy="346904"/>
          </a:xfrm>
          <a:prstGeom prst="rect">
            <a:avLst/>
          </a:prstGeom>
        </p:spPr>
      </p:pic>
      <p:pic>
        <p:nvPicPr>
          <p:cNvPr id="21" name="Immagine 20" descr="Immagine che contiene Carattere, testo, bianco, tipografia&#10;&#10;Descrizione generata automaticamente">
            <a:extLst>
              <a:ext uri="{FF2B5EF4-FFF2-40B4-BE49-F238E27FC236}">
                <a16:creationId xmlns:a16="http://schemas.microsoft.com/office/drawing/2014/main" id="{FBF17EEC-2F1F-C5F0-F16D-4FFC2042A0F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709348" y="5170365"/>
            <a:ext cx="1447509" cy="3877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591944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n-steps TD (3)</a:t>
            </a:r>
            <a:endParaRPr dirty="0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CEBEE24E-7A8A-DAB3-53B8-DED06882E6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466" y="1680137"/>
            <a:ext cx="8901068" cy="4255442"/>
          </a:xfrm>
          <a:prstGeom prst="rect">
            <a:avLst/>
          </a:prstGeom>
        </p:spPr>
      </p:pic>
      <p:pic>
        <p:nvPicPr>
          <p:cNvPr id="2" name="Immagine 1" descr="Immagine che contiene Carattere, Elementi grafici, logo, cerchio&#10;&#10;Descrizione generata automaticamente">
            <a:extLst>
              <a:ext uri="{FF2B5EF4-FFF2-40B4-BE49-F238E27FC236}">
                <a16:creationId xmlns:a16="http://schemas.microsoft.com/office/drawing/2014/main" id="{D80EAC2F-E2C1-D9D0-EA79-3BF831BCDF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1328" y="65196"/>
            <a:ext cx="407258" cy="495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376681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3D158695-EECF-7921-2025-475104621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AC2DF2FD-0F6A-6B00-0097-634DBDA7DCBE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n-steps TD (4)</a:t>
            </a:r>
            <a:endParaRPr dirty="0"/>
          </a:p>
        </p:txBody>
      </p:sp>
      <p:pic>
        <p:nvPicPr>
          <p:cNvPr id="2" name="Immagine 1" descr="Immagine che contiene Carattere, Elementi grafici, logo, cerchio&#10;&#10;Descrizione generata automaticamente">
            <a:extLst>
              <a:ext uri="{FF2B5EF4-FFF2-40B4-BE49-F238E27FC236}">
                <a16:creationId xmlns:a16="http://schemas.microsoft.com/office/drawing/2014/main" id="{E5182C9B-DA52-A977-10CB-0FBD5CA9A3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61328" y="65196"/>
            <a:ext cx="407258" cy="495579"/>
          </a:xfrm>
          <a:prstGeom prst="rect">
            <a:avLst/>
          </a:prstGeom>
        </p:spPr>
      </p:pic>
      <p:pic>
        <p:nvPicPr>
          <p:cNvPr id="6" name="Immagine 5">
            <a:extLst>
              <a:ext uri="{FF2B5EF4-FFF2-40B4-BE49-F238E27FC236}">
                <a16:creationId xmlns:a16="http://schemas.microsoft.com/office/drawing/2014/main" id="{F5A8DCCB-006F-0FF1-9F6D-2917231928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9792" y="917209"/>
            <a:ext cx="8627590" cy="5756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071718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C4489BB6-8674-0E40-2C17-A85492F6A1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1D4D49BA-6174-3518-39C7-C7DF8E20A8F0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dirty="0"/>
              <a:t>n-steps TD (5)</a:t>
            </a:r>
            <a:endParaRPr dirty="0"/>
          </a:p>
        </p:txBody>
      </p:sp>
      <p:sp>
        <p:nvSpPr>
          <p:cNvPr id="84" name="Google Shape;84;p14">
            <a:extLst>
              <a:ext uri="{FF2B5EF4-FFF2-40B4-BE49-F238E27FC236}">
                <a16:creationId xmlns:a16="http://schemas.microsoft.com/office/drawing/2014/main" id="{C70DCF73-6BD9-0236-0092-8EF8FEA65B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234697"/>
            <a:ext cx="8520600" cy="520207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noProof="0" dirty="0"/>
              <a:t>The n-step TD is a balance between MC and TD</a:t>
            </a:r>
          </a:p>
          <a:p>
            <a:pPr lvl="1"/>
            <a:r>
              <a:rPr lang="en-GB" b="1" noProof="0" dirty="0"/>
              <a:t>reduces bias (compared to TD)</a:t>
            </a:r>
            <a:r>
              <a:rPr lang="en-GB" noProof="0" dirty="0"/>
              <a:t> by considering more actual rewards</a:t>
            </a:r>
          </a:p>
          <a:p>
            <a:pPr lvl="1"/>
            <a:r>
              <a:rPr lang="en-GB" b="1" noProof="0" dirty="0"/>
              <a:t>reduces variance (compared to MC)</a:t>
            </a:r>
            <a:r>
              <a:rPr lang="en-GB" noProof="0" dirty="0"/>
              <a:t> because it does not wait until the end of the episode</a:t>
            </a:r>
          </a:p>
          <a:p>
            <a:endParaRPr lang="en-GB" b="1" noProof="0" dirty="0"/>
          </a:p>
          <a:p>
            <a:r>
              <a:rPr lang="en-GB" b="1" noProof="0" dirty="0"/>
              <a:t>More stable and robust learning</a:t>
            </a:r>
            <a:r>
              <a:rPr lang="en-GB" noProof="0" dirty="0"/>
              <a:t>, particularly in environments where rewards are sparse or delayed</a:t>
            </a:r>
          </a:p>
          <a:p>
            <a:endParaRPr lang="en-GB" noProof="0" dirty="0"/>
          </a:p>
          <a:p>
            <a:r>
              <a:rPr lang="en-GB" noProof="0" dirty="0"/>
              <a:t>The </a:t>
            </a:r>
            <a:r>
              <a:rPr lang="en-GB" b="1" noProof="0" dirty="0"/>
              <a:t>choice of n is crucial</a:t>
            </a:r>
            <a:endParaRPr lang="en-GB" b="1" dirty="0"/>
          </a:p>
          <a:p>
            <a:pPr lvl="1"/>
            <a:r>
              <a:rPr lang="en-GB" noProof="0" dirty="0"/>
              <a:t>If n is too small, the algorithm will have high bias and low variance, similar to TD</a:t>
            </a:r>
          </a:p>
          <a:p>
            <a:pPr lvl="1"/>
            <a:r>
              <a:rPr lang="en-GB" noProof="0" dirty="0"/>
              <a:t>If n is too large, the algorithm will have low bias and high variance, similar </a:t>
            </a:r>
            <a:r>
              <a:rPr lang="en-GB" noProof="0"/>
              <a:t>to MC </a:t>
            </a:r>
            <a:endParaRPr lang="en-GB" noProof="0" dirty="0"/>
          </a:p>
          <a:p>
            <a:pPr lvl="1"/>
            <a:r>
              <a:rPr lang="en-GB" noProof="0" dirty="0"/>
              <a:t>The optimal value of n depends on the particular environment</a:t>
            </a:r>
          </a:p>
          <a:p>
            <a:pPr lvl="0"/>
            <a:endParaRPr lang="en-GB" sz="1800" noProof="0" dirty="0"/>
          </a:p>
          <a:p>
            <a:pPr lvl="0"/>
            <a:endParaRPr lang="en-GB" sz="1800" noProof="0" dirty="0"/>
          </a:p>
          <a:p>
            <a:pPr lvl="0"/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402617760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TD(𝜆) (1)</a:t>
            </a:r>
            <a:endParaRPr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311700" y="923990"/>
            <a:ext cx="8520600" cy="539303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sz="1800" dirty="0"/>
              <a:t>A question emerges: </a:t>
            </a:r>
            <a:r>
              <a:rPr lang="en-GB" sz="1800" b="1" dirty="0"/>
              <a:t>what is a good n? </a:t>
            </a:r>
          </a:p>
          <a:p>
            <a:r>
              <a:rPr lang="en-GB" sz="1800" dirty="0"/>
              <a:t>How using a </a:t>
            </a:r>
            <a:r>
              <a:rPr lang="en-GB" sz="1800" b="1" dirty="0"/>
              <a:t>weighted combination of all n-step targets</a:t>
            </a:r>
            <a:endParaRPr lang="en-GB" sz="1800" dirty="0"/>
          </a:p>
          <a:p>
            <a:pPr lvl="1"/>
            <a:r>
              <a:rPr lang="en-GB" sz="1600" dirty="0"/>
              <a:t>agent could go out and calculate the targets corresponding to the one-, two-, three-, ..., infinite-step</a:t>
            </a:r>
          </a:p>
          <a:p>
            <a:pPr marL="120650" lvl="0" indent="0">
              <a:buNone/>
            </a:pPr>
            <a:endParaRPr lang="en-GB" dirty="0"/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941A4F27-9DB3-7C4D-5323-4E3981A44B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0916" y="2344791"/>
            <a:ext cx="6182167" cy="40919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192922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TD(𝜆) (2)</a:t>
            </a:r>
            <a:endParaRPr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311700" y="1043733"/>
            <a:ext cx="8520600" cy="553123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endParaRPr lang="en-GB" sz="1800" dirty="0"/>
          </a:p>
          <a:p>
            <a:endParaRPr lang="en-GB" sz="1800" dirty="0"/>
          </a:p>
          <a:p>
            <a:endParaRPr lang="en-GB" sz="2400" dirty="0"/>
          </a:p>
          <a:p>
            <a:endParaRPr lang="en-GB" sz="1800" dirty="0"/>
          </a:p>
          <a:p>
            <a:endParaRPr lang="en-GB" sz="1800" dirty="0"/>
          </a:p>
          <a:p>
            <a:endParaRPr lang="en-GB" sz="1800" dirty="0"/>
          </a:p>
          <a:p>
            <a:endParaRPr lang="en-GB" sz="1800" dirty="0"/>
          </a:p>
          <a:p>
            <a:pPr marL="120650" indent="0">
              <a:buNone/>
            </a:pPr>
            <a:endParaRPr lang="en-GB" sz="600" dirty="0"/>
          </a:p>
          <a:p>
            <a:pPr lvl="0"/>
            <a:r>
              <a:rPr lang="en-GB" sz="1800" dirty="0"/>
              <a:t>We can compose all targets using a weighted sum</a:t>
            </a:r>
          </a:p>
          <a:p>
            <a:pPr lvl="0"/>
            <a:endParaRPr lang="en-GB" sz="1800" dirty="0"/>
          </a:p>
          <a:p>
            <a:pPr lvl="0"/>
            <a:endParaRPr lang="en-GB" sz="800" dirty="0"/>
          </a:p>
          <a:p>
            <a:endParaRPr lang="en-GB" sz="1800" dirty="0"/>
          </a:p>
          <a:p>
            <a:r>
              <a:rPr lang="en-GB" sz="1800" dirty="0"/>
              <a:t>We can evaluate the estimate of the value function using this return:</a:t>
            </a:r>
          </a:p>
          <a:p>
            <a:pPr lvl="0"/>
            <a:endParaRPr lang="en-GB" sz="1800" dirty="0"/>
          </a:p>
          <a:p>
            <a:pPr lvl="0"/>
            <a:endParaRPr lang="en-GB" sz="1800" dirty="0"/>
          </a:p>
          <a:p>
            <a:pPr lvl="1"/>
            <a:r>
              <a:rPr lang="en-GB" sz="1900" dirty="0"/>
              <a:t>       is the </a:t>
            </a:r>
            <a:r>
              <a:rPr lang="en-GB" sz="1900" b="1" dirty="0"/>
              <a:t>TD(lambda) target </a:t>
            </a:r>
          </a:p>
          <a:p>
            <a:pPr lvl="1"/>
            <a:r>
              <a:rPr lang="en-GB" sz="1800" dirty="0"/>
              <a:t>                     is the </a:t>
            </a:r>
            <a:r>
              <a:rPr lang="en-GB" sz="1800" b="1" dirty="0"/>
              <a:t>TD(lambda) error</a:t>
            </a:r>
          </a:p>
          <a:p>
            <a:pPr lvl="0"/>
            <a:endParaRPr lang="en-GB" sz="1800" dirty="0"/>
          </a:p>
          <a:p>
            <a:pPr lvl="0"/>
            <a:endParaRPr lang="en-GB" dirty="0"/>
          </a:p>
        </p:txBody>
      </p:sp>
      <p:pic>
        <p:nvPicPr>
          <p:cNvPr id="4" name="Immagine 3" descr="Immagine che contiene testo, Carattere, ricevuta, calligrafia&#10;&#10;Descrizione generata automaticamente">
            <a:extLst>
              <a:ext uri="{FF2B5EF4-FFF2-40B4-BE49-F238E27FC236}">
                <a16:creationId xmlns:a16="http://schemas.microsoft.com/office/drawing/2014/main" id="{3A6AF67D-8EBC-D0CF-AC9F-E3E14845AB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643" y="1052152"/>
            <a:ext cx="5154386" cy="2407800"/>
          </a:xfrm>
          <a:prstGeom prst="rect">
            <a:avLst/>
          </a:prstGeom>
        </p:spPr>
      </p:pic>
      <p:pic>
        <p:nvPicPr>
          <p:cNvPr id="7" name="Immagine 6" descr="Immagine che contiene testo, Carattere, bianco, tipografia&#10;&#10;Descrizione generata automaticamente">
            <a:extLst>
              <a:ext uri="{FF2B5EF4-FFF2-40B4-BE49-F238E27FC236}">
                <a16:creationId xmlns:a16="http://schemas.microsoft.com/office/drawing/2014/main" id="{DA4E6D69-2577-0B09-74C8-6D480583A1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3643" y="3854660"/>
            <a:ext cx="4251779" cy="852792"/>
          </a:xfrm>
          <a:prstGeom prst="rect">
            <a:avLst/>
          </a:prstGeom>
        </p:spPr>
      </p:pic>
      <p:pic>
        <p:nvPicPr>
          <p:cNvPr id="11" name="Immagine 10" descr="Immagine che contiene Carattere, calligrafia, tipografia, testo&#10;&#10;Descrizione generata automaticamente">
            <a:extLst>
              <a:ext uri="{FF2B5EF4-FFF2-40B4-BE49-F238E27FC236}">
                <a16:creationId xmlns:a16="http://schemas.microsoft.com/office/drawing/2014/main" id="{42D8CE54-195C-F060-A5CD-024B019B96E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3643" y="4987860"/>
            <a:ext cx="3352800" cy="508000"/>
          </a:xfrm>
          <a:prstGeom prst="rect">
            <a:avLst/>
          </a:prstGeom>
        </p:spPr>
      </p:pic>
      <p:pic>
        <p:nvPicPr>
          <p:cNvPr id="13" name="Immagine 12" descr="Immagine che contiene testo, Carattere, simbolo, bianco&#10;&#10;Descrizione generata automaticamente">
            <a:extLst>
              <a:ext uri="{FF2B5EF4-FFF2-40B4-BE49-F238E27FC236}">
                <a16:creationId xmlns:a16="http://schemas.microsoft.com/office/drawing/2014/main" id="{E248E21D-43FD-01D6-5FD2-889D5950F1B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4557" y="5636568"/>
            <a:ext cx="431800" cy="393700"/>
          </a:xfrm>
          <a:prstGeom prst="rect">
            <a:avLst/>
          </a:prstGeom>
        </p:spPr>
      </p:pic>
      <p:pic>
        <p:nvPicPr>
          <p:cNvPr id="15" name="Immagine 14" descr="Immagine che contiene Carattere, bianco, tipografia, calligrafia&#10;&#10;Descrizione generata automaticamente">
            <a:extLst>
              <a:ext uri="{FF2B5EF4-FFF2-40B4-BE49-F238E27FC236}">
                <a16:creationId xmlns:a16="http://schemas.microsoft.com/office/drawing/2014/main" id="{C503B8E2-4700-5128-11D1-376FCEEF42B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50043" y="6085702"/>
            <a:ext cx="1270000" cy="36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195402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Backward-view TD( 𝜆 ) (1)</a:t>
            </a:r>
            <a:endParaRPr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311700" y="923987"/>
            <a:ext cx="8711984" cy="564009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sz="1800" dirty="0"/>
              <a:t>With TD(𝜆) we must </a:t>
            </a:r>
            <a:r>
              <a:rPr lang="en-GB" sz="1800" b="1" dirty="0"/>
              <a:t>wait until the end of an episode </a:t>
            </a:r>
            <a:r>
              <a:rPr lang="en-GB" sz="1800" dirty="0"/>
              <a:t>(like MC)</a:t>
            </a:r>
          </a:p>
          <a:p>
            <a:pPr lvl="0"/>
            <a:r>
              <a:rPr lang="en-GB" sz="1800" dirty="0"/>
              <a:t>We can split the updates into </a:t>
            </a:r>
            <a:r>
              <a:rPr lang="en-GB" sz="1800" b="1" dirty="0"/>
              <a:t>partial updates</a:t>
            </a:r>
            <a:endParaRPr lang="en-GB" sz="1800" dirty="0"/>
          </a:p>
          <a:p>
            <a:pPr lvl="1"/>
            <a:r>
              <a:rPr lang="en-GB" sz="1600" dirty="0"/>
              <a:t>we track states that are </a:t>
            </a:r>
            <a:r>
              <a:rPr lang="en-GB" sz="1600" b="1" dirty="0"/>
              <a:t>eligible</a:t>
            </a:r>
            <a:r>
              <a:rPr lang="en-GB" sz="1600" dirty="0"/>
              <a:t> for an update on every step and by how much</a:t>
            </a:r>
          </a:p>
          <a:p>
            <a:r>
              <a:rPr lang="en-GB" sz="1800" dirty="0"/>
              <a:t>Mechanism called </a:t>
            </a:r>
            <a:r>
              <a:rPr lang="en-GB" sz="1800" b="1" dirty="0"/>
              <a:t>eligibility traces</a:t>
            </a:r>
            <a:endParaRPr lang="en-GB" sz="1800" dirty="0"/>
          </a:p>
          <a:p>
            <a:pPr lvl="1"/>
            <a:r>
              <a:rPr lang="en-GB" sz="1600" dirty="0"/>
              <a:t>at the begging of every new episode, we set the eligibility vector to zero E=0</a:t>
            </a:r>
          </a:p>
          <a:p>
            <a:pPr lvl="1"/>
            <a:r>
              <a:rPr lang="en-GB" sz="1600" dirty="0"/>
              <a:t>we interact with the environment one cycle (S</a:t>
            </a:r>
            <a:r>
              <a:rPr lang="en-GB" sz="1600" baseline="-25000" dirty="0"/>
              <a:t>t</a:t>
            </a:r>
            <a:r>
              <a:rPr lang="en-GB" sz="1600" dirty="0"/>
              <a:t>, A</a:t>
            </a:r>
            <a:r>
              <a:rPr lang="en-GB" sz="1600" baseline="-25000" dirty="0"/>
              <a:t>t</a:t>
            </a:r>
            <a:r>
              <a:rPr lang="en-GB" sz="1600" dirty="0"/>
              <a:t>, R</a:t>
            </a:r>
            <a:r>
              <a:rPr lang="en-GB" sz="1600" baseline="-25000" dirty="0"/>
              <a:t>t+1</a:t>
            </a:r>
            <a:r>
              <a:rPr lang="en-GB" sz="1600" dirty="0"/>
              <a:t>, S</a:t>
            </a:r>
            <a:r>
              <a:rPr lang="en-GB" sz="1600" baseline="-25000" dirty="0"/>
              <a:t>t+1</a:t>
            </a:r>
            <a:r>
              <a:rPr lang="en-GB" sz="1600" dirty="0"/>
              <a:t>)</a:t>
            </a:r>
          </a:p>
          <a:p>
            <a:pPr lvl="1"/>
            <a:r>
              <a:rPr lang="en-GB" sz="1600" dirty="0"/>
              <a:t>when we encounter a state, we add a one to its trace E(S</a:t>
            </a:r>
            <a:r>
              <a:rPr lang="en-GB" sz="1600" baseline="-25000" dirty="0"/>
              <a:t>t</a:t>
            </a:r>
            <a:r>
              <a:rPr lang="en-GB" sz="1600" dirty="0"/>
              <a:t>) = E(S</a:t>
            </a:r>
            <a:r>
              <a:rPr lang="en-GB" sz="1600" baseline="-25000" dirty="0"/>
              <a:t>t</a:t>
            </a:r>
            <a:r>
              <a:rPr lang="en-GB" sz="1600" dirty="0"/>
              <a:t>) + 1</a:t>
            </a:r>
          </a:p>
          <a:p>
            <a:pPr lvl="2"/>
            <a:r>
              <a:rPr lang="en-GB" sz="1500" dirty="0"/>
              <a:t>to make it eligible for an update</a:t>
            </a:r>
          </a:p>
          <a:p>
            <a:pPr lvl="1"/>
            <a:r>
              <a:rPr lang="en-GB" sz="1600" dirty="0"/>
              <a:t>we calculate the TD error:</a:t>
            </a:r>
          </a:p>
          <a:p>
            <a:pPr lvl="1"/>
            <a:r>
              <a:rPr lang="en-GB" sz="1600" dirty="0"/>
              <a:t>we update the value function </a:t>
            </a:r>
            <a:r>
              <a:rPr lang="en-GB" sz="1600" b="1" dirty="0"/>
              <a:t>for all states</a:t>
            </a:r>
            <a:r>
              <a:rPr lang="en-GB" sz="1600" dirty="0"/>
              <a:t> using the eligibility trace vector</a:t>
            </a:r>
          </a:p>
          <a:p>
            <a:pPr lvl="2"/>
            <a:r>
              <a:rPr lang="en-GB" sz="1500" dirty="0"/>
              <a:t>only eligible  will get updated:</a:t>
            </a:r>
          </a:p>
          <a:p>
            <a:pPr lvl="1"/>
            <a:r>
              <a:rPr lang="en-GB" sz="1600" dirty="0"/>
              <a:t>after the update, the eligibility trace vector is decayed</a:t>
            </a:r>
          </a:p>
          <a:p>
            <a:pPr lvl="2"/>
            <a:r>
              <a:rPr lang="en-GB" sz="1500" dirty="0"/>
              <a:t>so future reinforcing events have less impact on earlier states:</a:t>
            </a:r>
          </a:p>
          <a:p>
            <a:r>
              <a:rPr lang="en-GB" sz="1900" dirty="0"/>
              <a:t>Recent states get more significant credit for a reward encountered in a recent transition than those states visited earlier</a:t>
            </a:r>
            <a:endParaRPr lang="en-GB" sz="1500" dirty="0"/>
          </a:p>
          <a:p>
            <a:pPr lvl="1"/>
            <a:endParaRPr lang="en-GB" sz="1600" dirty="0"/>
          </a:p>
          <a:p>
            <a:pPr lvl="1"/>
            <a:endParaRPr lang="en-GB" sz="1600" dirty="0"/>
          </a:p>
          <a:p>
            <a:pPr lvl="1"/>
            <a:endParaRPr lang="en-GB" sz="1600" baseline="-25000" dirty="0"/>
          </a:p>
          <a:p>
            <a:pPr lvl="0"/>
            <a:endParaRPr lang="en-GB" dirty="0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F6C2B225-7A66-DB93-8E05-E62AE59DA0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633" y="3948474"/>
            <a:ext cx="3657600" cy="381000"/>
          </a:xfrm>
          <a:prstGeom prst="rect">
            <a:avLst/>
          </a:prstGeom>
        </p:spPr>
      </p:pic>
      <p:pic>
        <p:nvPicPr>
          <p:cNvPr id="6" name="Immagine 5" descr="Immagine che contiene Carattere, testo, bianco, tipografia&#10;&#10;Descrizione generata automaticamente">
            <a:extLst>
              <a:ext uri="{FF2B5EF4-FFF2-40B4-BE49-F238E27FC236}">
                <a16:creationId xmlns:a16="http://schemas.microsoft.com/office/drawing/2014/main" id="{82EF5B5E-EFD0-CA89-F8D1-6AE55A470C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15483" y="4686592"/>
            <a:ext cx="2247900" cy="444500"/>
          </a:xfrm>
          <a:prstGeom prst="rect">
            <a:avLst/>
          </a:prstGeom>
        </p:spPr>
      </p:pic>
      <p:pic>
        <p:nvPicPr>
          <p:cNvPr id="9" name="Immagine 8" descr="Immagine che contiene Carattere, logo, tipografia, bianco&#10;&#10;Descrizione generata automaticamente">
            <a:extLst>
              <a:ext uri="{FF2B5EF4-FFF2-40B4-BE49-F238E27FC236}">
                <a16:creationId xmlns:a16="http://schemas.microsoft.com/office/drawing/2014/main" id="{53B33AB8-32D7-14D7-8E1A-8042A487AE9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70260" y="5523071"/>
            <a:ext cx="1016000" cy="34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90794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Backward-view TD( 𝜆 ) (2)</a:t>
            </a:r>
            <a:endParaRPr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311700" y="1234697"/>
            <a:ext cx="8520600" cy="520207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endParaRPr lang="en-GB" sz="1800" dirty="0"/>
          </a:p>
          <a:p>
            <a:pPr lvl="0"/>
            <a:endParaRPr lang="en-GB" dirty="0"/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5777C7CB-B294-82ED-23FB-4501E880EC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139696"/>
            <a:ext cx="7772400" cy="5513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069337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Backward-view TD( 𝜆 ) (3)</a:t>
            </a:r>
            <a:endParaRPr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311700" y="1043733"/>
            <a:ext cx="8520600" cy="520207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sz="1800" dirty="0"/>
              <a:t>Notice that </a:t>
            </a:r>
          </a:p>
          <a:p>
            <a:pPr lvl="1"/>
            <a:r>
              <a:rPr lang="en-GB" sz="1600" dirty="0"/>
              <a:t>TD(𝜆) when 𝜆=0 is equivalent to the TD method: </a:t>
            </a:r>
            <a:r>
              <a:rPr lang="en-GB" sz="1500" dirty="0"/>
              <a:t>TD(0)</a:t>
            </a:r>
          </a:p>
          <a:p>
            <a:pPr lvl="1"/>
            <a:r>
              <a:rPr lang="en-GB" sz="1600" dirty="0"/>
              <a:t>TD(𝜆) when 𝜆=1 is equivalent to MC: TD(1)</a:t>
            </a:r>
          </a:p>
          <a:p>
            <a:pPr marL="120650" lvl="0" indent="0">
              <a:buNone/>
            </a:pPr>
            <a:endParaRPr lang="en-GB" sz="1800" b="1" dirty="0">
              <a:highlight>
                <a:srgbClr val="FFFF00"/>
              </a:highlight>
            </a:endParaRPr>
          </a:p>
          <a:p>
            <a:endParaRPr lang="en-GB" sz="1800" dirty="0"/>
          </a:p>
          <a:p>
            <a:pPr lvl="0"/>
            <a:endParaRPr lang="en-GB" dirty="0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97E1ABF5-025A-AC1A-6F2C-66566A1BE8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378" y="2280143"/>
            <a:ext cx="8720006" cy="4213448"/>
          </a:xfrm>
          <a:prstGeom prst="rect">
            <a:avLst/>
          </a:prstGeom>
        </p:spPr>
      </p:pic>
      <p:pic>
        <p:nvPicPr>
          <p:cNvPr id="2" name="Immagine 1" descr="Immagine che contiene Carattere, Elementi grafici, logo, cerchio&#10;&#10;Descrizione generata automaticamente">
            <a:extLst>
              <a:ext uri="{FF2B5EF4-FFF2-40B4-BE49-F238E27FC236}">
                <a16:creationId xmlns:a16="http://schemas.microsoft.com/office/drawing/2014/main" id="{720501B1-7C82-B1F3-C11D-204D16B9C4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1328" y="65196"/>
            <a:ext cx="407258" cy="495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964554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Backward-view TD( 𝜆 ) (3)</a:t>
            </a:r>
            <a:endParaRPr dirty="0"/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D15C574D-1E33-37DC-58A7-490C2F4329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130" y="1043733"/>
            <a:ext cx="8687253" cy="5659046"/>
          </a:xfrm>
          <a:prstGeom prst="rect">
            <a:avLst/>
          </a:prstGeom>
        </p:spPr>
      </p:pic>
      <p:pic>
        <p:nvPicPr>
          <p:cNvPr id="2" name="Immagine 1" descr="Immagine che contiene Carattere, Elementi grafici, logo, cerchio&#10;&#10;Descrizione generata automaticamente">
            <a:extLst>
              <a:ext uri="{FF2B5EF4-FFF2-40B4-BE49-F238E27FC236}">
                <a16:creationId xmlns:a16="http://schemas.microsoft.com/office/drawing/2014/main" id="{CC007046-60E9-B05C-B07E-A79CFF6A91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1328" y="65196"/>
            <a:ext cx="407258" cy="495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8928758"/>
      </p:ext>
    </p:extLst>
  </p:cSld>
  <p:clrMapOvr>
    <a:masterClrMapping/>
  </p:clrMapOvr>
</p:sld>
</file>

<file path=ppt/theme/theme1.xml><?xml version="1.0" encoding="utf-8"?>
<a:theme xmlns:a="http://schemas.openxmlformats.org/drawingml/2006/main" name="Luxe">
  <a:themeElements>
    <a:clrScheme name="Luxe">
      <a:dk1>
        <a:srgbClr val="000000"/>
      </a:dk1>
      <a:lt1>
        <a:srgbClr val="FFFFFF"/>
      </a:lt1>
      <a:dk2>
        <a:srgbClr val="B7B7B7"/>
      </a:dk2>
      <a:lt2>
        <a:srgbClr val="CCA677"/>
      </a:lt2>
      <a:accent1>
        <a:srgbClr val="5D4037"/>
      </a:accent1>
      <a:accent2>
        <a:srgbClr val="455A64"/>
      </a:accent2>
      <a:accent3>
        <a:srgbClr val="607D8B"/>
      </a:accent3>
      <a:accent4>
        <a:srgbClr val="78909C"/>
      </a:accent4>
      <a:accent5>
        <a:srgbClr val="57BB8A"/>
      </a:accent5>
      <a:accent6>
        <a:srgbClr val="DCE755"/>
      </a:accent6>
      <a:hlink>
        <a:srgbClr val="57BB8A"/>
      </a:hlink>
      <a:folHlink>
        <a:srgbClr val="57BB8A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e9b5433c-2372-4cb7-8bab-09518096b29b" xsi:nil="true"/>
    <lcf76f155ced4ddcb4097134ff3c332f xmlns="3bd0d43f-5e5b-43cd-b6fc-691bd77672c6">
      <Terms xmlns="http://schemas.microsoft.com/office/infopath/2007/PartnerControls"/>
    </lcf76f155ced4ddcb4097134ff3c332f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B8FA822B18A0634FB7342CF29752587A" ma:contentTypeVersion="13" ma:contentTypeDescription="Creare un nuovo documento." ma:contentTypeScope="" ma:versionID="5c5a1a1f66437ceed8e2102d49525b77">
  <xsd:schema xmlns:xsd="http://www.w3.org/2001/XMLSchema" xmlns:xs="http://www.w3.org/2001/XMLSchema" xmlns:p="http://schemas.microsoft.com/office/2006/metadata/properties" xmlns:ns2="3bd0d43f-5e5b-43cd-b6fc-691bd77672c6" xmlns:ns3="e9b5433c-2372-4cb7-8bab-09518096b29b" targetNamespace="http://schemas.microsoft.com/office/2006/metadata/properties" ma:root="true" ma:fieldsID="79bbaae61552c66980d55f32a6cab4b6" ns2:_="" ns3:_="">
    <xsd:import namespace="3bd0d43f-5e5b-43cd-b6fc-691bd77672c6"/>
    <xsd:import namespace="e9b5433c-2372-4cb7-8bab-09518096b29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bd0d43f-5e5b-43cd-b6fc-691bd77672c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Tag immagine" ma:readOnly="false" ma:fieldId="{5cf76f15-5ced-4ddc-b409-7134ff3c332f}" ma:taxonomyMulti="true" ma:sspId="b3f316dc-fb4b-4146-8b22-f4ef2efe4b0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20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9b5433c-2372-4cb7-8bab-09518096b29b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ac4bbe8c-9a55-4d5f-b385-d948ddfe6c4d}" ma:internalName="TaxCatchAll" ma:showField="CatchAllData" ma:web="e9b5433c-2372-4cb7-8bab-09518096b29b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i contenuto"/>
        <xsd:element ref="dc:title" minOccurs="0" maxOccurs="1" ma:index="4" ma:displayName="Tito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4753A66B-CE1D-4C15-9BC8-B06FBD265D16}">
  <ds:schemaRefs>
    <ds:schemaRef ds:uri="http://www.w3.org/XML/1998/namespace"/>
    <ds:schemaRef ds:uri="http://purl.org/dc/terms/"/>
    <ds:schemaRef ds:uri="e9b5433c-2372-4cb7-8bab-09518096b29b"/>
    <ds:schemaRef ds:uri="http://purl.org/dc/elements/1.1/"/>
    <ds:schemaRef ds:uri="3bd0d43f-5e5b-43cd-b6fc-691bd77672c6"/>
    <ds:schemaRef ds:uri="http://purl.org/dc/dcmitype/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F4ABD3C5-D65C-408B-9DAB-F0402377F2C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bd0d43f-5e5b-43cd-b6fc-691bd77672c6"/>
    <ds:schemaRef ds:uri="e9b5433c-2372-4cb7-8bab-09518096b29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F0B6FF94-55B5-4EB2-AFC5-B44E887525A5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14901</TotalTime>
  <Words>1948</Words>
  <Application>Microsoft Macintosh PowerPoint</Application>
  <PresentationFormat>Presentazione su schermo (4:3)</PresentationFormat>
  <Paragraphs>313</Paragraphs>
  <Slides>30</Slides>
  <Notes>30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30</vt:i4>
      </vt:variant>
    </vt:vector>
  </HeadingPairs>
  <TitlesOfParts>
    <vt:vector size="34" baseType="lpstr">
      <vt:lpstr>Arial</vt:lpstr>
      <vt:lpstr>Economica</vt:lpstr>
      <vt:lpstr>Open Sans</vt:lpstr>
      <vt:lpstr>Luxe</vt:lpstr>
      <vt:lpstr>Policy Evaluation</vt:lpstr>
      <vt:lpstr>Objectives</vt:lpstr>
      <vt:lpstr>Immediate and long-term goals</vt:lpstr>
      <vt:lpstr>Reward, Return and Value functions</vt:lpstr>
      <vt:lpstr>Random Walk Environment</vt:lpstr>
      <vt:lpstr>Monte Carlo prediction (1) </vt:lpstr>
      <vt:lpstr>Monte Carlo prediction (2) </vt:lpstr>
      <vt:lpstr>Monte Carlo prediction (3) </vt:lpstr>
      <vt:lpstr>Monte Carlo prediction (4) </vt:lpstr>
      <vt:lpstr>Monte-Carlo prediction (5)</vt:lpstr>
      <vt:lpstr>Monte-Carlo prediction (6)</vt:lpstr>
      <vt:lpstr>Temporal-Difference Learning (1)</vt:lpstr>
      <vt:lpstr>Temporal-Difference Learning (2)</vt:lpstr>
      <vt:lpstr>Temporal-Difference Learning (3)</vt:lpstr>
      <vt:lpstr>Temporal-Difference Learning (4)</vt:lpstr>
      <vt:lpstr>Temporal-Difference Learning (5)</vt:lpstr>
      <vt:lpstr>Batch updating (1)</vt:lpstr>
      <vt:lpstr>Batch updating (2)</vt:lpstr>
      <vt:lpstr>Batch updating (3)</vt:lpstr>
      <vt:lpstr>n-steps TD (1)</vt:lpstr>
      <vt:lpstr>n-steps TD (2)</vt:lpstr>
      <vt:lpstr>n-steps TD (3)</vt:lpstr>
      <vt:lpstr>n-steps TD (4)</vt:lpstr>
      <vt:lpstr>n-steps TD (5)</vt:lpstr>
      <vt:lpstr>TD(𝜆) (1)</vt:lpstr>
      <vt:lpstr>TD(𝜆) (2)</vt:lpstr>
      <vt:lpstr>Backward-view TD( 𝜆 ) (1)</vt:lpstr>
      <vt:lpstr>Backward-view TD( 𝜆 ) (2)</vt:lpstr>
      <vt:lpstr>Backward-view TD( 𝜆 ) (3)</vt:lpstr>
      <vt:lpstr>Backward-view TD( 𝜆 ) (3)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Digital Abstraction</dc:title>
  <dc:subject/>
  <dc:creator/>
  <cp:keywords/>
  <dc:description/>
  <cp:lastModifiedBy>Riccardo Berta</cp:lastModifiedBy>
  <cp:revision>47</cp:revision>
  <cp:lastPrinted>2023-10-05T13:00:53Z</cp:lastPrinted>
  <dcterms:modified xsi:type="dcterms:W3CDTF">2025-11-05T08:57:35Z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0x010100B8FA822B18A0634FB7342CF29752587A</vt:lpwstr>
  </property>
</Properties>
</file>