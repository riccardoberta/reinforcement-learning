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7"/>
  </p:notesMasterIdLst>
  <p:sldIdLst>
    <p:sldId id="256" r:id="rId5"/>
    <p:sldId id="264" r:id="rId6"/>
    <p:sldId id="281" r:id="rId7"/>
    <p:sldId id="282" r:id="rId8"/>
    <p:sldId id="283" r:id="rId9"/>
    <p:sldId id="284" r:id="rId10"/>
    <p:sldId id="265" r:id="rId11"/>
    <p:sldId id="302" r:id="rId12"/>
    <p:sldId id="303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5" r:id="rId23"/>
    <p:sldId id="299" r:id="rId24"/>
    <p:sldId id="304" r:id="rId25"/>
    <p:sldId id="305" r:id="rId26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8"/>
      <p:bold r:id="rId29"/>
      <p:italic r:id="rId30"/>
      <p:bold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05028-9F89-FE42-8D8A-236D51302C20}" v="12" dt="2025-11-20T11:36:34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1"/>
    <p:restoredTop sz="91742"/>
  </p:normalViewPr>
  <p:slideViewPr>
    <p:cSldViewPr snapToGrid="0" snapToObjects="1">
      <p:cViewPr>
        <p:scale>
          <a:sx n="103" d="100"/>
          <a:sy n="103" d="100"/>
        </p:scale>
        <p:origin x="216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FDDBFC5A-5EA9-5330-BEB8-433D7E3B4C4E}"/>
    <pc:docChg chg="undo custSel addSld modSld sldOrd">
      <pc:chgData name="Riccardo Berta" userId="c8694f89-bba4-4576-b0a8-456619ca5a8c" providerId="ADAL" clId="{FDDBFC5A-5EA9-5330-BEB8-433D7E3B4C4E}" dt="2025-11-20T11:38:16.397" v="241" actId="20577"/>
      <pc:docMkLst>
        <pc:docMk/>
      </pc:docMkLst>
      <pc:sldChg chg="addSp delSp modSp mod">
        <pc:chgData name="Riccardo Berta" userId="c8694f89-bba4-4576-b0a8-456619ca5a8c" providerId="ADAL" clId="{FDDBFC5A-5EA9-5330-BEB8-433D7E3B4C4E}" dt="2025-11-20T11:31:42.292" v="117" actId="14100"/>
        <pc:sldMkLst>
          <pc:docMk/>
          <pc:sldMk cId="2089974615" sldId="293"/>
        </pc:sldMkLst>
        <pc:picChg chg="add mod">
          <ac:chgData name="Riccardo Berta" userId="c8694f89-bba4-4576-b0a8-456619ca5a8c" providerId="ADAL" clId="{FDDBFC5A-5EA9-5330-BEB8-433D7E3B4C4E}" dt="2025-11-20T11:31:42.292" v="117" actId="14100"/>
          <ac:picMkLst>
            <pc:docMk/>
            <pc:sldMk cId="2089974615" sldId="293"/>
            <ac:picMk id="3" creationId="{6568D6BD-CAF3-B269-2D71-474B3E9FB525}"/>
          </ac:picMkLst>
        </pc:picChg>
        <pc:picChg chg="del mod">
          <ac:chgData name="Riccardo Berta" userId="c8694f89-bba4-4576-b0a8-456619ca5a8c" providerId="ADAL" clId="{FDDBFC5A-5EA9-5330-BEB8-433D7E3B4C4E}" dt="2025-11-20T11:31:35.414" v="115" actId="478"/>
          <ac:picMkLst>
            <pc:docMk/>
            <pc:sldMk cId="2089974615" sldId="293"/>
            <ac:picMk id="6" creationId="{63F75DCB-92FE-C15F-FFEB-9C76EECCF4B3}"/>
          </ac:picMkLst>
        </pc:picChg>
      </pc:sldChg>
      <pc:sldChg chg="addSp delSp modSp add mod ord">
        <pc:chgData name="Riccardo Berta" userId="c8694f89-bba4-4576-b0a8-456619ca5a8c" providerId="ADAL" clId="{FDDBFC5A-5EA9-5330-BEB8-433D7E3B4C4E}" dt="2025-11-20T11:36:25.718" v="188" actId="20578"/>
        <pc:sldMkLst>
          <pc:docMk/>
          <pc:sldMk cId="1148976867" sldId="304"/>
        </pc:sldMkLst>
        <pc:spChg chg="add del mod">
          <ac:chgData name="Riccardo Berta" userId="c8694f89-bba4-4576-b0a8-456619ca5a8c" providerId="ADAL" clId="{FDDBFC5A-5EA9-5330-BEB8-433D7E3B4C4E}" dt="2025-11-20T11:32:09.269" v="124" actId="478"/>
          <ac:spMkLst>
            <pc:docMk/>
            <pc:sldMk cId="1148976867" sldId="304"/>
            <ac:spMk id="4" creationId="{C76990A1-9F8B-1832-D258-9A19504B4C81}"/>
          </ac:spMkLst>
        </pc:spChg>
        <pc:spChg chg="add del mod">
          <ac:chgData name="Riccardo Berta" userId="c8694f89-bba4-4576-b0a8-456619ca5a8c" providerId="ADAL" clId="{FDDBFC5A-5EA9-5330-BEB8-433D7E3B4C4E}" dt="2025-11-20T11:32:07.861" v="123" actId="478"/>
          <ac:spMkLst>
            <pc:docMk/>
            <pc:sldMk cId="1148976867" sldId="304"/>
            <ac:spMk id="83" creationId="{21C5AD03-D134-4BE8-5BAC-F3C151B47EF9}"/>
          </ac:spMkLst>
        </pc:spChg>
        <pc:spChg chg="del">
          <ac:chgData name="Riccardo Berta" userId="c8694f89-bba4-4576-b0a8-456619ca5a8c" providerId="ADAL" clId="{FDDBFC5A-5EA9-5330-BEB8-433D7E3B4C4E}" dt="2025-11-20T11:32:03.197" v="119" actId="478"/>
          <ac:spMkLst>
            <pc:docMk/>
            <pc:sldMk cId="1148976867" sldId="304"/>
            <ac:spMk id="84" creationId="{65B5895A-B2EE-2100-D44D-C547F643BA41}"/>
          </ac:spMkLst>
        </pc:spChg>
        <pc:picChg chg="add mod">
          <ac:chgData name="Riccardo Berta" userId="c8694f89-bba4-4576-b0a8-456619ca5a8c" providerId="ADAL" clId="{FDDBFC5A-5EA9-5330-BEB8-433D7E3B4C4E}" dt="2025-11-20T11:35:07.623" v="178" actId="14100"/>
          <ac:picMkLst>
            <pc:docMk/>
            <pc:sldMk cId="1148976867" sldId="304"/>
            <ac:picMk id="6" creationId="{113E1907-ECD6-8E72-9C73-BD3FDB071C05}"/>
          </ac:picMkLst>
        </pc:picChg>
        <pc:picChg chg="add mod">
          <ac:chgData name="Riccardo Berta" userId="c8694f89-bba4-4576-b0a8-456619ca5a8c" providerId="ADAL" clId="{FDDBFC5A-5EA9-5330-BEB8-433D7E3B4C4E}" dt="2025-11-20T11:35:11.513" v="180" actId="1076"/>
          <ac:picMkLst>
            <pc:docMk/>
            <pc:sldMk cId="1148976867" sldId="304"/>
            <ac:picMk id="8" creationId="{45DB66A2-B584-0B87-26E4-3058A58E8211}"/>
          </ac:picMkLst>
        </pc:picChg>
        <pc:picChg chg="add mod">
          <ac:chgData name="Riccardo Berta" userId="c8694f89-bba4-4576-b0a8-456619ca5a8c" providerId="ADAL" clId="{FDDBFC5A-5EA9-5330-BEB8-433D7E3B4C4E}" dt="2025-11-20T11:35:21.259" v="182" actId="14100"/>
          <ac:picMkLst>
            <pc:docMk/>
            <pc:sldMk cId="1148976867" sldId="304"/>
            <ac:picMk id="10" creationId="{75A8E382-9AFF-99E1-F894-1DEB9475503E}"/>
          </ac:picMkLst>
        </pc:picChg>
        <pc:picChg chg="add mod">
          <ac:chgData name="Riccardo Berta" userId="c8694f89-bba4-4576-b0a8-456619ca5a8c" providerId="ADAL" clId="{FDDBFC5A-5EA9-5330-BEB8-433D7E3B4C4E}" dt="2025-11-20T11:35:32.899" v="186" actId="1076"/>
          <ac:picMkLst>
            <pc:docMk/>
            <pc:sldMk cId="1148976867" sldId="304"/>
            <ac:picMk id="12" creationId="{4A54A65E-81A3-D39C-78A9-293BE31A69FA}"/>
          </ac:picMkLst>
        </pc:picChg>
        <pc:picChg chg="add mod">
          <ac:chgData name="Riccardo Berta" userId="c8694f89-bba4-4576-b0a8-456619ca5a8c" providerId="ADAL" clId="{FDDBFC5A-5EA9-5330-BEB8-433D7E3B4C4E}" dt="2025-11-20T11:35:27.467" v="183" actId="14100"/>
          <ac:picMkLst>
            <pc:docMk/>
            <pc:sldMk cId="1148976867" sldId="304"/>
            <ac:picMk id="14" creationId="{1950CEAC-21EA-97CE-22DC-74589958DED8}"/>
          </ac:picMkLst>
        </pc:picChg>
        <pc:picChg chg="add mod">
          <ac:chgData name="Riccardo Berta" userId="c8694f89-bba4-4576-b0a8-456619ca5a8c" providerId="ADAL" clId="{FDDBFC5A-5EA9-5330-BEB8-433D7E3B4C4E}" dt="2025-11-20T11:35:29.542" v="184" actId="14100"/>
          <ac:picMkLst>
            <pc:docMk/>
            <pc:sldMk cId="1148976867" sldId="304"/>
            <ac:picMk id="16" creationId="{D6AFEA16-8005-0296-A952-F1E3E03F000E}"/>
          </ac:picMkLst>
        </pc:picChg>
      </pc:sldChg>
      <pc:sldChg chg="modSp add mod">
        <pc:chgData name="Riccardo Berta" userId="c8694f89-bba4-4576-b0a8-456619ca5a8c" providerId="ADAL" clId="{FDDBFC5A-5EA9-5330-BEB8-433D7E3B4C4E}" dt="2025-11-20T11:38:16.397" v="241" actId="20577"/>
        <pc:sldMkLst>
          <pc:docMk/>
          <pc:sldMk cId="3548885223" sldId="305"/>
        </pc:sldMkLst>
        <pc:spChg chg="mod">
          <ac:chgData name="Riccardo Berta" userId="c8694f89-bba4-4576-b0a8-456619ca5a8c" providerId="ADAL" clId="{FDDBFC5A-5EA9-5330-BEB8-433D7E3B4C4E}" dt="2025-11-20T11:36:29.823" v="190" actId="20577"/>
          <ac:spMkLst>
            <pc:docMk/>
            <pc:sldMk cId="3548885223" sldId="305"/>
            <ac:spMk id="83" creationId="{ED5E06F3-2858-3118-917D-B47F81394128}"/>
          </ac:spMkLst>
        </pc:spChg>
        <pc:spChg chg="mod">
          <ac:chgData name="Riccardo Berta" userId="c8694f89-bba4-4576-b0a8-456619ca5a8c" providerId="ADAL" clId="{FDDBFC5A-5EA9-5330-BEB8-433D7E3B4C4E}" dt="2025-11-20T11:38:16.397" v="241" actId="20577"/>
          <ac:spMkLst>
            <pc:docMk/>
            <pc:sldMk cId="3548885223" sldId="305"/>
            <ac:spMk id="84" creationId="{B722B263-5A21-61BA-FF75-2980A0DF1F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9131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5029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705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4939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1864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344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8382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3606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6126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297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2636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6770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101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3084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092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3411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5615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2B333147-4868-8747-188A-155E6B5E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B66F7B38-C0AD-DDBE-1BC2-D665A6F3B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5785F93C-75AF-CB58-C954-8EA61BD7F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10614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3AF05500-0A78-E92A-1BBA-14F9339A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AAE7A5DB-4A12-70C9-1D6A-431B51887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DB81C84F-2647-E19E-AA09-302DD1412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80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Neural fitted Q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778982"/>
            <a:ext cx="8520600" cy="3467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Reinforcement Learning: sequential feedback, evaluative feedback, sampled feedback, tabular representation</a:t>
            </a:r>
          </a:p>
          <a:p>
            <a:r>
              <a:rPr lang="en-GB" sz="1800" dirty="0"/>
              <a:t>Generalization needs</a:t>
            </a:r>
          </a:p>
          <a:p>
            <a:pPr lvl="0"/>
            <a:r>
              <a:rPr lang="en-GB" sz="1800" dirty="0"/>
              <a:t>The Cart-pole environment</a:t>
            </a:r>
          </a:p>
          <a:p>
            <a:pPr lvl="0"/>
            <a:r>
              <a:rPr lang="en-GB" sz="1800" dirty="0"/>
              <a:t>Select the neural architecture</a:t>
            </a:r>
          </a:p>
          <a:p>
            <a:pPr lvl="0"/>
            <a:r>
              <a:rPr lang="en-GB" sz="1800" dirty="0"/>
              <a:t>Select what to optimize</a:t>
            </a:r>
          </a:p>
          <a:p>
            <a:pPr lvl="0"/>
            <a:r>
              <a:rPr lang="en-GB" sz="1800" dirty="0"/>
              <a:t>Select the exploration strategy</a:t>
            </a:r>
          </a:p>
          <a:p>
            <a:pPr lvl="0"/>
            <a:r>
              <a:rPr lang="en-GB" sz="1800" dirty="0"/>
              <a:t>Select an optimization method</a:t>
            </a:r>
          </a:p>
          <a:p>
            <a:pPr lvl="0"/>
            <a:r>
              <a:rPr lang="en-GB" sz="1800" dirty="0"/>
              <a:t>Neural Fitted Q (NFQ)</a:t>
            </a:r>
          </a:p>
          <a:p>
            <a:pPr lvl="0"/>
            <a:r>
              <a:rPr lang="en-GB" sz="1800" dirty="0"/>
              <a:t>Challenges</a:t>
            </a:r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sequential feedback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3956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 Agent receives </a:t>
            </a:r>
            <a:r>
              <a:rPr lang="en-GB" b="1" dirty="0"/>
              <a:t>delayed feedback</a:t>
            </a:r>
          </a:p>
          <a:p>
            <a:pPr lvl="1"/>
            <a:r>
              <a:rPr lang="en-GB" dirty="0"/>
              <a:t>chess: you make wrong moves early on, but consequences only manifest at the end</a:t>
            </a:r>
          </a:p>
          <a:p>
            <a:pPr lvl="1"/>
            <a:r>
              <a:rPr lang="en-GB" dirty="0"/>
              <a:t>it is tricky to interpret the source of the feedback </a:t>
            </a:r>
          </a:p>
          <a:p>
            <a:r>
              <a:rPr lang="en-GB" dirty="0"/>
              <a:t>The </a:t>
            </a:r>
            <a:r>
              <a:rPr lang="en-GB" b="1" dirty="0"/>
              <a:t>temporal credit assignment problem</a:t>
            </a:r>
          </a:p>
          <a:p>
            <a:pPr lvl="1"/>
            <a:r>
              <a:rPr lang="en-GB" dirty="0"/>
              <a:t>determining which state-action pair is responsible for a reward</a:t>
            </a:r>
          </a:p>
          <a:p>
            <a:endParaRPr lang="en-GB" sz="11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1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supervised learning decisions don’t have long-term consequences </a:t>
            </a:r>
          </a:p>
          <a:p>
            <a:pPr lvl="1"/>
            <a:r>
              <a:rPr lang="en-GB" dirty="0"/>
              <a:t>classifying an image (correctly or not) has no bearing on future performance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5C59F0B-ADDC-C3F2-0600-F9BCA78AE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0" y="2841634"/>
            <a:ext cx="5511800" cy="27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1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evaluative feedback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73508" y="1022216"/>
            <a:ext cx="8818500" cy="5669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 goodness of the feedback is </a:t>
            </a:r>
            <a:r>
              <a:rPr lang="en-GB" b="1" dirty="0"/>
              <a:t>only relative</a:t>
            </a:r>
          </a:p>
          <a:p>
            <a:pPr lvl="1"/>
            <a:r>
              <a:rPr lang="en-GB" dirty="0"/>
              <a:t>the environment is uncertain</a:t>
            </a:r>
          </a:p>
          <a:p>
            <a:pPr lvl="1"/>
            <a:r>
              <a:rPr lang="en-GB" dirty="0"/>
              <a:t>agent doesn’t know the actual dynamics of the environment </a:t>
            </a:r>
          </a:p>
          <a:p>
            <a:r>
              <a:rPr lang="en-GB" dirty="0"/>
              <a:t>The agent must explore, but it misses capitalizing on its current knowledge</a:t>
            </a:r>
          </a:p>
          <a:p>
            <a:pPr lvl="1"/>
            <a:r>
              <a:rPr lang="en-GB" b="1" dirty="0"/>
              <a:t>exploration-exploitation </a:t>
            </a:r>
            <a:r>
              <a:rPr lang="en-GB" dirty="0"/>
              <a:t>trade-off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sz="2000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opposite is supervised feedback</a:t>
            </a:r>
          </a:p>
          <a:p>
            <a:pPr lvl="1"/>
            <a:r>
              <a:rPr lang="en-GB" dirty="0"/>
              <a:t>In ML during learning, the model is given correct labels for each samples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5EC8C93-6E23-E022-0237-E68794DB6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66" y="2848365"/>
            <a:ext cx="4931458" cy="29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5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sampled feedback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326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In real problems, agents are </a:t>
            </a:r>
            <a:r>
              <a:rPr lang="en-GB" b="1" dirty="0"/>
              <a:t>unlikely to sample all possible feedback exhaustively</a:t>
            </a:r>
          </a:p>
          <a:p>
            <a:pPr lvl="1"/>
            <a:r>
              <a:rPr lang="en-GB" dirty="0"/>
              <a:t>common assumptions "sampling every state-action pair infinitely often” are reasonable in small grid worlds with finite state and action spaces</a:t>
            </a:r>
          </a:p>
          <a:p>
            <a:pPr lvl="0"/>
            <a:r>
              <a:rPr lang="en-GB" dirty="0"/>
              <a:t>The core of supervised learning is to learn from sampled feedback in order to be able to </a:t>
            </a:r>
            <a:r>
              <a:rPr lang="en-GB" b="1" dirty="0"/>
              <a:t>generalize</a:t>
            </a:r>
            <a:r>
              <a:rPr lang="en-GB" dirty="0"/>
              <a:t> to new samples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8E9B487-E9AA-6FCF-A4B0-99E5B235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99" y="3101927"/>
            <a:ext cx="5096934" cy="351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0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tabular representation</a:t>
            </a:r>
            <a:endParaRPr sz="4000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2446801-D956-614F-1A3E-B4A14E0E8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700" y="1104349"/>
            <a:ext cx="8818500" cy="5481645"/>
          </a:xfrm>
        </p:spPr>
        <p:txBody>
          <a:bodyPr/>
          <a:lstStyle/>
          <a:p>
            <a:r>
              <a:rPr lang="en-GB" dirty="0"/>
              <a:t>A table to represent value functions is </a:t>
            </a:r>
            <a:r>
              <a:rPr lang="en-GB" b="1" dirty="0"/>
              <a:t>no practical </a:t>
            </a:r>
            <a:r>
              <a:rPr lang="en-GB" dirty="0"/>
              <a:t>in complex problems</a:t>
            </a:r>
          </a:p>
          <a:p>
            <a:pPr lvl="1"/>
            <a:r>
              <a:rPr lang="en-GB" dirty="0"/>
              <a:t>Q-learning estimates optimal action-value function by a matrix indexed by states and actions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120650" indent="0">
              <a:buNone/>
            </a:pPr>
            <a:endParaRPr lang="en-GB" dirty="0"/>
          </a:p>
          <a:p>
            <a:r>
              <a:rPr lang="en-GB" dirty="0"/>
              <a:t>Environments can have </a:t>
            </a:r>
            <a:r>
              <a:rPr lang="en-GB" b="1" dirty="0"/>
              <a:t>high-dimensional state spaces </a:t>
            </a:r>
            <a:r>
              <a:rPr lang="en-GB" dirty="0"/>
              <a:t>(the number of variables that comprise a single state is vast) or can additionally have </a:t>
            </a:r>
            <a:r>
              <a:rPr lang="en-GB" b="1" dirty="0"/>
              <a:t>continuous variables</a:t>
            </a:r>
            <a:r>
              <a:rPr lang="en-GB" dirty="0"/>
              <a:t> (a single variable can take on an infinite number of values)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2D06E5-A3FB-B257-B078-DAA66ADB1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391541"/>
            <a:ext cx="8536891" cy="25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3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Generalization needs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02540" y="1147907"/>
            <a:ext cx="8958942" cy="5490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In real tasks the state space is </a:t>
            </a:r>
            <a:r>
              <a:rPr lang="en-GB" b="1" dirty="0"/>
              <a:t>combinatorial</a:t>
            </a:r>
            <a:r>
              <a:rPr lang="en-GB" dirty="0"/>
              <a:t> and </a:t>
            </a:r>
            <a:r>
              <a:rPr lang="en-GB" b="1" dirty="0"/>
              <a:t>enormous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we cannot expect to find an optimal policy</a:t>
            </a:r>
          </a:p>
          <a:p>
            <a:pPr lvl="1"/>
            <a:r>
              <a:rPr lang="en-GB" dirty="0"/>
              <a:t>the goal instead is to find a </a:t>
            </a:r>
            <a:r>
              <a:rPr lang="en-GB" b="1" dirty="0"/>
              <a:t>good approximate solution </a:t>
            </a:r>
          </a:p>
          <a:p>
            <a:r>
              <a:rPr lang="en-GB" dirty="0"/>
              <a:t>One problem: the </a:t>
            </a:r>
            <a:r>
              <a:rPr lang="en-GB" b="1" dirty="0"/>
              <a:t>memory needed </a:t>
            </a:r>
            <a:r>
              <a:rPr lang="en-GB" dirty="0"/>
              <a:t>for large tables and  the </a:t>
            </a:r>
            <a:r>
              <a:rPr lang="en-GB" b="1" dirty="0"/>
              <a:t>time needed</a:t>
            </a:r>
            <a:r>
              <a:rPr lang="en-GB" dirty="0"/>
              <a:t> to fill them accurately</a:t>
            </a:r>
          </a:p>
          <a:p>
            <a:r>
              <a:rPr lang="en-GB" dirty="0"/>
              <a:t>Even worst: almost every state encountered </a:t>
            </a:r>
            <a:r>
              <a:rPr lang="en-GB" b="1" dirty="0"/>
              <a:t>will never have been seen before</a:t>
            </a:r>
          </a:p>
          <a:p>
            <a:pPr lvl="1"/>
            <a:r>
              <a:rPr lang="en-GB" dirty="0"/>
              <a:t>it is necessary to </a:t>
            </a:r>
            <a:r>
              <a:rPr lang="en-GB" b="1" dirty="0"/>
              <a:t>generalize</a:t>
            </a:r>
            <a:r>
              <a:rPr lang="en-GB" dirty="0"/>
              <a:t> from previous experience with different (but in some sense similar) states</a:t>
            </a:r>
          </a:p>
          <a:p>
            <a:r>
              <a:rPr lang="en-GB" dirty="0"/>
              <a:t>How can experience with a limited subset of the state space be generalized to produce a good approximation over a much larger subset?</a:t>
            </a:r>
          </a:p>
          <a:p>
            <a:pPr lvl="1"/>
            <a:r>
              <a:rPr lang="en-GB" b="1" dirty="0"/>
              <a:t>generalization from examples </a:t>
            </a:r>
            <a:r>
              <a:rPr lang="en-GB" dirty="0"/>
              <a:t>has been extensively studied in </a:t>
            </a:r>
            <a:r>
              <a:rPr lang="en-GB" b="1" dirty="0"/>
              <a:t>Machine Learning</a:t>
            </a:r>
          </a:p>
          <a:p>
            <a:pPr lvl="1"/>
            <a:r>
              <a:rPr lang="en-GB" dirty="0"/>
              <a:t>we need to combine RL methods with existing generalization methods</a:t>
            </a:r>
          </a:p>
          <a:p>
            <a:pPr lvl="1"/>
            <a:endParaRPr lang="en-GB" sz="100" dirty="0"/>
          </a:p>
          <a:p>
            <a:r>
              <a:rPr lang="en-GB" dirty="0"/>
              <a:t>The kind of generalization is called </a:t>
            </a:r>
            <a:r>
              <a:rPr lang="en-GB" b="1" dirty="0"/>
              <a:t>function approximation </a:t>
            </a:r>
          </a:p>
          <a:p>
            <a:pPr lvl="1"/>
            <a:r>
              <a:rPr lang="en-GB" dirty="0"/>
              <a:t>takes examples from a desired function (e.g. value function) </a:t>
            </a:r>
          </a:p>
          <a:p>
            <a:pPr lvl="1"/>
            <a:r>
              <a:rPr lang="en-GB" dirty="0"/>
              <a:t>attempts to generalize from them to construct an approximation of the entire function </a:t>
            </a:r>
          </a:p>
        </p:txBody>
      </p:sp>
    </p:spTree>
    <p:extLst>
      <p:ext uri="{BB962C8B-B14F-4D97-AF65-F5344CB8AC3E}">
        <p14:creationId xmlns:p14="http://schemas.microsoft.com/office/powerpoint/2010/main" val="205670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diagramma, linea&#10;&#10;Descrizione generata automaticamente">
            <a:extLst>
              <a:ext uri="{FF2B5EF4-FFF2-40B4-BE49-F238E27FC236}">
                <a16:creationId xmlns:a16="http://schemas.microsoft.com/office/drawing/2014/main" id="{46359122-EFA3-B398-28FE-2A760D3CF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80" y="1156854"/>
            <a:ext cx="4924010" cy="2408149"/>
          </a:xfrm>
          <a:prstGeom prst="rect">
            <a:avLst/>
          </a:prstGeom>
        </p:spPr>
      </p:pic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The Cart-pole environment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81726" y="1073639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It is a classic in reinforcement learning</a:t>
            </a:r>
          </a:p>
          <a:p>
            <a:pPr lvl="1"/>
            <a:r>
              <a:rPr lang="en-GB" dirty="0"/>
              <a:t>state space has four variables</a:t>
            </a:r>
          </a:p>
          <a:p>
            <a:pPr lvl="2"/>
            <a:r>
              <a:rPr lang="en-GB" dirty="0"/>
              <a:t>position on the track (x-axis) </a:t>
            </a:r>
          </a:p>
          <a:p>
            <a:pPr lvl="2"/>
            <a:r>
              <a:rPr lang="en-GB" dirty="0"/>
              <a:t>velocity along the track (x-axis)  </a:t>
            </a:r>
          </a:p>
          <a:p>
            <a:pPr lvl="2"/>
            <a:r>
              <a:rPr lang="en-GB" dirty="0"/>
              <a:t>angle</a:t>
            </a:r>
          </a:p>
          <a:p>
            <a:pPr lvl="2"/>
            <a:r>
              <a:rPr lang="en-GB" dirty="0"/>
              <a:t>velocity at the tip </a:t>
            </a:r>
          </a:p>
          <a:p>
            <a:pPr lvl="1"/>
            <a:r>
              <a:rPr lang="en-GB" dirty="0"/>
              <a:t>two available actions in every state</a:t>
            </a:r>
          </a:p>
          <a:p>
            <a:pPr lvl="2"/>
            <a:r>
              <a:rPr lang="en-GB" dirty="0"/>
              <a:t>action 0 applies a –1 force to the cart (push it left)</a:t>
            </a:r>
          </a:p>
          <a:p>
            <a:pPr lvl="2"/>
            <a:r>
              <a:rPr lang="en-GB" dirty="0"/>
              <a:t>action 1 applies a +1 force to the cart (push it right)</a:t>
            </a:r>
          </a:p>
          <a:p>
            <a:pPr lvl="1"/>
            <a:r>
              <a:rPr lang="en-GB" dirty="0"/>
              <a:t>The cart reach a terminal state if the angle is more than 12 degrees away from the vertical position; the centre is more than 2.4 units from the centre of the track; and the episode count reaches 500 time steps.</a:t>
            </a:r>
          </a:p>
          <a:p>
            <a:pPr lvl="1"/>
            <a:r>
              <a:rPr lang="en-GB" dirty="0"/>
              <a:t>The reward function is +1 for every time step</a:t>
            </a:r>
          </a:p>
          <a:p>
            <a:r>
              <a:rPr lang="en-GB" dirty="0"/>
              <a:t>State space is </a:t>
            </a:r>
            <a:r>
              <a:rPr lang="en-GB" b="1" dirty="0"/>
              <a:t>low dimensional </a:t>
            </a:r>
            <a:r>
              <a:rPr lang="en-GB" dirty="0"/>
              <a:t>but </a:t>
            </a:r>
            <a:r>
              <a:rPr lang="en-GB" b="1" dirty="0"/>
              <a:t>continuous</a:t>
            </a:r>
          </a:p>
          <a:p>
            <a:r>
              <a:rPr lang="en-GB" dirty="0"/>
              <a:t>Training is fast and function approximation can help</a:t>
            </a:r>
          </a:p>
        </p:txBody>
      </p:sp>
      <p:pic>
        <p:nvPicPr>
          <p:cNvPr id="5" name="Immagine 4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ADF053CD-F6AF-86E1-CC56-2247B2B5F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21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the neural architecture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4308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refer to the </a:t>
            </a:r>
            <a:r>
              <a:rPr lang="en-GB" b="1" dirty="0"/>
              <a:t>approximate action-value function</a:t>
            </a:r>
            <a:r>
              <a:rPr lang="en-GB" dirty="0"/>
              <a:t> as Q(</a:t>
            </a:r>
            <a:r>
              <a:rPr lang="en-GB" dirty="0" err="1"/>
              <a:t>s,a</a:t>
            </a:r>
            <a:r>
              <a:rPr lang="en-GB" dirty="0"/>
              <a:t>; theta)</a:t>
            </a:r>
          </a:p>
          <a:p>
            <a:pPr lvl="1"/>
            <a:r>
              <a:rPr lang="en-GB" dirty="0"/>
              <a:t>parameterized by theta </a:t>
            </a:r>
          </a:p>
          <a:p>
            <a:pPr lvl="1"/>
            <a:r>
              <a:rPr lang="en-GB" dirty="0"/>
              <a:t>parameterized by the weights of a neural network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739E258-B16F-DE3C-1749-6CC9DBBA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20" y="2981149"/>
            <a:ext cx="5072934" cy="250524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689E3C1-2A92-9342-E6C5-5109BED79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58" y="2789499"/>
            <a:ext cx="4273956" cy="269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3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the neural architecture (2)</a:t>
            </a:r>
            <a:endParaRPr sz="4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F8BC385-753F-A59E-C9D5-261890853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" y="1794326"/>
            <a:ext cx="9054915" cy="387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2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51896"/>
            <a:ext cx="8818500" cy="5435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Loss function</a:t>
            </a:r>
            <a:r>
              <a:rPr lang="en-GB" dirty="0"/>
              <a:t>: a measure of how well our predictions are</a:t>
            </a:r>
          </a:p>
          <a:p>
            <a:pPr lvl="1"/>
            <a:r>
              <a:rPr lang="en-GB" dirty="0"/>
              <a:t>MSE (mean squared error, or L2 loss)</a:t>
            </a:r>
          </a:p>
          <a:p>
            <a:pPr lvl="1"/>
            <a:r>
              <a:rPr lang="en-GB" dirty="0"/>
              <a:t>average squared difference between the "predicted" and "true" values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straightforward in supervised learning (training/test set): in RL the "predicted values" are those from the neural network, but the "true values"?</a:t>
            </a:r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sz="1000" dirty="0"/>
          </a:p>
          <a:p>
            <a:r>
              <a:rPr lang="en-GB" dirty="0"/>
              <a:t>We don’t have sample of that optimal values, but remember that</a:t>
            </a:r>
          </a:p>
          <a:p>
            <a:pPr lvl="1"/>
            <a:r>
              <a:rPr lang="en-GB" dirty="0"/>
              <a:t>we can use the same principle of generalized policy iteration: alternate between policy-evaluation and policy-improvement</a:t>
            </a:r>
          </a:p>
          <a:p>
            <a:pPr lvl="1"/>
            <a:r>
              <a:rPr lang="en-GB" dirty="0"/>
              <a:t>however, using non-linear approximation cannot guarantees convergence</a:t>
            </a:r>
            <a:endParaRPr lang="en-GB" sz="500" dirty="0"/>
          </a:p>
          <a:p>
            <a:r>
              <a:rPr lang="en-GB" dirty="0"/>
              <a:t>We can use as "true values" the TD targets, which depend on a prediction coming from the network, the value of the next state, in a circular dependency</a:t>
            </a:r>
          </a:p>
          <a:p>
            <a:endParaRPr lang="en-GB" dirty="0"/>
          </a:p>
          <a:p>
            <a:endParaRPr lang="en-GB" dirty="0"/>
          </a:p>
          <a:p>
            <a:pPr marL="120650" indent="0">
              <a:buNone/>
            </a:pPr>
            <a:endParaRPr lang="en-GB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669E2B1-8308-4DD7-D4D7-E736820EE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63" y="3565904"/>
            <a:ext cx="3708400" cy="457200"/>
          </a:xfrm>
          <a:prstGeom prst="rect">
            <a:avLst/>
          </a:prstGeom>
        </p:spPr>
      </p:pic>
      <p:pic>
        <p:nvPicPr>
          <p:cNvPr id="3" name="Immagine 2" descr="Immagine che contiene Carattere, tipografia, calligrafia, testo&#10;&#10;Descrizione generata automaticamente">
            <a:extLst>
              <a:ext uri="{FF2B5EF4-FFF2-40B4-BE49-F238E27FC236}">
                <a16:creationId xmlns:a16="http://schemas.microsoft.com/office/drawing/2014/main" id="{BE9405DF-DE8E-8C89-8A16-8C0757FB0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463" y="2325740"/>
            <a:ext cx="34036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1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This circular dependency is bad: it’s not well behaved because it </a:t>
            </a:r>
            <a:r>
              <a:rPr lang="en-GB" b="1" dirty="0"/>
              <a:t>doesn’t respect several of the assumptions made in supervised learning problems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3CE8286-9E36-9187-1225-E504196F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1384300"/>
            <a:ext cx="7772400" cy="392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(3)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There are multiple ways we can evaluate a policy: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93AC528-83AE-0B51-655E-8F4E577AB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87" y="1810139"/>
            <a:ext cx="7272693" cy="47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84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(4)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can use any of these targets and get solid results, however we keep things simple and use the off-policy TD target (Q-learning): </a:t>
            </a:r>
          </a:p>
          <a:p>
            <a:pPr lvl="0"/>
            <a:endParaRPr lang="en-GB" sz="600" dirty="0"/>
          </a:p>
          <a:p>
            <a:pPr lvl="0"/>
            <a:endParaRPr lang="en-GB" dirty="0"/>
          </a:p>
          <a:p>
            <a:pPr lvl="0"/>
            <a:endParaRPr lang="en-GB" sz="1400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dirty="0"/>
          </a:p>
          <a:p>
            <a:pPr lvl="0"/>
            <a:r>
              <a:rPr lang="en-GB" dirty="0"/>
              <a:t>Now, we can substitute in the loss function definition: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In ML we have </a:t>
            </a:r>
            <a:r>
              <a:rPr lang="en-GB" b="1" dirty="0"/>
              <a:t>predicted values</a:t>
            </a:r>
            <a:r>
              <a:rPr lang="en-GB" dirty="0"/>
              <a:t> (from the learning model) and </a:t>
            </a:r>
            <a:r>
              <a:rPr lang="en-GB" b="1" dirty="0"/>
              <a:t>true values </a:t>
            </a:r>
            <a:r>
              <a:rPr lang="en-GB" dirty="0"/>
              <a:t>(commonly constants and provided in advance)</a:t>
            </a:r>
          </a:p>
          <a:p>
            <a:pPr lvl="0"/>
            <a:r>
              <a:rPr lang="en-GB" dirty="0"/>
              <a:t>In RL, the "true values" </a:t>
            </a:r>
            <a:r>
              <a:rPr lang="en-GB" b="1" dirty="0"/>
              <a:t>depend on predicted values themselves</a:t>
            </a:r>
            <a:r>
              <a:rPr lang="en-GB" dirty="0"/>
              <a:t>: they come from the model, however </a:t>
            </a:r>
            <a:r>
              <a:rPr lang="en-GB" b="1" dirty="0"/>
              <a:t>they should be treated as a constant</a:t>
            </a:r>
            <a:r>
              <a:rPr lang="en-GB" dirty="0"/>
              <a:t>. 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dirty="0"/>
          </a:p>
        </p:txBody>
      </p:sp>
      <p:pic>
        <p:nvPicPr>
          <p:cNvPr id="4" name="Immagine 3" descr="Immagine che contiene testo, Carattere, calligrafia, bianco&#10;&#10;Descrizione generata automaticamente">
            <a:extLst>
              <a:ext uri="{FF2B5EF4-FFF2-40B4-BE49-F238E27FC236}">
                <a16:creationId xmlns:a16="http://schemas.microsoft.com/office/drawing/2014/main" id="{7475F5FE-5F7A-3ABD-955C-C453823C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0793"/>
            <a:ext cx="7772400" cy="101379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60FA82C-CB8F-A46C-D6D8-0C579A6DC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4944"/>
            <a:ext cx="4737100" cy="533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74A7BC7-F749-2842-B841-E12292550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20867"/>
            <a:ext cx="7876990" cy="74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2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the exploration strategy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need to balance the exploration-exploitation trade-off</a:t>
            </a:r>
          </a:p>
          <a:p>
            <a:pPr lvl="1"/>
            <a:r>
              <a:rPr lang="en-GB" dirty="0"/>
              <a:t>almost any technique would work fine</a:t>
            </a:r>
          </a:p>
          <a:p>
            <a:pPr lvl="1"/>
            <a:r>
              <a:rPr lang="en-GB" dirty="0"/>
              <a:t>to keep things simple, we’re going to use an epsilon-greedy strategy </a:t>
            </a:r>
          </a:p>
          <a:p>
            <a:pPr lvl="1"/>
            <a:endParaRPr lang="en-GB" dirty="0"/>
          </a:p>
          <a:p>
            <a:r>
              <a:rPr lang="en-GB" dirty="0"/>
              <a:t>Remember that the implication of the off-policy learning: two policies</a:t>
            </a:r>
          </a:p>
          <a:p>
            <a:pPr lvl="1"/>
            <a:r>
              <a:rPr lang="en-GB" dirty="0"/>
              <a:t>a policy that generates behaviour (in this case is an epsilon-greedy policy) </a:t>
            </a:r>
          </a:p>
          <a:p>
            <a:pPr lvl="1"/>
            <a:r>
              <a:rPr lang="en-GB" dirty="0"/>
              <a:t>a policy that we’re learning about </a:t>
            </a:r>
          </a:p>
          <a:p>
            <a:endParaRPr lang="en-GB" dirty="0"/>
          </a:p>
          <a:p>
            <a:r>
              <a:rPr lang="en-GB" dirty="0"/>
              <a:t>When evaluating the agent, we will use the action greedy with respect to the learned action-value function</a:t>
            </a:r>
          </a:p>
        </p:txBody>
      </p:sp>
    </p:spTree>
    <p:extLst>
      <p:ext uri="{BB962C8B-B14F-4D97-AF65-F5344CB8AC3E}">
        <p14:creationId xmlns:p14="http://schemas.microsoft.com/office/powerpoint/2010/main" val="2069157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an optimization method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75107" y="994305"/>
            <a:ext cx="8818500" cy="5658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Gradient Descent method needs a couple of assumptions: </a:t>
            </a:r>
          </a:p>
          <a:p>
            <a:pPr lvl="1"/>
            <a:r>
              <a:rPr lang="en-GB" dirty="0"/>
              <a:t>data must be </a:t>
            </a:r>
            <a:r>
              <a:rPr lang="en-GB" b="1" dirty="0"/>
              <a:t>independent and identically distributed </a:t>
            </a:r>
            <a:r>
              <a:rPr lang="en-GB" dirty="0"/>
              <a:t>(IID) </a:t>
            </a:r>
          </a:p>
          <a:p>
            <a:pPr lvl="1"/>
            <a:r>
              <a:rPr lang="en-GB" dirty="0"/>
              <a:t>targets must be </a:t>
            </a:r>
            <a:r>
              <a:rPr lang="en-GB" b="1" dirty="0"/>
              <a:t>stationary</a:t>
            </a:r>
          </a:p>
          <a:p>
            <a:pPr lvl="1"/>
            <a:r>
              <a:rPr lang="en-GB" dirty="0"/>
              <a:t>in RL we cannot ensure any of these assumptions</a:t>
            </a:r>
          </a:p>
          <a:p>
            <a:r>
              <a:rPr lang="en-GB" dirty="0"/>
              <a:t>We need a robust optimization method</a:t>
            </a:r>
          </a:p>
          <a:p>
            <a:pPr lvl="1"/>
            <a:r>
              <a:rPr lang="en-GB" dirty="0"/>
              <a:t>Batch Gradient Descent: </a:t>
            </a:r>
          </a:p>
          <a:p>
            <a:pPr lvl="2"/>
            <a:r>
              <a:rPr lang="en-GB" dirty="0"/>
              <a:t>takes the entire dataset, calculates the gradient and </a:t>
            </a:r>
            <a:br>
              <a:rPr lang="en-GB" dirty="0"/>
            </a:br>
            <a:r>
              <a:rPr lang="en-GB" dirty="0"/>
              <a:t>steps toward this gradient a little bit at a time</a:t>
            </a:r>
          </a:p>
          <a:p>
            <a:pPr lvl="2"/>
            <a:r>
              <a:rPr lang="en-GB" dirty="0"/>
              <a:t>we don’t even have a dataset in advance, so it </a:t>
            </a:r>
            <a:br>
              <a:rPr lang="en-GB" dirty="0"/>
            </a:br>
            <a:r>
              <a:rPr lang="en-GB" dirty="0"/>
              <a:t>isn’t applicable</a:t>
            </a:r>
          </a:p>
          <a:p>
            <a:pPr lvl="1"/>
            <a:r>
              <a:rPr lang="en-GB" dirty="0"/>
              <a:t>Mini-batch gradient descent</a:t>
            </a:r>
          </a:p>
          <a:p>
            <a:pPr lvl="2"/>
            <a:r>
              <a:rPr lang="en-GB" dirty="0"/>
              <a:t>only a fraction of the data at a time (mini-batch)</a:t>
            </a:r>
          </a:p>
          <a:p>
            <a:pPr lvl="1"/>
            <a:r>
              <a:rPr lang="en-GB" dirty="0"/>
              <a:t>Gradient descent with momentum</a:t>
            </a:r>
          </a:p>
          <a:p>
            <a:pPr lvl="2"/>
            <a:r>
              <a:rPr lang="en-GB" dirty="0"/>
              <a:t>updates weights in  the direction of the moving </a:t>
            </a:r>
            <a:br>
              <a:rPr lang="en-GB" dirty="0"/>
            </a:br>
            <a:r>
              <a:rPr lang="en-GB" dirty="0"/>
              <a:t>average of the gradients, instead of the gradient itself</a:t>
            </a:r>
          </a:p>
          <a:p>
            <a:pPr lvl="1"/>
            <a:r>
              <a:rPr lang="en-GB" dirty="0"/>
              <a:t>Others: </a:t>
            </a:r>
            <a:r>
              <a:rPr lang="en-GB" b="1" dirty="0"/>
              <a:t>root mean square propagation </a:t>
            </a:r>
            <a:r>
              <a:rPr lang="en-GB" dirty="0"/>
              <a:t>(RMSprop), </a:t>
            </a:r>
            <a:br>
              <a:rPr lang="en-GB" dirty="0"/>
            </a:br>
            <a:r>
              <a:rPr lang="en-GB" b="1" dirty="0"/>
              <a:t>adaptive moment estimation </a:t>
            </a:r>
            <a:r>
              <a:rPr lang="en-GB" dirty="0"/>
              <a:t>(Adam)</a:t>
            </a:r>
          </a:p>
          <a:p>
            <a:pPr lvl="2"/>
            <a:endParaRPr lang="en-GB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824B62-39D2-067B-7973-592F3517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980" y="2981725"/>
            <a:ext cx="2470839" cy="115331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EEED730-36D2-B792-9B7F-B97976EDD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115" y="4166867"/>
            <a:ext cx="2612571" cy="1187533"/>
          </a:xfrm>
          <a:prstGeom prst="rect">
            <a:avLst/>
          </a:prstGeom>
        </p:spPr>
      </p:pic>
      <p:pic>
        <p:nvPicPr>
          <p:cNvPr id="9" name="Immagine 8" descr="Immagine che contiene cerchio, design, illustrazione&#10;&#10;Descrizione generata automaticamente">
            <a:extLst>
              <a:ext uri="{FF2B5EF4-FFF2-40B4-BE49-F238E27FC236}">
                <a16:creationId xmlns:a16="http://schemas.microsoft.com/office/drawing/2014/main" id="{4477482F-E0DC-53B1-ED73-708167103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115" y="5386229"/>
            <a:ext cx="2787678" cy="123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8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Neural Fitted Q (NFQ)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31512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Now we can put things together: </a:t>
            </a:r>
          </a:p>
          <a:p>
            <a:pPr lvl="1"/>
            <a:r>
              <a:rPr lang="en-GB" dirty="0"/>
              <a:t>approximate 𝑄(𝑠,𝑎;𝜃) using a fully connected NN </a:t>
            </a:r>
          </a:p>
          <a:p>
            <a:pPr lvl="1"/>
            <a:r>
              <a:rPr lang="en-GB" dirty="0"/>
              <a:t>use the off-policy TD targets (𝑟 + 𝛾 max</a:t>
            </a:r>
            <a:r>
              <a:rPr lang="en-GB" baseline="-25000" dirty="0"/>
              <a:t>𝑎</a:t>
            </a:r>
            <a:r>
              <a:rPr lang="en-GB" dirty="0"/>
              <a:t>𝑄(𝑠′,𝑎;𝜃)) to evaluate policies</a:t>
            </a:r>
          </a:p>
          <a:p>
            <a:pPr lvl="1"/>
            <a:r>
              <a:rPr lang="en-GB" dirty="0"/>
              <a:t>use an epsilon-greedy strategy to improve policies</a:t>
            </a:r>
          </a:p>
          <a:p>
            <a:pPr lvl="1"/>
            <a:r>
              <a:rPr lang="en-GB" dirty="0"/>
              <a:t>use mean squared error (MSE) for the loss function </a:t>
            </a:r>
          </a:p>
          <a:p>
            <a:pPr lvl="1"/>
            <a:r>
              <a:rPr lang="en-GB" dirty="0"/>
              <a:t>and use RMSprop as optimizer</a:t>
            </a:r>
          </a:p>
          <a:p>
            <a:pPr lvl="1"/>
            <a:endParaRPr lang="en-GB" sz="100" dirty="0"/>
          </a:p>
          <a:p>
            <a:pPr lvl="0"/>
            <a:r>
              <a:rPr lang="en-GB" dirty="0"/>
              <a:t>The full neural fitted Q-iteration (NFQ) algorithm has three main steps:</a:t>
            </a:r>
          </a:p>
        </p:txBody>
      </p:sp>
      <p:pic>
        <p:nvPicPr>
          <p:cNvPr id="4" name="Immagine 3" descr="Immagine che contiene testo, Carattere, linea, bianco&#10;&#10;Descrizione generata automaticamente">
            <a:extLst>
              <a:ext uri="{FF2B5EF4-FFF2-40B4-BE49-F238E27FC236}">
                <a16:creationId xmlns:a16="http://schemas.microsoft.com/office/drawing/2014/main" id="{91B66105-7558-9D16-874B-B9412A409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25" y="3953580"/>
            <a:ext cx="7772400" cy="274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42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Neural Fitted Q (NFQ)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NFQ is not a state-of-the-art solution, however in a simple environment as the cart-pole, it shows a decent performance</a:t>
            </a:r>
          </a:p>
        </p:txBody>
      </p:sp>
      <p:pic>
        <p:nvPicPr>
          <p:cNvPr id="7" name="Immagine 6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11E03EFF-723B-40F4-609D-20E48BF80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  <p:pic>
        <p:nvPicPr>
          <p:cNvPr id="3" name="Immagine 2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6568D6BD-CAF3-B269-2D71-474B3E9FB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49" y="1858024"/>
            <a:ext cx="8609189" cy="47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74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Notice that we’re using a </a:t>
            </a:r>
            <a:r>
              <a:rPr lang="en-GB" b="1" dirty="0"/>
              <a:t>non-stationary target </a:t>
            </a:r>
            <a:r>
              <a:rPr lang="en-GB" dirty="0"/>
              <a:t>for the learning updates</a:t>
            </a:r>
          </a:p>
          <a:p>
            <a:pPr lvl="1"/>
            <a:r>
              <a:rPr lang="en-GB" dirty="0"/>
              <a:t>as we update the weights of the approximate Q-function, the targets also move and make our most recent update outdated</a:t>
            </a:r>
          </a:p>
          <a:p>
            <a:r>
              <a:rPr lang="en-GB" dirty="0"/>
              <a:t>Training becomes </a:t>
            </a:r>
            <a:r>
              <a:rPr lang="en-GB" b="1" dirty="0"/>
              <a:t>unstable</a:t>
            </a:r>
            <a:r>
              <a:rPr lang="en-GB" dirty="0"/>
              <a:t> quickly</a:t>
            </a:r>
          </a:p>
        </p:txBody>
      </p:sp>
      <p:pic>
        <p:nvPicPr>
          <p:cNvPr id="4" name="Immagine 3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19E744CE-98FA-6412-4C7B-E2C0343D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2826657"/>
            <a:ext cx="8772481" cy="377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77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batched K experience samples, collected online, and update the NN from that mini-batch</a:t>
            </a:r>
          </a:p>
          <a:p>
            <a:pPr lvl="1"/>
            <a:r>
              <a:rPr lang="en-GB" dirty="0"/>
              <a:t>these samples are </a:t>
            </a:r>
            <a:r>
              <a:rPr lang="en-GB" b="1" dirty="0"/>
              <a:t>correlated</a:t>
            </a:r>
            <a:r>
              <a:rPr lang="en-GB" dirty="0"/>
              <a:t>, they come from the same trajectory and policy</a:t>
            </a:r>
          </a:p>
          <a:p>
            <a:pPr lvl="1"/>
            <a:r>
              <a:rPr lang="en-GB" dirty="0"/>
              <a:t>later we use different mini-batches that are also internally correlated, but likely different from previous mini-batches</a:t>
            </a:r>
          </a:p>
          <a:p>
            <a:r>
              <a:rPr lang="en-GB" dirty="0"/>
              <a:t>This means that </a:t>
            </a:r>
            <a:r>
              <a:rPr lang="en-GB" b="1" dirty="0"/>
              <a:t>we aren’t holding the IID assumption</a:t>
            </a:r>
            <a:r>
              <a:rPr lang="en-GB" dirty="0"/>
              <a:t>, </a:t>
            </a:r>
          </a:p>
          <a:p>
            <a:pPr lvl="1"/>
            <a:r>
              <a:rPr lang="en-GB" dirty="0"/>
              <a:t>optimization methods assume data samples independent and identically distributed</a:t>
            </a:r>
          </a:p>
          <a:p>
            <a:r>
              <a:rPr lang="en-GB" dirty="0"/>
              <a:t>We’re training on almost the exact opposite</a:t>
            </a:r>
          </a:p>
          <a:p>
            <a:pPr lvl="1"/>
            <a:r>
              <a:rPr lang="en-GB" dirty="0"/>
              <a:t>samples are not independent </a:t>
            </a:r>
          </a:p>
          <a:p>
            <a:pPr lvl="2"/>
            <a:r>
              <a:rPr lang="en-GB" dirty="0"/>
              <a:t>the outcome of a new state is dependent on current state</a:t>
            </a:r>
          </a:p>
          <a:p>
            <a:pPr lvl="1"/>
            <a:r>
              <a:rPr lang="en-GB" dirty="0"/>
              <a:t>samples aren’t identically distributed </a:t>
            </a:r>
          </a:p>
          <a:p>
            <a:pPr lvl="2"/>
            <a:r>
              <a:rPr lang="en-GB" dirty="0"/>
              <a:t>underlying data generating process, the policy, is changing over time</a:t>
            </a:r>
          </a:p>
          <a:p>
            <a:pPr lvl="1"/>
            <a:r>
              <a:rPr lang="en-GB" dirty="0"/>
              <a:t>optimization methods allow to relax the IID assumption to a certain degree, but we go all the way</a:t>
            </a:r>
          </a:p>
          <a:p>
            <a:r>
              <a:rPr lang="en-GB" dirty="0"/>
              <a:t>We can run a </a:t>
            </a:r>
            <a:r>
              <a:rPr lang="en-GB" b="1" dirty="0"/>
              <a:t>grid search </a:t>
            </a:r>
            <a:r>
              <a:rPr lang="en-GB" dirty="0"/>
              <a:t>experiment to find the best parameters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91E421C9-1F3B-33F8-F5F9-5018D19A6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67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752387B7-95D5-93A9-1ED3-FC698CA6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21C5AD03-D134-4BE8-5BAC-F3C151B47E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 (3)</a:t>
            </a:r>
            <a:endParaRPr sz="4000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ED8229A3-341C-CEEF-80CB-309B09177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  <p:pic>
        <p:nvPicPr>
          <p:cNvPr id="6" name="Immagine 5" descr="Immagine che contiene Diagramma, schermat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113E1907-ECD6-8E72-9C73-BD3FDB071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043733"/>
            <a:ext cx="3941309" cy="1832317"/>
          </a:xfrm>
          <a:prstGeom prst="rect">
            <a:avLst/>
          </a:prstGeom>
        </p:spPr>
      </p:pic>
      <p:pic>
        <p:nvPicPr>
          <p:cNvPr id="8" name="Immagine 7" descr="Immagine che contiene schermat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45DB66A2-B584-0B87-26E4-3058A58E8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54" y="2876050"/>
            <a:ext cx="3886200" cy="1622598"/>
          </a:xfrm>
          <a:prstGeom prst="rect">
            <a:avLst/>
          </a:prstGeom>
        </p:spPr>
      </p:pic>
      <p:pic>
        <p:nvPicPr>
          <p:cNvPr id="10" name="Immagine 9" descr="Immagine che contiene schermat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5A8E382-9AFF-99E1-F894-1DEB94755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54" y="4586098"/>
            <a:ext cx="3941309" cy="1832318"/>
          </a:xfrm>
          <a:prstGeom prst="rect">
            <a:avLst/>
          </a:prstGeom>
        </p:spPr>
      </p:pic>
      <p:pic>
        <p:nvPicPr>
          <p:cNvPr id="12" name="Immagine 11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A54A65E-81A3-D39C-78A9-293BE31A69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135" y="4708367"/>
            <a:ext cx="4006725" cy="1710049"/>
          </a:xfrm>
          <a:prstGeom prst="rect">
            <a:avLst/>
          </a:prstGeom>
        </p:spPr>
      </p:pic>
      <p:pic>
        <p:nvPicPr>
          <p:cNvPr id="14" name="Immagine 13" descr="Immagine che contiene schermat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1950CEAC-21EA-97CE-22DC-74589958DE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167" y="1043733"/>
            <a:ext cx="3976276" cy="1832317"/>
          </a:xfrm>
          <a:prstGeom prst="rect">
            <a:avLst/>
          </a:prstGeom>
        </p:spPr>
      </p:pic>
      <p:pic>
        <p:nvPicPr>
          <p:cNvPr id="16" name="Immagine 15" descr="Immagine che contiene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D6AFEA16-8005-0296-A952-F1E3E03F00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9135" y="2876051"/>
            <a:ext cx="3941308" cy="171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76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84AC7DA0-4D7C-B176-1FCF-359BB61C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ED5E06F3-2858-3118-917D-B47F813941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 (4)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B722B263-5A21-61BA-FF75-2980A0DF1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The </a:t>
            </a:r>
            <a:r>
              <a:rPr lang="en-GB" b="1" noProof="0" dirty="0"/>
              <a:t>large variance </a:t>
            </a:r>
            <a:r>
              <a:rPr lang="en-GB" noProof="0" dirty="0"/>
              <a:t>across seeds and experiments indicates that the algorithm </a:t>
            </a:r>
            <a:r>
              <a:rPr lang="en-GB" b="1" noProof="0" dirty="0"/>
              <a:t>struggles to generalize</a:t>
            </a:r>
            <a:r>
              <a:rPr lang="en-GB" noProof="0" dirty="0"/>
              <a:t> </a:t>
            </a:r>
          </a:p>
          <a:p>
            <a:pPr lvl="1"/>
            <a:r>
              <a:rPr lang="en-GB" noProof="0" dirty="0"/>
              <a:t>highly sensitive to inaccuracies in the Q-targets</a:t>
            </a:r>
          </a:p>
          <a:p>
            <a:pPr lvl="1"/>
            <a:r>
              <a:rPr lang="en-GB" dirty="0"/>
              <a:t>e</a:t>
            </a:r>
            <a:r>
              <a:rPr lang="en-GB" noProof="0" dirty="0" err="1"/>
              <a:t>rrors</a:t>
            </a:r>
            <a:r>
              <a:rPr lang="en-GB" noProof="0" dirty="0"/>
              <a:t> propagate through successive iterations and lead to instability or divergence. </a:t>
            </a:r>
          </a:p>
          <a:p>
            <a:pPr lvl="1"/>
            <a:r>
              <a:rPr lang="en-GB" noProof="0" dirty="0"/>
              <a:t>NFQ does not regularize its function approximation effectively.</a:t>
            </a:r>
          </a:p>
          <a:p>
            <a:pPr marL="120650" indent="0">
              <a:buNone/>
            </a:pPr>
            <a:endParaRPr lang="en-GB" noProof="0" dirty="0"/>
          </a:p>
          <a:p>
            <a:r>
              <a:rPr lang="en-GB" noProof="0" dirty="0"/>
              <a:t>Despite </a:t>
            </a:r>
            <a:r>
              <a:rPr lang="en-GB" b="1" noProof="0" dirty="0"/>
              <a:t>occasional good results</a:t>
            </a:r>
            <a:r>
              <a:rPr lang="en-GB" noProof="0" dirty="0"/>
              <a:t>, the learning curves show that NFQ is </a:t>
            </a:r>
            <a:r>
              <a:rPr lang="en-GB" b="1" noProof="0" dirty="0"/>
              <a:t>not reliable</a:t>
            </a:r>
            <a:r>
              <a:rPr lang="en-GB" noProof="0" dirty="0"/>
              <a:t> and </a:t>
            </a:r>
            <a:r>
              <a:rPr lang="en-GB" b="1" noProof="0" dirty="0"/>
              <a:t>not sample-efficient </a:t>
            </a:r>
            <a:r>
              <a:rPr lang="en-GB" noProof="0" dirty="0"/>
              <a:t>approach. </a:t>
            </a:r>
          </a:p>
          <a:p>
            <a:pPr lvl="0"/>
            <a:endParaRPr lang="en-GB" noProof="0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9BA98129-26FD-3591-EE97-48D2091F6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85223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D75012-9612-47E2-A19A-DBEFFBE78E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9FCBEF-C3E3-44E1-8B4F-C9903419375D}">
  <ds:schemaRefs>
    <ds:schemaRef ds:uri="http://schemas.microsoft.com/office/2006/documentManagement/types"/>
    <ds:schemaRef ds:uri="3bd0d43f-5e5b-43cd-b6fc-691bd77672c6"/>
    <ds:schemaRef ds:uri="http://purl.org/dc/elements/1.1/"/>
    <ds:schemaRef ds:uri="http://purl.org/dc/dcmitype/"/>
    <ds:schemaRef ds:uri="e9b5433c-2372-4cb7-8bab-09518096b29b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9F123E-5225-44F0-B95C-4FD63E588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22431</TotalTime>
  <Words>1499</Words>
  <Application>Microsoft Macintosh PowerPoint</Application>
  <PresentationFormat>Presentazione su schermo (4:3)</PresentationFormat>
  <Paragraphs>206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Economica</vt:lpstr>
      <vt:lpstr>Open Sans</vt:lpstr>
      <vt:lpstr>Arial</vt:lpstr>
      <vt:lpstr>Luxe</vt:lpstr>
      <vt:lpstr>Neural fitted Q</vt:lpstr>
      <vt:lpstr>Objectives</vt:lpstr>
      <vt:lpstr>Challenges: sequential feedback</vt:lpstr>
      <vt:lpstr>Challenges: evaluative feedback</vt:lpstr>
      <vt:lpstr>Challenges: sampled feedback</vt:lpstr>
      <vt:lpstr>Challenges: tabular representation</vt:lpstr>
      <vt:lpstr>Generalization needs</vt:lpstr>
      <vt:lpstr>The Cart-pole environment</vt:lpstr>
      <vt:lpstr>Select the neural architecture (2)</vt:lpstr>
      <vt:lpstr>Select the neural architecture (2)</vt:lpstr>
      <vt:lpstr>Select what to optimize (1)</vt:lpstr>
      <vt:lpstr>Select what to optimize (2)</vt:lpstr>
      <vt:lpstr>Select what to optimize (3)</vt:lpstr>
      <vt:lpstr>Select what to optimize (4)</vt:lpstr>
      <vt:lpstr>Select the exploration strategy</vt:lpstr>
      <vt:lpstr>Select an optimization method</vt:lpstr>
      <vt:lpstr>Neural Fitted Q (NFQ) (1)</vt:lpstr>
      <vt:lpstr>Neural Fitted Q (NFQ) (2)</vt:lpstr>
      <vt:lpstr>Challenges (1)</vt:lpstr>
      <vt:lpstr>Challenges (2)</vt:lpstr>
      <vt:lpstr>Challenges (3)</vt:lpstr>
      <vt:lpstr>Challenges (4)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52</cp:revision>
  <dcterms:modified xsi:type="dcterms:W3CDTF">2025-11-20T11:38:23Z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