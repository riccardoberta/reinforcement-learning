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61"/>
  </p:notesMasterIdLst>
  <p:handoutMasterIdLst>
    <p:handoutMasterId r:id="rId6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12192000" cy="6858000"/>
  <p:notesSz cx="6858000" cy="9144000"/>
  <p:embeddedFontLst>
    <p:embeddedFont>
      <p:font typeface="Consolas" panose="020B0609020204030204" pitchFamily="49" charset="0"/>
      <p:regular r:id="rId63"/>
      <p:bold r:id="rId64"/>
      <p:italic r:id="rId65"/>
      <p:boldItalic r:id="rId66"/>
    </p:embeddedFont>
    <p:embeddedFont>
      <p:font typeface="Fira Sans" panose="020B0503050000020004" pitchFamily="34" charset="0"/>
      <p:regular r:id="rId67"/>
      <p:bold r:id="rId68"/>
      <p:italic r:id="rId69"/>
      <p:boldItalic r:id="rId70"/>
    </p:embeddedFont>
    <p:embeddedFont>
      <p:font typeface="Fira Sans Medium" panose="020B0603050000020004" pitchFamily="34" charset="0"/>
      <p:regular r:id="rId71"/>
      <p:italic r:id="rId72"/>
    </p:embeddedFont>
    <p:embeddedFont>
      <p:font typeface="Roboto Slab" pitchFamily="2" charset="0"/>
      <p:regular r:id="rId73"/>
      <p:bold r:id="rId74"/>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6"/>
    <a:srgbClr val="EF3340"/>
    <a:srgbClr val="A4BCC2"/>
    <a:srgbClr val="727272"/>
    <a:srgbClr val="D6AC02"/>
    <a:srgbClr val="F1C400"/>
    <a:srgbClr val="DEB401"/>
    <a:srgbClr val="B08D3B"/>
    <a:srgbClr val="F4633A"/>
    <a:srgbClr val="006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713BA9-0D68-2D4A-980F-80D12864B221}" v="24" dt="2026-09-29T13:40:23.749"/>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70" autoAdjust="0"/>
    <p:restoredTop sz="86441"/>
  </p:normalViewPr>
  <p:slideViewPr>
    <p:cSldViewPr snapToGrid="0" snapToObjects="1" showGuides="1">
      <p:cViewPr varScale="1">
        <p:scale>
          <a:sx n="127" d="100"/>
          <a:sy n="127" d="100"/>
        </p:scale>
        <p:origin x="864"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font" Target="fonts/font12.fntdata"/><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70" Type="http://schemas.openxmlformats.org/officeDocument/2006/relationships/font" Target="fonts/font8.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FDDBFC5A-5EA9-5330-BEB8-433D7E3B4C4E}"/>
    <pc:docChg chg="undo custSel modSld">
      <pc:chgData name="Riccardo Berta" userId="c8694f89-bba4-4576-b0a8-456619ca5a8c" providerId="ADAL" clId="{FDDBFC5A-5EA9-5330-BEB8-433D7E3B4C4E}" dt="2026-09-29T13:40:31.848" v="1514" actId="732"/>
      <pc:docMkLst>
        <pc:docMk/>
      </pc:docMkLst>
      <pc:sldChg chg="modSp mod">
        <pc:chgData name="Riccardo Berta" userId="c8694f89-bba4-4576-b0a8-456619ca5a8c" providerId="ADAL" clId="{FDDBFC5A-5EA9-5330-BEB8-433D7E3B4C4E}" dt="2026-09-29T06:22:06.770" v="1457" actId="1036"/>
        <pc:sldMkLst>
          <pc:docMk/>
          <pc:sldMk cId="0" sldId="256"/>
        </pc:sldMkLst>
        <pc:spChg chg="mod">
          <ac:chgData name="Riccardo Berta" userId="c8694f89-bba4-4576-b0a8-456619ca5a8c" providerId="ADAL" clId="{FDDBFC5A-5EA9-5330-BEB8-433D7E3B4C4E}" dt="2026-09-29T06:22:06.770" v="1457" actId="1036"/>
          <ac:spMkLst>
            <pc:docMk/>
            <pc:sldMk cId="0" sldId="256"/>
            <ac:spMk id="2" creationId="{00000000-0000-0000-0000-000000000000}"/>
          </ac:spMkLst>
        </pc:spChg>
        <pc:spChg chg="mod">
          <ac:chgData name="Riccardo Berta" userId="c8694f89-bba4-4576-b0a8-456619ca5a8c" providerId="ADAL" clId="{FDDBFC5A-5EA9-5330-BEB8-433D7E3B4C4E}" dt="2026-09-29T06:07:44.323" v="1456" actId="20577"/>
          <ac:spMkLst>
            <pc:docMk/>
            <pc:sldMk cId="0" sldId="256"/>
            <ac:spMk id="4" creationId="{00000000-0000-0000-0000-000000000000}"/>
          </ac:spMkLst>
        </pc:spChg>
      </pc:sldChg>
      <pc:sldChg chg="modSp mod">
        <pc:chgData name="Riccardo Berta" userId="c8694f89-bba4-4576-b0a8-456619ca5a8c" providerId="ADAL" clId="{FDDBFC5A-5EA9-5330-BEB8-433D7E3B4C4E}" dt="2026-09-22T05:55:42.670" v="267" actId="20577"/>
        <pc:sldMkLst>
          <pc:docMk/>
          <pc:sldMk cId="0" sldId="258"/>
        </pc:sldMkLst>
        <pc:spChg chg="mod">
          <ac:chgData name="Riccardo Berta" userId="c8694f89-bba4-4576-b0a8-456619ca5a8c" providerId="ADAL" clId="{FDDBFC5A-5EA9-5330-BEB8-433D7E3B4C4E}" dt="2026-09-22T05:55:42.670" v="267" actId="20577"/>
          <ac:spMkLst>
            <pc:docMk/>
            <pc:sldMk cId="0" sldId="258"/>
            <ac:spMk id="29" creationId="{00000000-0000-0000-0000-000000000000}"/>
          </ac:spMkLst>
        </pc:spChg>
      </pc:sldChg>
      <pc:sldChg chg="addSp delSp modSp mod">
        <pc:chgData name="Riccardo Berta" userId="c8694f89-bba4-4576-b0a8-456619ca5a8c" providerId="ADAL" clId="{FDDBFC5A-5EA9-5330-BEB8-433D7E3B4C4E}" dt="2026-09-29T10:53:00.333" v="1494" actId="790"/>
        <pc:sldMkLst>
          <pc:docMk/>
          <pc:sldMk cId="0" sldId="259"/>
        </pc:sldMkLst>
        <pc:spChg chg="mod">
          <ac:chgData name="Riccardo Berta" userId="c8694f89-bba4-4576-b0a8-456619ca5a8c" providerId="ADAL" clId="{FDDBFC5A-5EA9-5330-BEB8-433D7E3B4C4E}" dt="2026-09-22T05:33:41.739" v="146" actId="790"/>
          <ac:spMkLst>
            <pc:docMk/>
            <pc:sldMk cId="0" sldId="259"/>
            <ac:spMk id="8" creationId="{00000000-0000-0000-0000-000000000000}"/>
          </ac:spMkLst>
        </pc:spChg>
        <pc:spChg chg="mod">
          <ac:chgData name="Riccardo Berta" userId="c8694f89-bba4-4576-b0a8-456619ca5a8c" providerId="ADAL" clId="{FDDBFC5A-5EA9-5330-BEB8-433D7E3B4C4E}" dt="2026-09-21T11:41:47.822" v="11" actId="14100"/>
          <ac:spMkLst>
            <pc:docMk/>
            <pc:sldMk cId="0" sldId="259"/>
            <ac:spMk id="9" creationId="{00000000-0000-0000-0000-000000000000}"/>
          </ac:spMkLst>
        </pc:spChg>
        <pc:spChg chg="mod">
          <ac:chgData name="Riccardo Berta" userId="c8694f89-bba4-4576-b0a8-456619ca5a8c" providerId="ADAL" clId="{FDDBFC5A-5EA9-5330-BEB8-433D7E3B4C4E}" dt="2026-09-21T11:41:46.510" v="10" actId="14100"/>
          <ac:spMkLst>
            <pc:docMk/>
            <pc:sldMk cId="0" sldId="259"/>
            <ac:spMk id="11" creationId="{00000000-0000-0000-0000-000000000000}"/>
          </ac:spMkLst>
        </pc:spChg>
        <pc:spChg chg="mod">
          <ac:chgData name="Riccardo Berta" userId="c8694f89-bba4-4576-b0a8-456619ca5a8c" providerId="ADAL" clId="{FDDBFC5A-5EA9-5330-BEB8-433D7E3B4C4E}" dt="2026-09-21T11:41:56.744" v="20" actId="1037"/>
          <ac:spMkLst>
            <pc:docMk/>
            <pc:sldMk cId="0" sldId="259"/>
            <ac:spMk id="16" creationId="{00000000-0000-0000-0000-000000000000}"/>
          </ac:spMkLst>
        </pc:spChg>
        <pc:spChg chg="mod">
          <ac:chgData name="Riccardo Berta" userId="c8694f89-bba4-4576-b0a8-456619ca5a8c" providerId="ADAL" clId="{FDDBFC5A-5EA9-5330-BEB8-433D7E3B4C4E}" dt="2026-09-21T11:41:56.744" v="20" actId="1037"/>
          <ac:spMkLst>
            <pc:docMk/>
            <pc:sldMk cId="0" sldId="259"/>
            <ac:spMk id="17" creationId="{00000000-0000-0000-0000-000000000000}"/>
          </ac:spMkLst>
        </pc:spChg>
        <pc:spChg chg="mod">
          <ac:chgData name="Riccardo Berta" userId="c8694f89-bba4-4576-b0a8-456619ca5a8c" providerId="ADAL" clId="{FDDBFC5A-5EA9-5330-BEB8-433D7E3B4C4E}" dt="2026-09-21T11:41:56.744" v="20" actId="1037"/>
          <ac:spMkLst>
            <pc:docMk/>
            <pc:sldMk cId="0" sldId="259"/>
            <ac:spMk id="18" creationId="{00000000-0000-0000-0000-000000000000}"/>
          </ac:spMkLst>
        </pc:spChg>
        <pc:spChg chg="mod">
          <ac:chgData name="Riccardo Berta" userId="c8694f89-bba4-4576-b0a8-456619ca5a8c" providerId="ADAL" clId="{FDDBFC5A-5EA9-5330-BEB8-433D7E3B4C4E}" dt="2026-09-21T11:41:56.744" v="20" actId="1037"/>
          <ac:spMkLst>
            <pc:docMk/>
            <pc:sldMk cId="0" sldId="259"/>
            <ac:spMk id="19" creationId="{00000000-0000-0000-0000-000000000000}"/>
          </ac:spMkLst>
        </pc:spChg>
        <pc:spChg chg="mod">
          <ac:chgData name="Riccardo Berta" userId="c8694f89-bba4-4576-b0a8-456619ca5a8c" providerId="ADAL" clId="{FDDBFC5A-5EA9-5330-BEB8-433D7E3B4C4E}" dt="2026-09-21T11:41:56.744" v="20" actId="1037"/>
          <ac:spMkLst>
            <pc:docMk/>
            <pc:sldMk cId="0" sldId="259"/>
            <ac:spMk id="20" creationId="{00000000-0000-0000-0000-000000000000}"/>
          </ac:spMkLst>
        </pc:spChg>
        <pc:spChg chg="mod">
          <ac:chgData name="Riccardo Berta" userId="c8694f89-bba4-4576-b0a8-456619ca5a8c" providerId="ADAL" clId="{FDDBFC5A-5EA9-5330-BEB8-433D7E3B4C4E}" dt="2026-09-21T11:41:56.744" v="20" actId="1037"/>
          <ac:spMkLst>
            <pc:docMk/>
            <pc:sldMk cId="0" sldId="259"/>
            <ac:spMk id="21" creationId="{00000000-0000-0000-0000-000000000000}"/>
          </ac:spMkLst>
        </pc:spChg>
        <pc:spChg chg="mod">
          <ac:chgData name="Riccardo Berta" userId="c8694f89-bba4-4576-b0a8-456619ca5a8c" providerId="ADAL" clId="{FDDBFC5A-5EA9-5330-BEB8-433D7E3B4C4E}" dt="2026-09-21T11:41:56.744" v="20" actId="1037"/>
          <ac:spMkLst>
            <pc:docMk/>
            <pc:sldMk cId="0" sldId="259"/>
            <ac:spMk id="22" creationId="{00000000-0000-0000-0000-000000000000}"/>
          </ac:spMkLst>
        </pc:spChg>
        <pc:spChg chg="mod">
          <ac:chgData name="Riccardo Berta" userId="c8694f89-bba4-4576-b0a8-456619ca5a8c" providerId="ADAL" clId="{FDDBFC5A-5EA9-5330-BEB8-433D7E3B4C4E}" dt="2026-09-21T11:42:08.239" v="40" actId="1037"/>
          <ac:spMkLst>
            <pc:docMk/>
            <pc:sldMk cId="0" sldId="259"/>
            <ac:spMk id="23" creationId="{00000000-0000-0000-0000-000000000000}"/>
          </ac:spMkLst>
        </pc:spChg>
        <pc:spChg chg="mod">
          <ac:chgData name="Riccardo Berta" userId="c8694f89-bba4-4576-b0a8-456619ca5a8c" providerId="ADAL" clId="{FDDBFC5A-5EA9-5330-BEB8-433D7E3B4C4E}" dt="2026-09-21T11:42:08.239" v="40" actId="1037"/>
          <ac:spMkLst>
            <pc:docMk/>
            <pc:sldMk cId="0" sldId="259"/>
            <ac:spMk id="24" creationId="{00000000-0000-0000-0000-000000000000}"/>
          </ac:spMkLst>
        </pc:spChg>
        <pc:spChg chg="mod">
          <ac:chgData name="Riccardo Berta" userId="c8694f89-bba4-4576-b0a8-456619ca5a8c" providerId="ADAL" clId="{FDDBFC5A-5EA9-5330-BEB8-433D7E3B4C4E}" dt="2026-09-21T11:42:08.239" v="40" actId="1037"/>
          <ac:spMkLst>
            <pc:docMk/>
            <pc:sldMk cId="0" sldId="259"/>
            <ac:spMk id="25" creationId="{00000000-0000-0000-0000-000000000000}"/>
          </ac:spMkLst>
        </pc:spChg>
        <pc:spChg chg="mod">
          <ac:chgData name="Riccardo Berta" userId="c8694f89-bba4-4576-b0a8-456619ca5a8c" providerId="ADAL" clId="{FDDBFC5A-5EA9-5330-BEB8-433D7E3B4C4E}" dt="2026-09-21T11:42:08.239" v="40" actId="1037"/>
          <ac:spMkLst>
            <pc:docMk/>
            <pc:sldMk cId="0" sldId="259"/>
            <ac:spMk id="26" creationId="{00000000-0000-0000-0000-000000000000}"/>
          </ac:spMkLst>
        </pc:spChg>
        <pc:spChg chg="mod">
          <ac:chgData name="Riccardo Berta" userId="c8694f89-bba4-4576-b0a8-456619ca5a8c" providerId="ADAL" clId="{FDDBFC5A-5EA9-5330-BEB8-433D7E3B4C4E}" dt="2026-09-21T11:42:08.239" v="40" actId="1037"/>
          <ac:spMkLst>
            <pc:docMk/>
            <pc:sldMk cId="0" sldId="259"/>
            <ac:spMk id="27" creationId="{00000000-0000-0000-0000-000000000000}"/>
          </ac:spMkLst>
        </pc:spChg>
        <pc:spChg chg="mod">
          <ac:chgData name="Riccardo Berta" userId="c8694f89-bba4-4576-b0a8-456619ca5a8c" providerId="ADAL" clId="{FDDBFC5A-5EA9-5330-BEB8-433D7E3B4C4E}" dt="2026-09-21T11:42:08.239" v="40" actId="1037"/>
          <ac:spMkLst>
            <pc:docMk/>
            <pc:sldMk cId="0" sldId="259"/>
            <ac:spMk id="28" creationId="{00000000-0000-0000-0000-000000000000}"/>
          </ac:spMkLst>
        </pc:spChg>
        <pc:spChg chg="mod">
          <ac:chgData name="Riccardo Berta" userId="c8694f89-bba4-4576-b0a8-456619ca5a8c" providerId="ADAL" clId="{FDDBFC5A-5EA9-5330-BEB8-433D7E3B4C4E}" dt="2026-09-21T11:42:08.239" v="40" actId="1037"/>
          <ac:spMkLst>
            <pc:docMk/>
            <pc:sldMk cId="0" sldId="259"/>
            <ac:spMk id="29" creationId="{00000000-0000-0000-0000-000000000000}"/>
          </ac:spMkLst>
        </pc:spChg>
        <pc:spChg chg="mod">
          <ac:chgData name="Riccardo Berta" userId="c8694f89-bba4-4576-b0a8-456619ca5a8c" providerId="ADAL" clId="{FDDBFC5A-5EA9-5330-BEB8-433D7E3B4C4E}" dt="2026-09-21T11:42:46.285" v="82" actId="1037"/>
          <ac:spMkLst>
            <pc:docMk/>
            <pc:sldMk cId="0" sldId="259"/>
            <ac:spMk id="30" creationId="{00000000-0000-0000-0000-000000000000}"/>
          </ac:spMkLst>
        </pc:spChg>
        <pc:spChg chg="mod">
          <ac:chgData name="Riccardo Berta" userId="c8694f89-bba4-4576-b0a8-456619ca5a8c" providerId="ADAL" clId="{FDDBFC5A-5EA9-5330-BEB8-433D7E3B4C4E}" dt="2026-09-21T11:42:46.285" v="82" actId="1037"/>
          <ac:spMkLst>
            <pc:docMk/>
            <pc:sldMk cId="0" sldId="259"/>
            <ac:spMk id="31" creationId="{00000000-0000-0000-0000-000000000000}"/>
          </ac:spMkLst>
        </pc:spChg>
        <pc:spChg chg="mod">
          <ac:chgData name="Riccardo Berta" userId="c8694f89-bba4-4576-b0a8-456619ca5a8c" providerId="ADAL" clId="{FDDBFC5A-5EA9-5330-BEB8-433D7E3B4C4E}" dt="2026-09-21T11:42:46.285" v="82" actId="1037"/>
          <ac:spMkLst>
            <pc:docMk/>
            <pc:sldMk cId="0" sldId="259"/>
            <ac:spMk id="32" creationId="{00000000-0000-0000-0000-000000000000}"/>
          </ac:spMkLst>
        </pc:spChg>
        <pc:spChg chg="mod">
          <ac:chgData name="Riccardo Berta" userId="c8694f89-bba4-4576-b0a8-456619ca5a8c" providerId="ADAL" clId="{FDDBFC5A-5EA9-5330-BEB8-433D7E3B4C4E}" dt="2026-09-21T11:42:46.285" v="82" actId="1037"/>
          <ac:spMkLst>
            <pc:docMk/>
            <pc:sldMk cId="0" sldId="259"/>
            <ac:spMk id="33" creationId="{00000000-0000-0000-0000-000000000000}"/>
          </ac:spMkLst>
        </pc:spChg>
        <pc:spChg chg="mod">
          <ac:chgData name="Riccardo Berta" userId="c8694f89-bba4-4576-b0a8-456619ca5a8c" providerId="ADAL" clId="{FDDBFC5A-5EA9-5330-BEB8-433D7E3B4C4E}" dt="2026-09-21T11:42:46.285" v="82" actId="1037"/>
          <ac:spMkLst>
            <pc:docMk/>
            <pc:sldMk cId="0" sldId="259"/>
            <ac:spMk id="34" creationId="{00000000-0000-0000-0000-000000000000}"/>
          </ac:spMkLst>
        </pc:spChg>
        <pc:spChg chg="mod">
          <ac:chgData name="Riccardo Berta" userId="c8694f89-bba4-4576-b0a8-456619ca5a8c" providerId="ADAL" clId="{FDDBFC5A-5EA9-5330-BEB8-433D7E3B4C4E}" dt="2026-09-21T11:42:46.285" v="82" actId="1037"/>
          <ac:spMkLst>
            <pc:docMk/>
            <pc:sldMk cId="0" sldId="259"/>
            <ac:spMk id="35" creationId="{00000000-0000-0000-0000-000000000000}"/>
          </ac:spMkLst>
        </pc:spChg>
        <pc:spChg chg="mod">
          <ac:chgData name="Riccardo Berta" userId="c8694f89-bba4-4576-b0a8-456619ca5a8c" providerId="ADAL" clId="{FDDBFC5A-5EA9-5330-BEB8-433D7E3B4C4E}" dt="2026-09-21T11:42:46.285" v="82" actId="1037"/>
          <ac:spMkLst>
            <pc:docMk/>
            <pc:sldMk cId="0" sldId="259"/>
            <ac:spMk id="36" creationId="{00000000-0000-0000-0000-000000000000}"/>
          </ac:spMkLst>
        </pc:spChg>
        <pc:spChg chg="mod">
          <ac:chgData name="Riccardo Berta" userId="c8694f89-bba4-4576-b0a8-456619ca5a8c" providerId="ADAL" clId="{FDDBFC5A-5EA9-5330-BEB8-433D7E3B4C4E}" dt="2026-09-22T05:35:05.509" v="186" actId="1038"/>
          <ac:spMkLst>
            <pc:docMk/>
            <pc:sldMk cId="0" sldId="259"/>
            <ac:spMk id="37" creationId="{00000000-0000-0000-0000-000000000000}"/>
          </ac:spMkLst>
        </pc:spChg>
        <pc:spChg chg="mod">
          <ac:chgData name="Riccardo Berta" userId="c8694f89-bba4-4576-b0a8-456619ca5a8c" providerId="ADAL" clId="{FDDBFC5A-5EA9-5330-BEB8-433D7E3B4C4E}" dt="2026-09-22T05:35:25.189" v="187" actId="113"/>
          <ac:spMkLst>
            <pc:docMk/>
            <pc:sldMk cId="0" sldId="259"/>
            <ac:spMk id="40" creationId="{00000000-0000-0000-0000-000000000000}"/>
          </ac:spMkLst>
        </pc:spChg>
        <pc:spChg chg="mod">
          <ac:chgData name="Riccardo Berta" userId="c8694f89-bba4-4576-b0a8-456619ca5a8c" providerId="ADAL" clId="{FDDBFC5A-5EA9-5330-BEB8-433D7E3B4C4E}" dt="2026-09-29T10:52:26.766" v="1489" actId="1076"/>
          <ac:spMkLst>
            <pc:docMk/>
            <pc:sldMk cId="0" sldId="259"/>
            <ac:spMk id="41" creationId="{00000000-0000-0000-0000-000000000000}"/>
          </ac:spMkLst>
        </pc:spChg>
        <pc:spChg chg="mod">
          <ac:chgData name="Riccardo Berta" userId="c8694f89-bba4-4576-b0a8-456619ca5a8c" providerId="ADAL" clId="{FDDBFC5A-5EA9-5330-BEB8-433D7E3B4C4E}" dt="2026-09-29T10:52:38.172" v="1490" actId="790"/>
          <ac:spMkLst>
            <pc:docMk/>
            <pc:sldMk cId="0" sldId="259"/>
            <ac:spMk id="42" creationId="{00000000-0000-0000-0000-000000000000}"/>
          </ac:spMkLst>
        </pc:spChg>
        <pc:spChg chg="mod">
          <ac:chgData name="Riccardo Berta" userId="c8694f89-bba4-4576-b0a8-456619ca5a8c" providerId="ADAL" clId="{FDDBFC5A-5EA9-5330-BEB8-433D7E3B4C4E}" dt="2026-09-29T10:52:13.445" v="1486" actId="1076"/>
          <ac:spMkLst>
            <pc:docMk/>
            <pc:sldMk cId="0" sldId="259"/>
            <ac:spMk id="43" creationId="{00000000-0000-0000-0000-000000000000}"/>
          </ac:spMkLst>
        </pc:spChg>
        <pc:spChg chg="mod">
          <ac:chgData name="Riccardo Berta" userId="c8694f89-bba4-4576-b0a8-456619ca5a8c" providerId="ADAL" clId="{FDDBFC5A-5EA9-5330-BEB8-433D7E3B4C4E}" dt="2026-09-29T10:52:43.732" v="1491" actId="790"/>
          <ac:spMkLst>
            <pc:docMk/>
            <pc:sldMk cId="0" sldId="259"/>
            <ac:spMk id="44" creationId="{00000000-0000-0000-0000-000000000000}"/>
          </ac:spMkLst>
        </pc:spChg>
        <pc:spChg chg="mod">
          <ac:chgData name="Riccardo Berta" userId="c8694f89-bba4-4576-b0a8-456619ca5a8c" providerId="ADAL" clId="{FDDBFC5A-5EA9-5330-BEB8-433D7E3B4C4E}" dt="2026-09-29T10:52:13.445" v="1486" actId="1076"/>
          <ac:spMkLst>
            <pc:docMk/>
            <pc:sldMk cId="0" sldId="259"/>
            <ac:spMk id="45" creationId="{00000000-0000-0000-0000-000000000000}"/>
          </ac:spMkLst>
        </pc:spChg>
        <pc:spChg chg="mod">
          <ac:chgData name="Riccardo Berta" userId="c8694f89-bba4-4576-b0a8-456619ca5a8c" providerId="ADAL" clId="{FDDBFC5A-5EA9-5330-BEB8-433D7E3B4C4E}" dt="2026-09-29T10:52:50.366" v="1492" actId="790"/>
          <ac:spMkLst>
            <pc:docMk/>
            <pc:sldMk cId="0" sldId="259"/>
            <ac:spMk id="46" creationId="{00000000-0000-0000-0000-000000000000}"/>
          </ac:spMkLst>
        </pc:spChg>
        <pc:spChg chg="mod">
          <ac:chgData name="Riccardo Berta" userId="c8694f89-bba4-4576-b0a8-456619ca5a8c" providerId="ADAL" clId="{FDDBFC5A-5EA9-5330-BEB8-433D7E3B4C4E}" dt="2026-09-29T10:52:13.445" v="1486" actId="1076"/>
          <ac:spMkLst>
            <pc:docMk/>
            <pc:sldMk cId="0" sldId="259"/>
            <ac:spMk id="47" creationId="{00000000-0000-0000-0000-000000000000}"/>
          </ac:spMkLst>
        </pc:spChg>
        <pc:spChg chg="mod">
          <ac:chgData name="Riccardo Berta" userId="c8694f89-bba4-4576-b0a8-456619ca5a8c" providerId="ADAL" clId="{FDDBFC5A-5EA9-5330-BEB8-433D7E3B4C4E}" dt="2026-09-29T10:52:55.106" v="1493" actId="790"/>
          <ac:spMkLst>
            <pc:docMk/>
            <pc:sldMk cId="0" sldId="259"/>
            <ac:spMk id="48" creationId="{00000000-0000-0000-0000-000000000000}"/>
          </ac:spMkLst>
        </pc:spChg>
        <pc:spChg chg="mod">
          <ac:chgData name="Riccardo Berta" userId="c8694f89-bba4-4576-b0a8-456619ca5a8c" providerId="ADAL" clId="{FDDBFC5A-5EA9-5330-BEB8-433D7E3B4C4E}" dt="2026-09-29T10:52:13.445" v="1486" actId="1076"/>
          <ac:spMkLst>
            <pc:docMk/>
            <pc:sldMk cId="0" sldId="259"/>
            <ac:spMk id="49" creationId="{00000000-0000-0000-0000-000000000000}"/>
          </ac:spMkLst>
        </pc:spChg>
        <pc:spChg chg="mod">
          <ac:chgData name="Riccardo Berta" userId="c8694f89-bba4-4576-b0a8-456619ca5a8c" providerId="ADAL" clId="{FDDBFC5A-5EA9-5330-BEB8-433D7E3B4C4E}" dt="2026-09-29T10:53:00.333" v="1494" actId="790"/>
          <ac:spMkLst>
            <pc:docMk/>
            <pc:sldMk cId="0" sldId="259"/>
            <ac:spMk id="50" creationId="{00000000-0000-0000-0000-000000000000}"/>
          </ac:spMkLst>
        </pc:spChg>
        <pc:spChg chg="mod">
          <ac:chgData name="Riccardo Berta" userId="c8694f89-bba4-4576-b0a8-456619ca5a8c" providerId="ADAL" clId="{FDDBFC5A-5EA9-5330-BEB8-433D7E3B4C4E}" dt="2026-09-22T05:32:18.250" v="107" actId="1076"/>
          <ac:spMkLst>
            <pc:docMk/>
            <pc:sldMk cId="0" sldId="259"/>
            <ac:spMk id="51" creationId="{00000000-0000-0000-0000-000000000000}"/>
          </ac:spMkLst>
        </pc:spChg>
        <pc:spChg chg="mod">
          <ac:chgData name="Riccardo Berta" userId="c8694f89-bba4-4576-b0a8-456619ca5a8c" providerId="ADAL" clId="{FDDBFC5A-5EA9-5330-BEB8-433D7E3B4C4E}" dt="2026-09-22T05:32:18.250" v="107" actId="1076"/>
          <ac:spMkLst>
            <pc:docMk/>
            <pc:sldMk cId="0" sldId="259"/>
            <ac:spMk id="53" creationId="{00000000-0000-0000-0000-000000000000}"/>
          </ac:spMkLst>
        </pc:spChg>
        <pc:spChg chg="mod">
          <ac:chgData name="Riccardo Berta" userId="c8694f89-bba4-4576-b0a8-456619ca5a8c" providerId="ADAL" clId="{FDDBFC5A-5EA9-5330-BEB8-433D7E3B4C4E}" dt="2026-09-22T05:55:58.349" v="271" actId="20577"/>
          <ac:spMkLst>
            <pc:docMk/>
            <pc:sldMk cId="0" sldId="259"/>
            <ac:spMk id="54" creationId="{00000000-0000-0000-0000-000000000000}"/>
          </ac:spMkLst>
        </pc:spChg>
        <pc:picChg chg="add mod modCrop">
          <ac:chgData name="Riccardo Berta" userId="c8694f89-bba4-4576-b0a8-456619ca5a8c" providerId="ADAL" clId="{FDDBFC5A-5EA9-5330-BEB8-433D7E3B4C4E}" dt="2026-09-29T10:52:19.694" v="1488" actId="14100"/>
          <ac:picMkLst>
            <pc:docMk/>
            <pc:sldMk cId="0" sldId="259"/>
            <ac:picMk id="55" creationId="{6EBE40A8-10FB-28FE-A950-2D5C84A1DC40}"/>
          </ac:picMkLst>
        </pc:picChg>
      </pc:sldChg>
      <pc:sldChg chg="modSp mod">
        <pc:chgData name="Riccardo Berta" userId="c8694f89-bba4-4576-b0a8-456619ca5a8c" providerId="ADAL" clId="{FDDBFC5A-5EA9-5330-BEB8-433D7E3B4C4E}" dt="2026-09-22T05:38:54.876" v="216" actId="20577"/>
        <pc:sldMkLst>
          <pc:docMk/>
          <pc:sldMk cId="0" sldId="260"/>
        </pc:sldMkLst>
        <pc:spChg chg="mod">
          <ac:chgData name="Riccardo Berta" userId="c8694f89-bba4-4576-b0a8-456619ca5a8c" providerId="ADAL" clId="{FDDBFC5A-5EA9-5330-BEB8-433D7E3B4C4E}" dt="2026-09-22T05:37:41.483" v="211" actId="790"/>
          <ac:spMkLst>
            <pc:docMk/>
            <pc:sldMk cId="0" sldId="260"/>
            <ac:spMk id="19" creationId="{00000000-0000-0000-0000-000000000000}"/>
          </ac:spMkLst>
        </pc:spChg>
        <pc:spChg chg="mod">
          <ac:chgData name="Riccardo Berta" userId="c8694f89-bba4-4576-b0a8-456619ca5a8c" providerId="ADAL" clId="{FDDBFC5A-5EA9-5330-BEB8-433D7E3B4C4E}" dt="2026-09-22T05:37:45.804" v="212" actId="14100"/>
          <ac:spMkLst>
            <pc:docMk/>
            <pc:sldMk cId="0" sldId="260"/>
            <ac:spMk id="26" creationId="{00000000-0000-0000-0000-000000000000}"/>
          </ac:spMkLst>
        </pc:spChg>
        <pc:spChg chg="mod">
          <ac:chgData name="Riccardo Berta" userId="c8694f89-bba4-4576-b0a8-456619ca5a8c" providerId="ADAL" clId="{FDDBFC5A-5EA9-5330-BEB8-433D7E3B4C4E}" dt="2026-09-22T05:37:48.587" v="213" actId="14100"/>
          <ac:spMkLst>
            <pc:docMk/>
            <pc:sldMk cId="0" sldId="260"/>
            <ac:spMk id="32" creationId="{00000000-0000-0000-0000-000000000000}"/>
          </ac:spMkLst>
        </pc:spChg>
        <pc:spChg chg="mod">
          <ac:chgData name="Riccardo Berta" userId="c8694f89-bba4-4576-b0a8-456619ca5a8c" providerId="ADAL" clId="{FDDBFC5A-5EA9-5330-BEB8-433D7E3B4C4E}" dt="2026-09-22T05:37:25.150" v="206" actId="14100"/>
          <ac:spMkLst>
            <pc:docMk/>
            <pc:sldMk cId="0" sldId="260"/>
            <ac:spMk id="39" creationId="{00000000-0000-0000-0000-000000000000}"/>
          </ac:spMkLst>
        </pc:spChg>
        <pc:spChg chg="mod">
          <ac:chgData name="Riccardo Berta" userId="c8694f89-bba4-4576-b0a8-456619ca5a8c" providerId="ADAL" clId="{FDDBFC5A-5EA9-5330-BEB8-433D7E3B4C4E}" dt="2026-09-22T05:37:52.987" v="214" actId="14100"/>
          <ac:spMkLst>
            <pc:docMk/>
            <pc:sldMk cId="0" sldId="260"/>
            <ac:spMk id="45" creationId="{00000000-0000-0000-0000-000000000000}"/>
          </ac:spMkLst>
        </pc:spChg>
        <pc:spChg chg="mod">
          <ac:chgData name="Riccardo Berta" userId="c8694f89-bba4-4576-b0a8-456619ca5a8c" providerId="ADAL" clId="{FDDBFC5A-5EA9-5330-BEB8-433D7E3B4C4E}" dt="2026-09-22T05:38:54.876" v="216" actId="20577"/>
          <ac:spMkLst>
            <pc:docMk/>
            <pc:sldMk cId="0" sldId="260"/>
            <ac:spMk id="56" creationId="{00000000-0000-0000-0000-000000000000}"/>
          </ac:spMkLst>
        </pc:spChg>
      </pc:sldChg>
      <pc:sldChg chg="modSp mod">
        <pc:chgData name="Riccardo Berta" userId="c8694f89-bba4-4576-b0a8-456619ca5a8c" providerId="ADAL" clId="{FDDBFC5A-5EA9-5330-BEB8-433D7E3B4C4E}" dt="2026-09-22T05:42:34.673" v="227" actId="113"/>
        <pc:sldMkLst>
          <pc:docMk/>
          <pc:sldMk cId="0" sldId="262"/>
        </pc:sldMkLst>
        <pc:spChg chg="mod">
          <ac:chgData name="Riccardo Berta" userId="c8694f89-bba4-4576-b0a8-456619ca5a8c" providerId="ADAL" clId="{FDDBFC5A-5EA9-5330-BEB8-433D7E3B4C4E}" dt="2026-09-22T05:40:18.449" v="220" actId="113"/>
          <ac:spMkLst>
            <pc:docMk/>
            <pc:sldMk cId="0" sldId="262"/>
            <ac:spMk id="8" creationId="{00000000-0000-0000-0000-000000000000}"/>
          </ac:spMkLst>
        </pc:spChg>
        <pc:spChg chg="mod">
          <ac:chgData name="Riccardo Berta" userId="c8694f89-bba4-4576-b0a8-456619ca5a8c" providerId="ADAL" clId="{FDDBFC5A-5EA9-5330-BEB8-433D7E3B4C4E}" dt="2026-09-22T05:41:32.086" v="222" actId="20577"/>
          <ac:spMkLst>
            <pc:docMk/>
            <pc:sldMk cId="0" sldId="262"/>
            <ac:spMk id="19" creationId="{00000000-0000-0000-0000-000000000000}"/>
          </ac:spMkLst>
        </pc:spChg>
        <pc:spChg chg="mod">
          <ac:chgData name="Riccardo Berta" userId="c8694f89-bba4-4576-b0a8-456619ca5a8c" providerId="ADAL" clId="{FDDBFC5A-5EA9-5330-BEB8-433D7E3B4C4E}" dt="2026-09-22T05:42:34.673" v="227" actId="113"/>
          <ac:spMkLst>
            <pc:docMk/>
            <pc:sldMk cId="0" sldId="262"/>
            <ac:spMk id="22" creationId="{00000000-0000-0000-0000-000000000000}"/>
          </ac:spMkLst>
        </pc:spChg>
      </pc:sldChg>
      <pc:sldChg chg="modSp mod">
        <pc:chgData name="Riccardo Berta" userId="c8694f89-bba4-4576-b0a8-456619ca5a8c" providerId="ADAL" clId="{FDDBFC5A-5EA9-5330-BEB8-433D7E3B4C4E}" dt="2026-09-22T05:44:22.269" v="234" actId="20577"/>
        <pc:sldMkLst>
          <pc:docMk/>
          <pc:sldMk cId="0" sldId="263"/>
        </pc:sldMkLst>
        <pc:spChg chg="mod">
          <ac:chgData name="Riccardo Berta" userId="c8694f89-bba4-4576-b0a8-456619ca5a8c" providerId="ADAL" clId="{FDDBFC5A-5EA9-5330-BEB8-433D7E3B4C4E}" dt="2026-09-22T05:44:22.269" v="234" actId="20577"/>
          <ac:spMkLst>
            <pc:docMk/>
            <pc:sldMk cId="0" sldId="263"/>
            <ac:spMk id="16" creationId="{00000000-0000-0000-0000-000000000000}"/>
          </ac:spMkLst>
        </pc:spChg>
        <pc:picChg chg="mod">
          <ac:chgData name="Riccardo Berta" userId="c8694f89-bba4-4576-b0a8-456619ca5a8c" providerId="ADAL" clId="{FDDBFC5A-5EA9-5330-BEB8-433D7E3B4C4E}" dt="2026-09-22T05:42:59.261" v="231" actId="14100"/>
          <ac:picMkLst>
            <pc:docMk/>
            <pc:sldMk cId="0" sldId="263"/>
            <ac:picMk id="9" creationId="{00000000-0000-0000-0000-000000000000}"/>
          </ac:picMkLst>
        </pc:picChg>
      </pc:sldChg>
      <pc:sldChg chg="modSp mod">
        <pc:chgData name="Riccardo Berta" userId="c8694f89-bba4-4576-b0a8-456619ca5a8c" providerId="ADAL" clId="{FDDBFC5A-5EA9-5330-BEB8-433D7E3B4C4E}" dt="2026-09-29T06:48:24.654" v="1458" actId="1035"/>
        <pc:sldMkLst>
          <pc:docMk/>
          <pc:sldMk cId="0" sldId="264"/>
        </pc:sldMkLst>
        <pc:spChg chg="mod">
          <ac:chgData name="Riccardo Berta" userId="c8694f89-bba4-4576-b0a8-456619ca5a8c" providerId="ADAL" clId="{FDDBFC5A-5EA9-5330-BEB8-433D7E3B4C4E}" dt="2026-09-22T05:56:41.598" v="288" actId="20577"/>
          <ac:spMkLst>
            <pc:docMk/>
            <pc:sldMk cId="0" sldId="264"/>
            <ac:spMk id="8" creationId="{00000000-0000-0000-0000-000000000000}"/>
          </ac:spMkLst>
        </pc:spChg>
        <pc:spChg chg="mod">
          <ac:chgData name="Riccardo Berta" userId="c8694f89-bba4-4576-b0a8-456619ca5a8c" providerId="ADAL" clId="{FDDBFC5A-5EA9-5330-BEB8-433D7E3B4C4E}" dt="2026-09-29T06:48:24.654" v="1458" actId="1035"/>
          <ac:spMkLst>
            <pc:docMk/>
            <pc:sldMk cId="0" sldId="264"/>
            <ac:spMk id="14" creationId="{00000000-0000-0000-0000-000000000000}"/>
          </ac:spMkLst>
        </pc:spChg>
        <pc:spChg chg="mod">
          <ac:chgData name="Riccardo Berta" userId="c8694f89-bba4-4576-b0a8-456619ca5a8c" providerId="ADAL" clId="{FDDBFC5A-5EA9-5330-BEB8-433D7E3B4C4E}" dt="2026-09-22T05:56:35.492" v="285" actId="20577"/>
          <ac:spMkLst>
            <pc:docMk/>
            <pc:sldMk cId="0" sldId="264"/>
            <ac:spMk id="16" creationId="{00000000-0000-0000-0000-000000000000}"/>
          </ac:spMkLst>
        </pc:spChg>
        <pc:spChg chg="mod">
          <ac:chgData name="Riccardo Berta" userId="c8694f89-bba4-4576-b0a8-456619ca5a8c" providerId="ADAL" clId="{FDDBFC5A-5EA9-5330-BEB8-433D7E3B4C4E}" dt="2026-09-22T05:45:59.533" v="239" actId="20577"/>
          <ac:spMkLst>
            <pc:docMk/>
            <pc:sldMk cId="0" sldId="264"/>
            <ac:spMk id="20" creationId="{00000000-0000-0000-0000-000000000000}"/>
          </ac:spMkLst>
        </pc:spChg>
        <pc:spChg chg="mod">
          <ac:chgData name="Riccardo Berta" userId="c8694f89-bba4-4576-b0a8-456619ca5a8c" providerId="ADAL" clId="{FDDBFC5A-5EA9-5330-BEB8-433D7E3B4C4E}" dt="2026-09-22T05:46:25.128" v="241" actId="20577"/>
          <ac:spMkLst>
            <pc:docMk/>
            <pc:sldMk cId="0" sldId="264"/>
            <ac:spMk id="26" creationId="{00000000-0000-0000-0000-000000000000}"/>
          </ac:spMkLst>
        </pc:spChg>
      </pc:sldChg>
      <pc:sldChg chg="modSp mod">
        <pc:chgData name="Riccardo Berta" userId="c8694f89-bba4-4576-b0a8-456619ca5a8c" providerId="ADAL" clId="{FDDBFC5A-5EA9-5330-BEB8-433D7E3B4C4E}" dt="2026-09-29T06:51:31.855" v="1459" actId="1036"/>
        <pc:sldMkLst>
          <pc:docMk/>
          <pc:sldMk cId="0" sldId="265"/>
        </pc:sldMkLst>
        <pc:spChg chg="mod">
          <ac:chgData name="Riccardo Berta" userId="c8694f89-bba4-4576-b0a8-456619ca5a8c" providerId="ADAL" clId="{FDDBFC5A-5EA9-5330-BEB8-433D7E3B4C4E}" dt="2026-09-22T05:47:05.151" v="242" actId="113"/>
          <ac:spMkLst>
            <pc:docMk/>
            <pc:sldMk cId="0" sldId="265"/>
            <ac:spMk id="16" creationId="{00000000-0000-0000-0000-000000000000}"/>
          </ac:spMkLst>
        </pc:spChg>
        <pc:spChg chg="mod">
          <ac:chgData name="Riccardo Berta" userId="c8694f89-bba4-4576-b0a8-456619ca5a8c" providerId="ADAL" clId="{FDDBFC5A-5EA9-5330-BEB8-433D7E3B4C4E}" dt="2026-09-29T06:51:31.855" v="1459" actId="1036"/>
          <ac:spMkLst>
            <pc:docMk/>
            <pc:sldMk cId="0" sldId="265"/>
            <ac:spMk id="18" creationId="{00000000-0000-0000-0000-000000000000}"/>
          </ac:spMkLst>
        </pc:spChg>
      </pc:sldChg>
      <pc:sldChg chg="modSp mod">
        <pc:chgData name="Riccardo Berta" userId="c8694f89-bba4-4576-b0a8-456619ca5a8c" providerId="ADAL" clId="{FDDBFC5A-5EA9-5330-BEB8-433D7E3B4C4E}" dt="2026-09-22T05:57:31.967" v="305" actId="113"/>
        <pc:sldMkLst>
          <pc:docMk/>
          <pc:sldMk cId="0" sldId="267"/>
        </pc:sldMkLst>
        <pc:spChg chg="mod">
          <ac:chgData name="Riccardo Berta" userId="c8694f89-bba4-4576-b0a8-456619ca5a8c" providerId="ADAL" clId="{FDDBFC5A-5EA9-5330-BEB8-433D7E3B4C4E}" dt="2026-09-22T05:57:31.967" v="305" actId="113"/>
          <ac:spMkLst>
            <pc:docMk/>
            <pc:sldMk cId="0" sldId="267"/>
            <ac:spMk id="15" creationId="{00000000-0000-0000-0000-000000000000}"/>
          </ac:spMkLst>
        </pc:spChg>
        <pc:spChg chg="mod">
          <ac:chgData name="Riccardo Berta" userId="c8694f89-bba4-4576-b0a8-456619ca5a8c" providerId="ADAL" clId="{FDDBFC5A-5EA9-5330-BEB8-433D7E3B4C4E}" dt="2026-09-22T05:57:08.860" v="292" actId="20577"/>
          <ac:spMkLst>
            <pc:docMk/>
            <pc:sldMk cId="0" sldId="267"/>
            <ac:spMk id="19" creationId="{00000000-0000-0000-0000-000000000000}"/>
          </ac:spMkLst>
        </pc:spChg>
        <pc:spChg chg="mod">
          <ac:chgData name="Riccardo Berta" userId="c8694f89-bba4-4576-b0a8-456619ca5a8c" providerId="ADAL" clId="{FDDBFC5A-5EA9-5330-BEB8-433D7E3B4C4E}" dt="2026-09-22T05:57:12.594" v="295" actId="20577"/>
          <ac:spMkLst>
            <pc:docMk/>
            <pc:sldMk cId="0" sldId="267"/>
            <ac:spMk id="21" creationId="{00000000-0000-0000-0000-000000000000}"/>
          </ac:spMkLst>
        </pc:spChg>
        <pc:spChg chg="mod">
          <ac:chgData name="Riccardo Berta" userId="c8694f89-bba4-4576-b0a8-456619ca5a8c" providerId="ADAL" clId="{FDDBFC5A-5EA9-5330-BEB8-433D7E3B4C4E}" dt="2026-09-22T05:57:02.931" v="289" actId="790"/>
          <ac:spMkLst>
            <pc:docMk/>
            <pc:sldMk cId="0" sldId="267"/>
            <ac:spMk id="23" creationId="{00000000-0000-0000-0000-000000000000}"/>
          </ac:spMkLst>
        </pc:spChg>
      </pc:sldChg>
      <pc:sldChg chg="modSp mod">
        <pc:chgData name="Riccardo Berta" userId="c8694f89-bba4-4576-b0a8-456619ca5a8c" providerId="ADAL" clId="{FDDBFC5A-5EA9-5330-BEB8-433D7E3B4C4E}" dt="2026-09-22T05:52:56.762" v="247" actId="20577"/>
        <pc:sldMkLst>
          <pc:docMk/>
          <pc:sldMk cId="0" sldId="268"/>
        </pc:sldMkLst>
        <pc:spChg chg="mod">
          <ac:chgData name="Riccardo Berta" userId="c8694f89-bba4-4576-b0a8-456619ca5a8c" providerId="ADAL" clId="{FDDBFC5A-5EA9-5330-BEB8-433D7E3B4C4E}" dt="2026-09-22T05:51:46.787" v="245" actId="313"/>
          <ac:spMkLst>
            <pc:docMk/>
            <pc:sldMk cId="0" sldId="268"/>
            <ac:spMk id="8" creationId="{00000000-0000-0000-0000-000000000000}"/>
          </ac:spMkLst>
        </pc:spChg>
        <pc:spChg chg="mod">
          <ac:chgData name="Riccardo Berta" userId="c8694f89-bba4-4576-b0a8-456619ca5a8c" providerId="ADAL" clId="{FDDBFC5A-5EA9-5330-BEB8-433D7E3B4C4E}" dt="2026-09-22T05:52:56.762" v="247" actId="20577"/>
          <ac:spMkLst>
            <pc:docMk/>
            <pc:sldMk cId="0" sldId="268"/>
            <ac:spMk id="20" creationId="{00000000-0000-0000-0000-000000000000}"/>
          </ac:spMkLst>
        </pc:spChg>
      </pc:sldChg>
      <pc:sldChg chg="modSp mod">
        <pc:chgData name="Riccardo Berta" userId="c8694f89-bba4-4576-b0a8-456619ca5a8c" providerId="ADAL" clId="{FDDBFC5A-5EA9-5330-BEB8-433D7E3B4C4E}" dt="2026-09-22T05:55:28.037" v="261" actId="20577"/>
        <pc:sldMkLst>
          <pc:docMk/>
          <pc:sldMk cId="0" sldId="269"/>
        </pc:sldMkLst>
        <pc:spChg chg="mod">
          <ac:chgData name="Riccardo Berta" userId="c8694f89-bba4-4576-b0a8-456619ca5a8c" providerId="ADAL" clId="{FDDBFC5A-5EA9-5330-BEB8-433D7E3B4C4E}" dt="2026-09-22T05:55:07.260" v="260" actId="20577"/>
          <ac:spMkLst>
            <pc:docMk/>
            <pc:sldMk cId="0" sldId="269"/>
            <ac:spMk id="15" creationId="{00000000-0000-0000-0000-000000000000}"/>
          </ac:spMkLst>
        </pc:spChg>
        <pc:spChg chg="mod">
          <ac:chgData name="Riccardo Berta" userId="c8694f89-bba4-4576-b0a8-456619ca5a8c" providerId="ADAL" clId="{FDDBFC5A-5EA9-5330-BEB8-433D7E3B4C4E}" dt="2026-09-22T05:55:28.037" v="261" actId="20577"/>
          <ac:spMkLst>
            <pc:docMk/>
            <pc:sldMk cId="0" sldId="269"/>
            <ac:spMk id="17" creationId="{00000000-0000-0000-0000-000000000000}"/>
          </ac:spMkLst>
        </pc:spChg>
      </pc:sldChg>
      <pc:sldChg chg="modSp mod">
        <pc:chgData name="Riccardo Berta" userId="c8694f89-bba4-4576-b0a8-456619ca5a8c" providerId="ADAL" clId="{FDDBFC5A-5EA9-5330-BEB8-433D7E3B4C4E}" dt="2026-09-29T05:54:33.897" v="1455" actId="20577"/>
        <pc:sldMkLst>
          <pc:docMk/>
          <pc:sldMk cId="0" sldId="271"/>
        </pc:sldMkLst>
        <pc:spChg chg="mod">
          <ac:chgData name="Riccardo Berta" userId="c8694f89-bba4-4576-b0a8-456619ca5a8c" providerId="ADAL" clId="{FDDBFC5A-5EA9-5330-BEB8-433D7E3B4C4E}" dt="2026-09-22T05:58:46.479" v="312" actId="313"/>
          <ac:spMkLst>
            <pc:docMk/>
            <pc:sldMk cId="0" sldId="271"/>
            <ac:spMk id="8" creationId="{00000000-0000-0000-0000-000000000000}"/>
          </ac:spMkLst>
        </pc:spChg>
        <pc:spChg chg="mod">
          <ac:chgData name="Riccardo Berta" userId="c8694f89-bba4-4576-b0a8-456619ca5a8c" providerId="ADAL" clId="{FDDBFC5A-5EA9-5330-BEB8-433D7E3B4C4E}" dt="2026-09-29T05:54:33.897" v="1455" actId="20577"/>
          <ac:spMkLst>
            <pc:docMk/>
            <pc:sldMk cId="0" sldId="271"/>
            <ac:spMk id="21" creationId="{00000000-0000-0000-0000-000000000000}"/>
          </ac:spMkLst>
        </pc:spChg>
        <pc:spChg chg="mod">
          <ac:chgData name="Riccardo Berta" userId="c8694f89-bba4-4576-b0a8-456619ca5a8c" providerId="ADAL" clId="{FDDBFC5A-5EA9-5330-BEB8-433D7E3B4C4E}" dt="2026-09-22T05:59:56.094" v="330" actId="313"/>
          <ac:spMkLst>
            <pc:docMk/>
            <pc:sldMk cId="0" sldId="271"/>
            <ac:spMk id="27" creationId="{00000000-0000-0000-0000-000000000000}"/>
          </ac:spMkLst>
        </pc:spChg>
        <pc:spChg chg="mod">
          <ac:chgData name="Riccardo Berta" userId="c8694f89-bba4-4576-b0a8-456619ca5a8c" providerId="ADAL" clId="{FDDBFC5A-5EA9-5330-BEB8-433D7E3B4C4E}" dt="2026-09-22T06:00:47.023" v="335" actId="20577"/>
          <ac:spMkLst>
            <pc:docMk/>
            <pc:sldMk cId="0" sldId="271"/>
            <ac:spMk id="45" creationId="{00000000-0000-0000-0000-000000000000}"/>
          </ac:spMkLst>
        </pc:spChg>
      </pc:sldChg>
      <pc:sldChg chg="modSp mod">
        <pc:chgData name="Riccardo Berta" userId="c8694f89-bba4-4576-b0a8-456619ca5a8c" providerId="ADAL" clId="{FDDBFC5A-5EA9-5330-BEB8-433D7E3B4C4E}" dt="2026-09-22T06:15:32.627" v="577" actId="113"/>
        <pc:sldMkLst>
          <pc:docMk/>
          <pc:sldMk cId="0" sldId="272"/>
        </pc:sldMkLst>
        <pc:spChg chg="mod">
          <ac:chgData name="Riccardo Berta" userId="c8694f89-bba4-4576-b0a8-456619ca5a8c" providerId="ADAL" clId="{FDDBFC5A-5EA9-5330-BEB8-433D7E3B4C4E}" dt="2026-09-22T06:15:32.627" v="577" actId="113"/>
          <ac:spMkLst>
            <pc:docMk/>
            <pc:sldMk cId="0" sldId="272"/>
            <ac:spMk id="8" creationId="{00000000-0000-0000-0000-000000000000}"/>
          </ac:spMkLst>
        </pc:spChg>
        <pc:spChg chg="mod">
          <ac:chgData name="Riccardo Berta" userId="c8694f89-bba4-4576-b0a8-456619ca5a8c" providerId="ADAL" clId="{FDDBFC5A-5EA9-5330-BEB8-433D7E3B4C4E}" dt="2026-09-22T06:02:47.596" v="449" actId="14100"/>
          <ac:spMkLst>
            <pc:docMk/>
            <pc:sldMk cId="0" sldId="272"/>
            <ac:spMk id="17" creationId="{00000000-0000-0000-0000-000000000000}"/>
          </ac:spMkLst>
        </pc:spChg>
        <pc:picChg chg="mod">
          <ac:chgData name="Riccardo Berta" userId="c8694f89-bba4-4576-b0a8-456619ca5a8c" providerId="ADAL" clId="{FDDBFC5A-5EA9-5330-BEB8-433D7E3B4C4E}" dt="2026-09-22T06:03:51.401" v="465" actId="14100"/>
          <ac:picMkLst>
            <pc:docMk/>
            <pc:sldMk cId="0" sldId="272"/>
            <ac:picMk id="9" creationId="{00000000-0000-0000-0000-000000000000}"/>
          </ac:picMkLst>
        </pc:picChg>
        <pc:picChg chg="mod">
          <ac:chgData name="Riccardo Berta" userId="c8694f89-bba4-4576-b0a8-456619ca5a8c" providerId="ADAL" clId="{FDDBFC5A-5EA9-5330-BEB8-433D7E3B4C4E}" dt="2026-09-22T06:03:57.230" v="468" actId="1076"/>
          <ac:picMkLst>
            <pc:docMk/>
            <pc:sldMk cId="0" sldId="272"/>
            <ac:picMk id="10" creationId="{00000000-0000-0000-0000-000000000000}"/>
          </ac:picMkLst>
        </pc:picChg>
      </pc:sldChg>
      <pc:sldChg chg="modSp mod">
        <pc:chgData name="Riccardo Berta" userId="c8694f89-bba4-4576-b0a8-456619ca5a8c" providerId="ADAL" clId="{FDDBFC5A-5EA9-5330-BEB8-433D7E3B4C4E}" dt="2026-09-22T06:15:41.800" v="579" actId="113"/>
        <pc:sldMkLst>
          <pc:docMk/>
          <pc:sldMk cId="0" sldId="273"/>
        </pc:sldMkLst>
        <pc:spChg chg="mod">
          <ac:chgData name="Riccardo Berta" userId="c8694f89-bba4-4576-b0a8-456619ca5a8c" providerId="ADAL" clId="{FDDBFC5A-5EA9-5330-BEB8-433D7E3B4C4E}" dt="2026-09-22T06:15:41.800" v="579" actId="113"/>
          <ac:spMkLst>
            <pc:docMk/>
            <pc:sldMk cId="0" sldId="273"/>
            <ac:spMk id="8" creationId="{00000000-0000-0000-0000-000000000000}"/>
          </ac:spMkLst>
        </pc:spChg>
        <pc:spChg chg="mod">
          <ac:chgData name="Riccardo Berta" userId="c8694f89-bba4-4576-b0a8-456619ca5a8c" providerId="ADAL" clId="{FDDBFC5A-5EA9-5330-BEB8-433D7E3B4C4E}" dt="2026-09-22T06:05:37.615" v="475" actId="313"/>
          <ac:spMkLst>
            <pc:docMk/>
            <pc:sldMk cId="0" sldId="273"/>
            <ac:spMk id="17" creationId="{00000000-0000-0000-0000-000000000000}"/>
          </ac:spMkLst>
        </pc:spChg>
        <pc:picChg chg="mod">
          <ac:chgData name="Riccardo Berta" userId="c8694f89-bba4-4576-b0a8-456619ca5a8c" providerId="ADAL" clId="{FDDBFC5A-5EA9-5330-BEB8-433D7E3B4C4E}" dt="2026-09-22T06:03:30.912" v="461" actId="1076"/>
          <ac:picMkLst>
            <pc:docMk/>
            <pc:sldMk cId="0" sldId="273"/>
            <ac:picMk id="9" creationId="{00000000-0000-0000-0000-000000000000}"/>
          </ac:picMkLst>
        </pc:picChg>
        <pc:picChg chg="mod modCrop">
          <ac:chgData name="Riccardo Berta" userId="c8694f89-bba4-4576-b0a8-456619ca5a8c" providerId="ADAL" clId="{FDDBFC5A-5EA9-5330-BEB8-433D7E3B4C4E}" dt="2026-09-22T06:03:41.504" v="463" actId="732"/>
          <ac:picMkLst>
            <pc:docMk/>
            <pc:sldMk cId="0" sldId="273"/>
            <ac:picMk id="10" creationId="{00000000-0000-0000-0000-000000000000}"/>
          </ac:picMkLst>
        </pc:picChg>
      </pc:sldChg>
      <pc:sldChg chg="addSp modSp mod">
        <pc:chgData name="Riccardo Berta" userId="c8694f89-bba4-4576-b0a8-456619ca5a8c" providerId="ADAL" clId="{FDDBFC5A-5EA9-5330-BEB8-433D7E3B4C4E}" dt="2026-09-22T06:07:54.044" v="515" actId="20577"/>
        <pc:sldMkLst>
          <pc:docMk/>
          <pc:sldMk cId="0" sldId="274"/>
        </pc:sldMkLst>
        <pc:spChg chg="mod">
          <ac:chgData name="Riccardo Berta" userId="c8694f89-bba4-4576-b0a8-456619ca5a8c" providerId="ADAL" clId="{FDDBFC5A-5EA9-5330-BEB8-433D7E3B4C4E}" dt="2026-09-22T06:06:26.261" v="477" actId="20577"/>
          <ac:spMkLst>
            <pc:docMk/>
            <pc:sldMk cId="0" sldId="274"/>
            <ac:spMk id="13" creationId="{00000000-0000-0000-0000-000000000000}"/>
          </ac:spMkLst>
        </pc:spChg>
        <pc:spChg chg="mod">
          <ac:chgData name="Riccardo Berta" userId="c8694f89-bba4-4576-b0a8-456619ca5a8c" providerId="ADAL" clId="{FDDBFC5A-5EA9-5330-BEB8-433D7E3B4C4E}" dt="2026-09-22T06:07:05.721" v="502" actId="1037"/>
          <ac:spMkLst>
            <pc:docMk/>
            <pc:sldMk cId="0" sldId="274"/>
            <ac:spMk id="15" creationId="{00000000-0000-0000-0000-000000000000}"/>
          </ac:spMkLst>
        </pc:spChg>
        <pc:spChg chg="mod">
          <ac:chgData name="Riccardo Berta" userId="c8694f89-bba4-4576-b0a8-456619ca5a8c" providerId="ADAL" clId="{FDDBFC5A-5EA9-5330-BEB8-433D7E3B4C4E}" dt="2026-09-22T06:07:05.721" v="502" actId="1037"/>
          <ac:spMkLst>
            <pc:docMk/>
            <pc:sldMk cId="0" sldId="274"/>
            <ac:spMk id="16" creationId="{00000000-0000-0000-0000-000000000000}"/>
          </ac:spMkLst>
        </pc:spChg>
        <pc:spChg chg="mod">
          <ac:chgData name="Riccardo Berta" userId="c8694f89-bba4-4576-b0a8-456619ca5a8c" providerId="ADAL" clId="{FDDBFC5A-5EA9-5330-BEB8-433D7E3B4C4E}" dt="2026-09-22T06:07:05.721" v="502" actId="1037"/>
          <ac:spMkLst>
            <pc:docMk/>
            <pc:sldMk cId="0" sldId="274"/>
            <ac:spMk id="17" creationId="{00000000-0000-0000-0000-000000000000}"/>
          </ac:spMkLst>
        </pc:spChg>
        <pc:spChg chg="mod">
          <ac:chgData name="Riccardo Berta" userId="c8694f89-bba4-4576-b0a8-456619ca5a8c" providerId="ADAL" clId="{FDDBFC5A-5EA9-5330-BEB8-433D7E3B4C4E}" dt="2026-09-22T06:07:05.721" v="502" actId="1037"/>
          <ac:spMkLst>
            <pc:docMk/>
            <pc:sldMk cId="0" sldId="274"/>
            <ac:spMk id="18" creationId="{00000000-0000-0000-0000-000000000000}"/>
          </ac:spMkLst>
        </pc:spChg>
        <pc:spChg chg="mod">
          <ac:chgData name="Riccardo Berta" userId="c8694f89-bba4-4576-b0a8-456619ca5a8c" providerId="ADAL" clId="{FDDBFC5A-5EA9-5330-BEB8-433D7E3B4C4E}" dt="2026-09-22T06:07:05.721" v="502" actId="1037"/>
          <ac:spMkLst>
            <pc:docMk/>
            <pc:sldMk cId="0" sldId="274"/>
            <ac:spMk id="19" creationId="{00000000-0000-0000-0000-000000000000}"/>
          </ac:spMkLst>
        </pc:spChg>
        <pc:spChg chg="mod">
          <ac:chgData name="Riccardo Berta" userId="c8694f89-bba4-4576-b0a8-456619ca5a8c" providerId="ADAL" clId="{FDDBFC5A-5EA9-5330-BEB8-433D7E3B4C4E}" dt="2026-09-22T06:07:20.087" v="504" actId="20577"/>
          <ac:spMkLst>
            <pc:docMk/>
            <pc:sldMk cId="0" sldId="274"/>
            <ac:spMk id="25" creationId="{00000000-0000-0000-0000-000000000000}"/>
          </ac:spMkLst>
        </pc:spChg>
        <pc:spChg chg="mod">
          <ac:chgData name="Riccardo Berta" userId="c8694f89-bba4-4576-b0a8-456619ca5a8c" providerId="ADAL" clId="{FDDBFC5A-5EA9-5330-BEB8-433D7E3B4C4E}" dt="2026-09-22T06:07:54.044" v="515" actId="20577"/>
          <ac:spMkLst>
            <pc:docMk/>
            <pc:sldMk cId="0" sldId="274"/>
            <ac:spMk id="27" creationId="{00000000-0000-0000-0000-000000000000}"/>
          </ac:spMkLst>
        </pc:spChg>
        <pc:spChg chg="add mod">
          <ac:chgData name="Riccardo Berta" userId="c8694f89-bba4-4576-b0a8-456619ca5a8c" providerId="ADAL" clId="{FDDBFC5A-5EA9-5330-BEB8-433D7E3B4C4E}" dt="2026-09-22T06:06:59.341" v="483" actId="27636"/>
          <ac:spMkLst>
            <pc:docMk/>
            <pc:sldMk cId="0" sldId="274"/>
            <ac:spMk id="28" creationId="{6575AED6-258F-D397-6E9B-B1F443A5E3A6}"/>
          </ac:spMkLst>
        </pc:spChg>
      </pc:sldChg>
      <pc:sldChg chg="modSp mod">
        <pc:chgData name="Riccardo Berta" userId="c8694f89-bba4-4576-b0a8-456619ca5a8c" providerId="ADAL" clId="{FDDBFC5A-5EA9-5330-BEB8-433D7E3B4C4E}" dt="2026-09-22T06:16:06.197" v="586" actId="1035"/>
        <pc:sldMkLst>
          <pc:docMk/>
          <pc:sldMk cId="0" sldId="275"/>
        </pc:sldMkLst>
        <pc:spChg chg="mod">
          <ac:chgData name="Riccardo Berta" userId="c8694f89-bba4-4576-b0a8-456619ca5a8c" providerId="ADAL" clId="{FDDBFC5A-5EA9-5330-BEB8-433D7E3B4C4E}" dt="2026-09-22T06:16:06.197" v="586" actId="1035"/>
          <ac:spMkLst>
            <pc:docMk/>
            <pc:sldMk cId="0" sldId="275"/>
            <ac:spMk id="8" creationId="{00000000-0000-0000-0000-000000000000}"/>
          </ac:spMkLst>
        </pc:spChg>
        <pc:spChg chg="mod">
          <ac:chgData name="Riccardo Berta" userId="c8694f89-bba4-4576-b0a8-456619ca5a8c" providerId="ADAL" clId="{FDDBFC5A-5EA9-5330-BEB8-433D7E3B4C4E}" dt="2026-09-22T06:10:21.575" v="528" actId="113"/>
          <ac:spMkLst>
            <pc:docMk/>
            <pc:sldMk cId="0" sldId="275"/>
            <ac:spMk id="14" creationId="{00000000-0000-0000-0000-000000000000}"/>
          </ac:spMkLst>
        </pc:spChg>
        <pc:spChg chg="mod">
          <ac:chgData name="Riccardo Berta" userId="c8694f89-bba4-4576-b0a8-456619ca5a8c" providerId="ADAL" clId="{FDDBFC5A-5EA9-5330-BEB8-433D7E3B4C4E}" dt="2026-09-22T06:10:15.450" v="527" actId="113"/>
          <ac:spMkLst>
            <pc:docMk/>
            <pc:sldMk cId="0" sldId="275"/>
            <ac:spMk id="16" creationId="{00000000-0000-0000-0000-000000000000}"/>
          </ac:spMkLst>
        </pc:spChg>
        <pc:spChg chg="mod">
          <ac:chgData name="Riccardo Berta" userId="c8694f89-bba4-4576-b0a8-456619ca5a8c" providerId="ADAL" clId="{FDDBFC5A-5EA9-5330-BEB8-433D7E3B4C4E}" dt="2026-09-22T06:10:10.841" v="526" actId="113"/>
          <ac:spMkLst>
            <pc:docMk/>
            <pc:sldMk cId="0" sldId="275"/>
            <ac:spMk id="18" creationId="{00000000-0000-0000-0000-000000000000}"/>
          </ac:spMkLst>
        </pc:spChg>
        <pc:spChg chg="mod">
          <ac:chgData name="Riccardo Berta" userId="c8694f89-bba4-4576-b0a8-456619ca5a8c" providerId="ADAL" clId="{FDDBFC5A-5EA9-5330-BEB8-433D7E3B4C4E}" dt="2026-09-22T06:11:01.755" v="536" actId="113"/>
          <ac:spMkLst>
            <pc:docMk/>
            <pc:sldMk cId="0" sldId="275"/>
            <ac:spMk id="20" creationId="{00000000-0000-0000-0000-000000000000}"/>
          </ac:spMkLst>
        </pc:spChg>
        <pc:picChg chg="mod">
          <ac:chgData name="Riccardo Berta" userId="c8694f89-bba4-4576-b0a8-456619ca5a8c" providerId="ADAL" clId="{FDDBFC5A-5EA9-5330-BEB8-433D7E3B4C4E}" dt="2026-09-22T06:08:21.871" v="517" actId="14100"/>
          <ac:picMkLst>
            <pc:docMk/>
            <pc:sldMk cId="0" sldId="275"/>
            <ac:picMk id="9" creationId="{00000000-0000-0000-0000-000000000000}"/>
          </ac:picMkLst>
        </pc:picChg>
        <pc:picChg chg="mod modCrop">
          <ac:chgData name="Riccardo Berta" userId="c8694f89-bba4-4576-b0a8-456619ca5a8c" providerId="ADAL" clId="{FDDBFC5A-5EA9-5330-BEB8-433D7E3B4C4E}" dt="2026-09-22T06:08:36.850" v="521" actId="14100"/>
          <ac:picMkLst>
            <pc:docMk/>
            <pc:sldMk cId="0" sldId="275"/>
            <ac:picMk id="10" creationId="{00000000-0000-0000-0000-000000000000}"/>
          </ac:picMkLst>
        </pc:picChg>
        <pc:picChg chg="mod modCrop">
          <ac:chgData name="Riccardo Berta" userId="c8694f89-bba4-4576-b0a8-456619ca5a8c" providerId="ADAL" clId="{FDDBFC5A-5EA9-5330-BEB8-433D7E3B4C4E}" dt="2026-09-22T06:08:47.954" v="524" actId="14100"/>
          <ac:picMkLst>
            <pc:docMk/>
            <pc:sldMk cId="0" sldId="275"/>
            <ac:picMk id="11" creationId="{00000000-0000-0000-0000-000000000000}"/>
          </ac:picMkLst>
        </pc:picChg>
      </pc:sldChg>
      <pc:sldChg chg="modSp mod">
        <pc:chgData name="Riccardo Berta" userId="c8694f89-bba4-4576-b0a8-456619ca5a8c" providerId="ADAL" clId="{FDDBFC5A-5EA9-5330-BEB8-433D7E3B4C4E}" dt="2026-09-22T06:12:38.209" v="545" actId="1076"/>
        <pc:sldMkLst>
          <pc:docMk/>
          <pc:sldMk cId="0" sldId="276"/>
        </pc:sldMkLst>
        <pc:spChg chg="mod">
          <ac:chgData name="Riccardo Berta" userId="c8694f89-bba4-4576-b0a8-456619ca5a8c" providerId="ADAL" clId="{FDDBFC5A-5EA9-5330-BEB8-433D7E3B4C4E}" dt="2026-09-22T06:12:03.937" v="541" actId="20577"/>
          <ac:spMkLst>
            <pc:docMk/>
            <pc:sldMk cId="0" sldId="276"/>
            <ac:spMk id="15" creationId="{00000000-0000-0000-0000-000000000000}"/>
          </ac:spMkLst>
        </pc:spChg>
        <pc:picChg chg="mod modCrop">
          <ac:chgData name="Riccardo Berta" userId="c8694f89-bba4-4576-b0a8-456619ca5a8c" providerId="ADAL" clId="{FDDBFC5A-5EA9-5330-BEB8-433D7E3B4C4E}" dt="2026-09-22T06:12:38.209" v="545" actId="1076"/>
          <ac:picMkLst>
            <pc:docMk/>
            <pc:sldMk cId="0" sldId="276"/>
            <ac:picMk id="20" creationId="{00000000-0000-0000-0000-000000000000}"/>
          </ac:picMkLst>
        </pc:picChg>
      </pc:sldChg>
      <pc:sldChg chg="addSp delSp modSp mod">
        <pc:chgData name="Riccardo Berta" userId="c8694f89-bba4-4576-b0a8-456619ca5a8c" providerId="ADAL" clId="{FDDBFC5A-5EA9-5330-BEB8-433D7E3B4C4E}" dt="2026-09-22T10:31:21.891" v="789" actId="20577"/>
        <pc:sldMkLst>
          <pc:docMk/>
          <pc:sldMk cId="0" sldId="277"/>
        </pc:sldMkLst>
        <pc:spChg chg="mod">
          <ac:chgData name="Riccardo Berta" userId="c8694f89-bba4-4576-b0a8-456619ca5a8c" providerId="ADAL" clId="{FDDBFC5A-5EA9-5330-BEB8-433D7E3B4C4E}" dt="2026-09-22T06:13:17.884" v="552" actId="113"/>
          <ac:spMkLst>
            <pc:docMk/>
            <pc:sldMk cId="0" sldId="277"/>
            <ac:spMk id="8" creationId="{00000000-0000-0000-0000-000000000000}"/>
          </ac:spMkLst>
        </pc:spChg>
        <pc:spChg chg="mod">
          <ac:chgData name="Riccardo Berta" userId="c8694f89-bba4-4576-b0a8-456619ca5a8c" providerId="ADAL" clId="{FDDBFC5A-5EA9-5330-BEB8-433D7E3B4C4E}" dt="2026-09-22T10:31:21.891" v="789" actId="20577"/>
          <ac:spMkLst>
            <pc:docMk/>
            <pc:sldMk cId="0" sldId="277"/>
            <ac:spMk id="13" creationId="{00000000-0000-0000-0000-000000000000}"/>
          </ac:spMkLst>
        </pc:spChg>
        <pc:spChg chg="mod">
          <ac:chgData name="Riccardo Berta" userId="c8694f89-bba4-4576-b0a8-456619ca5a8c" providerId="ADAL" clId="{FDDBFC5A-5EA9-5330-BEB8-433D7E3B4C4E}" dt="2026-09-22T06:14:34.356" v="567" actId="113"/>
          <ac:spMkLst>
            <pc:docMk/>
            <pc:sldMk cId="0" sldId="277"/>
            <ac:spMk id="17" creationId="{00000000-0000-0000-0000-000000000000}"/>
          </ac:spMkLst>
        </pc:spChg>
        <pc:picChg chg="mod modCrop">
          <ac:chgData name="Riccardo Berta" userId="c8694f89-bba4-4576-b0a8-456619ca5a8c" providerId="ADAL" clId="{FDDBFC5A-5EA9-5330-BEB8-433D7E3B4C4E}" dt="2026-09-22T06:12:56.140" v="550" actId="732"/>
          <ac:picMkLst>
            <pc:docMk/>
            <pc:sldMk cId="0" sldId="277"/>
            <ac:picMk id="10" creationId="{00000000-0000-0000-0000-000000000000}"/>
          </ac:picMkLst>
        </pc:picChg>
        <pc:picChg chg="add del mod">
          <ac:chgData name="Riccardo Berta" userId="c8694f89-bba4-4576-b0a8-456619ca5a8c" providerId="ADAL" clId="{FDDBFC5A-5EA9-5330-BEB8-433D7E3B4C4E}" dt="2026-09-22T10:31:10.437" v="783" actId="14100"/>
          <ac:picMkLst>
            <pc:docMk/>
            <pc:sldMk cId="0" sldId="277"/>
            <ac:picMk id="19" creationId="{AC912E9E-4646-61DC-FA51-1BE2A0B54E42}"/>
          </ac:picMkLst>
        </pc:picChg>
      </pc:sldChg>
      <pc:sldChg chg="modSp mod">
        <pc:chgData name="Riccardo Berta" userId="c8694f89-bba4-4576-b0a8-456619ca5a8c" providerId="ADAL" clId="{FDDBFC5A-5EA9-5330-BEB8-433D7E3B4C4E}" dt="2026-09-22T06:16:49.871" v="599" actId="1036"/>
        <pc:sldMkLst>
          <pc:docMk/>
          <pc:sldMk cId="0" sldId="278"/>
        </pc:sldMkLst>
        <pc:spChg chg="mod">
          <ac:chgData name="Riccardo Berta" userId="c8694f89-bba4-4576-b0a8-456619ca5a8c" providerId="ADAL" clId="{FDDBFC5A-5EA9-5330-BEB8-433D7E3B4C4E}" dt="2026-09-22T06:16:24.616" v="592" actId="1035"/>
          <ac:spMkLst>
            <pc:docMk/>
            <pc:sldMk cId="0" sldId="278"/>
            <ac:spMk id="8" creationId="{00000000-0000-0000-0000-000000000000}"/>
          </ac:spMkLst>
        </pc:spChg>
        <pc:picChg chg="mod">
          <ac:chgData name="Riccardo Berta" userId="c8694f89-bba4-4576-b0a8-456619ca5a8c" providerId="ADAL" clId="{FDDBFC5A-5EA9-5330-BEB8-433D7E3B4C4E}" dt="2026-09-22T06:14:54.390" v="569" actId="14100"/>
          <ac:picMkLst>
            <pc:docMk/>
            <pc:sldMk cId="0" sldId="278"/>
            <ac:picMk id="9" creationId="{00000000-0000-0000-0000-000000000000}"/>
          </ac:picMkLst>
        </pc:picChg>
        <pc:picChg chg="mod modCrop">
          <ac:chgData name="Riccardo Berta" userId="c8694f89-bba4-4576-b0a8-456619ca5a8c" providerId="ADAL" clId="{FDDBFC5A-5EA9-5330-BEB8-433D7E3B4C4E}" dt="2026-09-22T06:16:40.419" v="596" actId="1036"/>
          <ac:picMkLst>
            <pc:docMk/>
            <pc:sldMk cId="0" sldId="278"/>
            <ac:picMk id="10" creationId="{00000000-0000-0000-0000-000000000000}"/>
          </ac:picMkLst>
        </pc:picChg>
        <pc:picChg chg="mod">
          <ac:chgData name="Riccardo Berta" userId="c8694f89-bba4-4576-b0a8-456619ca5a8c" providerId="ADAL" clId="{FDDBFC5A-5EA9-5330-BEB8-433D7E3B4C4E}" dt="2026-09-22T06:16:49.871" v="599" actId="1036"/>
          <ac:picMkLst>
            <pc:docMk/>
            <pc:sldMk cId="0" sldId="278"/>
            <ac:picMk id="11" creationId="{00000000-0000-0000-0000-000000000000}"/>
          </ac:picMkLst>
        </pc:picChg>
      </pc:sldChg>
      <pc:sldChg chg="modSp mod">
        <pc:chgData name="Riccardo Berta" userId="c8694f89-bba4-4576-b0a8-456619ca5a8c" providerId="ADAL" clId="{FDDBFC5A-5EA9-5330-BEB8-433D7E3B4C4E}" dt="2026-09-22T06:19:13.555" v="625" actId="113"/>
        <pc:sldMkLst>
          <pc:docMk/>
          <pc:sldMk cId="0" sldId="279"/>
        </pc:sldMkLst>
        <pc:spChg chg="mod">
          <ac:chgData name="Riccardo Berta" userId="c8694f89-bba4-4576-b0a8-456619ca5a8c" providerId="ADAL" clId="{FDDBFC5A-5EA9-5330-BEB8-433D7E3B4C4E}" dt="2026-09-22T06:17:26.094" v="600" actId="113"/>
          <ac:spMkLst>
            <pc:docMk/>
            <pc:sldMk cId="0" sldId="279"/>
            <ac:spMk id="8" creationId="{00000000-0000-0000-0000-000000000000}"/>
          </ac:spMkLst>
        </pc:spChg>
        <pc:spChg chg="mod">
          <ac:chgData name="Riccardo Berta" userId="c8694f89-bba4-4576-b0a8-456619ca5a8c" providerId="ADAL" clId="{FDDBFC5A-5EA9-5330-BEB8-433D7E3B4C4E}" dt="2026-09-22T06:19:13.555" v="625" actId="113"/>
          <ac:spMkLst>
            <pc:docMk/>
            <pc:sldMk cId="0" sldId="279"/>
            <ac:spMk id="17" creationId="{00000000-0000-0000-0000-000000000000}"/>
          </ac:spMkLst>
        </pc:spChg>
        <pc:picChg chg="mod">
          <ac:chgData name="Riccardo Berta" userId="c8694f89-bba4-4576-b0a8-456619ca5a8c" providerId="ADAL" clId="{FDDBFC5A-5EA9-5330-BEB8-433D7E3B4C4E}" dt="2026-09-22T06:17:36.905" v="602" actId="14100"/>
          <ac:picMkLst>
            <pc:docMk/>
            <pc:sldMk cId="0" sldId="279"/>
            <ac:picMk id="9" creationId="{00000000-0000-0000-0000-000000000000}"/>
          </ac:picMkLst>
        </pc:picChg>
        <pc:picChg chg="mod modCrop">
          <ac:chgData name="Riccardo Berta" userId="c8694f89-bba4-4576-b0a8-456619ca5a8c" providerId="ADAL" clId="{FDDBFC5A-5EA9-5330-BEB8-433D7E3B4C4E}" dt="2026-09-22T06:17:54.003" v="605" actId="14100"/>
          <ac:picMkLst>
            <pc:docMk/>
            <pc:sldMk cId="0" sldId="279"/>
            <ac:picMk id="10" creationId="{00000000-0000-0000-0000-000000000000}"/>
          </ac:picMkLst>
        </pc:picChg>
      </pc:sldChg>
      <pc:sldChg chg="modSp mod">
        <pc:chgData name="Riccardo Berta" userId="c8694f89-bba4-4576-b0a8-456619ca5a8c" providerId="ADAL" clId="{FDDBFC5A-5EA9-5330-BEB8-433D7E3B4C4E}" dt="2026-09-22T06:20:27.596" v="651" actId="20577"/>
        <pc:sldMkLst>
          <pc:docMk/>
          <pc:sldMk cId="0" sldId="280"/>
        </pc:sldMkLst>
        <pc:spChg chg="mod">
          <ac:chgData name="Riccardo Berta" userId="c8694f89-bba4-4576-b0a8-456619ca5a8c" providerId="ADAL" clId="{FDDBFC5A-5EA9-5330-BEB8-433D7E3B4C4E}" dt="2026-09-22T06:20:06.023" v="645" actId="20577"/>
          <ac:spMkLst>
            <pc:docMk/>
            <pc:sldMk cId="0" sldId="280"/>
            <ac:spMk id="8" creationId="{00000000-0000-0000-0000-000000000000}"/>
          </ac:spMkLst>
        </pc:spChg>
        <pc:spChg chg="mod">
          <ac:chgData name="Riccardo Berta" userId="c8694f89-bba4-4576-b0a8-456619ca5a8c" providerId="ADAL" clId="{FDDBFC5A-5EA9-5330-BEB8-433D7E3B4C4E}" dt="2026-09-22T06:20:27.596" v="651" actId="20577"/>
          <ac:spMkLst>
            <pc:docMk/>
            <pc:sldMk cId="0" sldId="280"/>
            <ac:spMk id="13" creationId="{00000000-0000-0000-0000-000000000000}"/>
          </ac:spMkLst>
        </pc:spChg>
        <pc:picChg chg="mod">
          <ac:chgData name="Riccardo Berta" userId="c8694f89-bba4-4576-b0a8-456619ca5a8c" providerId="ADAL" clId="{FDDBFC5A-5EA9-5330-BEB8-433D7E3B4C4E}" dt="2026-09-22T06:19:28.078" v="628" actId="14100"/>
          <ac:picMkLst>
            <pc:docMk/>
            <pc:sldMk cId="0" sldId="280"/>
            <ac:picMk id="9" creationId="{00000000-0000-0000-0000-000000000000}"/>
          </ac:picMkLst>
        </pc:picChg>
        <pc:picChg chg="mod modCrop">
          <ac:chgData name="Riccardo Berta" userId="c8694f89-bba4-4576-b0a8-456619ca5a8c" providerId="ADAL" clId="{FDDBFC5A-5EA9-5330-BEB8-433D7E3B4C4E}" dt="2026-09-22T06:19:34.513" v="631" actId="1076"/>
          <ac:picMkLst>
            <pc:docMk/>
            <pc:sldMk cId="0" sldId="280"/>
            <ac:picMk id="10" creationId="{00000000-0000-0000-0000-000000000000}"/>
          </ac:picMkLst>
        </pc:picChg>
      </pc:sldChg>
      <pc:sldChg chg="modSp mod">
        <pc:chgData name="Riccardo Berta" userId="c8694f89-bba4-4576-b0a8-456619ca5a8c" providerId="ADAL" clId="{FDDBFC5A-5EA9-5330-BEB8-433D7E3B4C4E}" dt="2026-09-22T08:32:50.311" v="661" actId="20577"/>
        <pc:sldMkLst>
          <pc:docMk/>
          <pc:sldMk cId="0" sldId="281"/>
        </pc:sldMkLst>
        <pc:spChg chg="mod">
          <ac:chgData name="Riccardo Berta" userId="c8694f89-bba4-4576-b0a8-456619ca5a8c" providerId="ADAL" clId="{FDDBFC5A-5EA9-5330-BEB8-433D7E3B4C4E}" dt="2026-09-22T08:32:29.981" v="652" actId="20577"/>
          <ac:spMkLst>
            <pc:docMk/>
            <pc:sldMk cId="0" sldId="281"/>
            <ac:spMk id="8" creationId="{00000000-0000-0000-0000-000000000000}"/>
          </ac:spMkLst>
        </pc:spChg>
        <pc:spChg chg="mod">
          <ac:chgData name="Riccardo Berta" userId="c8694f89-bba4-4576-b0a8-456619ca5a8c" providerId="ADAL" clId="{FDDBFC5A-5EA9-5330-BEB8-433D7E3B4C4E}" dt="2026-09-22T08:32:50.311" v="661" actId="20577"/>
          <ac:spMkLst>
            <pc:docMk/>
            <pc:sldMk cId="0" sldId="281"/>
            <ac:spMk id="103" creationId="{00000000-0000-0000-0000-000000000000}"/>
          </ac:spMkLst>
        </pc:spChg>
      </pc:sldChg>
      <pc:sldChg chg="modSp mod">
        <pc:chgData name="Riccardo Berta" userId="c8694f89-bba4-4576-b0a8-456619ca5a8c" providerId="ADAL" clId="{FDDBFC5A-5EA9-5330-BEB8-433D7E3B4C4E}" dt="2026-09-22T08:35:28.534" v="695" actId="20577"/>
        <pc:sldMkLst>
          <pc:docMk/>
          <pc:sldMk cId="0" sldId="283"/>
        </pc:sldMkLst>
        <pc:spChg chg="mod">
          <ac:chgData name="Riccardo Berta" userId="c8694f89-bba4-4576-b0a8-456619ca5a8c" providerId="ADAL" clId="{FDDBFC5A-5EA9-5330-BEB8-433D7E3B4C4E}" dt="2026-09-22T08:34:09.870" v="676" actId="113"/>
          <ac:spMkLst>
            <pc:docMk/>
            <pc:sldMk cId="0" sldId="283"/>
            <ac:spMk id="8" creationId="{00000000-0000-0000-0000-000000000000}"/>
          </ac:spMkLst>
        </pc:spChg>
        <pc:spChg chg="mod">
          <ac:chgData name="Riccardo Berta" userId="c8694f89-bba4-4576-b0a8-456619ca5a8c" providerId="ADAL" clId="{FDDBFC5A-5EA9-5330-BEB8-433D7E3B4C4E}" dt="2026-09-22T08:33:44.066" v="668" actId="1076"/>
          <ac:spMkLst>
            <pc:docMk/>
            <pc:sldMk cId="0" sldId="283"/>
            <ac:spMk id="10" creationId="{00000000-0000-0000-0000-000000000000}"/>
          </ac:spMkLst>
        </pc:spChg>
        <pc:spChg chg="mod">
          <ac:chgData name="Riccardo Berta" userId="c8694f89-bba4-4576-b0a8-456619ca5a8c" providerId="ADAL" clId="{FDDBFC5A-5EA9-5330-BEB8-433D7E3B4C4E}" dt="2026-09-22T08:34:49.203" v="681" actId="20577"/>
          <ac:spMkLst>
            <pc:docMk/>
            <pc:sldMk cId="0" sldId="283"/>
            <ac:spMk id="13" creationId="{00000000-0000-0000-0000-000000000000}"/>
          </ac:spMkLst>
        </pc:spChg>
        <pc:spChg chg="mod">
          <ac:chgData name="Riccardo Berta" userId="c8694f89-bba4-4576-b0a8-456619ca5a8c" providerId="ADAL" clId="{FDDBFC5A-5EA9-5330-BEB8-433D7E3B4C4E}" dt="2026-09-22T08:35:28.534" v="695" actId="20577"/>
          <ac:spMkLst>
            <pc:docMk/>
            <pc:sldMk cId="0" sldId="283"/>
            <ac:spMk id="17" creationId="{00000000-0000-0000-0000-000000000000}"/>
          </ac:spMkLst>
        </pc:spChg>
        <pc:picChg chg="mod modCrop">
          <ac:chgData name="Riccardo Berta" userId="c8694f89-bba4-4576-b0a8-456619ca5a8c" providerId="ADAL" clId="{FDDBFC5A-5EA9-5330-BEB8-433D7E3B4C4E}" dt="2026-09-22T08:33:50.759" v="670" actId="14100"/>
          <ac:picMkLst>
            <pc:docMk/>
            <pc:sldMk cId="0" sldId="283"/>
            <ac:picMk id="9" creationId="{00000000-0000-0000-0000-000000000000}"/>
          </ac:picMkLst>
        </pc:picChg>
      </pc:sldChg>
      <pc:sldChg chg="modSp mod">
        <pc:chgData name="Riccardo Berta" userId="c8694f89-bba4-4576-b0a8-456619ca5a8c" providerId="ADAL" clId="{FDDBFC5A-5EA9-5330-BEB8-433D7E3B4C4E}" dt="2026-09-22T08:38:48.607" v="737" actId="20577"/>
        <pc:sldMkLst>
          <pc:docMk/>
          <pc:sldMk cId="0" sldId="284"/>
        </pc:sldMkLst>
        <pc:spChg chg="mod">
          <ac:chgData name="Riccardo Berta" userId="c8694f89-bba4-4576-b0a8-456619ca5a8c" providerId="ADAL" clId="{FDDBFC5A-5EA9-5330-BEB8-433D7E3B4C4E}" dt="2026-09-22T08:36:29.745" v="704" actId="113"/>
          <ac:spMkLst>
            <pc:docMk/>
            <pc:sldMk cId="0" sldId="284"/>
            <ac:spMk id="8" creationId="{00000000-0000-0000-0000-000000000000}"/>
          </ac:spMkLst>
        </pc:spChg>
        <pc:spChg chg="mod">
          <ac:chgData name="Riccardo Berta" userId="c8694f89-bba4-4576-b0a8-456619ca5a8c" providerId="ADAL" clId="{FDDBFC5A-5EA9-5330-BEB8-433D7E3B4C4E}" dt="2026-09-22T08:37:57.074" v="720" actId="20577"/>
          <ac:spMkLst>
            <pc:docMk/>
            <pc:sldMk cId="0" sldId="284"/>
            <ac:spMk id="11" creationId="{00000000-0000-0000-0000-000000000000}"/>
          </ac:spMkLst>
        </pc:spChg>
        <pc:spChg chg="mod">
          <ac:chgData name="Riccardo Berta" userId="c8694f89-bba4-4576-b0a8-456619ca5a8c" providerId="ADAL" clId="{FDDBFC5A-5EA9-5330-BEB8-433D7E3B4C4E}" dt="2026-09-22T08:38:48.607" v="737" actId="20577"/>
          <ac:spMkLst>
            <pc:docMk/>
            <pc:sldMk cId="0" sldId="284"/>
            <ac:spMk id="14" creationId="{00000000-0000-0000-0000-000000000000}"/>
          </ac:spMkLst>
        </pc:spChg>
        <pc:spChg chg="mod">
          <ac:chgData name="Riccardo Berta" userId="c8694f89-bba4-4576-b0a8-456619ca5a8c" providerId="ADAL" clId="{FDDBFC5A-5EA9-5330-BEB8-433D7E3B4C4E}" dt="2026-09-22T08:37:22.962" v="712" actId="113"/>
          <ac:spMkLst>
            <pc:docMk/>
            <pc:sldMk cId="0" sldId="284"/>
            <ac:spMk id="17" creationId="{00000000-0000-0000-0000-000000000000}"/>
          </ac:spMkLst>
        </pc:spChg>
        <pc:picChg chg="mod">
          <ac:chgData name="Riccardo Berta" userId="c8694f89-bba4-4576-b0a8-456619ca5a8c" providerId="ADAL" clId="{FDDBFC5A-5EA9-5330-BEB8-433D7E3B4C4E}" dt="2026-09-22T08:35:53.760" v="697" actId="14100"/>
          <ac:picMkLst>
            <pc:docMk/>
            <pc:sldMk cId="0" sldId="284"/>
            <ac:picMk id="9" creationId="{00000000-0000-0000-0000-000000000000}"/>
          </ac:picMkLst>
        </pc:picChg>
        <pc:picChg chg="mod modCrop">
          <ac:chgData name="Riccardo Berta" userId="c8694f89-bba4-4576-b0a8-456619ca5a8c" providerId="ADAL" clId="{FDDBFC5A-5EA9-5330-BEB8-433D7E3B4C4E}" dt="2026-09-22T08:36:09.947" v="701" actId="14100"/>
          <ac:picMkLst>
            <pc:docMk/>
            <pc:sldMk cId="0" sldId="284"/>
            <ac:picMk id="16" creationId="{00000000-0000-0000-0000-000000000000}"/>
          </ac:picMkLst>
        </pc:picChg>
      </pc:sldChg>
      <pc:sldChg chg="addSp modSp mod">
        <pc:chgData name="Riccardo Berta" userId="c8694f89-bba4-4576-b0a8-456619ca5a8c" providerId="ADAL" clId="{FDDBFC5A-5EA9-5330-BEB8-433D7E3B4C4E}" dt="2026-09-22T10:27:01.302" v="776" actId="20577"/>
        <pc:sldMkLst>
          <pc:docMk/>
          <pc:sldMk cId="0" sldId="285"/>
        </pc:sldMkLst>
        <pc:spChg chg="mod">
          <ac:chgData name="Riccardo Berta" userId="c8694f89-bba4-4576-b0a8-456619ca5a8c" providerId="ADAL" clId="{FDDBFC5A-5EA9-5330-BEB8-433D7E3B4C4E}" dt="2026-09-22T08:40:19.194" v="743" actId="20577"/>
          <ac:spMkLst>
            <pc:docMk/>
            <pc:sldMk cId="0" sldId="285"/>
            <ac:spMk id="14" creationId="{00000000-0000-0000-0000-000000000000}"/>
          </ac:spMkLst>
        </pc:spChg>
        <pc:spChg chg="mod">
          <ac:chgData name="Riccardo Berta" userId="c8694f89-bba4-4576-b0a8-456619ca5a8c" providerId="ADAL" clId="{FDDBFC5A-5EA9-5330-BEB8-433D7E3B4C4E}" dt="2026-09-22T08:40:54.378" v="749" actId="20577"/>
          <ac:spMkLst>
            <pc:docMk/>
            <pc:sldMk cId="0" sldId="285"/>
            <ac:spMk id="21" creationId="{00000000-0000-0000-0000-000000000000}"/>
          </ac:spMkLst>
        </pc:spChg>
        <pc:spChg chg="add mod">
          <ac:chgData name="Riccardo Berta" userId="c8694f89-bba4-4576-b0a8-456619ca5a8c" providerId="ADAL" clId="{FDDBFC5A-5EA9-5330-BEB8-433D7E3B4C4E}" dt="2026-09-22T10:26:02.607" v="758" actId="1076"/>
          <ac:spMkLst>
            <pc:docMk/>
            <pc:sldMk cId="0" sldId="285"/>
            <ac:spMk id="22" creationId="{ADA321B6-9083-ADC8-284D-1C5E664C37A9}"/>
          </ac:spMkLst>
        </pc:spChg>
        <pc:spChg chg="add mod">
          <ac:chgData name="Riccardo Berta" userId="c8694f89-bba4-4576-b0a8-456619ca5a8c" providerId="ADAL" clId="{FDDBFC5A-5EA9-5330-BEB8-433D7E3B4C4E}" dt="2026-09-22T10:26:02.607" v="758" actId="1076"/>
          <ac:spMkLst>
            <pc:docMk/>
            <pc:sldMk cId="0" sldId="285"/>
            <ac:spMk id="23" creationId="{9E05C44D-6702-AFC3-C200-7D48930488C9}"/>
          </ac:spMkLst>
        </pc:spChg>
        <pc:spChg chg="add mod">
          <ac:chgData name="Riccardo Berta" userId="c8694f89-bba4-4576-b0a8-456619ca5a8c" providerId="ADAL" clId="{FDDBFC5A-5EA9-5330-BEB8-433D7E3B4C4E}" dt="2026-09-22T10:27:01.302" v="776" actId="20577"/>
          <ac:spMkLst>
            <pc:docMk/>
            <pc:sldMk cId="0" sldId="285"/>
            <ac:spMk id="24" creationId="{4976179A-25FA-F05B-DB24-B1026F6DECE0}"/>
          </ac:spMkLst>
        </pc:spChg>
        <pc:picChg chg="mod">
          <ac:chgData name="Riccardo Berta" userId="c8694f89-bba4-4576-b0a8-456619ca5a8c" providerId="ADAL" clId="{FDDBFC5A-5EA9-5330-BEB8-433D7E3B4C4E}" dt="2026-09-22T08:39:22.955" v="738" actId="1076"/>
          <ac:picMkLst>
            <pc:docMk/>
            <pc:sldMk cId="0" sldId="285"/>
            <ac:picMk id="9" creationId="{00000000-0000-0000-0000-000000000000}"/>
          </ac:picMkLst>
        </pc:picChg>
      </pc:sldChg>
      <pc:sldChg chg="modSp mod">
        <pc:chgData name="Riccardo Berta" userId="c8694f89-bba4-4576-b0a8-456619ca5a8c" providerId="ADAL" clId="{FDDBFC5A-5EA9-5330-BEB8-433D7E3B4C4E}" dt="2026-09-22T10:33:39.086" v="801" actId="20577"/>
        <pc:sldMkLst>
          <pc:docMk/>
          <pc:sldMk cId="0" sldId="286"/>
        </pc:sldMkLst>
        <pc:spChg chg="mod">
          <ac:chgData name="Riccardo Berta" userId="c8694f89-bba4-4576-b0a8-456619ca5a8c" providerId="ADAL" clId="{FDDBFC5A-5EA9-5330-BEB8-433D7E3B4C4E}" dt="2026-09-22T10:17:40.791" v="756" actId="20577"/>
          <ac:spMkLst>
            <pc:docMk/>
            <pc:sldMk cId="0" sldId="286"/>
            <ac:spMk id="8" creationId="{00000000-0000-0000-0000-000000000000}"/>
          </ac:spMkLst>
        </pc:spChg>
        <pc:spChg chg="mod">
          <ac:chgData name="Riccardo Berta" userId="c8694f89-bba4-4576-b0a8-456619ca5a8c" providerId="ADAL" clId="{FDDBFC5A-5EA9-5330-BEB8-433D7E3B4C4E}" dt="2026-09-22T10:33:05.474" v="793" actId="20577"/>
          <ac:spMkLst>
            <pc:docMk/>
            <pc:sldMk cId="0" sldId="286"/>
            <ac:spMk id="12" creationId="{00000000-0000-0000-0000-000000000000}"/>
          </ac:spMkLst>
        </pc:spChg>
        <pc:spChg chg="mod">
          <ac:chgData name="Riccardo Berta" userId="c8694f89-bba4-4576-b0a8-456619ca5a8c" providerId="ADAL" clId="{FDDBFC5A-5EA9-5330-BEB8-433D7E3B4C4E}" dt="2026-09-22T10:33:39.086" v="801" actId="20577"/>
          <ac:spMkLst>
            <pc:docMk/>
            <pc:sldMk cId="0" sldId="286"/>
            <ac:spMk id="19" creationId="{00000000-0000-0000-0000-000000000000}"/>
          </ac:spMkLst>
        </pc:spChg>
        <pc:picChg chg="mod">
          <ac:chgData name="Riccardo Berta" userId="c8694f89-bba4-4576-b0a8-456619ca5a8c" providerId="ADAL" clId="{FDDBFC5A-5EA9-5330-BEB8-433D7E3B4C4E}" dt="2026-09-22T08:41:15.356" v="752" actId="1076"/>
          <ac:picMkLst>
            <pc:docMk/>
            <pc:sldMk cId="0" sldId="286"/>
            <ac:picMk id="9" creationId="{00000000-0000-0000-0000-000000000000}"/>
          </ac:picMkLst>
        </pc:picChg>
      </pc:sldChg>
      <pc:sldChg chg="modSp mod">
        <pc:chgData name="Riccardo Berta" userId="c8694f89-bba4-4576-b0a8-456619ca5a8c" providerId="ADAL" clId="{FDDBFC5A-5EA9-5330-BEB8-433D7E3B4C4E}" dt="2026-09-22T10:36:36.881" v="846" actId="14100"/>
        <pc:sldMkLst>
          <pc:docMk/>
          <pc:sldMk cId="0" sldId="287"/>
        </pc:sldMkLst>
        <pc:spChg chg="mod">
          <ac:chgData name="Riccardo Berta" userId="c8694f89-bba4-4576-b0a8-456619ca5a8c" providerId="ADAL" clId="{FDDBFC5A-5EA9-5330-BEB8-433D7E3B4C4E}" dt="2026-09-22T10:34:02.660" v="804" actId="313"/>
          <ac:spMkLst>
            <pc:docMk/>
            <pc:sldMk cId="0" sldId="287"/>
            <ac:spMk id="8" creationId="{00000000-0000-0000-0000-000000000000}"/>
          </ac:spMkLst>
        </pc:spChg>
        <pc:spChg chg="mod">
          <ac:chgData name="Riccardo Berta" userId="c8694f89-bba4-4576-b0a8-456619ca5a8c" providerId="ADAL" clId="{FDDBFC5A-5EA9-5330-BEB8-433D7E3B4C4E}" dt="2026-09-22T10:34:24.892" v="811" actId="20577"/>
          <ac:spMkLst>
            <pc:docMk/>
            <pc:sldMk cId="0" sldId="287"/>
            <ac:spMk id="11" creationId="{00000000-0000-0000-0000-000000000000}"/>
          </ac:spMkLst>
        </pc:spChg>
        <pc:spChg chg="mod">
          <ac:chgData name="Riccardo Berta" userId="c8694f89-bba4-4576-b0a8-456619ca5a8c" providerId="ADAL" clId="{FDDBFC5A-5EA9-5330-BEB8-433D7E3B4C4E}" dt="2026-09-22T10:34:38.737" v="829" actId="1037"/>
          <ac:spMkLst>
            <pc:docMk/>
            <pc:sldMk cId="0" sldId="287"/>
            <ac:spMk id="12" creationId="{00000000-0000-0000-0000-000000000000}"/>
          </ac:spMkLst>
        </pc:spChg>
        <pc:spChg chg="mod">
          <ac:chgData name="Riccardo Berta" userId="c8694f89-bba4-4576-b0a8-456619ca5a8c" providerId="ADAL" clId="{FDDBFC5A-5EA9-5330-BEB8-433D7E3B4C4E}" dt="2026-09-22T10:34:38.737" v="829" actId="1037"/>
          <ac:spMkLst>
            <pc:docMk/>
            <pc:sldMk cId="0" sldId="287"/>
            <ac:spMk id="13" creationId="{00000000-0000-0000-0000-000000000000}"/>
          </ac:spMkLst>
        </pc:spChg>
        <pc:spChg chg="mod">
          <ac:chgData name="Riccardo Berta" userId="c8694f89-bba4-4576-b0a8-456619ca5a8c" providerId="ADAL" clId="{FDDBFC5A-5EA9-5330-BEB8-433D7E3B4C4E}" dt="2026-09-22T10:34:38.737" v="829" actId="1037"/>
          <ac:spMkLst>
            <pc:docMk/>
            <pc:sldMk cId="0" sldId="287"/>
            <ac:spMk id="14" creationId="{00000000-0000-0000-0000-000000000000}"/>
          </ac:spMkLst>
        </pc:spChg>
        <pc:spChg chg="mod">
          <ac:chgData name="Riccardo Berta" userId="c8694f89-bba4-4576-b0a8-456619ca5a8c" providerId="ADAL" clId="{FDDBFC5A-5EA9-5330-BEB8-433D7E3B4C4E}" dt="2026-09-22T10:36:36.881" v="846" actId="14100"/>
          <ac:spMkLst>
            <pc:docMk/>
            <pc:sldMk cId="0" sldId="287"/>
            <ac:spMk id="15" creationId="{00000000-0000-0000-0000-000000000000}"/>
          </ac:spMkLst>
        </pc:spChg>
        <pc:spChg chg="mod">
          <ac:chgData name="Riccardo Berta" userId="c8694f89-bba4-4576-b0a8-456619ca5a8c" providerId="ADAL" clId="{FDDBFC5A-5EA9-5330-BEB8-433D7E3B4C4E}" dt="2026-09-22T10:36:28.375" v="844" actId="1076"/>
          <ac:spMkLst>
            <pc:docMk/>
            <pc:sldMk cId="0" sldId="287"/>
            <ac:spMk id="16" creationId="{00000000-0000-0000-0000-000000000000}"/>
          </ac:spMkLst>
        </pc:spChg>
        <pc:spChg chg="mod">
          <ac:chgData name="Riccardo Berta" userId="c8694f89-bba4-4576-b0a8-456619ca5a8c" providerId="ADAL" clId="{FDDBFC5A-5EA9-5330-BEB8-433D7E3B4C4E}" dt="2026-09-22T10:35:25.978" v="834" actId="20577"/>
          <ac:spMkLst>
            <pc:docMk/>
            <pc:sldMk cId="0" sldId="287"/>
            <ac:spMk id="20" creationId="{00000000-0000-0000-0000-000000000000}"/>
          </ac:spMkLst>
        </pc:spChg>
        <pc:spChg chg="mod">
          <ac:chgData name="Riccardo Berta" userId="c8694f89-bba4-4576-b0a8-456619ca5a8c" providerId="ADAL" clId="{FDDBFC5A-5EA9-5330-BEB8-433D7E3B4C4E}" dt="2026-09-22T10:35:55.663" v="843" actId="20577"/>
          <ac:spMkLst>
            <pc:docMk/>
            <pc:sldMk cId="0" sldId="287"/>
            <ac:spMk id="22" creationId="{00000000-0000-0000-0000-000000000000}"/>
          </ac:spMkLst>
        </pc:spChg>
      </pc:sldChg>
      <pc:sldChg chg="modSp mod">
        <pc:chgData name="Riccardo Berta" userId="c8694f89-bba4-4576-b0a8-456619ca5a8c" providerId="ADAL" clId="{FDDBFC5A-5EA9-5330-BEB8-433D7E3B4C4E}" dt="2026-09-22T10:50:04.235" v="967" actId="313"/>
        <pc:sldMkLst>
          <pc:docMk/>
          <pc:sldMk cId="0" sldId="289"/>
        </pc:sldMkLst>
        <pc:spChg chg="mod">
          <ac:chgData name="Riccardo Berta" userId="c8694f89-bba4-4576-b0a8-456619ca5a8c" providerId="ADAL" clId="{FDDBFC5A-5EA9-5330-BEB8-433D7E3B4C4E}" dt="2026-09-22T10:44:46.466" v="928" actId="20577"/>
          <ac:spMkLst>
            <pc:docMk/>
            <pc:sldMk cId="0" sldId="289"/>
            <ac:spMk id="8" creationId="{00000000-0000-0000-0000-000000000000}"/>
          </ac:spMkLst>
        </pc:spChg>
        <pc:spChg chg="mod">
          <ac:chgData name="Riccardo Berta" userId="c8694f89-bba4-4576-b0a8-456619ca5a8c" providerId="ADAL" clId="{FDDBFC5A-5EA9-5330-BEB8-433D7E3B4C4E}" dt="2026-09-22T10:49:13.946" v="929" actId="113"/>
          <ac:spMkLst>
            <pc:docMk/>
            <pc:sldMk cId="0" sldId="289"/>
            <ac:spMk id="14" creationId="{00000000-0000-0000-0000-000000000000}"/>
          </ac:spMkLst>
        </pc:spChg>
        <pc:spChg chg="mod">
          <ac:chgData name="Riccardo Berta" userId="c8694f89-bba4-4576-b0a8-456619ca5a8c" providerId="ADAL" clId="{FDDBFC5A-5EA9-5330-BEB8-433D7E3B4C4E}" dt="2026-09-22T10:49:18.939" v="930" actId="113"/>
          <ac:spMkLst>
            <pc:docMk/>
            <pc:sldMk cId="0" sldId="289"/>
            <ac:spMk id="17" creationId="{00000000-0000-0000-0000-000000000000}"/>
          </ac:spMkLst>
        </pc:spChg>
        <pc:spChg chg="mod">
          <ac:chgData name="Riccardo Berta" userId="c8694f89-bba4-4576-b0a8-456619ca5a8c" providerId="ADAL" clId="{FDDBFC5A-5EA9-5330-BEB8-433D7E3B4C4E}" dt="2026-09-22T10:49:20.972" v="931" actId="113"/>
          <ac:spMkLst>
            <pc:docMk/>
            <pc:sldMk cId="0" sldId="289"/>
            <ac:spMk id="20" creationId="{00000000-0000-0000-0000-000000000000}"/>
          </ac:spMkLst>
        </pc:spChg>
        <pc:spChg chg="mod">
          <ac:chgData name="Riccardo Berta" userId="c8694f89-bba4-4576-b0a8-456619ca5a8c" providerId="ADAL" clId="{FDDBFC5A-5EA9-5330-BEB8-433D7E3B4C4E}" dt="2026-09-22T10:49:23.013" v="932" actId="113"/>
          <ac:spMkLst>
            <pc:docMk/>
            <pc:sldMk cId="0" sldId="289"/>
            <ac:spMk id="23" creationId="{00000000-0000-0000-0000-000000000000}"/>
          </ac:spMkLst>
        </pc:spChg>
        <pc:spChg chg="mod">
          <ac:chgData name="Riccardo Berta" userId="c8694f89-bba4-4576-b0a8-456619ca5a8c" providerId="ADAL" clId="{FDDBFC5A-5EA9-5330-BEB8-433D7E3B4C4E}" dt="2026-09-22T10:49:25.090" v="933" actId="113"/>
          <ac:spMkLst>
            <pc:docMk/>
            <pc:sldMk cId="0" sldId="289"/>
            <ac:spMk id="26" creationId="{00000000-0000-0000-0000-000000000000}"/>
          </ac:spMkLst>
        </pc:spChg>
        <pc:spChg chg="mod">
          <ac:chgData name="Riccardo Berta" userId="c8694f89-bba4-4576-b0a8-456619ca5a8c" providerId="ADAL" clId="{FDDBFC5A-5EA9-5330-BEB8-433D7E3B4C4E}" dt="2026-09-22T10:49:50.618" v="963" actId="20577"/>
          <ac:spMkLst>
            <pc:docMk/>
            <pc:sldMk cId="0" sldId="289"/>
            <ac:spMk id="27" creationId="{00000000-0000-0000-0000-000000000000}"/>
          </ac:spMkLst>
        </pc:spChg>
        <pc:spChg chg="mod">
          <ac:chgData name="Riccardo Berta" userId="c8694f89-bba4-4576-b0a8-456619ca5a8c" providerId="ADAL" clId="{FDDBFC5A-5EA9-5330-BEB8-433D7E3B4C4E}" dt="2026-09-22T10:50:04.235" v="967" actId="313"/>
          <ac:spMkLst>
            <pc:docMk/>
            <pc:sldMk cId="0" sldId="289"/>
            <ac:spMk id="30" creationId="{00000000-0000-0000-0000-000000000000}"/>
          </ac:spMkLst>
        </pc:spChg>
      </pc:sldChg>
      <pc:sldChg chg="modSp mod">
        <pc:chgData name="Riccardo Berta" userId="c8694f89-bba4-4576-b0a8-456619ca5a8c" providerId="ADAL" clId="{FDDBFC5A-5EA9-5330-BEB8-433D7E3B4C4E}" dt="2026-09-28T10:40:38.070" v="971" actId="20577"/>
        <pc:sldMkLst>
          <pc:docMk/>
          <pc:sldMk cId="0" sldId="290"/>
        </pc:sldMkLst>
        <pc:spChg chg="mod">
          <ac:chgData name="Riccardo Berta" userId="c8694f89-bba4-4576-b0a8-456619ca5a8c" providerId="ADAL" clId="{FDDBFC5A-5EA9-5330-BEB8-433D7E3B4C4E}" dt="2026-09-28T10:40:38.070" v="971" actId="20577"/>
          <ac:spMkLst>
            <pc:docMk/>
            <pc:sldMk cId="0" sldId="290"/>
            <ac:spMk id="34" creationId="{00000000-0000-0000-0000-000000000000}"/>
          </ac:spMkLst>
        </pc:spChg>
      </pc:sldChg>
      <pc:sldChg chg="modSp mod">
        <pc:chgData name="Riccardo Berta" userId="c8694f89-bba4-4576-b0a8-456619ca5a8c" providerId="ADAL" clId="{FDDBFC5A-5EA9-5330-BEB8-433D7E3B4C4E}" dt="2026-09-28T10:42:36.189" v="989" actId="20577"/>
        <pc:sldMkLst>
          <pc:docMk/>
          <pc:sldMk cId="0" sldId="291"/>
        </pc:sldMkLst>
        <pc:spChg chg="mod">
          <ac:chgData name="Riccardo Berta" userId="c8694f89-bba4-4576-b0a8-456619ca5a8c" providerId="ADAL" clId="{FDDBFC5A-5EA9-5330-BEB8-433D7E3B4C4E}" dt="2026-09-28T10:41:02.793" v="981" actId="20577"/>
          <ac:spMkLst>
            <pc:docMk/>
            <pc:sldMk cId="0" sldId="291"/>
            <ac:spMk id="31" creationId="{00000000-0000-0000-0000-000000000000}"/>
          </ac:spMkLst>
        </pc:spChg>
        <pc:spChg chg="mod">
          <ac:chgData name="Riccardo Berta" userId="c8694f89-bba4-4576-b0a8-456619ca5a8c" providerId="ADAL" clId="{FDDBFC5A-5EA9-5330-BEB8-433D7E3B4C4E}" dt="2026-09-28T10:42:36.189" v="989" actId="20577"/>
          <ac:spMkLst>
            <pc:docMk/>
            <pc:sldMk cId="0" sldId="291"/>
            <ac:spMk id="37" creationId="{00000000-0000-0000-0000-000000000000}"/>
          </ac:spMkLst>
        </pc:spChg>
      </pc:sldChg>
      <pc:sldChg chg="addSp modSp mod">
        <pc:chgData name="Riccardo Berta" userId="c8694f89-bba4-4576-b0a8-456619ca5a8c" providerId="ADAL" clId="{FDDBFC5A-5EA9-5330-BEB8-433D7E3B4C4E}" dt="2026-09-28T10:46:28.902" v="1034" actId="20577"/>
        <pc:sldMkLst>
          <pc:docMk/>
          <pc:sldMk cId="0" sldId="292"/>
        </pc:sldMkLst>
        <pc:spChg chg="mod">
          <ac:chgData name="Riccardo Berta" userId="c8694f89-bba4-4576-b0a8-456619ca5a8c" providerId="ADAL" clId="{FDDBFC5A-5EA9-5330-BEB8-433D7E3B4C4E}" dt="2026-09-28T10:43:18.260" v="1010" actId="790"/>
          <ac:spMkLst>
            <pc:docMk/>
            <pc:sldMk cId="0" sldId="292"/>
            <ac:spMk id="23" creationId="{00000000-0000-0000-0000-000000000000}"/>
          </ac:spMkLst>
        </pc:spChg>
        <pc:spChg chg="mod">
          <ac:chgData name="Riccardo Berta" userId="c8694f89-bba4-4576-b0a8-456619ca5a8c" providerId="ADAL" clId="{FDDBFC5A-5EA9-5330-BEB8-433D7E3B4C4E}" dt="2026-09-28T10:46:19.333" v="1032" actId="20577"/>
          <ac:spMkLst>
            <pc:docMk/>
            <pc:sldMk cId="0" sldId="292"/>
            <ac:spMk id="27" creationId="{00000000-0000-0000-0000-000000000000}"/>
          </ac:spMkLst>
        </pc:spChg>
        <pc:spChg chg="mod">
          <ac:chgData name="Riccardo Berta" userId="c8694f89-bba4-4576-b0a8-456619ca5a8c" providerId="ADAL" clId="{FDDBFC5A-5EA9-5330-BEB8-433D7E3B4C4E}" dt="2026-09-28T10:46:28.902" v="1034" actId="20577"/>
          <ac:spMkLst>
            <pc:docMk/>
            <pc:sldMk cId="0" sldId="292"/>
            <ac:spMk id="29" creationId="{00000000-0000-0000-0000-000000000000}"/>
          </ac:spMkLst>
        </pc:spChg>
        <pc:spChg chg="add mod">
          <ac:chgData name="Riccardo Berta" userId="c8694f89-bba4-4576-b0a8-456619ca5a8c" providerId="ADAL" clId="{FDDBFC5A-5EA9-5330-BEB8-433D7E3B4C4E}" dt="2026-09-28T10:43:09.627" v="1009" actId="27636"/>
          <ac:spMkLst>
            <pc:docMk/>
            <pc:sldMk cId="0" sldId="292"/>
            <ac:spMk id="32" creationId="{B95C3B0A-9DAE-F7BA-32F0-83FE5AF48B27}"/>
          </ac:spMkLst>
        </pc:spChg>
      </pc:sldChg>
      <pc:sldChg chg="modSp mod">
        <pc:chgData name="Riccardo Berta" userId="c8694f89-bba4-4576-b0a8-456619ca5a8c" providerId="ADAL" clId="{FDDBFC5A-5EA9-5330-BEB8-433D7E3B4C4E}" dt="2026-09-28T10:48:01.962" v="1048" actId="20577"/>
        <pc:sldMkLst>
          <pc:docMk/>
          <pc:sldMk cId="0" sldId="293"/>
        </pc:sldMkLst>
        <pc:spChg chg="mod">
          <ac:chgData name="Riccardo Berta" userId="c8694f89-bba4-4576-b0a8-456619ca5a8c" providerId="ADAL" clId="{FDDBFC5A-5EA9-5330-BEB8-433D7E3B4C4E}" dt="2026-09-28T10:47:11.390" v="1036" actId="20577"/>
          <ac:spMkLst>
            <pc:docMk/>
            <pc:sldMk cId="0" sldId="293"/>
            <ac:spMk id="28" creationId="{00000000-0000-0000-0000-000000000000}"/>
          </ac:spMkLst>
        </pc:spChg>
        <pc:spChg chg="mod">
          <ac:chgData name="Riccardo Berta" userId="c8694f89-bba4-4576-b0a8-456619ca5a8c" providerId="ADAL" clId="{FDDBFC5A-5EA9-5330-BEB8-433D7E3B4C4E}" dt="2026-09-28T10:47:31.984" v="1038" actId="113"/>
          <ac:spMkLst>
            <pc:docMk/>
            <pc:sldMk cId="0" sldId="293"/>
            <ac:spMk id="31" creationId="{00000000-0000-0000-0000-000000000000}"/>
          </ac:spMkLst>
        </pc:spChg>
        <pc:spChg chg="mod">
          <ac:chgData name="Riccardo Berta" userId="c8694f89-bba4-4576-b0a8-456619ca5a8c" providerId="ADAL" clId="{FDDBFC5A-5EA9-5330-BEB8-433D7E3B4C4E}" dt="2026-09-28T10:47:48.039" v="1041" actId="20577"/>
          <ac:spMkLst>
            <pc:docMk/>
            <pc:sldMk cId="0" sldId="293"/>
            <ac:spMk id="36" creationId="{00000000-0000-0000-0000-000000000000}"/>
          </ac:spMkLst>
        </pc:spChg>
        <pc:spChg chg="mod">
          <ac:chgData name="Riccardo Berta" userId="c8694f89-bba4-4576-b0a8-456619ca5a8c" providerId="ADAL" clId="{FDDBFC5A-5EA9-5330-BEB8-433D7E3B4C4E}" dt="2026-09-28T10:48:01.962" v="1048" actId="20577"/>
          <ac:spMkLst>
            <pc:docMk/>
            <pc:sldMk cId="0" sldId="293"/>
            <ac:spMk id="38" creationId="{00000000-0000-0000-0000-000000000000}"/>
          </ac:spMkLst>
        </pc:spChg>
      </pc:sldChg>
      <pc:sldChg chg="addSp delSp modSp mod">
        <pc:chgData name="Riccardo Berta" userId="c8694f89-bba4-4576-b0a8-456619ca5a8c" providerId="ADAL" clId="{FDDBFC5A-5EA9-5330-BEB8-433D7E3B4C4E}" dt="2026-09-29T10:59:40.849" v="1501" actId="1076"/>
        <pc:sldMkLst>
          <pc:docMk/>
          <pc:sldMk cId="0" sldId="294"/>
        </pc:sldMkLst>
        <pc:spChg chg="mod">
          <ac:chgData name="Riccardo Berta" userId="c8694f89-bba4-4576-b0a8-456619ca5a8c" providerId="ADAL" clId="{FDDBFC5A-5EA9-5330-BEB8-433D7E3B4C4E}" dt="2026-09-28T10:48:34.212" v="1063" actId="20577"/>
          <ac:spMkLst>
            <pc:docMk/>
            <pc:sldMk cId="0" sldId="294"/>
            <ac:spMk id="25" creationId="{00000000-0000-0000-0000-000000000000}"/>
          </ac:spMkLst>
        </pc:spChg>
        <pc:spChg chg="mod">
          <ac:chgData name="Riccardo Berta" userId="c8694f89-bba4-4576-b0a8-456619ca5a8c" providerId="ADAL" clId="{FDDBFC5A-5EA9-5330-BEB8-433D7E3B4C4E}" dt="2026-09-28T10:48:56.495" v="1065" actId="20577"/>
          <ac:spMkLst>
            <pc:docMk/>
            <pc:sldMk cId="0" sldId="294"/>
            <ac:spMk id="32" creationId="{00000000-0000-0000-0000-000000000000}"/>
          </ac:spMkLst>
        </pc:spChg>
        <pc:spChg chg="add del">
          <ac:chgData name="Riccardo Berta" userId="c8694f89-bba4-4576-b0a8-456619ca5a8c" providerId="ADAL" clId="{FDDBFC5A-5EA9-5330-BEB8-433D7E3B4C4E}" dt="2026-09-29T10:59:16.265" v="1496" actId="22"/>
          <ac:spMkLst>
            <pc:docMk/>
            <pc:sldMk cId="0" sldId="294"/>
            <ac:spMk id="34" creationId="{5E365E56-C886-80B4-DBBA-5754C4E4BA54}"/>
          </ac:spMkLst>
        </pc:spChg>
        <pc:picChg chg="del mod">
          <ac:chgData name="Riccardo Berta" userId="c8694f89-bba4-4576-b0a8-456619ca5a8c" providerId="ADAL" clId="{FDDBFC5A-5EA9-5330-BEB8-433D7E3B4C4E}" dt="2026-09-29T10:59:36.264" v="1500" actId="478"/>
          <ac:picMkLst>
            <pc:docMk/>
            <pc:sldMk cId="0" sldId="294"/>
            <ac:picMk id="24" creationId="{00000000-0000-0000-0000-000000000000}"/>
          </ac:picMkLst>
        </pc:picChg>
        <pc:picChg chg="add mod modCrop">
          <ac:chgData name="Riccardo Berta" userId="c8694f89-bba4-4576-b0a8-456619ca5a8c" providerId="ADAL" clId="{FDDBFC5A-5EA9-5330-BEB8-433D7E3B4C4E}" dt="2026-09-29T10:59:40.849" v="1501" actId="1076"/>
          <ac:picMkLst>
            <pc:docMk/>
            <pc:sldMk cId="0" sldId="294"/>
            <ac:picMk id="35" creationId="{D6B8260C-B86B-A8C7-81E3-1141073F6EE5}"/>
          </ac:picMkLst>
        </pc:picChg>
      </pc:sldChg>
      <pc:sldChg chg="modSp mod">
        <pc:chgData name="Riccardo Berta" userId="c8694f89-bba4-4576-b0a8-456619ca5a8c" providerId="ADAL" clId="{FDDBFC5A-5EA9-5330-BEB8-433D7E3B4C4E}" dt="2026-09-29T08:48:41.650" v="1463" actId="1076"/>
        <pc:sldMkLst>
          <pc:docMk/>
          <pc:sldMk cId="0" sldId="295"/>
        </pc:sldMkLst>
        <pc:spChg chg="mod">
          <ac:chgData name="Riccardo Berta" userId="c8694f89-bba4-4576-b0a8-456619ca5a8c" providerId="ADAL" clId="{FDDBFC5A-5EA9-5330-BEB8-433D7E3B4C4E}" dt="2026-09-29T08:48:41.650" v="1463" actId="1076"/>
          <ac:spMkLst>
            <pc:docMk/>
            <pc:sldMk cId="0" sldId="295"/>
            <ac:spMk id="28" creationId="{00000000-0000-0000-0000-000000000000}"/>
          </ac:spMkLst>
        </pc:spChg>
        <pc:spChg chg="mod">
          <ac:chgData name="Riccardo Berta" userId="c8694f89-bba4-4576-b0a8-456619ca5a8c" providerId="ADAL" clId="{FDDBFC5A-5EA9-5330-BEB8-433D7E3B4C4E}" dt="2026-09-28T10:49:29.899" v="1078" actId="20577"/>
          <ac:spMkLst>
            <pc:docMk/>
            <pc:sldMk cId="0" sldId="295"/>
            <ac:spMk id="29" creationId="{00000000-0000-0000-0000-000000000000}"/>
          </ac:spMkLst>
        </pc:spChg>
      </pc:sldChg>
      <pc:sldChg chg="addSp delSp modSp mod">
        <pc:chgData name="Riccardo Berta" userId="c8694f89-bba4-4576-b0a8-456619ca5a8c" providerId="ADAL" clId="{FDDBFC5A-5EA9-5330-BEB8-433D7E3B4C4E}" dt="2026-09-29T13:40:31.848" v="1514" actId="732"/>
        <pc:sldMkLst>
          <pc:docMk/>
          <pc:sldMk cId="0" sldId="296"/>
        </pc:sldMkLst>
        <pc:spChg chg="mod">
          <ac:chgData name="Riccardo Berta" userId="c8694f89-bba4-4576-b0a8-456619ca5a8c" providerId="ADAL" clId="{FDDBFC5A-5EA9-5330-BEB8-433D7E3B4C4E}" dt="2026-09-28T10:50:13.370" v="1083" actId="20577"/>
          <ac:spMkLst>
            <pc:docMk/>
            <pc:sldMk cId="0" sldId="296"/>
            <ac:spMk id="23" creationId="{00000000-0000-0000-0000-000000000000}"/>
          </ac:spMkLst>
        </pc:spChg>
        <pc:spChg chg="mod">
          <ac:chgData name="Riccardo Berta" userId="c8694f89-bba4-4576-b0a8-456619ca5a8c" providerId="ADAL" clId="{FDDBFC5A-5EA9-5330-BEB8-433D7E3B4C4E}" dt="2026-09-28T10:50:40.918" v="1093" actId="20577"/>
          <ac:spMkLst>
            <pc:docMk/>
            <pc:sldMk cId="0" sldId="296"/>
            <ac:spMk id="26" creationId="{00000000-0000-0000-0000-000000000000}"/>
          </ac:spMkLst>
        </pc:spChg>
        <pc:spChg chg="mod">
          <ac:chgData name="Riccardo Berta" userId="c8694f89-bba4-4576-b0a8-456619ca5a8c" providerId="ADAL" clId="{FDDBFC5A-5EA9-5330-BEB8-433D7E3B4C4E}" dt="2026-09-28T10:51:01.709" v="1100" actId="20577"/>
          <ac:spMkLst>
            <pc:docMk/>
            <pc:sldMk cId="0" sldId="296"/>
            <ac:spMk id="28" creationId="{00000000-0000-0000-0000-000000000000}"/>
          </ac:spMkLst>
        </pc:spChg>
        <pc:picChg chg="del">
          <ac:chgData name="Riccardo Berta" userId="c8694f89-bba4-4576-b0a8-456619ca5a8c" providerId="ADAL" clId="{FDDBFC5A-5EA9-5330-BEB8-433D7E3B4C4E}" dt="2026-09-29T10:59:44.995" v="1502" actId="478"/>
          <ac:picMkLst>
            <pc:docMk/>
            <pc:sldMk cId="0" sldId="296"/>
            <ac:picMk id="24" creationId="{00000000-0000-0000-0000-000000000000}"/>
          </ac:picMkLst>
        </pc:picChg>
        <pc:picChg chg="add mod modCrop">
          <ac:chgData name="Riccardo Berta" userId="c8694f89-bba4-4576-b0a8-456619ca5a8c" providerId="ADAL" clId="{FDDBFC5A-5EA9-5330-BEB8-433D7E3B4C4E}" dt="2026-09-29T13:40:31.848" v="1514" actId="732"/>
          <ac:picMkLst>
            <pc:docMk/>
            <pc:sldMk cId="0" sldId="296"/>
            <ac:picMk id="24" creationId="{26252450-D722-2411-6904-0E152AACBC85}"/>
          </ac:picMkLst>
        </pc:picChg>
        <pc:picChg chg="add del mod modCrop">
          <ac:chgData name="Riccardo Berta" userId="c8694f89-bba4-4576-b0a8-456619ca5a8c" providerId="ADAL" clId="{FDDBFC5A-5EA9-5330-BEB8-433D7E3B4C4E}" dt="2026-09-29T13:40:22.751" v="1511" actId="478"/>
          <ac:picMkLst>
            <pc:docMk/>
            <pc:sldMk cId="0" sldId="296"/>
            <ac:picMk id="32" creationId="{7850BDDF-F0E8-E3AF-819C-1FAE8F53EC16}"/>
          </ac:picMkLst>
        </pc:picChg>
      </pc:sldChg>
      <pc:sldChg chg="modSp mod">
        <pc:chgData name="Riccardo Berta" userId="c8694f89-bba4-4576-b0a8-456619ca5a8c" providerId="ADAL" clId="{FDDBFC5A-5EA9-5330-BEB8-433D7E3B4C4E}" dt="2026-09-28T10:52:29.241" v="1109" actId="20577"/>
        <pc:sldMkLst>
          <pc:docMk/>
          <pc:sldMk cId="0" sldId="297"/>
        </pc:sldMkLst>
        <pc:spChg chg="mod">
          <ac:chgData name="Riccardo Berta" userId="c8694f89-bba4-4576-b0a8-456619ca5a8c" providerId="ADAL" clId="{FDDBFC5A-5EA9-5330-BEB8-433D7E3B4C4E}" dt="2026-09-28T10:51:49.953" v="1102" actId="20577"/>
          <ac:spMkLst>
            <pc:docMk/>
            <pc:sldMk cId="0" sldId="297"/>
            <ac:spMk id="31" creationId="{00000000-0000-0000-0000-000000000000}"/>
          </ac:spMkLst>
        </pc:spChg>
        <pc:spChg chg="mod">
          <ac:chgData name="Riccardo Berta" userId="c8694f89-bba4-4576-b0a8-456619ca5a8c" providerId="ADAL" clId="{FDDBFC5A-5EA9-5330-BEB8-433D7E3B4C4E}" dt="2026-09-28T10:52:23.374" v="1104" actId="20577"/>
          <ac:spMkLst>
            <pc:docMk/>
            <pc:sldMk cId="0" sldId="297"/>
            <ac:spMk id="33" creationId="{00000000-0000-0000-0000-000000000000}"/>
          </ac:spMkLst>
        </pc:spChg>
        <pc:spChg chg="mod">
          <ac:chgData name="Riccardo Berta" userId="c8694f89-bba4-4576-b0a8-456619ca5a8c" providerId="ADAL" clId="{FDDBFC5A-5EA9-5330-BEB8-433D7E3B4C4E}" dt="2026-09-28T10:52:29.241" v="1109" actId="20577"/>
          <ac:spMkLst>
            <pc:docMk/>
            <pc:sldMk cId="0" sldId="297"/>
            <ac:spMk id="39" creationId="{00000000-0000-0000-0000-000000000000}"/>
          </ac:spMkLst>
        </pc:spChg>
      </pc:sldChg>
      <pc:sldChg chg="modSp mod">
        <pc:chgData name="Riccardo Berta" userId="c8694f89-bba4-4576-b0a8-456619ca5a8c" providerId="ADAL" clId="{FDDBFC5A-5EA9-5330-BEB8-433D7E3B4C4E}" dt="2026-09-29T09:01:16.585" v="1467" actId="1076"/>
        <pc:sldMkLst>
          <pc:docMk/>
          <pc:sldMk cId="0" sldId="298"/>
        </pc:sldMkLst>
        <pc:spChg chg="mod">
          <ac:chgData name="Riccardo Berta" userId="c8694f89-bba4-4576-b0a8-456619ca5a8c" providerId="ADAL" clId="{FDDBFC5A-5EA9-5330-BEB8-433D7E3B4C4E}" dt="2026-09-28T10:53:18.559" v="1116" actId="1076"/>
          <ac:spMkLst>
            <pc:docMk/>
            <pc:sldMk cId="0" sldId="298"/>
            <ac:spMk id="25" creationId="{00000000-0000-0000-0000-000000000000}"/>
          </ac:spMkLst>
        </pc:spChg>
        <pc:spChg chg="mod">
          <ac:chgData name="Riccardo Berta" userId="c8694f89-bba4-4576-b0a8-456619ca5a8c" providerId="ADAL" clId="{FDDBFC5A-5EA9-5330-BEB8-433D7E3B4C4E}" dt="2026-09-28T10:53:18.559" v="1116" actId="1076"/>
          <ac:spMkLst>
            <pc:docMk/>
            <pc:sldMk cId="0" sldId="298"/>
            <ac:spMk id="26" creationId="{00000000-0000-0000-0000-000000000000}"/>
          </ac:spMkLst>
        </pc:spChg>
        <pc:spChg chg="mod">
          <ac:chgData name="Riccardo Berta" userId="c8694f89-bba4-4576-b0a8-456619ca5a8c" providerId="ADAL" clId="{FDDBFC5A-5EA9-5330-BEB8-433D7E3B4C4E}" dt="2026-09-28T10:53:33.497" v="1129" actId="20577"/>
          <ac:spMkLst>
            <pc:docMk/>
            <pc:sldMk cId="0" sldId="298"/>
            <ac:spMk id="27" creationId="{00000000-0000-0000-0000-000000000000}"/>
          </ac:spMkLst>
        </pc:spChg>
        <pc:spChg chg="mod">
          <ac:chgData name="Riccardo Berta" userId="c8694f89-bba4-4576-b0a8-456619ca5a8c" providerId="ADAL" clId="{FDDBFC5A-5EA9-5330-BEB8-433D7E3B4C4E}" dt="2026-09-28T10:53:18.559" v="1116" actId="1076"/>
          <ac:spMkLst>
            <pc:docMk/>
            <pc:sldMk cId="0" sldId="298"/>
            <ac:spMk id="28" creationId="{00000000-0000-0000-0000-000000000000}"/>
          </ac:spMkLst>
        </pc:spChg>
        <pc:spChg chg="mod">
          <ac:chgData name="Riccardo Berta" userId="c8694f89-bba4-4576-b0a8-456619ca5a8c" providerId="ADAL" clId="{FDDBFC5A-5EA9-5330-BEB8-433D7E3B4C4E}" dt="2026-09-28T10:53:18.559" v="1116" actId="1076"/>
          <ac:spMkLst>
            <pc:docMk/>
            <pc:sldMk cId="0" sldId="298"/>
            <ac:spMk id="29" creationId="{00000000-0000-0000-0000-000000000000}"/>
          </ac:spMkLst>
        </pc:spChg>
        <pc:spChg chg="mod">
          <ac:chgData name="Riccardo Berta" userId="c8694f89-bba4-4576-b0a8-456619ca5a8c" providerId="ADAL" clId="{FDDBFC5A-5EA9-5330-BEB8-433D7E3B4C4E}" dt="2026-09-28T10:53:38.729" v="1136" actId="20577"/>
          <ac:spMkLst>
            <pc:docMk/>
            <pc:sldMk cId="0" sldId="298"/>
            <ac:spMk id="30" creationId="{00000000-0000-0000-0000-000000000000}"/>
          </ac:spMkLst>
        </pc:spChg>
        <pc:spChg chg="mod">
          <ac:chgData name="Riccardo Berta" userId="c8694f89-bba4-4576-b0a8-456619ca5a8c" providerId="ADAL" clId="{FDDBFC5A-5EA9-5330-BEB8-433D7E3B4C4E}" dt="2026-09-28T10:53:18.559" v="1116" actId="1076"/>
          <ac:spMkLst>
            <pc:docMk/>
            <pc:sldMk cId="0" sldId="298"/>
            <ac:spMk id="31" creationId="{00000000-0000-0000-0000-000000000000}"/>
          </ac:spMkLst>
        </pc:spChg>
        <pc:spChg chg="mod">
          <ac:chgData name="Riccardo Berta" userId="c8694f89-bba4-4576-b0a8-456619ca5a8c" providerId="ADAL" clId="{FDDBFC5A-5EA9-5330-BEB8-433D7E3B4C4E}" dt="2026-09-28T10:53:18.559" v="1116" actId="1076"/>
          <ac:spMkLst>
            <pc:docMk/>
            <pc:sldMk cId="0" sldId="298"/>
            <ac:spMk id="32" creationId="{00000000-0000-0000-0000-000000000000}"/>
          </ac:spMkLst>
        </pc:spChg>
        <pc:spChg chg="mod">
          <ac:chgData name="Riccardo Berta" userId="c8694f89-bba4-4576-b0a8-456619ca5a8c" providerId="ADAL" clId="{FDDBFC5A-5EA9-5330-BEB8-433D7E3B4C4E}" dt="2026-09-28T10:53:43.465" v="1143" actId="20577"/>
          <ac:spMkLst>
            <pc:docMk/>
            <pc:sldMk cId="0" sldId="298"/>
            <ac:spMk id="33" creationId="{00000000-0000-0000-0000-000000000000}"/>
          </ac:spMkLst>
        </pc:spChg>
        <pc:spChg chg="mod">
          <ac:chgData name="Riccardo Berta" userId="c8694f89-bba4-4576-b0a8-456619ca5a8c" providerId="ADAL" clId="{FDDBFC5A-5EA9-5330-BEB8-433D7E3B4C4E}" dt="2026-09-28T10:53:48.786" v="1150" actId="20577"/>
          <ac:spMkLst>
            <pc:docMk/>
            <pc:sldMk cId="0" sldId="298"/>
            <ac:spMk id="36" creationId="{00000000-0000-0000-0000-000000000000}"/>
          </ac:spMkLst>
        </pc:spChg>
        <pc:spChg chg="mod">
          <ac:chgData name="Riccardo Berta" userId="c8694f89-bba4-4576-b0a8-456619ca5a8c" providerId="ADAL" clId="{FDDBFC5A-5EA9-5330-BEB8-433D7E3B4C4E}" dt="2026-09-28T10:53:58.832" v="1160" actId="20577"/>
          <ac:spMkLst>
            <pc:docMk/>
            <pc:sldMk cId="0" sldId="298"/>
            <ac:spMk id="39" creationId="{00000000-0000-0000-0000-000000000000}"/>
          </ac:spMkLst>
        </pc:spChg>
        <pc:spChg chg="mod">
          <ac:chgData name="Riccardo Berta" userId="c8694f89-bba4-4576-b0a8-456619ca5a8c" providerId="ADAL" clId="{FDDBFC5A-5EA9-5330-BEB8-433D7E3B4C4E}" dt="2026-09-28T10:54:04.184" v="1167" actId="20577"/>
          <ac:spMkLst>
            <pc:docMk/>
            <pc:sldMk cId="0" sldId="298"/>
            <ac:spMk id="42" creationId="{00000000-0000-0000-0000-000000000000}"/>
          </ac:spMkLst>
        </pc:spChg>
        <pc:picChg chg="mod">
          <ac:chgData name="Riccardo Berta" userId="c8694f89-bba4-4576-b0a8-456619ca5a8c" providerId="ADAL" clId="{FDDBFC5A-5EA9-5330-BEB8-433D7E3B4C4E}" dt="2026-09-29T09:01:16.585" v="1467" actId="1076"/>
          <ac:picMkLst>
            <pc:docMk/>
            <pc:sldMk cId="0" sldId="298"/>
            <ac:picMk id="23" creationId="{00000000-0000-0000-0000-000000000000}"/>
          </ac:picMkLst>
        </pc:picChg>
      </pc:sldChg>
      <pc:sldChg chg="modSp mod">
        <pc:chgData name="Riccardo Berta" userId="c8694f89-bba4-4576-b0a8-456619ca5a8c" providerId="ADAL" clId="{FDDBFC5A-5EA9-5330-BEB8-433D7E3B4C4E}" dt="2026-09-28T10:55:17.026" v="1169" actId="1076"/>
        <pc:sldMkLst>
          <pc:docMk/>
          <pc:sldMk cId="0" sldId="299"/>
        </pc:sldMkLst>
        <pc:picChg chg="mod">
          <ac:chgData name="Riccardo Berta" userId="c8694f89-bba4-4576-b0a8-456619ca5a8c" providerId="ADAL" clId="{FDDBFC5A-5EA9-5330-BEB8-433D7E3B4C4E}" dt="2026-09-28T10:55:10.266" v="1168" actId="1076"/>
          <ac:picMkLst>
            <pc:docMk/>
            <pc:sldMk cId="0" sldId="299"/>
            <ac:picMk id="24" creationId="{00000000-0000-0000-0000-000000000000}"/>
          </ac:picMkLst>
        </pc:picChg>
        <pc:picChg chg="mod">
          <ac:chgData name="Riccardo Berta" userId="c8694f89-bba4-4576-b0a8-456619ca5a8c" providerId="ADAL" clId="{FDDBFC5A-5EA9-5330-BEB8-433D7E3B4C4E}" dt="2026-09-28T10:55:17.026" v="1169" actId="1076"/>
          <ac:picMkLst>
            <pc:docMk/>
            <pc:sldMk cId="0" sldId="299"/>
            <ac:picMk id="26" creationId="{00000000-0000-0000-0000-000000000000}"/>
          </ac:picMkLst>
        </pc:picChg>
      </pc:sldChg>
      <pc:sldChg chg="modSp mod">
        <pc:chgData name="Riccardo Berta" userId="c8694f89-bba4-4576-b0a8-456619ca5a8c" providerId="ADAL" clId="{FDDBFC5A-5EA9-5330-BEB8-433D7E3B4C4E}" dt="2026-09-28T10:56:19.361" v="1206" actId="20577"/>
        <pc:sldMkLst>
          <pc:docMk/>
          <pc:sldMk cId="0" sldId="300"/>
        </pc:sldMkLst>
        <pc:spChg chg="mod">
          <ac:chgData name="Riccardo Berta" userId="c8694f89-bba4-4576-b0a8-456619ca5a8c" providerId="ADAL" clId="{FDDBFC5A-5EA9-5330-BEB8-433D7E3B4C4E}" dt="2026-09-28T10:56:19.361" v="1206" actId="20577"/>
          <ac:spMkLst>
            <pc:docMk/>
            <pc:sldMk cId="0" sldId="300"/>
            <ac:spMk id="31" creationId="{00000000-0000-0000-0000-000000000000}"/>
          </ac:spMkLst>
        </pc:spChg>
      </pc:sldChg>
      <pc:sldChg chg="modSp mod">
        <pc:chgData name="Riccardo Berta" userId="c8694f89-bba4-4576-b0a8-456619ca5a8c" providerId="ADAL" clId="{FDDBFC5A-5EA9-5330-BEB8-433D7E3B4C4E}" dt="2026-09-28T10:57:01.648" v="1213" actId="20577"/>
        <pc:sldMkLst>
          <pc:docMk/>
          <pc:sldMk cId="0" sldId="301"/>
        </pc:sldMkLst>
        <pc:spChg chg="mod">
          <ac:chgData name="Riccardo Berta" userId="c8694f89-bba4-4576-b0a8-456619ca5a8c" providerId="ADAL" clId="{FDDBFC5A-5EA9-5330-BEB8-433D7E3B4C4E}" dt="2026-09-28T10:56:46.164" v="1208" actId="20577"/>
          <ac:spMkLst>
            <pc:docMk/>
            <pc:sldMk cId="0" sldId="301"/>
            <ac:spMk id="37" creationId="{00000000-0000-0000-0000-000000000000}"/>
          </ac:spMkLst>
        </pc:spChg>
        <pc:spChg chg="mod">
          <ac:chgData name="Riccardo Berta" userId="c8694f89-bba4-4576-b0a8-456619ca5a8c" providerId="ADAL" clId="{FDDBFC5A-5EA9-5330-BEB8-433D7E3B4C4E}" dt="2026-09-28T10:57:01.648" v="1213" actId="20577"/>
          <ac:spMkLst>
            <pc:docMk/>
            <pc:sldMk cId="0" sldId="301"/>
            <ac:spMk id="40" creationId="{00000000-0000-0000-0000-000000000000}"/>
          </ac:spMkLst>
        </pc:spChg>
      </pc:sldChg>
      <pc:sldChg chg="modSp mod">
        <pc:chgData name="Riccardo Berta" userId="c8694f89-bba4-4576-b0a8-456619ca5a8c" providerId="ADAL" clId="{FDDBFC5A-5EA9-5330-BEB8-433D7E3B4C4E}" dt="2026-09-28T10:57:49.791" v="1216" actId="20577"/>
        <pc:sldMkLst>
          <pc:docMk/>
          <pc:sldMk cId="0" sldId="302"/>
        </pc:sldMkLst>
        <pc:spChg chg="mod">
          <ac:chgData name="Riccardo Berta" userId="c8694f89-bba4-4576-b0a8-456619ca5a8c" providerId="ADAL" clId="{FDDBFC5A-5EA9-5330-BEB8-433D7E3B4C4E}" dt="2026-09-28T10:57:49.791" v="1216" actId="20577"/>
          <ac:spMkLst>
            <pc:docMk/>
            <pc:sldMk cId="0" sldId="302"/>
            <ac:spMk id="29" creationId="{00000000-0000-0000-0000-000000000000}"/>
          </ac:spMkLst>
        </pc:spChg>
      </pc:sldChg>
      <pc:sldChg chg="addSp delSp modSp mod">
        <pc:chgData name="Riccardo Berta" userId="c8694f89-bba4-4576-b0a8-456619ca5a8c" providerId="ADAL" clId="{FDDBFC5A-5EA9-5330-BEB8-433D7E3B4C4E}" dt="2026-09-29T11:00:29.435" v="1510" actId="732"/>
        <pc:sldMkLst>
          <pc:docMk/>
          <pc:sldMk cId="0" sldId="303"/>
        </pc:sldMkLst>
        <pc:spChg chg="mod">
          <ac:chgData name="Riccardo Berta" userId="c8694f89-bba4-4576-b0a8-456619ca5a8c" providerId="ADAL" clId="{FDDBFC5A-5EA9-5330-BEB8-433D7E3B4C4E}" dt="2026-09-28T10:59:31.885" v="1240" actId="20577"/>
          <ac:spMkLst>
            <pc:docMk/>
            <pc:sldMk cId="0" sldId="303"/>
            <ac:spMk id="25" creationId="{00000000-0000-0000-0000-000000000000}"/>
          </ac:spMkLst>
        </pc:spChg>
        <pc:spChg chg="mod">
          <ac:chgData name="Riccardo Berta" userId="c8694f89-bba4-4576-b0a8-456619ca5a8c" providerId="ADAL" clId="{FDDBFC5A-5EA9-5330-BEB8-433D7E3B4C4E}" dt="2026-09-28T10:58:56.291" v="1221" actId="20577"/>
          <ac:spMkLst>
            <pc:docMk/>
            <pc:sldMk cId="0" sldId="303"/>
            <ac:spMk id="29" creationId="{00000000-0000-0000-0000-000000000000}"/>
          </ac:spMkLst>
        </pc:spChg>
        <pc:spChg chg="mod">
          <ac:chgData name="Riccardo Berta" userId="c8694f89-bba4-4576-b0a8-456619ca5a8c" providerId="ADAL" clId="{FDDBFC5A-5EA9-5330-BEB8-433D7E3B4C4E}" dt="2026-09-28T10:59:07.522" v="1224" actId="20577"/>
          <ac:spMkLst>
            <pc:docMk/>
            <pc:sldMk cId="0" sldId="303"/>
            <ac:spMk id="31" creationId="{00000000-0000-0000-0000-000000000000}"/>
          </ac:spMkLst>
        </pc:spChg>
        <pc:picChg chg="del">
          <ac:chgData name="Riccardo Berta" userId="c8694f89-bba4-4576-b0a8-456619ca5a8c" providerId="ADAL" clId="{FDDBFC5A-5EA9-5330-BEB8-433D7E3B4C4E}" dt="2026-09-29T11:00:09.823" v="1506" actId="478"/>
          <ac:picMkLst>
            <pc:docMk/>
            <pc:sldMk cId="0" sldId="303"/>
            <ac:picMk id="24" creationId="{00000000-0000-0000-0000-000000000000}"/>
          </ac:picMkLst>
        </pc:picChg>
        <pc:picChg chg="add mod modCrop">
          <ac:chgData name="Riccardo Berta" userId="c8694f89-bba4-4576-b0a8-456619ca5a8c" providerId="ADAL" clId="{FDDBFC5A-5EA9-5330-BEB8-433D7E3B4C4E}" dt="2026-09-29T11:00:29.435" v="1510" actId="732"/>
          <ac:picMkLst>
            <pc:docMk/>
            <pc:sldMk cId="0" sldId="303"/>
            <ac:picMk id="32" creationId="{D611FF5A-46B7-2050-EB79-0254EB4445BC}"/>
          </ac:picMkLst>
        </pc:picChg>
      </pc:sldChg>
      <pc:sldChg chg="modSp mod">
        <pc:chgData name="Riccardo Berta" userId="c8694f89-bba4-4576-b0a8-456619ca5a8c" providerId="ADAL" clId="{FDDBFC5A-5EA9-5330-BEB8-433D7E3B4C4E}" dt="2026-09-28T11:00:40.795" v="1258" actId="20577"/>
        <pc:sldMkLst>
          <pc:docMk/>
          <pc:sldMk cId="0" sldId="304"/>
        </pc:sldMkLst>
        <pc:spChg chg="mod">
          <ac:chgData name="Riccardo Berta" userId="c8694f89-bba4-4576-b0a8-456619ca5a8c" providerId="ADAL" clId="{FDDBFC5A-5EA9-5330-BEB8-433D7E3B4C4E}" dt="2026-09-28T11:00:04.184" v="1248" actId="20577"/>
          <ac:spMkLst>
            <pc:docMk/>
            <pc:sldMk cId="0" sldId="304"/>
            <ac:spMk id="29" creationId="{00000000-0000-0000-0000-000000000000}"/>
          </ac:spMkLst>
        </pc:spChg>
        <pc:spChg chg="mod">
          <ac:chgData name="Riccardo Berta" userId="c8694f89-bba4-4576-b0a8-456619ca5a8c" providerId="ADAL" clId="{FDDBFC5A-5EA9-5330-BEB8-433D7E3B4C4E}" dt="2026-09-28T11:00:20.996" v="1257" actId="20577"/>
          <ac:spMkLst>
            <pc:docMk/>
            <pc:sldMk cId="0" sldId="304"/>
            <ac:spMk id="31" creationId="{00000000-0000-0000-0000-000000000000}"/>
          </ac:spMkLst>
        </pc:spChg>
        <pc:spChg chg="mod">
          <ac:chgData name="Riccardo Berta" userId="c8694f89-bba4-4576-b0a8-456619ca5a8c" providerId="ADAL" clId="{FDDBFC5A-5EA9-5330-BEB8-433D7E3B4C4E}" dt="2026-09-28T11:00:40.795" v="1258" actId="20577"/>
          <ac:spMkLst>
            <pc:docMk/>
            <pc:sldMk cId="0" sldId="304"/>
            <ac:spMk id="36" creationId="{00000000-0000-0000-0000-000000000000}"/>
          </ac:spMkLst>
        </pc:spChg>
      </pc:sldChg>
      <pc:sldChg chg="modSp mod">
        <pc:chgData name="Riccardo Berta" userId="c8694f89-bba4-4576-b0a8-456619ca5a8c" providerId="ADAL" clId="{FDDBFC5A-5EA9-5330-BEB8-433D7E3B4C4E}" dt="2026-09-29T09:28:27.948" v="1469" actId="1076"/>
        <pc:sldMkLst>
          <pc:docMk/>
          <pc:sldMk cId="0" sldId="305"/>
        </pc:sldMkLst>
        <pc:spChg chg="mod">
          <ac:chgData name="Riccardo Berta" userId="c8694f89-bba4-4576-b0a8-456619ca5a8c" providerId="ADAL" clId="{FDDBFC5A-5EA9-5330-BEB8-433D7E3B4C4E}" dt="2026-09-28T11:01:09.253" v="1263" actId="20577"/>
          <ac:spMkLst>
            <pc:docMk/>
            <pc:sldMk cId="0" sldId="305"/>
            <ac:spMk id="25" creationId="{00000000-0000-0000-0000-000000000000}"/>
          </ac:spMkLst>
        </pc:spChg>
        <pc:picChg chg="mod">
          <ac:chgData name="Riccardo Berta" userId="c8694f89-bba4-4576-b0a8-456619ca5a8c" providerId="ADAL" clId="{FDDBFC5A-5EA9-5330-BEB8-433D7E3B4C4E}" dt="2026-09-29T09:28:27.948" v="1469" actId="1076"/>
          <ac:picMkLst>
            <pc:docMk/>
            <pc:sldMk cId="0" sldId="305"/>
            <ac:picMk id="24" creationId="{00000000-0000-0000-0000-000000000000}"/>
          </ac:picMkLst>
        </pc:picChg>
      </pc:sldChg>
      <pc:sldChg chg="modSp mod">
        <pc:chgData name="Riccardo Berta" userId="c8694f89-bba4-4576-b0a8-456619ca5a8c" providerId="ADAL" clId="{FDDBFC5A-5EA9-5330-BEB8-433D7E3B4C4E}" dt="2026-09-28T11:06:56.566" v="1318" actId="20577"/>
        <pc:sldMkLst>
          <pc:docMk/>
          <pc:sldMk cId="0" sldId="306"/>
        </pc:sldMkLst>
        <pc:spChg chg="mod">
          <ac:chgData name="Riccardo Berta" userId="c8694f89-bba4-4576-b0a8-456619ca5a8c" providerId="ADAL" clId="{FDDBFC5A-5EA9-5330-BEB8-433D7E3B4C4E}" dt="2026-09-28T11:06:20.318" v="1312" actId="313"/>
          <ac:spMkLst>
            <pc:docMk/>
            <pc:sldMk cId="0" sldId="306"/>
            <ac:spMk id="26" creationId="{00000000-0000-0000-0000-000000000000}"/>
          </ac:spMkLst>
        </pc:spChg>
        <pc:spChg chg="mod">
          <ac:chgData name="Riccardo Berta" userId="c8694f89-bba4-4576-b0a8-456619ca5a8c" providerId="ADAL" clId="{FDDBFC5A-5EA9-5330-BEB8-433D7E3B4C4E}" dt="2026-09-28T11:06:56.566" v="1318" actId="20577"/>
          <ac:spMkLst>
            <pc:docMk/>
            <pc:sldMk cId="0" sldId="306"/>
            <ac:spMk id="28" creationId="{00000000-0000-0000-0000-000000000000}"/>
          </ac:spMkLst>
        </pc:spChg>
        <pc:spChg chg="mod">
          <ac:chgData name="Riccardo Berta" userId="c8694f89-bba4-4576-b0a8-456619ca5a8c" providerId="ADAL" clId="{FDDBFC5A-5EA9-5330-BEB8-433D7E3B4C4E}" dt="2026-09-28T11:02:39.385" v="1305" actId="20577"/>
          <ac:spMkLst>
            <pc:docMk/>
            <pc:sldMk cId="0" sldId="306"/>
            <ac:spMk id="35" creationId="{00000000-0000-0000-0000-000000000000}"/>
          </ac:spMkLst>
        </pc:spChg>
      </pc:sldChg>
      <pc:sldChg chg="modSp mod">
        <pc:chgData name="Riccardo Berta" userId="c8694f89-bba4-4576-b0a8-456619ca5a8c" providerId="ADAL" clId="{FDDBFC5A-5EA9-5330-BEB8-433D7E3B4C4E}" dt="2026-09-29T09:43:34.889" v="1471" actId="20577"/>
        <pc:sldMkLst>
          <pc:docMk/>
          <pc:sldMk cId="0" sldId="307"/>
        </pc:sldMkLst>
        <pc:spChg chg="mod">
          <ac:chgData name="Riccardo Berta" userId="c8694f89-bba4-4576-b0a8-456619ca5a8c" providerId="ADAL" clId="{FDDBFC5A-5EA9-5330-BEB8-433D7E3B4C4E}" dt="2026-09-29T09:43:34.889" v="1471" actId="20577"/>
          <ac:spMkLst>
            <pc:docMk/>
            <pc:sldMk cId="0" sldId="307"/>
            <ac:spMk id="6" creationId="{00000000-0000-0000-0000-000000000000}"/>
          </ac:spMkLst>
        </pc:spChg>
      </pc:sldChg>
      <pc:sldChg chg="modSp mod">
        <pc:chgData name="Riccardo Berta" userId="c8694f89-bba4-4576-b0a8-456619ca5a8c" providerId="ADAL" clId="{FDDBFC5A-5EA9-5330-BEB8-433D7E3B4C4E}" dt="2026-09-28T11:08:44.655" v="1338" actId="313"/>
        <pc:sldMkLst>
          <pc:docMk/>
          <pc:sldMk cId="0" sldId="308"/>
        </pc:sldMkLst>
        <pc:spChg chg="mod">
          <ac:chgData name="Riccardo Berta" userId="c8694f89-bba4-4576-b0a8-456619ca5a8c" providerId="ADAL" clId="{FDDBFC5A-5EA9-5330-BEB8-433D7E3B4C4E}" dt="2026-09-28T11:07:59.010" v="1331" actId="20577"/>
          <ac:spMkLst>
            <pc:docMk/>
            <pc:sldMk cId="0" sldId="308"/>
            <ac:spMk id="8" creationId="{00000000-0000-0000-0000-000000000000}"/>
          </ac:spMkLst>
        </pc:spChg>
        <pc:spChg chg="mod">
          <ac:chgData name="Riccardo Berta" userId="c8694f89-bba4-4576-b0a8-456619ca5a8c" providerId="ADAL" clId="{FDDBFC5A-5EA9-5330-BEB8-433D7E3B4C4E}" dt="2026-09-28T11:08:44.655" v="1338" actId="313"/>
          <ac:spMkLst>
            <pc:docMk/>
            <pc:sldMk cId="0" sldId="308"/>
            <ac:spMk id="19" creationId="{00000000-0000-0000-0000-000000000000}"/>
          </ac:spMkLst>
        </pc:spChg>
        <pc:picChg chg="mod">
          <ac:chgData name="Riccardo Berta" userId="c8694f89-bba4-4576-b0a8-456619ca5a8c" providerId="ADAL" clId="{FDDBFC5A-5EA9-5330-BEB8-433D7E3B4C4E}" dt="2026-09-28T11:07:46.322" v="1323" actId="1076"/>
          <ac:picMkLst>
            <pc:docMk/>
            <pc:sldMk cId="0" sldId="308"/>
            <ac:picMk id="9" creationId="{00000000-0000-0000-0000-000000000000}"/>
          </ac:picMkLst>
        </pc:picChg>
      </pc:sldChg>
      <pc:sldChg chg="addSp delSp modSp mod">
        <pc:chgData name="Riccardo Berta" userId="c8694f89-bba4-4576-b0a8-456619ca5a8c" providerId="ADAL" clId="{FDDBFC5A-5EA9-5330-BEB8-433D7E3B4C4E}" dt="2026-09-28T11:09:25.873" v="1347" actId="20577"/>
        <pc:sldMkLst>
          <pc:docMk/>
          <pc:sldMk cId="0" sldId="309"/>
        </pc:sldMkLst>
        <pc:spChg chg="mod">
          <ac:chgData name="Riccardo Berta" userId="c8694f89-bba4-4576-b0a8-456619ca5a8c" providerId="ADAL" clId="{FDDBFC5A-5EA9-5330-BEB8-433D7E3B4C4E}" dt="2026-09-28T11:09:07.713" v="1342" actId="113"/>
          <ac:spMkLst>
            <pc:docMk/>
            <pc:sldMk cId="0" sldId="309"/>
            <ac:spMk id="8" creationId="{00000000-0000-0000-0000-000000000000}"/>
          </ac:spMkLst>
        </pc:spChg>
        <pc:spChg chg="mod">
          <ac:chgData name="Riccardo Berta" userId="c8694f89-bba4-4576-b0a8-456619ca5a8c" providerId="ADAL" clId="{FDDBFC5A-5EA9-5330-BEB8-433D7E3B4C4E}" dt="2026-09-28T11:09:25.873" v="1347" actId="20577"/>
          <ac:spMkLst>
            <pc:docMk/>
            <pc:sldMk cId="0" sldId="309"/>
            <ac:spMk id="11" creationId="{00000000-0000-0000-0000-000000000000}"/>
          </ac:spMkLst>
        </pc:spChg>
        <pc:picChg chg="del">
          <ac:chgData name="Riccardo Berta" userId="c8694f89-bba4-4576-b0a8-456619ca5a8c" providerId="ADAL" clId="{FDDBFC5A-5EA9-5330-BEB8-433D7E3B4C4E}" dt="2026-09-28T10:44:53.054" v="1013" actId="478"/>
          <ac:picMkLst>
            <pc:docMk/>
            <pc:sldMk cId="0" sldId="309"/>
            <ac:picMk id="14" creationId="{00000000-0000-0000-0000-000000000000}"/>
          </ac:picMkLst>
        </pc:picChg>
        <pc:picChg chg="del">
          <ac:chgData name="Riccardo Berta" userId="c8694f89-bba4-4576-b0a8-456619ca5a8c" providerId="ADAL" clId="{FDDBFC5A-5EA9-5330-BEB8-433D7E3B4C4E}" dt="2026-09-28T10:45:06.316" v="1019" actId="478"/>
          <ac:picMkLst>
            <pc:docMk/>
            <pc:sldMk cId="0" sldId="309"/>
            <ac:picMk id="19" creationId="{00000000-0000-0000-0000-000000000000}"/>
          </ac:picMkLst>
        </pc:picChg>
        <pc:picChg chg="del">
          <ac:chgData name="Riccardo Berta" userId="c8694f89-bba4-4576-b0a8-456619ca5a8c" providerId="ADAL" clId="{FDDBFC5A-5EA9-5330-BEB8-433D7E3B4C4E}" dt="2026-09-28T10:45:37.078" v="1024" actId="478"/>
          <ac:picMkLst>
            <pc:docMk/>
            <pc:sldMk cId="0" sldId="309"/>
            <ac:picMk id="24" creationId="{00000000-0000-0000-0000-000000000000}"/>
          </ac:picMkLst>
        </pc:picChg>
        <pc:picChg chg="add del">
          <ac:chgData name="Riccardo Berta" userId="c8694f89-bba4-4576-b0a8-456619ca5a8c" providerId="ADAL" clId="{FDDBFC5A-5EA9-5330-BEB8-433D7E3B4C4E}" dt="2026-09-28T10:44:40.255" v="1012" actId="478"/>
          <ac:picMkLst>
            <pc:docMk/>
            <pc:sldMk cId="0" sldId="309"/>
            <ac:picMk id="27" creationId="{A83D35D9-5D66-C83C-27DC-0803AADC2DB1}"/>
          </ac:picMkLst>
        </pc:picChg>
        <pc:picChg chg="add mod">
          <ac:chgData name="Riccardo Berta" userId="c8694f89-bba4-4576-b0a8-456619ca5a8c" providerId="ADAL" clId="{FDDBFC5A-5EA9-5330-BEB8-433D7E3B4C4E}" dt="2026-09-28T10:45:04.801" v="1018" actId="14100"/>
          <ac:picMkLst>
            <pc:docMk/>
            <pc:sldMk cId="0" sldId="309"/>
            <ac:picMk id="28" creationId="{28BC562C-9604-CD3F-835C-342DA39D7DB3}"/>
          </ac:picMkLst>
        </pc:picChg>
        <pc:picChg chg="add mod">
          <ac:chgData name="Riccardo Berta" userId="c8694f89-bba4-4576-b0a8-456619ca5a8c" providerId="ADAL" clId="{FDDBFC5A-5EA9-5330-BEB8-433D7E3B4C4E}" dt="2026-09-28T10:45:36.003" v="1023" actId="1076"/>
          <ac:picMkLst>
            <pc:docMk/>
            <pc:sldMk cId="0" sldId="309"/>
            <ac:picMk id="29" creationId="{BE7C83B0-1130-CCB3-4B07-014F2D6E0767}"/>
          </ac:picMkLst>
        </pc:picChg>
        <pc:picChg chg="add mod">
          <ac:chgData name="Riccardo Berta" userId="c8694f89-bba4-4576-b0a8-456619ca5a8c" providerId="ADAL" clId="{FDDBFC5A-5EA9-5330-BEB8-433D7E3B4C4E}" dt="2026-09-28T10:45:59.825" v="1027" actId="14100"/>
          <ac:picMkLst>
            <pc:docMk/>
            <pc:sldMk cId="0" sldId="309"/>
            <ac:picMk id="30" creationId="{17A5572F-0267-317F-F59B-EC4CA454D92E}"/>
          </ac:picMkLst>
        </pc:picChg>
      </pc:sldChg>
      <pc:sldChg chg="modSp mod">
        <pc:chgData name="Riccardo Berta" userId="c8694f89-bba4-4576-b0a8-456619ca5a8c" providerId="ADAL" clId="{FDDBFC5A-5EA9-5330-BEB8-433D7E3B4C4E}" dt="2026-09-28T11:11:23.845" v="1376" actId="790"/>
        <pc:sldMkLst>
          <pc:docMk/>
          <pc:sldMk cId="0" sldId="310"/>
        </pc:sldMkLst>
        <pc:spChg chg="mod">
          <ac:chgData name="Riccardo Berta" userId="c8694f89-bba4-4576-b0a8-456619ca5a8c" providerId="ADAL" clId="{FDDBFC5A-5EA9-5330-BEB8-433D7E3B4C4E}" dt="2026-09-28T11:10:19.395" v="1351" actId="790"/>
          <ac:spMkLst>
            <pc:docMk/>
            <pc:sldMk cId="0" sldId="310"/>
            <ac:spMk id="8" creationId="{00000000-0000-0000-0000-000000000000}"/>
          </ac:spMkLst>
        </pc:spChg>
        <pc:spChg chg="mod">
          <ac:chgData name="Riccardo Berta" userId="c8694f89-bba4-4576-b0a8-456619ca5a8c" providerId="ADAL" clId="{FDDBFC5A-5EA9-5330-BEB8-433D7E3B4C4E}" dt="2026-09-28T11:11:23.845" v="1376" actId="790"/>
          <ac:spMkLst>
            <pc:docMk/>
            <pc:sldMk cId="0" sldId="310"/>
            <ac:spMk id="13" creationId="{00000000-0000-0000-0000-000000000000}"/>
          </ac:spMkLst>
        </pc:spChg>
        <pc:spChg chg="mod">
          <ac:chgData name="Riccardo Berta" userId="c8694f89-bba4-4576-b0a8-456619ca5a8c" providerId="ADAL" clId="{FDDBFC5A-5EA9-5330-BEB8-433D7E3B4C4E}" dt="2026-09-28T11:11:00.564" v="1362" actId="20577"/>
          <ac:spMkLst>
            <pc:docMk/>
            <pc:sldMk cId="0" sldId="310"/>
            <ac:spMk id="16" creationId="{00000000-0000-0000-0000-000000000000}"/>
          </ac:spMkLst>
        </pc:spChg>
        <pc:spChg chg="mod">
          <ac:chgData name="Riccardo Berta" userId="c8694f89-bba4-4576-b0a8-456619ca5a8c" providerId="ADAL" clId="{FDDBFC5A-5EA9-5330-BEB8-433D7E3B4C4E}" dt="2026-09-28T11:11:07.555" v="1368" actId="20577"/>
          <ac:spMkLst>
            <pc:docMk/>
            <pc:sldMk cId="0" sldId="310"/>
            <ac:spMk id="18" creationId="{00000000-0000-0000-0000-000000000000}"/>
          </ac:spMkLst>
        </pc:spChg>
        <pc:spChg chg="mod">
          <ac:chgData name="Riccardo Berta" userId="c8694f89-bba4-4576-b0a8-456619ca5a8c" providerId="ADAL" clId="{FDDBFC5A-5EA9-5330-BEB8-433D7E3B4C4E}" dt="2026-09-28T11:11:15.484" v="1375" actId="20577"/>
          <ac:spMkLst>
            <pc:docMk/>
            <pc:sldMk cId="0" sldId="310"/>
            <ac:spMk id="20" creationId="{00000000-0000-0000-0000-000000000000}"/>
          </ac:spMkLst>
        </pc:spChg>
      </pc:sldChg>
      <pc:sldChg chg="modSp mod">
        <pc:chgData name="Riccardo Berta" userId="c8694f89-bba4-4576-b0a8-456619ca5a8c" providerId="ADAL" clId="{FDDBFC5A-5EA9-5330-BEB8-433D7E3B4C4E}" dt="2026-09-28T11:12:38.816" v="1381" actId="20577"/>
        <pc:sldMkLst>
          <pc:docMk/>
          <pc:sldMk cId="0" sldId="311"/>
        </pc:sldMkLst>
        <pc:spChg chg="mod">
          <ac:chgData name="Riccardo Berta" userId="c8694f89-bba4-4576-b0a8-456619ca5a8c" providerId="ADAL" clId="{FDDBFC5A-5EA9-5330-BEB8-433D7E3B4C4E}" dt="2026-09-28T11:12:38.816" v="1381" actId="20577"/>
          <ac:spMkLst>
            <pc:docMk/>
            <pc:sldMk cId="0" sldId="311"/>
            <ac:spMk id="27" creationId="{00000000-0000-0000-0000-000000000000}"/>
          </ac:spMkLst>
        </pc:spChg>
      </pc:sldChg>
      <pc:sldChg chg="modSp mod">
        <pc:chgData name="Riccardo Berta" userId="c8694f89-bba4-4576-b0a8-456619ca5a8c" providerId="ADAL" clId="{FDDBFC5A-5EA9-5330-BEB8-433D7E3B4C4E}" dt="2026-09-28T11:16:20.716" v="1442" actId="20577"/>
        <pc:sldMkLst>
          <pc:docMk/>
          <pc:sldMk cId="0" sldId="312"/>
        </pc:sldMkLst>
        <pc:spChg chg="mod">
          <ac:chgData name="Riccardo Berta" userId="c8694f89-bba4-4576-b0a8-456619ca5a8c" providerId="ADAL" clId="{FDDBFC5A-5EA9-5330-BEB8-433D7E3B4C4E}" dt="2026-09-28T11:16:20.716" v="1442" actId="20577"/>
          <ac:spMkLst>
            <pc:docMk/>
            <pc:sldMk cId="0" sldId="312"/>
            <ac:spMk id="3" creationId="{00000000-0000-0000-0000-000000000000}"/>
          </ac:spMkLst>
        </pc:spChg>
        <pc:spChg chg="mod">
          <ac:chgData name="Riccardo Berta" userId="c8694f89-bba4-4576-b0a8-456619ca5a8c" providerId="ADAL" clId="{FDDBFC5A-5EA9-5330-BEB8-433D7E3B4C4E}" dt="2026-09-28T11:12:58.171" v="1386" actId="20577"/>
          <ac:spMkLst>
            <pc:docMk/>
            <pc:sldMk cId="0" sldId="312"/>
            <ac:spMk id="13" creationId="{00000000-0000-0000-0000-000000000000}"/>
          </ac:spMkLst>
        </pc:spChg>
        <pc:spChg chg="mod">
          <ac:chgData name="Riccardo Berta" userId="c8694f89-bba4-4576-b0a8-456619ca5a8c" providerId="ADAL" clId="{FDDBFC5A-5EA9-5330-BEB8-433D7E3B4C4E}" dt="2026-09-28T11:13:21.937" v="1391" actId="20577"/>
          <ac:spMkLst>
            <pc:docMk/>
            <pc:sldMk cId="0" sldId="312"/>
            <ac:spMk id="19" creationId="{00000000-0000-0000-0000-000000000000}"/>
          </ac:spMkLst>
        </pc:spChg>
      </pc:sldChg>
      <pc:sldChg chg="modSp mod">
        <pc:chgData name="Riccardo Berta" userId="c8694f89-bba4-4576-b0a8-456619ca5a8c" providerId="ADAL" clId="{FDDBFC5A-5EA9-5330-BEB8-433D7E3B4C4E}" dt="2026-09-28T11:17:16.800" v="1453" actId="20577"/>
        <pc:sldMkLst>
          <pc:docMk/>
          <pc:sldMk cId="0" sldId="313"/>
        </pc:sldMkLst>
        <pc:spChg chg="mod">
          <ac:chgData name="Riccardo Berta" userId="c8694f89-bba4-4576-b0a8-456619ca5a8c" providerId="ADAL" clId="{FDDBFC5A-5EA9-5330-BEB8-433D7E3B4C4E}" dt="2026-09-28T11:16:46.754" v="1452" actId="20577"/>
          <ac:spMkLst>
            <pc:docMk/>
            <pc:sldMk cId="0" sldId="313"/>
            <ac:spMk id="8" creationId="{00000000-0000-0000-0000-000000000000}"/>
          </ac:spMkLst>
        </pc:spChg>
        <pc:spChg chg="mod">
          <ac:chgData name="Riccardo Berta" userId="c8694f89-bba4-4576-b0a8-456619ca5a8c" providerId="ADAL" clId="{FDDBFC5A-5EA9-5330-BEB8-433D7E3B4C4E}" dt="2026-09-28T11:17:16.800" v="1453" actId="20577"/>
          <ac:spMkLst>
            <pc:docMk/>
            <pc:sldMk cId="0" sldId="313"/>
            <ac:spMk id="10" creationId="{00000000-0000-0000-0000-000000000000}"/>
          </ac:spMkLst>
        </pc:spChg>
      </pc:sldChg>
      <pc:sldChg chg="modSp mod">
        <pc:chgData name="Riccardo Berta" userId="c8694f89-bba4-4576-b0a8-456619ca5a8c" providerId="ADAL" clId="{FDDBFC5A-5EA9-5330-BEB8-433D7E3B4C4E}" dt="2026-09-22T10:50:16.696" v="968"/>
        <pc:sldMkLst>
          <pc:docMk/>
          <pc:sldMk cId="0" sldId="314"/>
        </pc:sldMkLst>
        <pc:spChg chg="mod">
          <ac:chgData name="Riccardo Berta" userId="c8694f89-bba4-4576-b0a8-456619ca5a8c" providerId="ADAL" clId="{FDDBFC5A-5EA9-5330-BEB8-433D7E3B4C4E}" dt="2026-09-22T10:37:45.670" v="861" actId="20577"/>
          <ac:spMkLst>
            <pc:docMk/>
            <pc:sldMk cId="0" sldId="314"/>
            <ac:spMk id="3" creationId="{00000000-0000-0000-0000-000000000000}"/>
          </ac:spMkLst>
        </pc:spChg>
        <pc:spChg chg="mod">
          <ac:chgData name="Riccardo Berta" userId="c8694f89-bba4-4576-b0a8-456619ca5a8c" providerId="ADAL" clId="{FDDBFC5A-5EA9-5330-BEB8-433D7E3B4C4E}" dt="2026-09-22T10:42:03.951" v="873" actId="790"/>
          <ac:spMkLst>
            <pc:docMk/>
            <pc:sldMk cId="0" sldId="314"/>
            <ac:spMk id="4" creationId="{00000000-0000-0000-0000-000000000000}"/>
          </ac:spMkLst>
        </pc:spChg>
        <pc:spChg chg="mod">
          <ac:chgData name="Riccardo Berta" userId="c8694f89-bba4-4576-b0a8-456619ca5a8c" providerId="ADAL" clId="{FDDBFC5A-5EA9-5330-BEB8-433D7E3B4C4E}" dt="2026-09-22T10:50:16.696" v="968"/>
          <ac:spMkLst>
            <pc:docMk/>
            <pc:sldMk cId="0" sldId="314"/>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C66AF1DC-7F49-A24C-8A1B-166E2ED790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8AA33C56-A2D5-4E4E-827E-71DE8DB5A9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9A2103-E3E1-6C47-9C03-3A4330A63ED2}" type="datetime1">
              <a:rPr lang="it-IT" smtClean="0"/>
              <a:t>20/10/26</a:t>
            </a:fld>
            <a:endParaRPr lang="it-IT"/>
          </a:p>
        </p:txBody>
      </p:sp>
      <p:sp>
        <p:nvSpPr>
          <p:cNvPr id="4" name="Segnaposto piè di pagina 3">
            <a:extLst>
              <a:ext uri="{FF2B5EF4-FFF2-40B4-BE49-F238E27FC236}">
                <a16:creationId xmlns:a16="http://schemas.microsoft.com/office/drawing/2014/main" id="{79AEF9E9-A1D0-864D-B9C9-A16B879811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C8CA1F14-2160-8D4F-920A-A24F059F8B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01598-FC98-3F4F-AF67-3E41A8697326}" type="slidenum">
              <a:rPr lang="it-IT" smtClean="0"/>
              <a:t>‹N›</a:t>
            </a:fld>
            <a:endParaRPr lang="it-IT"/>
          </a:p>
        </p:txBody>
      </p:sp>
    </p:spTree>
    <p:extLst>
      <p:ext uri="{BB962C8B-B14F-4D97-AF65-F5344CB8AC3E}">
        <p14:creationId xmlns:p14="http://schemas.microsoft.com/office/powerpoint/2010/main" val="232858305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812A7-C7D6-7542-9495-86D2A5F89521}" type="datetime1">
              <a:rPr lang="it-IT" smtClean="0"/>
              <a:t>20/10/26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Fare clic per modificare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8D42F-EEB8-D844-BCC2-FD2609102831}" type="slidenum">
              <a:rPr lang="it-IT" smtClean="0"/>
              <a:t>‹N›</a:t>
            </a:fld>
            <a:endParaRPr lang="it-IT"/>
          </a:p>
        </p:txBody>
      </p:sp>
    </p:spTree>
    <p:extLst>
      <p:ext uri="{BB962C8B-B14F-4D97-AF65-F5344CB8AC3E}">
        <p14:creationId xmlns:p14="http://schemas.microsoft.com/office/powerpoint/2010/main" val="36505447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574676"/>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075F0702-5A13-1349-A296-951553656DE8}"/>
              </a:ext>
            </a:extLst>
          </p:cNvPr>
          <p:cNvSpPr>
            <a:spLocks noGrp="1"/>
          </p:cNvSpPr>
          <p:nvPr>
            <p:ph type="subTitle" idx="1" hasCustomPrompt="1"/>
          </p:nvPr>
        </p:nvSpPr>
        <p:spPr>
          <a:xfrm>
            <a:off x="858839" y="5244663"/>
            <a:ext cx="10434596" cy="916652"/>
          </a:xfrm>
        </p:spPr>
        <p:txBody>
          <a:bodyPr>
            <a:normAutofit/>
          </a:bodyPr>
          <a:lstStyle>
            <a:lvl1pPr marL="0" indent="0" algn="l">
              <a:buNone/>
              <a:defRPr sz="1600" b="0" i="0">
                <a:solidFill>
                  <a:schemeClr val="bg1"/>
                </a:solidFill>
                <a:latin typeface="Fira Sans Medium" panose="020B05030500000200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it-IT" dirty="0"/>
              <a:t>Fare clic per modificare l’autore delle slide</a:t>
            </a:r>
          </a:p>
        </p:txBody>
      </p:sp>
      <p:sp>
        <p:nvSpPr>
          <p:cNvPr id="7" name="Google Shape;10;p2">
            <a:extLst>
              <a:ext uri="{FF2B5EF4-FFF2-40B4-BE49-F238E27FC236}">
                <a16:creationId xmlns:a16="http://schemas.microsoft.com/office/drawing/2014/main" id="{BACD2019-637B-3D4C-A8D4-30C84AABC935}"/>
              </a:ext>
            </a:extLst>
          </p:cNvPr>
          <p:cNvSpPr txBox="1">
            <a:spLocks noGrp="1"/>
          </p:cNvSpPr>
          <p:nvPr>
            <p:ph type="ctrTitle" hasCustomPrompt="1"/>
          </p:nvPr>
        </p:nvSpPr>
        <p:spPr>
          <a:xfrm>
            <a:off x="858983" y="1613338"/>
            <a:ext cx="10434596" cy="2099606"/>
          </a:xfrm>
          <a:prstGeom prst="rect">
            <a:avLst/>
          </a:prstGeom>
        </p:spPr>
        <p:txBody>
          <a:bodyPr spcFirstLastPara="1" wrap="square" lIns="91425" tIns="91425" rIns="91425" bIns="91425" anchor="b"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bg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sp>
        <p:nvSpPr>
          <p:cNvPr id="4" name="Content Placeholder 3">
            <a:extLst>
              <a:ext uri="{FF2B5EF4-FFF2-40B4-BE49-F238E27FC236}">
                <a16:creationId xmlns:a16="http://schemas.microsoft.com/office/drawing/2014/main" id="{510CC95D-4677-2D48-8044-4BC81EDFDD62}"/>
              </a:ext>
            </a:extLst>
          </p:cNvPr>
          <p:cNvSpPr>
            <a:spLocks noGrp="1"/>
          </p:cNvSpPr>
          <p:nvPr>
            <p:ph sz="quarter" idx="10" hasCustomPrompt="1"/>
          </p:nvPr>
        </p:nvSpPr>
        <p:spPr>
          <a:xfrm>
            <a:off x="858839" y="4091493"/>
            <a:ext cx="10434596" cy="749279"/>
          </a:xfrm>
        </p:spPr>
        <p:txBody>
          <a:bodyPr>
            <a:normAutofit/>
          </a:bodyPr>
          <a:lstStyle>
            <a:lvl1pPr marL="0" indent="0">
              <a:buNone/>
              <a:defRPr sz="2400" b="0">
                <a:solidFill>
                  <a:schemeClr val="bg1"/>
                </a:solidFill>
                <a:latin typeface="Roboto Slab" pitchFamily="2" charset="0"/>
                <a:ea typeface="Roboto Slab" pitchFamily="2" charset="0"/>
              </a:defRPr>
            </a:lvl1pPr>
          </a:lstStyle>
          <a:p>
            <a:pPr lvl="0"/>
            <a:r>
              <a:rPr lang="it-IT" dirty="0"/>
              <a:t>Fare clic per modificare il sottotitolo delle slide</a:t>
            </a:r>
          </a:p>
        </p:txBody>
      </p:sp>
      <p:pic>
        <p:nvPicPr>
          <p:cNvPr id="6" name="Immagine 15">
            <a:extLst>
              <a:ext uri="{FF2B5EF4-FFF2-40B4-BE49-F238E27FC236}">
                <a16:creationId xmlns:a16="http://schemas.microsoft.com/office/drawing/2014/main" id="{FCD93EB7-DA4C-43A4-867F-0F0E0F89B1A8}"/>
              </a:ext>
            </a:extLst>
          </p:cNvPr>
          <p:cNvPicPr>
            <a:picLocks noChangeAspect="1"/>
          </p:cNvPicPr>
          <p:nvPr userDrawn="1"/>
        </p:nvPicPr>
        <p:blipFill>
          <a:blip r:embed="rId2"/>
          <a:stretch>
            <a:fillRect/>
          </a:stretch>
        </p:blipFill>
        <p:spPr>
          <a:xfrm>
            <a:off x="859536" y="754796"/>
            <a:ext cx="3975273" cy="524080"/>
          </a:xfrm>
          <a:prstGeom prst="rect">
            <a:avLst/>
          </a:prstGeom>
        </p:spPr>
      </p:pic>
    </p:spTree>
    <p:extLst>
      <p:ext uri="{BB962C8B-B14F-4D97-AF65-F5344CB8AC3E}">
        <p14:creationId xmlns:p14="http://schemas.microsoft.com/office/powerpoint/2010/main" val="123377940"/>
      </p:ext>
    </p:extLst>
  </p:cSld>
  <p:clrMapOvr>
    <a:masterClrMapping/>
  </p:clrMapOvr>
  <p:extLst>
    <p:ext uri="{DCECCB84-F9BA-43D5-87BE-67443E8EF086}">
      <p15:sldGuideLst xmlns:p15="http://schemas.microsoft.com/office/powerpoint/2012/main">
        <p15:guide id="1" orient="horz" pos="459" userDrawn="1">
          <p15:clr>
            <a:srgbClr val="FBAE40"/>
          </p15:clr>
        </p15:guide>
        <p15:guide id="2"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stazione sezione">
    <p:bg>
      <p:bgPr>
        <a:solidFill>
          <a:srgbClr val="D9D9D9"/>
        </a:solidFill>
        <a:effectLst/>
      </p:bgPr>
    </p:bg>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50670"/>
            <a:ext cx="10434596" cy="4510644"/>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4" name="Immagine 16">
            <a:extLst>
              <a:ext uri="{FF2B5EF4-FFF2-40B4-BE49-F238E27FC236}">
                <a16:creationId xmlns:a16="http://schemas.microsoft.com/office/drawing/2014/main" id="{61F1857B-A475-499C-9FD1-C11356497F1A}"/>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760773657"/>
      </p:ext>
    </p:extLst>
  </p:cSld>
  <p:clrMapOvr>
    <a:masterClrMapping/>
  </p:clrMapOvr>
  <p:extLst>
    <p:ext uri="{DCECCB84-F9BA-43D5-87BE-67443E8EF086}">
      <p15:sldGuideLst xmlns:p15="http://schemas.microsoft.com/office/powerpoint/2012/main">
        <p15:guide id="1" orient="horz" pos="45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 sottotitolo">
    <p:bg>
      <p:bgPr>
        <a:solidFill>
          <a:srgbClr val="D9D9D9"/>
        </a:solidFill>
        <a:effectLst/>
      </p:bgPr>
    </p:bg>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DD39042D-E5F6-354C-AE48-85CA368F3EEB}"/>
              </a:ext>
            </a:extLst>
          </p:cNvPr>
          <p:cNvSpPr>
            <a:spLocks noGrp="1"/>
          </p:cNvSpPr>
          <p:nvPr>
            <p:ph sz="quarter" idx="10" hasCustomPrompt="1"/>
          </p:nvPr>
        </p:nvSpPr>
        <p:spPr>
          <a:xfrm>
            <a:off x="858840" y="4512248"/>
            <a:ext cx="10434453" cy="906143"/>
          </a:xfrm>
        </p:spPr>
        <p:txBody>
          <a:bodyPr anchor="ctr">
            <a:normAutofit/>
          </a:bodyPr>
          <a:lstStyle>
            <a:lvl1pPr marL="0" indent="0">
              <a:buNone/>
              <a:defRPr sz="2400" b="0">
                <a:solidFill>
                  <a:schemeClr val="tx1">
                    <a:lumMod val="85000"/>
                    <a:lumOff val="15000"/>
                  </a:schemeClr>
                </a:solidFill>
                <a:latin typeface="Roboto Slab" pitchFamily="2" charset="0"/>
                <a:ea typeface="Roboto Slab" pitchFamily="2" charset="0"/>
              </a:defRPr>
            </a:lvl1pPr>
          </a:lstStyle>
          <a:p>
            <a:pPr lvl="0"/>
            <a:r>
              <a:rPr lang="it-IT" dirty="0"/>
              <a:t>Fare clic per modificare il sottotitolo della sezione</a:t>
            </a:r>
          </a:p>
        </p:txBody>
      </p:sp>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02829"/>
            <a:ext cx="10434596" cy="2422906"/>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5" name="Immagine 16">
            <a:extLst>
              <a:ext uri="{FF2B5EF4-FFF2-40B4-BE49-F238E27FC236}">
                <a16:creationId xmlns:a16="http://schemas.microsoft.com/office/drawing/2014/main" id="{7F0F2A94-25FB-444E-B3D1-70F29C0D4BE6}"/>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39362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ottotitolo e tes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3A57FB5-7025-8A46-A2C8-9AC199CBFA66}"/>
              </a:ext>
            </a:extLst>
          </p:cNvPr>
          <p:cNvSpPr>
            <a:spLocks noGrp="1"/>
          </p:cNvSpPr>
          <p:nvPr>
            <p:ph idx="1"/>
          </p:nvPr>
        </p:nvSpPr>
        <p:spPr>
          <a:xfrm>
            <a:off x="838200" y="2511382"/>
            <a:ext cx="10515600" cy="3057565"/>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8" name="Text Placeholder 7">
            <a:extLst>
              <a:ext uri="{FF2B5EF4-FFF2-40B4-BE49-F238E27FC236}">
                <a16:creationId xmlns:a16="http://schemas.microsoft.com/office/drawing/2014/main" id="{A765F876-3350-441E-BD36-BE705EBA2058}"/>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1" name="Segnaposto titolo 1">
            <a:extLst>
              <a:ext uri="{FF2B5EF4-FFF2-40B4-BE49-F238E27FC236}">
                <a16:creationId xmlns:a16="http://schemas.microsoft.com/office/drawing/2014/main" id="{04C02021-F048-EF46-A427-824414E03CAC}"/>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5" name="Segnaposto numero diapositiva 4">
            <a:extLst>
              <a:ext uri="{FF2B5EF4-FFF2-40B4-BE49-F238E27FC236}">
                <a16:creationId xmlns:a16="http://schemas.microsoft.com/office/drawing/2014/main" id="{0C11EF75-678E-9E47-B9E3-622B2E130D2E}"/>
              </a:ext>
            </a:extLst>
          </p:cNvPr>
          <p:cNvSpPr>
            <a:spLocks noGrp="1"/>
          </p:cNvSpPr>
          <p:nvPr>
            <p:ph type="sldNum" sz="quarter" idx="16"/>
          </p:nvPr>
        </p:nvSpPr>
        <p:spPr/>
        <p:txBody>
          <a:bodyPr/>
          <a:lstStyle/>
          <a:p>
            <a:fld id="{FEC4A954-C260-E84D-8B85-4D54550A05DF}" type="slidenum">
              <a:rPr lang="it-IT" smtClean="0"/>
              <a:pPr/>
              <a:t>‹N›</a:t>
            </a:fld>
            <a:endParaRPr lang="it-IT"/>
          </a:p>
        </p:txBody>
      </p:sp>
      <p:sp>
        <p:nvSpPr>
          <p:cNvPr id="4" name="Segnaposto testo 3">
            <a:extLst>
              <a:ext uri="{FF2B5EF4-FFF2-40B4-BE49-F238E27FC236}">
                <a16:creationId xmlns:a16="http://schemas.microsoft.com/office/drawing/2014/main" id="{E8A205F8-F97E-E14B-B440-BBC8D0D15D5C}"/>
              </a:ext>
            </a:extLst>
          </p:cNvPr>
          <p:cNvSpPr>
            <a:spLocks noGrp="1"/>
          </p:cNvSpPr>
          <p:nvPr>
            <p:ph type="body" sz="quarter" idx="17" hasCustomPrompt="1"/>
          </p:nvPr>
        </p:nvSpPr>
        <p:spPr>
          <a:xfrm>
            <a:off x="838200" y="5748339"/>
            <a:ext cx="10515600" cy="428625"/>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10" name="Immagine 8">
            <a:extLst>
              <a:ext uri="{FF2B5EF4-FFF2-40B4-BE49-F238E27FC236}">
                <a16:creationId xmlns:a16="http://schemas.microsoft.com/office/drawing/2014/main" id="{50BE5A66-3047-413E-BA14-3135DDA75C76}"/>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6037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testo">
    <p:spTree>
      <p:nvGrpSpPr>
        <p:cNvPr id="1" name=""/>
        <p:cNvGrpSpPr/>
        <p:nvPr/>
      </p:nvGrpSpPr>
      <p:grpSpPr>
        <a:xfrm>
          <a:off x="0" y="0"/>
          <a:ext cx="0" cy="0"/>
          <a:chOff x="0" y="0"/>
          <a:chExt cx="0" cy="0"/>
        </a:xfrm>
      </p:grpSpPr>
      <p:sp>
        <p:nvSpPr>
          <p:cNvPr id="15" name="Segnaposto titolo 1">
            <a:extLst>
              <a:ext uri="{FF2B5EF4-FFF2-40B4-BE49-F238E27FC236}">
                <a16:creationId xmlns:a16="http://schemas.microsoft.com/office/drawing/2014/main" id="{4A68EDD3-8B24-5E4A-A507-BC4297B68394}"/>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4" name="Segnaposto numero diapositiva 3">
            <a:extLst>
              <a:ext uri="{FF2B5EF4-FFF2-40B4-BE49-F238E27FC236}">
                <a16:creationId xmlns:a16="http://schemas.microsoft.com/office/drawing/2014/main" id="{97747EE5-0480-854D-A548-B2B40F2E638A}"/>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10" name="Segnaposto contenuto 2">
            <a:extLst>
              <a:ext uri="{FF2B5EF4-FFF2-40B4-BE49-F238E27FC236}">
                <a16:creationId xmlns:a16="http://schemas.microsoft.com/office/drawing/2014/main" id="{1AB9F965-5489-F944-AC9B-8A7ABDD5E406}"/>
              </a:ext>
            </a:extLst>
          </p:cNvPr>
          <p:cNvSpPr>
            <a:spLocks noGrp="1"/>
          </p:cNvSpPr>
          <p:nvPr>
            <p:ph idx="12"/>
          </p:nvPr>
        </p:nvSpPr>
        <p:spPr>
          <a:xfrm>
            <a:off x="838200" y="1531917"/>
            <a:ext cx="10515600" cy="4037029"/>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11" name="Segnaposto testo 3">
            <a:extLst>
              <a:ext uri="{FF2B5EF4-FFF2-40B4-BE49-F238E27FC236}">
                <a16:creationId xmlns:a16="http://schemas.microsoft.com/office/drawing/2014/main" id="{57B3B9C0-6AEB-E343-9620-C69E8840A95D}"/>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9" name="Immagine 8">
            <a:extLst>
              <a:ext uri="{FF2B5EF4-FFF2-40B4-BE49-F238E27FC236}">
                <a16:creationId xmlns:a16="http://schemas.microsoft.com/office/drawing/2014/main" id="{4F3023F1-1844-4375-B72E-DDB714D5CCA0}"/>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31856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immagine">
    <p:spTree>
      <p:nvGrpSpPr>
        <p:cNvPr id="1" name=""/>
        <p:cNvGrpSpPr/>
        <p:nvPr/>
      </p:nvGrpSpPr>
      <p:grpSpPr>
        <a:xfrm>
          <a:off x="0" y="0"/>
          <a:ext cx="0" cy="0"/>
          <a:chOff x="0" y="0"/>
          <a:chExt cx="0" cy="0"/>
        </a:xfrm>
      </p:grpSpPr>
      <p:sp>
        <p:nvSpPr>
          <p:cNvPr id="11" name="Segnaposto immagine 2">
            <a:extLst>
              <a:ext uri="{FF2B5EF4-FFF2-40B4-BE49-F238E27FC236}">
                <a16:creationId xmlns:a16="http://schemas.microsoft.com/office/drawing/2014/main" id="{D4F9B8F1-23BB-DE44-B117-C81D61DBD6A5}"/>
              </a:ext>
            </a:extLst>
          </p:cNvPr>
          <p:cNvSpPr>
            <a:spLocks noGrp="1"/>
          </p:cNvSpPr>
          <p:nvPr>
            <p:ph type="pic" sz="quarter" idx="10"/>
          </p:nvPr>
        </p:nvSpPr>
        <p:spPr>
          <a:xfrm>
            <a:off x="0" y="1543054"/>
            <a:ext cx="12192000" cy="4024630"/>
          </a:xfrm>
        </p:spPr>
        <p:txBody>
          <a:bodyPr anchor="ctr"/>
          <a:lstStyle>
            <a:lvl1pPr marL="0" marR="0" indent="0" algn="ctr" defTabSz="685766" rtl="0" eaLnBrk="1" fontAlgn="auto" latinLnBrk="0" hangingPunct="1">
              <a:lnSpc>
                <a:spcPct val="90000"/>
              </a:lnSpc>
              <a:spcBef>
                <a:spcPts val="750"/>
              </a:spcBef>
              <a:spcAft>
                <a:spcPts val="0"/>
              </a:spcAft>
              <a:buClrTx/>
              <a:buSzTx/>
              <a:buFont typeface="Fira Sans" panose="020B0503050000020004" pitchFamily="34" charset="0"/>
              <a:buNone/>
              <a:tabLst/>
              <a:defRPr b="0" i="1">
                <a:latin typeface="Fira Sans" panose="020B0503050000020004" pitchFamily="34" charset="0"/>
              </a:defRPr>
            </a:lvl1pPr>
          </a:lstStyle>
          <a:p>
            <a:pPr marL="0" marR="0" lvl="0" indent="0" algn="l" defTabSz="685766" rtl="0" eaLnBrk="1" fontAlgn="auto" latinLnBrk="0" hangingPunct="1">
              <a:lnSpc>
                <a:spcPct val="90000"/>
              </a:lnSpc>
              <a:spcBef>
                <a:spcPts val="750"/>
              </a:spcBef>
              <a:spcAft>
                <a:spcPts val="0"/>
              </a:spcAft>
              <a:buClrTx/>
              <a:buSzTx/>
              <a:buFont typeface="Fira Sans" panose="020B0503050000020004" pitchFamily="34" charset="0"/>
              <a:buNone/>
              <a:tabLst/>
              <a:defRPr/>
            </a:pPr>
            <a:r>
              <a:rPr lang="en-US"/>
              <a:t>Click icon to add picture</a:t>
            </a:r>
            <a:endParaRPr lang="it-IT" dirty="0"/>
          </a:p>
        </p:txBody>
      </p:sp>
      <p:sp>
        <p:nvSpPr>
          <p:cNvPr id="3" name="Segnaposto numero diapositiva 2">
            <a:extLst>
              <a:ext uri="{FF2B5EF4-FFF2-40B4-BE49-F238E27FC236}">
                <a16:creationId xmlns:a16="http://schemas.microsoft.com/office/drawing/2014/main" id="{2A5C4FFC-D4BE-BB4F-92DA-D862EC4EB343}"/>
              </a:ext>
            </a:extLst>
          </p:cNvPr>
          <p:cNvSpPr>
            <a:spLocks noGrp="1"/>
          </p:cNvSpPr>
          <p:nvPr>
            <p:ph type="sldNum" sz="quarter" idx="12"/>
          </p:nvPr>
        </p:nvSpPr>
        <p:spPr/>
        <p:txBody>
          <a:bodyPr/>
          <a:lstStyle/>
          <a:p>
            <a:fld id="{FEC4A954-C260-E84D-8B85-4D54550A05DF}" type="slidenum">
              <a:rPr lang="it-IT" smtClean="0"/>
              <a:pPr/>
              <a:t>‹N›</a:t>
            </a:fld>
            <a:endParaRPr lang="it-IT"/>
          </a:p>
        </p:txBody>
      </p:sp>
      <p:sp>
        <p:nvSpPr>
          <p:cNvPr id="8" name="Segnaposto testo 3">
            <a:extLst>
              <a:ext uri="{FF2B5EF4-FFF2-40B4-BE49-F238E27FC236}">
                <a16:creationId xmlns:a16="http://schemas.microsoft.com/office/drawing/2014/main" id="{897D9E1E-9C0A-0D41-B11A-9921E9353E70}"/>
              </a:ext>
            </a:extLst>
          </p:cNvPr>
          <p:cNvSpPr>
            <a:spLocks noGrp="1"/>
          </p:cNvSpPr>
          <p:nvPr>
            <p:ph type="body" sz="quarter" idx="17" hasCustomPrompt="1"/>
          </p:nvPr>
        </p:nvSpPr>
        <p:spPr>
          <a:xfrm>
            <a:off x="838200" y="5747075"/>
            <a:ext cx="10515600" cy="429888"/>
          </a:xfrm>
        </p:spPr>
        <p:txBody>
          <a:bodyPr lIns="0">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0" name="Segnaposto titolo 1">
            <a:extLst>
              <a:ext uri="{FF2B5EF4-FFF2-40B4-BE49-F238E27FC236}">
                <a16:creationId xmlns:a16="http://schemas.microsoft.com/office/drawing/2014/main" id="{E6275BA2-C88F-D442-BB44-16AD120A3F6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19A73C7C-F021-46C2-A59B-8FF7976F4BB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10683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9D72F9B8-ABA2-4C42-A181-607DBB3A26ED}"/>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8" name="Text Placeholder 7">
            <a:extLst>
              <a:ext uri="{FF2B5EF4-FFF2-40B4-BE49-F238E27FC236}">
                <a16:creationId xmlns:a16="http://schemas.microsoft.com/office/drawing/2014/main" id="{D2BB8059-381A-704A-886C-F6DD9F44F1BC}"/>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Segnaposto testo 3">
            <a:extLst>
              <a:ext uri="{FF2B5EF4-FFF2-40B4-BE49-F238E27FC236}">
                <a16:creationId xmlns:a16="http://schemas.microsoft.com/office/drawing/2014/main" id="{C08E708D-0E00-AB46-8AF7-AAC94AA38AB2}"/>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1" name="Segnaposto titolo 1">
            <a:extLst>
              <a:ext uri="{FF2B5EF4-FFF2-40B4-BE49-F238E27FC236}">
                <a16:creationId xmlns:a16="http://schemas.microsoft.com/office/drawing/2014/main" id="{80C56B0F-86D4-8640-B1D0-FEBA0E0A02D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A82B40A8-C866-4C16-8C00-EAE5EF75AB4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449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609600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8A1CF13A-9AC3-41FE-A6E0-1943517FC7D9}"/>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93376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83661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6327178"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CF2C13BF-445B-4BE4-AD3F-23117EA32D2E}"/>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61723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testo e immagine">
    <p:bg>
      <p:bgRef idx="1001">
        <a:schemeClr val="bg1"/>
      </p:bgRef>
    </p:bg>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89"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6293921"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1" y="1551582"/>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6293921" y="1551581"/>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3" name="Segnaposto numero diapositiva 2">
            <a:extLst>
              <a:ext uri="{FF2B5EF4-FFF2-40B4-BE49-F238E27FC236}">
                <a16:creationId xmlns:a16="http://schemas.microsoft.com/office/drawing/2014/main" id="{ED2AEED0-49D4-3E47-AC3F-270F49F4CC39}"/>
              </a:ext>
            </a:extLst>
          </p:cNvPr>
          <p:cNvSpPr>
            <a:spLocks noGrp="1"/>
          </p:cNvSpPr>
          <p:nvPr>
            <p:ph type="sldNum" sz="quarter" idx="16"/>
          </p:nvPr>
        </p:nvSpPr>
        <p:spPr/>
        <p:txBody>
          <a:bodyPr/>
          <a:lstStyle/>
          <a:p>
            <a:fld id="{FEC4A954-C260-E84D-8B85-4D54550A05DF}" type="slidenum">
              <a:rPr lang="it-IT" smtClean="0"/>
              <a:pPr/>
              <a:t>‹N›</a:t>
            </a:fld>
            <a:endParaRPr lang="it-IT"/>
          </a:p>
        </p:txBody>
      </p:sp>
      <p:cxnSp>
        <p:nvCxnSpPr>
          <p:cNvPr id="12" name="Connettore 1 11">
            <a:extLst>
              <a:ext uri="{FF2B5EF4-FFF2-40B4-BE49-F238E27FC236}">
                <a16:creationId xmlns:a16="http://schemas.microsoft.com/office/drawing/2014/main" id="{1D055194-F38E-BC41-A98D-1177A0272C8D}"/>
              </a:ext>
            </a:extLst>
          </p:cNvPr>
          <p:cNvCxnSpPr>
            <a:cxnSpLocks/>
          </p:cNvCxnSpPr>
          <p:nvPr userDrawn="1"/>
        </p:nvCxnSpPr>
        <p:spPr>
          <a:xfrm>
            <a:off x="6096000"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egnaposto titolo 1">
            <a:extLst>
              <a:ext uri="{FF2B5EF4-FFF2-40B4-BE49-F238E27FC236}">
                <a16:creationId xmlns:a16="http://schemas.microsoft.com/office/drawing/2014/main" id="{35850251-896E-B041-8180-ED90B1047B2B}"/>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solidFill>
                  <a:srgbClr val="262626"/>
                </a:solidFill>
              </a:defRPr>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D3254F67-721F-4A44-8033-F90ED32CB3D8}"/>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16033095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olo, testo e immagine">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45445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7" name="Segnaposto testo 3">
            <a:extLst>
              <a:ext uri="{FF2B5EF4-FFF2-40B4-BE49-F238E27FC236}">
                <a16:creationId xmlns:a16="http://schemas.microsoft.com/office/drawing/2014/main" id="{798A6822-7DA7-2E4D-B441-3AC1A45F600B}"/>
              </a:ext>
            </a:extLst>
          </p:cNvPr>
          <p:cNvSpPr>
            <a:spLocks noGrp="1"/>
          </p:cNvSpPr>
          <p:nvPr>
            <p:ph type="body" sz="half" idx="11"/>
          </p:nvPr>
        </p:nvSpPr>
        <p:spPr>
          <a:xfrm>
            <a:off x="8249395"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3" y="1551582"/>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4544591"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Text Placeholder 7">
            <a:extLst>
              <a:ext uri="{FF2B5EF4-FFF2-40B4-BE49-F238E27FC236}">
                <a16:creationId xmlns:a16="http://schemas.microsoft.com/office/drawing/2014/main" id="{49EA2753-54CC-C644-8DA9-3ED0F1CF2418}"/>
              </a:ext>
            </a:extLst>
          </p:cNvPr>
          <p:cNvSpPr>
            <a:spLocks noGrp="1"/>
          </p:cNvSpPr>
          <p:nvPr>
            <p:ph type="body" sz="quarter" idx="15" hasCustomPrompt="1"/>
          </p:nvPr>
        </p:nvSpPr>
        <p:spPr>
          <a:xfrm>
            <a:off x="8249395"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5" name="Segnaposto numero diapositiva 4">
            <a:extLst>
              <a:ext uri="{FF2B5EF4-FFF2-40B4-BE49-F238E27FC236}">
                <a16:creationId xmlns:a16="http://schemas.microsoft.com/office/drawing/2014/main" id="{9E5D853E-0A41-7F40-8291-86C503BFACFA}"/>
              </a:ext>
            </a:extLst>
          </p:cNvPr>
          <p:cNvSpPr>
            <a:spLocks noGrp="1"/>
          </p:cNvSpPr>
          <p:nvPr>
            <p:ph type="sldNum" sz="quarter" idx="17"/>
          </p:nvPr>
        </p:nvSpPr>
        <p:spPr/>
        <p:txBody>
          <a:bodyPr/>
          <a:lstStyle/>
          <a:p>
            <a:fld id="{FEC4A954-C260-E84D-8B85-4D54550A05DF}" type="slidenum">
              <a:rPr lang="it-IT" smtClean="0"/>
              <a:pPr/>
              <a:t>‹N›</a:t>
            </a:fld>
            <a:endParaRPr lang="it-IT"/>
          </a:p>
        </p:txBody>
      </p:sp>
      <p:cxnSp>
        <p:nvCxnSpPr>
          <p:cNvPr id="3" name="Connettore 1 2">
            <a:extLst>
              <a:ext uri="{FF2B5EF4-FFF2-40B4-BE49-F238E27FC236}">
                <a16:creationId xmlns:a16="http://schemas.microsoft.com/office/drawing/2014/main" id="{07389034-36FE-D04B-97E1-02A924367620}"/>
              </a:ext>
            </a:extLst>
          </p:cNvPr>
          <p:cNvCxnSpPr>
            <a:cxnSpLocks/>
          </p:cNvCxnSpPr>
          <p:nvPr userDrawn="1"/>
        </p:nvCxnSpPr>
        <p:spPr>
          <a:xfrm>
            <a:off x="4251367"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1 13">
            <a:extLst>
              <a:ext uri="{FF2B5EF4-FFF2-40B4-BE49-F238E27FC236}">
                <a16:creationId xmlns:a16="http://schemas.microsoft.com/office/drawing/2014/main" id="{8B042105-974D-A945-82DA-C0EE98AFE88E}"/>
              </a:ext>
            </a:extLst>
          </p:cNvPr>
          <p:cNvCxnSpPr>
            <a:cxnSpLocks/>
          </p:cNvCxnSpPr>
          <p:nvPr userDrawn="1"/>
        </p:nvCxnSpPr>
        <p:spPr>
          <a:xfrm>
            <a:off x="7942613"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egnaposto titolo 1">
            <a:extLst>
              <a:ext uri="{FF2B5EF4-FFF2-40B4-BE49-F238E27FC236}">
                <a16:creationId xmlns:a16="http://schemas.microsoft.com/office/drawing/2014/main" id="{8B77CED5-B561-3846-9AB3-80FAFE67AF7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612398E9-A9A8-42A3-AEFD-D1738CFB7F8C}"/>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02478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fine">
    <p:bg>
      <p:bgPr>
        <a:solidFill>
          <a:srgbClr val="574676"/>
        </a:solidFill>
        <a:effectLst/>
      </p:bgPr>
    </p:bg>
    <p:spTree>
      <p:nvGrpSpPr>
        <p:cNvPr id="1" name=""/>
        <p:cNvGrpSpPr/>
        <p:nvPr/>
      </p:nvGrpSpPr>
      <p:grpSpPr>
        <a:xfrm>
          <a:off x="0" y="0"/>
          <a:ext cx="0" cy="0"/>
          <a:chOff x="0" y="0"/>
          <a:chExt cx="0" cy="0"/>
        </a:xfrm>
      </p:grpSpPr>
      <p:pic>
        <p:nvPicPr>
          <p:cNvPr id="3" name="Immagine 4">
            <a:extLst>
              <a:ext uri="{FF2B5EF4-FFF2-40B4-BE49-F238E27FC236}">
                <a16:creationId xmlns:a16="http://schemas.microsoft.com/office/drawing/2014/main" id="{4D955C49-DB2F-4B88-946E-C73C83E5ED75}"/>
              </a:ext>
            </a:extLst>
          </p:cNvPr>
          <p:cNvPicPr>
            <a:picLocks noChangeAspect="1"/>
          </p:cNvPicPr>
          <p:nvPr userDrawn="1"/>
        </p:nvPicPr>
        <p:blipFill>
          <a:blip r:embed="rId2"/>
          <a:stretch>
            <a:fillRect/>
          </a:stretch>
        </p:blipFill>
        <p:spPr>
          <a:xfrm>
            <a:off x="5254100" y="2860057"/>
            <a:ext cx="1730693" cy="1161160"/>
          </a:xfrm>
          <a:prstGeom prst="rect">
            <a:avLst/>
          </a:prstGeom>
        </p:spPr>
      </p:pic>
    </p:spTree>
    <p:extLst>
      <p:ext uri="{BB962C8B-B14F-4D97-AF65-F5344CB8AC3E}">
        <p14:creationId xmlns:p14="http://schemas.microsoft.com/office/powerpoint/2010/main" val="2601213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B895A96-2866-484D-98AF-108A2B672A5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EADDCE6-9BC9-1045-9A9B-B7DA4ECE9695}"/>
              </a:ext>
            </a:extLst>
          </p:cNvPr>
          <p:cNvSpPr>
            <a:spLocks noGrp="1"/>
          </p:cNvSpPr>
          <p:nvPr>
            <p:ph type="body" idx="1"/>
          </p:nvPr>
        </p:nvSpPr>
        <p:spPr>
          <a:xfrm>
            <a:off x="838200" y="1531918"/>
            <a:ext cx="10515600" cy="4645045"/>
          </a:xfrm>
          <a:prstGeom prst="rect">
            <a:avLst/>
          </a:prstGeom>
        </p:spPr>
        <p:txBody>
          <a:bodyPr vert="horz" lIns="91440" tIns="45720" rIns="91440" bIns="45720" rtlCol="0" anchor="ctr">
            <a:normAutofit/>
          </a:bodyPr>
          <a:lstStyle/>
          <a:p>
            <a:r>
              <a:rPr lang="it-IT" dirty="0"/>
              <a:t>Fare clic per modificare gli stili del testo dello schema</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Secondo livello</a:t>
            </a:r>
          </a:p>
          <a:p>
            <a:pPr marL="814348" marR="0" lvl="2"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Terzo livello</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it-IT" dirty="0"/>
          </a:p>
        </p:txBody>
      </p:sp>
      <p:sp>
        <p:nvSpPr>
          <p:cNvPr id="6" name="Segnaposto numero diapositiva 5">
            <a:extLst>
              <a:ext uri="{FF2B5EF4-FFF2-40B4-BE49-F238E27FC236}">
                <a16:creationId xmlns:a16="http://schemas.microsoft.com/office/drawing/2014/main" id="{CB3E5275-AA79-C14E-8281-AC408BAAE8DA}"/>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825" b="0" i="0">
                <a:solidFill>
                  <a:schemeClr val="bg1">
                    <a:lumMod val="75000"/>
                  </a:schemeClr>
                </a:solidFill>
                <a:latin typeface="Fira Sans Medium" panose="020B0503050000020004" pitchFamily="34" charset="0"/>
              </a:defRPr>
            </a:lvl1pPr>
          </a:lstStyle>
          <a:p>
            <a:fld id="{FEC4A954-C260-E84D-8B85-4D54550A05DF}" type="slidenum">
              <a:rPr lang="it-IT" smtClean="0"/>
              <a:pPr/>
              <a:t>‹N›</a:t>
            </a:fld>
            <a:endParaRPr lang="it-IT"/>
          </a:p>
        </p:txBody>
      </p:sp>
    </p:spTree>
    <p:extLst>
      <p:ext uri="{BB962C8B-B14F-4D97-AF65-F5344CB8AC3E}">
        <p14:creationId xmlns:p14="http://schemas.microsoft.com/office/powerpoint/2010/main" val="415500328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9" r:id="rId4"/>
    <p:sldLayoutId id="2147483650" r:id="rId5"/>
    <p:sldLayoutId id="2147483663" r:id="rId6"/>
    <p:sldLayoutId id="2147483654" r:id="rId7"/>
    <p:sldLayoutId id="2147483657" r:id="rId8"/>
    <p:sldLayoutId id="2147483667" r:id="rId9"/>
    <p:sldLayoutId id="2147483666" r:id="rId10"/>
    <p:sldLayoutId id="2147483665" r:id="rId11"/>
    <p:sldLayoutId id="2147483658" r:id="rId12"/>
  </p:sldLayoutIdLst>
  <p:hf hdr="0" ftr="0" dt="0"/>
  <p:txStyles>
    <p:titleStyle>
      <a:lvl1pPr algn="l" defTabSz="685766" rtl="0" eaLnBrk="1" latinLnBrk="0" hangingPunct="1">
        <a:lnSpc>
          <a:spcPct val="90000"/>
        </a:lnSpc>
        <a:spcBef>
          <a:spcPct val="0"/>
        </a:spcBef>
        <a:buNone/>
        <a:defRPr sz="2700" b="1" kern="1200">
          <a:solidFill>
            <a:schemeClr val="tx1">
              <a:lumMod val="85000"/>
              <a:lumOff val="15000"/>
            </a:schemeClr>
          </a:solidFill>
          <a:latin typeface="Roboto Slab" pitchFamily="2" charset="0"/>
          <a:ea typeface="Roboto Slab" pitchFamily="2" charset="0"/>
          <a:cs typeface="+mj-cs"/>
        </a:defRPr>
      </a:lvl1pPr>
    </p:titleStyle>
    <p:bodyStyle>
      <a:lvl1pPr marL="171442" indent="-171442" algn="l" defTabSz="685766" rtl="0" eaLnBrk="1" latinLnBrk="0" hangingPunct="1">
        <a:lnSpc>
          <a:spcPct val="90000"/>
        </a:lnSpc>
        <a:spcBef>
          <a:spcPts val="750"/>
        </a:spcBef>
        <a:buFont typeface="Fira Sans" panose="020B0503050000020004" pitchFamily="34" charset="0"/>
        <a:buChar char="―"/>
        <a:defRPr sz="1800" b="0" i="0" kern="1200">
          <a:solidFill>
            <a:schemeClr val="tx1">
              <a:lumMod val="65000"/>
              <a:lumOff val="35000"/>
            </a:schemeClr>
          </a:solidFill>
          <a:latin typeface="Fira Sans Medium" panose="020B0503050000020004" pitchFamily="34" charset="0"/>
          <a:ea typeface="+mn-ea"/>
          <a:cs typeface="+mn-cs"/>
        </a:defRPr>
      </a:lvl1pPr>
      <a:lvl2pPr marL="557185" marR="0" indent="-214303" algn="l" defTabSz="685766" rtl="0" eaLnBrk="1" fontAlgn="auto" latinLnBrk="0" hangingPunct="1">
        <a:lnSpc>
          <a:spcPct val="90000"/>
        </a:lnSpc>
        <a:spcBef>
          <a:spcPts val="375"/>
        </a:spcBef>
        <a:spcAft>
          <a:spcPts val="0"/>
        </a:spcAft>
        <a:buClrTx/>
        <a:buSzTx/>
        <a:buFont typeface="Fira Sans" panose="020B0503050000020004" pitchFamily="34" charset="0"/>
        <a:buChar char="–"/>
        <a:tabLst/>
        <a:defRPr sz="1650" b="0" i="0" kern="1200">
          <a:solidFill>
            <a:schemeClr val="tx1">
              <a:lumMod val="65000"/>
              <a:lumOff val="35000"/>
            </a:schemeClr>
          </a:solidFill>
          <a:latin typeface="Fira Sans" panose="020B05030500000200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Fira Sans" panose="020B05030500000200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0.sv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slideLayout" Target="../slideLayouts/slideLayout7.xml"/><Relationship Id="rId4" Type="http://schemas.openxmlformats.org/officeDocument/2006/relationships/image" Target="../media/image50.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sv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svg"/><Relationship Id="rId7" Type="http://schemas.openxmlformats.org/officeDocument/2006/relationships/image" Target="../media/image62.png"/><Relationship Id="rId2" Type="http://schemas.openxmlformats.org/officeDocument/2006/relationships/image" Target="../media/image57.sv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svg"/><Relationship Id="rId4" Type="http://schemas.openxmlformats.org/officeDocument/2006/relationships/image" Target="../media/image59.svg"/></Relationships>
</file>

<file path=ppt/slides/_rels/slide55.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svg"/><Relationship Id="rId1" Type="http://schemas.openxmlformats.org/officeDocument/2006/relationships/slideLayout" Target="../slideLayouts/slideLayout7.xml"/><Relationship Id="rId6" Type="http://schemas.openxmlformats.org/officeDocument/2006/relationships/image" Target="../media/image70.svg"/><Relationship Id="rId5" Type="http://schemas.openxmlformats.org/officeDocument/2006/relationships/image" Target="../media/image69.svg"/><Relationship Id="rId4" Type="http://schemas.openxmlformats.org/officeDocument/2006/relationships/image" Target="../media/image68.sv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62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1773936"/>
            <a:ext cx="630936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dirty="0">
                <a:solidFill>
                  <a:srgbClr val="B2A7C4"/>
                </a:solidFill>
                <a:latin typeface="Fira Sans Medium"/>
              </a:rPr>
              <a:t>REINFORCEMENT LEARNIN</a:t>
            </a:r>
            <a:r>
              <a:rPr lang="it-IT" sz="1045" b="1" i="0" spc="160" dirty="0">
                <a:solidFill>
                  <a:srgbClr val="B2A7C4"/>
                </a:solidFill>
                <a:latin typeface="Fira Sans Medium"/>
              </a:rPr>
              <a:t>G</a:t>
            </a:r>
            <a:endParaRPr sz="1045" b="1" i="0" spc="160" dirty="0">
              <a:solidFill>
                <a:srgbClr val="B2A7C4"/>
              </a:solidFill>
              <a:latin typeface="Fira Sans Medium"/>
            </a:endParaRPr>
          </a:p>
        </p:txBody>
      </p:sp>
      <p:sp>
        <p:nvSpPr>
          <p:cNvPr id="5" name="TextBox 4"/>
          <p:cNvSpPr txBox="1"/>
          <p:nvPr/>
        </p:nvSpPr>
        <p:spPr>
          <a:xfrm>
            <a:off x="859536" y="2139696"/>
            <a:ext cx="6766560" cy="1005840"/>
          </a:xfrm>
          <a:prstGeom prst="rect">
            <a:avLst/>
          </a:prstGeom>
          <a:noFill/>
        </p:spPr>
        <p:txBody>
          <a:bodyPr wrap="square" lIns="0" tIns="0" rIns="0" bIns="0" anchor="t">
            <a:noAutofit/>
          </a:bodyPr>
          <a:lstStyle/>
          <a:p>
            <a:pPr marL="0" indent="0" algn="l">
              <a:lnSpc>
                <a:spcPts val="3835"/>
              </a:lnSpc>
              <a:spcBef>
                <a:spcPts val="0"/>
              </a:spcBef>
              <a:spcAft>
                <a:spcPts val="0"/>
              </a:spcAft>
              <a:buNone/>
            </a:pPr>
            <a:r>
              <a:rPr sz="3760" b="1" i="0">
                <a:solidFill>
                  <a:srgbClr val="FFFFFF"/>
                </a:solidFill>
                <a:latin typeface="Roboto Slab"/>
              </a:rPr>
              <a:t>Agent Architectures</a:t>
            </a:r>
          </a:p>
        </p:txBody>
      </p:sp>
      <p:sp>
        <p:nvSpPr>
          <p:cNvPr id="6" name="Rectangle 5"/>
          <p:cNvSpPr/>
          <p:nvPr/>
        </p:nvSpPr>
        <p:spPr>
          <a:xfrm>
            <a:off x="859536" y="3182112"/>
            <a:ext cx="128016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59536" y="3456432"/>
            <a:ext cx="6126480" cy="1371600"/>
          </a:xfrm>
          <a:prstGeom prst="rect">
            <a:avLst/>
          </a:prstGeom>
          <a:noFill/>
        </p:spPr>
        <p:txBody>
          <a:bodyPr wrap="square" lIns="0" tIns="0" rIns="0" bIns="0" anchor="t">
            <a:noAutofit/>
          </a:bodyPr>
          <a:lstStyle/>
          <a:p>
            <a:pPr marL="0" indent="0" algn="l">
              <a:lnSpc>
                <a:spcPts val="1799"/>
              </a:lnSpc>
              <a:spcBef>
                <a:spcPts val="0"/>
              </a:spcBef>
              <a:spcAft>
                <a:spcPts val="0"/>
              </a:spcAft>
              <a:buNone/>
            </a:pPr>
            <a:r>
              <a:rPr sz="1363" b="0" i="0">
                <a:solidFill>
                  <a:srgbClr val="D6D0E0"/>
                </a:solidFill>
                <a:latin typeface="Fira Sans"/>
              </a:rPr>
              <a:t>From the agent–environment loop to reflex, model-based, goal-based, utility-based and learning agents — and a worked example in which collective behaviour emerges from purely local rules.</a:t>
            </a:r>
          </a:p>
        </p:txBody>
      </p:sp>
      <p:sp>
        <p:nvSpPr>
          <p:cNvPr id="8" name="TextBox 7"/>
          <p:cNvSpPr txBox="1"/>
          <p:nvPr/>
        </p:nvSpPr>
        <p:spPr>
          <a:xfrm>
            <a:off x="859536" y="5522976"/>
            <a:ext cx="6309360" cy="566928"/>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0" i="0">
                <a:solidFill>
                  <a:srgbClr val="B2A7C4"/>
                </a:solidFill>
                <a:latin typeface="Fira Sans"/>
              </a:rPr>
              <a:t>Università degli Studi di Genova  ·  DITEN — ELIOS Lab</a:t>
            </a:r>
          </a:p>
          <a:p>
            <a:pPr marL="0" indent="0" algn="l">
              <a:lnSpc>
                <a:spcPts val="1092"/>
              </a:lnSpc>
              <a:spcBef>
                <a:spcPts val="300"/>
              </a:spcBef>
              <a:spcAft>
                <a:spcPts val="0"/>
              </a:spcAft>
              <a:buNone/>
            </a:pPr>
            <a:r>
              <a:rPr sz="1092" b="0" i="0">
                <a:solidFill>
                  <a:srgbClr val="9486AC"/>
                </a:solidFill>
                <a:latin typeface="Fira Sans"/>
              </a:rPr>
              <a:t>Lecture notes, Chapter 01 — companion slides</a:t>
            </a:r>
          </a:p>
        </p:txBody>
      </p:sp>
      <p:sp>
        <p:nvSpPr>
          <p:cNvPr id="9" name="Rectangle 8"/>
          <p:cNvSpPr/>
          <p:nvPr/>
        </p:nvSpPr>
        <p:spPr>
          <a:xfrm>
            <a:off x="7424928" y="1773936"/>
            <a:ext cx="10972" cy="39319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1773936"/>
            <a:ext cx="338328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50">
                <a:solidFill>
                  <a:srgbClr val="B2A7C4"/>
                </a:solidFill>
                <a:latin typeface="Fira Sans Medium"/>
              </a:rPr>
              <a:t>CONTENTS</a:t>
            </a:r>
          </a:p>
        </p:txBody>
      </p:sp>
      <p:sp>
        <p:nvSpPr>
          <p:cNvPr id="11" name="TextBox 10"/>
          <p:cNvSpPr txBox="1"/>
          <p:nvPr/>
        </p:nvSpPr>
        <p:spPr>
          <a:xfrm>
            <a:off x="7973568" y="2157984"/>
            <a:ext cx="3383280" cy="365760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80">
                <a:solidFill>
                  <a:srgbClr val="9486AC"/>
                </a:solidFill>
                <a:latin typeface="Fira Sans"/>
              </a:rPr>
              <a:t>PART I   </a:t>
            </a:r>
          </a:p>
          <a:p>
            <a:pPr marL="0" indent="0" algn="l">
              <a:lnSpc>
                <a:spcPts val="1283"/>
              </a:lnSpc>
              <a:spcBef>
                <a:spcPts val="200"/>
              </a:spcBef>
              <a:spcAft>
                <a:spcPts val="0"/>
              </a:spcAft>
              <a:buNone/>
            </a:pPr>
            <a:r>
              <a:rPr sz="1188" b="0" i="0">
                <a:solidFill>
                  <a:srgbClr val="FFFFFF"/>
                </a:solidFill>
                <a:latin typeface="Fira Sans Medium"/>
              </a:rPr>
              <a:t>Agents and environments</a:t>
            </a:r>
          </a:p>
          <a:p>
            <a:pPr marL="0" indent="0" algn="l">
              <a:lnSpc>
                <a:spcPts val="882"/>
              </a:lnSpc>
              <a:spcBef>
                <a:spcPts val="1200"/>
              </a:spcBef>
              <a:spcAft>
                <a:spcPts val="0"/>
              </a:spcAft>
              <a:buNone/>
            </a:pPr>
            <a:r>
              <a:rPr sz="882" b="1" i="0" spc="80">
                <a:solidFill>
                  <a:srgbClr val="9486AC"/>
                </a:solidFill>
                <a:latin typeface="Fira Sans"/>
              </a:rPr>
              <a:t>PART II  </a:t>
            </a:r>
          </a:p>
          <a:p>
            <a:pPr marL="0" indent="0" algn="l">
              <a:lnSpc>
                <a:spcPts val="1283"/>
              </a:lnSpc>
              <a:spcBef>
                <a:spcPts val="200"/>
              </a:spcBef>
              <a:spcAft>
                <a:spcPts val="0"/>
              </a:spcAft>
              <a:buNone/>
            </a:pPr>
            <a:r>
              <a:rPr sz="1188" b="0" i="0">
                <a:solidFill>
                  <a:srgbClr val="FFFFFF"/>
                </a:solidFill>
                <a:latin typeface="Fira Sans Medium"/>
              </a:rPr>
              <a:t>From agent function to agent program</a:t>
            </a:r>
          </a:p>
          <a:p>
            <a:pPr marL="0" indent="0" algn="l">
              <a:lnSpc>
                <a:spcPts val="882"/>
              </a:lnSpc>
              <a:spcBef>
                <a:spcPts val="1200"/>
              </a:spcBef>
              <a:spcAft>
                <a:spcPts val="0"/>
              </a:spcAft>
              <a:buNone/>
            </a:pPr>
            <a:r>
              <a:rPr sz="882" b="1" i="0" spc="80">
                <a:solidFill>
                  <a:srgbClr val="9486AC"/>
                </a:solidFill>
                <a:latin typeface="Fira Sans"/>
              </a:rPr>
              <a:t>PART III </a:t>
            </a:r>
          </a:p>
          <a:p>
            <a:pPr marL="0" indent="0" algn="l">
              <a:lnSpc>
                <a:spcPts val="1283"/>
              </a:lnSpc>
              <a:spcBef>
                <a:spcPts val="200"/>
              </a:spcBef>
              <a:spcAft>
                <a:spcPts val="0"/>
              </a:spcAft>
              <a:buNone/>
            </a:pPr>
            <a:r>
              <a:rPr sz="1188" b="0" i="0">
                <a:solidFill>
                  <a:srgbClr val="FFFFFF"/>
                </a:solidFill>
                <a:latin typeface="Fira Sans Medium"/>
              </a:rPr>
              <a:t>Properties of the environment</a:t>
            </a:r>
          </a:p>
          <a:p>
            <a:pPr marL="0" indent="0" algn="l">
              <a:lnSpc>
                <a:spcPts val="882"/>
              </a:lnSpc>
              <a:spcBef>
                <a:spcPts val="1200"/>
              </a:spcBef>
              <a:spcAft>
                <a:spcPts val="0"/>
              </a:spcAft>
              <a:buNone/>
            </a:pPr>
            <a:r>
              <a:rPr sz="882" b="1" i="0" spc="80">
                <a:solidFill>
                  <a:srgbClr val="9486AC"/>
                </a:solidFill>
                <a:latin typeface="Fira Sans"/>
              </a:rPr>
              <a:t>PART IV  </a:t>
            </a:r>
          </a:p>
          <a:p>
            <a:pPr marL="0" indent="0" algn="l">
              <a:lnSpc>
                <a:spcPts val="1283"/>
              </a:lnSpc>
              <a:spcBef>
                <a:spcPts val="200"/>
              </a:spcBef>
              <a:spcAft>
                <a:spcPts val="0"/>
              </a:spcAft>
              <a:buNone/>
            </a:pPr>
            <a:r>
              <a:rPr sz="1188" b="0" i="0">
                <a:solidFill>
                  <a:srgbClr val="FFFFFF"/>
                </a:solidFill>
                <a:latin typeface="Fira Sans Medium"/>
              </a:rPr>
              <a:t>Performance measure and rationality</a:t>
            </a:r>
          </a:p>
          <a:p>
            <a:pPr marL="0" indent="0" algn="l">
              <a:lnSpc>
                <a:spcPts val="882"/>
              </a:lnSpc>
              <a:spcBef>
                <a:spcPts val="1200"/>
              </a:spcBef>
              <a:spcAft>
                <a:spcPts val="0"/>
              </a:spcAft>
              <a:buNone/>
            </a:pPr>
            <a:r>
              <a:rPr sz="882" b="1" i="0" spc="80">
                <a:solidFill>
                  <a:srgbClr val="9486AC"/>
                </a:solidFill>
                <a:latin typeface="Fira Sans"/>
              </a:rPr>
              <a:t>PART V   </a:t>
            </a:r>
          </a:p>
          <a:p>
            <a:pPr marL="0" indent="0" algn="l">
              <a:lnSpc>
                <a:spcPts val="1283"/>
              </a:lnSpc>
              <a:spcBef>
                <a:spcPts val="200"/>
              </a:spcBef>
              <a:spcAft>
                <a:spcPts val="0"/>
              </a:spcAft>
              <a:buNone/>
            </a:pPr>
            <a:r>
              <a:rPr sz="1188" b="0" i="0">
                <a:solidFill>
                  <a:srgbClr val="FFFFFF"/>
                </a:solidFill>
                <a:latin typeface="Fira Sans Medium"/>
              </a:rPr>
              <a:t>Agent architectures</a:t>
            </a:r>
          </a:p>
          <a:p>
            <a:pPr marL="0" indent="0" algn="l">
              <a:lnSpc>
                <a:spcPts val="882"/>
              </a:lnSpc>
              <a:spcBef>
                <a:spcPts val="1200"/>
              </a:spcBef>
              <a:spcAft>
                <a:spcPts val="0"/>
              </a:spcAft>
              <a:buNone/>
            </a:pPr>
            <a:r>
              <a:rPr sz="882" b="1" i="0" spc="80">
                <a:solidFill>
                  <a:srgbClr val="9486AC"/>
                </a:solidFill>
                <a:latin typeface="Fira Sans"/>
              </a:rPr>
              <a:t>PART VI  </a:t>
            </a:r>
          </a:p>
          <a:p>
            <a:pPr marL="0" indent="0" algn="l">
              <a:lnSpc>
                <a:spcPts val="1283"/>
              </a:lnSpc>
              <a:spcBef>
                <a:spcPts val="200"/>
              </a:spcBef>
              <a:spcAft>
                <a:spcPts val="0"/>
              </a:spcAft>
              <a:buNone/>
            </a:pPr>
            <a:r>
              <a:rPr sz="1188" b="0" i="0">
                <a:solidFill>
                  <a:srgbClr val="FFFFFF"/>
                </a:solidFill>
                <a:latin typeface="Fira Sans Medium"/>
              </a:rPr>
              <a:t>Case study: flocking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Agents and environments</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What an agent is, where its boundary lies, and how a task is specified before any program is written.</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does the agent concept unify robotics, software and control?</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agent–environment loop</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Sensors, actuators, percepts, actions</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One paradigm, three embodiments</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PEAS: specifying the task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1.1  THE AGENT–ENVIRONMENT LOOP</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 agent is defined by the loop it closes with its environment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 — Agents and environments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a:t>
            </a:r>
          </a:p>
        </p:txBody>
      </p:sp>
      <p:sp>
        <p:nvSpPr>
          <p:cNvPr id="8" name="TextBox 7"/>
          <p:cNvSpPr txBox="1"/>
          <p:nvPr/>
        </p:nvSpPr>
        <p:spPr>
          <a:xfrm>
            <a:off x="841248" y="1316736"/>
            <a:ext cx="6543446"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An </a:t>
            </a:r>
            <a:r>
              <a:rPr sz="1282" b="1" i="0">
                <a:solidFill>
                  <a:srgbClr val="25282A"/>
                </a:solidFill>
                <a:latin typeface="Fira Sans"/>
              </a:rPr>
              <a:t>agent</a:t>
            </a:r>
            <a:r>
              <a:rPr sz="1282" b="0" i="0">
                <a:solidFill>
                  <a:srgbClr val="333639"/>
                </a:solidFill>
                <a:latin typeface="Fira Sans"/>
              </a:rPr>
              <a:t> is an entity that </a:t>
            </a:r>
            <a:r>
              <a:rPr sz="1282" b="1" i="0">
                <a:solidFill>
                  <a:srgbClr val="2B7A3E"/>
                </a:solidFill>
                <a:latin typeface="Fira Sans"/>
              </a:rPr>
              <a:t>perceives</a:t>
            </a:r>
            <a:r>
              <a:rPr sz="1282" b="0" i="0">
                <a:solidFill>
                  <a:srgbClr val="333639"/>
                </a:solidFill>
                <a:latin typeface="Fira Sans"/>
              </a:rPr>
              <a:t> an environment through </a:t>
            </a:r>
            <a:r>
              <a:rPr sz="1282" b="1" i="0">
                <a:solidFill>
                  <a:srgbClr val="333639"/>
                </a:solidFill>
                <a:latin typeface="Fira Sans"/>
              </a:rPr>
              <a:t>sensors</a:t>
            </a:r>
            <a:r>
              <a:rPr sz="1282" b="0" i="0">
                <a:solidFill>
                  <a:srgbClr val="333639"/>
                </a:solidFill>
                <a:latin typeface="Fira Sans"/>
              </a:rPr>
              <a:t> and </a:t>
            </a:r>
            <a:r>
              <a:rPr sz="1282" b="1" i="0">
                <a:solidFill>
                  <a:srgbClr val="574676"/>
                </a:solidFill>
                <a:latin typeface="Fira Sans"/>
              </a:rPr>
              <a:t>acts</a:t>
            </a:r>
            <a:r>
              <a:rPr sz="1282" b="0" i="0">
                <a:solidFill>
                  <a:srgbClr val="333639"/>
                </a:solidFill>
                <a:latin typeface="Fira Sans"/>
              </a:rPr>
              <a:t> upon it through </a:t>
            </a:r>
            <a:r>
              <a:rPr sz="1282" b="1" i="0">
                <a:solidFill>
                  <a:srgbClr val="333639"/>
                </a:solidFill>
                <a:latin typeface="Fira Sans"/>
              </a:rPr>
              <a:t>actuators</a:t>
            </a:r>
            <a:r>
              <a:rPr sz="1282" b="0" i="0">
                <a:solidFill>
                  <a:srgbClr val="333639"/>
                </a:solidFill>
                <a:latin typeface="Fira Sans"/>
              </a:rPr>
              <a:t>, in order to achieve a task or objective.</a:t>
            </a:r>
          </a:p>
        </p:txBody>
      </p:sp>
      <p:pic>
        <p:nvPicPr>
          <p:cNvPr id="9" name="Picture 8" descr="loop_basic.png"/>
          <p:cNvPicPr>
            <a:picLocks noChangeAspect="1"/>
          </p:cNvPicPr>
          <p:nvPr/>
        </p:nvPicPr>
        <p:blipFill>
          <a:blip r:embed="rId2"/>
          <a:stretch>
            <a:fillRect/>
          </a:stretch>
        </p:blipFill>
        <p:spPr>
          <a:xfrm>
            <a:off x="1158614" y="1878594"/>
            <a:ext cx="5908713" cy="1847088"/>
          </a:xfrm>
          <a:prstGeom prst="rect">
            <a:avLst/>
          </a:prstGeom>
        </p:spPr>
      </p:pic>
      <p:sp>
        <p:nvSpPr>
          <p:cNvPr id="10" name="TextBox 9"/>
          <p:cNvSpPr txBox="1"/>
          <p:nvPr/>
        </p:nvSpPr>
        <p:spPr>
          <a:xfrm>
            <a:off x="841248" y="394513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ONE PARADIGM, THREE EMBODIMENTS</a:t>
            </a:r>
          </a:p>
        </p:txBody>
      </p:sp>
      <p:sp>
        <p:nvSpPr>
          <p:cNvPr id="11" name="Rectangle 10"/>
          <p:cNvSpPr/>
          <p:nvPr/>
        </p:nvSpPr>
        <p:spPr>
          <a:xfrm>
            <a:off x="841248" y="4201170"/>
            <a:ext cx="2059228"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347474"/>
            <a:ext cx="2059228"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Human agent</a:t>
            </a:r>
          </a:p>
        </p:txBody>
      </p:sp>
      <p:sp>
        <p:nvSpPr>
          <p:cNvPr id="13" name="TextBox 12"/>
          <p:cNvSpPr txBox="1"/>
          <p:nvPr/>
        </p:nvSpPr>
        <p:spPr>
          <a:xfrm>
            <a:off x="841248" y="4621794"/>
            <a:ext cx="2059228" cy="4132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931" b="1" i="0">
                <a:solidFill>
                  <a:srgbClr val="2B7A3E"/>
                </a:solidFill>
                <a:latin typeface="Fira Sans"/>
              </a:rPr>
              <a:t>sensors  </a:t>
            </a:r>
            <a:r>
              <a:rPr sz="1045" b="0" i="0">
                <a:solidFill>
                  <a:srgbClr val="626669"/>
                </a:solidFill>
                <a:latin typeface="Fira Sans"/>
              </a:rPr>
              <a:t>eyes, ears, skin</a:t>
            </a:r>
          </a:p>
          <a:p>
            <a:pPr marL="0" indent="0" algn="l">
              <a:lnSpc>
                <a:spcPts val="1233"/>
              </a:lnSpc>
              <a:spcBef>
                <a:spcPts val="500"/>
              </a:spcBef>
              <a:spcAft>
                <a:spcPts val="0"/>
              </a:spcAft>
              <a:buNone/>
            </a:pPr>
            <a:r>
              <a:rPr sz="931" b="1" i="0">
                <a:solidFill>
                  <a:srgbClr val="2B7A3E"/>
                </a:solidFill>
                <a:latin typeface="Fira Sans"/>
              </a:rPr>
              <a:t>actuators  </a:t>
            </a:r>
            <a:r>
              <a:rPr sz="1045" b="0" i="0">
                <a:solidFill>
                  <a:srgbClr val="626669"/>
                </a:solidFill>
                <a:latin typeface="Fira Sans"/>
              </a:rPr>
              <a:t>hands, legs, voice</a:t>
            </a:r>
          </a:p>
        </p:txBody>
      </p:sp>
      <p:sp>
        <p:nvSpPr>
          <p:cNvPr id="14" name="Rectangle 13"/>
          <p:cNvSpPr/>
          <p:nvPr/>
        </p:nvSpPr>
        <p:spPr>
          <a:xfrm>
            <a:off x="3083356" y="4201170"/>
            <a:ext cx="2059228"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083356" y="4347474"/>
            <a:ext cx="2059228"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Robotic agent</a:t>
            </a:r>
          </a:p>
        </p:txBody>
      </p:sp>
      <p:sp>
        <p:nvSpPr>
          <p:cNvPr id="16" name="TextBox 15"/>
          <p:cNvSpPr txBox="1"/>
          <p:nvPr/>
        </p:nvSpPr>
        <p:spPr>
          <a:xfrm>
            <a:off x="3083356" y="4621794"/>
            <a:ext cx="2059228" cy="4132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931" b="1" i="0">
                <a:solidFill>
                  <a:srgbClr val="574676"/>
                </a:solidFill>
                <a:latin typeface="Fira Sans"/>
              </a:rPr>
              <a:t>sensors  </a:t>
            </a:r>
            <a:r>
              <a:rPr sz="1045" b="0" i="0">
                <a:solidFill>
                  <a:srgbClr val="626669"/>
                </a:solidFill>
                <a:latin typeface="Fira Sans"/>
              </a:rPr>
              <a:t>cameras, range finders</a:t>
            </a:r>
          </a:p>
          <a:p>
            <a:pPr marL="0" indent="0" algn="l">
              <a:lnSpc>
                <a:spcPts val="1233"/>
              </a:lnSpc>
              <a:spcBef>
                <a:spcPts val="500"/>
              </a:spcBef>
              <a:spcAft>
                <a:spcPts val="0"/>
              </a:spcAft>
              <a:buNone/>
            </a:pPr>
            <a:r>
              <a:rPr sz="931" b="1" i="0">
                <a:solidFill>
                  <a:srgbClr val="574676"/>
                </a:solidFill>
                <a:latin typeface="Fira Sans"/>
              </a:rPr>
              <a:t>actuators  </a:t>
            </a:r>
            <a:r>
              <a:rPr sz="1045" b="0" i="0">
                <a:solidFill>
                  <a:srgbClr val="626669"/>
                </a:solidFill>
                <a:latin typeface="Fira Sans"/>
              </a:rPr>
              <a:t>motors, grippers</a:t>
            </a:r>
          </a:p>
        </p:txBody>
      </p:sp>
      <p:sp>
        <p:nvSpPr>
          <p:cNvPr id="17" name="Rectangle 16"/>
          <p:cNvSpPr/>
          <p:nvPr/>
        </p:nvSpPr>
        <p:spPr>
          <a:xfrm>
            <a:off x="5325465" y="4201170"/>
            <a:ext cx="2059228"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325465" y="4347474"/>
            <a:ext cx="2059228"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Software agent</a:t>
            </a:r>
          </a:p>
        </p:txBody>
      </p:sp>
      <p:sp>
        <p:nvSpPr>
          <p:cNvPr id="19" name="TextBox 18"/>
          <p:cNvSpPr txBox="1"/>
          <p:nvPr/>
        </p:nvSpPr>
        <p:spPr>
          <a:xfrm>
            <a:off x="5325465" y="4621794"/>
            <a:ext cx="2059228" cy="569887"/>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931" b="1" i="0">
                <a:solidFill>
                  <a:srgbClr val="8A5100"/>
                </a:solidFill>
                <a:latin typeface="Fira Sans"/>
              </a:rPr>
              <a:t>sensors  </a:t>
            </a:r>
            <a:r>
              <a:rPr sz="1045" b="0" i="0">
                <a:solidFill>
                  <a:srgbClr val="626669"/>
                </a:solidFill>
                <a:latin typeface="Fira Sans"/>
              </a:rPr>
              <a:t>files, network, user input</a:t>
            </a:r>
          </a:p>
          <a:p>
            <a:pPr marL="0" indent="0" algn="l">
              <a:lnSpc>
                <a:spcPts val="1233"/>
              </a:lnSpc>
              <a:spcBef>
                <a:spcPts val="500"/>
              </a:spcBef>
              <a:spcAft>
                <a:spcPts val="0"/>
              </a:spcAft>
              <a:buNone/>
            </a:pPr>
            <a:r>
              <a:rPr sz="931" b="1" i="0">
                <a:solidFill>
                  <a:srgbClr val="8A5100"/>
                </a:solidFill>
                <a:latin typeface="Fira Sans"/>
              </a:rPr>
              <a:t>actuators  </a:t>
            </a:r>
            <a:r>
              <a:rPr sz="1045" b="0" i="0">
                <a:solidFill>
                  <a:srgbClr val="626669"/>
                </a:solidFill>
                <a:latin typeface="Fira Sans"/>
              </a:rPr>
              <a:t>writes files, sends data, displays</a:t>
            </a:r>
          </a:p>
        </p:txBody>
      </p:sp>
      <p:sp>
        <p:nvSpPr>
          <p:cNvPr id="20" name="Rectangle 19"/>
          <p:cNvSpPr/>
          <p:nvPr/>
        </p:nvSpPr>
        <p:spPr>
          <a:xfrm>
            <a:off x="841248" y="5554482"/>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41248" y="5700786"/>
            <a:ext cx="6543446" cy="363870"/>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626669"/>
                </a:solidFill>
                <a:latin typeface="Fira Sans"/>
              </a:rPr>
              <a:t>The agent concept is a </a:t>
            </a:r>
            <a:r>
              <a:rPr sz="1092" b="1" i="0">
                <a:solidFill>
                  <a:srgbClr val="25282A"/>
                </a:solidFill>
                <a:latin typeface="Fira Sans"/>
              </a:rPr>
              <a:t>unifying paradigm</a:t>
            </a:r>
            <a:r>
              <a:rPr sz="1092" b="0" i="0">
                <a:solidFill>
                  <a:srgbClr val="626669"/>
                </a:solidFill>
                <a:latin typeface="Fira Sans"/>
              </a:rPr>
              <a:t>: the three descriptions above differ only in hardware, never in structure.</a:t>
            </a:r>
          </a:p>
        </p:txBody>
      </p:sp>
      <p:sp>
        <p:nvSpPr>
          <p:cNvPr id="22" name="Rectangle 21"/>
          <p:cNvSpPr/>
          <p:nvPr/>
        </p:nvSpPr>
        <p:spPr>
          <a:xfrm>
            <a:off x="7618780" y="1316736"/>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618780" y="1316736"/>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WHERE THE BOUNDARY IS DRAWN</a:t>
            </a:r>
          </a:p>
        </p:txBody>
      </p:sp>
      <p:sp>
        <p:nvSpPr>
          <p:cNvPr id="25" name="TextBox 24"/>
          <p:cNvSpPr txBox="1"/>
          <p:nvPr/>
        </p:nvSpPr>
        <p:spPr>
          <a:xfrm>
            <a:off x="7838236" y="170078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In principle the environment could be the entire universe. In practice it is defined as the part that </a:t>
            </a:r>
            <a:r>
              <a:rPr sz="1092" b="1" i="0">
                <a:solidFill>
                  <a:srgbClr val="333639"/>
                </a:solidFill>
                <a:latin typeface="Fira Sans"/>
              </a:rPr>
              <a:t>influences the agent’s percepts</a:t>
            </a:r>
            <a:r>
              <a:rPr sz="1092" b="0" i="0">
                <a:solidFill>
                  <a:srgbClr val="333639"/>
                </a:solidFill>
                <a:latin typeface="Fira Sans"/>
              </a:rPr>
              <a:t> and is </a:t>
            </a:r>
            <a:r>
              <a:rPr sz="1092" b="1" i="0">
                <a:solidFill>
                  <a:srgbClr val="333639"/>
                </a:solidFill>
                <a:latin typeface="Fira Sans"/>
              </a:rPr>
              <a:t>altered by its actions</a:t>
            </a:r>
            <a:r>
              <a:rPr sz="1092" b="0" i="0">
                <a:solidFill>
                  <a:srgbClr val="333639"/>
                </a:solidFill>
                <a:latin typeface="Fira Sans"/>
              </a:rPr>
              <a:t>.</a:t>
            </a:r>
          </a:p>
        </p:txBody>
      </p:sp>
      <p:sp>
        <p:nvSpPr>
          <p:cNvPr id="26" name="TextBox 25"/>
          <p:cNvSpPr txBox="1"/>
          <p:nvPr/>
        </p:nvSpPr>
        <p:spPr>
          <a:xfrm>
            <a:off x="7618780" y="278709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TWO QUESTIONS OF THIS CHAPTER</a:t>
            </a:r>
          </a:p>
        </p:txBody>
      </p:sp>
      <p:sp>
        <p:nvSpPr>
          <p:cNvPr id="27" name="TextBox 26"/>
          <p:cNvSpPr txBox="1"/>
          <p:nvPr/>
        </p:nvSpPr>
        <p:spPr>
          <a:xfrm>
            <a:off x="7618780" y="3024835"/>
            <a:ext cx="3731940" cy="795934"/>
          </a:xfrm>
          <a:prstGeom prst="rect">
            <a:avLst/>
          </a:prstGeom>
          <a:noFill/>
        </p:spPr>
        <p:txBody>
          <a:bodyPr wrap="square" lIns="0" tIns="0" rIns="0" bIns="0" anchor="t">
            <a:noAutofit/>
          </a:bodyPr>
          <a:lstStyle/>
          <a:p>
            <a:pPr marL="182880" indent="-182880" algn="l">
              <a:lnSpc>
                <a:spcPts val="1277"/>
              </a:lnSpc>
              <a:spcBef>
                <a:spcPts val="0"/>
              </a:spcBef>
              <a:spcAft>
                <a:spcPts val="0"/>
              </a:spcAft>
              <a:buClr>
                <a:srgbClr val="1971C2"/>
              </a:buClr>
              <a:buFont typeface="Fira Sans"/>
              <a:buChar char="–"/>
            </a:pPr>
            <a:r>
              <a:rPr sz="1140" b="1" i="0">
                <a:solidFill>
                  <a:srgbClr val="25282A"/>
                </a:solidFill>
                <a:latin typeface="Fira Sans"/>
              </a:rPr>
              <a:t>What</a:t>
            </a:r>
            <a:r>
              <a:rPr sz="1140" b="0" i="0">
                <a:solidFill>
                  <a:srgbClr val="333639"/>
                </a:solidFill>
                <a:latin typeface="Fira Sans"/>
              </a:rPr>
              <a:t> should the agent do with the percept it has just received?</a:t>
            </a:r>
          </a:p>
          <a:p>
            <a:pPr marL="182880" indent="-182880" algn="l">
              <a:lnSpc>
                <a:spcPts val="1277"/>
              </a:lnSpc>
              <a:spcBef>
                <a:spcPts val="800"/>
              </a:spcBef>
              <a:spcAft>
                <a:spcPts val="0"/>
              </a:spcAft>
              <a:buClr>
                <a:srgbClr val="1971C2"/>
              </a:buClr>
              <a:buFont typeface="Fira Sans"/>
              <a:buChar char="–"/>
            </a:pPr>
            <a:r>
              <a:rPr sz="1140" b="1" i="0">
                <a:solidFill>
                  <a:srgbClr val="25282A"/>
                </a:solidFill>
                <a:latin typeface="Fira Sans"/>
              </a:rPr>
              <a:t>How</a:t>
            </a:r>
            <a:r>
              <a:rPr sz="1140" b="0" i="0">
                <a:solidFill>
                  <a:srgbClr val="333639"/>
                </a:solidFill>
                <a:latin typeface="Fira Sans"/>
              </a:rPr>
              <a:t> is that mapping represented, so that a physical machine can compute it?</a:t>
            </a:r>
          </a:p>
        </p:txBody>
      </p:sp>
      <p:sp>
        <p:nvSpPr>
          <p:cNvPr id="28" name="TextBox 27"/>
          <p:cNvSpPr txBox="1"/>
          <p:nvPr/>
        </p:nvSpPr>
        <p:spPr>
          <a:xfrm>
            <a:off x="7618780" y="407680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THIS ABSTRACTION IS USEFUL</a:t>
            </a:r>
          </a:p>
        </p:txBody>
      </p:sp>
      <p:sp>
        <p:nvSpPr>
          <p:cNvPr id="29" name="TextBox 28"/>
          <p:cNvSpPr txBox="1"/>
          <p:nvPr/>
        </p:nvSpPr>
        <p:spPr>
          <a:xfrm>
            <a:off x="7618780" y="4314545"/>
            <a:ext cx="3731940" cy="1079276"/>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The same vocabulary </a:t>
            </a:r>
            <a:r>
              <a:rPr lang="it-IT" sz="1092" dirty="0">
                <a:solidFill>
                  <a:srgbClr val="333639"/>
                </a:solidFill>
                <a:latin typeface="Fira Sans"/>
              </a:rPr>
              <a:t>(</a:t>
            </a:r>
            <a:r>
              <a:rPr sz="1092" b="0" i="0" dirty="0">
                <a:solidFill>
                  <a:srgbClr val="333639"/>
                </a:solidFill>
                <a:latin typeface="Fira Sans"/>
              </a:rPr>
              <a:t>percept, action, state, performance</a:t>
            </a:r>
            <a:r>
              <a:rPr lang="it-IT" sz="1092" b="0" i="0" dirty="0">
                <a:solidFill>
                  <a:srgbClr val="333639"/>
                </a:solidFill>
                <a:latin typeface="Fira Sans"/>
              </a:rPr>
              <a:t>)</a:t>
            </a:r>
            <a:r>
              <a:rPr sz="1092" b="0" i="0" dirty="0">
                <a:solidFill>
                  <a:srgbClr val="333639"/>
                </a:solidFill>
                <a:latin typeface="Fira Sans"/>
              </a:rPr>
              <a:t> describes a thermostat, a chess program, a warehouse robot and a trading system.</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Reinforcement learning is built directly on this loop: </a:t>
            </a:r>
            <a:r>
              <a:rPr sz="1092" b="1" i="0" dirty="0">
                <a:solidFill>
                  <a:srgbClr val="25282A"/>
                </a:solidFill>
                <a:latin typeface="Fira Sans"/>
              </a:rPr>
              <a:t>percepts become states, actions stay actions, and the performance measure becomes a reward.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1.2  PEAS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Before designing an agent, specify the task it is meant to solve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 — Agents and environments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a:t>
            </a:r>
          </a:p>
        </p:txBody>
      </p:sp>
      <p:sp>
        <p:nvSpPr>
          <p:cNvPr id="8" name="TextBox 7"/>
          <p:cNvSpPr txBox="1"/>
          <p:nvPr/>
        </p:nvSpPr>
        <p:spPr>
          <a:xfrm>
            <a:off x="841248" y="1316736"/>
            <a:ext cx="6932980"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Once an agent has been identified, its task is described by four elements: what counts as success, where it operates, how it can act, and what it can perceive. These are grouped under the acronym </a:t>
            </a:r>
            <a:r>
              <a:rPr sz="1235" b="1" i="0" dirty="0">
                <a:solidFill>
                  <a:srgbClr val="25282A"/>
                </a:solidFill>
                <a:latin typeface="Fira Sans"/>
              </a:rPr>
              <a:t>PEAS</a:t>
            </a:r>
            <a:r>
              <a:rPr sz="1235" b="0" i="0" dirty="0">
                <a:solidFill>
                  <a:srgbClr val="333639"/>
                </a:solidFill>
                <a:latin typeface="Fira Sans"/>
              </a:rPr>
              <a:t>. The bottom line of each card applies PEAS to </a:t>
            </a:r>
            <a:r>
              <a:rPr lang="it-IT" sz="1235" b="0" i="0" dirty="0">
                <a:solidFill>
                  <a:srgbClr val="333639"/>
                </a:solidFill>
                <a:latin typeface="Fira Sans"/>
              </a:rPr>
              <a:t>a</a:t>
            </a:r>
            <a:r>
              <a:rPr sz="1235" b="0" i="0" dirty="0">
                <a:solidFill>
                  <a:srgbClr val="333639"/>
                </a:solidFill>
                <a:latin typeface="Fira Sans"/>
              </a:rPr>
              <a:t> vacuum</a:t>
            </a:r>
            <a:r>
              <a:rPr lang="en-GB" sz="1235" b="0" i="0" noProof="0" dirty="0">
                <a:solidFill>
                  <a:srgbClr val="333639"/>
                </a:solidFill>
                <a:latin typeface="Fira Sans"/>
              </a:rPr>
              <a:t>-cleaning robot example.</a:t>
            </a:r>
            <a:endParaRPr sz="1235" b="0" i="0" dirty="0">
              <a:solidFill>
                <a:srgbClr val="333639"/>
              </a:solidFill>
              <a:latin typeface="Fira Sans"/>
            </a:endParaRPr>
          </a:p>
        </p:txBody>
      </p:sp>
      <p:sp>
        <p:nvSpPr>
          <p:cNvPr id="9" name="Rectangle 8"/>
          <p:cNvSpPr/>
          <p:nvPr/>
        </p:nvSpPr>
        <p:spPr>
          <a:xfrm>
            <a:off x="841248" y="2338171"/>
            <a:ext cx="1691640" cy="267004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338171"/>
            <a:ext cx="1691640"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87552" y="2521051"/>
            <a:ext cx="1417320" cy="457200"/>
          </a:xfrm>
          <a:prstGeom prst="rect">
            <a:avLst/>
          </a:prstGeom>
          <a:noFill/>
        </p:spPr>
        <p:txBody>
          <a:bodyPr wrap="square" lIns="0" tIns="0" rIns="0" bIns="0" anchor="t">
            <a:noAutofit/>
          </a:bodyPr>
          <a:lstStyle/>
          <a:p>
            <a:pPr marL="0" indent="0" algn="l">
              <a:lnSpc>
                <a:spcPts val="2444"/>
              </a:lnSpc>
              <a:spcBef>
                <a:spcPts val="0"/>
              </a:spcBef>
              <a:spcAft>
                <a:spcPts val="0"/>
              </a:spcAft>
              <a:buNone/>
            </a:pPr>
            <a:r>
              <a:rPr sz="2444" b="1" i="0">
                <a:solidFill>
                  <a:srgbClr val="2B7A3E"/>
                </a:solidFill>
                <a:latin typeface="Fira Sans"/>
              </a:rPr>
              <a:t>P</a:t>
            </a:r>
          </a:p>
        </p:txBody>
      </p:sp>
      <p:sp>
        <p:nvSpPr>
          <p:cNvPr id="12" name="TextBox 11"/>
          <p:cNvSpPr txBox="1"/>
          <p:nvPr/>
        </p:nvSpPr>
        <p:spPr>
          <a:xfrm>
            <a:off x="987552" y="3014827"/>
            <a:ext cx="1417320" cy="360883"/>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Performance measure</a:t>
            </a:r>
          </a:p>
        </p:txBody>
      </p:sp>
      <p:sp>
        <p:nvSpPr>
          <p:cNvPr id="13" name="TextBox 12"/>
          <p:cNvSpPr txBox="1"/>
          <p:nvPr/>
        </p:nvSpPr>
        <p:spPr>
          <a:xfrm>
            <a:off x="987552" y="3435451"/>
            <a:ext cx="1417320" cy="796290"/>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626669"/>
                </a:solidFill>
                <a:latin typeface="Fira Sans"/>
              </a:rPr>
              <a:t>The externally defined criterion of success. Not what the agent does — what the world should look like.</a:t>
            </a:r>
          </a:p>
        </p:txBody>
      </p:sp>
      <p:sp>
        <p:nvSpPr>
          <p:cNvPr id="14" name="Rectangle 13"/>
          <p:cNvSpPr/>
          <p:nvPr/>
        </p:nvSpPr>
        <p:spPr>
          <a:xfrm>
            <a:off x="987552" y="4221835"/>
            <a:ext cx="1399032"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87552" y="4349851"/>
            <a:ext cx="1417320" cy="466587"/>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60">
                <a:solidFill>
                  <a:srgbClr val="2B7A3E"/>
                </a:solidFill>
                <a:latin typeface="Fira Sans"/>
              </a:rPr>
              <a:t>vacuum world  </a:t>
            </a:r>
          </a:p>
          <a:p>
            <a:pPr marL="0" indent="0" algn="l">
              <a:lnSpc>
                <a:spcPts val="1176"/>
              </a:lnSpc>
              <a:spcBef>
                <a:spcPts val="200"/>
              </a:spcBef>
              <a:spcAft>
                <a:spcPts val="0"/>
              </a:spcAft>
              <a:buNone/>
            </a:pPr>
            <a:r>
              <a:rPr sz="997" b="0" i="0">
                <a:solidFill>
                  <a:srgbClr val="333639"/>
                </a:solidFill>
                <a:latin typeface="Fira Sans"/>
              </a:rPr>
              <a:t>sustained cleanliness of both squares</a:t>
            </a:r>
          </a:p>
        </p:txBody>
      </p:sp>
      <p:sp>
        <p:nvSpPr>
          <p:cNvPr id="16" name="Rectangle 15"/>
          <p:cNvSpPr/>
          <p:nvPr/>
        </p:nvSpPr>
        <p:spPr>
          <a:xfrm>
            <a:off x="2633388" y="2338171"/>
            <a:ext cx="1691640" cy="267004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2633388" y="2338171"/>
            <a:ext cx="1691640"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779692" y="2521051"/>
            <a:ext cx="1417320" cy="457200"/>
          </a:xfrm>
          <a:prstGeom prst="rect">
            <a:avLst/>
          </a:prstGeom>
          <a:noFill/>
        </p:spPr>
        <p:txBody>
          <a:bodyPr wrap="square" lIns="0" tIns="0" rIns="0" bIns="0" anchor="t">
            <a:noAutofit/>
          </a:bodyPr>
          <a:lstStyle/>
          <a:p>
            <a:pPr marL="0" indent="0" algn="l">
              <a:lnSpc>
                <a:spcPts val="2444"/>
              </a:lnSpc>
              <a:spcBef>
                <a:spcPts val="0"/>
              </a:spcBef>
              <a:spcAft>
                <a:spcPts val="0"/>
              </a:spcAft>
              <a:buNone/>
            </a:pPr>
            <a:r>
              <a:rPr sz="2444" b="1" i="0">
                <a:solidFill>
                  <a:srgbClr val="574676"/>
                </a:solidFill>
                <a:latin typeface="Fira Sans"/>
              </a:rPr>
              <a:t>E</a:t>
            </a:r>
          </a:p>
        </p:txBody>
      </p:sp>
      <p:sp>
        <p:nvSpPr>
          <p:cNvPr id="19" name="TextBox 18"/>
          <p:cNvSpPr txBox="1"/>
          <p:nvPr/>
        </p:nvSpPr>
        <p:spPr>
          <a:xfrm>
            <a:off x="2779692" y="3014827"/>
            <a:ext cx="1417320" cy="198729"/>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Environment</a:t>
            </a:r>
          </a:p>
        </p:txBody>
      </p:sp>
      <p:sp>
        <p:nvSpPr>
          <p:cNvPr id="20" name="TextBox 19"/>
          <p:cNvSpPr txBox="1"/>
          <p:nvPr/>
        </p:nvSpPr>
        <p:spPr>
          <a:xfrm>
            <a:off x="2779692" y="3435451"/>
            <a:ext cx="1417320" cy="644347"/>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626669"/>
                </a:solidFill>
                <a:latin typeface="Fira Sans"/>
              </a:rPr>
              <a:t>Everything the agent acts in and perceives from, including other agents.</a:t>
            </a:r>
          </a:p>
        </p:txBody>
      </p:sp>
      <p:sp>
        <p:nvSpPr>
          <p:cNvPr id="21" name="Rectangle 20"/>
          <p:cNvSpPr/>
          <p:nvPr/>
        </p:nvSpPr>
        <p:spPr>
          <a:xfrm>
            <a:off x="2779692" y="4221835"/>
            <a:ext cx="1399032"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779692" y="4349851"/>
            <a:ext cx="1417320" cy="466587"/>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60">
                <a:solidFill>
                  <a:srgbClr val="574676"/>
                </a:solidFill>
                <a:latin typeface="Fira Sans"/>
              </a:rPr>
              <a:t>vacuum world  </a:t>
            </a:r>
          </a:p>
          <a:p>
            <a:pPr marL="0" indent="0" algn="l">
              <a:lnSpc>
                <a:spcPts val="1176"/>
              </a:lnSpc>
              <a:spcBef>
                <a:spcPts val="200"/>
              </a:spcBef>
              <a:spcAft>
                <a:spcPts val="0"/>
              </a:spcAft>
              <a:buNone/>
            </a:pPr>
            <a:r>
              <a:rPr sz="997" b="0" i="0">
                <a:solidFill>
                  <a:srgbClr val="333639"/>
                </a:solidFill>
                <a:latin typeface="Fira Sans"/>
              </a:rPr>
              <a:t>two squares A and B; dirt may reappear</a:t>
            </a:r>
          </a:p>
        </p:txBody>
      </p:sp>
      <p:sp>
        <p:nvSpPr>
          <p:cNvPr id="23" name="Rectangle 22"/>
          <p:cNvSpPr/>
          <p:nvPr/>
        </p:nvSpPr>
        <p:spPr>
          <a:xfrm>
            <a:off x="4425528" y="2338171"/>
            <a:ext cx="1691640" cy="267004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4425528" y="2338171"/>
            <a:ext cx="1691640"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571832" y="2521051"/>
            <a:ext cx="1417320" cy="457200"/>
          </a:xfrm>
          <a:prstGeom prst="rect">
            <a:avLst/>
          </a:prstGeom>
          <a:noFill/>
        </p:spPr>
        <p:txBody>
          <a:bodyPr wrap="square" lIns="0" tIns="0" rIns="0" bIns="0" anchor="t">
            <a:noAutofit/>
          </a:bodyPr>
          <a:lstStyle/>
          <a:p>
            <a:pPr marL="0" indent="0" algn="l">
              <a:lnSpc>
                <a:spcPts val="2444"/>
              </a:lnSpc>
              <a:spcBef>
                <a:spcPts val="0"/>
              </a:spcBef>
              <a:spcAft>
                <a:spcPts val="0"/>
              </a:spcAft>
              <a:buNone/>
            </a:pPr>
            <a:r>
              <a:rPr sz="2444" b="1" i="0">
                <a:solidFill>
                  <a:srgbClr val="8A5100"/>
                </a:solidFill>
                <a:latin typeface="Fira Sans"/>
              </a:rPr>
              <a:t>A</a:t>
            </a:r>
          </a:p>
        </p:txBody>
      </p:sp>
      <p:sp>
        <p:nvSpPr>
          <p:cNvPr id="26" name="TextBox 25"/>
          <p:cNvSpPr txBox="1"/>
          <p:nvPr/>
        </p:nvSpPr>
        <p:spPr>
          <a:xfrm>
            <a:off x="4571832" y="3014827"/>
            <a:ext cx="1417320" cy="198729"/>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Actuators</a:t>
            </a:r>
          </a:p>
        </p:txBody>
      </p:sp>
      <p:sp>
        <p:nvSpPr>
          <p:cNvPr id="27" name="TextBox 26"/>
          <p:cNvSpPr txBox="1"/>
          <p:nvPr/>
        </p:nvSpPr>
        <p:spPr>
          <a:xfrm>
            <a:off x="4571832" y="3435451"/>
            <a:ext cx="1417320" cy="49240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626669"/>
                </a:solidFill>
                <a:latin typeface="Fira Sans"/>
              </a:rPr>
              <a:t>The set of actions physically available to the agent.</a:t>
            </a:r>
          </a:p>
        </p:txBody>
      </p:sp>
      <p:sp>
        <p:nvSpPr>
          <p:cNvPr id="28" name="Rectangle 27"/>
          <p:cNvSpPr/>
          <p:nvPr/>
        </p:nvSpPr>
        <p:spPr>
          <a:xfrm>
            <a:off x="4571832" y="4221835"/>
            <a:ext cx="1399032"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571832" y="4349851"/>
            <a:ext cx="1417320" cy="466587"/>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60">
                <a:solidFill>
                  <a:srgbClr val="8A5100"/>
                </a:solidFill>
                <a:latin typeface="Fira Sans"/>
              </a:rPr>
              <a:t>vacuum world  </a:t>
            </a:r>
          </a:p>
          <a:p>
            <a:pPr marL="0" indent="0" algn="l">
              <a:lnSpc>
                <a:spcPts val="1176"/>
              </a:lnSpc>
              <a:spcBef>
                <a:spcPts val="200"/>
              </a:spcBef>
              <a:spcAft>
                <a:spcPts val="0"/>
              </a:spcAft>
              <a:buNone/>
            </a:pPr>
            <a:r>
              <a:rPr sz="997" b="0" i="0">
                <a:solidFill>
                  <a:srgbClr val="333639"/>
                </a:solidFill>
                <a:latin typeface="Fira Sans"/>
              </a:rPr>
              <a:t>left, right, suck, do nothing</a:t>
            </a:r>
          </a:p>
        </p:txBody>
      </p:sp>
      <p:sp>
        <p:nvSpPr>
          <p:cNvPr id="30" name="Rectangle 29"/>
          <p:cNvSpPr/>
          <p:nvPr/>
        </p:nvSpPr>
        <p:spPr>
          <a:xfrm>
            <a:off x="6192954" y="2338171"/>
            <a:ext cx="1691640" cy="267004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6192954" y="2338171"/>
            <a:ext cx="1691640"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339258" y="2521051"/>
            <a:ext cx="1417320" cy="457200"/>
          </a:xfrm>
          <a:prstGeom prst="rect">
            <a:avLst/>
          </a:prstGeom>
          <a:noFill/>
        </p:spPr>
        <p:txBody>
          <a:bodyPr wrap="square" lIns="0" tIns="0" rIns="0" bIns="0" anchor="t">
            <a:noAutofit/>
          </a:bodyPr>
          <a:lstStyle/>
          <a:p>
            <a:pPr marL="0" indent="0" algn="l">
              <a:lnSpc>
                <a:spcPts val="2444"/>
              </a:lnSpc>
              <a:spcBef>
                <a:spcPts val="0"/>
              </a:spcBef>
              <a:spcAft>
                <a:spcPts val="0"/>
              </a:spcAft>
              <a:buNone/>
            </a:pPr>
            <a:r>
              <a:rPr sz="2444" b="1" i="0">
                <a:solidFill>
                  <a:srgbClr val="C8102E"/>
                </a:solidFill>
                <a:latin typeface="Fira Sans"/>
              </a:rPr>
              <a:t>S</a:t>
            </a:r>
          </a:p>
        </p:txBody>
      </p:sp>
      <p:sp>
        <p:nvSpPr>
          <p:cNvPr id="33" name="TextBox 32"/>
          <p:cNvSpPr txBox="1"/>
          <p:nvPr/>
        </p:nvSpPr>
        <p:spPr>
          <a:xfrm>
            <a:off x="6339258" y="3014827"/>
            <a:ext cx="1417320" cy="198729"/>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Sensors</a:t>
            </a:r>
          </a:p>
        </p:txBody>
      </p:sp>
      <p:sp>
        <p:nvSpPr>
          <p:cNvPr id="34" name="TextBox 33"/>
          <p:cNvSpPr txBox="1"/>
          <p:nvPr/>
        </p:nvSpPr>
        <p:spPr>
          <a:xfrm>
            <a:off x="6339258" y="3435451"/>
            <a:ext cx="1417320" cy="644347"/>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626669"/>
                </a:solidFill>
                <a:latin typeface="Fira Sans"/>
              </a:rPr>
              <a:t>The channel through which percepts arrive; it bounds what the agent can ever know.</a:t>
            </a:r>
          </a:p>
        </p:txBody>
      </p:sp>
      <p:sp>
        <p:nvSpPr>
          <p:cNvPr id="35" name="Rectangle 34"/>
          <p:cNvSpPr/>
          <p:nvPr/>
        </p:nvSpPr>
        <p:spPr>
          <a:xfrm>
            <a:off x="6339258" y="4221835"/>
            <a:ext cx="1399032"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339258" y="4349851"/>
            <a:ext cx="1417320" cy="466587"/>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60">
                <a:solidFill>
                  <a:srgbClr val="C8102E"/>
                </a:solidFill>
                <a:latin typeface="Fira Sans"/>
              </a:rPr>
              <a:t>vacuum world  </a:t>
            </a:r>
          </a:p>
          <a:p>
            <a:pPr marL="0" indent="0" algn="l">
              <a:lnSpc>
                <a:spcPts val="1176"/>
              </a:lnSpc>
              <a:spcBef>
                <a:spcPts val="200"/>
              </a:spcBef>
              <a:spcAft>
                <a:spcPts val="0"/>
              </a:spcAft>
              <a:buNone/>
            </a:pPr>
            <a:r>
              <a:rPr sz="997" b="0" i="0">
                <a:solidFill>
                  <a:srgbClr val="333639"/>
                </a:solidFill>
                <a:latin typeface="Fira Sans"/>
              </a:rPr>
              <a:t>location sensor + dirt detector</a:t>
            </a:r>
          </a:p>
        </p:txBody>
      </p:sp>
      <p:sp>
        <p:nvSpPr>
          <p:cNvPr id="37" name="TextBox 36"/>
          <p:cNvSpPr txBox="1"/>
          <p:nvPr/>
        </p:nvSpPr>
        <p:spPr>
          <a:xfrm>
            <a:off x="857432" y="533497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WARNING</a:t>
            </a:r>
            <a:r>
              <a:rPr lang="it-IT" sz="931" b="1" i="0" spc="120" dirty="0">
                <a:solidFill>
                  <a:srgbClr val="574676"/>
                </a:solidFill>
                <a:latin typeface="Fira Sans"/>
              </a:rPr>
              <a:t>!</a:t>
            </a:r>
            <a:endParaRPr sz="931" b="1" i="0" spc="120" dirty="0">
              <a:solidFill>
                <a:srgbClr val="574676"/>
              </a:solidFill>
              <a:latin typeface="Fira Sans"/>
            </a:endParaRPr>
          </a:p>
        </p:txBody>
      </p:sp>
      <p:sp>
        <p:nvSpPr>
          <p:cNvPr id="38" name="Rectangle 37"/>
          <p:cNvSpPr/>
          <p:nvPr/>
        </p:nvSpPr>
        <p:spPr>
          <a:xfrm>
            <a:off x="841248" y="5483707"/>
            <a:ext cx="6932980" cy="791870"/>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841248" y="5483707"/>
            <a:ext cx="41148" cy="79187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060704" y="5630011"/>
            <a:ext cx="6548932"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The performance measure is written by the </a:t>
            </a:r>
            <a:r>
              <a:rPr sz="1092" b="1" i="0" dirty="0">
                <a:solidFill>
                  <a:srgbClr val="333639"/>
                </a:solidFill>
                <a:latin typeface="Fira Sans"/>
              </a:rPr>
              <a:t>designer</a:t>
            </a:r>
            <a:r>
              <a:rPr sz="1092" b="0" i="0" dirty="0">
                <a:solidFill>
                  <a:srgbClr val="333639"/>
                </a:solidFill>
                <a:latin typeface="Fira Sans"/>
              </a:rPr>
              <a:t>, not by the agent. Everything that follows — goals, utilities, rewards — is an attempt to make the agent pursue it. If it is specified badly, </a:t>
            </a:r>
            <a:r>
              <a:rPr sz="1092" b="1" i="0" dirty="0">
                <a:solidFill>
                  <a:srgbClr val="333639"/>
                </a:solidFill>
                <a:latin typeface="Fira Sans"/>
              </a:rPr>
              <a:t>a perfectly rational agent will pursue the wrong thing, perfectly.</a:t>
            </a:r>
          </a:p>
        </p:txBody>
      </p:sp>
      <p:sp>
        <p:nvSpPr>
          <p:cNvPr id="41" name="TextBox 40"/>
          <p:cNvSpPr txBox="1"/>
          <p:nvPr/>
        </p:nvSpPr>
        <p:spPr>
          <a:xfrm>
            <a:off x="8015643" y="1653508"/>
            <a:ext cx="335977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25282A"/>
                </a:solidFill>
                <a:latin typeface="Fira Sans"/>
              </a:rPr>
              <a:t>WORKED EXAMPLE</a:t>
            </a:r>
          </a:p>
        </p:txBody>
      </p:sp>
      <p:sp>
        <p:nvSpPr>
          <p:cNvPr id="42" name="TextBox 41"/>
          <p:cNvSpPr txBox="1"/>
          <p:nvPr/>
        </p:nvSpPr>
        <p:spPr>
          <a:xfrm>
            <a:off x="8015643" y="1872964"/>
            <a:ext cx="3359779" cy="274320"/>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lang="en-GB" sz="1410" b="1" i="0" noProof="0" dirty="0">
                <a:solidFill>
                  <a:srgbClr val="25282A"/>
                </a:solidFill>
                <a:latin typeface="Fira Sans"/>
              </a:rPr>
              <a:t>Vacuum-cleaning robot</a:t>
            </a:r>
          </a:p>
        </p:txBody>
      </p:sp>
      <p:sp>
        <p:nvSpPr>
          <p:cNvPr id="43" name="TextBox 42"/>
          <p:cNvSpPr txBox="1"/>
          <p:nvPr/>
        </p:nvSpPr>
        <p:spPr>
          <a:xfrm>
            <a:off x="7990973" y="4094061"/>
            <a:ext cx="27432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B7A3E"/>
                </a:solidFill>
                <a:latin typeface="Fira Sans"/>
              </a:rPr>
              <a:t>P</a:t>
            </a:r>
          </a:p>
        </p:txBody>
      </p:sp>
      <p:sp>
        <p:nvSpPr>
          <p:cNvPr id="44" name="TextBox 43"/>
          <p:cNvSpPr txBox="1"/>
          <p:nvPr/>
        </p:nvSpPr>
        <p:spPr>
          <a:xfrm>
            <a:off x="8320157" y="4063554"/>
            <a:ext cx="3030595" cy="390397"/>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lang="en-GB" sz="1092" b="0" i="0" noProof="0" dirty="0">
                <a:solidFill>
                  <a:srgbClr val="333639"/>
                </a:solidFill>
                <a:latin typeface="Fira Sans"/>
              </a:rPr>
              <a:t>Percentage of floor area cleaned successfully</a:t>
            </a:r>
          </a:p>
        </p:txBody>
      </p:sp>
      <p:sp>
        <p:nvSpPr>
          <p:cNvPr id="45" name="TextBox 44"/>
          <p:cNvSpPr txBox="1"/>
          <p:nvPr/>
        </p:nvSpPr>
        <p:spPr>
          <a:xfrm>
            <a:off x="7990973" y="4322150"/>
            <a:ext cx="27432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574676"/>
                </a:solidFill>
                <a:latin typeface="Fira Sans"/>
              </a:rPr>
              <a:t>E</a:t>
            </a:r>
          </a:p>
        </p:txBody>
      </p:sp>
      <p:sp>
        <p:nvSpPr>
          <p:cNvPr id="46" name="TextBox 45"/>
          <p:cNvSpPr txBox="1"/>
          <p:nvPr/>
        </p:nvSpPr>
        <p:spPr>
          <a:xfrm>
            <a:off x="8320157" y="4322150"/>
            <a:ext cx="3030595" cy="218058"/>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lang="en-GB" sz="1092" b="0" i="0" noProof="0" dirty="0">
                <a:solidFill>
                  <a:srgbClr val="333639"/>
                </a:solidFill>
                <a:latin typeface="Fira Sans"/>
              </a:rPr>
              <a:t>Rooms with floors, furniture, obstacles, and dirt</a:t>
            </a:r>
          </a:p>
        </p:txBody>
      </p:sp>
      <p:sp>
        <p:nvSpPr>
          <p:cNvPr id="47" name="TextBox 46"/>
          <p:cNvSpPr txBox="1"/>
          <p:nvPr/>
        </p:nvSpPr>
        <p:spPr>
          <a:xfrm>
            <a:off x="7990973" y="4569925"/>
            <a:ext cx="27432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8A5100"/>
                </a:solidFill>
                <a:latin typeface="Fira Sans"/>
              </a:rPr>
              <a:t>A</a:t>
            </a:r>
          </a:p>
        </p:txBody>
      </p:sp>
      <p:sp>
        <p:nvSpPr>
          <p:cNvPr id="48" name="TextBox 47"/>
          <p:cNvSpPr txBox="1"/>
          <p:nvPr/>
        </p:nvSpPr>
        <p:spPr>
          <a:xfrm>
            <a:off x="8320157" y="4569925"/>
            <a:ext cx="3030595" cy="218058"/>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lang="en-GB" sz="1092" b="0" i="0" noProof="0" dirty="0">
                <a:solidFill>
                  <a:srgbClr val="333639"/>
                </a:solidFill>
                <a:latin typeface="Fira Sans"/>
              </a:rPr>
              <a:t>Wheels, brushes, and vacuum motor</a:t>
            </a:r>
          </a:p>
        </p:txBody>
      </p:sp>
      <p:sp>
        <p:nvSpPr>
          <p:cNvPr id="49" name="TextBox 48"/>
          <p:cNvSpPr txBox="1"/>
          <p:nvPr/>
        </p:nvSpPr>
        <p:spPr>
          <a:xfrm>
            <a:off x="7990973" y="4863934"/>
            <a:ext cx="27432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C8102E"/>
                </a:solidFill>
                <a:latin typeface="Fira Sans"/>
              </a:rPr>
              <a:t>S</a:t>
            </a:r>
          </a:p>
        </p:txBody>
      </p:sp>
      <p:sp>
        <p:nvSpPr>
          <p:cNvPr id="50" name="TextBox 49"/>
          <p:cNvSpPr txBox="1"/>
          <p:nvPr/>
        </p:nvSpPr>
        <p:spPr>
          <a:xfrm>
            <a:off x="8320157" y="4863934"/>
            <a:ext cx="3030595" cy="218058"/>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lang="en-GB" sz="1092" b="0" i="0" noProof="0" dirty="0">
                <a:solidFill>
                  <a:srgbClr val="333639"/>
                </a:solidFill>
                <a:latin typeface="Fira Sans"/>
              </a:rPr>
              <a:t>Camera, proximity, bump, and dirt sensors</a:t>
            </a:r>
          </a:p>
        </p:txBody>
      </p:sp>
      <p:sp>
        <p:nvSpPr>
          <p:cNvPr id="51" name="Rectangle 50"/>
          <p:cNvSpPr/>
          <p:nvPr/>
        </p:nvSpPr>
        <p:spPr>
          <a:xfrm>
            <a:off x="7990973" y="5300827"/>
            <a:ext cx="335977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Rectangle 51"/>
          <p:cNvSpPr/>
          <p:nvPr/>
        </p:nvSpPr>
        <p:spPr>
          <a:xfrm>
            <a:off x="7990973" y="5483707"/>
            <a:ext cx="3359779" cy="77038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7974495" y="5483707"/>
            <a:ext cx="41148" cy="770382"/>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8210429" y="5630011"/>
            <a:ext cx="2975731"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The same task admits many </a:t>
            </a:r>
            <a:r>
              <a:rPr lang="en-GB" sz="1045" b="0" i="0" noProof="0" dirty="0">
                <a:solidFill>
                  <a:srgbClr val="333639"/>
                </a:solidFill>
                <a:latin typeface="Fira Sans"/>
              </a:rPr>
              <a:t>solutions</a:t>
            </a:r>
            <a:r>
              <a:rPr lang="en-GB" sz="1045" noProof="0" dirty="0">
                <a:solidFill>
                  <a:srgbClr val="333639"/>
                </a:solidFill>
                <a:latin typeface="Fira Sans"/>
              </a:rPr>
              <a:t>,</a:t>
            </a:r>
            <a:r>
              <a:rPr sz="1045" b="0" i="0" dirty="0">
                <a:solidFill>
                  <a:srgbClr val="333639"/>
                </a:solidFill>
                <a:latin typeface="Fira Sans"/>
              </a:rPr>
              <a:t> but only one PEAS description. Fixing PEAS first is what makes two designs comparable.</a:t>
            </a:r>
          </a:p>
        </p:txBody>
      </p:sp>
      <p:pic>
        <p:nvPicPr>
          <p:cNvPr id="55" name="Picture 8" descr="vacuum_world_table.png">
            <a:extLst>
              <a:ext uri="{FF2B5EF4-FFF2-40B4-BE49-F238E27FC236}">
                <a16:creationId xmlns:a16="http://schemas.microsoft.com/office/drawing/2014/main" id="{6EBE40A8-10FB-28FE-A950-2D5C84A1DC40}"/>
              </a:ext>
            </a:extLst>
          </p:cNvPr>
          <p:cNvPicPr>
            <a:picLocks noChangeAspect="1"/>
          </p:cNvPicPr>
          <p:nvPr/>
        </p:nvPicPr>
        <p:blipFill>
          <a:blip r:embed="rId2"/>
          <a:srcRect t="10148" r="38106" b="4046"/>
          <a:stretch>
            <a:fillRect/>
          </a:stretch>
        </p:blipFill>
        <p:spPr>
          <a:xfrm>
            <a:off x="8008971" y="2079161"/>
            <a:ext cx="3579853" cy="18786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1.3  PEAS IN PRACTICE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Five agent types, five task specifications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 — Agents and environments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Read each row left to right: the measure fixes what success means, and the last two columns fix what the agent can physically do and know. Notice how different the sensor and actuator channels are, while the structure of the description never changes.</a:t>
            </a:r>
          </a:p>
        </p:txBody>
      </p:sp>
      <p:sp>
        <p:nvSpPr>
          <p:cNvPr id="9" name="Rectangle 8"/>
          <p:cNvSpPr/>
          <p:nvPr/>
        </p:nvSpPr>
        <p:spPr>
          <a:xfrm>
            <a:off x="841248" y="1937181"/>
            <a:ext cx="10515600" cy="27879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32688" y="1999360"/>
            <a:ext cx="1645920" cy="154431"/>
          </a:xfrm>
          <a:prstGeom prst="rect">
            <a:avLst/>
          </a:prstGeom>
          <a:noFill/>
        </p:spPr>
        <p:txBody>
          <a:bodyPr wrap="square" lIns="0" tIns="0" rIns="0" bIns="0" anchor="ctr">
            <a:noAutofit/>
          </a:bodyPr>
          <a:lstStyle/>
          <a:p>
            <a:pPr marL="0" indent="0" algn="l">
              <a:lnSpc>
                <a:spcPts val="1045"/>
              </a:lnSpc>
              <a:spcBef>
                <a:spcPts val="0"/>
              </a:spcBef>
              <a:spcAft>
                <a:spcPts val="0"/>
              </a:spcAft>
              <a:buNone/>
            </a:pPr>
            <a:r>
              <a:rPr sz="950" b="1" i="0" spc="60">
                <a:solidFill>
                  <a:srgbClr val="FFFFFF"/>
                </a:solidFill>
                <a:latin typeface="Fira Sans"/>
              </a:rPr>
              <a:t>Agent type</a:t>
            </a:r>
          </a:p>
        </p:txBody>
      </p:sp>
      <p:sp>
        <p:nvSpPr>
          <p:cNvPr id="11" name="TextBox 10"/>
          <p:cNvSpPr txBox="1"/>
          <p:nvPr/>
        </p:nvSpPr>
        <p:spPr>
          <a:xfrm>
            <a:off x="2761488" y="1999360"/>
            <a:ext cx="2029967" cy="154431"/>
          </a:xfrm>
          <a:prstGeom prst="rect">
            <a:avLst/>
          </a:prstGeom>
          <a:noFill/>
        </p:spPr>
        <p:txBody>
          <a:bodyPr wrap="square" lIns="0" tIns="0" rIns="0" bIns="0" anchor="ctr">
            <a:noAutofit/>
          </a:bodyPr>
          <a:lstStyle/>
          <a:p>
            <a:pPr marL="0" indent="0" algn="l">
              <a:lnSpc>
                <a:spcPts val="1045"/>
              </a:lnSpc>
              <a:spcBef>
                <a:spcPts val="0"/>
              </a:spcBef>
              <a:spcAft>
                <a:spcPts val="0"/>
              </a:spcAft>
              <a:buNone/>
            </a:pPr>
            <a:r>
              <a:rPr sz="950" b="1" i="0" spc="60">
                <a:solidFill>
                  <a:srgbClr val="FFFFFF"/>
                </a:solidFill>
                <a:latin typeface="Fira Sans"/>
              </a:rPr>
              <a:t>Performance measure</a:t>
            </a:r>
          </a:p>
        </p:txBody>
      </p:sp>
      <p:sp>
        <p:nvSpPr>
          <p:cNvPr id="12" name="TextBox 11"/>
          <p:cNvSpPr txBox="1"/>
          <p:nvPr/>
        </p:nvSpPr>
        <p:spPr>
          <a:xfrm>
            <a:off x="4974336" y="1999360"/>
            <a:ext cx="1773936" cy="154431"/>
          </a:xfrm>
          <a:prstGeom prst="rect">
            <a:avLst/>
          </a:prstGeom>
          <a:noFill/>
        </p:spPr>
        <p:txBody>
          <a:bodyPr wrap="square" lIns="0" tIns="0" rIns="0" bIns="0" anchor="ctr">
            <a:noAutofit/>
          </a:bodyPr>
          <a:lstStyle/>
          <a:p>
            <a:pPr marL="0" indent="0" algn="l">
              <a:lnSpc>
                <a:spcPts val="1045"/>
              </a:lnSpc>
              <a:spcBef>
                <a:spcPts val="0"/>
              </a:spcBef>
              <a:spcAft>
                <a:spcPts val="0"/>
              </a:spcAft>
              <a:buNone/>
            </a:pPr>
            <a:r>
              <a:rPr sz="950" b="1" i="0" spc="60">
                <a:solidFill>
                  <a:srgbClr val="FFFFFF"/>
                </a:solidFill>
                <a:latin typeface="Fira Sans"/>
              </a:rPr>
              <a:t>Environment</a:t>
            </a:r>
          </a:p>
        </p:txBody>
      </p:sp>
      <p:sp>
        <p:nvSpPr>
          <p:cNvPr id="13" name="TextBox 12"/>
          <p:cNvSpPr txBox="1"/>
          <p:nvPr/>
        </p:nvSpPr>
        <p:spPr>
          <a:xfrm>
            <a:off x="6931152" y="1999360"/>
            <a:ext cx="2432303" cy="154431"/>
          </a:xfrm>
          <a:prstGeom prst="rect">
            <a:avLst/>
          </a:prstGeom>
          <a:noFill/>
        </p:spPr>
        <p:txBody>
          <a:bodyPr wrap="square" lIns="0" tIns="0" rIns="0" bIns="0" anchor="ctr">
            <a:noAutofit/>
          </a:bodyPr>
          <a:lstStyle/>
          <a:p>
            <a:pPr marL="0" indent="0" algn="l">
              <a:lnSpc>
                <a:spcPts val="1045"/>
              </a:lnSpc>
              <a:spcBef>
                <a:spcPts val="0"/>
              </a:spcBef>
              <a:spcAft>
                <a:spcPts val="0"/>
              </a:spcAft>
              <a:buNone/>
            </a:pPr>
            <a:r>
              <a:rPr sz="950" b="1" i="0" spc="60">
                <a:solidFill>
                  <a:srgbClr val="FFFFFF"/>
                </a:solidFill>
                <a:latin typeface="Fira Sans"/>
              </a:rPr>
              <a:t>Actuators</a:t>
            </a:r>
          </a:p>
        </p:txBody>
      </p:sp>
      <p:sp>
        <p:nvSpPr>
          <p:cNvPr id="14" name="TextBox 13"/>
          <p:cNvSpPr txBox="1"/>
          <p:nvPr/>
        </p:nvSpPr>
        <p:spPr>
          <a:xfrm>
            <a:off x="9546336" y="1999360"/>
            <a:ext cx="2295144" cy="154431"/>
          </a:xfrm>
          <a:prstGeom prst="rect">
            <a:avLst/>
          </a:prstGeom>
          <a:noFill/>
        </p:spPr>
        <p:txBody>
          <a:bodyPr wrap="square" lIns="0" tIns="0" rIns="0" bIns="0" anchor="ctr">
            <a:noAutofit/>
          </a:bodyPr>
          <a:lstStyle/>
          <a:p>
            <a:pPr marL="0" indent="0" algn="l">
              <a:lnSpc>
                <a:spcPts val="1045"/>
              </a:lnSpc>
              <a:spcBef>
                <a:spcPts val="0"/>
              </a:spcBef>
              <a:spcAft>
                <a:spcPts val="0"/>
              </a:spcAft>
              <a:buNone/>
            </a:pPr>
            <a:r>
              <a:rPr sz="950" b="1" i="0" spc="60">
                <a:solidFill>
                  <a:srgbClr val="FFFFFF"/>
                </a:solidFill>
                <a:latin typeface="Fira Sans"/>
              </a:rPr>
              <a:t>Sensors</a:t>
            </a:r>
          </a:p>
        </p:txBody>
      </p:sp>
      <p:sp>
        <p:nvSpPr>
          <p:cNvPr id="15" name="TextBox 14"/>
          <p:cNvSpPr txBox="1"/>
          <p:nvPr/>
        </p:nvSpPr>
        <p:spPr>
          <a:xfrm>
            <a:off x="932688" y="2278151"/>
            <a:ext cx="1645920"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Medical diagnosis system</a:t>
            </a:r>
          </a:p>
        </p:txBody>
      </p:sp>
      <p:sp>
        <p:nvSpPr>
          <p:cNvPr id="16" name="TextBox 15"/>
          <p:cNvSpPr txBox="1"/>
          <p:nvPr/>
        </p:nvSpPr>
        <p:spPr>
          <a:xfrm>
            <a:off x="2761488" y="2278151"/>
            <a:ext cx="2029967"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Healthy patient, reduced costs</a:t>
            </a:r>
          </a:p>
        </p:txBody>
      </p:sp>
      <p:sp>
        <p:nvSpPr>
          <p:cNvPr id="17" name="TextBox 16"/>
          <p:cNvSpPr txBox="1"/>
          <p:nvPr/>
        </p:nvSpPr>
        <p:spPr>
          <a:xfrm>
            <a:off x="4974336" y="2278151"/>
            <a:ext cx="177393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Patient, hospital, staff</a:t>
            </a:r>
          </a:p>
        </p:txBody>
      </p:sp>
      <p:sp>
        <p:nvSpPr>
          <p:cNvPr id="18" name="TextBox 17"/>
          <p:cNvSpPr txBox="1"/>
          <p:nvPr/>
        </p:nvSpPr>
        <p:spPr>
          <a:xfrm>
            <a:off x="6931152" y="2278151"/>
            <a:ext cx="2432303"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Questions, tests, diagnoses, treatments</a:t>
            </a:r>
          </a:p>
        </p:txBody>
      </p:sp>
      <p:sp>
        <p:nvSpPr>
          <p:cNvPr id="19" name="TextBox 18"/>
          <p:cNvSpPr txBox="1"/>
          <p:nvPr/>
        </p:nvSpPr>
        <p:spPr>
          <a:xfrm>
            <a:off x="9546336" y="2278151"/>
            <a:ext cx="180441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Touchscreen / voice entry o</a:t>
            </a:r>
            <a:r>
              <a:rPr lang="en-GB" sz="997" noProof="0" dirty="0">
                <a:solidFill>
                  <a:srgbClr val="333639"/>
                </a:solidFill>
                <a:latin typeface="Fira Sans"/>
              </a:rPr>
              <a:t>f</a:t>
            </a:r>
            <a:r>
              <a:rPr lang="it-IT" sz="997" dirty="0">
                <a:solidFill>
                  <a:srgbClr val="333639"/>
                </a:solidFill>
                <a:latin typeface="Fira Sans"/>
              </a:rPr>
              <a:t> </a:t>
            </a:r>
            <a:r>
              <a:rPr sz="997" b="0" i="0" dirty="0">
                <a:solidFill>
                  <a:srgbClr val="333639"/>
                </a:solidFill>
                <a:latin typeface="Fira Sans"/>
              </a:rPr>
              <a:t>symptoms and findings</a:t>
            </a:r>
          </a:p>
        </p:txBody>
      </p:sp>
      <p:sp>
        <p:nvSpPr>
          <p:cNvPr id="20" name="Rectangle 19"/>
          <p:cNvSpPr/>
          <p:nvPr/>
        </p:nvSpPr>
        <p:spPr>
          <a:xfrm>
            <a:off x="841248" y="266208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2667568"/>
            <a:ext cx="10515600" cy="45159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32688" y="2729748"/>
            <a:ext cx="1645920"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Satellite image analysis</a:t>
            </a:r>
          </a:p>
        </p:txBody>
      </p:sp>
      <p:sp>
        <p:nvSpPr>
          <p:cNvPr id="23" name="TextBox 22"/>
          <p:cNvSpPr txBox="1"/>
          <p:nvPr/>
        </p:nvSpPr>
        <p:spPr>
          <a:xfrm>
            <a:off x="2761488" y="2729748"/>
            <a:ext cx="2029967"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Correct categorization of objects, terrain</a:t>
            </a:r>
          </a:p>
        </p:txBody>
      </p:sp>
      <p:sp>
        <p:nvSpPr>
          <p:cNvPr id="24" name="TextBox 23"/>
          <p:cNvSpPr txBox="1"/>
          <p:nvPr/>
        </p:nvSpPr>
        <p:spPr>
          <a:xfrm>
            <a:off x="4974336" y="2729748"/>
            <a:ext cx="177393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Orbiting satellite, downlink, weather</a:t>
            </a:r>
          </a:p>
        </p:txBody>
      </p:sp>
      <p:sp>
        <p:nvSpPr>
          <p:cNvPr id="25" name="TextBox 24"/>
          <p:cNvSpPr txBox="1"/>
          <p:nvPr/>
        </p:nvSpPr>
        <p:spPr>
          <a:xfrm>
            <a:off x="6931152" y="2729748"/>
            <a:ext cx="2432303"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Display of scene categorization</a:t>
            </a:r>
          </a:p>
        </p:txBody>
      </p:sp>
      <p:sp>
        <p:nvSpPr>
          <p:cNvPr id="26" name="TextBox 25"/>
          <p:cNvSpPr txBox="1"/>
          <p:nvPr/>
        </p:nvSpPr>
        <p:spPr>
          <a:xfrm>
            <a:off x="9546336" y="2729748"/>
            <a:ext cx="180441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High-resolution digital camera</a:t>
            </a:r>
          </a:p>
        </p:txBody>
      </p:sp>
      <p:sp>
        <p:nvSpPr>
          <p:cNvPr id="27" name="Rectangle 26"/>
          <p:cNvSpPr/>
          <p:nvPr/>
        </p:nvSpPr>
        <p:spPr>
          <a:xfrm>
            <a:off x="841248" y="311367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32688" y="3181344"/>
            <a:ext cx="1645920"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Part-picking robot</a:t>
            </a:r>
          </a:p>
        </p:txBody>
      </p:sp>
      <p:sp>
        <p:nvSpPr>
          <p:cNvPr id="29" name="TextBox 28"/>
          <p:cNvSpPr txBox="1"/>
          <p:nvPr/>
        </p:nvSpPr>
        <p:spPr>
          <a:xfrm>
            <a:off x="2761488" y="3181344"/>
            <a:ext cx="2029967"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Percentage of parts in correct bins</a:t>
            </a:r>
          </a:p>
        </p:txBody>
      </p:sp>
      <p:sp>
        <p:nvSpPr>
          <p:cNvPr id="30" name="TextBox 29"/>
          <p:cNvSpPr txBox="1"/>
          <p:nvPr/>
        </p:nvSpPr>
        <p:spPr>
          <a:xfrm>
            <a:off x="4974336" y="3181344"/>
            <a:ext cx="177393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Conveyor belt with parts; bins</a:t>
            </a:r>
          </a:p>
        </p:txBody>
      </p:sp>
      <p:sp>
        <p:nvSpPr>
          <p:cNvPr id="31" name="TextBox 30"/>
          <p:cNvSpPr txBox="1"/>
          <p:nvPr/>
        </p:nvSpPr>
        <p:spPr>
          <a:xfrm>
            <a:off x="6931152" y="3181344"/>
            <a:ext cx="2432303"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Jointed arm and hand</a:t>
            </a:r>
          </a:p>
        </p:txBody>
      </p:sp>
      <p:sp>
        <p:nvSpPr>
          <p:cNvPr id="32" name="TextBox 31"/>
          <p:cNvSpPr txBox="1"/>
          <p:nvPr/>
        </p:nvSpPr>
        <p:spPr>
          <a:xfrm>
            <a:off x="9546336" y="3181344"/>
            <a:ext cx="180441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Camera, tactile and joint-angle </a:t>
            </a:r>
            <a:endParaRPr lang="it-IT" sz="997" b="0" i="0" dirty="0">
              <a:solidFill>
                <a:srgbClr val="333639"/>
              </a:solidFill>
              <a:latin typeface="Fira Sans"/>
            </a:endParaRPr>
          </a:p>
          <a:p>
            <a:pPr marL="0" indent="0" algn="l">
              <a:lnSpc>
                <a:spcPts val="1196"/>
              </a:lnSpc>
              <a:spcBef>
                <a:spcPts val="0"/>
              </a:spcBef>
              <a:spcAft>
                <a:spcPts val="0"/>
              </a:spcAft>
              <a:buNone/>
            </a:pPr>
            <a:r>
              <a:rPr sz="997" b="0" i="0" dirty="0">
                <a:solidFill>
                  <a:srgbClr val="333639"/>
                </a:solidFill>
                <a:latin typeface="Fira Sans"/>
              </a:rPr>
              <a:t>sensors</a:t>
            </a:r>
          </a:p>
        </p:txBody>
      </p:sp>
      <p:sp>
        <p:nvSpPr>
          <p:cNvPr id="33" name="Rectangle 32"/>
          <p:cNvSpPr/>
          <p:nvPr/>
        </p:nvSpPr>
        <p:spPr>
          <a:xfrm>
            <a:off x="841248" y="356527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841248" y="3570762"/>
            <a:ext cx="10515600" cy="45159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932688" y="3632941"/>
            <a:ext cx="1645920"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Refinery controller</a:t>
            </a:r>
          </a:p>
        </p:txBody>
      </p:sp>
      <p:sp>
        <p:nvSpPr>
          <p:cNvPr id="36" name="TextBox 35"/>
          <p:cNvSpPr txBox="1"/>
          <p:nvPr/>
        </p:nvSpPr>
        <p:spPr>
          <a:xfrm>
            <a:off x="2761488" y="3632941"/>
            <a:ext cx="2029967"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Purity, yield, safety</a:t>
            </a:r>
          </a:p>
        </p:txBody>
      </p:sp>
      <p:sp>
        <p:nvSpPr>
          <p:cNvPr id="37" name="TextBox 36"/>
          <p:cNvSpPr txBox="1"/>
          <p:nvPr/>
        </p:nvSpPr>
        <p:spPr>
          <a:xfrm>
            <a:off x="4974336" y="3632941"/>
            <a:ext cx="177393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Refinery, raw materials, operators</a:t>
            </a:r>
          </a:p>
        </p:txBody>
      </p:sp>
      <p:sp>
        <p:nvSpPr>
          <p:cNvPr id="38" name="TextBox 37"/>
          <p:cNvSpPr txBox="1"/>
          <p:nvPr/>
        </p:nvSpPr>
        <p:spPr>
          <a:xfrm>
            <a:off x="6931152" y="3632941"/>
            <a:ext cx="2432303"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Valves, pumps, heaters, stirrers, displays</a:t>
            </a:r>
          </a:p>
        </p:txBody>
      </p:sp>
      <p:sp>
        <p:nvSpPr>
          <p:cNvPr id="39" name="TextBox 38"/>
          <p:cNvSpPr txBox="1"/>
          <p:nvPr/>
        </p:nvSpPr>
        <p:spPr>
          <a:xfrm>
            <a:off x="9546336" y="3632941"/>
            <a:ext cx="180441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Temperature, pressure, flow, </a:t>
            </a:r>
            <a:endParaRPr lang="it-IT" sz="997" b="0" i="0" dirty="0">
              <a:solidFill>
                <a:srgbClr val="333639"/>
              </a:solidFill>
              <a:latin typeface="Fira Sans"/>
            </a:endParaRPr>
          </a:p>
          <a:p>
            <a:pPr marL="0" indent="0" algn="l">
              <a:lnSpc>
                <a:spcPts val="1196"/>
              </a:lnSpc>
              <a:spcBef>
                <a:spcPts val="0"/>
              </a:spcBef>
              <a:spcAft>
                <a:spcPts val="0"/>
              </a:spcAft>
              <a:buNone/>
            </a:pPr>
            <a:r>
              <a:rPr sz="997" b="0" i="0" dirty="0">
                <a:solidFill>
                  <a:srgbClr val="333639"/>
                </a:solidFill>
                <a:latin typeface="Fira Sans"/>
              </a:rPr>
              <a:t>chemical sensors</a:t>
            </a:r>
          </a:p>
        </p:txBody>
      </p:sp>
      <p:sp>
        <p:nvSpPr>
          <p:cNvPr id="40" name="Rectangle 39"/>
          <p:cNvSpPr/>
          <p:nvPr/>
        </p:nvSpPr>
        <p:spPr>
          <a:xfrm>
            <a:off x="841248" y="401687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932688" y="4084538"/>
            <a:ext cx="1645920"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Interactive English tutor</a:t>
            </a:r>
          </a:p>
        </p:txBody>
      </p:sp>
      <p:sp>
        <p:nvSpPr>
          <p:cNvPr id="42" name="TextBox 41"/>
          <p:cNvSpPr txBox="1"/>
          <p:nvPr/>
        </p:nvSpPr>
        <p:spPr>
          <a:xfrm>
            <a:off x="2761488" y="4084538"/>
            <a:ext cx="2029967"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Student’s score on test</a:t>
            </a:r>
          </a:p>
        </p:txBody>
      </p:sp>
      <p:sp>
        <p:nvSpPr>
          <p:cNvPr id="43" name="TextBox 42"/>
          <p:cNvSpPr txBox="1"/>
          <p:nvPr/>
        </p:nvSpPr>
        <p:spPr>
          <a:xfrm>
            <a:off x="4974336" y="4084538"/>
            <a:ext cx="177393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Set of students, testing agency</a:t>
            </a:r>
          </a:p>
        </p:txBody>
      </p:sp>
      <p:sp>
        <p:nvSpPr>
          <p:cNvPr id="44" name="TextBox 43"/>
          <p:cNvSpPr txBox="1"/>
          <p:nvPr/>
        </p:nvSpPr>
        <p:spPr>
          <a:xfrm>
            <a:off x="6931152" y="4084538"/>
            <a:ext cx="2432303"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Exercises, feedback, speech</a:t>
            </a:r>
          </a:p>
        </p:txBody>
      </p:sp>
      <p:sp>
        <p:nvSpPr>
          <p:cNvPr id="45" name="TextBox 44"/>
          <p:cNvSpPr txBox="1"/>
          <p:nvPr/>
        </p:nvSpPr>
        <p:spPr>
          <a:xfrm>
            <a:off x="9546336" y="4084538"/>
            <a:ext cx="180441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Keyboard entry, voice</a:t>
            </a:r>
          </a:p>
        </p:txBody>
      </p:sp>
      <p:sp>
        <p:nvSpPr>
          <p:cNvPr id="46" name="Rectangle 45"/>
          <p:cNvSpPr/>
          <p:nvPr/>
        </p:nvSpPr>
        <p:spPr>
          <a:xfrm>
            <a:off x="841248" y="446846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41248" y="471170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THREE THINGS TO NOTICE</a:t>
            </a:r>
          </a:p>
        </p:txBody>
      </p:sp>
      <p:sp>
        <p:nvSpPr>
          <p:cNvPr id="48" name="Rectangle 47"/>
          <p:cNvSpPr/>
          <p:nvPr/>
        </p:nvSpPr>
        <p:spPr>
          <a:xfrm>
            <a:off x="841248" y="4949444"/>
            <a:ext cx="3334512"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841248" y="5077460"/>
            <a:ext cx="3334512" cy="198729"/>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Measures are usually proxies</a:t>
            </a:r>
          </a:p>
        </p:txBody>
      </p:sp>
      <p:sp>
        <p:nvSpPr>
          <p:cNvPr id="50" name="TextBox 49"/>
          <p:cNvSpPr txBox="1"/>
          <p:nvPr/>
        </p:nvSpPr>
        <p:spPr>
          <a:xfrm>
            <a:off x="841248" y="5321909"/>
            <a:ext cx="3334512"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A test score is not learning, purity is not profitability, and “healthy patient” hides a trade-off against cost.</a:t>
            </a:r>
          </a:p>
        </p:txBody>
      </p:sp>
      <p:sp>
        <p:nvSpPr>
          <p:cNvPr id="51" name="Rectangle 50"/>
          <p:cNvSpPr/>
          <p:nvPr/>
        </p:nvSpPr>
        <p:spPr>
          <a:xfrm>
            <a:off x="4431792" y="4949444"/>
            <a:ext cx="3334512"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4431792" y="5077460"/>
            <a:ext cx="3334512" cy="198729"/>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Sensors bound what can be known</a:t>
            </a:r>
          </a:p>
        </p:txBody>
      </p:sp>
      <p:sp>
        <p:nvSpPr>
          <p:cNvPr id="53" name="TextBox 52"/>
          <p:cNvSpPr txBox="1"/>
          <p:nvPr/>
        </p:nvSpPr>
        <p:spPr>
          <a:xfrm>
            <a:off x="4431792" y="5321909"/>
            <a:ext cx="3334512"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The tutor never observes understanding, only keystrokes and speech. No program can recover information the sensor channel never carried.</a:t>
            </a:r>
          </a:p>
        </p:txBody>
      </p:sp>
      <p:sp>
        <p:nvSpPr>
          <p:cNvPr id="54" name="Rectangle 53"/>
          <p:cNvSpPr/>
          <p:nvPr/>
        </p:nvSpPr>
        <p:spPr>
          <a:xfrm>
            <a:off x="8022336" y="4949444"/>
            <a:ext cx="3334512"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8022336" y="5077460"/>
            <a:ext cx="3334512" cy="198729"/>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Actuators bound what can be achieved</a:t>
            </a:r>
          </a:p>
        </p:txBody>
      </p:sp>
      <p:sp>
        <p:nvSpPr>
          <p:cNvPr id="56" name="TextBox 55"/>
          <p:cNvSpPr txBox="1"/>
          <p:nvPr/>
        </p:nvSpPr>
        <p:spPr>
          <a:xfrm>
            <a:off x="8022336" y="5321909"/>
            <a:ext cx="3334512"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diagnosis system cannot treat, only display.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a:t>
            </a:r>
          </a:p>
        </p:txBody>
      </p:sp>
      <p:sp>
        <p:nvSpPr>
          <p:cNvPr id="5" name="TextBox 4"/>
          <p:cNvSpPr txBox="1"/>
          <p:nvPr/>
        </p:nvSpPr>
        <p:spPr>
          <a:xfrm>
            <a:off x="859536" y="2395728"/>
            <a:ext cx="6309360" cy="80772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From agent function to agent program</a:t>
            </a:r>
          </a:p>
        </p:txBody>
      </p:sp>
      <p:sp>
        <p:nvSpPr>
          <p:cNvPr id="6" name="TextBox 5"/>
          <p:cNvSpPr txBox="1"/>
          <p:nvPr/>
        </p:nvSpPr>
        <p:spPr>
          <a:xfrm>
            <a:off x="859536" y="3477768"/>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The behaviour of an agent is a mathematical object; the program is an implementation of it that has to fit in a machine.</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If the table already solves the problem, why is AI hard?</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Agent function and agent program</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vacuum world, tabulated</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Counting the percept sequences</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Why lookup tables cannot exist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2.1  TWO DIFFERENT OBJECTS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Behaviour is a function; a program is only its implementation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 — Agent function and agent program</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7</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At any moment an agent’s action is determined by its </a:t>
            </a:r>
            <a:r>
              <a:rPr sz="1235" b="1" i="0" dirty="0">
                <a:solidFill>
                  <a:srgbClr val="333639"/>
                </a:solidFill>
                <a:latin typeface="Fira Sans"/>
              </a:rPr>
              <a:t>built-in knowledge </a:t>
            </a:r>
            <a:r>
              <a:rPr sz="1235" b="0" i="0" dirty="0">
                <a:solidFill>
                  <a:srgbClr val="333639"/>
                </a:solidFill>
                <a:latin typeface="Fira Sans"/>
              </a:rPr>
              <a:t>and by </a:t>
            </a:r>
            <a:r>
              <a:rPr sz="1235" b="1" i="0" dirty="0">
                <a:solidFill>
                  <a:srgbClr val="333639"/>
                </a:solidFill>
                <a:latin typeface="Fira Sans"/>
              </a:rPr>
              <a:t>the entire sequence of percepts observed so far</a:t>
            </a:r>
            <a:r>
              <a:rPr sz="1235" b="0" i="0" dirty="0">
                <a:solidFill>
                  <a:srgbClr val="333639"/>
                </a:solidFill>
                <a:latin typeface="Fira Sans"/>
              </a:rPr>
              <a:t>. It cannot depend on anything outside its </a:t>
            </a:r>
            <a:r>
              <a:rPr sz="1235" b="1" i="0" dirty="0">
                <a:solidFill>
                  <a:srgbClr val="333639"/>
                </a:solidFill>
                <a:latin typeface="Fira Sans"/>
              </a:rPr>
              <a:t>perceptual experience</a:t>
            </a:r>
            <a:r>
              <a:rPr sz="1235" b="0" i="0" dirty="0">
                <a:solidFill>
                  <a:srgbClr val="333639"/>
                </a:solidFill>
                <a:latin typeface="Fira Sans"/>
              </a:rPr>
              <a:t>. That dependency is what the </a:t>
            </a:r>
            <a:r>
              <a:rPr sz="1235" b="1" i="0" dirty="0">
                <a:solidFill>
                  <a:srgbClr val="333639"/>
                </a:solidFill>
                <a:latin typeface="Fira Sans"/>
              </a:rPr>
              <a:t>agent function </a:t>
            </a:r>
            <a:r>
              <a:rPr sz="1235" b="0" i="0" dirty="0">
                <a:solidFill>
                  <a:srgbClr val="333639"/>
                </a:solidFill>
                <a:latin typeface="Fira Sans"/>
              </a:rPr>
              <a:t>makes precise.</a:t>
            </a:r>
          </a:p>
        </p:txBody>
      </p:sp>
      <p:sp>
        <p:nvSpPr>
          <p:cNvPr id="9" name="Rectangle 8"/>
          <p:cNvSpPr/>
          <p:nvPr/>
        </p:nvSpPr>
        <p:spPr>
          <a:xfrm>
            <a:off x="841248" y="1973757"/>
            <a:ext cx="5006340" cy="2852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973757"/>
            <a:ext cx="5006340"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0704" y="2193213"/>
            <a:ext cx="4567427" cy="45711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a:solidFill>
                  <a:srgbClr val="2B7A3E"/>
                </a:solidFill>
                <a:latin typeface="Fira Sans"/>
              </a:rPr>
              <a:t>AGENT FUNCTION</a:t>
            </a:r>
          </a:p>
          <a:p>
            <a:pPr marL="0" indent="0" algn="l">
              <a:lnSpc>
                <a:spcPts val="1513"/>
              </a:lnSpc>
              <a:spcBef>
                <a:spcPts val="700"/>
              </a:spcBef>
              <a:spcAft>
                <a:spcPts val="0"/>
              </a:spcAft>
              <a:buNone/>
            </a:pPr>
            <a:r>
              <a:rPr sz="1282" b="1" i="0">
                <a:solidFill>
                  <a:srgbClr val="25282A"/>
                </a:solidFill>
                <a:latin typeface="Fira Sans"/>
              </a:rPr>
              <a:t>An abstract mathematical mapping</a:t>
            </a:r>
          </a:p>
        </p:txBody>
      </p:sp>
      <p:pic>
        <p:nvPicPr>
          <p:cNvPr id="12" name="Picture 11" descr="eq_agentf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0704" y="2814921"/>
            <a:ext cx="1802892" cy="312039"/>
          </a:xfrm>
          <a:prstGeom prst="rect">
            <a:avLst/>
          </a:prstGeom>
        </p:spPr>
      </p:pic>
      <p:sp>
        <p:nvSpPr>
          <p:cNvPr id="13" name="TextBox 12"/>
          <p:cNvSpPr txBox="1"/>
          <p:nvPr/>
        </p:nvSpPr>
        <p:spPr>
          <a:xfrm>
            <a:off x="1060704" y="3346416"/>
            <a:ext cx="4567427" cy="527517"/>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626669"/>
                </a:solidFill>
                <a:latin typeface="Fira Sans"/>
              </a:rPr>
              <a:t>Defined over the set of all </a:t>
            </a:r>
            <a:r>
              <a:rPr sz="1092" b="1" i="0">
                <a:solidFill>
                  <a:srgbClr val="25282A"/>
                </a:solidFill>
                <a:latin typeface="Fira Sans"/>
              </a:rPr>
              <a:t>percept sequences</a:t>
            </a:r>
            <a:r>
              <a:rPr sz="1092" b="0" i="0">
                <a:solidFill>
                  <a:srgbClr val="626669"/>
                </a:solidFill>
                <a:latin typeface="Fira Sans"/>
              </a:rPr>
              <a:t>, it prescribes one action for every history the agent could ever experience. It specifies behaviour, and says nothing about how the mapping is computed.</a:t>
            </a:r>
          </a:p>
        </p:txBody>
      </p:sp>
      <p:pic>
        <p:nvPicPr>
          <p:cNvPr id="14" name="Picture 13" descr="eq_agentfn_an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704" y="4075102"/>
            <a:ext cx="3393948" cy="595884"/>
          </a:xfrm>
          <a:prstGeom prst="rect">
            <a:avLst/>
          </a:prstGeom>
        </p:spPr>
      </p:pic>
      <p:sp>
        <p:nvSpPr>
          <p:cNvPr id="15" name="Rectangle 14"/>
          <p:cNvSpPr/>
          <p:nvPr/>
        </p:nvSpPr>
        <p:spPr>
          <a:xfrm>
            <a:off x="6350507" y="1973757"/>
            <a:ext cx="5006340" cy="2852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350507" y="1973757"/>
            <a:ext cx="5006340"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69964" y="2193213"/>
            <a:ext cx="4567427" cy="45711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a:solidFill>
                  <a:srgbClr val="574676"/>
                </a:solidFill>
                <a:latin typeface="Fira Sans"/>
              </a:rPr>
              <a:t>AGENT PROGRAM</a:t>
            </a:r>
          </a:p>
          <a:p>
            <a:pPr marL="0" indent="0" algn="l">
              <a:lnSpc>
                <a:spcPts val="1513"/>
              </a:lnSpc>
              <a:spcBef>
                <a:spcPts val="700"/>
              </a:spcBef>
              <a:spcAft>
                <a:spcPts val="0"/>
              </a:spcAft>
              <a:buNone/>
            </a:pPr>
            <a:r>
              <a:rPr sz="1282" b="1" i="0">
                <a:solidFill>
                  <a:srgbClr val="25282A"/>
                </a:solidFill>
                <a:latin typeface="Fira Sans"/>
              </a:rPr>
              <a:t>A concrete implementation on a machine</a:t>
            </a:r>
          </a:p>
        </p:txBody>
      </p:sp>
      <p:pic>
        <p:nvPicPr>
          <p:cNvPr id="18" name="Picture 17" descr="eq_program_ann.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69964" y="2814921"/>
            <a:ext cx="4457700" cy="598219"/>
          </a:xfrm>
          <a:prstGeom prst="rect">
            <a:avLst/>
          </a:prstGeom>
        </p:spPr>
      </p:pic>
      <p:sp>
        <p:nvSpPr>
          <p:cNvPr id="19" name="TextBox 18"/>
          <p:cNvSpPr txBox="1"/>
          <p:nvPr/>
        </p:nvSpPr>
        <p:spPr>
          <a:xfrm>
            <a:off x="6569964" y="3632597"/>
            <a:ext cx="4567427" cy="691164"/>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dirty="0">
                <a:solidFill>
                  <a:srgbClr val="626669"/>
                </a:solidFill>
                <a:latin typeface="Fira Sans"/>
              </a:rPr>
              <a:t>The environment delivers </a:t>
            </a:r>
            <a:r>
              <a:rPr sz="1092" b="1" i="0" dirty="0">
                <a:solidFill>
                  <a:srgbClr val="25282A"/>
                </a:solidFill>
                <a:latin typeface="Fira Sans"/>
              </a:rPr>
              <a:t>one percept at a time</a:t>
            </a:r>
            <a:r>
              <a:rPr sz="1092" b="0" i="0" dirty="0">
                <a:solidFill>
                  <a:srgbClr val="626669"/>
                </a:solidFill>
                <a:latin typeface="Fira Sans"/>
              </a:rPr>
              <a:t>, so the program receives only the current percept. If the decision must depend on the past, the program has to </a:t>
            </a:r>
            <a:r>
              <a:rPr sz="1092" b="1" i="0" dirty="0">
                <a:solidFill>
                  <a:srgbClr val="25282A"/>
                </a:solidFill>
                <a:latin typeface="Fira Sans"/>
              </a:rPr>
              <a:t>store that past itself</a:t>
            </a:r>
            <a:r>
              <a:rPr sz="1092" b="0" i="0" dirty="0">
                <a:solidFill>
                  <a:srgbClr val="626669"/>
                </a:solidFill>
                <a:latin typeface="Fira Sans"/>
              </a:rPr>
              <a:t>, in an internal memory.</a:t>
            </a:r>
          </a:p>
        </p:txBody>
      </p:sp>
      <p:sp>
        <p:nvSpPr>
          <p:cNvPr id="20" name="Rectangle 19"/>
          <p:cNvSpPr/>
          <p:nvPr/>
        </p:nvSpPr>
        <p:spPr>
          <a:xfrm>
            <a:off x="841248" y="5119293"/>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5119293"/>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60704" y="5265597"/>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Keeping the two apart matters: the function can be infinite, the program must be finite. </a:t>
            </a:r>
            <a:r>
              <a:rPr lang="en-GB" sz="1140" b="1" i="0" noProof="0" dirty="0">
                <a:solidFill>
                  <a:srgbClr val="333639"/>
                </a:solidFill>
                <a:latin typeface="Fira Sans"/>
              </a:rPr>
              <a:t>Writing</a:t>
            </a:r>
            <a:r>
              <a:rPr sz="1140" b="1" i="0" dirty="0">
                <a:solidFill>
                  <a:srgbClr val="333639"/>
                </a:solidFill>
                <a:latin typeface="Fira Sans"/>
              </a:rPr>
              <a:t> the function down explicitly is never an option</a:t>
            </a:r>
            <a:r>
              <a:rPr sz="1140" b="0" i="0" dirty="0">
                <a:solidFill>
                  <a:srgbClr val="333639"/>
                </a:solidFill>
                <a:latin typeface="Fira Sans"/>
              </a:rPr>
              <a:t>, and therefore that the interesting question is </a:t>
            </a:r>
            <a:r>
              <a:rPr sz="1140" b="1" i="0" dirty="0">
                <a:solidFill>
                  <a:srgbClr val="333639"/>
                </a:solidFill>
                <a:latin typeface="Fira Sans"/>
              </a:rPr>
              <a:t>how to compute it compactly</a:t>
            </a:r>
            <a:r>
              <a:rPr sz="1140" b="0" i="0" dirty="0">
                <a:solidFill>
                  <a:srgbClr val="333639"/>
                </a:solidFill>
                <a:latin typeface="Fira Sans"/>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2.2  THE VACUUM WORLD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world small enough that the agent function can actually be written down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 — Agent function and agent program</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8</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Two squares, A and B. Each is either clean or dirty. The agent perceives its own location and the state of that square, and chooses among four actions: move left, move right, suck, do nothing.</a:t>
            </a:r>
          </a:p>
        </p:txBody>
      </p:sp>
      <p:pic>
        <p:nvPicPr>
          <p:cNvPr id="9" name="Picture 8" descr="vacuum_world_table.png"/>
          <p:cNvPicPr>
            <a:picLocks noChangeAspect="1"/>
          </p:cNvPicPr>
          <p:nvPr/>
        </p:nvPicPr>
        <p:blipFill>
          <a:blip r:embed="rId2"/>
          <a:stretch>
            <a:fillRect/>
          </a:stretch>
        </p:blipFill>
        <p:spPr>
          <a:xfrm>
            <a:off x="1816487" y="1796577"/>
            <a:ext cx="8128625" cy="3077039"/>
          </a:xfrm>
          <a:prstGeom prst="rect">
            <a:avLst/>
          </a:prstGeom>
        </p:spPr>
      </p:pic>
      <p:sp>
        <p:nvSpPr>
          <p:cNvPr id="10" name="Rectangle 9"/>
          <p:cNvSpPr/>
          <p:nvPr/>
        </p:nvSpPr>
        <p:spPr>
          <a:xfrm>
            <a:off x="841248" y="496384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5165013"/>
            <a:ext cx="3322320"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5311317"/>
            <a:ext cx="3322320" cy="748690"/>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The percept</a:t>
            </a:r>
          </a:p>
          <a:p>
            <a:pPr marL="0" indent="0" algn="l">
              <a:lnSpc>
                <a:spcPts val="1254"/>
              </a:lnSpc>
              <a:spcBef>
                <a:spcPts val="500"/>
              </a:spcBef>
              <a:spcAft>
                <a:spcPts val="0"/>
              </a:spcAft>
              <a:buNone/>
            </a:pPr>
            <a:r>
              <a:rPr sz="1045" b="0" i="0">
                <a:solidFill>
                  <a:srgbClr val="626669"/>
                </a:solidFill>
                <a:latin typeface="Fira Sans"/>
              </a:rPr>
              <a:t>A percept is a pair </a:t>
            </a:r>
            <a:r>
              <a:rPr sz="997" b="0" i="0">
                <a:solidFill>
                  <a:srgbClr val="25282A"/>
                </a:solidFill>
                <a:latin typeface="Consolas"/>
              </a:rPr>
              <a:t>(location, status)</a:t>
            </a:r>
            <a:r>
              <a:rPr sz="1045" b="0" i="0">
                <a:solidFill>
                  <a:srgbClr val="626669"/>
                </a:solidFill>
                <a:latin typeface="Fira Sans"/>
              </a:rPr>
              <a:t>. A percept sequence is the whole ordered list of pairs seen since the agent was switched on.</a:t>
            </a:r>
          </a:p>
        </p:txBody>
      </p:sp>
      <p:sp>
        <p:nvSpPr>
          <p:cNvPr id="13" name="Rectangle 12"/>
          <p:cNvSpPr/>
          <p:nvPr/>
        </p:nvSpPr>
        <p:spPr>
          <a:xfrm>
            <a:off x="4437888" y="5165013"/>
            <a:ext cx="3322320"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37888" y="5311317"/>
            <a:ext cx="3322320" cy="907948"/>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The tabulation</a:t>
            </a:r>
          </a:p>
          <a:p>
            <a:pPr marL="0" indent="0" algn="l">
              <a:lnSpc>
                <a:spcPts val="1254"/>
              </a:lnSpc>
              <a:spcBef>
                <a:spcPts val="500"/>
              </a:spcBef>
              <a:spcAft>
                <a:spcPts val="0"/>
              </a:spcAft>
              <a:buNone/>
            </a:pPr>
            <a:r>
              <a:rPr sz="1045" b="0" i="0">
                <a:solidFill>
                  <a:srgbClr val="626669"/>
                </a:solidFill>
                <a:latin typeface="Fira Sans"/>
              </a:rPr>
              <a:t>Each row of the table on the right is one percept sequence; the entry beside it is the action the designer wants. Filling in every row </a:t>
            </a:r>
            <a:r>
              <a:rPr sz="1045" b="1" i="0">
                <a:solidFill>
                  <a:srgbClr val="25282A"/>
                </a:solidFill>
                <a:latin typeface="Fira Sans"/>
              </a:rPr>
              <a:t>defines the agent function completely</a:t>
            </a:r>
            <a:r>
              <a:rPr sz="1045" b="0" i="0">
                <a:solidFill>
                  <a:srgbClr val="626669"/>
                </a:solidFill>
                <a:latin typeface="Fira Sans"/>
              </a:rPr>
              <a:t>.</a:t>
            </a:r>
          </a:p>
        </p:txBody>
      </p:sp>
      <p:sp>
        <p:nvSpPr>
          <p:cNvPr id="15" name="Rectangle 14"/>
          <p:cNvSpPr/>
          <p:nvPr/>
        </p:nvSpPr>
        <p:spPr>
          <a:xfrm>
            <a:off x="8034528" y="5165013"/>
            <a:ext cx="3322320"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034528" y="5311317"/>
            <a:ext cx="3322320" cy="907948"/>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dirty="0">
                <a:solidFill>
                  <a:srgbClr val="25282A"/>
                </a:solidFill>
                <a:latin typeface="Fira Sans"/>
              </a:rPr>
              <a:t>The catch</a:t>
            </a:r>
          </a:p>
          <a:p>
            <a:pPr marL="0" indent="0" algn="l">
              <a:lnSpc>
                <a:spcPts val="1254"/>
              </a:lnSpc>
              <a:spcBef>
                <a:spcPts val="500"/>
              </a:spcBef>
              <a:spcAft>
                <a:spcPts val="0"/>
              </a:spcAft>
              <a:buNone/>
            </a:pPr>
            <a:r>
              <a:rPr sz="1045" b="0" i="0" dirty="0">
                <a:solidFill>
                  <a:srgbClr val="626669"/>
                </a:solidFill>
                <a:latin typeface="Fira Sans"/>
              </a:rPr>
              <a:t>The table is </a:t>
            </a:r>
            <a:r>
              <a:rPr sz="1045" b="1" i="0" dirty="0">
                <a:solidFill>
                  <a:srgbClr val="626669"/>
                </a:solidFill>
                <a:latin typeface="Fira Sans"/>
              </a:rPr>
              <a:t>unbounded</a:t>
            </a:r>
            <a:r>
              <a:rPr sz="1045" b="0" i="0" dirty="0">
                <a:solidFill>
                  <a:srgbClr val="626669"/>
                </a:solidFill>
                <a:latin typeface="Fira Sans"/>
              </a:rPr>
              <a:t>: sequences of length 1, then 2, then 3 … The three dots are doing an enormous amount of work.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2.3  THE TABLE-DRIVEN AGENT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program must store the history that the function is defined 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 — Agent function and agent program</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9</a:t>
            </a:r>
          </a:p>
        </p:txBody>
      </p:sp>
      <p:sp>
        <p:nvSpPr>
          <p:cNvPr id="8" name="TextBox 7"/>
          <p:cNvSpPr txBox="1"/>
          <p:nvPr/>
        </p:nvSpPr>
        <p:spPr>
          <a:xfrm>
            <a:off x="841248" y="1316736"/>
            <a:ext cx="5676595"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The most direct implementation keeps every percept in a list and uses the list as a key into a table of actions. It represents the agent function explicitly</a:t>
            </a:r>
            <a:r>
              <a:rPr lang="it-IT" sz="1188" b="0" i="0" dirty="0">
                <a:solidFill>
                  <a:srgbClr val="333639"/>
                </a:solidFill>
                <a:latin typeface="Fira Sans"/>
              </a:rPr>
              <a:t>:</a:t>
            </a:r>
            <a:r>
              <a:rPr sz="1188" b="0" i="0" dirty="0">
                <a:solidFill>
                  <a:srgbClr val="333639"/>
                </a:solidFill>
                <a:latin typeface="Fira Sans"/>
              </a:rPr>
              <a:t> one entry for every possible percept sequence.</a:t>
            </a:r>
          </a:p>
        </p:txBody>
      </p:sp>
      <p:sp>
        <p:nvSpPr>
          <p:cNvPr id="9" name="Rectangle 8"/>
          <p:cNvSpPr/>
          <p:nvPr/>
        </p:nvSpPr>
        <p:spPr>
          <a:xfrm>
            <a:off x="841248" y="2106686"/>
            <a:ext cx="5676595" cy="2391600"/>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106686"/>
            <a:ext cx="41148" cy="2391600"/>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2188982"/>
            <a:ext cx="5310835"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AGENT PROGRAM</a:t>
            </a:r>
          </a:p>
        </p:txBody>
      </p:sp>
      <p:sp>
        <p:nvSpPr>
          <p:cNvPr id="12" name="TextBox 11"/>
          <p:cNvSpPr txBox="1"/>
          <p:nvPr/>
        </p:nvSpPr>
        <p:spPr>
          <a:xfrm>
            <a:off x="1024128" y="2490734"/>
            <a:ext cx="5365699" cy="1934400"/>
          </a:xfrm>
          <a:prstGeom prst="rect">
            <a:avLst/>
          </a:prstGeom>
          <a:noFill/>
        </p:spPr>
        <p:txBody>
          <a:bodyPr wrap="none" lIns="0" tIns="0" rIns="0" bIns="0" anchor="t">
            <a:noAutofit/>
          </a:bodyPr>
          <a:lstStyle/>
          <a:p>
            <a:pPr marL="0" indent="0" algn="l">
              <a:lnSpc>
                <a:spcPts val="1358"/>
              </a:lnSpc>
              <a:spcBef>
                <a:spcPts val="0"/>
              </a:spcBef>
              <a:spcAft>
                <a:spcPts val="0"/>
              </a:spcAft>
              <a:buNone/>
            </a:pPr>
            <a:r>
              <a:rPr sz="1045" b="0" i="0" dirty="0">
                <a:solidFill>
                  <a:srgbClr val="1F2A37"/>
                </a:solidFill>
                <a:latin typeface="Consolas"/>
              </a:rPr>
              <a:t>def </a:t>
            </a:r>
            <a:r>
              <a:rPr sz="1045" b="0" i="0" dirty="0" err="1">
                <a:solidFill>
                  <a:srgbClr val="1F2A37"/>
                </a:solidFill>
                <a:latin typeface="Consolas"/>
              </a:rPr>
              <a:t>TableDrivenAgent</a:t>
            </a:r>
            <a:r>
              <a:rPr sz="1045" b="0" i="0" dirty="0">
                <a:solidFill>
                  <a:srgbClr val="1F2A37"/>
                </a:solidFill>
                <a:latin typeface="Consolas"/>
              </a:rPr>
              <a:t>(table):</a:t>
            </a:r>
          </a:p>
          <a:p>
            <a:pPr marL="0" indent="0" algn="l">
              <a:lnSpc>
                <a:spcPts val="1358"/>
              </a:lnSpc>
              <a:spcBef>
                <a:spcPts val="0"/>
              </a:spcBef>
              <a:spcAft>
                <a:spcPts val="0"/>
              </a:spcAft>
              <a:buNone/>
            </a:pPr>
            <a:r>
              <a:rPr sz="1045" b="0" i="0" dirty="0">
                <a:solidFill>
                  <a:srgbClr val="333639"/>
                </a:solidFill>
                <a:latin typeface="Consolas"/>
              </a:rPr>
              <a:t> </a:t>
            </a:r>
          </a:p>
          <a:p>
            <a:pPr marL="0" indent="0" algn="l">
              <a:lnSpc>
                <a:spcPts val="1358"/>
              </a:lnSpc>
              <a:spcBef>
                <a:spcPts val="0"/>
              </a:spcBef>
              <a:spcAft>
                <a:spcPts val="0"/>
              </a:spcAft>
              <a:buNone/>
            </a:pPr>
            <a:r>
              <a:rPr sz="1045" b="0" i="0" dirty="0">
                <a:solidFill>
                  <a:srgbClr val="1F2A37"/>
                </a:solidFill>
                <a:latin typeface="Consolas"/>
              </a:rPr>
              <a:t>    </a:t>
            </a:r>
            <a:r>
              <a:rPr sz="1045" b="0" i="1" dirty="0">
                <a:solidFill>
                  <a:srgbClr val="768896"/>
                </a:solidFill>
                <a:latin typeface="Consolas"/>
              </a:rPr>
              <a:t># the percepts seen so far</a:t>
            </a:r>
          </a:p>
          <a:p>
            <a:pPr marL="0" indent="0" algn="l">
              <a:lnSpc>
                <a:spcPts val="1358"/>
              </a:lnSpc>
              <a:spcBef>
                <a:spcPts val="0"/>
              </a:spcBef>
              <a:spcAft>
                <a:spcPts val="0"/>
              </a:spcAft>
              <a:buNone/>
            </a:pPr>
            <a:r>
              <a:rPr sz="1045" b="0" i="0" dirty="0">
                <a:solidFill>
                  <a:srgbClr val="1F2A37"/>
                </a:solidFill>
                <a:latin typeface="Consolas"/>
              </a:rPr>
              <a:t>    percepts = []</a:t>
            </a:r>
          </a:p>
          <a:p>
            <a:pPr marL="0" indent="0" algn="l">
              <a:lnSpc>
                <a:spcPts val="1358"/>
              </a:lnSpc>
              <a:spcBef>
                <a:spcPts val="0"/>
              </a:spcBef>
              <a:spcAft>
                <a:spcPts val="0"/>
              </a:spcAft>
              <a:buNone/>
            </a:pPr>
            <a:r>
              <a:rPr sz="1045" b="0" i="0" dirty="0">
                <a:solidFill>
                  <a:srgbClr val="333639"/>
                </a:solidFill>
                <a:latin typeface="Consolas"/>
              </a:rPr>
              <a:t> </a:t>
            </a:r>
          </a:p>
          <a:p>
            <a:pPr marL="0" indent="0" algn="l">
              <a:lnSpc>
                <a:spcPts val="1358"/>
              </a:lnSpc>
              <a:spcBef>
                <a:spcPts val="0"/>
              </a:spcBef>
              <a:spcAft>
                <a:spcPts val="0"/>
              </a:spcAft>
              <a:buNone/>
            </a:pPr>
            <a:r>
              <a:rPr sz="1045" b="0" i="0" dirty="0">
                <a:solidFill>
                  <a:srgbClr val="1F2A37"/>
                </a:solidFill>
                <a:latin typeface="Consolas"/>
              </a:rPr>
              <a:t>    def program(percept):</a:t>
            </a:r>
          </a:p>
          <a:p>
            <a:pPr marL="0" indent="0" algn="l">
              <a:lnSpc>
                <a:spcPts val="1358"/>
              </a:lnSpc>
              <a:spcBef>
                <a:spcPts val="0"/>
              </a:spcBef>
              <a:spcAft>
                <a:spcPts val="0"/>
              </a:spcAft>
              <a:buNone/>
            </a:pPr>
            <a:r>
              <a:rPr sz="1045" b="1" i="0" dirty="0">
                <a:solidFill>
                  <a:srgbClr val="574676"/>
                </a:solidFill>
                <a:latin typeface="Consolas"/>
              </a:rPr>
              <a:t>        </a:t>
            </a:r>
            <a:r>
              <a:rPr sz="1045" b="1" i="0" dirty="0" err="1">
                <a:solidFill>
                  <a:srgbClr val="574676"/>
                </a:solidFill>
                <a:latin typeface="Consolas"/>
              </a:rPr>
              <a:t>percepts.append</a:t>
            </a:r>
            <a:r>
              <a:rPr sz="1045" b="1" i="0" dirty="0">
                <a:solidFill>
                  <a:srgbClr val="574676"/>
                </a:solidFill>
                <a:latin typeface="Consolas"/>
              </a:rPr>
              <a:t>(percept)          </a:t>
            </a:r>
            <a:r>
              <a:rPr sz="1045" b="0" i="1" dirty="0">
                <a:solidFill>
                  <a:srgbClr val="768896"/>
                </a:solidFill>
                <a:latin typeface="Consolas"/>
              </a:rPr>
              <a:t># remember</a:t>
            </a:r>
          </a:p>
          <a:p>
            <a:pPr marL="0" indent="0" algn="l">
              <a:lnSpc>
                <a:spcPts val="1358"/>
              </a:lnSpc>
              <a:spcBef>
                <a:spcPts val="0"/>
              </a:spcBef>
              <a:spcAft>
                <a:spcPts val="0"/>
              </a:spcAft>
              <a:buNone/>
            </a:pPr>
            <a:r>
              <a:rPr sz="1045" b="1" i="0" dirty="0">
                <a:solidFill>
                  <a:srgbClr val="574676"/>
                </a:solidFill>
                <a:latin typeface="Consolas"/>
              </a:rPr>
              <a:t>        action = </a:t>
            </a:r>
            <a:r>
              <a:rPr sz="1045" b="1" i="0" dirty="0" err="1">
                <a:solidFill>
                  <a:srgbClr val="574676"/>
                </a:solidFill>
                <a:latin typeface="Consolas"/>
              </a:rPr>
              <a:t>table.get</a:t>
            </a:r>
            <a:r>
              <a:rPr sz="1045" b="1" i="0" dirty="0">
                <a:solidFill>
                  <a:srgbClr val="574676"/>
                </a:solidFill>
                <a:latin typeface="Consolas"/>
              </a:rPr>
              <a:t>(tuple(percepts))  </a:t>
            </a:r>
            <a:r>
              <a:rPr sz="1045" b="0" i="1" dirty="0">
                <a:solidFill>
                  <a:srgbClr val="768896"/>
                </a:solidFill>
                <a:latin typeface="Consolas"/>
              </a:rPr>
              <a:t># look up</a:t>
            </a:r>
          </a:p>
          <a:p>
            <a:pPr marL="0" indent="0" algn="l">
              <a:lnSpc>
                <a:spcPts val="1358"/>
              </a:lnSpc>
              <a:spcBef>
                <a:spcPts val="0"/>
              </a:spcBef>
              <a:spcAft>
                <a:spcPts val="0"/>
              </a:spcAft>
              <a:buNone/>
            </a:pPr>
            <a:r>
              <a:rPr sz="1045" b="0" i="0" dirty="0">
                <a:solidFill>
                  <a:srgbClr val="1F2A37"/>
                </a:solidFill>
                <a:latin typeface="Consolas"/>
              </a:rPr>
              <a:t>        return action</a:t>
            </a:r>
          </a:p>
          <a:p>
            <a:pPr marL="0" indent="0" algn="l">
              <a:lnSpc>
                <a:spcPts val="1358"/>
              </a:lnSpc>
              <a:spcBef>
                <a:spcPts val="0"/>
              </a:spcBef>
              <a:spcAft>
                <a:spcPts val="0"/>
              </a:spcAft>
              <a:buNone/>
            </a:pPr>
            <a:r>
              <a:rPr sz="1045" b="0" i="0" dirty="0">
                <a:solidFill>
                  <a:srgbClr val="333639"/>
                </a:solidFill>
                <a:latin typeface="Consolas"/>
              </a:rPr>
              <a:t> </a:t>
            </a:r>
          </a:p>
          <a:p>
            <a:pPr marL="0" indent="0" algn="l">
              <a:lnSpc>
                <a:spcPts val="1358"/>
              </a:lnSpc>
              <a:spcBef>
                <a:spcPts val="0"/>
              </a:spcBef>
              <a:spcAft>
                <a:spcPts val="0"/>
              </a:spcAft>
              <a:buNone/>
            </a:pPr>
            <a:r>
              <a:rPr sz="1045" b="0" i="0" dirty="0">
                <a:solidFill>
                  <a:srgbClr val="1F2A37"/>
                </a:solidFill>
                <a:latin typeface="Consolas"/>
              </a:rPr>
              <a:t>    return program</a:t>
            </a:r>
          </a:p>
        </p:txBody>
      </p:sp>
      <p:sp>
        <p:nvSpPr>
          <p:cNvPr id="13" name="TextBox 12"/>
          <p:cNvSpPr txBox="1"/>
          <p:nvPr/>
        </p:nvSpPr>
        <p:spPr>
          <a:xfrm>
            <a:off x="841248" y="4644590"/>
            <a:ext cx="5676595"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All agent programs share this shape: a percept comes in from the sensors, an action goes out to the actuators. Only the middle changes.</a:t>
            </a:r>
          </a:p>
        </p:txBody>
      </p:sp>
      <p:sp>
        <p:nvSpPr>
          <p:cNvPr id="14" name="TextBox 13"/>
          <p:cNvSpPr txBox="1"/>
          <p:nvPr/>
        </p:nvSpPr>
        <p:spPr>
          <a:xfrm>
            <a:off x="6929323" y="1309116"/>
            <a:ext cx="4421398" cy="76481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dirty="0">
                <a:solidFill>
                  <a:srgbClr val="574676"/>
                </a:solidFill>
                <a:latin typeface="Fira Sans"/>
              </a:rPr>
              <a:t>WHY THE LIST IS THERE</a:t>
            </a:r>
          </a:p>
          <a:p>
            <a:pPr marL="0" indent="0" algn="l">
              <a:lnSpc>
                <a:spcPts val="1345"/>
              </a:lnSpc>
              <a:spcBef>
                <a:spcPts val="0"/>
              </a:spcBef>
              <a:spcAft>
                <a:spcPts val="0"/>
              </a:spcAft>
              <a:buNone/>
            </a:pPr>
            <a:r>
              <a:rPr sz="1140" b="0" i="0" dirty="0">
                <a:solidFill>
                  <a:srgbClr val="333639"/>
                </a:solidFill>
                <a:latin typeface="Fira Sans"/>
              </a:rPr>
              <a:t>The agent function is defined on </a:t>
            </a:r>
            <a:r>
              <a:rPr sz="1140" b="1" i="0" dirty="0">
                <a:solidFill>
                  <a:srgbClr val="25282A"/>
                </a:solidFill>
                <a:latin typeface="Fira Sans"/>
              </a:rPr>
              <a:t>p₁ … </a:t>
            </a:r>
            <a:r>
              <a:rPr sz="1140" b="1" i="0" dirty="0" err="1">
                <a:solidFill>
                  <a:srgbClr val="25282A"/>
                </a:solidFill>
                <a:latin typeface="Fira Sans"/>
              </a:rPr>
              <a:t>p_t</a:t>
            </a:r>
            <a:r>
              <a:rPr sz="1140" b="0" i="0" dirty="0">
                <a:solidFill>
                  <a:srgbClr val="333639"/>
                </a:solidFill>
                <a:latin typeface="Fira Sans"/>
              </a:rPr>
              <a:t>, but the sensors deliver only </a:t>
            </a:r>
            <a:r>
              <a:rPr sz="1140" b="1" i="0" dirty="0" err="1">
                <a:solidFill>
                  <a:srgbClr val="25282A"/>
                </a:solidFill>
                <a:latin typeface="Fira Sans"/>
              </a:rPr>
              <a:t>p_t</a:t>
            </a:r>
            <a:r>
              <a:rPr sz="1140" b="0" i="0" dirty="0">
                <a:solidFill>
                  <a:srgbClr val="333639"/>
                </a:solidFill>
                <a:latin typeface="Fira Sans"/>
              </a:rPr>
              <a:t>. The gap between the two is bridged by </a:t>
            </a:r>
            <a:r>
              <a:rPr sz="1140" b="1" i="0" dirty="0">
                <a:solidFill>
                  <a:srgbClr val="333639"/>
                </a:solidFill>
                <a:latin typeface="Fira Sans"/>
              </a:rPr>
              <a:t>memory</a:t>
            </a:r>
            <a:r>
              <a:rPr lang="it-IT" sz="1140" dirty="0">
                <a:solidFill>
                  <a:srgbClr val="333639"/>
                </a:solidFill>
                <a:latin typeface="Fira Sans"/>
              </a:rPr>
              <a:t>. H</a:t>
            </a:r>
            <a:r>
              <a:rPr sz="1140" b="0" i="0" dirty="0">
                <a:solidFill>
                  <a:srgbClr val="333639"/>
                </a:solidFill>
                <a:latin typeface="Fira Sans"/>
              </a:rPr>
              <a:t>ere, the crudest possible memory: keep everything.</a:t>
            </a:r>
          </a:p>
        </p:txBody>
      </p:sp>
      <p:sp>
        <p:nvSpPr>
          <p:cNvPr id="15" name="TextBox 14"/>
          <p:cNvSpPr txBox="1"/>
          <p:nvPr/>
        </p:nvSpPr>
        <p:spPr>
          <a:xfrm>
            <a:off x="6929323" y="2319296"/>
            <a:ext cx="4421398"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THIS BUYS, AND WHAT IT COSTS</a:t>
            </a:r>
          </a:p>
        </p:txBody>
      </p:sp>
      <p:sp>
        <p:nvSpPr>
          <p:cNvPr id="16" name="TextBox 15"/>
          <p:cNvSpPr txBox="1"/>
          <p:nvPr/>
        </p:nvSpPr>
        <p:spPr>
          <a:xfrm>
            <a:off x="6929323" y="2557040"/>
            <a:ext cx="4421398" cy="1170858"/>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0" i="0" dirty="0">
                <a:solidFill>
                  <a:srgbClr val="333639"/>
                </a:solidFill>
                <a:latin typeface="Fira Sans"/>
              </a:rPr>
              <a:t>It is </a:t>
            </a:r>
            <a:r>
              <a:rPr sz="1092" b="1" i="0" dirty="0">
                <a:solidFill>
                  <a:srgbClr val="25282A"/>
                </a:solidFill>
                <a:latin typeface="Fira Sans"/>
              </a:rPr>
              <a:t>correct by construction</a:t>
            </a:r>
            <a:r>
              <a:rPr sz="1092" b="0" i="0" dirty="0">
                <a:solidFill>
                  <a:srgbClr val="333639"/>
                </a:solidFill>
                <a:latin typeface="Fira Sans"/>
              </a:rPr>
              <a:t>: if the table is filled in properly, the agent does exactly what we want.</a:t>
            </a:r>
          </a:p>
          <a:p>
            <a:pPr marL="173736" indent="-173736" algn="l">
              <a:lnSpc>
                <a:spcPts val="1289"/>
              </a:lnSpc>
              <a:spcBef>
                <a:spcPts val="600"/>
              </a:spcBef>
              <a:spcAft>
                <a:spcPts val="0"/>
              </a:spcAft>
              <a:buClr>
                <a:srgbClr val="1971C2"/>
              </a:buClr>
              <a:buFont typeface="Fira Sans"/>
              <a:buChar char="–"/>
            </a:pPr>
            <a:r>
              <a:rPr sz="1092" b="0" i="0" dirty="0">
                <a:solidFill>
                  <a:srgbClr val="333639"/>
                </a:solidFill>
                <a:latin typeface="Fira Sans"/>
              </a:rPr>
              <a:t>It is </a:t>
            </a:r>
            <a:r>
              <a:rPr sz="1092" b="1" i="0" dirty="0">
                <a:solidFill>
                  <a:srgbClr val="25282A"/>
                </a:solidFill>
                <a:latin typeface="Fira Sans"/>
              </a:rPr>
              <a:t>completely general</a:t>
            </a:r>
            <a:r>
              <a:rPr sz="1092" b="0" i="0" dirty="0">
                <a:solidFill>
                  <a:srgbClr val="333639"/>
                </a:solidFill>
                <a:latin typeface="Fira Sans"/>
              </a:rPr>
              <a:t>: any agent function whatsoever can be represented this way.</a:t>
            </a:r>
          </a:p>
          <a:p>
            <a:pPr marL="173736" indent="-173736" algn="l">
              <a:lnSpc>
                <a:spcPts val="1289"/>
              </a:lnSpc>
              <a:spcBef>
                <a:spcPts val="600"/>
              </a:spcBef>
              <a:spcAft>
                <a:spcPts val="0"/>
              </a:spcAft>
              <a:buClr>
                <a:srgbClr val="1971C2"/>
              </a:buClr>
              <a:buFont typeface="Fira Sans"/>
              <a:buChar char="–"/>
            </a:pPr>
            <a:r>
              <a:rPr sz="1092" b="0" i="0" dirty="0">
                <a:solidFill>
                  <a:srgbClr val="333639"/>
                </a:solidFill>
                <a:latin typeface="Fira Sans"/>
              </a:rPr>
              <a:t>It requires the designer to </a:t>
            </a:r>
            <a:r>
              <a:rPr sz="1092" b="1" i="0" dirty="0">
                <a:solidFill>
                  <a:srgbClr val="C8102E"/>
                </a:solidFill>
                <a:latin typeface="Fira Sans"/>
              </a:rPr>
              <a:t>specify the right action for every possible history</a:t>
            </a:r>
            <a:r>
              <a:rPr lang="it-IT" sz="1092" dirty="0">
                <a:solidFill>
                  <a:srgbClr val="333639"/>
                </a:solidFill>
                <a:latin typeface="Fira Sans"/>
              </a:rPr>
              <a:t>, </a:t>
            </a:r>
            <a:r>
              <a:rPr sz="1092" b="0" i="0" dirty="0">
                <a:solidFill>
                  <a:srgbClr val="333639"/>
                </a:solidFill>
                <a:latin typeface="Fira Sans"/>
              </a:rPr>
              <a:t>before the agent is ever switched on.</a:t>
            </a:r>
          </a:p>
        </p:txBody>
      </p:sp>
      <p:sp>
        <p:nvSpPr>
          <p:cNvPr id="17" name="Rectangle 16"/>
          <p:cNvSpPr/>
          <p:nvPr/>
        </p:nvSpPr>
        <p:spPr>
          <a:xfrm>
            <a:off x="6929323" y="3965643"/>
            <a:ext cx="4421398" cy="1196035"/>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929323" y="3965643"/>
            <a:ext cx="41148" cy="1196035"/>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148779" y="4111947"/>
            <a:ext cx="4128790"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REAL OBJECTION</a:t>
            </a:r>
          </a:p>
        </p:txBody>
      </p:sp>
      <p:sp>
        <p:nvSpPr>
          <p:cNvPr id="20" name="TextBox 19"/>
          <p:cNvSpPr txBox="1"/>
          <p:nvPr/>
        </p:nvSpPr>
        <p:spPr>
          <a:xfrm>
            <a:off x="7148779" y="4349691"/>
            <a:ext cx="4037350"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To build a rational agent this way, someone must </a:t>
            </a:r>
            <a:r>
              <a:rPr sz="1092" b="1" i="0" dirty="0">
                <a:solidFill>
                  <a:srgbClr val="333639"/>
                </a:solidFill>
                <a:latin typeface="Fira Sans"/>
              </a:rPr>
              <a:t>anticipate</a:t>
            </a:r>
            <a:r>
              <a:rPr sz="1092" b="0" i="0" dirty="0">
                <a:solidFill>
                  <a:srgbClr val="333639"/>
                </a:solidFill>
                <a:latin typeface="Fira Sans"/>
              </a:rPr>
              <a:t> every situation in advance. That is not an engineering difficulty; it is an </a:t>
            </a:r>
            <a:r>
              <a:rPr sz="1092" b="1" i="0" dirty="0">
                <a:solidFill>
                  <a:srgbClr val="333639"/>
                </a:solidFill>
                <a:latin typeface="Fira Sans"/>
              </a:rPr>
              <a:t>impossibility</a:t>
            </a:r>
            <a:r>
              <a:rPr sz="1092" b="0" i="0" dirty="0">
                <a:solidFill>
                  <a:srgbClr val="333639"/>
                </a:solidFill>
                <a:latin typeface="Fira Sans"/>
              </a:rPr>
              <a:t>.</a:t>
            </a:r>
          </a:p>
        </p:txBody>
      </p:sp>
      <p:sp>
        <p:nvSpPr>
          <p:cNvPr id="21" name="Rectangle 20"/>
          <p:cNvSpPr/>
          <p:nvPr/>
        </p:nvSpPr>
        <p:spPr>
          <a:xfrm>
            <a:off x="841248" y="5138928"/>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41248" y="530352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THREE MOVING PARTS OF ANY AGENT PROGRAM</a:t>
            </a:r>
          </a:p>
        </p:txBody>
      </p:sp>
      <p:sp>
        <p:nvSpPr>
          <p:cNvPr id="23" name="Rectangle 22"/>
          <p:cNvSpPr/>
          <p:nvPr/>
        </p:nvSpPr>
        <p:spPr>
          <a:xfrm>
            <a:off x="841248" y="5559552"/>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41248" y="5687568"/>
            <a:ext cx="3297936" cy="5841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What it receives</a:t>
            </a:r>
          </a:p>
          <a:p>
            <a:pPr marL="0" indent="0" algn="l">
              <a:lnSpc>
                <a:spcPts val="1233"/>
              </a:lnSpc>
              <a:spcBef>
                <a:spcPts val="500"/>
              </a:spcBef>
              <a:spcAft>
                <a:spcPts val="0"/>
              </a:spcAft>
              <a:buNone/>
            </a:pPr>
            <a:r>
              <a:rPr sz="1045" b="0" i="0">
                <a:solidFill>
                  <a:srgbClr val="626669"/>
                </a:solidFill>
                <a:latin typeface="Fira Sans"/>
              </a:rPr>
              <a:t>One percept, delivered by the sensors at this time step. Never the history, never the state of the world.</a:t>
            </a:r>
          </a:p>
        </p:txBody>
      </p:sp>
      <p:sp>
        <p:nvSpPr>
          <p:cNvPr id="25" name="Rectangle 24"/>
          <p:cNvSpPr/>
          <p:nvPr/>
        </p:nvSpPr>
        <p:spPr>
          <a:xfrm>
            <a:off x="4450080" y="5559552"/>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450080" y="5687568"/>
            <a:ext cx="3297936" cy="5841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dirty="0">
                <a:solidFill>
                  <a:srgbClr val="25282A"/>
                </a:solidFill>
                <a:latin typeface="Fira Sans"/>
              </a:rPr>
              <a:t>What it keeps</a:t>
            </a:r>
          </a:p>
          <a:p>
            <a:pPr marL="0" indent="0" algn="l">
              <a:lnSpc>
                <a:spcPts val="1233"/>
              </a:lnSpc>
              <a:spcBef>
                <a:spcPts val="500"/>
              </a:spcBef>
              <a:spcAft>
                <a:spcPts val="0"/>
              </a:spcAft>
              <a:buNone/>
            </a:pPr>
            <a:r>
              <a:rPr sz="1045" b="0" i="0" dirty="0">
                <a:solidFill>
                  <a:srgbClr val="626669"/>
                </a:solidFill>
                <a:latin typeface="Fira Sans"/>
              </a:rPr>
              <a:t>Whatever it chooses to store. Here the full list of percepts.</a:t>
            </a:r>
          </a:p>
        </p:txBody>
      </p:sp>
      <p:sp>
        <p:nvSpPr>
          <p:cNvPr id="27" name="Rectangle 26"/>
          <p:cNvSpPr/>
          <p:nvPr/>
        </p:nvSpPr>
        <p:spPr>
          <a:xfrm>
            <a:off x="8058912" y="5559552"/>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058912" y="5687568"/>
            <a:ext cx="3297936" cy="5841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What it returns</a:t>
            </a:r>
          </a:p>
          <a:p>
            <a:pPr marL="0" indent="0" algn="l">
              <a:lnSpc>
                <a:spcPts val="1233"/>
              </a:lnSpc>
              <a:spcBef>
                <a:spcPts val="500"/>
              </a:spcBef>
              <a:spcAft>
                <a:spcPts val="0"/>
              </a:spcAft>
              <a:buNone/>
            </a:pPr>
            <a:r>
              <a:rPr sz="1045" b="0" i="0">
                <a:solidFill>
                  <a:srgbClr val="626669"/>
                </a:solidFill>
                <a:latin typeface="Fira Sans"/>
              </a:rPr>
              <a:t>One action, handed to the actuators. The environment does the rest, and the next percept arrives.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2.4  WHAT THE TABLE CANNOT DO</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lookup fails on any history the designer did not foresee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 — Agent function and agent program</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10</a:t>
            </a:r>
          </a:p>
        </p:txBody>
      </p:sp>
      <p:sp>
        <p:nvSpPr>
          <p:cNvPr id="8" name="TextBox 7"/>
          <p:cNvSpPr txBox="1"/>
          <p:nvPr/>
        </p:nvSpPr>
        <p:spPr>
          <a:xfrm>
            <a:off x="841248" y="1316736"/>
            <a:ext cx="5980176" cy="220644"/>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Here is a deliberately partial table, listing only some sequences of length up to three:</a:t>
            </a:r>
          </a:p>
        </p:txBody>
      </p:sp>
      <p:sp>
        <p:nvSpPr>
          <p:cNvPr id="9" name="Rectangle 8"/>
          <p:cNvSpPr/>
          <p:nvPr/>
        </p:nvSpPr>
        <p:spPr>
          <a:xfrm>
            <a:off x="841248" y="1720260"/>
            <a:ext cx="5980176" cy="2798241"/>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720260"/>
            <a:ext cx="41148" cy="2798241"/>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1802556"/>
            <a:ext cx="5614416"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PARTIAL TABLE AND A THREE-STEP RUN</a:t>
            </a:r>
          </a:p>
        </p:txBody>
      </p:sp>
      <p:sp>
        <p:nvSpPr>
          <p:cNvPr id="12" name="TextBox 11"/>
          <p:cNvSpPr txBox="1"/>
          <p:nvPr/>
        </p:nvSpPr>
        <p:spPr>
          <a:xfrm>
            <a:off x="1024128" y="2104308"/>
            <a:ext cx="5669280" cy="2341041"/>
          </a:xfrm>
          <a:prstGeom prst="rect">
            <a:avLst/>
          </a:prstGeom>
          <a:noFill/>
        </p:spPr>
        <p:txBody>
          <a:bodyPr wrap="none" lIns="0" tIns="0" rIns="0" bIns="0" anchor="t">
            <a:noAutofit/>
          </a:bodyPr>
          <a:lstStyle/>
          <a:p>
            <a:pPr marL="0" indent="0" algn="l">
              <a:lnSpc>
                <a:spcPts val="1296"/>
              </a:lnSpc>
              <a:spcBef>
                <a:spcPts val="0"/>
              </a:spcBef>
              <a:spcAft>
                <a:spcPts val="0"/>
              </a:spcAft>
              <a:buNone/>
            </a:pPr>
            <a:r>
              <a:rPr sz="997" b="0" i="0" dirty="0">
                <a:solidFill>
                  <a:srgbClr val="1F2A37"/>
                </a:solidFill>
                <a:latin typeface="Consolas"/>
              </a:rPr>
              <a:t>table = {</a:t>
            </a:r>
          </a:p>
          <a:p>
            <a:pPr marL="0" indent="0" algn="l">
              <a:lnSpc>
                <a:spcPts val="1296"/>
              </a:lnSpc>
              <a:spcBef>
                <a:spcPts val="0"/>
              </a:spcBef>
              <a:spcAft>
                <a:spcPts val="0"/>
              </a:spcAft>
              <a:buNone/>
            </a:pPr>
            <a:r>
              <a:rPr sz="997" b="0" i="0" dirty="0">
                <a:solidFill>
                  <a:srgbClr val="1F2A37"/>
                </a:solidFill>
                <a:latin typeface="Consolas"/>
              </a:rPr>
              <a:t>    (("A", "clean"),):                    "right",</a:t>
            </a:r>
          </a:p>
          <a:p>
            <a:pPr marL="0" indent="0" algn="l">
              <a:lnSpc>
                <a:spcPts val="1296"/>
              </a:lnSpc>
              <a:spcBef>
                <a:spcPts val="0"/>
              </a:spcBef>
              <a:spcAft>
                <a:spcPts val="0"/>
              </a:spcAft>
              <a:buNone/>
            </a:pPr>
            <a:r>
              <a:rPr sz="997" b="0" i="0" dirty="0">
                <a:solidFill>
                  <a:srgbClr val="1F2A37"/>
                </a:solidFill>
                <a:latin typeface="Consolas"/>
              </a:rPr>
              <a:t>    (("A", "dirty"),):                    "suck",</a:t>
            </a:r>
          </a:p>
          <a:p>
            <a:pPr marL="0" indent="0" algn="l">
              <a:lnSpc>
                <a:spcPts val="1296"/>
              </a:lnSpc>
              <a:spcBef>
                <a:spcPts val="0"/>
              </a:spcBef>
              <a:spcAft>
                <a:spcPts val="0"/>
              </a:spcAft>
              <a:buNone/>
            </a:pPr>
            <a:r>
              <a:rPr sz="997" b="0" i="0" dirty="0">
                <a:solidFill>
                  <a:srgbClr val="1F2A37"/>
                </a:solidFill>
                <a:latin typeface="Consolas"/>
              </a:rPr>
              <a:t>    (("B", "clean"),):                    "left",</a:t>
            </a:r>
          </a:p>
          <a:p>
            <a:pPr marL="0" indent="0" algn="l">
              <a:lnSpc>
                <a:spcPts val="1296"/>
              </a:lnSpc>
              <a:spcBef>
                <a:spcPts val="0"/>
              </a:spcBef>
              <a:spcAft>
                <a:spcPts val="0"/>
              </a:spcAft>
              <a:buNone/>
            </a:pPr>
            <a:r>
              <a:rPr sz="997" b="0" i="0" dirty="0">
                <a:solidFill>
                  <a:srgbClr val="1F2A37"/>
                </a:solidFill>
                <a:latin typeface="Consolas"/>
              </a:rPr>
              <a:t>    (("B", "dirty"),):                    "suck",</a:t>
            </a:r>
          </a:p>
          <a:p>
            <a:pPr marL="0" indent="0" algn="l">
              <a:lnSpc>
                <a:spcPts val="1296"/>
              </a:lnSpc>
              <a:spcBef>
                <a:spcPts val="0"/>
              </a:spcBef>
              <a:spcAft>
                <a:spcPts val="0"/>
              </a:spcAft>
              <a:buNone/>
            </a:pPr>
            <a:r>
              <a:rPr sz="997" b="0" i="0" dirty="0">
                <a:solidFill>
                  <a:srgbClr val="1F2A37"/>
                </a:solidFill>
                <a:latin typeface="Consolas"/>
              </a:rPr>
              <a:t>    (("A", "clean"), ("A", "clean")):     "right",</a:t>
            </a:r>
          </a:p>
          <a:p>
            <a:pPr marL="0" indent="0" algn="l">
              <a:lnSpc>
                <a:spcPts val="1296"/>
              </a:lnSpc>
              <a:spcBef>
                <a:spcPts val="0"/>
              </a:spcBef>
              <a:spcAft>
                <a:spcPts val="0"/>
              </a:spcAft>
              <a:buNone/>
            </a:pPr>
            <a:r>
              <a:rPr sz="997" b="0" i="0" dirty="0">
                <a:solidFill>
                  <a:srgbClr val="1F2A37"/>
                </a:solidFill>
                <a:latin typeface="Consolas"/>
              </a:rPr>
              <a:t>    (("A", "clean"), ("A", "dirty")):     "suck",</a:t>
            </a:r>
          </a:p>
          <a:p>
            <a:pPr marL="0" indent="0" algn="l">
              <a:lnSpc>
                <a:spcPts val="1296"/>
              </a:lnSpc>
              <a:spcBef>
                <a:spcPts val="0"/>
              </a:spcBef>
              <a:spcAft>
                <a:spcPts val="0"/>
              </a:spcAft>
              <a:buNone/>
            </a:pPr>
            <a:r>
              <a:rPr sz="997" b="0" i="0" dirty="0">
                <a:solidFill>
                  <a:srgbClr val="1F2A37"/>
                </a:solidFill>
                <a:latin typeface="Consolas"/>
              </a:rPr>
              <a:t>    ...</a:t>
            </a:r>
          </a:p>
          <a:p>
            <a:pPr marL="0" indent="0" algn="l">
              <a:lnSpc>
                <a:spcPts val="1296"/>
              </a:lnSpc>
              <a:spcBef>
                <a:spcPts val="0"/>
              </a:spcBef>
              <a:spcAft>
                <a:spcPts val="0"/>
              </a:spcAft>
              <a:buNone/>
            </a:pPr>
            <a:r>
              <a:rPr sz="997" b="0" i="0" dirty="0">
                <a:solidFill>
                  <a:srgbClr val="1F2A37"/>
                </a:solidFill>
                <a:latin typeface="Consolas"/>
              </a:rPr>
              <a:t>}</a:t>
            </a:r>
          </a:p>
          <a:p>
            <a:pPr marL="0" indent="0" algn="l">
              <a:lnSpc>
                <a:spcPts val="1296"/>
              </a:lnSpc>
              <a:spcBef>
                <a:spcPts val="0"/>
              </a:spcBef>
              <a:spcAft>
                <a:spcPts val="0"/>
              </a:spcAft>
              <a:buNone/>
            </a:pPr>
            <a:r>
              <a:rPr sz="997" b="0" i="0" dirty="0">
                <a:solidFill>
                  <a:srgbClr val="333639"/>
                </a:solidFill>
                <a:latin typeface="Consolas"/>
              </a:rPr>
              <a:t> </a:t>
            </a:r>
          </a:p>
          <a:p>
            <a:pPr marL="0" indent="0" algn="l">
              <a:lnSpc>
                <a:spcPts val="1296"/>
              </a:lnSpc>
              <a:spcBef>
                <a:spcPts val="0"/>
              </a:spcBef>
              <a:spcAft>
                <a:spcPts val="0"/>
              </a:spcAft>
              <a:buNone/>
            </a:pPr>
            <a:r>
              <a:rPr sz="997" b="0" i="0" dirty="0">
                <a:solidFill>
                  <a:srgbClr val="1F2A37"/>
                </a:solidFill>
                <a:latin typeface="Consolas"/>
              </a:rPr>
              <a:t>agent = </a:t>
            </a:r>
            <a:r>
              <a:rPr sz="997" b="0" i="0" dirty="0" err="1">
                <a:solidFill>
                  <a:srgbClr val="1F2A37"/>
                </a:solidFill>
                <a:latin typeface="Consolas"/>
              </a:rPr>
              <a:t>TableDrivenAgent</a:t>
            </a:r>
            <a:r>
              <a:rPr sz="997" b="0" i="0" dirty="0">
                <a:solidFill>
                  <a:srgbClr val="1F2A37"/>
                </a:solidFill>
                <a:latin typeface="Consolas"/>
              </a:rPr>
              <a:t>(table)</a:t>
            </a:r>
          </a:p>
          <a:p>
            <a:pPr marL="0" indent="0" algn="l">
              <a:lnSpc>
                <a:spcPts val="1296"/>
              </a:lnSpc>
              <a:spcBef>
                <a:spcPts val="0"/>
              </a:spcBef>
              <a:spcAft>
                <a:spcPts val="0"/>
              </a:spcAft>
              <a:buNone/>
            </a:pPr>
            <a:r>
              <a:rPr sz="997" b="0" i="0" dirty="0">
                <a:solidFill>
                  <a:srgbClr val="1F2A37"/>
                </a:solidFill>
                <a:latin typeface="Consolas"/>
              </a:rPr>
              <a:t>print(agent(("A", "clean")))   </a:t>
            </a:r>
            <a:r>
              <a:rPr sz="997" b="0" i="1" dirty="0">
                <a:solidFill>
                  <a:srgbClr val="768896"/>
                </a:solidFill>
                <a:latin typeface="Consolas"/>
              </a:rPr>
              <a:t># right</a:t>
            </a:r>
          </a:p>
          <a:p>
            <a:pPr marL="0" indent="0" algn="l">
              <a:lnSpc>
                <a:spcPts val="1296"/>
              </a:lnSpc>
              <a:spcBef>
                <a:spcPts val="0"/>
              </a:spcBef>
              <a:spcAft>
                <a:spcPts val="0"/>
              </a:spcAft>
              <a:buNone/>
            </a:pPr>
            <a:r>
              <a:rPr sz="997" b="0" i="0" dirty="0">
                <a:solidFill>
                  <a:srgbClr val="1F2A37"/>
                </a:solidFill>
                <a:latin typeface="Consolas"/>
              </a:rPr>
              <a:t>print(agent(("A", "dirty")))   </a:t>
            </a:r>
            <a:r>
              <a:rPr sz="997" b="0" i="1" dirty="0">
                <a:solidFill>
                  <a:srgbClr val="768896"/>
                </a:solidFill>
                <a:latin typeface="Consolas"/>
              </a:rPr>
              <a:t># suck</a:t>
            </a:r>
          </a:p>
          <a:p>
            <a:pPr marL="0" indent="0" algn="l">
              <a:lnSpc>
                <a:spcPts val="1296"/>
              </a:lnSpc>
              <a:spcBef>
                <a:spcPts val="0"/>
              </a:spcBef>
              <a:spcAft>
                <a:spcPts val="0"/>
              </a:spcAft>
              <a:buNone/>
            </a:pPr>
            <a:r>
              <a:rPr sz="997" b="1" i="0" dirty="0">
                <a:solidFill>
                  <a:srgbClr val="574676"/>
                </a:solidFill>
                <a:latin typeface="Consolas"/>
              </a:rPr>
              <a:t>print(agent(("B", "clean")))   </a:t>
            </a:r>
            <a:r>
              <a:rPr sz="997" b="0" i="1" dirty="0">
                <a:solidFill>
                  <a:srgbClr val="768896"/>
                </a:solidFill>
                <a:latin typeface="Consolas"/>
              </a:rPr>
              <a:t># None</a:t>
            </a:r>
          </a:p>
        </p:txBody>
      </p:sp>
      <p:sp>
        <p:nvSpPr>
          <p:cNvPr id="13" name="TextBox 12"/>
          <p:cNvSpPr txBox="1"/>
          <p:nvPr/>
        </p:nvSpPr>
        <p:spPr>
          <a:xfrm>
            <a:off x="7232904" y="1316736"/>
            <a:ext cx="4117817" cy="44853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a:solidFill>
                  <a:srgbClr val="C8102E"/>
                </a:solidFill>
                <a:latin typeface="Fira Sans"/>
              </a:rPr>
              <a:t>WHY THE LAST ACTION IS </a:t>
            </a:r>
            <a:r>
              <a:rPr sz="931" b="1" i="0" spc="0">
                <a:solidFill>
                  <a:srgbClr val="C8102E"/>
                </a:solidFill>
                <a:latin typeface="Consolas"/>
              </a:rPr>
              <a:t>None</a:t>
            </a:r>
          </a:p>
          <a:p>
            <a:pPr marL="0" indent="0" algn="l">
              <a:lnSpc>
                <a:spcPts val="1345"/>
              </a:lnSpc>
              <a:spcBef>
                <a:spcPts val="0"/>
              </a:spcBef>
              <a:spcAft>
                <a:spcPts val="0"/>
              </a:spcAft>
              <a:buNone/>
            </a:pPr>
            <a:r>
              <a:rPr sz="1140" b="0" i="0">
                <a:solidFill>
                  <a:srgbClr val="333639"/>
                </a:solidFill>
                <a:latin typeface="Fira Sans"/>
              </a:rPr>
              <a:t>After three steps the agent has observed the sequence</a:t>
            </a:r>
          </a:p>
        </p:txBody>
      </p:sp>
      <p:sp>
        <p:nvSpPr>
          <p:cNvPr id="14" name="Rectangle 13"/>
          <p:cNvSpPr/>
          <p:nvPr/>
        </p:nvSpPr>
        <p:spPr>
          <a:xfrm>
            <a:off x="7232904" y="1847088"/>
            <a:ext cx="4117817" cy="5486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79208" y="1956815"/>
            <a:ext cx="3825209" cy="18598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25282A"/>
                </a:solidFill>
                <a:latin typeface="Consolas"/>
              </a:rPr>
              <a:t>(("A","clean"), ("A","dirty"), ("B","clean"))</a:t>
            </a:r>
          </a:p>
        </p:txBody>
      </p:sp>
      <p:sp>
        <p:nvSpPr>
          <p:cNvPr id="16" name="TextBox 15"/>
          <p:cNvSpPr txBox="1"/>
          <p:nvPr/>
        </p:nvSpPr>
        <p:spPr>
          <a:xfrm>
            <a:off x="7232904" y="2542032"/>
            <a:ext cx="4117817" cy="549097"/>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0" i="0" dirty="0">
                <a:solidFill>
                  <a:srgbClr val="333639"/>
                </a:solidFill>
                <a:latin typeface="Fira Sans"/>
              </a:rPr>
              <a:t>which is simply not a key in the table. The lookup returns </a:t>
            </a:r>
            <a:r>
              <a:rPr sz="1140" b="1" i="0" dirty="0">
                <a:solidFill>
                  <a:srgbClr val="333639"/>
                </a:solidFill>
                <a:latin typeface="Fira Sans"/>
              </a:rPr>
              <a:t>nothing</a:t>
            </a:r>
            <a:r>
              <a:rPr sz="1140" b="0" i="0" dirty="0">
                <a:solidFill>
                  <a:srgbClr val="333639"/>
                </a:solidFill>
                <a:latin typeface="Fira Sans"/>
              </a:rPr>
              <a:t>, and no action is defined. A table-driven agent can only act in situations that were enumerated in advance.</a:t>
            </a:r>
          </a:p>
        </p:txBody>
      </p:sp>
      <p:sp>
        <p:nvSpPr>
          <p:cNvPr id="17" name="TextBox 16"/>
          <p:cNvSpPr txBox="1"/>
          <p:nvPr/>
        </p:nvSpPr>
        <p:spPr>
          <a:xfrm>
            <a:off x="7232904" y="3347161"/>
            <a:ext cx="4117817"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GENERAL STATEMENT</a:t>
            </a:r>
          </a:p>
        </p:txBody>
      </p:sp>
      <p:sp>
        <p:nvSpPr>
          <p:cNvPr id="18" name="TextBox 17"/>
          <p:cNvSpPr txBox="1"/>
          <p:nvPr/>
        </p:nvSpPr>
        <p:spPr>
          <a:xfrm>
            <a:off x="7232904" y="3592525"/>
            <a:ext cx="4117817" cy="527517"/>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dirty="0">
                <a:solidFill>
                  <a:srgbClr val="333639"/>
                </a:solidFill>
                <a:latin typeface="Fira Sans"/>
              </a:rPr>
              <a:t>With </a:t>
            </a:r>
            <a:r>
              <a:rPr sz="1092" b="1" i="0" dirty="0">
                <a:solidFill>
                  <a:srgbClr val="2B7A3E"/>
                </a:solidFill>
                <a:latin typeface="Fira Sans"/>
              </a:rPr>
              <a:t>P</a:t>
            </a:r>
            <a:r>
              <a:rPr sz="1092" b="0" i="0" dirty="0">
                <a:solidFill>
                  <a:srgbClr val="333639"/>
                </a:solidFill>
                <a:latin typeface="Fira Sans"/>
              </a:rPr>
              <a:t> possible percepts at each step and a lifetime of </a:t>
            </a:r>
            <a:r>
              <a:rPr sz="1092" b="1" i="0" dirty="0">
                <a:solidFill>
                  <a:srgbClr val="574676"/>
                </a:solidFill>
                <a:latin typeface="Fira Sans"/>
              </a:rPr>
              <a:t>T</a:t>
            </a:r>
            <a:r>
              <a:rPr sz="1092" b="0" i="0" dirty="0">
                <a:solidFill>
                  <a:srgbClr val="333639"/>
                </a:solidFill>
                <a:latin typeface="Fira Sans"/>
              </a:rPr>
              <a:t> percepts, completeness requires an entry for every sequence of length 1, 2, … up to T.</a:t>
            </a:r>
          </a:p>
        </p:txBody>
      </p:sp>
      <p:pic>
        <p:nvPicPr>
          <p:cNvPr id="19" name="Picture 18" descr="eq_table_sum.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32904" y="4313590"/>
            <a:ext cx="1679194" cy="922020"/>
          </a:xfrm>
          <a:prstGeom prst="rect">
            <a:avLst/>
          </a:prstGeom>
        </p:spPr>
      </p:pic>
      <p:sp>
        <p:nvSpPr>
          <p:cNvPr id="20" name="TextBox 19"/>
          <p:cNvSpPr txBox="1"/>
          <p:nvPr/>
        </p:nvSpPr>
        <p:spPr>
          <a:xfrm>
            <a:off x="7232904" y="5363626"/>
            <a:ext cx="4117817"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The size of a complete lookup table.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2.5  COUNTING THE TABLE — STEP 1</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number of entries is a geometric series in the number of percepts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 — Agent function and agent program</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11</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table needs one row for every percept sequence the agent could ever observe. Group the sequences by their length: there are P sequences of length one, P² of length two, and in general P^t of length t.</a:t>
            </a:r>
          </a:p>
        </p:txBody>
      </p:sp>
      <p:pic>
        <p:nvPicPr>
          <p:cNvPr id="9" name="Picture 8" descr="eq_table_sum_an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0096" y="2010333"/>
            <a:ext cx="7351775" cy="1207008"/>
          </a:xfrm>
          <a:prstGeom prst="rect">
            <a:avLst/>
          </a:prstGeom>
        </p:spPr>
      </p:pic>
      <p:sp>
        <p:nvSpPr>
          <p:cNvPr id="10" name="Rectangle 9"/>
          <p:cNvSpPr/>
          <p:nvPr/>
        </p:nvSpPr>
        <p:spPr>
          <a:xfrm>
            <a:off x="841248" y="360138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3857421"/>
            <a:ext cx="3297936"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022013"/>
            <a:ext cx="3297936" cy="958535"/>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P — how much can be perceived at one step</a:t>
            </a:r>
          </a:p>
          <a:p>
            <a:pPr marL="0" indent="0" algn="l">
              <a:lnSpc>
                <a:spcPts val="1332"/>
              </a:lnSpc>
              <a:spcBef>
                <a:spcPts val="600"/>
              </a:spcBef>
              <a:spcAft>
                <a:spcPts val="0"/>
              </a:spcAft>
              <a:buNone/>
            </a:pPr>
            <a:r>
              <a:rPr sz="1092" b="0" i="0">
                <a:solidFill>
                  <a:srgbClr val="626669"/>
                </a:solidFill>
                <a:latin typeface="Fira Sans"/>
              </a:rPr>
              <a:t>The number of distinct percepts the sensors can produce. For the vacuum agent P = 4: two locations × two dirt states. For a camera it is astronomically larger.</a:t>
            </a:r>
          </a:p>
        </p:txBody>
      </p:sp>
      <p:sp>
        <p:nvSpPr>
          <p:cNvPr id="13" name="Rectangle 12"/>
          <p:cNvSpPr/>
          <p:nvPr/>
        </p:nvSpPr>
        <p:spPr>
          <a:xfrm>
            <a:off x="4450080" y="3857421"/>
            <a:ext cx="3297936"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50080" y="4022013"/>
            <a:ext cx="3297936" cy="789340"/>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T — how long the agent lives</a:t>
            </a:r>
          </a:p>
          <a:p>
            <a:pPr marL="0" indent="0" algn="l">
              <a:lnSpc>
                <a:spcPts val="1332"/>
              </a:lnSpc>
              <a:spcBef>
                <a:spcPts val="600"/>
              </a:spcBef>
              <a:spcAft>
                <a:spcPts val="0"/>
              </a:spcAft>
              <a:buNone/>
            </a:pPr>
            <a:r>
              <a:rPr sz="1092" b="0" i="0">
                <a:solidFill>
                  <a:srgbClr val="626669"/>
                </a:solidFill>
                <a:latin typeface="Fira Sans"/>
              </a:rPr>
              <a:t>The lifetime measured in percepts, not in seconds. A camera at 30 frames per second produces 108 000 percepts in a single hour of operation.</a:t>
            </a:r>
          </a:p>
        </p:txBody>
      </p:sp>
      <p:sp>
        <p:nvSpPr>
          <p:cNvPr id="15" name="Rectangle 14"/>
          <p:cNvSpPr/>
          <p:nvPr/>
        </p:nvSpPr>
        <p:spPr>
          <a:xfrm>
            <a:off x="8058912" y="3857421"/>
            <a:ext cx="3297936"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058912" y="4022013"/>
            <a:ext cx="3297936" cy="958535"/>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Why the sum, and not just P^T</a:t>
            </a:r>
          </a:p>
          <a:p>
            <a:pPr marL="0" indent="0" algn="l">
              <a:lnSpc>
                <a:spcPts val="1332"/>
              </a:lnSpc>
              <a:spcBef>
                <a:spcPts val="600"/>
              </a:spcBef>
              <a:spcAft>
                <a:spcPts val="0"/>
              </a:spcAft>
              <a:buNone/>
            </a:pPr>
            <a:r>
              <a:rPr sz="1092" b="0" i="0">
                <a:solidFill>
                  <a:srgbClr val="626669"/>
                </a:solidFill>
                <a:latin typeface="Fira Sans"/>
              </a:rPr>
              <a:t>The agent must act at every step, not only at the last one. Its very first decision is taken after one percept, so sequences of every length up to T need an entry.</a:t>
            </a:r>
          </a:p>
        </p:txBody>
      </p:sp>
      <p:sp>
        <p:nvSpPr>
          <p:cNvPr id="17" name="Rectangle 16"/>
          <p:cNvSpPr/>
          <p:nvPr/>
        </p:nvSpPr>
        <p:spPr>
          <a:xfrm>
            <a:off x="841248" y="5358384"/>
            <a:ext cx="10515600" cy="6400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5358384"/>
            <a:ext cx="41148" cy="6400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60704" y="550468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 sum is exact; nothing has been approximated yet. What follows is only the observation that, for any sensor worth having, </a:t>
            </a:r>
            <a:r>
              <a:rPr sz="1140" b="1" i="0">
                <a:solidFill>
                  <a:srgbClr val="333639"/>
                </a:solidFill>
                <a:latin typeface="Fira Sans"/>
              </a:rPr>
              <a:t>one of these terms is larger than all the others put together</a:t>
            </a:r>
            <a:r>
              <a:rPr sz="1140" b="0" i="0">
                <a:solidFill>
                  <a:srgbClr val="333639"/>
                </a:solidFill>
                <a:latin typeface="Fira Sans"/>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2.6  COUNTING THE TABLE — STEP 2</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For any realistic sensor, the last term swallows the whole sum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 — Agent function and agent program</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12</a:t>
            </a:r>
          </a:p>
        </p:txBody>
      </p:sp>
      <p:sp>
        <p:nvSpPr>
          <p:cNvPr id="8" name="TextBox 7"/>
          <p:cNvSpPr txBox="1"/>
          <p:nvPr/>
        </p:nvSpPr>
        <p:spPr>
          <a:xfrm>
            <a:off x="841248" y="1316736"/>
            <a:ext cx="6239865"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sum is geometric, so it has a closed form. Factoring out the largest term shows what happens when P is large.</a:t>
            </a:r>
          </a:p>
        </p:txBody>
      </p:sp>
      <p:sp>
        <p:nvSpPr>
          <p:cNvPr id="9" name="TextBox 8"/>
          <p:cNvSpPr txBox="1"/>
          <p:nvPr/>
        </p:nvSpPr>
        <p:spPr>
          <a:xfrm>
            <a:off x="841248" y="1937181"/>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CLOSE THE SERIES, THEN FACTOR OUT P^T</a:t>
            </a:r>
          </a:p>
        </p:txBody>
      </p:sp>
      <p:pic>
        <p:nvPicPr>
          <p:cNvPr id="10" name="Picture 9" descr="eq_geom.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211501"/>
            <a:ext cx="5507736" cy="1280160"/>
          </a:xfrm>
          <a:prstGeom prst="rect">
            <a:avLst/>
          </a:prstGeom>
        </p:spPr>
      </p:pic>
      <p:sp>
        <p:nvSpPr>
          <p:cNvPr id="11" name="Rectangle 10"/>
          <p:cNvSpPr/>
          <p:nvPr/>
        </p:nvSpPr>
        <p:spPr>
          <a:xfrm>
            <a:off x="841248" y="3747693"/>
            <a:ext cx="6239865"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930573"/>
            <a:ext cx="6239865" cy="392643"/>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0" i="0">
                <a:solidFill>
                  <a:srgbClr val="333639"/>
                </a:solidFill>
                <a:latin typeface="Fira Sans"/>
              </a:rPr>
              <a:t>Every realistic sensor has </a:t>
            </a:r>
            <a:r>
              <a:rPr sz="1188" b="1" i="0">
                <a:solidFill>
                  <a:srgbClr val="25282A"/>
                </a:solidFill>
                <a:latin typeface="Fira Sans"/>
              </a:rPr>
              <a:t>P ≫ 1</a:t>
            </a:r>
            <a:r>
              <a:rPr sz="1188" b="0" i="0">
                <a:solidFill>
                  <a:srgbClr val="333639"/>
                </a:solidFill>
                <a:latin typeface="Fira Sans"/>
              </a:rPr>
              <a:t>, so the bracketed correction factor tends to 1 and the final term dominates everything that came before it. The sum collapses to a single power:</a:t>
            </a:r>
          </a:p>
        </p:txBody>
      </p:sp>
      <p:pic>
        <p:nvPicPr>
          <p:cNvPr id="13" name="Picture 12" descr="eq_geom_res.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9888" y="4524385"/>
            <a:ext cx="3569208" cy="512064"/>
          </a:xfrm>
          <a:prstGeom prst="rect">
            <a:avLst/>
          </a:prstGeom>
        </p:spPr>
      </p:pic>
      <p:sp>
        <p:nvSpPr>
          <p:cNvPr id="14" name="Rectangle 13"/>
          <p:cNvSpPr/>
          <p:nvPr/>
        </p:nvSpPr>
        <p:spPr>
          <a:xfrm>
            <a:off x="841248" y="5310769"/>
            <a:ext cx="6239865"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5493649"/>
            <a:ext cx="6239865"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1" i="0" dirty="0">
                <a:solidFill>
                  <a:srgbClr val="25282A"/>
                </a:solidFill>
                <a:latin typeface="Fira Sans"/>
              </a:rPr>
              <a:t>Read the exponent, not the base.</a:t>
            </a:r>
            <a:r>
              <a:rPr sz="1140" b="0" i="0" dirty="0">
                <a:solidFill>
                  <a:srgbClr val="333639"/>
                </a:solidFill>
                <a:latin typeface="Fira Sans"/>
              </a:rPr>
              <a:t> P is fixed once the sensors are chosen. T is the agent’s lifetime, and it grows every second the agent is switched on</a:t>
            </a:r>
            <a:r>
              <a:rPr lang="it-IT" sz="1140" b="0" i="0" dirty="0">
                <a:solidFill>
                  <a:srgbClr val="333639"/>
                </a:solidFill>
                <a:latin typeface="Fira Sans"/>
              </a:rPr>
              <a:t>. </a:t>
            </a:r>
            <a:r>
              <a:rPr lang="it-IT" sz="1140" dirty="0" err="1">
                <a:solidFill>
                  <a:srgbClr val="333639"/>
                </a:solidFill>
                <a:latin typeface="Fira Sans"/>
              </a:rPr>
              <a:t>S</a:t>
            </a:r>
            <a:r>
              <a:rPr sz="1140" b="0" i="0" dirty="0">
                <a:solidFill>
                  <a:srgbClr val="333639"/>
                </a:solidFill>
                <a:latin typeface="Fira Sans"/>
              </a:rPr>
              <a:t>o a complete table is not merely large, it </a:t>
            </a:r>
            <a:r>
              <a:rPr sz="1140" b="1" i="0" dirty="0">
                <a:solidFill>
                  <a:srgbClr val="333639"/>
                </a:solidFill>
                <a:latin typeface="Fira Sans"/>
              </a:rPr>
              <a:t>grows without bound </a:t>
            </a:r>
            <a:r>
              <a:rPr sz="1140" b="0" i="0" dirty="0">
                <a:solidFill>
                  <a:srgbClr val="333639"/>
                </a:solidFill>
                <a:latin typeface="Fira Sans"/>
              </a:rPr>
              <a:t>while the agent runs.</a:t>
            </a:r>
          </a:p>
        </p:txBody>
      </p:sp>
      <p:sp>
        <p:nvSpPr>
          <p:cNvPr id="16" name="Rectangle 15"/>
          <p:cNvSpPr/>
          <p:nvPr/>
        </p:nvSpPr>
        <p:spPr>
          <a:xfrm>
            <a:off x="7471562" y="1316736"/>
            <a:ext cx="3879159" cy="1362456"/>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471562" y="1316736"/>
            <a:ext cx="41148" cy="13624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691018" y="1463039"/>
            <a:ext cx="358655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READ THE RESULT CAREFULLY</a:t>
            </a:r>
          </a:p>
        </p:txBody>
      </p:sp>
      <p:sp>
        <p:nvSpPr>
          <p:cNvPr id="19" name="TextBox 18"/>
          <p:cNvSpPr txBox="1"/>
          <p:nvPr/>
        </p:nvSpPr>
        <p:spPr>
          <a:xfrm>
            <a:off x="7691018" y="1700784"/>
            <a:ext cx="3495111"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The approximation is not a convenience</a:t>
            </a:r>
            <a:r>
              <a:rPr lang="it-IT" sz="1092" b="0" i="0" dirty="0">
                <a:solidFill>
                  <a:srgbClr val="333639"/>
                </a:solidFill>
                <a:latin typeface="Fira Sans"/>
              </a:rPr>
              <a:t>,</a:t>
            </a:r>
            <a:r>
              <a:rPr sz="1092" b="0" i="0" dirty="0">
                <a:solidFill>
                  <a:srgbClr val="333639"/>
                </a:solidFill>
                <a:latin typeface="Fira Sans"/>
              </a:rPr>
              <a:t> it is the point. Table size grows </a:t>
            </a:r>
            <a:r>
              <a:rPr sz="1092" b="1" i="0" dirty="0">
                <a:solidFill>
                  <a:srgbClr val="333639"/>
                </a:solidFill>
                <a:latin typeface="Fira Sans"/>
              </a:rPr>
              <a:t>exponentially in the lifetime of the agent</a:t>
            </a:r>
            <a:r>
              <a:rPr sz="1092" b="0" i="0" dirty="0">
                <a:solidFill>
                  <a:srgbClr val="333639"/>
                </a:solidFill>
                <a:latin typeface="Fira Sans"/>
              </a:rPr>
              <a:t>, with the number of distinct percepts as the base. Doubling the resolution of a sensor does not double the table; it squares it.</a:t>
            </a:r>
          </a:p>
        </p:txBody>
      </p:sp>
      <p:sp>
        <p:nvSpPr>
          <p:cNvPr id="20" name="TextBox 19"/>
          <p:cNvSpPr txBox="1"/>
          <p:nvPr/>
        </p:nvSpPr>
        <p:spPr>
          <a:xfrm>
            <a:off x="7471562" y="2953511"/>
            <a:ext cx="387915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SMALL SANITY CHECK</a:t>
            </a:r>
          </a:p>
        </p:txBody>
      </p:sp>
      <p:sp>
        <p:nvSpPr>
          <p:cNvPr id="21" name="TextBox 20"/>
          <p:cNvSpPr txBox="1"/>
          <p:nvPr/>
        </p:nvSpPr>
        <p:spPr>
          <a:xfrm>
            <a:off x="7471562" y="3209544"/>
            <a:ext cx="3879159" cy="527517"/>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dirty="0">
                <a:solidFill>
                  <a:srgbClr val="333639"/>
                </a:solidFill>
                <a:latin typeface="Fira Sans"/>
              </a:rPr>
              <a:t>Vacuum world: P = 4 percepts. A lifetime of only </a:t>
            </a:r>
            <a:r>
              <a:rPr sz="1092" b="1" i="0" dirty="0">
                <a:solidFill>
                  <a:srgbClr val="25282A"/>
                </a:solidFill>
                <a:latin typeface="Fira Sans"/>
              </a:rPr>
              <a:t>T = 20</a:t>
            </a:r>
            <a:r>
              <a:rPr sz="1092" b="0" i="0" dirty="0">
                <a:solidFill>
                  <a:srgbClr val="333639"/>
                </a:solidFill>
                <a:latin typeface="Fira Sans"/>
              </a:rPr>
              <a:t> steps already needs about 4²⁰ ≈ 10¹² entries</a:t>
            </a:r>
            <a:r>
              <a:rPr lang="it-IT" sz="1092" b="0" i="0" dirty="0">
                <a:solidFill>
                  <a:srgbClr val="333639"/>
                </a:solidFill>
                <a:latin typeface="Fira Sans"/>
              </a:rPr>
              <a:t>,</a:t>
            </a:r>
            <a:r>
              <a:rPr sz="1092" b="0" i="0" dirty="0">
                <a:solidFill>
                  <a:srgbClr val="333639"/>
                </a:solidFill>
                <a:latin typeface="Fira Sans"/>
              </a:rPr>
              <a:t> a thousand billion rows, for a world with two squares.</a:t>
            </a:r>
          </a:p>
        </p:txBody>
      </p:sp>
      <p:sp>
        <p:nvSpPr>
          <p:cNvPr id="22" name="Rectangle 21"/>
          <p:cNvSpPr/>
          <p:nvPr/>
        </p:nvSpPr>
        <p:spPr>
          <a:xfrm>
            <a:off x="7471562" y="3938229"/>
            <a:ext cx="387915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471562" y="4102821"/>
            <a:ext cx="3879159" cy="527517"/>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dirty="0">
                <a:solidFill>
                  <a:srgbClr val="626669"/>
                </a:solidFill>
                <a:latin typeface="Fira Sans"/>
              </a:rPr>
              <a:t>And note what the table still does not give us: </a:t>
            </a:r>
            <a:r>
              <a:rPr lang="en-GB" sz="1092" b="1" i="0" noProof="0" dirty="0">
                <a:solidFill>
                  <a:srgbClr val="25282A"/>
                </a:solidFill>
                <a:latin typeface="Fira Sans"/>
              </a:rPr>
              <a:t>generalisation</a:t>
            </a:r>
            <a:r>
              <a:rPr sz="1092" b="0" i="0" dirty="0">
                <a:solidFill>
                  <a:srgbClr val="626669"/>
                </a:solidFill>
                <a:latin typeface="Fira Sans"/>
              </a:rPr>
              <a:t>. Two nearly identical histories occupy two unrelated rows. Nothing about one transfers to the other.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2.7  A SINGLE CAMERA SETTLES THE QUESTION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hour of video, and the table no longer fits in the universe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 — Agent function and agent program</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13</a:t>
            </a:r>
          </a:p>
        </p:txBody>
      </p:sp>
      <p:sp>
        <p:nvSpPr>
          <p:cNvPr id="8" name="TextBox 7"/>
          <p:cNvSpPr txBox="1"/>
          <p:nvPr/>
        </p:nvSpPr>
        <p:spPr>
          <a:xfrm>
            <a:off x="841248" y="1316736"/>
            <a:ext cx="10515600" cy="227926"/>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Take an </a:t>
            </a:r>
            <a:r>
              <a:rPr sz="1235" b="1" i="0" dirty="0">
                <a:solidFill>
                  <a:srgbClr val="333639"/>
                </a:solidFill>
                <a:latin typeface="Fira Sans"/>
              </a:rPr>
              <a:t>automated driving agent </a:t>
            </a:r>
            <a:r>
              <a:rPr sz="1235" b="0" i="0" dirty="0">
                <a:solidFill>
                  <a:srgbClr val="333639"/>
                </a:solidFill>
                <a:latin typeface="Fira Sans"/>
              </a:rPr>
              <a:t>whose only sensor is one camera: 1280 × 720 pixels, 24-bit color, 30 frames per second. Count its percepts.</a:t>
            </a:r>
          </a:p>
        </p:txBody>
      </p:sp>
      <p:pic>
        <p:nvPicPr>
          <p:cNvPr id="9" name="Picture 8" descr="table_explosion.png"/>
          <p:cNvPicPr>
            <a:picLocks noChangeAspect="1"/>
          </p:cNvPicPr>
          <p:nvPr/>
        </p:nvPicPr>
        <p:blipFill>
          <a:blip r:embed="rId2"/>
          <a:stretch>
            <a:fillRect/>
          </a:stretch>
        </p:blipFill>
        <p:spPr>
          <a:xfrm>
            <a:off x="2535402" y="1727542"/>
            <a:ext cx="7127290" cy="2331720"/>
          </a:xfrm>
          <a:prstGeom prst="rect">
            <a:avLst/>
          </a:prstGeom>
        </p:spPr>
      </p:pic>
      <p:sp>
        <p:nvSpPr>
          <p:cNvPr id="10" name="Rectangle 9"/>
          <p:cNvSpPr/>
          <p:nvPr/>
        </p:nvSpPr>
        <p:spPr>
          <a:xfrm>
            <a:off x="841248" y="433358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425022"/>
            <a:ext cx="326136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571326"/>
            <a:ext cx="326136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2B7A3E"/>
                </a:solidFill>
                <a:latin typeface="Fira Sans"/>
              </a:rPr>
              <a:t>PERCEPTS PER FRAME</a:t>
            </a:r>
          </a:p>
        </p:txBody>
      </p:sp>
      <p:pic>
        <p:nvPicPr>
          <p:cNvPr id="13" name="Picture 12" descr="eq_cam_P.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4845646"/>
            <a:ext cx="1882139" cy="263016"/>
          </a:xfrm>
          <a:prstGeom prst="rect">
            <a:avLst/>
          </a:prstGeom>
        </p:spPr>
      </p:pic>
      <p:sp>
        <p:nvSpPr>
          <p:cNvPr id="14" name="Rectangle 13"/>
          <p:cNvSpPr/>
          <p:nvPr/>
        </p:nvSpPr>
        <p:spPr>
          <a:xfrm>
            <a:off x="4468368" y="4425022"/>
            <a:ext cx="32613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68368" y="4571326"/>
            <a:ext cx="326136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PERCEPTS IN ONE HOUR</a:t>
            </a:r>
          </a:p>
        </p:txBody>
      </p:sp>
      <p:pic>
        <p:nvPicPr>
          <p:cNvPr id="16" name="Picture 15" descr="eq_cam_T.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68368" y="4845646"/>
            <a:ext cx="3261360" cy="259713"/>
          </a:xfrm>
          <a:prstGeom prst="rect">
            <a:avLst/>
          </a:prstGeom>
        </p:spPr>
      </p:pic>
      <p:sp>
        <p:nvSpPr>
          <p:cNvPr id="17" name="Rectangle 16"/>
          <p:cNvSpPr/>
          <p:nvPr/>
        </p:nvSpPr>
        <p:spPr>
          <a:xfrm>
            <a:off x="8095488" y="4425022"/>
            <a:ext cx="326136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95488" y="4571326"/>
            <a:ext cx="326136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C8102E"/>
                </a:solidFill>
                <a:latin typeface="Fira Sans"/>
              </a:rPr>
              <a:t>RESULTING TABLE SIZE</a:t>
            </a:r>
          </a:p>
        </p:txBody>
      </p:sp>
      <p:pic>
        <p:nvPicPr>
          <p:cNvPr id="19" name="Picture 18" descr="eq_cam_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95488" y="4845646"/>
            <a:ext cx="3261360" cy="207340"/>
          </a:xfrm>
          <a:prstGeom prst="rect">
            <a:avLst/>
          </a:prstGeom>
        </p:spPr>
      </p:pic>
      <p:sp>
        <p:nvSpPr>
          <p:cNvPr id="20" name="TextBox 19"/>
          <p:cNvSpPr txBox="1"/>
          <p:nvPr/>
        </p:nvSpPr>
        <p:spPr>
          <a:xfrm>
            <a:off x="841248" y="5430862"/>
            <a:ext cx="10515600" cy="392643"/>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0" i="0" dirty="0">
                <a:solidFill>
                  <a:srgbClr val="333639"/>
                </a:solidFill>
                <a:latin typeface="Fira Sans"/>
              </a:rPr>
              <a:t>That exponent has twelve digits. There is no sense in which such a table is “large but difficult”: it is </a:t>
            </a:r>
            <a:r>
              <a:rPr sz="1188" b="1" i="0" dirty="0">
                <a:solidFill>
                  <a:srgbClr val="C8102E"/>
                </a:solidFill>
                <a:latin typeface="Fira Sans"/>
              </a:rPr>
              <a:t>physically impossible</a:t>
            </a:r>
            <a:r>
              <a:rPr sz="1188" b="0" i="0" dirty="0">
                <a:solidFill>
                  <a:srgbClr val="333639"/>
                </a:solidFill>
                <a:latin typeface="Fira Sans"/>
              </a:rPr>
              <a:t> to store, to write, and to learn. And the camera in this example is a modest 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2.8  THE CONCLUSION OF PART II</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table does exactly what we want, and cannot exist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 — Agent function and agent program</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14</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Chess is a far smaller and far more structured domain than driving, and the estimate for its table is still around 10¹⁵⁰ entries. For comparison, the observable universe contains fewer than 10⁸⁰ atoms.</a:t>
            </a:r>
          </a:p>
        </p:txBody>
      </p:sp>
      <p:pic>
        <p:nvPicPr>
          <p:cNvPr id="9" name="Picture 8" descr="eq_chess_tbl.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95684" y="1955469"/>
            <a:ext cx="4800600" cy="346075"/>
          </a:xfrm>
          <a:prstGeom prst="rect">
            <a:avLst/>
          </a:prstGeom>
        </p:spPr>
      </p:pic>
      <p:sp>
        <p:nvSpPr>
          <p:cNvPr id="10" name="Rectangle 9"/>
          <p:cNvSpPr/>
          <p:nvPr/>
        </p:nvSpPr>
        <p:spPr>
          <a:xfrm>
            <a:off x="841248" y="2703880"/>
            <a:ext cx="5006340" cy="17007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2703880"/>
            <a:ext cx="41148" cy="17007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78992" y="2886760"/>
            <a:ext cx="4549140" cy="1029914"/>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a:solidFill>
                  <a:srgbClr val="2B7A3E"/>
                </a:solidFill>
                <a:latin typeface="Fira Sans"/>
              </a:rPr>
              <a:t>WHAT IS RIGHT ABOUT IT</a:t>
            </a:r>
          </a:p>
          <a:p>
            <a:pPr marL="0" indent="0" algn="l">
              <a:lnSpc>
                <a:spcPts val="1457"/>
              </a:lnSpc>
              <a:spcBef>
                <a:spcPts val="800"/>
              </a:spcBef>
              <a:spcAft>
                <a:spcPts val="0"/>
              </a:spcAft>
              <a:buNone/>
            </a:pPr>
            <a:r>
              <a:rPr sz="1235" b="1" i="0">
                <a:solidFill>
                  <a:srgbClr val="25282A"/>
                </a:solidFill>
                <a:latin typeface="Fira Sans"/>
              </a:rPr>
              <a:t>The table-driven agent is a correct solution.</a:t>
            </a:r>
          </a:p>
          <a:p>
            <a:pPr marL="0" indent="0" algn="l">
              <a:lnSpc>
                <a:spcPts val="1289"/>
              </a:lnSpc>
              <a:spcBef>
                <a:spcPts val="600"/>
              </a:spcBef>
              <a:spcAft>
                <a:spcPts val="0"/>
              </a:spcAft>
              <a:buNone/>
            </a:pPr>
            <a:r>
              <a:rPr sz="1092" b="0" i="0">
                <a:solidFill>
                  <a:srgbClr val="333639"/>
                </a:solidFill>
                <a:latin typeface="Fira Sans"/>
              </a:rPr>
              <a:t>Assuming its entries are filled in properly, it implements the desired agent function exactly. Nothing is approximated, nothing is lost. As a specification of behaviour it is perfect.</a:t>
            </a:r>
          </a:p>
        </p:txBody>
      </p:sp>
      <p:sp>
        <p:nvSpPr>
          <p:cNvPr id="13" name="Rectangle 12"/>
          <p:cNvSpPr/>
          <p:nvPr/>
        </p:nvSpPr>
        <p:spPr>
          <a:xfrm>
            <a:off x="6350507" y="2703880"/>
            <a:ext cx="5006340" cy="1700784"/>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350507" y="2703880"/>
            <a:ext cx="41148" cy="17007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88251" y="2886760"/>
            <a:ext cx="4549140" cy="1029914"/>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dirty="0">
                <a:solidFill>
                  <a:srgbClr val="C8102E"/>
                </a:solidFill>
                <a:latin typeface="Fira Sans"/>
              </a:rPr>
              <a:t>WHAT IS WRONG WITH IT</a:t>
            </a:r>
          </a:p>
          <a:p>
            <a:pPr marL="0" indent="0" algn="l">
              <a:lnSpc>
                <a:spcPts val="1457"/>
              </a:lnSpc>
              <a:spcBef>
                <a:spcPts val="800"/>
              </a:spcBef>
              <a:spcAft>
                <a:spcPts val="0"/>
              </a:spcAft>
              <a:buNone/>
            </a:pPr>
            <a:r>
              <a:rPr sz="1235" b="1" i="0" dirty="0">
                <a:solidFill>
                  <a:srgbClr val="25282A"/>
                </a:solidFill>
                <a:latin typeface="Fira Sans"/>
              </a:rPr>
              <a:t>No physical agent can store, write or learn it.</a:t>
            </a:r>
          </a:p>
          <a:p>
            <a:pPr marL="0" indent="0" algn="l">
              <a:lnSpc>
                <a:spcPts val="1289"/>
              </a:lnSpc>
              <a:spcBef>
                <a:spcPts val="600"/>
              </a:spcBef>
              <a:spcAft>
                <a:spcPts val="0"/>
              </a:spcAft>
              <a:buNone/>
            </a:pPr>
            <a:r>
              <a:rPr sz="1092" b="0" i="0" dirty="0">
                <a:solidFill>
                  <a:srgbClr val="333639"/>
                </a:solidFill>
                <a:latin typeface="Fira Sans"/>
              </a:rPr>
              <a:t>It cannot be stored</a:t>
            </a:r>
            <a:r>
              <a:rPr lang="it-IT" sz="1092" b="0" i="0" dirty="0">
                <a:solidFill>
                  <a:srgbClr val="333639"/>
                </a:solidFill>
                <a:latin typeface="Fira Sans"/>
              </a:rPr>
              <a:t>, </a:t>
            </a:r>
            <a:r>
              <a:rPr sz="1092" b="0" i="0" dirty="0">
                <a:solidFill>
                  <a:srgbClr val="333639"/>
                </a:solidFill>
                <a:latin typeface="Fira Sans"/>
              </a:rPr>
              <a:t>no medium is large enough. It cannot be written</a:t>
            </a:r>
            <a:r>
              <a:rPr lang="it-IT" sz="1092" dirty="0">
                <a:solidFill>
                  <a:srgbClr val="333639"/>
                </a:solidFill>
                <a:latin typeface="Fira Sans"/>
              </a:rPr>
              <a:t>,</a:t>
            </a:r>
            <a:r>
              <a:rPr sz="1092" b="0" i="0" dirty="0">
                <a:solidFill>
                  <a:srgbClr val="333639"/>
                </a:solidFill>
                <a:latin typeface="Fira Sans"/>
              </a:rPr>
              <a:t> no designer has the time. It cannot be learned</a:t>
            </a:r>
            <a:r>
              <a:rPr lang="it-IT" sz="1092" b="0" i="0" dirty="0">
                <a:solidFill>
                  <a:srgbClr val="333639"/>
                </a:solidFill>
                <a:latin typeface="Fira Sans"/>
              </a:rPr>
              <a:t>,</a:t>
            </a:r>
            <a:r>
              <a:rPr sz="1092" b="0" i="0" dirty="0">
                <a:solidFill>
                  <a:srgbClr val="333639"/>
                </a:solidFill>
                <a:latin typeface="Fira Sans"/>
              </a:rPr>
              <a:t> no lifetime of experience covers a fraction of the rows.</a:t>
            </a:r>
          </a:p>
        </p:txBody>
      </p:sp>
      <p:sp>
        <p:nvSpPr>
          <p:cNvPr id="16" name="Rectangle 15"/>
          <p:cNvSpPr/>
          <p:nvPr/>
        </p:nvSpPr>
        <p:spPr>
          <a:xfrm>
            <a:off x="841248" y="4715560"/>
            <a:ext cx="10515600"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41248" y="4916728"/>
            <a:ext cx="10515600" cy="691159"/>
          </a:xfrm>
          <a:prstGeom prst="rect">
            <a:avLst/>
          </a:prstGeom>
          <a:noFill/>
        </p:spPr>
        <p:txBody>
          <a:bodyPr wrap="square" lIns="0" tIns="0" rIns="0" bIns="0" anchor="t">
            <a:noAutofit/>
          </a:bodyPr>
          <a:lstStyle/>
          <a:p>
            <a:pPr marL="0" indent="0" algn="l">
              <a:lnSpc>
                <a:spcPts val="1664"/>
              </a:lnSpc>
              <a:spcBef>
                <a:spcPts val="0"/>
              </a:spcBef>
              <a:spcAft>
                <a:spcPts val="0"/>
              </a:spcAft>
              <a:buNone/>
            </a:pPr>
            <a:r>
              <a:rPr sz="1410" b="0" i="0" dirty="0">
                <a:solidFill>
                  <a:srgbClr val="333639"/>
                </a:solidFill>
                <a:latin typeface="Fira Sans"/>
              </a:rPr>
              <a:t>The task of AI is therefore not to specify the agent function, but to </a:t>
            </a:r>
            <a:r>
              <a:rPr sz="1410" b="1" i="0" dirty="0">
                <a:solidFill>
                  <a:srgbClr val="25282A"/>
                </a:solidFill>
                <a:latin typeface="Fira Sans"/>
              </a:rPr>
              <a:t>design agent programs that produce it compactly</a:t>
            </a:r>
            <a:r>
              <a:rPr sz="1410" b="0" i="0" dirty="0">
                <a:solidFill>
                  <a:srgbClr val="333639"/>
                </a:solidFill>
                <a:latin typeface="Fira Sans"/>
              </a:rPr>
              <a:t>.</a:t>
            </a:r>
          </a:p>
          <a:p>
            <a:pPr marL="0" indent="0" algn="l">
              <a:lnSpc>
                <a:spcPts val="1345"/>
              </a:lnSpc>
              <a:spcBef>
                <a:spcPts val="800"/>
              </a:spcBef>
              <a:spcAft>
                <a:spcPts val="0"/>
              </a:spcAft>
              <a:buNone/>
            </a:pPr>
            <a:r>
              <a:rPr sz="1140" b="0" i="0" dirty="0">
                <a:solidFill>
                  <a:srgbClr val="626669"/>
                </a:solidFill>
                <a:latin typeface="Fira Sans"/>
              </a:rPr>
              <a:t>For the vacuum world, one line already replaces the entire table: </a:t>
            </a:r>
            <a:r>
              <a:rPr sz="1140" b="0" i="1" dirty="0">
                <a:solidFill>
                  <a:srgbClr val="25282A"/>
                </a:solidFill>
                <a:latin typeface="Fira Sans"/>
              </a:rPr>
              <a:t>“if the current square is dirty, clean it; otherwise move to the other square.”</a:t>
            </a:r>
            <a:endParaRPr sz="1140" b="0" i="0" dirty="0">
              <a:solidFill>
                <a:srgbClr val="626669"/>
              </a:solidFill>
              <a:latin typeface="Fir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Properties of the environment</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The environment is the problem; the agent is the solution. Seven dimensions decide how hard that problem is.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Which property forces the agent to remember, and which forces it to plan?</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Observability · agents · determinism</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One-shot vs sequential</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Dynamics · continuity · knowledge</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Ten environments compared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3.1  WHY CLASSIFY ENVIRONMENTS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environment is the problem; its properties decide the architecture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16</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Rather than </a:t>
            </a:r>
            <a:r>
              <a:rPr sz="1235" b="0" i="0" dirty="0" err="1">
                <a:solidFill>
                  <a:srgbClr val="333639"/>
                </a:solidFill>
                <a:latin typeface="Fira Sans"/>
              </a:rPr>
              <a:t>analysing</a:t>
            </a:r>
            <a:r>
              <a:rPr sz="1235" b="0" i="0" dirty="0">
                <a:solidFill>
                  <a:srgbClr val="333639"/>
                </a:solidFill>
                <a:latin typeface="Fira Sans"/>
              </a:rPr>
              <a:t> every new task from scratch, characterize the environment along a small set of dimensions. Taken together they determine </a:t>
            </a:r>
            <a:r>
              <a:rPr sz="1235" b="1" i="0" dirty="0">
                <a:solidFill>
                  <a:srgbClr val="333639"/>
                </a:solidFill>
                <a:latin typeface="Fira Sans"/>
              </a:rPr>
              <a:t>how hard the decision problem is </a:t>
            </a:r>
            <a:r>
              <a:rPr sz="1235" b="0" i="0" dirty="0">
                <a:solidFill>
                  <a:srgbClr val="333639"/>
                </a:solidFill>
                <a:latin typeface="Fira Sans"/>
              </a:rPr>
              <a:t> and</a:t>
            </a:r>
            <a:r>
              <a:rPr lang="it-IT" sz="1235" dirty="0">
                <a:solidFill>
                  <a:srgbClr val="333639"/>
                </a:solidFill>
                <a:latin typeface="Fira Sans"/>
              </a:rPr>
              <a:t> </a:t>
            </a:r>
            <a:r>
              <a:rPr sz="1235" b="0" i="0" dirty="0">
                <a:solidFill>
                  <a:srgbClr val="333639"/>
                </a:solidFill>
                <a:latin typeface="Fira Sans"/>
              </a:rPr>
              <a:t>which machinery the agent program actually needs.</a:t>
            </a:r>
          </a:p>
        </p:txBody>
      </p:sp>
      <p:sp>
        <p:nvSpPr>
          <p:cNvPr id="9" name="Rectangle 8"/>
          <p:cNvSpPr/>
          <p:nvPr/>
        </p:nvSpPr>
        <p:spPr>
          <a:xfrm>
            <a:off x="841248" y="1937181"/>
            <a:ext cx="2423160" cy="20299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937181"/>
            <a:ext cx="242316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05840" y="2101773"/>
            <a:ext cx="2093976" cy="782797"/>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Observability</a:t>
            </a:r>
          </a:p>
          <a:p>
            <a:pPr marL="0" indent="0" algn="l">
              <a:lnSpc>
                <a:spcPts val="1121"/>
              </a:lnSpc>
              <a:spcBef>
                <a:spcPts val="400"/>
              </a:spcBef>
              <a:spcAft>
                <a:spcPts val="0"/>
              </a:spcAft>
              <a:buNone/>
            </a:pPr>
            <a:r>
              <a:rPr sz="950" b="1" i="0" dirty="0">
                <a:solidFill>
                  <a:srgbClr val="2B7A3E"/>
                </a:solidFill>
                <a:latin typeface="Fira Sans"/>
              </a:rPr>
              <a:t>fully  /  partially</a:t>
            </a:r>
          </a:p>
          <a:p>
            <a:pPr marL="0" indent="0" algn="l">
              <a:lnSpc>
                <a:spcPts val="1176"/>
              </a:lnSpc>
              <a:spcBef>
                <a:spcPts val="600"/>
              </a:spcBef>
              <a:spcAft>
                <a:spcPts val="0"/>
              </a:spcAft>
              <a:buNone/>
            </a:pPr>
            <a:r>
              <a:rPr sz="997" b="0" i="0" dirty="0">
                <a:solidFill>
                  <a:srgbClr val="333639"/>
                </a:solidFill>
                <a:latin typeface="Fira Sans"/>
              </a:rPr>
              <a:t>Do the sensors reveal everything relevant to the decision?</a:t>
            </a:r>
          </a:p>
        </p:txBody>
      </p:sp>
      <p:sp>
        <p:nvSpPr>
          <p:cNvPr id="12" name="TextBox 11"/>
          <p:cNvSpPr txBox="1"/>
          <p:nvPr/>
        </p:nvSpPr>
        <p:spPr>
          <a:xfrm>
            <a:off x="1005840" y="3363645"/>
            <a:ext cx="2093976"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1">
                <a:solidFill>
                  <a:srgbClr val="626669"/>
                </a:solidFill>
                <a:latin typeface="Fira Sans"/>
              </a:rPr>
              <a:t>Partial observability forces an internal state.</a:t>
            </a:r>
          </a:p>
        </p:txBody>
      </p:sp>
      <p:sp>
        <p:nvSpPr>
          <p:cNvPr id="13" name="Rectangle 12"/>
          <p:cNvSpPr/>
          <p:nvPr/>
        </p:nvSpPr>
        <p:spPr>
          <a:xfrm>
            <a:off x="1005840" y="3253917"/>
            <a:ext cx="2093976"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3538727" y="1937181"/>
            <a:ext cx="2423160" cy="20299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3538727" y="1937181"/>
            <a:ext cx="24231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703320" y="2101773"/>
            <a:ext cx="2093976" cy="782797"/>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Agents</a:t>
            </a:r>
          </a:p>
          <a:p>
            <a:pPr marL="0" indent="0" algn="l">
              <a:lnSpc>
                <a:spcPts val="1121"/>
              </a:lnSpc>
              <a:spcBef>
                <a:spcPts val="400"/>
              </a:spcBef>
              <a:spcAft>
                <a:spcPts val="0"/>
              </a:spcAft>
              <a:buNone/>
            </a:pPr>
            <a:r>
              <a:rPr sz="950" b="1" i="0">
                <a:solidFill>
                  <a:srgbClr val="574676"/>
                </a:solidFill>
                <a:latin typeface="Fira Sans"/>
              </a:rPr>
              <a:t>single  /  multi</a:t>
            </a:r>
          </a:p>
          <a:p>
            <a:pPr marL="0" indent="0" algn="l">
              <a:lnSpc>
                <a:spcPts val="1176"/>
              </a:lnSpc>
              <a:spcBef>
                <a:spcPts val="600"/>
              </a:spcBef>
              <a:spcAft>
                <a:spcPts val="0"/>
              </a:spcAft>
              <a:buNone/>
            </a:pPr>
            <a:r>
              <a:rPr sz="997" b="0" i="0">
                <a:solidFill>
                  <a:srgbClr val="333639"/>
                </a:solidFill>
                <a:latin typeface="Fira Sans"/>
              </a:rPr>
              <a:t>Does anything else in the world optimise its own measure?</a:t>
            </a:r>
          </a:p>
        </p:txBody>
      </p:sp>
      <p:sp>
        <p:nvSpPr>
          <p:cNvPr id="17" name="TextBox 16"/>
          <p:cNvSpPr txBox="1"/>
          <p:nvPr/>
        </p:nvSpPr>
        <p:spPr>
          <a:xfrm>
            <a:off x="3703320" y="3363645"/>
            <a:ext cx="2093976"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1">
                <a:solidFill>
                  <a:srgbClr val="626669"/>
                </a:solidFill>
                <a:latin typeface="Fira Sans"/>
              </a:rPr>
              <a:t>Multi-agent forces reasoning about others.</a:t>
            </a:r>
          </a:p>
        </p:txBody>
      </p:sp>
      <p:sp>
        <p:nvSpPr>
          <p:cNvPr id="18" name="Rectangle 17"/>
          <p:cNvSpPr/>
          <p:nvPr/>
        </p:nvSpPr>
        <p:spPr>
          <a:xfrm>
            <a:off x="3703320" y="3253917"/>
            <a:ext cx="2093976"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36207" y="1937181"/>
            <a:ext cx="2423160" cy="20299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6236207" y="1937181"/>
            <a:ext cx="242316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00799" y="2101773"/>
            <a:ext cx="2093976" cy="782797"/>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Determinism</a:t>
            </a:r>
          </a:p>
          <a:p>
            <a:pPr marL="0" indent="0" algn="l">
              <a:lnSpc>
                <a:spcPts val="1121"/>
              </a:lnSpc>
              <a:spcBef>
                <a:spcPts val="400"/>
              </a:spcBef>
              <a:spcAft>
                <a:spcPts val="0"/>
              </a:spcAft>
              <a:buNone/>
            </a:pPr>
            <a:r>
              <a:rPr sz="950" b="1" i="0" dirty="0">
                <a:solidFill>
                  <a:srgbClr val="8A5100"/>
                </a:solidFill>
                <a:latin typeface="Fira Sans"/>
              </a:rPr>
              <a:t>deterministic  /  stochastic  /  non-det</a:t>
            </a:r>
            <a:r>
              <a:rPr lang="it-IT" sz="950" b="1" i="0" dirty="0" err="1">
                <a:solidFill>
                  <a:srgbClr val="8A5100"/>
                </a:solidFill>
                <a:latin typeface="Fira Sans"/>
              </a:rPr>
              <a:t>erministic</a:t>
            </a:r>
            <a:endParaRPr sz="950" b="1" i="0" dirty="0">
              <a:solidFill>
                <a:srgbClr val="8A5100"/>
              </a:solidFill>
              <a:latin typeface="Fira Sans"/>
            </a:endParaRPr>
          </a:p>
          <a:p>
            <a:pPr marL="0" indent="0" algn="l">
              <a:lnSpc>
                <a:spcPts val="1176"/>
              </a:lnSpc>
              <a:spcBef>
                <a:spcPts val="600"/>
              </a:spcBef>
              <a:spcAft>
                <a:spcPts val="0"/>
              </a:spcAft>
              <a:buNone/>
            </a:pPr>
            <a:r>
              <a:rPr sz="997" b="0" i="0" dirty="0">
                <a:solidFill>
                  <a:srgbClr val="333639"/>
                </a:solidFill>
                <a:latin typeface="Fira Sans"/>
              </a:rPr>
              <a:t>Is the next state fixed by the current state and action?</a:t>
            </a:r>
          </a:p>
        </p:txBody>
      </p:sp>
      <p:sp>
        <p:nvSpPr>
          <p:cNvPr id="22" name="TextBox 21"/>
          <p:cNvSpPr txBox="1"/>
          <p:nvPr/>
        </p:nvSpPr>
        <p:spPr>
          <a:xfrm>
            <a:off x="6400799" y="3363645"/>
            <a:ext cx="2093976"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1">
                <a:solidFill>
                  <a:srgbClr val="626669"/>
                </a:solidFill>
                <a:latin typeface="Fira Sans"/>
              </a:rPr>
              <a:t>Uncertainty forces expectations or worst cases.</a:t>
            </a:r>
          </a:p>
        </p:txBody>
      </p:sp>
      <p:sp>
        <p:nvSpPr>
          <p:cNvPr id="23" name="Rectangle 22"/>
          <p:cNvSpPr/>
          <p:nvPr/>
        </p:nvSpPr>
        <p:spPr>
          <a:xfrm>
            <a:off x="6400799" y="3253917"/>
            <a:ext cx="2093976"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933688" y="1937181"/>
            <a:ext cx="2423160" cy="20299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933688" y="1937181"/>
            <a:ext cx="242316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098280" y="2101773"/>
            <a:ext cx="2093976" cy="782797"/>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Decision structure</a:t>
            </a:r>
          </a:p>
          <a:p>
            <a:pPr marL="0" indent="0" algn="l">
              <a:lnSpc>
                <a:spcPts val="1121"/>
              </a:lnSpc>
              <a:spcBef>
                <a:spcPts val="400"/>
              </a:spcBef>
              <a:spcAft>
                <a:spcPts val="0"/>
              </a:spcAft>
              <a:buNone/>
            </a:pPr>
            <a:r>
              <a:rPr sz="950" b="1" i="0">
                <a:solidFill>
                  <a:srgbClr val="C8102E"/>
                </a:solidFill>
                <a:latin typeface="Fira Sans"/>
              </a:rPr>
              <a:t>one-shot  /  sequential</a:t>
            </a:r>
          </a:p>
          <a:p>
            <a:pPr marL="0" indent="0" algn="l">
              <a:lnSpc>
                <a:spcPts val="1176"/>
              </a:lnSpc>
              <a:spcBef>
                <a:spcPts val="600"/>
              </a:spcBef>
              <a:spcAft>
                <a:spcPts val="0"/>
              </a:spcAft>
              <a:buNone/>
            </a:pPr>
            <a:r>
              <a:rPr sz="997" b="0" i="0">
                <a:solidFill>
                  <a:srgbClr val="333639"/>
                </a:solidFill>
                <a:latin typeface="Fira Sans"/>
              </a:rPr>
              <a:t>Does the current action change what happens later?</a:t>
            </a:r>
          </a:p>
        </p:txBody>
      </p:sp>
      <p:sp>
        <p:nvSpPr>
          <p:cNvPr id="27" name="TextBox 26"/>
          <p:cNvSpPr txBox="1"/>
          <p:nvPr/>
        </p:nvSpPr>
        <p:spPr>
          <a:xfrm>
            <a:off x="9098280" y="3363645"/>
            <a:ext cx="2093976"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1" dirty="0">
                <a:solidFill>
                  <a:srgbClr val="626669"/>
                </a:solidFill>
                <a:latin typeface="Fira Sans"/>
              </a:rPr>
              <a:t>Sequentially forces looking ahead</a:t>
            </a:r>
            <a:r>
              <a:rPr lang="it-IT" sz="950" b="0" i="1" dirty="0">
                <a:solidFill>
                  <a:srgbClr val="626669"/>
                </a:solidFill>
                <a:latin typeface="Fira Sans"/>
              </a:rPr>
              <a:t> (</a:t>
            </a:r>
            <a:r>
              <a:rPr sz="950" b="0" i="1" dirty="0">
                <a:solidFill>
                  <a:srgbClr val="626669"/>
                </a:solidFill>
                <a:latin typeface="Fira Sans"/>
              </a:rPr>
              <a:t>this is RL</a:t>
            </a:r>
            <a:r>
              <a:rPr lang="it-IT" sz="950" b="0" i="1" dirty="0">
                <a:solidFill>
                  <a:srgbClr val="626669"/>
                </a:solidFill>
                <a:latin typeface="Fira Sans"/>
              </a:rPr>
              <a:t>)</a:t>
            </a:r>
            <a:r>
              <a:rPr sz="950" b="0" i="1" dirty="0">
                <a:solidFill>
                  <a:srgbClr val="626669"/>
                </a:solidFill>
                <a:latin typeface="Fira Sans"/>
              </a:rPr>
              <a:t>.</a:t>
            </a:r>
          </a:p>
        </p:txBody>
      </p:sp>
      <p:sp>
        <p:nvSpPr>
          <p:cNvPr id="28" name="Rectangle 27"/>
          <p:cNvSpPr/>
          <p:nvPr/>
        </p:nvSpPr>
        <p:spPr>
          <a:xfrm>
            <a:off x="9098280" y="3253917"/>
            <a:ext cx="2093976"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841248" y="4204893"/>
            <a:ext cx="2423160" cy="20299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841248" y="4204893"/>
            <a:ext cx="242316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005840" y="4369485"/>
            <a:ext cx="2093976" cy="782797"/>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Dynamics</a:t>
            </a:r>
          </a:p>
          <a:p>
            <a:pPr marL="0" indent="0" algn="l">
              <a:lnSpc>
                <a:spcPts val="1121"/>
              </a:lnSpc>
              <a:spcBef>
                <a:spcPts val="400"/>
              </a:spcBef>
              <a:spcAft>
                <a:spcPts val="0"/>
              </a:spcAft>
              <a:buNone/>
            </a:pPr>
            <a:r>
              <a:rPr sz="950" b="1" i="0">
                <a:solidFill>
                  <a:srgbClr val="2B7A3E"/>
                </a:solidFill>
                <a:latin typeface="Fira Sans"/>
              </a:rPr>
              <a:t>static  /  semi-dynamic  /  dynamic</a:t>
            </a:r>
          </a:p>
          <a:p>
            <a:pPr marL="0" indent="0" algn="l">
              <a:lnSpc>
                <a:spcPts val="1176"/>
              </a:lnSpc>
              <a:spcBef>
                <a:spcPts val="600"/>
              </a:spcBef>
              <a:spcAft>
                <a:spcPts val="0"/>
              </a:spcAft>
              <a:buNone/>
            </a:pPr>
            <a:r>
              <a:rPr sz="997" b="0" i="0">
                <a:solidFill>
                  <a:srgbClr val="333639"/>
                </a:solidFill>
                <a:latin typeface="Fira Sans"/>
              </a:rPr>
              <a:t>Can the world change while the agent is thinking?</a:t>
            </a:r>
          </a:p>
        </p:txBody>
      </p:sp>
      <p:sp>
        <p:nvSpPr>
          <p:cNvPr id="32" name="TextBox 31"/>
          <p:cNvSpPr txBox="1"/>
          <p:nvPr/>
        </p:nvSpPr>
        <p:spPr>
          <a:xfrm>
            <a:off x="1005840" y="5631357"/>
            <a:ext cx="2093976"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1">
                <a:solidFill>
                  <a:srgbClr val="626669"/>
                </a:solidFill>
                <a:latin typeface="Fira Sans"/>
              </a:rPr>
              <a:t>Dynamism puts deliberation under a deadline.</a:t>
            </a:r>
          </a:p>
        </p:txBody>
      </p:sp>
      <p:sp>
        <p:nvSpPr>
          <p:cNvPr id="33" name="Rectangle 32"/>
          <p:cNvSpPr/>
          <p:nvPr/>
        </p:nvSpPr>
        <p:spPr>
          <a:xfrm>
            <a:off x="1005840" y="5521629"/>
            <a:ext cx="2093976"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3538727" y="4204893"/>
            <a:ext cx="2423160" cy="20299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3538727" y="4204893"/>
            <a:ext cx="24231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3703320" y="4369485"/>
            <a:ext cx="2093976" cy="782797"/>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Continuity</a:t>
            </a:r>
          </a:p>
          <a:p>
            <a:pPr marL="0" indent="0" algn="l">
              <a:lnSpc>
                <a:spcPts val="1121"/>
              </a:lnSpc>
              <a:spcBef>
                <a:spcPts val="400"/>
              </a:spcBef>
              <a:spcAft>
                <a:spcPts val="0"/>
              </a:spcAft>
              <a:buNone/>
            </a:pPr>
            <a:r>
              <a:rPr sz="950" b="1" i="0">
                <a:solidFill>
                  <a:srgbClr val="574676"/>
                </a:solidFill>
                <a:latin typeface="Fira Sans"/>
              </a:rPr>
              <a:t>discrete  /  continuous</a:t>
            </a:r>
          </a:p>
          <a:p>
            <a:pPr marL="0" indent="0" algn="l">
              <a:lnSpc>
                <a:spcPts val="1176"/>
              </a:lnSpc>
              <a:spcBef>
                <a:spcPts val="600"/>
              </a:spcBef>
              <a:spcAft>
                <a:spcPts val="0"/>
              </a:spcAft>
              <a:buNone/>
            </a:pPr>
            <a:r>
              <a:rPr sz="997" b="0" i="0">
                <a:solidFill>
                  <a:srgbClr val="333639"/>
                </a:solidFill>
                <a:latin typeface="Fira Sans"/>
              </a:rPr>
              <a:t>Are states, time, percepts and actions enumerable?</a:t>
            </a:r>
          </a:p>
        </p:txBody>
      </p:sp>
      <p:sp>
        <p:nvSpPr>
          <p:cNvPr id="37" name="TextBox 36"/>
          <p:cNvSpPr txBox="1"/>
          <p:nvPr/>
        </p:nvSpPr>
        <p:spPr>
          <a:xfrm>
            <a:off x="3703320" y="5631357"/>
            <a:ext cx="2093976" cy="316484"/>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1">
                <a:solidFill>
                  <a:srgbClr val="626669"/>
                </a:solidFill>
                <a:latin typeface="Fira Sans"/>
              </a:rPr>
              <a:t>Continuity forces function approximation.</a:t>
            </a:r>
          </a:p>
        </p:txBody>
      </p:sp>
      <p:sp>
        <p:nvSpPr>
          <p:cNvPr id="38" name="Rectangle 37"/>
          <p:cNvSpPr/>
          <p:nvPr/>
        </p:nvSpPr>
        <p:spPr>
          <a:xfrm>
            <a:off x="3703320" y="5521629"/>
            <a:ext cx="2093976"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6236207" y="4204893"/>
            <a:ext cx="2423160" cy="20299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6236207" y="4204893"/>
            <a:ext cx="242316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400799" y="4369485"/>
            <a:ext cx="2093976" cy="782797"/>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Knowledge of the rules</a:t>
            </a:r>
          </a:p>
          <a:p>
            <a:pPr marL="0" indent="0" algn="l">
              <a:lnSpc>
                <a:spcPts val="1121"/>
              </a:lnSpc>
              <a:spcBef>
                <a:spcPts val="400"/>
              </a:spcBef>
              <a:spcAft>
                <a:spcPts val="0"/>
              </a:spcAft>
              <a:buNone/>
            </a:pPr>
            <a:r>
              <a:rPr sz="950" b="1" i="0" dirty="0">
                <a:solidFill>
                  <a:srgbClr val="8A5100"/>
                </a:solidFill>
                <a:latin typeface="Fira Sans"/>
              </a:rPr>
              <a:t>known  /  unknown</a:t>
            </a:r>
          </a:p>
          <a:p>
            <a:pPr marL="0" indent="0" algn="l">
              <a:lnSpc>
                <a:spcPts val="1176"/>
              </a:lnSpc>
              <a:spcBef>
                <a:spcPts val="600"/>
              </a:spcBef>
              <a:spcAft>
                <a:spcPts val="0"/>
              </a:spcAft>
              <a:buNone/>
            </a:pPr>
            <a:r>
              <a:rPr sz="997" b="0" i="0" dirty="0">
                <a:solidFill>
                  <a:srgbClr val="333639"/>
                </a:solidFill>
                <a:latin typeface="Fira Sans"/>
              </a:rPr>
              <a:t>Does the agent know the outcomes of its own actions?</a:t>
            </a:r>
          </a:p>
        </p:txBody>
      </p:sp>
      <p:sp>
        <p:nvSpPr>
          <p:cNvPr id="42" name="TextBox 41"/>
          <p:cNvSpPr txBox="1"/>
          <p:nvPr/>
        </p:nvSpPr>
        <p:spPr>
          <a:xfrm>
            <a:off x="6400799" y="5631357"/>
            <a:ext cx="2093976" cy="176530"/>
          </a:xfrm>
          <a:prstGeom prst="rect">
            <a:avLst/>
          </a:prstGeom>
          <a:noFill/>
        </p:spPr>
        <p:txBody>
          <a:bodyPr wrap="square" lIns="0" tIns="0" rIns="0" bIns="0" anchor="t">
            <a:noAutofit/>
          </a:bodyPr>
          <a:lstStyle/>
          <a:p>
            <a:pPr marL="0" indent="0" algn="l">
              <a:lnSpc>
                <a:spcPts val="1102"/>
              </a:lnSpc>
              <a:spcBef>
                <a:spcPts val="0"/>
              </a:spcBef>
              <a:spcAft>
                <a:spcPts val="0"/>
              </a:spcAft>
              <a:buNone/>
            </a:pPr>
            <a:r>
              <a:rPr sz="950" b="0" i="1">
                <a:solidFill>
                  <a:srgbClr val="626669"/>
                </a:solidFill>
                <a:latin typeface="Fira Sans"/>
              </a:rPr>
              <a:t>Unknown dynamics force learning.</a:t>
            </a:r>
          </a:p>
        </p:txBody>
      </p:sp>
      <p:sp>
        <p:nvSpPr>
          <p:cNvPr id="43" name="Rectangle 42"/>
          <p:cNvSpPr/>
          <p:nvPr/>
        </p:nvSpPr>
        <p:spPr>
          <a:xfrm>
            <a:off x="6400799" y="5521629"/>
            <a:ext cx="2093976"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8933688" y="4204893"/>
            <a:ext cx="2423160" cy="202996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9098280" y="4387773"/>
            <a:ext cx="2093976" cy="164561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7FAED9"/>
                </a:solidFill>
                <a:latin typeface="Fira Sans"/>
              </a:rPr>
              <a:t>THE HARDEST CASE</a:t>
            </a:r>
          </a:p>
          <a:p>
            <a:pPr marL="0" indent="0" algn="l">
              <a:lnSpc>
                <a:spcPts val="1345"/>
              </a:lnSpc>
              <a:spcBef>
                <a:spcPts val="800"/>
              </a:spcBef>
              <a:spcAft>
                <a:spcPts val="0"/>
              </a:spcAft>
              <a:buNone/>
            </a:pPr>
            <a:r>
              <a:rPr sz="1140" b="0" i="0" dirty="0">
                <a:solidFill>
                  <a:srgbClr val="FFFFFF"/>
                </a:solidFill>
                <a:latin typeface="Fira Sans"/>
              </a:rPr>
              <a:t>Partially observable, multi-agent, stochastic, sequential, dynamic and continuous.</a:t>
            </a:r>
          </a:p>
          <a:p>
            <a:pPr marL="0" indent="0" algn="l">
              <a:lnSpc>
                <a:spcPts val="1176"/>
              </a:lnSpc>
              <a:spcBef>
                <a:spcPts val="800"/>
              </a:spcBef>
              <a:spcAft>
                <a:spcPts val="0"/>
              </a:spcAft>
              <a:buNone/>
            </a:pPr>
            <a:r>
              <a:rPr sz="997" b="0" i="0" dirty="0">
                <a:solidFill>
                  <a:srgbClr val="9FB6CC"/>
                </a:solidFill>
                <a:latin typeface="Fira Sans"/>
              </a:rPr>
              <a:t>Autonomous driving is difficult in every one of these senses at once</a:t>
            </a:r>
            <a:r>
              <a:rPr lang="it-IT" sz="997" b="0" i="0" dirty="0">
                <a:solidFill>
                  <a:srgbClr val="9FB6CC"/>
                </a:solidFill>
                <a:latin typeface="Fira Sans"/>
              </a:rPr>
              <a:t>, </a:t>
            </a:r>
            <a:r>
              <a:rPr sz="997" b="0" i="0" dirty="0">
                <a:solidFill>
                  <a:srgbClr val="9FB6CC"/>
                </a:solidFill>
                <a:latin typeface="Fira Sans"/>
              </a:rPr>
              <a:t>which is exactly why it resists any single technique.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3.2  OBSERVABILITY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When perception is not reality, the agent must remember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17</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An environment is </a:t>
            </a:r>
            <a:r>
              <a:rPr sz="1235" b="1" i="0" dirty="0">
                <a:solidFill>
                  <a:srgbClr val="333639"/>
                </a:solidFill>
                <a:latin typeface="Fira Sans"/>
              </a:rPr>
              <a:t>fully observable </a:t>
            </a:r>
            <a:r>
              <a:rPr sz="1235" b="0" i="0" dirty="0">
                <a:solidFill>
                  <a:srgbClr val="333639"/>
                </a:solidFill>
                <a:latin typeface="Fira Sans"/>
              </a:rPr>
              <a:t>if the sensors provide, at all times, everything relevant to choosing an action. Otherwise it is </a:t>
            </a:r>
            <a:r>
              <a:rPr sz="1235" b="1" i="0" dirty="0">
                <a:solidFill>
                  <a:srgbClr val="333639"/>
                </a:solidFill>
                <a:latin typeface="Fira Sans"/>
              </a:rPr>
              <a:t>partially observable</a:t>
            </a:r>
            <a:r>
              <a:rPr sz="1235" b="0" i="0" dirty="0">
                <a:solidFill>
                  <a:srgbClr val="333639"/>
                </a:solidFill>
                <a:latin typeface="Fira Sans"/>
              </a:rPr>
              <a:t> </a:t>
            </a:r>
            <a:r>
              <a:rPr lang="it-IT" sz="1235" dirty="0">
                <a:solidFill>
                  <a:srgbClr val="333639"/>
                </a:solidFill>
                <a:latin typeface="Fira Sans"/>
              </a:rPr>
              <a:t>(</a:t>
            </a:r>
            <a:r>
              <a:rPr sz="1235" b="0" i="0" dirty="0">
                <a:solidFill>
                  <a:srgbClr val="333639"/>
                </a:solidFill>
                <a:latin typeface="Fira Sans"/>
              </a:rPr>
              <a:t>because sensors are noisy, limited in range, or simply cannot see through walls</a:t>
            </a:r>
            <a:r>
              <a:rPr lang="it-IT" sz="1235" b="0" i="0" dirty="0">
                <a:solidFill>
                  <a:srgbClr val="333639"/>
                </a:solidFill>
                <a:latin typeface="Fira Sans"/>
              </a:rPr>
              <a:t>)</a:t>
            </a:r>
            <a:r>
              <a:rPr sz="1235" b="0" i="0" dirty="0">
                <a:solidFill>
                  <a:srgbClr val="333639"/>
                </a:solidFill>
                <a:latin typeface="Fira Sans"/>
              </a:rPr>
              <a:t>.</a:t>
            </a:r>
          </a:p>
        </p:txBody>
      </p:sp>
      <p:pic>
        <p:nvPicPr>
          <p:cNvPr id="9" name="Picture 8" descr="obs_full.png"/>
          <p:cNvPicPr>
            <a:picLocks noChangeAspect="1"/>
          </p:cNvPicPr>
          <p:nvPr/>
        </p:nvPicPr>
        <p:blipFill>
          <a:blip r:embed="rId2"/>
          <a:stretch>
            <a:fillRect/>
          </a:stretch>
        </p:blipFill>
        <p:spPr>
          <a:xfrm>
            <a:off x="989589" y="1835682"/>
            <a:ext cx="4034045" cy="2633472"/>
          </a:xfrm>
          <a:prstGeom prst="rect">
            <a:avLst/>
          </a:prstGeom>
        </p:spPr>
      </p:pic>
      <p:pic>
        <p:nvPicPr>
          <p:cNvPr id="10" name="Picture 9" descr="obs_partial.png"/>
          <p:cNvPicPr>
            <a:picLocks noChangeAspect="1"/>
          </p:cNvPicPr>
          <p:nvPr/>
        </p:nvPicPr>
        <p:blipFill>
          <a:blip r:embed="rId3"/>
          <a:stretch>
            <a:fillRect/>
          </a:stretch>
        </p:blipFill>
        <p:spPr>
          <a:xfrm>
            <a:off x="6169771" y="1799156"/>
            <a:ext cx="4600727" cy="2646925"/>
          </a:xfrm>
          <a:prstGeom prst="rect">
            <a:avLst/>
          </a:prstGeom>
        </p:spPr>
      </p:pic>
      <p:sp>
        <p:nvSpPr>
          <p:cNvPr id="11" name="Rectangle 10"/>
          <p:cNvSpPr/>
          <p:nvPr/>
        </p:nvSpPr>
        <p:spPr>
          <a:xfrm>
            <a:off x="841248" y="457065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4790109"/>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93641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2B7A3E"/>
                </a:solidFill>
                <a:latin typeface="Fira Sans"/>
              </a:rPr>
              <a:t>FULLY OBSERVABLE</a:t>
            </a:r>
          </a:p>
          <a:p>
            <a:pPr marL="0" indent="0" algn="l">
              <a:lnSpc>
                <a:spcPts val="1277"/>
              </a:lnSpc>
              <a:spcBef>
                <a:spcPts val="500"/>
              </a:spcBef>
              <a:spcAft>
                <a:spcPts val="0"/>
              </a:spcAft>
              <a:buNone/>
            </a:pPr>
            <a:r>
              <a:rPr sz="1140" b="1" i="0">
                <a:solidFill>
                  <a:srgbClr val="25282A"/>
                </a:solidFill>
                <a:latin typeface="Fira Sans"/>
              </a:rPr>
              <a:t>No internal state is needed</a:t>
            </a:r>
          </a:p>
          <a:p>
            <a:pPr marL="0" indent="0" algn="l">
              <a:lnSpc>
                <a:spcPts val="1254"/>
              </a:lnSpc>
              <a:spcBef>
                <a:spcPts val="500"/>
              </a:spcBef>
              <a:spcAft>
                <a:spcPts val="0"/>
              </a:spcAft>
              <a:buNone/>
            </a:pPr>
            <a:r>
              <a:rPr sz="1045" b="0" i="0">
                <a:solidFill>
                  <a:srgbClr val="626669"/>
                </a:solidFill>
                <a:latin typeface="Fira Sans"/>
              </a:rPr>
              <a:t>Perception coincides with reality. The current percept is a sufficient summary of the world, so the agent can decide without remembering anything.</a:t>
            </a:r>
          </a:p>
        </p:txBody>
      </p:sp>
      <p:sp>
        <p:nvSpPr>
          <p:cNvPr id="14" name="Rectangle 13"/>
          <p:cNvSpPr/>
          <p:nvPr/>
        </p:nvSpPr>
        <p:spPr>
          <a:xfrm>
            <a:off x="4450080" y="4790109"/>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50080" y="493641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a:rPr>
              <a:t>PARTIALLY OBSERVABLE</a:t>
            </a:r>
          </a:p>
          <a:p>
            <a:pPr marL="0" indent="0" algn="l">
              <a:lnSpc>
                <a:spcPts val="1277"/>
              </a:lnSpc>
              <a:spcBef>
                <a:spcPts val="500"/>
              </a:spcBef>
              <a:spcAft>
                <a:spcPts val="0"/>
              </a:spcAft>
              <a:buNone/>
            </a:pPr>
            <a:r>
              <a:rPr sz="1140" b="1" i="0">
                <a:solidFill>
                  <a:srgbClr val="25282A"/>
                </a:solidFill>
                <a:latin typeface="Fira Sans"/>
              </a:rPr>
              <a:t>The agent maintains a belief</a:t>
            </a:r>
          </a:p>
          <a:p>
            <a:pPr marL="0" indent="0" algn="l">
              <a:lnSpc>
                <a:spcPts val="1254"/>
              </a:lnSpc>
              <a:spcBef>
                <a:spcPts val="500"/>
              </a:spcBef>
              <a:spcAft>
                <a:spcPts val="0"/>
              </a:spcAft>
              <a:buNone/>
            </a:pPr>
            <a:r>
              <a:rPr sz="1045" b="0" i="0">
                <a:solidFill>
                  <a:srgbClr val="626669"/>
                </a:solidFill>
                <a:latin typeface="Fira Sans"/>
              </a:rPr>
              <a:t>The percept is a partial, possibly noisy view. The agent must carry an internal estimate of what it cannot currently see, updated as new percepts arrive.</a:t>
            </a:r>
          </a:p>
        </p:txBody>
      </p:sp>
      <p:sp>
        <p:nvSpPr>
          <p:cNvPr id="16" name="Rectangle 15"/>
          <p:cNvSpPr/>
          <p:nvPr/>
        </p:nvSpPr>
        <p:spPr>
          <a:xfrm>
            <a:off x="8058912" y="4790109"/>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058912" y="4936412"/>
            <a:ext cx="3297936" cy="1127889"/>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574676"/>
                </a:solidFill>
                <a:latin typeface="Fira Sans"/>
              </a:rPr>
              <a:t>CONSEQUENCE FOR DESIGN</a:t>
            </a:r>
          </a:p>
          <a:p>
            <a:pPr marL="0" indent="0" algn="l">
              <a:lnSpc>
                <a:spcPts val="1277"/>
              </a:lnSpc>
              <a:spcBef>
                <a:spcPts val="500"/>
              </a:spcBef>
              <a:spcAft>
                <a:spcPts val="0"/>
              </a:spcAft>
              <a:buNone/>
            </a:pPr>
            <a:r>
              <a:rPr lang="en-GB" sz="1140" b="1" noProof="0" dirty="0">
                <a:solidFill>
                  <a:srgbClr val="25282A"/>
                </a:solidFill>
                <a:latin typeface="Fira Sans"/>
              </a:rPr>
              <a:t>Agent complexity</a:t>
            </a:r>
            <a:endParaRPr lang="en-GB" sz="1140" b="1" i="0" noProof="0" dirty="0">
              <a:solidFill>
                <a:srgbClr val="25282A"/>
              </a:solidFill>
              <a:latin typeface="Fira Sans"/>
            </a:endParaRPr>
          </a:p>
          <a:p>
            <a:pPr marL="0" indent="0" algn="l">
              <a:lnSpc>
                <a:spcPts val="1254"/>
              </a:lnSpc>
              <a:spcBef>
                <a:spcPts val="500"/>
              </a:spcBef>
              <a:spcAft>
                <a:spcPts val="0"/>
              </a:spcAft>
              <a:buNone/>
            </a:pPr>
            <a:r>
              <a:rPr lang="en-GB" sz="1045" b="0" i="0" noProof="0" dirty="0">
                <a:solidFill>
                  <a:srgbClr val="626669"/>
                </a:solidFill>
                <a:latin typeface="Fira Sans"/>
              </a:rPr>
              <a:t>Simple agents based only on the current percept are adequate only when the environment is fully observable. Everything else needs the model-based architecture.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3.3  NUMBER OF AGENTS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Another agent is not an obstacle: it optimises against you</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18</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An environment is </a:t>
            </a:r>
            <a:r>
              <a:rPr sz="1235" b="1" i="0" dirty="0">
                <a:solidFill>
                  <a:srgbClr val="333639"/>
                </a:solidFill>
                <a:latin typeface="Fira Sans"/>
              </a:rPr>
              <a:t>single-agent </a:t>
            </a:r>
            <a:r>
              <a:rPr sz="1235" b="0" i="0" dirty="0">
                <a:solidFill>
                  <a:srgbClr val="333639"/>
                </a:solidFill>
                <a:latin typeface="Fira Sans"/>
              </a:rPr>
              <a:t>if only one agent influences it, and </a:t>
            </a:r>
            <a:r>
              <a:rPr sz="1235" b="1" i="0" dirty="0">
                <a:solidFill>
                  <a:srgbClr val="333639"/>
                </a:solidFill>
                <a:latin typeface="Fira Sans"/>
              </a:rPr>
              <a:t>multi-agent</a:t>
            </a:r>
            <a:r>
              <a:rPr sz="1235" b="0" i="0" dirty="0">
                <a:solidFill>
                  <a:srgbClr val="333639"/>
                </a:solidFill>
                <a:latin typeface="Fira Sans"/>
              </a:rPr>
              <a:t> if several agents’ actions affect one another’s outcomes. Multi-agent settings split further into competitive and cooperative.</a:t>
            </a:r>
          </a:p>
        </p:txBody>
      </p:sp>
      <p:pic>
        <p:nvPicPr>
          <p:cNvPr id="9" name="Picture 8" descr="agents_single.png"/>
          <p:cNvPicPr>
            <a:picLocks noChangeAspect="1"/>
          </p:cNvPicPr>
          <p:nvPr/>
        </p:nvPicPr>
        <p:blipFill>
          <a:blip r:embed="rId2"/>
          <a:stretch>
            <a:fillRect/>
          </a:stretch>
        </p:blipFill>
        <p:spPr>
          <a:xfrm>
            <a:off x="1568399" y="1762725"/>
            <a:ext cx="3262006" cy="2738036"/>
          </a:xfrm>
          <a:prstGeom prst="rect">
            <a:avLst/>
          </a:prstGeom>
        </p:spPr>
      </p:pic>
      <p:pic>
        <p:nvPicPr>
          <p:cNvPr id="10" name="Picture 9" descr="agents_multi.png"/>
          <p:cNvPicPr>
            <a:picLocks noChangeAspect="1"/>
          </p:cNvPicPr>
          <p:nvPr/>
        </p:nvPicPr>
        <p:blipFill>
          <a:blip r:embed="rId3"/>
          <a:srcRect l="1633"/>
          <a:stretch>
            <a:fillRect/>
          </a:stretch>
        </p:blipFill>
        <p:spPr>
          <a:xfrm>
            <a:off x="6222775" y="1763920"/>
            <a:ext cx="3900490" cy="2710264"/>
          </a:xfrm>
          <a:prstGeom prst="rect">
            <a:avLst/>
          </a:prstGeom>
        </p:spPr>
      </p:pic>
      <p:sp>
        <p:nvSpPr>
          <p:cNvPr id="11" name="Rectangle 10"/>
          <p:cNvSpPr/>
          <p:nvPr/>
        </p:nvSpPr>
        <p:spPr>
          <a:xfrm>
            <a:off x="841248" y="452493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4744389"/>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8906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2B7A3E"/>
                </a:solidFill>
                <a:latin typeface="Fira Sans"/>
              </a:rPr>
              <a:t>SINGLE AGENT</a:t>
            </a:r>
          </a:p>
          <a:p>
            <a:pPr marL="0" indent="0" algn="l">
              <a:lnSpc>
                <a:spcPts val="1277"/>
              </a:lnSpc>
              <a:spcBef>
                <a:spcPts val="500"/>
              </a:spcBef>
              <a:spcAft>
                <a:spcPts val="0"/>
              </a:spcAft>
              <a:buNone/>
            </a:pPr>
            <a:r>
              <a:rPr sz="1140" b="1" i="0">
                <a:solidFill>
                  <a:srgbClr val="25282A"/>
                </a:solidFill>
                <a:latin typeface="Fira Sans"/>
              </a:rPr>
              <a:t>Only the agent’s own actions change the world</a:t>
            </a:r>
          </a:p>
          <a:p>
            <a:pPr marL="0" indent="0" algn="l">
              <a:lnSpc>
                <a:spcPts val="1254"/>
              </a:lnSpc>
              <a:spcBef>
                <a:spcPts val="500"/>
              </a:spcBef>
              <a:spcAft>
                <a:spcPts val="0"/>
              </a:spcAft>
              <a:buNone/>
            </a:pPr>
            <a:r>
              <a:rPr sz="1045" b="0" i="0">
                <a:solidFill>
                  <a:srgbClr val="626669"/>
                </a:solidFill>
                <a:latin typeface="Fira Sans"/>
              </a:rPr>
              <a:t>The warehouse robot plans against physics alone. Nothing in the environment is trying to do anything about it.</a:t>
            </a:r>
          </a:p>
        </p:txBody>
      </p:sp>
      <p:sp>
        <p:nvSpPr>
          <p:cNvPr id="14" name="Rectangle 13"/>
          <p:cNvSpPr/>
          <p:nvPr/>
        </p:nvSpPr>
        <p:spPr>
          <a:xfrm>
            <a:off x="4450080" y="4744389"/>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50080" y="48906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a:rPr>
              <a:t>COMPETITIVE</a:t>
            </a:r>
          </a:p>
          <a:p>
            <a:pPr marL="0" indent="0" algn="l">
              <a:lnSpc>
                <a:spcPts val="1277"/>
              </a:lnSpc>
              <a:spcBef>
                <a:spcPts val="500"/>
              </a:spcBef>
              <a:spcAft>
                <a:spcPts val="0"/>
              </a:spcAft>
              <a:buNone/>
            </a:pPr>
            <a:r>
              <a:rPr sz="1140" b="1" i="0">
                <a:solidFill>
                  <a:srgbClr val="25282A"/>
                </a:solidFill>
                <a:latin typeface="Fira Sans"/>
              </a:rPr>
              <a:t>The opponent’s gain is the agent’s loss</a:t>
            </a:r>
          </a:p>
          <a:p>
            <a:pPr marL="0" indent="0" algn="l">
              <a:lnSpc>
                <a:spcPts val="1254"/>
              </a:lnSpc>
              <a:spcBef>
                <a:spcPts val="500"/>
              </a:spcBef>
              <a:spcAft>
                <a:spcPts val="0"/>
              </a:spcAft>
              <a:buNone/>
            </a:pPr>
            <a:r>
              <a:rPr sz="1045" b="0" i="0">
                <a:solidFill>
                  <a:srgbClr val="626669"/>
                </a:solidFill>
                <a:latin typeface="Fira Sans"/>
              </a:rPr>
              <a:t>In chess the opponent selects moves precisely to reduce the agent’s performance. Randomisation can itself become rational, because it is unpredictable.</a:t>
            </a:r>
          </a:p>
        </p:txBody>
      </p:sp>
      <p:sp>
        <p:nvSpPr>
          <p:cNvPr id="16" name="Rectangle 15"/>
          <p:cNvSpPr/>
          <p:nvPr/>
        </p:nvSpPr>
        <p:spPr>
          <a:xfrm>
            <a:off x="8058912" y="4744389"/>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058912" y="48906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574676"/>
                </a:solidFill>
                <a:latin typeface="Fira Sans"/>
              </a:rPr>
              <a:t>COOPERATIVE</a:t>
            </a:r>
          </a:p>
          <a:p>
            <a:pPr marL="0" indent="0" algn="l">
              <a:lnSpc>
                <a:spcPts val="1277"/>
              </a:lnSpc>
              <a:spcBef>
                <a:spcPts val="500"/>
              </a:spcBef>
              <a:spcAft>
                <a:spcPts val="0"/>
              </a:spcAft>
              <a:buNone/>
            </a:pPr>
            <a:r>
              <a:rPr sz="1140" b="1" i="0" dirty="0">
                <a:solidFill>
                  <a:srgbClr val="25282A"/>
                </a:solidFill>
                <a:latin typeface="Fira Sans"/>
              </a:rPr>
              <a:t>Shared measure, so communication pays</a:t>
            </a:r>
          </a:p>
          <a:p>
            <a:pPr marL="0" indent="0" algn="l">
              <a:lnSpc>
                <a:spcPts val="1254"/>
              </a:lnSpc>
              <a:spcBef>
                <a:spcPts val="500"/>
              </a:spcBef>
              <a:spcAft>
                <a:spcPts val="0"/>
              </a:spcAft>
              <a:buNone/>
            </a:pPr>
            <a:r>
              <a:rPr sz="1045" b="0" i="0" dirty="0">
                <a:solidFill>
                  <a:srgbClr val="626669"/>
                </a:solidFill>
                <a:latin typeface="Fira Sans"/>
              </a:rPr>
              <a:t>Drivers at a junction all want to arrive safely. Signaling intent </a:t>
            </a:r>
            <a:r>
              <a:rPr lang="it-IT" sz="1045" dirty="0">
                <a:solidFill>
                  <a:srgbClr val="626669"/>
                </a:solidFill>
                <a:latin typeface="Fira Sans"/>
              </a:rPr>
              <a:t>(</a:t>
            </a:r>
            <a:r>
              <a:rPr sz="1045" b="0" i="0" dirty="0">
                <a:solidFill>
                  <a:srgbClr val="626669"/>
                </a:solidFill>
                <a:latin typeface="Fira Sans"/>
              </a:rPr>
              <a:t>indicators, lane discipline</a:t>
            </a:r>
            <a:r>
              <a:rPr lang="it-IT" sz="1045" b="0" i="0" dirty="0">
                <a:solidFill>
                  <a:srgbClr val="626669"/>
                </a:solidFill>
                <a:latin typeface="Fira Sans"/>
              </a:rPr>
              <a:t>)</a:t>
            </a:r>
            <a:r>
              <a:rPr sz="1045" b="0" i="0" dirty="0">
                <a:solidFill>
                  <a:srgbClr val="626669"/>
                </a:solidFill>
                <a:latin typeface="Fira Sans"/>
              </a:rPr>
              <a:t> is a rational action rather than wasted effort.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3.4  A MODELLING DECISION, NOT A FACT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Agent or obstacle? The boundary is chosen, not discovered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19</a:t>
            </a:r>
          </a:p>
        </p:txBody>
      </p:sp>
      <p:sp>
        <p:nvSpPr>
          <p:cNvPr id="8" name="TextBox 7"/>
          <p:cNvSpPr txBox="1"/>
          <p:nvPr/>
        </p:nvSpPr>
        <p:spPr>
          <a:xfrm>
            <a:off x="841248" y="1316736"/>
            <a:ext cx="6586423"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The boundary is not given by the world; it is chosen by the designer. The same physical object can be modelled either way, and the choice changes the program that has to be written.</a:t>
            </a:r>
          </a:p>
        </p:txBody>
      </p:sp>
      <p:sp>
        <p:nvSpPr>
          <p:cNvPr id="9" name="TextBox 8"/>
          <p:cNvSpPr txBox="1"/>
          <p:nvPr/>
        </p:nvSpPr>
        <p:spPr>
          <a:xfrm>
            <a:off x="841248" y="216510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SAME OBJECT, TWO MODELS</a:t>
            </a:r>
          </a:p>
        </p:txBody>
      </p:sp>
      <p:sp>
        <p:nvSpPr>
          <p:cNvPr id="10" name="Rectangle 9"/>
          <p:cNvSpPr/>
          <p:nvPr/>
        </p:nvSpPr>
        <p:spPr>
          <a:xfrm>
            <a:off x="841248" y="2439428"/>
            <a:ext cx="3282696" cy="23774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2439428"/>
            <a:ext cx="328269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24128" y="2622308"/>
            <a:ext cx="2916936" cy="987331"/>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As part of the environment</a:t>
            </a:r>
          </a:p>
          <a:p>
            <a:pPr marL="0" indent="0" algn="l">
              <a:lnSpc>
                <a:spcPts val="1332"/>
              </a:lnSpc>
              <a:spcBef>
                <a:spcPts val="700"/>
              </a:spcBef>
              <a:spcAft>
                <a:spcPts val="0"/>
              </a:spcAft>
              <a:buNone/>
            </a:pPr>
            <a:r>
              <a:rPr sz="1092" b="0" i="0">
                <a:solidFill>
                  <a:srgbClr val="333639"/>
                </a:solidFill>
                <a:latin typeface="Fira Sans"/>
              </a:rPr>
              <a:t>The other vehicle is a physical object governed by the laws of motion. Predict its trajectory by extrapolation; treat deviations as noise.</a:t>
            </a:r>
          </a:p>
        </p:txBody>
      </p:sp>
      <p:sp>
        <p:nvSpPr>
          <p:cNvPr id="13" name="TextBox 12"/>
          <p:cNvSpPr txBox="1"/>
          <p:nvPr/>
        </p:nvSpPr>
        <p:spPr>
          <a:xfrm>
            <a:off x="1024128" y="4012196"/>
            <a:ext cx="2916936"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1" dirty="0">
                <a:solidFill>
                  <a:srgbClr val="626669"/>
                </a:solidFill>
                <a:latin typeface="Fira Sans"/>
              </a:rPr>
              <a:t>Cheaper. Adequate while the other vehicle behaves predictably and wrong exactly when it does not.</a:t>
            </a:r>
          </a:p>
        </p:txBody>
      </p:sp>
      <p:sp>
        <p:nvSpPr>
          <p:cNvPr id="14" name="Rectangle 13"/>
          <p:cNvSpPr/>
          <p:nvPr/>
        </p:nvSpPr>
        <p:spPr>
          <a:xfrm>
            <a:off x="1024128" y="3902468"/>
            <a:ext cx="2916936"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4273324" y="2439428"/>
            <a:ext cx="3282696" cy="23774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4273324" y="2439428"/>
            <a:ext cx="328269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56204" y="2622308"/>
            <a:ext cx="2916936" cy="987331"/>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As an independent agent</a:t>
            </a:r>
          </a:p>
          <a:p>
            <a:pPr marL="0" indent="0" algn="l">
              <a:lnSpc>
                <a:spcPts val="1332"/>
              </a:lnSpc>
              <a:spcBef>
                <a:spcPts val="700"/>
              </a:spcBef>
              <a:spcAft>
                <a:spcPts val="0"/>
              </a:spcAft>
              <a:buNone/>
            </a:pPr>
            <a:r>
              <a:rPr sz="1092" b="0" i="0">
                <a:solidFill>
                  <a:srgbClr val="333639"/>
                </a:solidFill>
                <a:latin typeface="Fira Sans"/>
              </a:rPr>
              <a:t>The other vehicle is a decision-maker with its own destination, its own performance measure, and a view of us. Predict what it will choose, not where it will drift.</a:t>
            </a:r>
          </a:p>
        </p:txBody>
      </p:sp>
      <p:sp>
        <p:nvSpPr>
          <p:cNvPr id="18" name="TextBox 17"/>
          <p:cNvSpPr txBox="1"/>
          <p:nvPr/>
        </p:nvSpPr>
        <p:spPr>
          <a:xfrm>
            <a:off x="4456204" y="4012196"/>
            <a:ext cx="2916936"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1" dirty="0">
                <a:solidFill>
                  <a:srgbClr val="626669"/>
                </a:solidFill>
                <a:latin typeface="Fira Sans"/>
              </a:rPr>
              <a:t>More expensive, and necessary whenever its choices depend on ours </a:t>
            </a:r>
            <a:r>
              <a:rPr lang="it-IT" sz="1045" i="1" dirty="0">
                <a:solidFill>
                  <a:srgbClr val="626669"/>
                </a:solidFill>
                <a:latin typeface="Fira Sans"/>
              </a:rPr>
              <a:t>(</a:t>
            </a:r>
            <a:r>
              <a:rPr sz="1045" b="0" i="1" dirty="0">
                <a:solidFill>
                  <a:srgbClr val="626669"/>
                </a:solidFill>
                <a:latin typeface="Fira Sans"/>
              </a:rPr>
              <a:t>at a merge, a junction, a negotiation</a:t>
            </a:r>
            <a:r>
              <a:rPr lang="it-IT" sz="1045" b="0" i="1" dirty="0">
                <a:solidFill>
                  <a:srgbClr val="626669"/>
                </a:solidFill>
                <a:latin typeface="Fira Sans"/>
              </a:rPr>
              <a:t>)</a:t>
            </a:r>
            <a:r>
              <a:rPr sz="1045" b="0" i="1" dirty="0">
                <a:solidFill>
                  <a:srgbClr val="626669"/>
                </a:solidFill>
                <a:latin typeface="Fira Sans"/>
              </a:rPr>
              <a:t>.</a:t>
            </a:r>
          </a:p>
        </p:txBody>
      </p:sp>
      <p:sp>
        <p:nvSpPr>
          <p:cNvPr id="19" name="Rectangle 18"/>
          <p:cNvSpPr/>
          <p:nvPr/>
        </p:nvSpPr>
        <p:spPr>
          <a:xfrm>
            <a:off x="4456204" y="3902468"/>
            <a:ext cx="2916936"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41248" y="5091188"/>
            <a:ext cx="41148" cy="73152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78992" y="5127764"/>
            <a:ext cx="6361480" cy="790630"/>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The criterion</a:t>
            </a:r>
          </a:p>
          <a:p>
            <a:pPr marL="0" indent="0" algn="l">
              <a:lnSpc>
                <a:spcPts val="1345"/>
              </a:lnSpc>
              <a:spcBef>
                <a:spcPts val="500"/>
              </a:spcBef>
              <a:spcAft>
                <a:spcPts val="0"/>
              </a:spcAft>
              <a:buNone/>
            </a:pPr>
            <a:r>
              <a:rPr sz="1140" b="0" i="0" dirty="0">
                <a:solidFill>
                  <a:srgbClr val="333639"/>
                </a:solidFill>
                <a:latin typeface="Fira Sans"/>
              </a:rPr>
              <a:t>Treat an entity as an agent when its </a:t>
            </a:r>
            <a:r>
              <a:rPr sz="1140" b="0" i="0" dirty="0" err="1">
                <a:solidFill>
                  <a:srgbClr val="333639"/>
                </a:solidFill>
                <a:latin typeface="Fira Sans"/>
              </a:rPr>
              <a:t>behaviour</a:t>
            </a:r>
            <a:r>
              <a:rPr sz="1140" b="0" i="0" dirty="0">
                <a:solidFill>
                  <a:srgbClr val="333639"/>
                </a:solidFill>
                <a:latin typeface="Fira Sans"/>
              </a:rPr>
              <a:t> is best described as </a:t>
            </a:r>
            <a:r>
              <a:rPr sz="1140" b="1" i="0" dirty="0" err="1">
                <a:solidFill>
                  <a:srgbClr val="25282A"/>
                </a:solidFill>
                <a:latin typeface="Fira Sans"/>
              </a:rPr>
              <a:t>optimising</a:t>
            </a:r>
            <a:r>
              <a:rPr sz="1140" b="1" i="0" dirty="0">
                <a:solidFill>
                  <a:srgbClr val="25282A"/>
                </a:solidFill>
                <a:latin typeface="Fira Sans"/>
              </a:rPr>
              <a:t> its own performance measure, whose value depends on our actions</a:t>
            </a:r>
            <a:r>
              <a:rPr sz="1140" b="0" i="0" dirty="0">
                <a:solidFill>
                  <a:srgbClr val="333639"/>
                </a:solidFill>
                <a:latin typeface="Fira Sans"/>
              </a:rPr>
              <a:t>. If that dependency is absent, it is part of the environment.</a:t>
            </a:r>
          </a:p>
        </p:txBody>
      </p:sp>
      <p:sp>
        <p:nvSpPr>
          <p:cNvPr id="22" name="Rectangle 21"/>
          <p:cNvSpPr/>
          <p:nvPr/>
        </p:nvSpPr>
        <p:spPr>
          <a:xfrm>
            <a:off x="7731252" y="1316736"/>
            <a:ext cx="3619469" cy="13624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731252" y="1316736"/>
            <a:ext cx="41148" cy="13624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50708" y="1463039"/>
            <a:ext cx="332686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GENERAL POINT</a:t>
            </a:r>
          </a:p>
        </p:txBody>
      </p:sp>
      <p:sp>
        <p:nvSpPr>
          <p:cNvPr id="25" name="TextBox 24"/>
          <p:cNvSpPr txBox="1"/>
          <p:nvPr/>
        </p:nvSpPr>
        <p:spPr>
          <a:xfrm>
            <a:off x="7950708" y="1700784"/>
            <a:ext cx="3235421"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Every dimension on the previous slide is a property of the model the designer builds, not a property the world hands over. Two engineers can legitimately classify the same task differently and will then write different programs.</a:t>
            </a:r>
          </a:p>
        </p:txBody>
      </p:sp>
      <p:sp>
        <p:nvSpPr>
          <p:cNvPr id="26" name="TextBox 25"/>
          <p:cNvSpPr txBox="1"/>
          <p:nvPr/>
        </p:nvSpPr>
        <p:spPr>
          <a:xfrm>
            <a:off x="7731252" y="2953511"/>
            <a:ext cx="361946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FURTHER EXAMPLES</a:t>
            </a:r>
          </a:p>
        </p:txBody>
      </p:sp>
      <p:sp>
        <p:nvSpPr>
          <p:cNvPr id="27" name="TextBox 26"/>
          <p:cNvSpPr txBox="1"/>
          <p:nvPr/>
        </p:nvSpPr>
        <p:spPr>
          <a:xfrm>
            <a:off x="7731252" y="3209544"/>
            <a:ext cx="3619469" cy="1498152"/>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dirty="0">
                <a:solidFill>
                  <a:srgbClr val="25282A"/>
                </a:solidFill>
                <a:latin typeface="Fira Sans"/>
              </a:rPr>
              <a:t>A pedestrian </a:t>
            </a:r>
            <a:r>
              <a:rPr sz="1092" b="0" i="0" dirty="0">
                <a:solidFill>
                  <a:srgbClr val="333639"/>
                </a:solidFill>
                <a:latin typeface="Fira Sans"/>
              </a:rPr>
              <a:t>crossing at a signal: an obstacle. Crossing against one: an agent, because their decision responds to ours.</a:t>
            </a:r>
          </a:p>
          <a:p>
            <a:pPr marL="173736" indent="-173736" algn="l">
              <a:lnSpc>
                <a:spcPts val="1289"/>
              </a:lnSpc>
              <a:spcBef>
                <a:spcPts val="600"/>
              </a:spcBef>
              <a:spcAft>
                <a:spcPts val="0"/>
              </a:spcAft>
              <a:buClr>
                <a:srgbClr val="1971C2"/>
              </a:buClr>
              <a:buFont typeface="Fira Sans"/>
              <a:buChar char="–"/>
            </a:pPr>
            <a:r>
              <a:rPr sz="1092" b="1" i="0" dirty="0">
                <a:solidFill>
                  <a:srgbClr val="25282A"/>
                </a:solidFill>
                <a:latin typeface="Fira Sans"/>
              </a:rPr>
              <a:t>The weather</a:t>
            </a:r>
            <a:r>
              <a:rPr sz="1092" b="0" i="0" dirty="0">
                <a:solidFill>
                  <a:srgbClr val="333639"/>
                </a:solidFill>
                <a:latin typeface="Fira Sans"/>
              </a:rPr>
              <a:t>: stochastic environment. It has no measure to </a:t>
            </a:r>
            <a:r>
              <a:rPr sz="1092" b="0" i="0" dirty="0" err="1">
                <a:solidFill>
                  <a:srgbClr val="333639"/>
                </a:solidFill>
                <a:latin typeface="Fira Sans"/>
              </a:rPr>
              <a:t>optimise</a:t>
            </a:r>
            <a:r>
              <a:rPr sz="1092" b="0" i="0" dirty="0">
                <a:solidFill>
                  <a:srgbClr val="333639"/>
                </a:solidFill>
                <a:latin typeface="Fira Sans"/>
              </a:rPr>
              <a:t> and does not react to us.</a:t>
            </a:r>
          </a:p>
          <a:p>
            <a:pPr marL="173736" indent="-173736" algn="l">
              <a:lnSpc>
                <a:spcPts val="1289"/>
              </a:lnSpc>
              <a:spcBef>
                <a:spcPts val="600"/>
              </a:spcBef>
              <a:spcAft>
                <a:spcPts val="0"/>
              </a:spcAft>
              <a:buClr>
                <a:srgbClr val="1971C2"/>
              </a:buClr>
              <a:buFont typeface="Fira Sans"/>
              <a:buChar char="–"/>
            </a:pPr>
            <a:r>
              <a:rPr sz="1092" b="1" i="0" dirty="0">
                <a:solidFill>
                  <a:srgbClr val="25282A"/>
                </a:solidFill>
                <a:latin typeface="Fira Sans"/>
              </a:rPr>
              <a:t>A market</a:t>
            </a:r>
            <a:r>
              <a:rPr sz="1092" b="0" i="0" dirty="0">
                <a:solidFill>
                  <a:srgbClr val="333639"/>
                </a:solidFill>
                <a:latin typeface="Fira Sans"/>
              </a:rPr>
              <a:t>: stochastic for a small trader, multi-agent for a large one</a:t>
            </a:r>
            <a:r>
              <a:rPr lang="it-IT" sz="1092" b="0" i="0" dirty="0">
                <a:solidFill>
                  <a:srgbClr val="333639"/>
                </a:solidFill>
                <a:latin typeface="Fira Sans"/>
              </a:rPr>
              <a:t>. T</a:t>
            </a:r>
            <a:r>
              <a:rPr sz="1092" b="0" i="0" dirty="0">
                <a:solidFill>
                  <a:srgbClr val="333639"/>
                </a:solidFill>
                <a:latin typeface="Fira Sans"/>
              </a:rPr>
              <a:t>he same world, with the difference being whether our actions move it.</a:t>
            </a:r>
          </a:p>
        </p:txBody>
      </p:sp>
      <p:sp>
        <p:nvSpPr>
          <p:cNvPr id="28" name="CasellaDiTesto 27">
            <a:extLst>
              <a:ext uri="{FF2B5EF4-FFF2-40B4-BE49-F238E27FC236}">
                <a16:creationId xmlns:a16="http://schemas.microsoft.com/office/drawing/2014/main" id="{6575AED6-258F-D397-6E9B-B1F443A5E3A6}"/>
              </a:ext>
            </a:extLst>
          </p:cNvPr>
          <p:cNvSpPr txBox="1"/>
          <p:nvPr/>
        </p:nvSpPr>
        <p:spPr>
          <a:xfrm>
            <a:off x="8261968" y="5365019"/>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3.5  DETERMINISM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Three different things are meant by “the outcome is uncertain”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20</a:t>
            </a:r>
          </a:p>
        </p:txBody>
      </p:sp>
      <p:sp>
        <p:nvSpPr>
          <p:cNvPr id="8" name="TextBox 7"/>
          <p:cNvSpPr txBox="1"/>
          <p:nvPr/>
        </p:nvSpPr>
        <p:spPr>
          <a:xfrm>
            <a:off x="841248" y="127627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An environment is </a:t>
            </a:r>
            <a:r>
              <a:rPr sz="1235" b="1" i="0" dirty="0">
                <a:solidFill>
                  <a:srgbClr val="333639"/>
                </a:solidFill>
                <a:latin typeface="Fira Sans"/>
              </a:rPr>
              <a:t>deterministic</a:t>
            </a:r>
            <a:r>
              <a:rPr sz="1235" b="0" i="0" dirty="0">
                <a:solidFill>
                  <a:srgbClr val="333639"/>
                </a:solidFill>
                <a:latin typeface="Fira Sans"/>
              </a:rPr>
              <a:t> if the next state is fully determined by the current state and the agent’s action. If it is not, it matters a great deal whether a </a:t>
            </a:r>
            <a:r>
              <a:rPr sz="1235" b="1" i="0" dirty="0">
                <a:solidFill>
                  <a:srgbClr val="333639"/>
                </a:solidFill>
                <a:latin typeface="Fira Sans"/>
              </a:rPr>
              <a:t>probability model </a:t>
            </a:r>
            <a:r>
              <a:rPr sz="1235" b="0" i="0" dirty="0">
                <a:solidFill>
                  <a:srgbClr val="333639"/>
                </a:solidFill>
                <a:latin typeface="Fira Sans"/>
              </a:rPr>
              <a:t>over the outcomes is available.</a:t>
            </a:r>
          </a:p>
        </p:txBody>
      </p:sp>
      <p:pic>
        <p:nvPicPr>
          <p:cNvPr id="9" name="Picture 8" descr="det_deterministic.png"/>
          <p:cNvPicPr>
            <a:picLocks noChangeAspect="1"/>
          </p:cNvPicPr>
          <p:nvPr/>
        </p:nvPicPr>
        <p:blipFill>
          <a:blip r:embed="rId2"/>
          <a:stretch>
            <a:fillRect/>
          </a:stretch>
        </p:blipFill>
        <p:spPr>
          <a:xfrm>
            <a:off x="1152847" y="1721333"/>
            <a:ext cx="2129182" cy="2767937"/>
          </a:xfrm>
          <a:prstGeom prst="rect">
            <a:avLst/>
          </a:prstGeom>
        </p:spPr>
      </p:pic>
      <p:pic>
        <p:nvPicPr>
          <p:cNvPr id="10" name="Picture 9" descr="det_stochastic.png"/>
          <p:cNvPicPr>
            <a:picLocks noChangeAspect="1"/>
          </p:cNvPicPr>
          <p:nvPr/>
        </p:nvPicPr>
        <p:blipFill>
          <a:blip r:embed="rId3"/>
          <a:srcRect l="4135"/>
          <a:stretch>
            <a:fillRect/>
          </a:stretch>
        </p:blipFill>
        <p:spPr>
          <a:xfrm>
            <a:off x="4442526" y="1721333"/>
            <a:ext cx="2395727" cy="2789276"/>
          </a:xfrm>
          <a:prstGeom prst="rect">
            <a:avLst/>
          </a:prstGeom>
        </p:spPr>
      </p:pic>
      <p:pic>
        <p:nvPicPr>
          <p:cNvPr id="11" name="Picture 10" descr="det_nondeterministic.png"/>
          <p:cNvPicPr>
            <a:picLocks noChangeAspect="1"/>
          </p:cNvPicPr>
          <p:nvPr/>
        </p:nvPicPr>
        <p:blipFill>
          <a:blip r:embed="rId4"/>
          <a:srcRect l="9983"/>
          <a:stretch>
            <a:fillRect/>
          </a:stretch>
        </p:blipFill>
        <p:spPr>
          <a:xfrm>
            <a:off x="8346123" y="1721332"/>
            <a:ext cx="1995497" cy="2730967"/>
          </a:xfrm>
          <a:prstGeom prst="rect">
            <a:avLst/>
          </a:prstGeom>
        </p:spPr>
      </p:pic>
      <p:sp>
        <p:nvSpPr>
          <p:cNvPr id="12" name="Rectangle 11"/>
          <p:cNvSpPr/>
          <p:nvPr/>
        </p:nvSpPr>
        <p:spPr>
          <a:xfrm>
            <a:off x="841248" y="449750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4716957"/>
            <a:ext cx="2395728"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 y="4863261"/>
            <a:ext cx="2395728" cy="769078"/>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2B7A3E"/>
                </a:solidFill>
                <a:latin typeface="Fira Sans"/>
              </a:rPr>
              <a:t>DETERMINISTIC</a:t>
            </a:r>
          </a:p>
          <a:p>
            <a:pPr marL="0" indent="0" algn="l">
              <a:lnSpc>
                <a:spcPts val="1277"/>
              </a:lnSpc>
              <a:spcBef>
                <a:spcPts val="500"/>
              </a:spcBef>
              <a:spcAft>
                <a:spcPts val="0"/>
              </a:spcAft>
              <a:buNone/>
            </a:pPr>
            <a:r>
              <a:rPr sz="1140" b="1" i="0" dirty="0">
                <a:solidFill>
                  <a:srgbClr val="25282A"/>
                </a:solidFill>
                <a:latin typeface="Fira Sans"/>
              </a:rPr>
              <a:t>No uncertainty to reason about</a:t>
            </a:r>
          </a:p>
          <a:p>
            <a:pPr marL="0" indent="0" algn="l">
              <a:lnSpc>
                <a:spcPts val="1254"/>
              </a:lnSpc>
              <a:spcBef>
                <a:spcPts val="500"/>
              </a:spcBef>
              <a:spcAft>
                <a:spcPts val="0"/>
              </a:spcAft>
              <a:buNone/>
            </a:pPr>
            <a:r>
              <a:rPr sz="1045" b="0" i="0" dirty="0">
                <a:solidFill>
                  <a:srgbClr val="626669"/>
                </a:solidFill>
                <a:latin typeface="Fira Sans"/>
              </a:rPr>
              <a:t>State and action fix the successor; the agent </a:t>
            </a:r>
            <a:r>
              <a:rPr sz="1045" b="1" i="0" dirty="0">
                <a:solidFill>
                  <a:srgbClr val="626669"/>
                </a:solidFill>
                <a:latin typeface="Fira Sans"/>
              </a:rPr>
              <a:t>plans</a:t>
            </a:r>
            <a:r>
              <a:rPr sz="1045" b="0" i="0" dirty="0">
                <a:solidFill>
                  <a:srgbClr val="626669"/>
                </a:solidFill>
                <a:latin typeface="Fira Sans"/>
              </a:rPr>
              <a:t> by composing actions.</a:t>
            </a:r>
          </a:p>
        </p:txBody>
      </p:sp>
      <p:sp>
        <p:nvSpPr>
          <p:cNvPr id="15" name="Rectangle 14"/>
          <p:cNvSpPr/>
          <p:nvPr/>
        </p:nvSpPr>
        <p:spPr>
          <a:xfrm>
            <a:off x="3547872" y="4716957"/>
            <a:ext cx="2395728"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547872" y="4863261"/>
            <a:ext cx="2395728" cy="1249748"/>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574676"/>
                </a:solidFill>
                <a:latin typeface="Fira Sans"/>
              </a:rPr>
              <a:t>STOCHASTIC</a:t>
            </a:r>
          </a:p>
          <a:p>
            <a:pPr marL="0" indent="0" algn="l">
              <a:lnSpc>
                <a:spcPts val="1277"/>
              </a:lnSpc>
              <a:spcBef>
                <a:spcPts val="500"/>
              </a:spcBef>
              <a:spcAft>
                <a:spcPts val="0"/>
              </a:spcAft>
              <a:buNone/>
            </a:pPr>
            <a:r>
              <a:rPr sz="1140" b="1" i="0" dirty="0">
                <a:solidFill>
                  <a:srgbClr val="25282A"/>
                </a:solidFill>
                <a:latin typeface="Fira Sans"/>
              </a:rPr>
              <a:t>Outcomes carry known probabilities</a:t>
            </a:r>
          </a:p>
          <a:p>
            <a:pPr marL="0" indent="0" algn="l">
              <a:lnSpc>
                <a:spcPts val="1254"/>
              </a:lnSpc>
              <a:spcBef>
                <a:spcPts val="500"/>
              </a:spcBef>
              <a:spcAft>
                <a:spcPts val="0"/>
              </a:spcAft>
              <a:buNone/>
            </a:pPr>
            <a:r>
              <a:rPr sz="1045" b="0" i="0" dirty="0">
                <a:solidFill>
                  <a:srgbClr val="626669"/>
                </a:solidFill>
                <a:latin typeface="Fira Sans"/>
              </a:rPr>
              <a:t>Several successors, with known or estimated probabilities. The agent </a:t>
            </a:r>
            <a:r>
              <a:rPr sz="1045" b="1" i="0" dirty="0">
                <a:solidFill>
                  <a:srgbClr val="626669"/>
                </a:solidFill>
                <a:latin typeface="Fira Sans"/>
              </a:rPr>
              <a:t>reasons with expectations</a:t>
            </a:r>
            <a:r>
              <a:rPr sz="1045" b="0" i="0" dirty="0">
                <a:solidFill>
                  <a:srgbClr val="626669"/>
                </a:solidFill>
                <a:latin typeface="Fira Sans"/>
              </a:rPr>
              <a:t>.</a:t>
            </a:r>
          </a:p>
        </p:txBody>
      </p:sp>
      <p:sp>
        <p:nvSpPr>
          <p:cNvPr id="17" name="Rectangle 16"/>
          <p:cNvSpPr/>
          <p:nvPr/>
        </p:nvSpPr>
        <p:spPr>
          <a:xfrm>
            <a:off x="6254496" y="4716957"/>
            <a:ext cx="2395728"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254496" y="4863261"/>
            <a:ext cx="2395728" cy="1087594"/>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C8102E"/>
                </a:solidFill>
                <a:latin typeface="Fira Sans"/>
              </a:rPr>
              <a:t>NON-DETERMINISTIC (STRICT)</a:t>
            </a:r>
          </a:p>
          <a:p>
            <a:pPr marL="0" indent="0" algn="l">
              <a:lnSpc>
                <a:spcPts val="1277"/>
              </a:lnSpc>
              <a:spcBef>
                <a:spcPts val="500"/>
              </a:spcBef>
              <a:spcAft>
                <a:spcPts val="0"/>
              </a:spcAft>
              <a:buNone/>
            </a:pPr>
            <a:r>
              <a:rPr sz="1140" b="1" i="0" dirty="0">
                <a:solidFill>
                  <a:srgbClr val="25282A"/>
                </a:solidFill>
                <a:latin typeface="Fira Sans"/>
              </a:rPr>
              <a:t>Possible outcomes, no distribution</a:t>
            </a:r>
          </a:p>
          <a:p>
            <a:pPr marL="0" indent="0" algn="l">
              <a:lnSpc>
                <a:spcPts val="1254"/>
              </a:lnSpc>
              <a:spcBef>
                <a:spcPts val="500"/>
              </a:spcBef>
              <a:spcAft>
                <a:spcPts val="0"/>
              </a:spcAft>
              <a:buNone/>
            </a:pPr>
            <a:r>
              <a:rPr sz="1045" b="0" i="0" dirty="0">
                <a:solidFill>
                  <a:srgbClr val="626669"/>
                </a:solidFill>
                <a:latin typeface="Fira Sans"/>
              </a:rPr>
              <a:t>Several successors, no probability model. The agent must be prepared for each of them regardless of likelihood: </a:t>
            </a:r>
            <a:r>
              <a:rPr sz="1045" b="1" i="0" dirty="0">
                <a:solidFill>
                  <a:srgbClr val="626669"/>
                </a:solidFill>
                <a:latin typeface="Fira Sans"/>
              </a:rPr>
              <a:t>worst-case reasoning</a:t>
            </a:r>
            <a:r>
              <a:rPr sz="1045" b="0" i="0" dirty="0">
                <a:solidFill>
                  <a:srgbClr val="626669"/>
                </a:solidFill>
                <a:latin typeface="Fira Sans"/>
              </a:rPr>
              <a:t>.</a:t>
            </a:r>
          </a:p>
        </p:txBody>
      </p:sp>
      <p:sp>
        <p:nvSpPr>
          <p:cNvPr id="19" name="Rectangle 18"/>
          <p:cNvSpPr/>
          <p:nvPr/>
        </p:nvSpPr>
        <p:spPr>
          <a:xfrm>
            <a:off x="8961119" y="4716957"/>
            <a:ext cx="2395728"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961119" y="4863261"/>
            <a:ext cx="2395728" cy="140900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8A5100"/>
                </a:solidFill>
                <a:latin typeface="Fira Sans"/>
              </a:rPr>
              <a:t>IN PRACTICE</a:t>
            </a:r>
          </a:p>
          <a:p>
            <a:pPr marL="0" indent="0" algn="l">
              <a:lnSpc>
                <a:spcPts val="1277"/>
              </a:lnSpc>
              <a:spcBef>
                <a:spcPts val="500"/>
              </a:spcBef>
              <a:spcAft>
                <a:spcPts val="0"/>
              </a:spcAft>
              <a:buNone/>
            </a:pPr>
            <a:r>
              <a:rPr sz="1140" b="1" i="0" dirty="0">
                <a:solidFill>
                  <a:srgbClr val="25282A"/>
                </a:solidFill>
                <a:latin typeface="Fira Sans"/>
              </a:rPr>
              <a:t>Real environments are modelled as stochastic</a:t>
            </a:r>
          </a:p>
          <a:p>
            <a:pPr marL="0" indent="0" algn="l">
              <a:lnSpc>
                <a:spcPts val="1254"/>
              </a:lnSpc>
              <a:spcBef>
                <a:spcPts val="500"/>
              </a:spcBef>
              <a:spcAft>
                <a:spcPts val="0"/>
              </a:spcAft>
              <a:buNone/>
            </a:pPr>
            <a:r>
              <a:rPr sz="1045" b="0" i="0" dirty="0">
                <a:solidFill>
                  <a:srgbClr val="626669"/>
                </a:solidFill>
                <a:latin typeface="Fira Sans"/>
              </a:rPr>
              <a:t>Tracking every relevant factor is impossible, and strict worst-case planning would be paralyzingly conservative</a:t>
            </a:r>
            <a:r>
              <a:rPr lang="it-IT" sz="1045" b="0" i="0" dirty="0">
                <a:solidFill>
                  <a:srgbClr val="626669"/>
                </a:solidFill>
                <a:latin typeface="Fira Sans"/>
              </a:rPr>
              <a:t>, </a:t>
            </a:r>
            <a:r>
              <a:rPr sz="1045" b="0" i="0" dirty="0">
                <a:solidFill>
                  <a:srgbClr val="626669"/>
                </a:solidFill>
                <a:latin typeface="Fira Sans"/>
              </a:rPr>
              <a:t>so </a:t>
            </a:r>
            <a:r>
              <a:rPr sz="1045" b="1" i="0" dirty="0">
                <a:solidFill>
                  <a:srgbClr val="626669"/>
                </a:solidFill>
                <a:latin typeface="Fira Sans"/>
              </a:rPr>
              <a:t>probabilities are estimated </a:t>
            </a:r>
            <a:r>
              <a:rPr sz="1045" b="0" i="0" dirty="0">
                <a:solidFill>
                  <a:srgbClr val="626669"/>
                </a:solidFill>
                <a:latin typeface="Fira Sans"/>
              </a:rPr>
              <a:t>and </a:t>
            </a:r>
            <a:r>
              <a:rPr sz="1045" b="1" i="0" dirty="0">
                <a:solidFill>
                  <a:srgbClr val="626669"/>
                </a:solidFill>
                <a:latin typeface="Fira Sans"/>
              </a:rPr>
              <a:t>expectations are used</a:t>
            </a:r>
            <a:r>
              <a:rPr sz="1045" b="0" i="0" dirty="0">
                <a:solidFill>
                  <a:srgbClr val="626669"/>
                </a:solidFill>
                <a:latin typeface="Fira Sans"/>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3.6  A CASE WORTH LOOKING AT CLOSELY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Chess has deterministic dynamics and a non-deterministic opponent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21</a:t>
            </a:r>
          </a:p>
        </p:txBody>
      </p:sp>
      <p:sp>
        <p:nvSpPr>
          <p:cNvPr id="8" name="TextBox 7"/>
          <p:cNvSpPr txBox="1"/>
          <p:nvPr/>
        </p:nvSpPr>
        <p:spPr>
          <a:xfrm>
            <a:off x="841248" y="1316736"/>
            <a:ext cx="6847027"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It is tempting to call chess “non-deterministic”, but the non-determinism does not live in the environment at all. It is a property of how we choose to model the adversary.</a:t>
            </a:r>
          </a:p>
        </p:txBody>
      </p:sp>
      <p:sp>
        <p:nvSpPr>
          <p:cNvPr id="9" name="TextBox 8"/>
          <p:cNvSpPr txBox="1"/>
          <p:nvPr/>
        </p:nvSpPr>
        <p:spPr>
          <a:xfrm>
            <a:off x="1115568" y="1992045"/>
            <a:ext cx="4636922" cy="6109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The rules of chess</a:t>
            </a:r>
          </a:p>
          <a:p>
            <a:pPr marL="0" indent="0" algn="l">
              <a:lnSpc>
                <a:spcPts val="1310"/>
              </a:lnSpc>
              <a:spcBef>
                <a:spcPts val="500"/>
              </a:spcBef>
              <a:spcAft>
                <a:spcPts val="0"/>
              </a:spcAft>
              <a:buNone/>
            </a:pPr>
            <a:r>
              <a:rPr sz="1092" b="0" i="0">
                <a:solidFill>
                  <a:srgbClr val="626669"/>
                </a:solidFill>
                <a:latin typeface="Fira Sans"/>
              </a:rPr>
              <a:t>Given a position and a chosen move, the resulting position is fixed. There is no randomness anywhere in the physics of the game.</a:t>
            </a:r>
          </a:p>
        </p:txBody>
      </p:sp>
      <p:sp>
        <p:nvSpPr>
          <p:cNvPr id="10" name="TextBox 9"/>
          <p:cNvSpPr txBox="1"/>
          <p:nvPr/>
        </p:nvSpPr>
        <p:spPr>
          <a:xfrm>
            <a:off x="6236208" y="2010333"/>
            <a:ext cx="1828800" cy="274320"/>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60">
                <a:solidFill>
                  <a:srgbClr val="2B7A3E"/>
                </a:solidFill>
                <a:latin typeface="Fira Sans"/>
              </a:rPr>
              <a:t>Deterministic</a:t>
            </a:r>
          </a:p>
        </p:txBody>
      </p:sp>
      <p:sp>
        <p:nvSpPr>
          <p:cNvPr id="11" name="Rectangle 10"/>
          <p:cNvSpPr/>
          <p:nvPr/>
        </p:nvSpPr>
        <p:spPr>
          <a:xfrm>
            <a:off x="841248" y="1955469"/>
            <a:ext cx="41148" cy="610951"/>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15568" y="2950469"/>
            <a:ext cx="4636922" cy="777372"/>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The opponent’s choice</a:t>
            </a:r>
          </a:p>
          <a:p>
            <a:pPr marL="0" indent="0" algn="l">
              <a:lnSpc>
                <a:spcPts val="1310"/>
              </a:lnSpc>
              <a:spcBef>
                <a:spcPts val="500"/>
              </a:spcBef>
              <a:spcAft>
                <a:spcPts val="0"/>
              </a:spcAft>
              <a:buNone/>
            </a:pPr>
            <a:r>
              <a:rPr sz="1092" b="0" i="0">
                <a:solidFill>
                  <a:srgbClr val="626669"/>
                </a:solidFill>
                <a:latin typeface="Fira Sans"/>
              </a:rPr>
              <a:t>What the opponent will play is not predictable, and no probability distribution over their strategy is assumed. Every legal reply must be considered.</a:t>
            </a:r>
          </a:p>
        </p:txBody>
      </p:sp>
      <p:sp>
        <p:nvSpPr>
          <p:cNvPr id="13" name="TextBox 12"/>
          <p:cNvSpPr txBox="1"/>
          <p:nvPr/>
        </p:nvSpPr>
        <p:spPr>
          <a:xfrm>
            <a:off x="6236208" y="2968757"/>
            <a:ext cx="1828800" cy="274320"/>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60">
                <a:solidFill>
                  <a:srgbClr val="C8102E"/>
                </a:solidFill>
                <a:latin typeface="Fira Sans"/>
              </a:rPr>
              <a:t>Non-deterministic</a:t>
            </a:r>
          </a:p>
        </p:txBody>
      </p:sp>
      <p:sp>
        <p:nvSpPr>
          <p:cNvPr id="14" name="Rectangle 13"/>
          <p:cNvSpPr/>
          <p:nvPr/>
        </p:nvSpPr>
        <p:spPr>
          <a:xfrm>
            <a:off x="841248" y="2913893"/>
            <a:ext cx="41148" cy="7773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115568" y="4075313"/>
            <a:ext cx="4636922" cy="777372"/>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Consequence for the algorithm</a:t>
            </a:r>
          </a:p>
          <a:p>
            <a:pPr marL="0" indent="0" algn="l">
              <a:lnSpc>
                <a:spcPts val="1310"/>
              </a:lnSpc>
              <a:spcBef>
                <a:spcPts val="500"/>
              </a:spcBef>
              <a:spcAft>
                <a:spcPts val="0"/>
              </a:spcAft>
              <a:buNone/>
            </a:pPr>
            <a:r>
              <a:rPr sz="1092" b="0" i="0" dirty="0">
                <a:solidFill>
                  <a:srgbClr val="626669"/>
                </a:solidFill>
                <a:latin typeface="Fira Sans"/>
              </a:rPr>
              <a:t>Adversarial games are solved with worst-case reasoning </a:t>
            </a:r>
            <a:r>
              <a:rPr lang="it-IT" sz="1092" dirty="0">
                <a:solidFill>
                  <a:srgbClr val="626669"/>
                </a:solidFill>
                <a:latin typeface="Fira Sans"/>
              </a:rPr>
              <a:t>(</a:t>
            </a:r>
            <a:r>
              <a:rPr sz="1092" b="0" i="0" dirty="0">
                <a:solidFill>
                  <a:srgbClr val="626669"/>
                </a:solidFill>
                <a:latin typeface="Fira Sans"/>
              </a:rPr>
              <a:t>minimax</a:t>
            </a:r>
            <a:r>
              <a:rPr lang="it-IT" sz="1092" b="0" i="0" dirty="0">
                <a:solidFill>
                  <a:srgbClr val="626669"/>
                </a:solidFill>
                <a:latin typeface="Fira Sans"/>
              </a:rPr>
              <a:t>)</a:t>
            </a:r>
            <a:r>
              <a:rPr sz="1092" b="0" i="0" dirty="0">
                <a:solidFill>
                  <a:srgbClr val="626669"/>
                </a:solidFill>
                <a:latin typeface="Fira Sans"/>
              </a:rPr>
              <a:t> and not with the expected-value reasoning used for genuinely stochastic environments.</a:t>
            </a:r>
          </a:p>
        </p:txBody>
      </p:sp>
      <p:sp>
        <p:nvSpPr>
          <p:cNvPr id="16" name="TextBox 15"/>
          <p:cNvSpPr txBox="1"/>
          <p:nvPr/>
        </p:nvSpPr>
        <p:spPr>
          <a:xfrm>
            <a:off x="6236208" y="4093601"/>
            <a:ext cx="1828800" cy="274320"/>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60">
                <a:solidFill>
                  <a:srgbClr val="574676"/>
                </a:solidFill>
                <a:latin typeface="Fira Sans"/>
              </a:rPr>
              <a:t>Worst case, not average</a:t>
            </a:r>
          </a:p>
        </p:txBody>
      </p:sp>
      <p:sp>
        <p:nvSpPr>
          <p:cNvPr id="17" name="Rectangle 16"/>
          <p:cNvSpPr/>
          <p:nvPr/>
        </p:nvSpPr>
        <p:spPr>
          <a:xfrm>
            <a:off x="841248" y="4038737"/>
            <a:ext cx="41148" cy="77737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5072141"/>
            <a:ext cx="6847027"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1248" y="5273309"/>
            <a:ext cx="6847027" cy="597834"/>
          </a:xfrm>
          <a:prstGeom prst="rect">
            <a:avLst/>
          </a:prstGeom>
          <a:noFill/>
        </p:spPr>
        <p:txBody>
          <a:bodyPr wrap="square" lIns="0" tIns="0" rIns="0" bIns="0" anchor="t">
            <a:noAutofit/>
          </a:bodyPr>
          <a:lstStyle/>
          <a:p>
            <a:pPr marL="0" indent="0" algn="l">
              <a:lnSpc>
                <a:spcPts val="1473"/>
              </a:lnSpc>
              <a:spcBef>
                <a:spcPts val="0"/>
              </a:spcBef>
              <a:spcAft>
                <a:spcPts val="0"/>
              </a:spcAft>
              <a:buNone/>
            </a:pPr>
            <a:r>
              <a:rPr sz="1188" b="0" i="0">
                <a:solidFill>
                  <a:srgbClr val="333639"/>
                </a:solidFill>
                <a:latin typeface="Fira Sans"/>
              </a:rPr>
              <a:t>The non-determinism belongs to the model of the adversary, not to the environment. Confusing the two leads to using the wrong algorithm: averaging over an opponent who is actively choosing the worst reply is not caution, it is wishful thinking.</a:t>
            </a:r>
          </a:p>
        </p:txBody>
      </p:sp>
      <p:pic>
        <p:nvPicPr>
          <p:cNvPr id="20" name="Picture 19" descr="det_nondeterministic.png"/>
          <p:cNvPicPr>
            <a:picLocks noChangeAspect="1"/>
          </p:cNvPicPr>
          <p:nvPr/>
        </p:nvPicPr>
        <p:blipFill>
          <a:blip r:embed="rId2"/>
          <a:srcRect l="17047"/>
          <a:stretch>
            <a:fillRect/>
          </a:stretch>
        </p:blipFill>
        <p:spPr>
          <a:xfrm>
            <a:off x="8331082" y="1594552"/>
            <a:ext cx="2477126" cy="367875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3.7  DECISION STRUCTURE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Sequentiality is the property that makes reinforcement learning necessary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22</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An environment is </a:t>
            </a:r>
            <a:r>
              <a:rPr sz="1235" b="1" i="0" dirty="0">
                <a:solidFill>
                  <a:srgbClr val="333639"/>
                </a:solidFill>
                <a:latin typeface="Fira Sans"/>
              </a:rPr>
              <a:t>one-shot</a:t>
            </a:r>
            <a:r>
              <a:rPr sz="1235" b="0" i="0" dirty="0">
                <a:solidFill>
                  <a:srgbClr val="333639"/>
                </a:solidFill>
                <a:latin typeface="Fira Sans"/>
              </a:rPr>
              <a:t> if the agent’s experience decomposes into independent decisions, and </a:t>
            </a:r>
            <a:r>
              <a:rPr sz="1235" b="1" i="0" dirty="0">
                <a:solidFill>
                  <a:srgbClr val="333639"/>
                </a:solidFill>
                <a:latin typeface="Fira Sans"/>
              </a:rPr>
              <a:t>sequential</a:t>
            </a:r>
            <a:r>
              <a:rPr sz="1235" b="0" i="0" dirty="0">
                <a:solidFill>
                  <a:srgbClr val="333639"/>
                </a:solidFill>
                <a:latin typeface="Fira Sans"/>
              </a:rPr>
              <a:t> if the current action can affect every decision that follows.</a:t>
            </a:r>
          </a:p>
        </p:txBody>
      </p:sp>
      <p:pic>
        <p:nvPicPr>
          <p:cNvPr id="10" name="Picture 9" descr="seq_sequential.png"/>
          <p:cNvPicPr>
            <a:picLocks noChangeAspect="1"/>
          </p:cNvPicPr>
          <p:nvPr/>
        </p:nvPicPr>
        <p:blipFill>
          <a:blip r:embed="rId2"/>
          <a:srcRect l="3165"/>
          <a:stretch>
            <a:fillRect/>
          </a:stretch>
        </p:blipFill>
        <p:spPr>
          <a:xfrm>
            <a:off x="6562641" y="1837511"/>
            <a:ext cx="3220630" cy="2685789"/>
          </a:xfrm>
          <a:prstGeom prst="rect">
            <a:avLst/>
          </a:prstGeom>
        </p:spPr>
      </p:pic>
      <p:sp>
        <p:nvSpPr>
          <p:cNvPr id="11" name="Rectangle 10"/>
          <p:cNvSpPr/>
          <p:nvPr/>
        </p:nvSpPr>
        <p:spPr>
          <a:xfrm>
            <a:off x="841248" y="452493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4744389"/>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890693"/>
            <a:ext cx="3297936" cy="1087594"/>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2B7A3E"/>
                </a:solidFill>
                <a:latin typeface="Fira Sans"/>
              </a:rPr>
              <a:t>ONE-SHOT</a:t>
            </a:r>
          </a:p>
          <a:p>
            <a:pPr marL="0" indent="0" algn="l">
              <a:lnSpc>
                <a:spcPts val="1277"/>
              </a:lnSpc>
              <a:spcBef>
                <a:spcPts val="500"/>
              </a:spcBef>
              <a:spcAft>
                <a:spcPts val="0"/>
              </a:spcAft>
              <a:buNone/>
            </a:pPr>
            <a:r>
              <a:rPr sz="1140" b="1" i="0" dirty="0">
                <a:solidFill>
                  <a:srgbClr val="25282A"/>
                </a:solidFill>
                <a:latin typeface="Fira Sans"/>
              </a:rPr>
              <a:t>Each decision stands alone</a:t>
            </a:r>
          </a:p>
          <a:p>
            <a:pPr marL="0" indent="0" algn="l">
              <a:lnSpc>
                <a:spcPts val="1254"/>
              </a:lnSpc>
              <a:spcBef>
                <a:spcPts val="500"/>
              </a:spcBef>
              <a:spcAft>
                <a:spcPts val="0"/>
              </a:spcAft>
              <a:buNone/>
            </a:pPr>
            <a:r>
              <a:rPr sz="1045" b="0" i="0" dirty="0">
                <a:solidFill>
                  <a:srgbClr val="626669"/>
                </a:solidFill>
                <a:latin typeface="Fira Sans"/>
              </a:rPr>
              <a:t>In the multi-armed bandit, the </a:t>
            </a:r>
            <a:r>
              <a:rPr lang="it-IT" sz="1045" b="0" i="0" dirty="0">
                <a:solidFill>
                  <a:srgbClr val="626669"/>
                </a:solidFill>
                <a:latin typeface="Fira Sans"/>
              </a:rPr>
              <a:t>payoff</a:t>
            </a:r>
            <a:r>
              <a:rPr sz="1045" b="0" i="0" dirty="0">
                <a:solidFill>
                  <a:srgbClr val="626669"/>
                </a:solidFill>
                <a:latin typeface="Fira Sans"/>
              </a:rPr>
              <a:t> from a pull depends only on the arm chosen. Pulling one arm changes nothing about what the others will pay next time.</a:t>
            </a:r>
          </a:p>
        </p:txBody>
      </p:sp>
      <p:sp>
        <p:nvSpPr>
          <p:cNvPr id="14" name="Rectangle 13"/>
          <p:cNvSpPr/>
          <p:nvPr/>
        </p:nvSpPr>
        <p:spPr>
          <a:xfrm>
            <a:off x="4450080" y="4744389"/>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50080" y="48906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a:rPr>
              <a:t>SEQUENTIAL</a:t>
            </a:r>
          </a:p>
          <a:p>
            <a:pPr marL="0" indent="0" algn="l">
              <a:lnSpc>
                <a:spcPts val="1277"/>
              </a:lnSpc>
              <a:spcBef>
                <a:spcPts val="500"/>
              </a:spcBef>
              <a:spcAft>
                <a:spcPts val="0"/>
              </a:spcAft>
              <a:buNone/>
            </a:pPr>
            <a:r>
              <a:rPr sz="1140" b="1" i="0">
                <a:solidFill>
                  <a:srgbClr val="25282A"/>
                </a:solidFill>
                <a:latin typeface="Fira Sans"/>
              </a:rPr>
              <a:t>The present constrains the future</a:t>
            </a:r>
          </a:p>
          <a:p>
            <a:pPr marL="0" indent="0" algn="l">
              <a:lnSpc>
                <a:spcPts val="1254"/>
              </a:lnSpc>
              <a:spcBef>
                <a:spcPts val="500"/>
              </a:spcBef>
              <a:spcAft>
                <a:spcPts val="0"/>
              </a:spcAft>
              <a:buNone/>
            </a:pPr>
            <a:r>
              <a:rPr sz="1045" b="0" i="0">
                <a:solidFill>
                  <a:srgbClr val="626669"/>
                </a:solidFill>
                <a:latin typeface="Fira Sans"/>
              </a:rPr>
              <a:t>A move in chess restricts the moves available later. Acting well requires reasoning about consequences over time, not about this step in isolation.</a:t>
            </a:r>
          </a:p>
        </p:txBody>
      </p:sp>
      <p:sp>
        <p:nvSpPr>
          <p:cNvPr id="16" name="Rectangle 15"/>
          <p:cNvSpPr/>
          <p:nvPr/>
        </p:nvSpPr>
        <p:spPr>
          <a:xfrm>
            <a:off x="8058912" y="4744389"/>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058912" y="4890693"/>
            <a:ext cx="3297936" cy="1087594"/>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574676"/>
                </a:solidFill>
                <a:latin typeface="Fira Sans"/>
              </a:rPr>
              <a:t>WHY IT MATTERS HERE</a:t>
            </a:r>
          </a:p>
          <a:p>
            <a:pPr marL="0" indent="0" algn="l">
              <a:lnSpc>
                <a:spcPts val="1277"/>
              </a:lnSpc>
              <a:spcBef>
                <a:spcPts val="500"/>
              </a:spcBef>
              <a:spcAft>
                <a:spcPts val="0"/>
              </a:spcAft>
              <a:buNone/>
            </a:pPr>
            <a:r>
              <a:rPr sz="1140" b="1" i="0" dirty="0">
                <a:solidFill>
                  <a:srgbClr val="25282A"/>
                </a:solidFill>
                <a:latin typeface="Fira Sans"/>
              </a:rPr>
              <a:t>This is the subject of the course</a:t>
            </a:r>
          </a:p>
          <a:p>
            <a:pPr marL="0" indent="0" algn="l">
              <a:lnSpc>
                <a:spcPts val="1254"/>
              </a:lnSpc>
              <a:spcBef>
                <a:spcPts val="500"/>
              </a:spcBef>
              <a:spcAft>
                <a:spcPts val="0"/>
              </a:spcAft>
              <a:buNone/>
            </a:pPr>
            <a:r>
              <a:rPr sz="1045" b="0" i="0" dirty="0">
                <a:solidFill>
                  <a:srgbClr val="626669"/>
                </a:solidFill>
                <a:latin typeface="Fira Sans"/>
              </a:rPr>
              <a:t>Reinforcement learning is the study of </a:t>
            </a:r>
            <a:r>
              <a:rPr sz="1045" b="1" i="0" dirty="0">
                <a:solidFill>
                  <a:srgbClr val="626669"/>
                </a:solidFill>
                <a:latin typeface="Fira Sans"/>
              </a:rPr>
              <a:t>sequential decision-making</a:t>
            </a:r>
            <a:r>
              <a:rPr sz="1045" b="0" i="0" dirty="0">
                <a:solidFill>
                  <a:srgbClr val="626669"/>
                </a:solidFill>
                <a:latin typeface="Fira Sans"/>
              </a:rPr>
              <a:t>. Bandits are the one-shot special case, used to isolate </a:t>
            </a:r>
            <a:r>
              <a:rPr sz="1045" b="1" i="0" dirty="0">
                <a:solidFill>
                  <a:srgbClr val="626669"/>
                </a:solidFill>
                <a:latin typeface="Fira Sans"/>
              </a:rPr>
              <a:t>exploration</a:t>
            </a:r>
            <a:r>
              <a:rPr sz="1045" b="0" i="0" dirty="0">
                <a:solidFill>
                  <a:srgbClr val="626669"/>
                </a:solidFill>
                <a:latin typeface="Fira Sans"/>
              </a:rPr>
              <a:t> from everything else.</a:t>
            </a:r>
          </a:p>
        </p:txBody>
      </p:sp>
      <p:pic>
        <p:nvPicPr>
          <p:cNvPr id="19" name="Immagine 18">
            <a:extLst>
              <a:ext uri="{FF2B5EF4-FFF2-40B4-BE49-F238E27FC236}">
                <a16:creationId xmlns:a16="http://schemas.microsoft.com/office/drawing/2014/main" id="{AC912E9E-4646-61DC-FA51-1BE2A0B54E42}"/>
              </a:ext>
            </a:extLst>
          </p:cNvPr>
          <p:cNvPicPr>
            <a:picLocks noChangeAspect="1"/>
          </p:cNvPicPr>
          <p:nvPr/>
        </p:nvPicPr>
        <p:blipFill>
          <a:blip r:embed="rId3"/>
          <a:stretch>
            <a:fillRect/>
          </a:stretch>
        </p:blipFill>
        <p:spPr>
          <a:xfrm>
            <a:off x="1363980" y="1774693"/>
            <a:ext cx="3013811" cy="271615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3.8  DYNAMICS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If the world moves while the agent thinks, deliberation has a deadline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23</a:t>
            </a:r>
          </a:p>
        </p:txBody>
      </p:sp>
      <p:sp>
        <p:nvSpPr>
          <p:cNvPr id="8" name="TextBox 7"/>
          <p:cNvSpPr txBox="1"/>
          <p:nvPr/>
        </p:nvSpPr>
        <p:spPr>
          <a:xfrm>
            <a:off x="841248" y="127627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An environment is </a:t>
            </a:r>
            <a:r>
              <a:rPr sz="1235" b="1" i="0" dirty="0">
                <a:solidFill>
                  <a:srgbClr val="333639"/>
                </a:solidFill>
                <a:latin typeface="Fira Sans"/>
              </a:rPr>
              <a:t>dynamic</a:t>
            </a:r>
            <a:r>
              <a:rPr sz="1235" b="0" i="0" dirty="0">
                <a:solidFill>
                  <a:srgbClr val="333639"/>
                </a:solidFill>
                <a:latin typeface="Fira Sans"/>
              </a:rPr>
              <a:t> if it can change while the agent is deliberating, and </a:t>
            </a:r>
            <a:r>
              <a:rPr sz="1235" b="1" i="0" dirty="0">
                <a:solidFill>
                  <a:srgbClr val="333639"/>
                </a:solidFill>
                <a:latin typeface="Fira Sans"/>
              </a:rPr>
              <a:t>static</a:t>
            </a:r>
            <a:r>
              <a:rPr sz="1235" b="0" i="0" dirty="0">
                <a:solidFill>
                  <a:srgbClr val="333639"/>
                </a:solidFill>
                <a:latin typeface="Fira Sans"/>
              </a:rPr>
              <a:t> if it cannot. A third case is worth naming: the world is unchanged, but the agent’s score is not.</a:t>
            </a:r>
          </a:p>
        </p:txBody>
      </p:sp>
      <p:pic>
        <p:nvPicPr>
          <p:cNvPr id="9" name="Picture 8" descr="dyn_dynamic.png"/>
          <p:cNvPicPr>
            <a:picLocks noChangeAspect="1"/>
          </p:cNvPicPr>
          <p:nvPr/>
        </p:nvPicPr>
        <p:blipFill>
          <a:blip r:embed="rId2"/>
          <a:stretch>
            <a:fillRect/>
          </a:stretch>
        </p:blipFill>
        <p:spPr>
          <a:xfrm>
            <a:off x="1377199" y="1767344"/>
            <a:ext cx="2587897" cy="2710766"/>
          </a:xfrm>
          <a:prstGeom prst="rect">
            <a:avLst/>
          </a:prstGeom>
        </p:spPr>
      </p:pic>
      <p:pic>
        <p:nvPicPr>
          <p:cNvPr id="10" name="Picture 9" descr="dyn_semi.png"/>
          <p:cNvPicPr>
            <a:picLocks noChangeAspect="1"/>
          </p:cNvPicPr>
          <p:nvPr/>
        </p:nvPicPr>
        <p:blipFill>
          <a:blip r:embed="rId3"/>
          <a:srcRect l="2659"/>
          <a:stretch>
            <a:fillRect/>
          </a:stretch>
        </p:blipFill>
        <p:spPr>
          <a:xfrm>
            <a:off x="4774300" y="1766651"/>
            <a:ext cx="2821743" cy="2670585"/>
          </a:xfrm>
          <a:prstGeom prst="rect">
            <a:avLst/>
          </a:prstGeom>
        </p:spPr>
      </p:pic>
      <p:pic>
        <p:nvPicPr>
          <p:cNvPr id="11" name="Picture 10" descr="dyn_static.png"/>
          <p:cNvPicPr>
            <a:picLocks noChangeAspect="1"/>
          </p:cNvPicPr>
          <p:nvPr/>
        </p:nvPicPr>
        <p:blipFill>
          <a:blip r:embed="rId4"/>
          <a:stretch>
            <a:fillRect/>
          </a:stretch>
        </p:blipFill>
        <p:spPr>
          <a:xfrm>
            <a:off x="8553856" y="1791620"/>
            <a:ext cx="1585464" cy="2611124"/>
          </a:xfrm>
          <a:prstGeom prst="rect">
            <a:avLst/>
          </a:prstGeom>
        </p:spPr>
      </p:pic>
      <p:sp>
        <p:nvSpPr>
          <p:cNvPr id="12" name="Rectangle 11"/>
          <p:cNvSpPr/>
          <p:nvPr/>
        </p:nvSpPr>
        <p:spPr>
          <a:xfrm>
            <a:off x="841248" y="452493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4744389"/>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 y="48906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2B7A3E"/>
                </a:solidFill>
                <a:latin typeface="Fira Sans"/>
              </a:rPr>
              <a:t>DYNAMIC</a:t>
            </a:r>
          </a:p>
          <a:p>
            <a:pPr marL="0" indent="0" algn="l">
              <a:lnSpc>
                <a:spcPts val="1277"/>
              </a:lnSpc>
              <a:spcBef>
                <a:spcPts val="500"/>
              </a:spcBef>
              <a:spcAft>
                <a:spcPts val="0"/>
              </a:spcAft>
              <a:buNone/>
            </a:pPr>
            <a:r>
              <a:rPr sz="1140" b="1" i="0">
                <a:solidFill>
                  <a:srgbClr val="25282A"/>
                </a:solidFill>
                <a:latin typeface="Fira Sans"/>
              </a:rPr>
              <a:t>Inaction is itself a choice</a:t>
            </a:r>
          </a:p>
          <a:p>
            <a:pPr marL="0" indent="0" algn="l">
              <a:lnSpc>
                <a:spcPts val="1254"/>
              </a:lnSpc>
              <a:spcBef>
                <a:spcPts val="500"/>
              </a:spcBef>
              <a:spcAft>
                <a:spcPts val="0"/>
              </a:spcAft>
              <a:buNone/>
            </a:pPr>
            <a:r>
              <a:rPr sz="1045" b="0" i="0">
                <a:solidFill>
                  <a:srgbClr val="626669"/>
                </a:solidFill>
                <a:latin typeface="Fira Sans"/>
              </a:rPr>
              <a:t>While the driving agent deliberates, the world moves on. Failing to decide is equivalent to choosing to do nothing, and it has consequences.</a:t>
            </a:r>
          </a:p>
        </p:txBody>
      </p:sp>
      <p:sp>
        <p:nvSpPr>
          <p:cNvPr id="15" name="Rectangle 14"/>
          <p:cNvSpPr/>
          <p:nvPr/>
        </p:nvSpPr>
        <p:spPr>
          <a:xfrm>
            <a:off x="4450080" y="4744389"/>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450080" y="48906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574676"/>
                </a:solidFill>
                <a:latin typeface="Fira Sans"/>
              </a:rPr>
              <a:t>SEMI-DYNAMIC</a:t>
            </a:r>
          </a:p>
          <a:p>
            <a:pPr marL="0" indent="0" algn="l">
              <a:lnSpc>
                <a:spcPts val="1277"/>
              </a:lnSpc>
              <a:spcBef>
                <a:spcPts val="500"/>
              </a:spcBef>
              <a:spcAft>
                <a:spcPts val="0"/>
              </a:spcAft>
              <a:buNone/>
            </a:pPr>
            <a:r>
              <a:rPr sz="1140" b="1" i="0">
                <a:solidFill>
                  <a:srgbClr val="25282A"/>
                </a:solidFill>
                <a:latin typeface="Fira Sans"/>
              </a:rPr>
              <a:t>The world waits; the clock does not</a:t>
            </a:r>
          </a:p>
          <a:p>
            <a:pPr marL="0" indent="0" algn="l">
              <a:lnSpc>
                <a:spcPts val="1254"/>
              </a:lnSpc>
              <a:spcBef>
                <a:spcPts val="500"/>
              </a:spcBef>
              <a:spcAft>
                <a:spcPts val="0"/>
              </a:spcAft>
              <a:buNone/>
            </a:pPr>
            <a:r>
              <a:rPr sz="1045" b="0" i="0">
                <a:solidFill>
                  <a:srgbClr val="626669"/>
                </a:solidFill>
                <a:latin typeface="Fira Sans"/>
              </a:rPr>
              <a:t>In chess with a clock the position is unchanged while the agent thinks, but the performance measure degrades with every second spent.</a:t>
            </a:r>
          </a:p>
        </p:txBody>
      </p:sp>
      <p:sp>
        <p:nvSpPr>
          <p:cNvPr id="17" name="Rectangle 16"/>
          <p:cNvSpPr/>
          <p:nvPr/>
        </p:nvSpPr>
        <p:spPr>
          <a:xfrm>
            <a:off x="8058912" y="4744389"/>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58912" y="48906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a:rPr>
              <a:t>STATIC</a:t>
            </a:r>
          </a:p>
          <a:p>
            <a:pPr marL="0" indent="0" algn="l">
              <a:lnSpc>
                <a:spcPts val="1277"/>
              </a:lnSpc>
              <a:spcBef>
                <a:spcPts val="500"/>
              </a:spcBef>
              <a:spcAft>
                <a:spcPts val="0"/>
              </a:spcAft>
              <a:buNone/>
            </a:pPr>
            <a:r>
              <a:rPr sz="1140" b="1" i="0">
                <a:solidFill>
                  <a:srgbClr val="25282A"/>
                </a:solidFill>
                <a:latin typeface="Fira Sans"/>
              </a:rPr>
              <a:t>No pressure to act at all</a:t>
            </a:r>
          </a:p>
          <a:p>
            <a:pPr marL="0" indent="0" algn="l">
              <a:lnSpc>
                <a:spcPts val="1254"/>
              </a:lnSpc>
              <a:spcBef>
                <a:spcPts val="500"/>
              </a:spcBef>
              <a:spcAft>
                <a:spcPts val="0"/>
              </a:spcAft>
              <a:buNone/>
            </a:pPr>
            <a:r>
              <a:rPr sz="1045" b="0" i="0">
                <a:solidFill>
                  <a:srgbClr val="626669"/>
                </a:solidFill>
                <a:latin typeface="Fira Sans"/>
              </a:rPr>
              <a:t>A crossword puzzle waits indefinitely. The agent need not monitor the world or worry about time while choosing.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3.9  CONTINUITY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Discreteness is what makes enumeration possible — and it usually fails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24</a:t>
            </a:r>
          </a:p>
        </p:txBody>
      </p:sp>
      <p:sp>
        <p:nvSpPr>
          <p:cNvPr id="8" name="TextBox 7"/>
          <p:cNvSpPr txBox="1"/>
          <p:nvPr/>
        </p:nvSpPr>
        <p:spPr>
          <a:xfrm>
            <a:off x="841248" y="1316736"/>
            <a:ext cx="10515600" cy="227926"/>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The </a:t>
            </a:r>
            <a:r>
              <a:rPr sz="1235" b="1" i="0" dirty="0">
                <a:solidFill>
                  <a:srgbClr val="333639"/>
                </a:solidFill>
                <a:latin typeface="Fira Sans"/>
              </a:rPr>
              <a:t>discrete/continuous </a:t>
            </a:r>
            <a:r>
              <a:rPr sz="1235" b="0" i="0" dirty="0">
                <a:solidFill>
                  <a:srgbClr val="333639"/>
                </a:solidFill>
                <a:latin typeface="Fira Sans"/>
              </a:rPr>
              <a:t>distinction applies separately to four things: the state of the environment, time, the agent’s percepts, and its actions.</a:t>
            </a:r>
          </a:p>
        </p:txBody>
      </p:sp>
      <p:pic>
        <p:nvPicPr>
          <p:cNvPr id="9" name="Picture 8" descr="cont_discrete.png"/>
          <p:cNvPicPr>
            <a:picLocks noChangeAspect="1"/>
          </p:cNvPicPr>
          <p:nvPr/>
        </p:nvPicPr>
        <p:blipFill>
          <a:blip r:embed="rId2"/>
          <a:stretch>
            <a:fillRect/>
          </a:stretch>
        </p:blipFill>
        <p:spPr>
          <a:xfrm>
            <a:off x="1190535" y="1632877"/>
            <a:ext cx="4134023" cy="2607469"/>
          </a:xfrm>
          <a:prstGeom prst="rect">
            <a:avLst/>
          </a:prstGeom>
        </p:spPr>
      </p:pic>
      <p:pic>
        <p:nvPicPr>
          <p:cNvPr id="10" name="Picture 9" descr="cont_continuous.png"/>
          <p:cNvPicPr>
            <a:picLocks noChangeAspect="1"/>
          </p:cNvPicPr>
          <p:nvPr/>
        </p:nvPicPr>
        <p:blipFill>
          <a:blip r:embed="rId3"/>
          <a:srcRect l="3785"/>
          <a:stretch>
            <a:fillRect/>
          </a:stretch>
        </p:blipFill>
        <p:spPr>
          <a:xfrm>
            <a:off x="6131916" y="1617572"/>
            <a:ext cx="4509111" cy="2728077"/>
          </a:xfrm>
          <a:prstGeom prst="rect">
            <a:avLst/>
          </a:prstGeom>
        </p:spPr>
      </p:pic>
      <p:sp>
        <p:nvSpPr>
          <p:cNvPr id="11" name="Rectangle 10"/>
          <p:cNvSpPr/>
          <p:nvPr/>
        </p:nvSpPr>
        <p:spPr>
          <a:xfrm>
            <a:off x="841248" y="433358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4553038"/>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699342"/>
            <a:ext cx="3297936" cy="1087594"/>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2B7A3E"/>
                </a:solidFill>
                <a:latin typeface="Fira Sans"/>
              </a:rPr>
              <a:t>DISCRETE</a:t>
            </a:r>
          </a:p>
          <a:p>
            <a:pPr marL="0" indent="0" algn="l">
              <a:lnSpc>
                <a:spcPts val="1277"/>
              </a:lnSpc>
              <a:spcBef>
                <a:spcPts val="500"/>
              </a:spcBef>
              <a:spcAft>
                <a:spcPts val="0"/>
              </a:spcAft>
              <a:buNone/>
            </a:pPr>
            <a:r>
              <a:rPr sz="1140" b="1" i="0">
                <a:solidFill>
                  <a:srgbClr val="25282A"/>
                </a:solidFill>
                <a:latin typeface="Fira Sans"/>
              </a:rPr>
              <a:t>Finitely many states, percepts and actions</a:t>
            </a:r>
          </a:p>
          <a:p>
            <a:pPr marL="0" indent="0" algn="l">
              <a:lnSpc>
                <a:spcPts val="1254"/>
              </a:lnSpc>
              <a:spcBef>
                <a:spcPts val="500"/>
              </a:spcBef>
              <a:spcAft>
                <a:spcPts val="0"/>
              </a:spcAft>
              <a:buNone/>
            </a:pPr>
            <a:r>
              <a:rPr sz="1045" b="0" i="0">
                <a:solidFill>
                  <a:srgbClr val="626669"/>
                </a:solidFill>
                <a:latin typeface="Fira Sans"/>
              </a:rPr>
              <a:t>Chess has a finite (if astronomical) state set, turn-based time, a finite percept set and a finite set of legal moves. Every quantity can in principle be tabulated.</a:t>
            </a:r>
          </a:p>
        </p:txBody>
      </p:sp>
      <p:sp>
        <p:nvSpPr>
          <p:cNvPr id="14" name="Rectangle 13"/>
          <p:cNvSpPr/>
          <p:nvPr/>
        </p:nvSpPr>
        <p:spPr>
          <a:xfrm>
            <a:off x="4450080" y="4553038"/>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50080" y="4699342"/>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a:rPr>
              <a:t>CONTINUOUS</a:t>
            </a:r>
          </a:p>
          <a:p>
            <a:pPr marL="0" indent="0" algn="l">
              <a:lnSpc>
                <a:spcPts val="1277"/>
              </a:lnSpc>
              <a:spcBef>
                <a:spcPts val="500"/>
              </a:spcBef>
              <a:spcAft>
                <a:spcPts val="0"/>
              </a:spcAft>
              <a:buNone/>
            </a:pPr>
            <a:r>
              <a:rPr sz="1140" b="1" i="0">
                <a:solidFill>
                  <a:srgbClr val="25282A"/>
                </a:solidFill>
                <a:latin typeface="Fira Sans"/>
              </a:rPr>
              <a:t>Smoothly varying quantities</a:t>
            </a:r>
          </a:p>
          <a:p>
            <a:pPr marL="0" indent="0" algn="l">
              <a:lnSpc>
                <a:spcPts val="1254"/>
              </a:lnSpc>
              <a:spcBef>
                <a:spcPts val="500"/>
              </a:spcBef>
              <a:spcAft>
                <a:spcPts val="0"/>
              </a:spcAft>
              <a:buNone/>
            </a:pPr>
            <a:r>
              <a:rPr sz="1045" b="0" i="0">
                <a:solidFill>
                  <a:srgbClr val="626669"/>
                </a:solidFill>
                <a:latin typeface="Fira Sans"/>
              </a:rPr>
              <a:t>Driving involves continuous position, speed and heading, continuous time, continuous sensor readings and continuous controls such as a steering angle.</a:t>
            </a:r>
          </a:p>
        </p:txBody>
      </p:sp>
      <p:sp>
        <p:nvSpPr>
          <p:cNvPr id="16" name="Rectangle 15"/>
          <p:cNvSpPr/>
          <p:nvPr/>
        </p:nvSpPr>
        <p:spPr>
          <a:xfrm>
            <a:off x="8058912" y="4553038"/>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058912" y="4699342"/>
            <a:ext cx="3297936" cy="1087594"/>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574676"/>
                </a:solidFill>
                <a:latin typeface="Fira Sans"/>
              </a:rPr>
              <a:t>WHAT THIS FORCES</a:t>
            </a:r>
          </a:p>
          <a:p>
            <a:pPr marL="0" indent="0" algn="l">
              <a:lnSpc>
                <a:spcPts val="1277"/>
              </a:lnSpc>
              <a:spcBef>
                <a:spcPts val="500"/>
              </a:spcBef>
              <a:spcAft>
                <a:spcPts val="0"/>
              </a:spcAft>
              <a:buNone/>
            </a:pPr>
            <a:r>
              <a:rPr sz="1140" b="1" i="0" dirty="0">
                <a:solidFill>
                  <a:srgbClr val="25282A"/>
                </a:solidFill>
                <a:latin typeface="Fira Sans"/>
              </a:rPr>
              <a:t>Tables give way to functions</a:t>
            </a:r>
          </a:p>
          <a:p>
            <a:pPr marL="0" indent="0" algn="l">
              <a:lnSpc>
                <a:spcPts val="1254"/>
              </a:lnSpc>
              <a:spcBef>
                <a:spcPts val="500"/>
              </a:spcBef>
              <a:spcAft>
                <a:spcPts val="0"/>
              </a:spcAft>
              <a:buNone/>
            </a:pPr>
            <a:r>
              <a:rPr sz="1045" b="0" i="0" dirty="0">
                <a:solidFill>
                  <a:srgbClr val="626669"/>
                </a:solidFill>
                <a:latin typeface="Fira Sans"/>
              </a:rPr>
              <a:t>A continuous state space cannot be enumerated at all. Values and policies must be represented by parameterized functions</a:t>
            </a:r>
            <a:r>
              <a:rPr lang="it-IT" sz="1045" b="0" i="0" dirty="0">
                <a:solidFill>
                  <a:srgbClr val="626669"/>
                </a:solidFill>
                <a:latin typeface="Fira Sans"/>
              </a:rPr>
              <a:t>, </a:t>
            </a:r>
            <a:r>
              <a:rPr sz="1045" b="0" i="0" dirty="0">
                <a:solidFill>
                  <a:srgbClr val="626669"/>
                </a:solidFill>
                <a:latin typeface="Fira Sans"/>
              </a:rPr>
              <a:t> the subject of </a:t>
            </a:r>
            <a:r>
              <a:rPr sz="1045" b="1" i="0" dirty="0">
                <a:solidFill>
                  <a:srgbClr val="626669"/>
                </a:solidFill>
                <a:latin typeface="Fira Sans"/>
              </a:rPr>
              <a:t>function approximation</a:t>
            </a:r>
            <a:r>
              <a:rPr sz="1045" b="0" i="0" dirty="0">
                <a:solidFill>
                  <a:srgbClr val="626669"/>
                </a:solidFill>
                <a:latin typeface="Fira Sans"/>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3.10  KNOWLEDGE OF THE RULES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Known versus unknown is not the same distinction as observable versus hidden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This dimension concerns the agent’s </a:t>
            </a:r>
            <a:r>
              <a:rPr sz="1235" b="1" i="0" dirty="0">
                <a:solidFill>
                  <a:srgbClr val="333639"/>
                </a:solidFill>
                <a:latin typeface="Fira Sans"/>
              </a:rPr>
              <a:t>understanding of how the environment works</a:t>
            </a:r>
            <a:r>
              <a:rPr lang="it-IT" sz="1235" dirty="0">
                <a:solidFill>
                  <a:srgbClr val="333639"/>
                </a:solidFill>
                <a:latin typeface="Fira Sans"/>
              </a:rPr>
              <a:t> (</a:t>
            </a:r>
            <a:r>
              <a:rPr sz="1235" b="0" i="0" dirty="0">
                <a:solidFill>
                  <a:srgbClr val="333639"/>
                </a:solidFill>
                <a:latin typeface="Fira Sans"/>
              </a:rPr>
              <a:t>the outcomes or probabilities of its actions</a:t>
            </a:r>
            <a:r>
              <a:rPr lang="it-IT" sz="1235" b="0" i="0" dirty="0">
                <a:solidFill>
                  <a:srgbClr val="333639"/>
                </a:solidFill>
                <a:latin typeface="Fira Sans"/>
              </a:rPr>
              <a:t>)</a:t>
            </a:r>
            <a:r>
              <a:rPr sz="1235" b="0" i="0" dirty="0">
                <a:solidFill>
                  <a:srgbClr val="333639"/>
                </a:solidFill>
                <a:latin typeface="Fira Sans"/>
              </a:rPr>
              <a:t> and not what it can currently see.</a:t>
            </a:r>
          </a:p>
        </p:txBody>
      </p:sp>
      <p:pic>
        <p:nvPicPr>
          <p:cNvPr id="9" name="Picture 8" descr="known_known.png"/>
          <p:cNvPicPr>
            <a:picLocks noChangeAspect="1"/>
          </p:cNvPicPr>
          <p:nvPr/>
        </p:nvPicPr>
        <p:blipFill>
          <a:blip r:embed="rId2"/>
          <a:stretch>
            <a:fillRect/>
          </a:stretch>
        </p:blipFill>
        <p:spPr>
          <a:xfrm>
            <a:off x="1423917" y="1736013"/>
            <a:ext cx="3407028" cy="2735054"/>
          </a:xfrm>
          <a:prstGeom prst="rect">
            <a:avLst/>
          </a:prstGeom>
        </p:spPr>
      </p:pic>
      <p:pic>
        <p:nvPicPr>
          <p:cNvPr id="10" name="Picture 9" descr="known_unknown.png"/>
          <p:cNvPicPr>
            <a:picLocks noChangeAspect="1"/>
          </p:cNvPicPr>
          <p:nvPr/>
        </p:nvPicPr>
        <p:blipFill>
          <a:blip r:embed="rId3"/>
          <a:srcRect l="2684"/>
          <a:stretch>
            <a:fillRect/>
          </a:stretch>
        </p:blipFill>
        <p:spPr>
          <a:xfrm>
            <a:off x="6544483" y="1665391"/>
            <a:ext cx="3303523" cy="2806716"/>
          </a:xfrm>
          <a:prstGeom prst="rect">
            <a:avLst/>
          </a:prstGeom>
        </p:spPr>
      </p:pic>
      <p:sp>
        <p:nvSpPr>
          <p:cNvPr id="11" name="Rectangle 10"/>
          <p:cNvSpPr/>
          <p:nvPr/>
        </p:nvSpPr>
        <p:spPr>
          <a:xfrm>
            <a:off x="841248" y="452493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4744389"/>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48906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2B7A3E"/>
                </a:solidFill>
                <a:latin typeface="Fira Sans"/>
              </a:rPr>
              <a:t>KNOWN</a:t>
            </a:r>
          </a:p>
          <a:p>
            <a:pPr marL="0" indent="0" algn="l">
              <a:lnSpc>
                <a:spcPts val="1277"/>
              </a:lnSpc>
              <a:spcBef>
                <a:spcPts val="500"/>
              </a:spcBef>
              <a:spcAft>
                <a:spcPts val="0"/>
              </a:spcAft>
              <a:buNone/>
            </a:pPr>
            <a:r>
              <a:rPr sz="1140" b="1" i="0" dirty="0">
                <a:solidFill>
                  <a:srgbClr val="25282A"/>
                </a:solidFill>
                <a:latin typeface="Fira Sans"/>
              </a:rPr>
              <a:t>The dynamics are given</a:t>
            </a:r>
          </a:p>
          <a:p>
            <a:pPr marL="0" indent="0" algn="l">
              <a:lnSpc>
                <a:spcPts val="1254"/>
              </a:lnSpc>
              <a:spcBef>
                <a:spcPts val="500"/>
              </a:spcBef>
              <a:spcAft>
                <a:spcPts val="0"/>
              </a:spcAft>
              <a:buNone/>
            </a:pPr>
            <a:r>
              <a:rPr sz="1045" b="0" i="0" dirty="0">
                <a:solidFill>
                  <a:srgbClr val="626669"/>
                </a:solidFill>
                <a:latin typeface="Fira Sans"/>
              </a:rPr>
              <a:t>In solitaire the rules </a:t>
            </a:r>
            <a:r>
              <a:rPr lang="it-IT" sz="1045" dirty="0">
                <a:solidFill>
                  <a:srgbClr val="626669"/>
                </a:solidFill>
                <a:latin typeface="Fira Sans"/>
              </a:rPr>
              <a:t>(</a:t>
            </a:r>
            <a:r>
              <a:rPr sz="1045" b="0" i="0" dirty="0">
                <a:solidFill>
                  <a:srgbClr val="626669"/>
                </a:solidFill>
                <a:latin typeface="Fira Sans"/>
              </a:rPr>
              <a:t>how cards move, how scoring works, what ends the game</a:t>
            </a:r>
            <a:r>
              <a:rPr lang="it-IT" sz="1045" b="0" i="0" dirty="0">
                <a:solidFill>
                  <a:srgbClr val="626669"/>
                </a:solidFill>
                <a:latin typeface="Fira Sans"/>
              </a:rPr>
              <a:t>)</a:t>
            </a:r>
            <a:r>
              <a:rPr sz="1045" b="0" i="0" dirty="0">
                <a:solidFill>
                  <a:srgbClr val="626669"/>
                </a:solidFill>
                <a:latin typeface="Fira Sans"/>
              </a:rPr>
              <a:t> are known from the outset, even though many cards are face down.</a:t>
            </a:r>
          </a:p>
        </p:txBody>
      </p:sp>
      <p:sp>
        <p:nvSpPr>
          <p:cNvPr id="14" name="Rectangle 13"/>
          <p:cNvSpPr/>
          <p:nvPr/>
        </p:nvSpPr>
        <p:spPr>
          <a:xfrm>
            <a:off x="4450080" y="4744389"/>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50080" y="48906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a:rPr>
              <a:t>UNKNOWN</a:t>
            </a:r>
          </a:p>
          <a:p>
            <a:pPr marL="0" indent="0" algn="l">
              <a:lnSpc>
                <a:spcPts val="1277"/>
              </a:lnSpc>
              <a:spcBef>
                <a:spcPts val="500"/>
              </a:spcBef>
              <a:spcAft>
                <a:spcPts val="0"/>
              </a:spcAft>
              <a:buNone/>
            </a:pPr>
            <a:r>
              <a:rPr sz="1140" b="1" i="0">
                <a:solidFill>
                  <a:srgbClr val="25282A"/>
                </a:solidFill>
                <a:latin typeface="Fira Sans"/>
              </a:rPr>
              <a:t>The dynamics must be discovered</a:t>
            </a:r>
          </a:p>
          <a:p>
            <a:pPr marL="0" indent="0" algn="l">
              <a:lnSpc>
                <a:spcPts val="1254"/>
              </a:lnSpc>
              <a:spcBef>
                <a:spcPts val="500"/>
              </a:spcBef>
              <a:spcAft>
                <a:spcPts val="0"/>
              </a:spcAft>
              <a:buNone/>
            </a:pPr>
            <a:r>
              <a:rPr sz="1045" b="0" i="0">
                <a:solidFill>
                  <a:srgbClr val="626669"/>
                </a:solidFill>
                <a:latin typeface="Fira Sans"/>
              </a:rPr>
              <a:t>In a new video game the whole screen may be visible, yet the agent does not know what its buttons do or how the world will respond. It has to experiment.</a:t>
            </a:r>
          </a:p>
        </p:txBody>
      </p:sp>
      <p:sp>
        <p:nvSpPr>
          <p:cNvPr id="16" name="Rectangle 15"/>
          <p:cNvSpPr/>
          <p:nvPr/>
        </p:nvSpPr>
        <p:spPr>
          <a:xfrm>
            <a:off x="8058912" y="4744389"/>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058912" y="4890693"/>
            <a:ext cx="3297936" cy="1090490"/>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574676"/>
                </a:solidFill>
                <a:latin typeface="Fira Sans"/>
              </a:rPr>
              <a:t>THE TWO AXES ARE INDEPENDENT</a:t>
            </a:r>
          </a:p>
          <a:p>
            <a:pPr marL="0" indent="0" algn="l">
              <a:lnSpc>
                <a:spcPts val="1277"/>
              </a:lnSpc>
              <a:spcBef>
                <a:spcPts val="500"/>
              </a:spcBef>
              <a:spcAft>
                <a:spcPts val="0"/>
              </a:spcAft>
              <a:buNone/>
            </a:pPr>
            <a:r>
              <a:rPr sz="1140" b="1" i="0">
                <a:solidFill>
                  <a:srgbClr val="25282A"/>
                </a:solidFill>
                <a:latin typeface="Fira Sans"/>
              </a:rPr>
              <a:t>Solitaire and the video game are opposite corners</a:t>
            </a:r>
          </a:p>
          <a:p>
            <a:pPr marL="0" indent="0" algn="l">
              <a:lnSpc>
                <a:spcPts val="1254"/>
              </a:lnSpc>
              <a:spcBef>
                <a:spcPts val="500"/>
              </a:spcBef>
              <a:spcAft>
                <a:spcPts val="0"/>
              </a:spcAft>
              <a:buNone/>
            </a:pPr>
            <a:r>
              <a:rPr sz="1045" b="0" i="0">
                <a:solidFill>
                  <a:srgbClr val="626669"/>
                </a:solidFill>
                <a:latin typeface="Fira Sans"/>
              </a:rPr>
              <a:t>Solitaire: known rules, partial observability. The new game: unknown rules, full observability. Confusing the two leads to solving the wrong problem.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3.11  TEN ENVIRONMENTS, SEVEN DIMENSIONS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Reading the table row by row predicts what the agent program will need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III — Properties of the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26</a:t>
            </a:r>
          </a:p>
        </p:txBody>
      </p:sp>
      <p:sp>
        <p:nvSpPr>
          <p:cNvPr id="8" name="TextBox 7"/>
          <p:cNvSpPr txBox="1"/>
          <p:nvPr/>
        </p:nvSpPr>
        <p:spPr>
          <a:xfrm>
            <a:off x="841248" y="1316736"/>
            <a:ext cx="1051560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Each row is a task; each column is one of the dimensions just introduced. </a:t>
            </a:r>
          </a:p>
        </p:txBody>
      </p:sp>
      <p:sp>
        <p:nvSpPr>
          <p:cNvPr id="9" name="Rectangle 8"/>
          <p:cNvSpPr/>
          <p:nvPr/>
        </p:nvSpPr>
        <p:spPr>
          <a:xfrm>
            <a:off x="841248" y="1922617"/>
            <a:ext cx="10515600" cy="26472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32688" y="1979310"/>
            <a:ext cx="1920239"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Environment</a:t>
            </a:r>
          </a:p>
        </p:txBody>
      </p:sp>
      <p:sp>
        <p:nvSpPr>
          <p:cNvPr id="11" name="TextBox 10"/>
          <p:cNvSpPr txBox="1"/>
          <p:nvPr/>
        </p:nvSpPr>
        <p:spPr>
          <a:xfrm>
            <a:off x="3035808" y="1979310"/>
            <a:ext cx="1234440"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Observable</a:t>
            </a:r>
          </a:p>
        </p:txBody>
      </p:sp>
      <p:sp>
        <p:nvSpPr>
          <p:cNvPr id="12" name="TextBox 11"/>
          <p:cNvSpPr txBox="1"/>
          <p:nvPr/>
        </p:nvSpPr>
        <p:spPr>
          <a:xfrm>
            <a:off x="4453127" y="1979310"/>
            <a:ext cx="1005840"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Agents</a:t>
            </a:r>
          </a:p>
        </p:txBody>
      </p:sp>
      <p:sp>
        <p:nvSpPr>
          <p:cNvPr id="13" name="TextBox 12"/>
          <p:cNvSpPr txBox="1"/>
          <p:nvPr/>
        </p:nvSpPr>
        <p:spPr>
          <a:xfrm>
            <a:off x="5641847" y="1979310"/>
            <a:ext cx="1691639"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Determinism</a:t>
            </a:r>
          </a:p>
        </p:txBody>
      </p:sp>
      <p:sp>
        <p:nvSpPr>
          <p:cNvPr id="14" name="TextBox 13"/>
          <p:cNvSpPr txBox="1"/>
          <p:nvPr/>
        </p:nvSpPr>
        <p:spPr>
          <a:xfrm>
            <a:off x="7516367" y="1979310"/>
            <a:ext cx="1280160"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Decisions</a:t>
            </a:r>
          </a:p>
        </p:txBody>
      </p:sp>
      <p:sp>
        <p:nvSpPr>
          <p:cNvPr id="15" name="TextBox 14"/>
          <p:cNvSpPr txBox="1"/>
          <p:nvPr/>
        </p:nvSpPr>
        <p:spPr>
          <a:xfrm>
            <a:off x="8979407" y="1979310"/>
            <a:ext cx="1188720"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Dynamics</a:t>
            </a:r>
          </a:p>
        </p:txBody>
      </p:sp>
      <p:sp>
        <p:nvSpPr>
          <p:cNvPr id="16" name="TextBox 15"/>
          <p:cNvSpPr txBox="1"/>
          <p:nvPr/>
        </p:nvSpPr>
        <p:spPr>
          <a:xfrm>
            <a:off x="10351007" y="1979310"/>
            <a:ext cx="1490472"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Continuity</a:t>
            </a:r>
          </a:p>
        </p:txBody>
      </p:sp>
      <p:sp>
        <p:nvSpPr>
          <p:cNvPr id="17" name="TextBox 16"/>
          <p:cNvSpPr txBox="1"/>
          <p:nvPr/>
        </p:nvSpPr>
        <p:spPr>
          <a:xfrm>
            <a:off x="932688" y="2244039"/>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Crossword puzzle</a:t>
            </a:r>
          </a:p>
        </p:txBody>
      </p:sp>
      <p:sp>
        <p:nvSpPr>
          <p:cNvPr id="18" name="TextBox 17"/>
          <p:cNvSpPr txBox="1"/>
          <p:nvPr/>
        </p:nvSpPr>
        <p:spPr>
          <a:xfrm>
            <a:off x="3035808" y="2244039"/>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Fully</a:t>
            </a:r>
          </a:p>
        </p:txBody>
      </p:sp>
      <p:sp>
        <p:nvSpPr>
          <p:cNvPr id="19" name="TextBox 18"/>
          <p:cNvSpPr txBox="1"/>
          <p:nvPr/>
        </p:nvSpPr>
        <p:spPr>
          <a:xfrm>
            <a:off x="4453127" y="2244039"/>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Single</a:t>
            </a:r>
          </a:p>
        </p:txBody>
      </p:sp>
      <p:sp>
        <p:nvSpPr>
          <p:cNvPr id="20" name="TextBox 19"/>
          <p:cNvSpPr txBox="1"/>
          <p:nvPr/>
        </p:nvSpPr>
        <p:spPr>
          <a:xfrm>
            <a:off x="5641847" y="2244039"/>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Deterministic</a:t>
            </a:r>
          </a:p>
        </p:txBody>
      </p:sp>
      <p:sp>
        <p:nvSpPr>
          <p:cNvPr id="21" name="TextBox 20"/>
          <p:cNvSpPr txBox="1"/>
          <p:nvPr/>
        </p:nvSpPr>
        <p:spPr>
          <a:xfrm>
            <a:off x="7516367" y="2244039"/>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Sequential</a:t>
            </a:r>
          </a:p>
        </p:txBody>
      </p:sp>
      <p:sp>
        <p:nvSpPr>
          <p:cNvPr id="22" name="TextBox 21"/>
          <p:cNvSpPr txBox="1"/>
          <p:nvPr/>
        </p:nvSpPr>
        <p:spPr>
          <a:xfrm>
            <a:off x="8979407" y="2244039"/>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Static</a:t>
            </a:r>
          </a:p>
        </p:txBody>
      </p:sp>
      <p:sp>
        <p:nvSpPr>
          <p:cNvPr id="23" name="TextBox 22"/>
          <p:cNvSpPr txBox="1"/>
          <p:nvPr/>
        </p:nvSpPr>
        <p:spPr>
          <a:xfrm>
            <a:off x="10351007" y="2244039"/>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Discrete</a:t>
            </a:r>
          </a:p>
        </p:txBody>
      </p:sp>
      <p:sp>
        <p:nvSpPr>
          <p:cNvPr id="24" name="Rectangle 23"/>
          <p:cNvSpPr/>
          <p:nvPr/>
        </p:nvSpPr>
        <p:spPr>
          <a:xfrm>
            <a:off x="841248" y="2468008"/>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2473495"/>
            <a:ext cx="10515600" cy="2861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32688" y="2530187"/>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Chess with a clock</a:t>
            </a:r>
          </a:p>
        </p:txBody>
      </p:sp>
      <p:sp>
        <p:nvSpPr>
          <p:cNvPr id="27" name="TextBox 26"/>
          <p:cNvSpPr txBox="1"/>
          <p:nvPr/>
        </p:nvSpPr>
        <p:spPr>
          <a:xfrm>
            <a:off x="3035808" y="2530187"/>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Fully</a:t>
            </a:r>
          </a:p>
        </p:txBody>
      </p:sp>
      <p:sp>
        <p:nvSpPr>
          <p:cNvPr id="28" name="TextBox 27"/>
          <p:cNvSpPr txBox="1"/>
          <p:nvPr/>
        </p:nvSpPr>
        <p:spPr>
          <a:xfrm>
            <a:off x="4453127" y="2530187"/>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Multi</a:t>
            </a:r>
          </a:p>
        </p:txBody>
      </p:sp>
      <p:sp>
        <p:nvSpPr>
          <p:cNvPr id="29" name="TextBox 28"/>
          <p:cNvSpPr txBox="1"/>
          <p:nvPr/>
        </p:nvSpPr>
        <p:spPr>
          <a:xfrm>
            <a:off x="5641847" y="2530187"/>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Non-deterministic</a:t>
            </a:r>
          </a:p>
        </p:txBody>
      </p:sp>
      <p:sp>
        <p:nvSpPr>
          <p:cNvPr id="30" name="TextBox 29"/>
          <p:cNvSpPr txBox="1"/>
          <p:nvPr/>
        </p:nvSpPr>
        <p:spPr>
          <a:xfrm>
            <a:off x="7516367" y="2530187"/>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Sequential</a:t>
            </a:r>
          </a:p>
        </p:txBody>
      </p:sp>
      <p:sp>
        <p:nvSpPr>
          <p:cNvPr id="31" name="TextBox 30"/>
          <p:cNvSpPr txBox="1"/>
          <p:nvPr/>
        </p:nvSpPr>
        <p:spPr>
          <a:xfrm>
            <a:off x="8979407" y="2530187"/>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Semi</a:t>
            </a:r>
          </a:p>
        </p:txBody>
      </p:sp>
      <p:sp>
        <p:nvSpPr>
          <p:cNvPr id="32" name="TextBox 31"/>
          <p:cNvSpPr txBox="1"/>
          <p:nvPr/>
        </p:nvSpPr>
        <p:spPr>
          <a:xfrm>
            <a:off x="10351007" y="2530187"/>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Discrete</a:t>
            </a:r>
          </a:p>
        </p:txBody>
      </p:sp>
      <p:sp>
        <p:nvSpPr>
          <p:cNvPr id="33" name="Rectangle 32"/>
          <p:cNvSpPr/>
          <p:nvPr/>
        </p:nvSpPr>
        <p:spPr>
          <a:xfrm>
            <a:off x="841248" y="275415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32688" y="2816336"/>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Poker</a:t>
            </a:r>
          </a:p>
        </p:txBody>
      </p:sp>
      <p:sp>
        <p:nvSpPr>
          <p:cNvPr id="35" name="TextBox 34"/>
          <p:cNvSpPr txBox="1"/>
          <p:nvPr/>
        </p:nvSpPr>
        <p:spPr>
          <a:xfrm>
            <a:off x="3035808" y="2816336"/>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Partially</a:t>
            </a:r>
          </a:p>
        </p:txBody>
      </p:sp>
      <p:sp>
        <p:nvSpPr>
          <p:cNvPr id="36" name="TextBox 35"/>
          <p:cNvSpPr txBox="1"/>
          <p:nvPr/>
        </p:nvSpPr>
        <p:spPr>
          <a:xfrm>
            <a:off x="4453127" y="2816336"/>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Multi</a:t>
            </a:r>
          </a:p>
        </p:txBody>
      </p:sp>
      <p:sp>
        <p:nvSpPr>
          <p:cNvPr id="37" name="TextBox 36"/>
          <p:cNvSpPr txBox="1"/>
          <p:nvPr/>
        </p:nvSpPr>
        <p:spPr>
          <a:xfrm>
            <a:off x="5641847" y="2816336"/>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Stochastic</a:t>
            </a:r>
          </a:p>
        </p:txBody>
      </p:sp>
      <p:sp>
        <p:nvSpPr>
          <p:cNvPr id="38" name="TextBox 37"/>
          <p:cNvSpPr txBox="1"/>
          <p:nvPr/>
        </p:nvSpPr>
        <p:spPr>
          <a:xfrm>
            <a:off x="7516367" y="2816336"/>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Sequential</a:t>
            </a:r>
          </a:p>
        </p:txBody>
      </p:sp>
      <p:sp>
        <p:nvSpPr>
          <p:cNvPr id="39" name="TextBox 38"/>
          <p:cNvSpPr txBox="1"/>
          <p:nvPr/>
        </p:nvSpPr>
        <p:spPr>
          <a:xfrm>
            <a:off x="8979407" y="2816336"/>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Static</a:t>
            </a:r>
          </a:p>
        </p:txBody>
      </p:sp>
      <p:sp>
        <p:nvSpPr>
          <p:cNvPr id="40" name="TextBox 39"/>
          <p:cNvSpPr txBox="1"/>
          <p:nvPr/>
        </p:nvSpPr>
        <p:spPr>
          <a:xfrm>
            <a:off x="10351007" y="2816336"/>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Discrete</a:t>
            </a:r>
          </a:p>
        </p:txBody>
      </p:sp>
      <p:sp>
        <p:nvSpPr>
          <p:cNvPr id="41" name="Rectangle 40"/>
          <p:cNvSpPr/>
          <p:nvPr/>
        </p:nvSpPr>
        <p:spPr>
          <a:xfrm>
            <a:off x="841248" y="304030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841248" y="3045792"/>
            <a:ext cx="10515600" cy="2861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932688" y="3102485"/>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Backgammon</a:t>
            </a:r>
          </a:p>
        </p:txBody>
      </p:sp>
      <p:sp>
        <p:nvSpPr>
          <p:cNvPr id="44" name="TextBox 43"/>
          <p:cNvSpPr txBox="1"/>
          <p:nvPr/>
        </p:nvSpPr>
        <p:spPr>
          <a:xfrm>
            <a:off x="3035808" y="3102485"/>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Fully</a:t>
            </a:r>
          </a:p>
        </p:txBody>
      </p:sp>
      <p:sp>
        <p:nvSpPr>
          <p:cNvPr id="45" name="TextBox 44"/>
          <p:cNvSpPr txBox="1"/>
          <p:nvPr/>
        </p:nvSpPr>
        <p:spPr>
          <a:xfrm>
            <a:off x="4453127" y="3102485"/>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Multi</a:t>
            </a:r>
          </a:p>
        </p:txBody>
      </p:sp>
      <p:sp>
        <p:nvSpPr>
          <p:cNvPr id="46" name="TextBox 45"/>
          <p:cNvSpPr txBox="1"/>
          <p:nvPr/>
        </p:nvSpPr>
        <p:spPr>
          <a:xfrm>
            <a:off x="5641847" y="3102485"/>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Stochastic</a:t>
            </a:r>
          </a:p>
        </p:txBody>
      </p:sp>
      <p:sp>
        <p:nvSpPr>
          <p:cNvPr id="47" name="TextBox 46"/>
          <p:cNvSpPr txBox="1"/>
          <p:nvPr/>
        </p:nvSpPr>
        <p:spPr>
          <a:xfrm>
            <a:off x="7516367" y="3102485"/>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Sequential</a:t>
            </a:r>
          </a:p>
        </p:txBody>
      </p:sp>
      <p:sp>
        <p:nvSpPr>
          <p:cNvPr id="48" name="TextBox 47"/>
          <p:cNvSpPr txBox="1"/>
          <p:nvPr/>
        </p:nvSpPr>
        <p:spPr>
          <a:xfrm>
            <a:off x="8979407" y="3102485"/>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Static</a:t>
            </a:r>
          </a:p>
        </p:txBody>
      </p:sp>
      <p:sp>
        <p:nvSpPr>
          <p:cNvPr id="49" name="TextBox 48"/>
          <p:cNvSpPr txBox="1"/>
          <p:nvPr/>
        </p:nvSpPr>
        <p:spPr>
          <a:xfrm>
            <a:off x="10351007" y="3102485"/>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Discrete</a:t>
            </a:r>
          </a:p>
        </p:txBody>
      </p:sp>
      <p:sp>
        <p:nvSpPr>
          <p:cNvPr id="50" name="Rectangle 49"/>
          <p:cNvSpPr/>
          <p:nvPr/>
        </p:nvSpPr>
        <p:spPr>
          <a:xfrm>
            <a:off x="841248" y="332645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932688" y="3388634"/>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Driving</a:t>
            </a:r>
          </a:p>
        </p:txBody>
      </p:sp>
      <p:sp>
        <p:nvSpPr>
          <p:cNvPr id="52" name="TextBox 51"/>
          <p:cNvSpPr txBox="1"/>
          <p:nvPr/>
        </p:nvSpPr>
        <p:spPr>
          <a:xfrm>
            <a:off x="3035808" y="3388634"/>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Partially</a:t>
            </a:r>
          </a:p>
        </p:txBody>
      </p:sp>
      <p:sp>
        <p:nvSpPr>
          <p:cNvPr id="53" name="TextBox 52"/>
          <p:cNvSpPr txBox="1"/>
          <p:nvPr/>
        </p:nvSpPr>
        <p:spPr>
          <a:xfrm>
            <a:off x="4453127" y="3388634"/>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Multi</a:t>
            </a:r>
          </a:p>
        </p:txBody>
      </p:sp>
      <p:sp>
        <p:nvSpPr>
          <p:cNvPr id="54" name="TextBox 53"/>
          <p:cNvSpPr txBox="1"/>
          <p:nvPr/>
        </p:nvSpPr>
        <p:spPr>
          <a:xfrm>
            <a:off x="5641847" y="3388634"/>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Stochastic</a:t>
            </a:r>
          </a:p>
        </p:txBody>
      </p:sp>
      <p:sp>
        <p:nvSpPr>
          <p:cNvPr id="55" name="TextBox 54"/>
          <p:cNvSpPr txBox="1"/>
          <p:nvPr/>
        </p:nvSpPr>
        <p:spPr>
          <a:xfrm>
            <a:off x="7516367" y="3388634"/>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Sequential</a:t>
            </a:r>
          </a:p>
        </p:txBody>
      </p:sp>
      <p:sp>
        <p:nvSpPr>
          <p:cNvPr id="56" name="TextBox 55"/>
          <p:cNvSpPr txBox="1"/>
          <p:nvPr/>
        </p:nvSpPr>
        <p:spPr>
          <a:xfrm>
            <a:off x="8979407" y="3388634"/>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Dynamic</a:t>
            </a:r>
          </a:p>
        </p:txBody>
      </p:sp>
      <p:sp>
        <p:nvSpPr>
          <p:cNvPr id="57" name="TextBox 56"/>
          <p:cNvSpPr txBox="1"/>
          <p:nvPr/>
        </p:nvSpPr>
        <p:spPr>
          <a:xfrm>
            <a:off x="10351007" y="3388634"/>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Continuous</a:t>
            </a:r>
          </a:p>
        </p:txBody>
      </p:sp>
      <p:sp>
        <p:nvSpPr>
          <p:cNvPr id="58" name="Rectangle 57"/>
          <p:cNvSpPr/>
          <p:nvPr/>
        </p:nvSpPr>
        <p:spPr>
          <a:xfrm>
            <a:off x="841248" y="361260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ectangle 58"/>
          <p:cNvSpPr/>
          <p:nvPr/>
        </p:nvSpPr>
        <p:spPr>
          <a:xfrm>
            <a:off x="841248" y="3618090"/>
            <a:ext cx="10515600" cy="2861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932688" y="3674783"/>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Medical diagnosis</a:t>
            </a:r>
          </a:p>
        </p:txBody>
      </p:sp>
      <p:sp>
        <p:nvSpPr>
          <p:cNvPr id="61" name="TextBox 60"/>
          <p:cNvSpPr txBox="1"/>
          <p:nvPr/>
        </p:nvSpPr>
        <p:spPr>
          <a:xfrm>
            <a:off x="3035808" y="3674783"/>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Partially</a:t>
            </a:r>
          </a:p>
        </p:txBody>
      </p:sp>
      <p:sp>
        <p:nvSpPr>
          <p:cNvPr id="62" name="TextBox 61"/>
          <p:cNvSpPr txBox="1"/>
          <p:nvPr/>
        </p:nvSpPr>
        <p:spPr>
          <a:xfrm>
            <a:off x="4453127" y="3674783"/>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Single</a:t>
            </a:r>
          </a:p>
        </p:txBody>
      </p:sp>
      <p:sp>
        <p:nvSpPr>
          <p:cNvPr id="63" name="TextBox 62"/>
          <p:cNvSpPr txBox="1"/>
          <p:nvPr/>
        </p:nvSpPr>
        <p:spPr>
          <a:xfrm>
            <a:off x="5641847" y="3674783"/>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Stochastic</a:t>
            </a:r>
          </a:p>
        </p:txBody>
      </p:sp>
      <p:sp>
        <p:nvSpPr>
          <p:cNvPr id="64" name="TextBox 63"/>
          <p:cNvSpPr txBox="1"/>
          <p:nvPr/>
        </p:nvSpPr>
        <p:spPr>
          <a:xfrm>
            <a:off x="7516367" y="3674783"/>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Sequential</a:t>
            </a:r>
          </a:p>
        </p:txBody>
      </p:sp>
      <p:sp>
        <p:nvSpPr>
          <p:cNvPr id="65" name="TextBox 64"/>
          <p:cNvSpPr txBox="1"/>
          <p:nvPr/>
        </p:nvSpPr>
        <p:spPr>
          <a:xfrm>
            <a:off x="8979407" y="3674783"/>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Dynamic</a:t>
            </a:r>
          </a:p>
        </p:txBody>
      </p:sp>
      <p:sp>
        <p:nvSpPr>
          <p:cNvPr id="66" name="TextBox 65"/>
          <p:cNvSpPr txBox="1"/>
          <p:nvPr/>
        </p:nvSpPr>
        <p:spPr>
          <a:xfrm>
            <a:off x="10351007" y="3674783"/>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Continuous</a:t>
            </a:r>
          </a:p>
        </p:txBody>
      </p:sp>
      <p:sp>
        <p:nvSpPr>
          <p:cNvPr id="67" name="Rectangle 66"/>
          <p:cNvSpPr/>
          <p:nvPr/>
        </p:nvSpPr>
        <p:spPr>
          <a:xfrm>
            <a:off x="841248" y="389875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932688" y="3960931"/>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Image analysis</a:t>
            </a:r>
          </a:p>
        </p:txBody>
      </p:sp>
      <p:sp>
        <p:nvSpPr>
          <p:cNvPr id="69" name="TextBox 68"/>
          <p:cNvSpPr txBox="1"/>
          <p:nvPr/>
        </p:nvSpPr>
        <p:spPr>
          <a:xfrm>
            <a:off x="3035808" y="3960931"/>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Fully</a:t>
            </a:r>
          </a:p>
        </p:txBody>
      </p:sp>
      <p:sp>
        <p:nvSpPr>
          <p:cNvPr id="70" name="TextBox 69"/>
          <p:cNvSpPr txBox="1"/>
          <p:nvPr/>
        </p:nvSpPr>
        <p:spPr>
          <a:xfrm>
            <a:off x="4453127" y="3960931"/>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Single</a:t>
            </a:r>
          </a:p>
        </p:txBody>
      </p:sp>
      <p:sp>
        <p:nvSpPr>
          <p:cNvPr id="71" name="TextBox 70"/>
          <p:cNvSpPr txBox="1"/>
          <p:nvPr/>
        </p:nvSpPr>
        <p:spPr>
          <a:xfrm>
            <a:off x="5641847" y="3960931"/>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Deterministic</a:t>
            </a:r>
          </a:p>
        </p:txBody>
      </p:sp>
      <p:sp>
        <p:nvSpPr>
          <p:cNvPr id="72" name="TextBox 71"/>
          <p:cNvSpPr txBox="1"/>
          <p:nvPr/>
        </p:nvSpPr>
        <p:spPr>
          <a:xfrm>
            <a:off x="7516367" y="3960931"/>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One-shot</a:t>
            </a:r>
          </a:p>
        </p:txBody>
      </p:sp>
      <p:sp>
        <p:nvSpPr>
          <p:cNvPr id="73" name="TextBox 72"/>
          <p:cNvSpPr txBox="1"/>
          <p:nvPr/>
        </p:nvSpPr>
        <p:spPr>
          <a:xfrm>
            <a:off x="8979407" y="3960931"/>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Semi</a:t>
            </a:r>
          </a:p>
        </p:txBody>
      </p:sp>
      <p:sp>
        <p:nvSpPr>
          <p:cNvPr id="74" name="TextBox 73"/>
          <p:cNvSpPr txBox="1"/>
          <p:nvPr/>
        </p:nvSpPr>
        <p:spPr>
          <a:xfrm>
            <a:off x="10351007" y="3960931"/>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Continuous</a:t>
            </a:r>
          </a:p>
        </p:txBody>
      </p:sp>
      <p:sp>
        <p:nvSpPr>
          <p:cNvPr id="75" name="Rectangle 74"/>
          <p:cNvSpPr/>
          <p:nvPr/>
        </p:nvSpPr>
        <p:spPr>
          <a:xfrm>
            <a:off x="841248" y="418490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Rectangle 75"/>
          <p:cNvSpPr/>
          <p:nvPr/>
        </p:nvSpPr>
        <p:spPr>
          <a:xfrm>
            <a:off x="841248" y="4190387"/>
            <a:ext cx="10515600" cy="2861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Box 76"/>
          <p:cNvSpPr txBox="1"/>
          <p:nvPr/>
        </p:nvSpPr>
        <p:spPr>
          <a:xfrm>
            <a:off x="932688" y="4247080"/>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Part-picking robot</a:t>
            </a:r>
          </a:p>
        </p:txBody>
      </p:sp>
      <p:sp>
        <p:nvSpPr>
          <p:cNvPr id="78" name="TextBox 77"/>
          <p:cNvSpPr txBox="1"/>
          <p:nvPr/>
        </p:nvSpPr>
        <p:spPr>
          <a:xfrm>
            <a:off x="3035808" y="4247080"/>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Partially</a:t>
            </a:r>
          </a:p>
        </p:txBody>
      </p:sp>
      <p:sp>
        <p:nvSpPr>
          <p:cNvPr id="79" name="TextBox 78"/>
          <p:cNvSpPr txBox="1"/>
          <p:nvPr/>
        </p:nvSpPr>
        <p:spPr>
          <a:xfrm>
            <a:off x="4453127" y="4247080"/>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Single</a:t>
            </a:r>
          </a:p>
        </p:txBody>
      </p:sp>
      <p:sp>
        <p:nvSpPr>
          <p:cNvPr id="80" name="TextBox 79"/>
          <p:cNvSpPr txBox="1"/>
          <p:nvPr/>
        </p:nvSpPr>
        <p:spPr>
          <a:xfrm>
            <a:off x="5641847" y="4247080"/>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Stochastic</a:t>
            </a:r>
          </a:p>
        </p:txBody>
      </p:sp>
      <p:sp>
        <p:nvSpPr>
          <p:cNvPr id="81" name="TextBox 80"/>
          <p:cNvSpPr txBox="1"/>
          <p:nvPr/>
        </p:nvSpPr>
        <p:spPr>
          <a:xfrm>
            <a:off x="7516367" y="4247080"/>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One-shot</a:t>
            </a:r>
          </a:p>
        </p:txBody>
      </p:sp>
      <p:sp>
        <p:nvSpPr>
          <p:cNvPr id="82" name="TextBox 81"/>
          <p:cNvSpPr txBox="1"/>
          <p:nvPr/>
        </p:nvSpPr>
        <p:spPr>
          <a:xfrm>
            <a:off x="8979407" y="4247080"/>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Dynamic</a:t>
            </a:r>
          </a:p>
        </p:txBody>
      </p:sp>
      <p:sp>
        <p:nvSpPr>
          <p:cNvPr id="83" name="TextBox 82"/>
          <p:cNvSpPr txBox="1"/>
          <p:nvPr/>
        </p:nvSpPr>
        <p:spPr>
          <a:xfrm>
            <a:off x="10351007" y="4247080"/>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Continuous</a:t>
            </a:r>
          </a:p>
        </p:txBody>
      </p:sp>
      <p:sp>
        <p:nvSpPr>
          <p:cNvPr id="84" name="Rectangle 83"/>
          <p:cNvSpPr/>
          <p:nvPr/>
        </p:nvSpPr>
        <p:spPr>
          <a:xfrm>
            <a:off x="841248" y="447105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Box 84"/>
          <p:cNvSpPr txBox="1"/>
          <p:nvPr/>
        </p:nvSpPr>
        <p:spPr>
          <a:xfrm>
            <a:off x="932688" y="4533229"/>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Refinery controller</a:t>
            </a:r>
          </a:p>
        </p:txBody>
      </p:sp>
      <p:sp>
        <p:nvSpPr>
          <p:cNvPr id="86" name="TextBox 85"/>
          <p:cNvSpPr txBox="1"/>
          <p:nvPr/>
        </p:nvSpPr>
        <p:spPr>
          <a:xfrm>
            <a:off x="3035808" y="4533229"/>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Partially</a:t>
            </a:r>
          </a:p>
        </p:txBody>
      </p:sp>
      <p:sp>
        <p:nvSpPr>
          <p:cNvPr id="87" name="TextBox 86"/>
          <p:cNvSpPr txBox="1"/>
          <p:nvPr/>
        </p:nvSpPr>
        <p:spPr>
          <a:xfrm>
            <a:off x="4453127" y="4533229"/>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Single</a:t>
            </a:r>
          </a:p>
        </p:txBody>
      </p:sp>
      <p:sp>
        <p:nvSpPr>
          <p:cNvPr id="88" name="TextBox 87"/>
          <p:cNvSpPr txBox="1"/>
          <p:nvPr/>
        </p:nvSpPr>
        <p:spPr>
          <a:xfrm>
            <a:off x="5641847" y="4533229"/>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Stochastic</a:t>
            </a:r>
          </a:p>
        </p:txBody>
      </p:sp>
      <p:sp>
        <p:nvSpPr>
          <p:cNvPr id="89" name="TextBox 88"/>
          <p:cNvSpPr txBox="1"/>
          <p:nvPr/>
        </p:nvSpPr>
        <p:spPr>
          <a:xfrm>
            <a:off x="7516367" y="4533229"/>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Sequential</a:t>
            </a:r>
          </a:p>
        </p:txBody>
      </p:sp>
      <p:sp>
        <p:nvSpPr>
          <p:cNvPr id="90" name="TextBox 89"/>
          <p:cNvSpPr txBox="1"/>
          <p:nvPr/>
        </p:nvSpPr>
        <p:spPr>
          <a:xfrm>
            <a:off x="8979407" y="4533229"/>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Dynamic</a:t>
            </a:r>
          </a:p>
        </p:txBody>
      </p:sp>
      <p:sp>
        <p:nvSpPr>
          <p:cNvPr id="91" name="TextBox 90"/>
          <p:cNvSpPr txBox="1"/>
          <p:nvPr/>
        </p:nvSpPr>
        <p:spPr>
          <a:xfrm>
            <a:off x="10351007" y="4533229"/>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Continuous</a:t>
            </a:r>
          </a:p>
        </p:txBody>
      </p:sp>
      <p:sp>
        <p:nvSpPr>
          <p:cNvPr id="92" name="Rectangle 91"/>
          <p:cNvSpPr/>
          <p:nvPr/>
        </p:nvSpPr>
        <p:spPr>
          <a:xfrm>
            <a:off x="841248" y="475719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Rectangle 92"/>
          <p:cNvSpPr/>
          <p:nvPr/>
        </p:nvSpPr>
        <p:spPr>
          <a:xfrm>
            <a:off x="841248" y="4762685"/>
            <a:ext cx="10515600" cy="2861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TextBox 93"/>
          <p:cNvSpPr txBox="1"/>
          <p:nvPr/>
        </p:nvSpPr>
        <p:spPr>
          <a:xfrm>
            <a:off x="932688" y="4819378"/>
            <a:ext cx="19202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English tutor</a:t>
            </a:r>
          </a:p>
        </p:txBody>
      </p:sp>
      <p:sp>
        <p:nvSpPr>
          <p:cNvPr id="95" name="TextBox 94"/>
          <p:cNvSpPr txBox="1"/>
          <p:nvPr/>
        </p:nvSpPr>
        <p:spPr>
          <a:xfrm>
            <a:off x="3035808" y="4819378"/>
            <a:ext cx="12344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Partially</a:t>
            </a:r>
          </a:p>
        </p:txBody>
      </p:sp>
      <p:sp>
        <p:nvSpPr>
          <p:cNvPr id="96" name="TextBox 95"/>
          <p:cNvSpPr txBox="1"/>
          <p:nvPr/>
        </p:nvSpPr>
        <p:spPr>
          <a:xfrm>
            <a:off x="4453127" y="4819378"/>
            <a:ext cx="100584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Multi</a:t>
            </a:r>
          </a:p>
        </p:txBody>
      </p:sp>
      <p:sp>
        <p:nvSpPr>
          <p:cNvPr id="97" name="TextBox 96"/>
          <p:cNvSpPr txBox="1"/>
          <p:nvPr/>
        </p:nvSpPr>
        <p:spPr>
          <a:xfrm>
            <a:off x="5641847" y="4819378"/>
            <a:ext cx="1691639"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Stochastic</a:t>
            </a:r>
          </a:p>
        </p:txBody>
      </p:sp>
      <p:sp>
        <p:nvSpPr>
          <p:cNvPr id="98" name="TextBox 97"/>
          <p:cNvSpPr txBox="1"/>
          <p:nvPr/>
        </p:nvSpPr>
        <p:spPr>
          <a:xfrm>
            <a:off x="7516367" y="4819378"/>
            <a:ext cx="128016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Sequential</a:t>
            </a:r>
          </a:p>
        </p:txBody>
      </p:sp>
      <p:sp>
        <p:nvSpPr>
          <p:cNvPr id="99" name="TextBox 98"/>
          <p:cNvSpPr txBox="1"/>
          <p:nvPr/>
        </p:nvSpPr>
        <p:spPr>
          <a:xfrm>
            <a:off x="8979407" y="4819378"/>
            <a:ext cx="118872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C8102E"/>
                </a:solidFill>
                <a:latin typeface="Fira Sans"/>
              </a:rPr>
              <a:t>Dynamic</a:t>
            </a:r>
          </a:p>
        </p:txBody>
      </p:sp>
      <p:sp>
        <p:nvSpPr>
          <p:cNvPr id="100" name="TextBox 99"/>
          <p:cNvSpPr txBox="1"/>
          <p:nvPr/>
        </p:nvSpPr>
        <p:spPr>
          <a:xfrm>
            <a:off x="10351007" y="4819378"/>
            <a:ext cx="14904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2B7A3E"/>
                </a:solidFill>
                <a:latin typeface="Fira Sans"/>
              </a:rPr>
              <a:t>Discrete</a:t>
            </a:r>
          </a:p>
        </p:txBody>
      </p:sp>
      <p:sp>
        <p:nvSpPr>
          <p:cNvPr id="101" name="Rectangle 100"/>
          <p:cNvSpPr/>
          <p:nvPr/>
        </p:nvSpPr>
        <p:spPr>
          <a:xfrm>
            <a:off x="841248" y="504334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Rectangle 101"/>
          <p:cNvSpPr/>
          <p:nvPr/>
        </p:nvSpPr>
        <p:spPr>
          <a:xfrm>
            <a:off x="841248" y="5286578"/>
            <a:ext cx="105156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Box 102"/>
          <p:cNvSpPr txBox="1"/>
          <p:nvPr/>
        </p:nvSpPr>
        <p:spPr>
          <a:xfrm>
            <a:off x="841248" y="5432882"/>
            <a:ext cx="1051560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The hardest case is the bottom-right corner of this table: </a:t>
            </a:r>
            <a:r>
              <a:rPr sz="1188" b="1" i="0" dirty="0">
                <a:solidFill>
                  <a:srgbClr val="25282A"/>
                </a:solidFill>
                <a:latin typeface="Fira Sans"/>
              </a:rPr>
              <a:t>partially observable, multi-agent, stochastic, sequential, dynamic and continuous</a:t>
            </a:r>
            <a:r>
              <a:rPr sz="1188" b="0" i="0" dirty="0">
                <a:solidFill>
                  <a:srgbClr val="333639"/>
                </a:solidFill>
                <a:latin typeface="Fira Sans"/>
              </a:rPr>
              <a:t>. Autonomous driving is difficult in every one of these senses simultaneously</a:t>
            </a:r>
            <a:r>
              <a:rPr lang="it-IT" sz="1188" dirty="0">
                <a:solidFill>
                  <a:srgbClr val="333639"/>
                </a:solidFill>
                <a:latin typeface="Fira Sans"/>
              </a:rPr>
              <a:t>.</a:t>
            </a:r>
            <a:endParaRPr sz="1188" b="0" i="0" dirty="0">
              <a:solidFill>
                <a:srgbClr val="333639"/>
              </a:solidFill>
              <a:latin typeface="Fir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IV</a:t>
            </a:r>
          </a:p>
        </p:txBody>
      </p:sp>
      <p:sp>
        <p:nvSpPr>
          <p:cNvPr id="5" name="TextBox 4"/>
          <p:cNvSpPr txBox="1"/>
          <p:nvPr/>
        </p:nvSpPr>
        <p:spPr>
          <a:xfrm>
            <a:off x="859536" y="2395728"/>
            <a:ext cx="6309360" cy="80772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Performance measure and rationality</a:t>
            </a:r>
          </a:p>
        </p:txBody>
      </p:sp>
      <p:sp>
        <p:nvSpPr>
          <p:cNvPr id="6" name="TextBox 5"/>
          <p:cNvSpPr txBox="1"/>
          <p:nvPr/>
        </p:nvSpPr>
        <p:spPr>
          <a:xfrm>
            <a:off x="859536" y="3477768"/>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Machines have no intrinsic desires. Whatever the designer writes down as success is exactly what will be optimised.</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happens when the measure rewards the wrong thing?</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Designing a performance measure</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Outcomes, not behaviour</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The four ingredients of rationality</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Rationality is not omniscience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4.1  THE PERFORMANCE MEASURE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Machines have no desires, so the objective has to be supplied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IV — Performance measure and rationality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28</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Since machines </a:t>
            </a:r>
            <a:r>
              <a:rPr sz="1235" b="1" i="0" dirty="0">
                <a:solidFill>
                  <a:srgbClr val="333639"/>
                </a:solidFill>
                <a:latin typeface="Fira Sans"/>
              </a:rPr>
              <a:t>lack intrinsic desires</a:t>
            </a:r>
            <a:r>
              <a:rPr sz="1235" b="0" i="0" dirty="0">
                <a:solidFill>
                  <a:srgbClr val="333639"/>
                </a:solidFill>
                <a:latin typeface="Fira Sans"/>
              </a:rPr>
              <a:t>, the designer must define a </a:t>
            </a:r>
            <a:r>
              <a:rPr sz="1235" b="1" i="0" dirty="0">
                <a:solidFill>
                  <a:srgbClr val="333639"/>
                </a:solidFill>
                <a:latin typeface="Fira Sans"/>
              </a:rPr>
              <a:t>performance measure </a:t>
            </a:r>
            <a:r>
              <a:rPr sz="1235" b="0" i="0" dirty="0">
                <a:solidFill>
                  <a:srgbClr val="333639"/>
                </a:solidFill>
                <a:latin typeface="Fira Sans"/>
              </a:rPr>
              <a:t>against which behavior is evaluated. It should be </a:t>
            </a:r>
            <a:r>
              <a:rPr sz="1235" b="1" i="0" dirty="0">
                <a:solidFill>
                  <a:srgbClr val="333639"/>
                </a:solidFill>
                <a:latin typeface="Fira Sans"/>
              </a:rPr>
              <a:t>objective</a:t>
            </a:r>
            <a:r>
              <a:rPr sz="1235" b="0" i="0" dirty="0">
                <a:solidFill>
                  <a:srgbClr val="333639"/>
                </a:solidFill>
                <a:latin typeface="Fira Sans"/>
              </a:rPr>
              <a:t>, </a:t>
            </a:r>
            <a:r>
              <a:rPr sz="1235" b="1" i="0" dirty="0">
                <a:solidFill>
                  <a:srgbClr val="333639"/>
                </a:solidFill>
                <a:latin typeface="Fira Sans"/>
              </a:rPr>
              <a:t>quantifiable</a:t>
            </a:r>
            <a:r>
              <a:rPr sz="1235" b="0" i="0" dirty="0">
                <a:solidFill>
                  <a:srgbClr val="333639"/>
                </a:solidFill>
                <a:latin typeface="Fira Sans"/>
              </a:rPr>
              <a:t>, and </a:t>
            </a:r>
            <a:r>
              <a:rPr sz="1235" b="1" i="0" dirty="0">
                <a:solidFill>
                  <a:srgbClr val="333639"/>
                </a:solidFill>
                <a:latin typeface="Fira Sans"/>
              </a:rPr>
              <a:t>aligned</a:t>
            </a:r>
            <a:r>
              <a:rPr sz="1235" b="0" i="0" dirty="0">
                <a:solidFill>
                  <a:srgbClr val="333639"/>
                </a:solidFill>
                <a:latin typeface="Fira Sans"/>
              </a:rPr>
              <a:t> with what is actually wanted. Getting it right is much harder than it looks.</a:t>
            </a:r>
          </a:p>
        </p:txBody>
      </p:sp>
      <p:pic>
        <p:nvPicPr>
          <p:cNvPr id="9" name="Picture 8" descr="perf_hack.png"/>
          <p:cNvPicPr>
            <a:picLocks noChangeAspect="1"/>
          </p:cNvPicPr>
          <p:nvPr/>
        </p:nvPicPr>
        <p:blipFill>
          <a:blip r:embed="rId2"/>
          <a:srcRect r="4315"/>
          <a:stretch>
            <a:fillRect/>
          </a:stretch>
        </p:blipFill>
        <p:spPr>
          <a:xfrm>
            <a:off x="837591" y="2004851"/>
            <a:ext cx="5227743" cy="3144568"/>
          </a:xfrm>
          <a:prstGeom prst="rect">
            <a:avLst/>
          </a:prstGeom>
        </p:spPr>
      </p:pic>
      <p:sp>
        <p:nvSpPr>
          <p:cNvPr id="10" name="TextBox 9"/>
          <p:cNvSpPr txBox="1"/>
          <p:nvPr/>
        </p:nvSpPr>
        <p:spPr>
          <a:xfrm>
            <a:off x="837591" y="5382768"/>
            <a:ext cx="5243169"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Rewarding the action rather than the outcome. The agent has not malfunctioned: it is maximizing exactly what was written down.</a:t>
            </a:r>
          </a:p>
        </p:txBody>
      </p:sp>
      <p:sp>
        <p:nvSpPr>
          <p:cNvPr id="11" name="TextBox 10"/>
          <p:cNvSpPr txBox="1"/>
          <p:nvPr/>
        </p:nvSpPr>
        <p:spPr>
          <a:xfrm>
            <a:off x="6430975" y="2212848"/>
            <a:ext cx="4919746" cy="829901"/>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a:solidFill>
                  <a:srgbClr val="C8102E"/>
                </a:solidFill>
                <a:latin typeface="Fira Sans"/>
              </a:rPr>
              <a:t>THE FAILURE MODE</a:t>
            </a:r>
          </a:p>
          <a:p>
            <a:pPr marL="0" indent="0" algn="l">
              <a:lnSpc>
                <a:spcPts val="1449"/>
              </a:lnSpc>
              <a:spcBef>
                <a:spcPts val="800"/>
              </a:spcBef>
              <a:spcAft>
                <a:spcPts val="0"/>
              </a:spcAft>
              <a:buNone/>
            </a:pPr>
            <a:r>
              <a:rPr sz="1188" b="0" i="0">
                <a:solidFill>
                  <a:srgbClr val="333639"/>
                </a:solidFill>
                <a:latin typeface="Fira Sans"/>
              </a:rPr>
              <a:t>A vacuum agent rewarded for </a:t>
            </a:r>
            <a:r>
              <a:rPr sz="1188" b="1" i="0">
                <a:solidFill>
                  <a:srgbClr val="C8102E"/>
                </a:solidFill>
                <a:latin typeface="Fira Sans"/>
              </a:rPr>
              <a:t>the amount of dirt collected</a:t>
            </a:r>
            <a:r>
              <a:rPr sz="1188" b="0" i="0">
                <a:solidFill>
                  <a:srgbClr val="333639"/>
                </a:solidFill>
                <a:latin typeface="Fira Sans"/>
              </a:rPr>
              <a:t> has an excellent strategy available to it: dump the dirt back on the floor and collect it again. The measure is maximised; the room stays dirty.</a:t>
            </a:r>
          </a:p>
        </p:txBody>
      </p:sp>
      <p:sp>
        <p:nvSpPr>
          <p:cNvPr id="12" name="TextBox 11"/>
          <p:cNvSpPr txBox="1"/>
          <p:nvPr/>
        </p:nvSpPr>
        <p:spPr>
          <a:xfrm>
            <a:off x="6430975" y="3298781"/>
            <a:ext cx="4919746"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REPAIR</a:t>
            </a:r>
          </a:p>
        </p:txBody>
      </p:sp>
      <p:sp>
        <p:nvSpPr>
          <p:cNvPr id="13" name="TextBox 12"/>
          <p:cNvSpPr txBox="1"/>
          <p:nvPr/>
        </p:nvSpPr>
        <p:spPr>
          <a:xfrm>
            <a:off x="6430975" y="3554813"/>
            <a:ext cx="4919746"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Reward </a:t>
            </a:r>
            <a:r>
              <a:rPr sz="1188" b="1" i="0" dirty="0">
                <a:solidFill>
                  <a:srgbClr val="2B7A3E"/>
                </a:solidFill>
                <a:latin typeface="Fira Sans"/>
              </a:rPr>
              <a:t>sustained cleanliness over time</a:t>
            </a:r>
            <a:r>
              <a:rPr lang="it-IT" sz="1188" dirty="0">
                <a:solidFill>
                  <a:srgbClr val="333639"/>
                </a:solidFill>
                <a:latin typeface="Fira Sans"/>
              </a:rPr>
              <a:t>, </a:t>
            </a:r>
            <a:r>
              <a:rPr sz="1188" b="0" i="0" dirty="0">
                <a:solidFill>
                  <a:srgbClr val="333639"/>
                </a:solidFill>
                <a:latin typeface="Fira Sans"/>
              </a:rPr>
              <a:t>a property of the state of the world, not a count of the agent’s own actions. The exploit disappears, because creating dirt now lowers the measure.</a:t>
            </a:r>
          </a:p>
        </p:txBody>
      </p:sp>
      <p:sp>
        <p:nvSpPr>
          <p:cNvPr id="14" name="Rectangle 13"/>
          <p:cNvSpPr/>
          <p:nvPr/>
        </p:nvSpPr>
        <p:spPr>
          <a:xfrm>
            <a:off x="6430975" y="4417915"/>
            <a:ext cx="4919746" cy="122529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430975" y="4417915"/>
            <a:ext cx="41148" cy="122529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650431" y="4564219"/>
            <a:ext cx="4627138"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WHY THIS RETURNS CONSTANTLY</a:t>
            </a:r>
          </a:p>
        </p:txBody>
      </p:sp>
      <p:sp>
        <p:nvSpPr>
          <p:cNvPr id="17" name="TextBox 16"/>
          <p:cNvSpPr txBox="1"/>
          <p:nvPr/>
        </p:nvSpPr>
        <p:spPr>
          <a:xfrm>
            <a:off x="6650431" y="4801963"/>
            <a:ext cx="4535698" cy="694944"/>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This is not an anecdote about vacuum cleaners. Every reward function is a performance measure, and every one of them can be gamed in exactly this way. </a:t>
            </a:r>
            <a:r>
              <a:rPr sz="1140" b="1" i="0" dirty="0">
                <a:solidFill>
                  <a:srgbClr val="333639"/>
                </a:solidFill>
                <a:latin typeface="Fira Sans"/>
              </a:rPr>
              <a:t>The agent optimizes what </a:t>
            </a:r>
            <a:r>
              <a:rPr lang="it-IT" sz="1140" b="1" i="0" dirty="0" err="1">
                <a:solidFill>
                  <a:srgbClr val="333639"/>
                </a:solidFill>
                <a:latin typeface="Fira Sans"/>
              </a:rPr>
              <a:t>we</a:t>
            </a:r>
            <a:r>
              <a:rPr sz="1140" b="1" i="0" dirty="0">
                <a:solidFill>
                  <a:srgbClr val="333639"/>
                </a:solidFill>
                <a:latin typeface="Fira Sans"/>
              </a:rPr>
              <a:t> wrote, never what </a:t>
            </a:r>
            <a:r>
              <a:rPr lang="it-IT" sz="1140" b="1" i="0" dirty="0" err="1">
                <a:solidFill>
                  <a:srgbClr val="333639"/>
                </a:solidFill>
                <a:latin typeface="Fira Sans"/>
              </a:rPr>
              <a:t>we</a:t>
            </a:r>
            <a:r>
              <a:rPr sz="1140" b="1" i="0" dirty="0">
                <a:solidFill>
                  <a:srgbClr val="333639"/>
                </a:solidFill>
                <a:latin typeface="Fira Sans"/>
              </a:rPr>
              <a:t> meant.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4.2  SPECIFY OUTCOMES, NOT BEHAVIOUR</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Describe the state of the world you want, not the conduct you imagine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IV — Performance measure and rationality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29</a:t>
            </a:r>
          </a:p>
        </p:txBody>
      </p:sp>
      <p:sp>
        <p:nvSpPr>
          <p:cNvPr id="8" name="TextBox 7"/>
          <p:cNvSpPr txBox="1"/>
          <p:nvPr/>
        </p:nvSpPr>
        <p:spPr>
          <a:xfrm>
            <a:off x="841248" y="1316736"/>
            <a:ext cx="6067044" cy="772850"/>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As a general rule, design the performance measure according to </a:t>
            </a:r>
            <a:r>
              <a:rPr sz="1188" b="1" i="0" dirty="0">
                <a:solidFill>
                  <a:srgbClr val="333639"/>
                </a:solidFill>
                <a:latin typeface="Fira Sans"/>
              </a:rPr>
              <a:t>what one actually wants</a:t>
            </a:r>
            <a:r>
              <a:rPr sz="1188" b="0" i="0" dirty="0">
                <a:solidFill>
                  <a:srgbClr val="333639"/>
                </a:solidFill>
                <a:latin typeface="Fira Sans"/>
              </a:rPr>
              <a:t> </a:t>
            </a:r>
            <a:r>
              <a:rPr sz="1188" b="1" i="0" dirty="0">
                <a:solidFill>
                  <a:srgbClr val="333639"/>
                </a:solidFill>
                <a:latin typeface="Fira Sans"/>
              </a:rPr>
              <a:t>to be achieved in the environment</a:t>
            </a:r>
            <a:r>
              <a:rPr sz="1188" b="0" i="0" dirty="0">
                <a:solidFill>
                  <a:srgbClr val="333639"/>
                </a:solidFill>
                <a:latin typeface="Fira Sans"/>
              </a:rPr>
              <a:t>, rather than according to </a:t>
            </a:r>
            <a:r>
              <a:rPr sz="1188" b="1" i="0" dirty="0">
                <a:solidFill>
                  <a:srgbClr val="333639"/>
                </a:solidFill>
                <a:latin typeface="Fira Sans"/>
              </a:rPr>
              <a:t>how one thinks the agent should behave</a:t>
            </a:r>
            <a:r>
              <a:rPr sz="1188" b="0" i="0" dirty="0">
                <a:solidFill>
                  <a:srgbClr val="333639"/>
                </a:solidFill>
                <a:latin typeface="Fira Sans"/>
              </a:rPr>
              <a:t>. The second formulation silently fixes the solution and rules out better ones.</a:t>
            </a:r>
          </a:p>
        </p:txBody>
      </p:sp>
      <p:pic>
        <p:nvPicPr>
          <p:cNvPr id="9" name="Picture 8" descr="perf_outcomes.png"/>
          <p:cNvPicPr>
            <a:picLocks noChangeAspect="1"/>
          </p:cNvPicPr>
          <p:nvPr/>
        </p:nvPicPr>
        <p:blipFill>
          <a:blip r:embed="rId2"/>
          <a:stretch>
            <a:fillRect/>
          </a:stretch>
        </p:blipFill>
        <p:spPr>
          <a:xfrm>
            <a:off x="841247" y="2089585"/>
            <a:ext cx="6195625" cy="1160373"/>
          </a:xfrm>
          <a:prstGeom prst="rect">
            <a:avLst/>
          </a:prstGeom>
        </p:spPr>
      </p:pic>
      <p:sp>
        <p:nvSpPr>
          <p:cNvPr id="10" name="Rectangle 9"/>
          <p:cNvSpPr/>
          <p:nvPr/>
        </p:nvSpPr>
        <p:spPr>
          <a:xfrm>
            <a:off x="841248" y="3351458"/>
            <a:ext cx="6067044"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570914"/>
            <a:ext cx="6067044" cy="1552092"/>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Two ways of writing the same requirement</a:t>
            </a:r>
          </a:p>
          <a:p>
            <a:pPr marL="173736" indent="-173736" algn="l">
              <a:lnSpc>
                <a:spcPts val="1289"/>
              </a:lnSpc>
              <a:spcBef>
                <a:spcPts val="600"/>
              </a:spcBef>
              <a:spcAft>
                <a:spcPts val="0"/>
              </a:spcAft>
              <a:buClr>
                <a:srgbClr val="1971C2"/>
              </a:buClr>
              <a:buFont typeface="Fira Sans"/>
              <a:buChar char="–"/>
            </a:pPr>
            <a:r>
              <a:rPr sz="1092" b="1" i="0" dirty="0" err="1">
                <a:solidFill>
                  <a:srgbClr val="C8102E"/>
                </a:solidFill>
                <a:latin typeface="Fira Sans"/>
              </a:rPr>
              <a:t>Behaviour</a:t>
            </a:r>
            <a:r>
              <a:rPr sz="1092" b="1" i="0" dirty="0">
                <a:solidFill>
                  <a:srgbClr val="C8102E"/>
                </a:solidFill>
                <a:latin typeface="Fira Sans"/>
              </a:rPr>
              <a:t>-shaped: </a:t>
            </a:r>
            <a:r>
              <a:rPr lang="it-IT" sz="1092" dirty="0">
                <a:solidFill>
                  <a:srgbClr val="333639"/>
                </a:solidFill>
                <a:latin typeface="Fira Sans"/>
              </a:rPr>
              <a:t>"</a:t>
            </a:r>
            <a:r>
              <a:rPr sz="1092" b="0" i="0" dirty="0">
                <a:solidFill>
                  <a:srgbClr val="333639"/>
                </a:solidFill>
                <a:latin typeface="Fira Sans"/>
              </a:rPr>
              <a:t>sweep along the walls, then the middle, once per hour</a:t>
            </a:r>
            <a:r>
              <a:rPr lang="it-IT" sz="1092" b="0" i="0" dirty="0">
                <a:solidFill>
                  <a:srgbClr val="333639"/>
                </a:solidFill>
                <a:latin typeface="Fira Sans"/>
              </a:rPr>
              <a:t>"</a:t>
            </a:r>
            <a:r>
              <a:rPr sz="1092" b="0" i="0" dirty="0">
                <a:solidFill>
                  <a:srgbClr val="333639"/>
                </a:solidFill>
                <a:latin typeface="Fira Sans"/>
              </a:rPr>
              <a:t>. A better strategy is now forbidden by the measure itself.</a:t>
            </a:r>
          </a:p>
          <a:p>
            <a:pPr marL="173736" indent="-173736" algn="l">
              <a:lnSpc>
                <a:spcPts val="1289"/>
              </a:lnSpc>
              <a:spcBef>
                <a:spcPts val="600"/>
              </a:spcBef>
              <a:spcAft>
                <a:spcPts val="0"/>
              </a:spcAft>
              <a:buClr>
                <a:srgbClr val="1971C2"/>
              </a:buClr>
              <a:buFont typeface="Fira Sans"/>
              <a:buChar char="–"/>
            </a:pPr>
            <a:r>
              <a:rPr sz="1092" b="1" i="0" dirty="0">
                <a:solidFill>
                  <a:srgbClr val="2B7A3E"/>
                </a:solidFill>
                <a:latin typeface="Fira Sans"/>
              </a:rPr>
              <a:t>Outcome-shaped: </a:t>
            </a:r>
            <a:r>
              <a:rPr lang="it-IT" sz="1092" dirty="0">
                <a:solidFill>
                  <a:srgbClr val="333639"/>
                </a:solidFill>
                <a:latin typeface="Fira Sans"/>
              </a:rPr>
              <a:t>"</a:t>
            </a:r>
            <a:r>
              <a:rPr sz="1092" b="0" i="0" dirty="0">
                <a:solidFill>
                  <a:srgbClr val="333639"/>
                </a:solidFill>
                <a:latin typeface="Fira Sans"/>
              </a:rPr>
              <a:t>the floor should be clean at all times, at minimum energy cost</a:t>
            </a:r>
            <a:r>
              <a:rPr lang="it-IT" sz="1092" b="0" i="0" dirty="0">
                <a:solidFill>
                  <a:srgbClr val="333639"/>
                </a:solidFill>
                <a:latin typeface="Fira Sans"/>
              </a:rPr>
              <a:t>"</a:t>
            </a:r>
            <a:r>
              <a:rPr sz="1092" b="0" i="0" dirty="0">
                <a:solidFill>
                  <a:srgbClr val="333639"/>
                </a:solidFill>
                <a:latin typeface="Fira Sans"/>
              </a:rPr>
              <a:t>. Any strategy that achieves it scores well.</a:t>
            </a:r>
          </a:p>
          <a:p>
            <a:pPr marL="0" indent="0" algn="l">
              <a:lnSpc>
                <a:spcPts val="1289"/>
              </a:lnSpc>
              <a:spcBef>
                <a:spcPts val="700"/>
              </a:spcBef>
              <a:spcAft>
                <a:spcPts val="0"/>
              </a:spcAft>
              <a:buNone/>
            </a:pPr>
            <a:r>
              <a:rPr sz="1092" b="0" i="0" dirty="0">
                <a:solidFill>
                  <a:srgbClr val="626669"/>
                </a:solidFill>
                <a:latin typeface="Fira Sans"/>
              </a:rPr>
              <a:t>Where an agent serves several users, the measure may need to be </a:t>
            </a:r>
            <a:r>
              <a:rPr sz="1092" b="1" i="0" dirty="0">
                <a:solidFill>
                  <a:srgbClr val="25282A"/>
                </a:solidFill>
                <a:latin typeface="Fira Sans"/>
              </a:rPr>
              <a:t>learned and adapted</a:t>
            </a:r>
            <a:r>
              <a:rPr sz="1092" b="0" i="0" dirty="0">
                <a:solidFill>
                  <a:srgbClr val="626669"/>
                </a:solidFill>
                <a:latin typeface="Fira Sans"/>
              </a:rPr>
              <a:t> over time.</a:t>
            </a:r>
          </a:p>
        </p:txBody>
      </p:sp>
      <p:sp>
        <p:nvSpPr>
          <p:cNvPr id="12" name="Rectangle 11"/>
          <p:cNvSpPr/>
          <p:nvPr/>
        </p:nvSpPr>
        <p:spPr>
          <a:xfrm>
            <a:off x="841248" y="5251023"/>
            <a:ext cx="6067044"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5379039"/>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CHECKLIST FOR THE MEASURE YOU ARE ABOUT TO WRITE</a:t>
            </a:r>
          </a:p>
        </p:txBody>
      </p:sp>
      <p:sp>
        <p:nvSpPr>
          <p:cNvPr id="14" name="TextBox 13"/>
          <p:cNvSpPr txBox="1"/>
          <p:nvPr/>
        </p:nvSpPr>
        <p:spPr>
          <a:xfrm>
            <a:off x="841248" y="5598495"/>
            <a:ext cx="6067044" cy="658787"/>
          </a:xfrm>
          <a:prstGeom prst="rect">
            <a:avLst/>
          </a:prstGeom>
          <a:noFill/>
        </p:spPr>
        <p:txBody>
          <a:bodyPr wrap="square" lIns="0" tIns="0" rIns="0" bIns="0" anchor="t">
            <a:noAutofit/>
          </a:bodyPr>
          <a:lstStyle/>
          <a:p>
            <a:pPr marL="173736" indent="-173736" algn="l">
              <a:lnSpc>
                <a:spcPts val="1233"/>
              </a:lnSpc>
              <a:spcBef>
                <a:spcPts val="0"/>
              </a:spcBef>
              <a:spcAft>
                <a:spcPts val="0"/>
              </a:spcAft>
              <a:buClr>
                <a:srgbClr val="1971C2"/>
              </a:buClr>
              <a:buFont typeface="Fira Sans"/>
              <a:buChar char="–"/>
            </a:pPr>
            <a:r>
              <a:rPr sz="1045" b="1" i="0" dirty="0">
                <a:solidFill>
                  <a:srgbClr val="25282A"/>
                </a:solidFill>
                <a:latin typeface="Fira Sans"/>
              </a:rPr>
              <a:t>A property of the world, or of the agent’s conduct?</a:t>
            </a:r>
            <a:r>
              <a:rPr sz="1045" b="0" i="0" dirty="0">
                <a:solidFill>
                  <a:srgbClr val="333639"/>
                </a:solidFill>
                <a:latin typeface="Fira Sans"/>
              </a:rPr>
              <a:t> Only the first is safe from being gamed.</a:t>
            </a:r>
          </a:p>
          <a:p>
            <a:pPr marL="173736" indent="-173736" algn="l">
              <a:lnSpc>
                <a:spcPts val="1233"/>
              </a:lnSpc>
              <a:spcBef>
                <a:spcPts val="600"/>
              </a:spcBef>
              <a:spcAft>
                <a:spcPts val="0"/>
              </a:spcAft>
              <a:buClr>
                <a:srgbClr val="1971C2"/>
              </a:buClr>
              <a:buFont typeface="Fira Sans"/>
              <a:buChar char="–"/>
            </a:pPr>
            <a:r>
              <a:rPr sz="1045" b="1" i="0" dirty="0">
                <a:solidFill>
                  <a:srgbClr val="25282A"/>
                </a:solidFill>
                <a:latin typeface="Fira Sans"/>
              </a:rPr>
              <a:t>Over what horizon is it evaluated?</a:t>
            </a:r>
            <a:r>
              <a:rPr sz="1045" b="0" i="0" dirty="0">
                <a:solidFill>
                  <a:srgbClr val="333639"/>
                </a:solidFill>
                <a:latin typeface="Fira Sans"/>
              </a:rPr>
              <a:t> </a:t>
            </a:r>
            <a:r>
              <a:rPr lang="it-IT" sz="1045" dirty="0">
                <a:solidFill>
                  <a:srgbClr val="333639"/>
                </a:solidFill>
                <a:latin typeface="Fira Sans"/>
              </a:rPr>
              <a:t>"</a:t>
            </a:r>
            <a:r>
              <a:rPr sz="1045" b="0" i="0" dirty="0">
                <a:solidFill>
                  <a:srgbClr val="333639"/>
                </a:solidFill>
                <a:latin typeface="Fira Sans"/>
              </a:rPr>
              <a:t>Clean now</a:t>
            </a:r>
            <a:r>
              <a:rPr lang="it-IT" sz="1045" b="0" i="0" dirty="0">
                <a:solidFill>
                  <a:srgbClr val="333639"/>
                </a:solidFill>
                <a:latin typeface="Fira Sans"/>
              </a:rPr>
              <a:t>"</a:t>
            </a:r>
            <a:r>
              <a:rPr sz="1045" b="0" i="0" dirty="0">
                <a:solidFill>
                  <a:srgbClr val="333639"/>
                </a:solidFill>
                <a:latin typeface="Fira Sans"/>
              </a:rPr>
              <a:t> and </a:t>
            </a:r>
            <a:r>
              <a:rPr lang="it-IT" sz="1045" dirty="0">
                <a:solidFill>
                  <a:srgbClr val="333639"/>
                </a:solidFill>
                <a:latin typeface="Fira Sans"/>
              </a:rPr>
              <a:t>"</a:t>
            </a:r>
            <a:r>
              <a:rPr sz="1045" b="0" i="0" dirty="0">
                <a:solidFill>
                  <a:srgbClr val="333639"/>
                </a:solidFill>
                <a:latin typeface="Fira Sans"/>
              </a:rPr>
              <a:t>clean over a month</a:t>
            </a:r>
            <a:r>
              <a:rPr lang="it-IT" sz="1045" b="0" i="0" dirty="0">
                <a:solidFill>
                  <a:srgbClr val="333639"/>
                </a:solidFill>
                <a:latin typeface="Fira Sans"/>
              </a:rPr>
              <a:t>"</a:t>
            </a:r>
            <a:r>
              <a:rPr sz="1045" b="0" i="0" dirty="0">
                <a:solidFill>
                  <a:srgbClr val="333639"/>
                </a:solidFill>
                <a:latin typeface="Fira Sans"/>
              </a:rPr>
              <a:t> select different agents.</a:t>
            </a:r>
          </a:p>
          <a:p>
            <a:pPr marL="173736" indent="-173736" algn="l">
              <a:lnSpc>
                <a:spcPts val="1233"/>
              </a:lnSpc>
              <a:spcBef>
                <a:spcPts val="600"/>
              </a:spcBef>
              <a:spcAft>
                <a:spcPts val="0"/>
              </a:spcAft>
              <a:buClr>
                <a:srgbClr val="1971C2"/>
              </a:buClr>
              <a:buFont typeface="Fira Sans"/>
              <a:buChar char="–"/>
            </a:pPr>
            <a:r>
              <a:rPr sz="1045" b="1" i="0" dirty="0">
                <a:solidFill>
                  <a:srgbClr val="25282A"/>
                </a:solidFill>
                <a:latin typeface="Fira Sans"/>
              </a:rPr>
              <a:t>What does it not mention?</a:t>
            </a:r>
            <a:r>
              <a:rPr sz="1045" b="0" i="0" dirty="0">
                <a:solidFill>
                  <a:srgbClr val="333639"/>
                </a:solidFill>
                <a:latin typeface="Fira Sans"/>
              </a:rPr>
              <a:t> Anything left out </a:t>
            </a:r>
            <a:r>
              <a:rPr lang="it-IT" sz="1045" dirty="0">
                <a:solidFill>
                  <a:srgbClr val="333639"/>
                </a:solidFill>
                <a:latin typeface="Fira Sans"/>
              </a:rPr>
              <a:t>(</a:t>
            </a:r>
            <a:r>
              <a:rPr sz="1045" b="0" i="0" dirty="0">
                <a:solidFill>
                  <a:srgbClr val="333639"/>
                </a:solidFill>
                <a:latin typeface="Fira Sans"/>
              </a:rPr>
              <a:t>energy, noise, wear</a:t>
            </a:r>
            <a:r>
              <a:rPr lang="it-IT" sz="1045" b="0" i="0" dirty="0">
                <a:solidFill>
                  <a:srgbClr val="333639"/>
                </a:solidFill>
                <a:latin typeface="Fira Sans"/>
              </a:rPr>
              <a:t>)</a:t>
            </a:r>
            <a:r>
              <a:rPr sz="1045" b="0" i="0" dirty="0">
                <a:solidFill>
                  <a:srgbClr val="333639"/>
                </a:solidFill>
                <a:latin typeface="Fira Sans"/>
              </a:rPr>
              <a:t> is implicitly free.</a:t>
            </a:r>
          </a:p>
        </p:txBody>
      </p:sp>
      <p:sp>
        <p:nvSpPr>
          <p:cNvPr id="15" name="TextBox 14"/>
          <p:cNvSpPr txBox="1"/>
          <p:nvPr/>
        </p:nvSpPr>
        <p:spPr>
          <a:xfrm>
            <a:off x="7125004" y="1316736"/>
            <a:ext cx="4225716"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A GENUINELY OPEN QUESTION</a:t>
            </a:r>
          </a:p>
        </p:txBody>
      </p:sp>
      <p:pic>
        <p:nvPicPr>
          <p:cNvPr id="16" name="Picture 15" descr="perf_philo.png"/>
          <p:cNvPicPr>
            <a:picLocks noChangeAspect="1"/>
          </p:cNvPicPr>
          <p:nvPr/>
        </p:nvPicPr>
        <p:blipFill>
          <a:blip r:embed="rId3"/>
          <a:srcRect l="9258"/>
          <a:stretch>
            <a:fillRect/>
          </a:stretch>
        </p:blipFill>
        <p:spPr>
          <a:xfrm>
            <a:off x="7218094" y="1559784"/>
            <a:ext cx="3663189" cy="2842007"/>
          </a:xfrm>
          <a:prstGeom prst="rect">
            <a:avLst/>
          </a:prstGeom>
        </p:spPr>
      </p:pic>
      <p:sp>
        <p:nvSpPr>
          <p:cNvPr id="17" name="TextBox 16"/>
          <p:cNvSpPr txBox="1"/>
          <p:nvPr/>
        </p:nvSpPr>
        <p:spPr>
          <a:xfrm>
            <a:off x="7125004" y="4597583"/>
            <a:ext cx="4225716" cy="1000912"/>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Even a well-specified measure hides a choice: reward </a:t>
            </a:r>
            <a:r>
              <a:rPr sz="1140" b="1" i="0" dirty="0">
                <a:solidFill>
                  <a:srgbClr val="574676"/>
                </a:solidFill>
                <a:latin typeface="Fira Sans"/>
              </a:rPr>
              <a:t>consistency</a:t>
            </a:r>
            <a:r>
              <a:rPr sz="1140" b="0" i="0" dirty="0">
                <a:solidFill>
                  <a:srgbClr val="333639"/>
                </a:solidFill>
                <a:latin typeface="Fira Sans"/>
              </a:rPr>
              <a:t> </a:t>
            </a:r>
            <a:r>
              <a:rPr lang="it-IT" sz="1140" dirty="0">
                <a:solidFill>
                  <a:srgbClr val="333639"/>
                </a:solidFill>
                <a:latin typeface="Fira Sans"/>
              </a:rPr>
              <a:t>(</a:t>
            </a:r>
            <a:r>
              <a:rPr sz="1140" b="0" i="0" dirty="0">
                <a:solidFill>
                  <a:srgbClr val="333639"/>
                </a:solidFill>
                <a:latin typeface="Fira Sans"/>
              </a:rPr>
              <a:t>stable behavior at all times</a:t>
            </a:r>
            <a:r>
              <a:rPr lang="it-IT" sz="1140" b="0" i="0" dirty="0">
                <a:solidFill>
                  <a:srgbClr val="333639"/>
                </a:solidFill>
                <a:latin typeface="Fira Sans"/>
              </a:rPr>
              <a:t>)</a:t>
            </a:r>
            <a:r>
              <a:rPr sz="1140" b="0" i="0" dirty="0">
                <a:solidFill>
                  <a:srgbClr val="333639"/>
                </a:solidFill>
                <a:latin typeface="Fira Sans"/>
              </a:rPr>
              <a:t> or </a:t>
            </a:r>
            <a:r>
              <a:rPr sz="1140" b="1" i="0" dirty="0">
                <a:solidFill>
                  <a:srgbClr val="574676"/>
                </a:solidFill>
                <a:latin typeface="Fira Sans"/>
              </a:rPr>
              <a:t>peak performance</a:t>
            </a:r>
            <a:r>
              <a:rPr sz="1140" b="0" i="0" dirty="0">
                <a:solidFill>
                  <a:srgbClr val="333639"/>
                </a:solidFill>
                <a:latin typeface="Fira Sans"/>
              </a:rPr>
              <a:t>, excelling when it matters most?</a:t>
            </a:r>
          </a:p>
          <a:p>
            <a:pPr marL="0" indent="0" algn="l">
              <a:lnSpc>
                <a:spcPts val="1310"/>
              </a:lnSpc>
              <a:spcBef>
                <a:spcPts val="800"/>
              </a:spcBef>
              <a:spcAft>
                <a:spcPts val="0"/>
              </a:spcAft>
              <a:buNone/>
            </a:pPr>
            <a:r>
              <a:rPr sz="1092" b="0" i="0" dirty="0">
                <a:solidFill>
                  <a:srgbClr val="626669"/>
                </a:solidFill>
                <a:latin typeface="Fira Sans"/>
              </a:rPr>
              <a:t>The two produce different agents from the same task description. The designer is making a </a:t>
            </a:r>
            <a:r>
              <a:rPr sz="1092" b="1" i="0" dirty="0">
                <a:solidFill>
                  <a:srgbClr val="626669"/>
                </a:solidFill>
                <a:latin typeface="Fira Sans"/>
              </a:rPr>
              <a:t>value judgement</a:t>
            </a:r>
            <a:r>
              <a:rPr sz="1092" b="0" i="0" dirty="0">
                <a:solidFill>
                  <a:srgbClr val="626669"/>
                </a:solidFill>
                <a:latin typeface="Fira Sans"/>
              </a:rPr>
              <a:t>, not a technical 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4.3  RATIONALITY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rational agent maximises expected performance given what it knows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IV — Performance measure and rationality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30</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 rational agent selects the action that leads to the most desirable outcome, as judged by the performance measure, given the evidence provided by the percept sequence and its built-in knowledge. Four things therefore enter the definition.</a:t>
            </a:r>
          </a:p>
        </p:txBody>
      </p:sp>
      <p:pic>
        <p:nvPicPr>
          <p:cNvPr id="9" name="Picture 8" descr="eq_rational.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116267" y="2051024"/>
            <a:ext cx="7522464" cy="804672"/>
          </a:xfrm>
          <a:prstGeom prst="rect">
            <a:avLst/>
          </a:prstGeom>
        </p:spPr>
      </p:pic>
      <p:sp>
        <p:nvSpPr>
          <p:cNvPr id="10" name="Rectangle 9"/>
          <p:cNvSpPr/>
          <p:nvPr/>
        </p:nvSpPr>
        <p:spPr>
          <a:xfrm>
            <a:off x="841248" y="319905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3436797"/>
            <a:ext cx="242316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601389"/>
            <a:ext cx="2423160" cy="1058641"/>
          </a:xfrm>
          <a:prstGeom prst="rect">
            <a:avLst/>
          </a:prstGeom>
          <a:noFill/>
        </p:spPr>
        <p:txBody>
          <a:bodyPr wrap="square" lIns="0" tIns="0" rIns="0" bIns="0" anchor="t">
            <a:noAutofit/>
          </a:bodyPr>
          <a:lstStyle/>
          <a:p>
            <a:pPr marL="0" indent="0" algn="l">
              <a:lnSpc>
                <a:spcPts val="1955"/>
              </a:lnSpc>
              <a:spcBef>
                <a:spcPts val="0"/>
              </a:spcBef>
              <a:spcAft>
                <a:spcPts val="0"/>
              </a:spcAft>
              <a:buNone/>
            </a:pPr>
            <a:r>
              <a:rPr sz="1880" b="1" i="0">
                <a:solidFill>
                  <a:srgbClr val="2B7A3E"/>
                </a:solidFill>
                <a:latin typeface="Fira Sans"/>
              </a:rPr>
              <a:t>1</a:t>
            </a:r>
          </a:p>
          <a:p>
            <a:pPr marL="0" indent="0" algn="l">
              <a:lnSpc>
                <a:spcPts val="1331"/>
              </a:lnSpc>
              <a:spcBef>
                <a:spcPts val="400"/>
              </a:spcBef>
              <a:spcAft>
                <a:spcPts val="0"/>
              </a:spcAft>
              <a:buNone/>
            </a:pPr>
            <a:r>
              <a:rPr sz="1188" b="1" i="0">
                <a:solidFill>
                  <a:srgbClr val="25282A"/>
                </a:solidFill>
                <a:latin typeface="Fira Sans"/>
              </a:rPr>
              <a:t>The performance measure</a:t>
            </a:r>
          </a:p>
          <a:p>
            <a:pPr marL="0" indent="0" algn="l">
              <a:lnSpc>
                <a:spcPts val="1254"/>
              </a:lnSpc>
              <a:spcBef>
                <a:spcPts val="600"/>
              </a:spcBef>
              <a:spcAft>
                <a:spcPts val="0"/>
              </a:spcAft>
              <a:buNone/>
            </a:pPr>
            <a:r>
              <a:rPr sz="1045" b="0" i="0">
                <a:solidFill>
                  <a:srgbClr val="626669"/>
                </a:solidFill>
                <a:latin typeface="Fira Sans"/>
              </a:rPr>
              <a:t>Defines what counts as success. Change it and the same behaviour becomes irrational.</a:t>
            </a:r>
          </a:p>
        </p:txBody>
      </p:sp>
      <p:sp>
        <p:nvSpPr>
          <p:cNvPr id="13" name="Rectangle 12"/>
          <p:cNvSpPr/>
          <p:nvPr/>
        </p:nvSpPr>
        <p:spPr>
          <a:xfrm>
            <a:off x="3538727" y="3436797"/>
            <a:ext cx="242316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538727" y="3601389"/>
            <a:ext cx="2423160" cy="1227622"/>
          </a:xfrm>
          <a:prstGeom prst="rect">
            <a:avLst/>
          </a:prstGeom>
          <a:noFill/>
        </p:spPr>
        <p:txBody>
          <a:bodyPr wrap="square" lIns="0" tIns="0" rIns="0" bIns="0" anchor="t">
            <a:noAutofit/>
          </a:bodyPr>
          <a:lstStyle/>
          <a:p>
            <a:pPr marL="0" indent="0" algn="l">
              <a:lnSpc>
                <a:spcPts val="1955"/>
              </a:lnSpc>
              <a:spcBef>
                <a:spcPts val="0"/>
              </a:spcBef>
              <a:spcAft>
                <a:spcPts val="0"/>
              </a:spcAft>
              <a:buNone/>
            </a:pPr>
            <a:r>
              <a:rPr sz="1880" b="1" i="0" dirty="0">
                <a:solidFill>
                  <a:srgbClr val="8A5100"/>
                </a:solidFill>
                <a:latin typeface="Fira Sans"/>
              </a:rPr>
              <a:t>2</a:t>
            </a:r>
          </a:p>
          <a:p>
            <a:pPr marL="0" indent="0" algn="l">
              <a:lnSpc>
                <a:spcPts val="1331"/>
              </a:lnSpc>
              <a:spcBef>
                <a:spcPts val="400"/>
              </a:spcBef>
              <a:spcAft>
                <a:spcPts val="0"/>
              </a:spcAft>
              <a:buNone/>
            </a:pPr>
            <a:r>
              <a:rPr sz="1188" b="1" i="0" dirty="0">
                <a:solidFill>
                  <a:srgbClr val="25282A"/>
                </a:solidFill>
                <a:latin typeface="Fira Sans"/>
              </a:rPr>
              <a:t>Prior knowledge of the environment</a:t>
            </a:r>
          </a:p>
          <a:p>
            <a:pPr marL="0" indent="0" algn="l">
              <a:lnSpc>
                <a:spcPts val="1254"/>
              </a:lnSpc>
              <a:spcBef>
                <a:spcPts val="600"/>
              </a:spcBef>
              <a:spcAft>
                <a:spcPts val="0"/>
              </a:spcAft>
              <a:buNone/>
            </a:pPr>
            <a:r>
              <a:rPr sz="1045" b="0" i="0" dirty="0">
                <a:solidFill>
                  <a:srgbClr val="626669"/>
                </a:solidFill>
                <a:latin typeface="Fira Sans"/>
              </a:rPr>
              <a:t>What the designer built in before the agent was switched on </a:t>
            </a:r>
            <a:r>
              <a:rPr lang="it-IT" sz="1045" dirty="0">
                <a:solidFill>
                  <a:srgbClr val="626669"/>
                </a:solidFill>
                <a:latin typeface="Fira Sans"/>
              </a:rPr>
              <a:t>(</a:t>
            </a:r>
            <a:r>
              <a:rPr sz="1045" b="0" i="0" dirty="0">
                <a:solidFill>
                  <a:srgbClr val="626669"/>
                </a:solidFill>
                <a:latin typeface="Fira Sans"/>
              </a:rPr>
              <a:t>the rules, the map, the model</a:t>
            </a:r>
            <a:r>
              <a:rPr lang="it-IT" sz="1045" b="0" i="0" dirty="0">
                <a:solidFill>
                  <a:srgbClr val="626669"/>
                </a:solidFill>
                <a:latin typeface="Fira Sans"/>
              </a:rPr>
              <a:t>)</a:t>
            </a:r>
            <a:endParaRPr sz="1045" b="0" i="0" dirty="0">
              <a:solidFill>
                <a:srgbClr val="626669"/>
              </a:solidFill>
              <a:latin typeface="Fira Sans"/>
            </a:endParaRPr>
          </a:p>
        </p:txBody>
      </p:sp>
      <p:sp>
        <p:nvSpPr>
          <p:cNvPr id="15" name="Rectangle 14"/>
          <p:cNvSpPr/>
          <p:nvPr/>
        </p:nvSpPr>
        <p:spPr>
          <a:xfrm>
            <a:off x="6236207" y="3436797"/>
            <a:ext cx="24231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236207" y="3601389"/>
            <a:ext cx="2423160" cy="1058641"/>
          </a:xfrm>
          <a:prstGeom prst="rect">
            <a:avLst/>
          </a:prstGeom>
          <a:noFill/>
        </p:spPr>
        <p:txBody>
          <a:bodyPr wrap="square" lIns="0" tIns="0" rIns="0" bIns="0" anchor="t">
            <a:noAutofit/>
          </a:bodyPr>
          <a:lstStyle/>
          <a:p>
            <a:pPr marL="0" indent="0" algn="l">
              <a:lnSpc>
                <a:spcPts val="1955"/>
              </a:lnSpc>
              <a:spcBef>
                <a:spcPts val="0"/>
              </a:spcBef>
              <a:spcAft>
                <a:spcPts val="0"/>
              </a:spcAft>
              <a:buNone/>
            </a:pPr>
            <a:r>
              <a:rPr sz="1880" b="1" i="0">
                <a:solidFill>
                  <a:srgbClr val="574676"/>
                </a:solidFill>
                <a:latin typeface="Fira Sans"/>
              </a:rPr>
              <a:t>3</a:t>
            </a:r>
          </a:p>
          <a:p>
            <a:pPr marL="0" indent="0" algn="l">
              <a:lnSpc>
                <a:spcPts val="1331"/>
              </a:lnSpc>
              <a:spcBef>
                <a:spcPts val="400"/>
              </a:spcBef>
              <a:spcAft>
                <a:spcPts val="0"/>
              </a:spcAft>
              <a:buNone/>
            </a:pPr>
            <a:r>
              <a:rPr sz="1188" b="1" i="0">
                <a:solidFill>
                  <a:srgbClr val="25282A"/>
                </a:solidFill>
                <a:latin typeface="Fira Sans"/>
              </a:rPr>
              <a:t>The available actions</a:t>
            </a:r>
          </a:p>
          <a:p>
            <a:pPr marL="0" indent="0" algn="l">
              <a:lnSpc>
                <a:spcPts val="1254"/>
              </a:lnSpc>
              <a:spcBef>
                <a:spcPts val="600"/>
              </a:spcBef>
              <a:spcAft>
                <a:spcPts val="0"/>
              </a:spcAft>
              <a:buNone/>
            </a:pPr>
            <a:r>
              <a:rPr sz="1045" b="0" i="0">
                <a:solidFill>
                  <a:srgbClr val="626669"/>
                </a:solidFill>
                <a:latin typeface="Fira Sans"/>
              </a:rPr>
              <a:t>Rationality is always relative to what the agent can physically do. No action, no obligation.</a:t>
            </a:r>
          </a:p>
        </p:txBody>
      </p:sp>
      <p:sp>
        <p:nvSpPr>
          <p:cNvPr id="17" name="Rectangle 16"/>
          <p:cNvSpPr/>
          <p:nvPr/>
        </p:nvSpPr>
        <p:spPr>
          <a:xfrm>
            <a:off x="8933688" y="3436797"/>
            <a:ext cx="242316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933688" y="3601389"/>
            <a:ext cx="2423160" cy="1058641"/>
          </a:xfrm>
          <a:prstGeom prst="rect">
            <a:avLst/>
          </a:prstGeom>
          <a:noFill/>
        </p:spPr>
        <p:txBody>
          <a:bodyPr wrap="square" lIns="0" tIns="0" rIns="0" bIns="0" anchor="t">
            <a:noAutofit/>
          </a:bodyPr>
          <a:lstStyle/>
          <a:p>
            <a:pPr marL="0" indent="0" algn="l">
              <a:lnSpc>
                <a:spcPts val="1955"/>
              </a:lnSpc>
              <a:spcBef>
                <a:spcPts val="0"/>
              </a:spcBef>
              <a:spcAft>
                <a:spcPts val="0"/>
              </a:spcAft>
              <a:buNone/>
            </a:pPr>
            <a:r>
              <a:rPr sz="1880" b="1" i="0" dirty="0">
                <a:solidFill>
                  <a:srgbClr val="C8102E"/>
                </a:solidFill>
                <a:latin typeface="Fira Sans"/>
              </a:rPr>
              <a:t>4</a:t>
            </a:r>
          </a:p>
          <a:p>
            <a:pPr marL="0" indent="0" algn="l">
              <a:lnSpc>
                <a:spcPts val="1331"/>
              </a:lnSpc>
              <a:spcBef>
                <a:spcPts val="400"/>
              </a:spcBef>
              <a:spcAft>
                <a:spcPts val="0"/>
              </a:spcAft>
              <a:buNone/>
            </a:pPr>
            <a:r>
              <a:rPr sz="1188" b="1" i="0" dirty="0">
                <a:solidFill>
                  <a:srgbClr val="25282A"/>
                </a:solidFill>
                <a:latin typeface="Fira Sans"/>
              </a:rPr>
              <a:t>The percept sequence so far</a:t>
            </a:r>
          </a:p>
          <a:p>
            <a:pPr marL="0" indent="0" algn="l">
              <a:lnSpc>
                <a:spcPts val="1254"/>
              </a:lnSpc>
              <a:spcBef>
                <a:spcPts val="600"/>
              </a:spcBef>
              <a:spcAft>
                <a:spcPts val="0"/>
              </a:spcAft>
              <a:buNone/>
            </a:pPr>
            <a:r>
              <a:rPr sz="1045" b="0" i="0" dirty="0">
                <a:solidFill>
                  <a:srgbClr val="626669"/>
                </a:solidFill>
                <a:latin typeface="Fira Sans"/>
              </a:rPr>
              <a:t>All the evidence the agent has. It cannot be rational with respect to facts it never observed.</a:t>
            </a:r>
          </a:p>
        </p:txBody>
      </p:sp>
      <p:sp>
        <p:nvSpPr>
          <p:cNvPr id="19" name="Rectangle 18"/>
          <p:cNvSpPr/>
          <p:nvPr/>
        </p:nvSpPr>
        <p:spPr>
          <a:xfrm>
            <a:off x="841248" y="4934351"/>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41248" y="4934351"/>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60704" y="5080655"/>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Note what is absent: the actual outcome. An agent that chooses well and is unlucky is </a:t>
            </a:r>
            <a:r>
              <a:rPr sz="1140" b="1" i="0" dirty="0">
                <a:solidFill>
                  <a:srgbClr val="333639"/>
                </a:solidFill>
                <a:latin typeface="Fira Sans"/>
              </a:rPr>
              <a:t>still rational</a:t>
            </a:r>
            <a:r>
              <a:rPr sz="1140" b="0" i="0" dirty="0">
                <a:solidFill>
                  <a:srgbClr val="333639"/>
                </a:solidFill>
                <a:latin typeface="Fira Sans"/>
              </a:rPr>
              <a:t>. Rationality constrains the </a:t>
            </a:r>
            <a:r>
              <a:rPr sz="1140" b="1" i="0" dirty="0">
                <a:solidFill>
                  <a:srgbClr val="333639"/>
                </a:solidFill>
                <a:latin typeface="Fira Sans"/>
              </a:rPr>
              <a:t>decision procedure</a:t>
            </a:r>
            <a:r>
              <a:rPr sz="1140" b="0" i="0" dirty="0">
                <a:solidFill>
                  <a:srgbClr val="333639"/>
                </a:solidFill>
                <a:latin typeface="Fira Sans"/>
              </a:rPr>
              <a:t>, not the result</a:t>
            </a:r>
            <a:r>
              <a:rPr lang="it-IT" sz="1140" b="0" i="0" dirty="0">
                <a:solidFill>
                  <a:srgbClr val="333639"/>
                </a:solidFill>
                <a:latin typeface="Fira Sans"/>
              </a:rPr>
              <a:t>, </a:t>
            </a:r>
            <a:r>
              <a:rPr sz="1140" b="0" i="0" dirty="0">
                <a:solidFill>
                  <a:srgbClr val="333639"/>
                </a:solidFill>
                <a:latin typeface="Fira Sans"/>
              </a:rPr>
              <a:t>which is why it can be engineered at all.</a:t>
            </a:r>
          </a:p>
        </p:txBody>
      </p:sp>
      <p:sp>
        <p:nvSpPr>
          <p:cNvPr id="22" name="Rectangle 18">
            <a:extLst>
              <a:ext uri="{FF2B5EF4-FFF2-40B4-BE49-F238E27FC236}">
                <a16:creationId xmlns:a16="http://schemas.microsoft.com/office/drawing/2014/main" id="{ADA321B6-9083-ADC8-284D-1C5E664C37A9}"/>
              </a:ext>
            </a:extLst>
          </p:cNvPr>
          <p:cNvSpPr/>
          <p:nvPr/>
        </p:nvSpPr>
        <p:spPr>
          <a:xfrm>
            <a:off x="841248" y="5613501"/>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23" name="Rectangle 19">
            <a:extLst>
              <a:ext uri="{FF2B5EF4-FFF2-40B4-BE49-F238E27FC236}">
                <a16:creationId xmlns:a16="http://schemas.microsoft.com/office/drawing/2014/main" id="{9E05C44D-6702-AFC3-C200-7D48930488C9}"/>
              </a:ext>
            </a:extLst>
          </p:cNvPr>
          <p:cNvSpPr/>
          <p:nvPr/>
        </p:nvSpPr>
        <p:spPr>
          <a:xfrm>
            <a:off x="841248" y="5613501"/>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0">
            <a:extLst>
              <a:ext uri="{FF2B5EF4-FFF2-40B4-BE49-F238E27FC236}">
                <a16:creationId xmlns:a16="http://schemas.microsoft.com/office/drawing/2014/main" id="{4976179A-25FA-F05B-DB24-B1026F6DECE0}"/>
              </a:ext>
            </a:extLst>
          </p:cNvPr>
          <p:cNvSpPr txBox="1"/>
          <p:nvPr/>
        </p:nvSpPr>
        <p:spPr>
          <a:xfrm>
            <a:off x="1053846" y="5720735"/>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lang="en-GB" sz="1140" b="0" i="0" noProof="0" dirty="0">
                <a:solidFill>
                  <a:srgbClr val="333639"/>
                </a:solidFill>
                <a:latin typeface="Fira Sans"/>
              </a:rPr>
              <a:t>Note when the performance measure is expressed as a </a:t>
            </a:r>
            <a:r>
              <a:rPr lang="en-GB" sz="1140" b="1" i="0" noProof="0" dirty="0">
                <a:solidFill>
                  <a:srgbClr val="333639"/>
                </a:solidFill>
                <a:latin typeface="Fira Sans"/>
              </a:rPr>
              <a:t>numerical signal </a:t>
            </a:r>
            <a:r>
              <a:rPr lang="en-GB" sz="1140" b="0" i="0" noProof="0" dirty="0">
                <a:solidFill>
                  <a:srgbClr val="333639"/>
                </a:solidFill>
                <a:latin typeface="Fira Sans"/>
              </a:rPr>
              <a:t>delivered to the agent at each step, positive for desirable outcomes and negative (a penalty) for undesirable ones, we call it a </a:t>
            </a:r>
            <a:r>
              <a:rPr lang="en-GB" sz="1140" b="1" i="0" noProof="0" dirty="0">
                <a:solidFill>
                  <a:srgbClr val="333639"/>
                </a:solidFill>
                <a:latin typeface="Fira Sans"/>
              </a:rPr>
              <a:t>reward</a:t>
            </a:r>
            <a:endParaRPr lang="en-GB" sz="1140" b="0" i="0" noProof="0" dirty="0">
              <a:solidFill>
                <a:srgbClr val="333639"/>
              </a:solidFill>
              <a:latin typeface="Fir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4.4  IS THE VACUUM AGENT RATIONAL?</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program is rational under one measure and foolish under another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IV — Performance measure and rationality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31</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The simple rule </a:t>
            </a:r>
            <a:r>
              <a:rPr lang="it-IT" sz="1235" b="0" i="0" dirty="0">
                <a:solidFill>
                  <a:srgbClr val="333639"/>
                </a:solidFill>
                <a:latin typeface="Fira Sans"/>
              </a:rPr>
              <a:t>"</a:t>
            </a:r>
            <a:r>
              <a:rPr sz="1235" b="0" i="0" dirty="0">
                <a:solidFill>
                  <a:srgbClr val="333639"/>
                </a:solidFill>
                <a:latin typeface="Fira Sans"/>
              </a:rPr>
              <a:t>if dirty, suck; otherwise move to the other square</a:t>
            </a:r>
            <a:r>
              <a:rPr lang="it-IT" sz="1235" b="0" i="0" dirty="0">
                <a:solidFill>
                  <a:srgbClr val="333639"/>
                </a:solidFill>
                <a:latin typeface="Fira Sans"/>
              </a:rPr>
              <a:t>"</a:t>
            </a:r>
            <a:r>
              <a:rPr sz="1235" b="0" i="0" dirty="0">
                <a:solidFill>
                  <a:srgbClr val="333639"/>
                </a:solidFill>
                <a:latin typeface="Fira Sans"/>
              </a:rPr>
              <a:t> never stops. Once both squares are clean the agent oscillates for ever. Whether that is irrational depends entirely on how the measure is written.</a:t>
            </a:r>
          </a:p>
        </p:txBody>
      </p:sp>
      <p:pic>
        <p:nvPicPr>
          <p:cNvPr id="9" name="Picture 8" descr="perf_vacuum.png"/>
          <p:cNvPicPr>
            <a:picLocks noChangeAspect="1"/>
          </p:cNvPicPr>
          <p:nvPr/>
        </p:nvPicPr>
        <p:blipFill>
          <a:blip r:embed="rId2"/>
          <a:stretch>
            <a:fillRect/>
          </a:stretch>
        </p:blipFill>
        <p:spPr>
          <a:xfrm>
            <a:off x="1523730" y="1736013"/>
            <a:ext cx="8633212" cy="2305202"/>
          </a:xfrm>
          <a:prstGeom prst="rect">
            <a:avLst/>
          </a:prstGeom>
        </p:spPr>
      </p:pic>
      <p:sp>
        <p:nvSpPr>
          <p:cNvPr id="10" name="Rectangle 9"/>
          <p:cNvSpPr/>
          <p:nvPr/>
        </p:nvSpPr>
        <p:spPr>
          <a:xfrm>
            <a:off x="841248" y="406773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287189"/>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4334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C8102E"/>
                </a:solidFill>
                <a:latin typeface="Fira Sans"/>
              </a:rPr>
              <a:t>MEASURE 1</a:t>
            </a:r>
          </a:p>
          <a:p>
            <a:pPr marL="0" indent="0" algn="l">
              <a:lnSpc>
                <a:spcPts val="1277"/>
              </a:lnSpc>
              <a:spcBef>
                <a:spcPts val="500"/>
              </a:spcBef>
              <a:spcAft>
                <a:spcPts val="0"/>
              </a:spcAft>
              <a:buNone/>
            </a:pPr>
            <a:r>
              <a:rPr sz="1140" b="1" i="0" dirty="0">
                <a:solidFill>
                  <a:srgbClr val="25282A"/>
                </a:solidFill>
                <a:latin typeface="Fira Sans"/>
              </a:rPr>
              <a:t>Reward +1 for each unit of dirt cleaned</a:t>
            </a:r>
          </a:p>
          <a:p>
            <a:pPr marL="0" indent="0" algn="l">
              <a:lnSpc>
                <a:spcPts val="1254"/>
              </a:lnSpc>
              <a:spcBef>
                <a:spcPts val="500"/>
              </a:spcBef>
              <a:spcAft>
                <a:spcPts val="0"/>
              </a:spcAft>
              <a:buNone/>
            </a:pPr>
            <a:r>
              <a:rPr sz="1045" b="0" i="0" dirty="0">
                <a:solidFill>
                  <a:srgbClr val="626669"/>
                </a:solidFill>
                <a:latin typeface="Fira Sans"/>
              </a:rPr>
              <a:t>Movement is free, so endless oscillation costs nothing. The agent keeps moving and the measure never objects. Rational</a:t>
            </a:r>
            <a:r>
              <a:rPr lang="it-IT" sz="1045" b="0" i="0" dirty="0">
                <a:solidFill>
                  <a:srgbClr val="626669"/>
                </a:solidFill>
                <a:latin typeface="Fira Sans"/>
              </a:rPr>
              <a:t> </a:t>
            </a:r>
            <a:r>
              <a:rPr sz="1045" b="0" i="0" dirty="0">
                <a:solidFill>
                  <a:srgbClr val="626669"/>
                </a:solidFill>
                <a:latin typeface="Fira Sans"/>
              </a:rPr>
              <a:t>and useless.</a:t>
            </a:r>
          </a:p>
        </p:txBody>
      </p:sp>
      <p:sp>
        <p:nvSpPr>
          <p:cNvPr id="13" name="Rectangle 12"/>
          <p:cNvSpPr/>
          <p:nvPr/>
        </p:nvSpPr>
        <p:spPr>
          <a:xfrm>
            <a:off x="4450080" y="4287189"/>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50080" y="44334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a:rPr>
              <a:t>MEASURE 2</a:t>
            </a:r>
          </a:p>
          <a:p>
            <a:pPr marL="0" indent="0" algn="l">
              <a:lnSpc>
                <a:spcPts val="1277"/>
              </a:lnSpc>
              <a:spcBef>
                <a:spcPts val="500"/>
              </a:spcBef>
              <a:spcAft>
                <a:spcPts val="0"/>
              </a:spcAft>
              <a:buNone/>
            </a:pPr>
            <a:r>
              <a:rPr sz="1140" b="1" i="0">
                <a:solidFill>
                  <a:srgbClr val="25282A"/>
                </a:solidFill>
                <a:latin typeface="Fira Sans"/>
              </a:rPr>
              <a:t>Add a cost of −0.5 for each move</a:t>
            </a:r>
          </a:p>
          <a:p>
            <a:pPr marL="0" indent="0" algn="l">
              <a:lnSpc>
                <a:spcPts val="1254"/>
              </a:lnSpc>
              <a:spcBef>
                <a:spcPts val="500"/>
              </a:spcBef>
              <a:spcAft>
                <a:spcPts val="0"/>
              </a:spcAft>
              <a:buNone/>
            </a:pPr>
            <a:r>
              <a:rPr sz="1045" b="0" i="0">
                <a:solidFill>
                  <a:srgbClr val="626669"/>
                </a:solidFill>
                <a:latin typeface="Fira Sans"/>
              </a:rPr>
              <a:t>Now the agent prefers to stay put once the floor is clean. But if dirt can reappear, standing still is exactly the wrong policy.</a:t>
            </a:r>
          </a:p>
        </p:txBody>
      </p:sp>
      <p:sp>
        <p:nvSpPr>
          <p:cNvPr id="15" name="Rectangle 14"/>
          <p:cNvSpPr/>
          <p:nvPr/>
        </p:nvSpPr>
        <p:spPr>
          <a:xfrm>
            <a:off x="8058912" y="4287189"/>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058912" y="4433493"/>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2B7A3E"/>
                </a:solidFill>
                <a:latin typeface="Fira Sans"/>
              </a:rPr>
              <a:t>MEASURE 3</a:t>
            </a:r>
          </a:p>
          <a:p>
            <a:pPr marL="0" indent="0" algn="l">
              <a:lnSpc>
                <a:spcPts val="1277"/>
              </a:lnSpc>
              <a:spcBef>
                <a:spcPts val="500"/>
              </a:spcBef>
              <a:spcAft>
                <a:spcPts val="0"/>
              </a:spcAft>
              <a:buNone/>
            </a:pPr>
            <a:r>
              <a:rPr sz="1140" b="1" i="0">
                <a:solidFill>
                  <a:srgbClr val="25282A"/>
                </a:solidFill>
                <a:latin typeface="Fira Sans"/>
              </a:rPr>
              <a:t>Reward +1 for checking every k steps</a:t>
            </a:r>
          </a:p>
          <a:p>
            <a:pPr marL="0" indent="0" algn="l">
              <a:lnSpc>
                <a:spcPts val="1254"/>
              </a:lnSpc>
              <a:spcBef>
                <a:spcPts val="500"/>
              </a:spcBef>
              <a:spcAft>
                <a:spcPts val="0"/>
              </a:spcAft>
              <a:buNone/>
            </a:pPr>
            <a:r>
              <a:rPr sz="1045" b="0" i="0">
                <a:solidFill>
                  <a:srgbClr val="626669"/>
                </a:solidFill>
                <a:latin typeface="Fira Sans"/>
              </a:rPr>
              <a:t>The agent re-inspects periodically without oscillating. The behaviour we wanted follows from the measure rather than being hand-coded into the rules.</a:t>
            </a:r>
          </a:p>
        </p:txBody>
      </p:sp>
      <p:sp>
        <p:nvSpPr>
          <p:cNvPr id="17" name="Rectangle 16"/>
          <p:cNvSpPr/>
          <p:nvPr/>
        </p:nvSpPr>
        <p:spPr>
          <a:xfrm>
            <a:off x="841248" y="5599574"/>
            <a:ext cx="10515600" cy="6400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5599574"/>
            <a:ext cx="41148" cy="6400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60704" y="574587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If the environment is unknown </a:t>
            </a:r>
            <a:r>
              <a:rPr lang="it-IT" sz="1140" dirty="0">
                <a:solidFill>
                  <a:srgbClr val="333639"/>
                </a:solidFill>
                <a:latin typeface="Fira Sans"/>
              </a:rPr>
              <a:t>(</a:t>
            </a:r>
            <a:r>
              <a:rPr sz="1140" b="0" i="0" dirty="0">
                <a:solidFill>
                  <a:srgbClr val="333639"/>
                </a:solidFill>
                <a:latin typeface="Fira Sans"/>
              </a:rPr>
              <a:t>dirt may or may not reappear</a:t>
            </a:r>
            <a:r>
              <a:rPr lang="it-IT" sz="1140" b="0" i="0" dirty="0">
                <a:solidFill>
                  <a:srgbClr val="333639"/>
                </a:solidFill>
                <a:latin typeface="Fira Sans"/>
              </a:rPr>
              <a:t>)</a:t>
            </a:r>
            <a:r>
              <a:rPr sz="1140" b="0" i="0" dirty="0">
                <a:solidFill>
                  <a:srgbClr val="333639"/>
                </a:solidFill>
                <a:latin typeface="Fira Sans"/>
              </a:rPr>
              <a:t> then </a:t>
            </a:r>
            <a:r>
              <a:rPr sz="1140" b="1" i="0" dirty="0">
                <a:solidFill>
                  <a:srgbClr val="333639"/>
                </a:solidFill>
                <a:latin typeface="Fira Sans"/>
              </a:rPr>
              <a:t>exploration itself becomes rational</a:t>
            </a:r>
            <a:r>
              <a:rPr sz="1140" b="0" i="0" dirty="0">
                <a:solidFill>
                  <a:srgbClr val="333639"/>
                </a:solidFill>
                <a:latin typeface="Fira Sans"/>
              </a:rPr>
              <a:t>: the agent must spend actions gathering information it cannot otherwise obtain.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4.5  RATIONALITY AND OMNISCIENCE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Choosing well is not the same as knowing the outcome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IV — Performance measure and rationality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32</a:t>
            </a:r>
          </a:p>
        </p:txBody>
      </p:sp>
      <p:sp>
        <p:nvSpPr>
          <p:cNvPr id="8" name="TextBox 7"/>
          <p:cNvSpPr txBox="1"/>
          <p:nvPr/>
        </p:nvSpPr>
        <p:spPr>
          <a:xfrm>
            <a:off x="841248" y="1316736"/>
            <a:ext cx="6847027"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A </a:t>
            </a:r>
            <a:r>
              <a:rPr sz="1235" b="1" i="0" dirty="0">
                <a:solidFill>
                  <a:srgbClr val="333639"/>
                </a:solidFill>
                <a:latin typeface="Fira Sans"/>
              </a:rPr>
              <a:t>rational agent </a:t>
            </a:r>
            <a:r>
              <a:rPr sz="1235" b="0" i="0" dirty="0">
                <a:solidFill>
                  <a:srgbClr val="333639"/>
                </a:solidFill>
                <a:latin typeface="Fira Sans"/>
              </a:rPr>
              <a:t>maximizes the expected performance given the evidence available to it. An </a:t>
            </a:r>
            <a:r>
              <a:rPr sz="1235" b="1" i="0" dirty="0">
                <a:solidFill>
                  <a:srgbClr val="333639"/>
                </a:solidFill>
                <a:latin typeface="Fira Sans"/>
              </a:rPr>
              <a:t>omniscient agent </a:t>
            </a:r>
            <a:r>
              <a:rPr sz="1235" b="0" i="0" dirty="0">
                <a:solidFill>
                  <a:srgbClr val="333639"/>
                </a:solidFill>
                <a:latin typeface="Fira Sans"/>
              </a:rPr>
              <a:t>would know the actual outcome of every action in advance. The second is not achievable, and it is not what we are trying to build.</a:t>
            </a:r>
          </a:p>
        </p:txBody>
      </p:sp>
      <p:sp>
        <p:nvSpPr>
          <p:cNvPr id="9" name="Rectangle 8"/>
          <p:cNvSpPr/>
          <p:nvPr/>
        </p:nvSpPr>
        <p:spPr>
          <a:xfrm>
            <a:off x="841248" y="2183396"/>
            <a:ext cx="3406140" cy="210312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183396"/>
            <a:ext cx="340614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42416" y="2366276"/>
            <a:ext cx="3003804" cy="1435816"/>
          </a:xfrm>
          <a:prstGeom prst="rect">
            <a:avLst/>
          </a:prstGeom>
          <a:noFill/>
        </p:spPr>
        <p:txBody>
          <a:bodyPr wrap="square" lIns="0" tIns="0" rIns="0" bIns="0" anchor="t">
            <a:noAutofit/>
          </a:bodyPr>
          <a:lstStyle/>
          <a:p>
            <a:pPr marL="0" indent="0" algn="l">
              <a:lnSpc>
                <a:spcPts val="1664"/>
              </a:lnSpc>
              <a:spcBef>
                <a:spcPts val="0"/>
              </a:spcBef>
              <a:spcAft>
                <a:spcPts val="0"/>
              </a:spcAft>
              <a:buNone/>
            </a:pPr>
            <a:r>
              <a:rPr sz="1410" b="1" i="0" dirty="0">
                <a:solidFill>
                  <a:srgbClr val="C8102E"/>
                </a:solidFill>
                <a:latin typeface="Fira Sans"/>
              </a:rPr>
              <a:t>Omniscient</a:t>
            </a:r>
          </a:p>
          <a:p>
            <a:pPr marL="0" indent="0" algn="l">
              <a:lnSpc>
                <a:spcPts val="1402"/>
              </a:lnSpc>
              <a:spcBef>
                <a:spcPts val="700"/>
              </a:spcBef>
              <a:spcAft>
                <a:spcPts val="0"/>
              </a:spcAft>
              <a:buNone/>
            </a:pPr>
            <a:r>
              <a:rPr sz="1188" b="1" i="0" dirty="0">
                <a:solidFill>
                  <a:srgbClr val="25282A"/>
                </a:solidFill>
                <a:latin typeface="Fira Sans"/>
              </a:rPr>
              <a:t>Knows the actual outcome of each action.</a:t>
            </a:r>
          </a:p>
          <a:p>
            <a:pPr marL="0" indent="0" algn="l">
              <a:lnSpc>
                <a:spcPts val="1310"/>
              </a:lnSpc>
              <a:spcBef>
                <a:spcPts val="700"/>
              </a:spcBef>
              <a:spcAft>
                <a:spcPts val="0"/>
              </a:spcAft>
              <a:buNone/>
            </a:pPr>
            <a:r>
              <a:rPr sz="1092" b="0" i="0" dirty="0">
                <a:solidFill>
                  <a:srgbClr val="626669"/>
                </a:solidFill>
                <a:latin typeface="Fira Sans"/>
              </a:rPr>
              <a:t>Impossible in any environment with partial observability or stochastic dynamics</a:t>
            </a:r>
            <a:r>
              <a:rPr lang="it-IT" sz="1092" dirty="0">
                <a:solidFill>
                  <a:srgbClr val="626669"/>
                </a:solidFill>
                <a:latin typeface="Fira Sans"/>
              </a:rPr>
              <a:t>,</a:t>
            </a:r>
            <a:r>
              <a:rPr lang="it-IT" sz="1092" b="0" i="0" dirty="0">
                <a:solidFill>
                  <a:srgbClr val="626669"/>
                </a:solidFill>
                <a:latin typeface="Fira Sans"/>
              </a:rPr>
              <a:t> </a:t>
            </a:r>
            <a:r>
              <a:rPr sz="1092" b="0" i="0" dirty="0">
                <a:solidFill>
                  <a:srgbClr val="626669"/>
                </a:solidFill>
                <a:latin typeface="Fira Sans"/>
              </a:rPr>
              <a:t>that is, in every environment that matters. It is not a demanding engineering target; it is a contradiction with the information available.</a:t>
            </a:r>
          </a:p>
        </p:txBody>
      </p:sp>
      <p:sp>
        <p:nvSpPr>
          <p:cNvPr id="12" name="Rectangle 11"/>
          <p:cNvSpPr/>
          <p:nvPr/>
        </p:nvSpPr>
        <p:spPr>
          <a:xfrm>
            <a:off x="4335188" y="2183396"/>
            <a:ext cx="3406140" cy="210312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335188" y="2183396"/>
            <a:ext cx="340614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536356" y="2366276"/>
            <a:ext cx="3003804" cy="1613849"/>
          </a:xfrm>
          <a:prstGeom prst="rect">
            <a:avLst/>
          </a:prstGeom>
          <a:noFill/>
        </p:spPr>
        <p:txBody>
          <a:bodyPr wrap="square" lIns="0" tIns="0" rIns="0" bIns="0" anchor="t">
            <a:noAutofit/>
          </a:bodyPr>
          <a:lstStyle/>
          <a:p>
            <a:pPr marL="0" indent="0" algn="l">
              <a:lnSpc>
                <a:spcPts val="1664"/>
              </a:lnSpc>
              <a:spcBef>
                <a:spcPts val="0"/>
              </a:spcBef>
              <a:spcAft>
                <a:spcPts val="0"/>
              </a:spcAft>
              <a:buNone/>
            </a:pPr>
            <a:r>
              <a:rPr sz="1410" b="1" i="0">
                <a:solidFill>
                  <a:srgbClr val="2B7A3E"/>
                </a:solidFill>
                <a:latin typeface="Fira Sans"/>
              </a:rPr>
              <a:t>Rational</a:t>
            </a:r>
          </a:p>
          <a:p>
            <a:pPr marL="0" indent="0" algn="l">
              <a:lnSpc>
                <a:spcPts val="1402"/>
              </a:lnSpc>
              <a:spcBef>
                <a:spcPts val="700"/>
              </a:spcBef>
              <a:spcAft>
                <a:spcPts val="0"/>
              </a:spcAft>
              <a:buNone/>
            </a:pPr>
            <a:r>
              <a:rPr sz="1188" b="1" i="0">
                <a:solidFill>
                  <a:srgbClr val="25282A"/>
                </a:solidFill>
                <a:latin typeface="Fira Sans"/>
              </a:rPr>
              <a:t>Maximises expected performance given the evidence.</a:t>
            </a:r>
          </a:p>
          <a:p>
            <a:pPr marL="0" indent="0" algn="l">
              <a:lnSpc>
                <a:spcPts val="1310"/>
              </a:lnSpc>
              <a:spcBef>
                <a:spcPts val="700"/>
              </a:spcBef>
              <a:spcAft>
                <a:spcPts val="0"/>
              </a:spcAft>
              <a:buNone/>
            </a:pPr>
            <a:r>
              <a:rPr sz="1092" b="0" i="0">
                <a:solidFill>
                  <a:srgbClr val="626669"/>
                </a:solidFill>
                <a:latin typeface="Fira Sans"/>
              </a:rPr>
              <a:t>Achievable in principle, and the criterion against which agent programs are judged. It is defined relative to information, so more or better percepts can change what is rational without changing the program.</a:t>
            </a:r>
          </a:p>
        </p:txBody>
      </p:sp>
      <p:sp>
        <p:nvSpPr>
          <p:cNvPr id="15" name="Rectangle 14"/>
          <p:cNvSpPr/>
          <p:nvPr/>
        </p:nvSpPr>
        <p:spPr>
          <a:xfrm>
            <a:off x="836677" y="4728789"/>
            <a:ext cx="45719" cy="71901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42416" y="4720560"/>
            <a:ext cx="6586423" cy="820704"/>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The classic example</a:t>
            </a:r>
          </a:p>
          <a:p>
            <a:pPr marL="0" indent="0" algn="l">
              <a:lnSpc>
                <a:spcPts val="1391"/>
              </a:lnSpc>
              <a:spcBef>
                <a:spcPts val="600"/>
              </a:spcBef>
              <a:spcAft>
                <a:spcPts val="0"/>
              </a:spcAft>
              <a:buNone/>
            </a:pPr>
            <a:r>
              <a:rPr sz="1140" b="0" i="0" dirty="0">
                <a:solidFill>
                  <a:srgbClr val="333639"/>
                </a:solidFill>
                <a:latin typeface="Fira Sans"/>
              </a:rPr>
              <a:t>Crossing an empty street is the rational action: every available percept says it is safe. If a cargo door then falls from a passing aircraft, the agent was </a:t>
            </a:r>
            <a:r>
              <a:rPr sz="1140" b="1" i="0" dirty="0">
                <a:solidFill>
                  <a:srgbClr val="25282A"/>
                </a:solidFill>
                <a:latin typeface="Fira Sans"/>
              </a:rPr>
              <a:t>unlucky, not irrational</a:t>
            </a:r>
            <a:r>
              <a:rPr sz="1140" b="0" i="0" dirty="0">
                <a:solidFill>
                  <a:srgbClr val="333639"/>
                </a:solidFill>
                <a:latin typeface="Fira Sans"/>
              </a:rPr>
              <a:t>. No decision procedure could have done better with the same evidence.</a:t>
            </a:r>
          </a:p>
        </p:txBody>
      </p:sp>
      <p:sp>
        <p:nvSpPr>
          <p:cNvPr id="17" name="Rectangle 16"/>
          <p:cNvSpPr/>
          <p:nvPr/>
        </p:nvSpPr>
        <p:spPr>
          <a:xfrm>
            <a:off x="7904988" y="1316736"/>
            <a:ext cx="3445733" cy="136245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904988" y="1316736"/>
            <a:ext cx="41148" cy="136245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124444" y="1463039"/>
            <a:ext cx="3153125"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AN IMPORTANT QUALIFICATION</a:t>
            </a:r>
          </a:p>
        </p:txBody>
      </p:sp>
      <p:sp>
        <p:nvSpPr>
          <p:cNvPr id="20" name="TextBox 19"/>
          <p:cNvSpPr txBox="1"/>
          <p:nvPr/>
        </p:nvSpPr>
        <p:spPr>
          <a:xfrm>
            <a:off x="8124444" y="1700784"/>
            <a:ext cx="3061685"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Rationality does, however, require </a:t>
            </a:r>
            <a:r>
              <a:rPr sz="1092" b="1" i="0" dirty="0">
                <a:solidFill>
                  <a:srgbClr val="333639"/>
                </a:solidFill>
                <a:latin typeface="Fira Sans"/>
              </a:rPr>
              <a:t>gathering evidence when that is cheap</a:t>
            </a:r>
            <a:r>
              <a:rPr lang="it-IT" sz="1092" dirty="0">
                <a:solidFill>
                  <a:srgbClr val="333639"/>
                </a:solidFill>
                <a:latin typeface="Fira Sans"/>
              </a:rPr>
              <a:t>, </a:t>
            </a:r>
            <a:r>
              <a:rPr sz="1092" b="0" i="0" dirty="0">
                <a:solidFill>
                  <a:srgbClr val="333639"/>
                </a:solidFill>
                <a:latin typeface="Fira Sans"/>
              </a:rPr>
              <a:t>looking before crossing. Failing to look is irrational even if nothing happens, because the percept was available and was not taken.</a:t>
            </a:r>
          </a:p>
        </p:txBody>
      </p:sp>
      <p:sp>
        <p:nvSpPr>
          <p:cNvPr id="21" name="TextBox 20"/>
          <p:cNvSpPr txBox="1"/>
          <p:nvPr/>
        </p:nvSpPr>
        <p:spPr>
          <a:xfrm>
            <a:off x="7904988" y="2935224"/>
            <a:ext cx="3445733"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THREE CONSEQUENCES</a:t>
            </a:r>
          </a:p>
        </p:txBody>
      </p:sp>
      <p:sp>
        <p:nvSpPr>
          <p:cNvPr id="22" name="TextBox 21"/>
          <p:cNvSpPr txBox="1"/>
          <p:nvPr/>
        </p:nvSpPr>
        <p:spPr>
          <a:xfrm>
            <a:off x="7904988" y="3191256"/>
            <a:ext cx="3445733" cy="1498152"/>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dirty="0">
                <a:solidFill>
                  <a:srgbClr val="25282A"/>
                </a:solidFill>
                <a:latin typeface="Fira Sans"/>
              </a:rPr>
              <a:t>Information gathering</a:t>
            </a:r>
            <a:r>
              <a:rPr sz="1092" b="0" i="0" dirty="0">
                <a:solidFill>
                  <a:srgbClr val="333639"/>
                </a:solidFill>
                <a:latin typeface="Fira Sans"/>
              </a:rPr>
              <a:t> </a:t>
            </a:r>
            <a:r>
              <a:rPr lang="it-IT" sz="1092" dirty="0">
                <a:solidFill>
                  <a:srgbClr val="333639"/>
                </a:solidFill>
                <a:latin typeface="Fira Sans"/>
              </a:rPr>
              <a:t>(</a:t>
            </a:r>
            <a:r>
              <a:rPr sz="1092" b="0" i="0" dirty="0">
                <a:solidFill>
                  <a:srgbClr val="333639"/>
                </a:solidFill>
                <a:latin typeface="Fira Sans"/>
              </a:rPr>
              <a:t>exploration</a:t>
            </a:r>
            <a:r>
              <a:rPr lang="it-IT" sz="1092" b="0" i="0" dirty="0">
                <a:solidFill>
                  <a:srgbClr val="333639"/>
                </a:solidFill>
                <a:latin typeface="Fira Sans"/>
              </a:rPr>
              <a:t>)</a:t>
            </a:r>
            <a:r>
              <a:rPr sz="1092" b="0" i="0" dirty="0">
                <a:solidFill>
                  <a:srgbClr val="333639"/>
                </a:solidFill>
                <a:latin typeface="Fira Sans"/>
              </a:rPr>
              <a:t> is a rational action in its own right</a:t>
            </a:r>
          </a:p>
          <a:p>
            <a:pPr marL="173736" indent="-173736" algn="l">
              <a:lnSpc>
                <a:spcPts val="1289"/>
              </a:lnSpc>
              <a:spcBef>
                <a:spcPts val="600"/>
              </a:spcBef>
              <a:spcAft>
                <a:spcPts val="0"/>
              </a:spcAft>
              <a:buClr>
                <a:srgbClr val="1971C2"/>
              </a:buClr>
              <a:buFont typeface="Fira Sans"/>
              <a:buChar char="–"/>
            </a:pPr>
            <a:r>
              <a:rPr sz="1092" b="1" i="0" dirty="0">
                <a:solidFill>
                  <a:srgbClr val="25282A"/>
                </a:solidFill>
                <a:latin typeface="Fira Sans"/>
              </a:rPr>
              <a:t>Learning</a:t>
            </a:r>
            <a:r>
              <a:rPr sz="1092" b="0" i="0" dirty="0">
                <a:solidFill>
                  <a:srgbClr val="333639"/>
                </a:solidFill>
                <a:latin typeface="Fira Sans"/>
              </a:rPr>
              <a:t> is rational whenever the environment is initially </a:t>
            </a:r>
            <a:r>
              <a:rPr sz="1092" b="1" i="0" dirty="0">
                <a:solidFill>
                  <a:srgbClr val="333639"/>
                </a:solidFill>
                <a:latin typeface="Fira Sans"/>
              </a:rPr>
              <a:t>unknown</a:t>
            </a:r>
            <a:r>
              <a:rPr sz="1092" b="0" i="0" dirty="0">
                <a:solidFill>
                  <a:srgbClr val="333639"/>
                </a:solidFill>
                <a:latin typeface="Fira Sans"/>
              </a:rPr>
              <a:t>: it converts experience into better future decisions</a:t>
            </a:r>
          </a:p>
          <a:p>
            <a:pPr marL="173736" indent="-173736" algn="l">
              <a:lnSpc>
                <a:spcPts val="1289"/>
              </a:lnSpc>
              <a:spcBef>
                <a:spcPts val="600"/>
              </a:spcBef>
              <a:spcAft>
                <a:spcPts val="0"/>
              </a:spcAft>
              <a:buClr>
                <a:srgbClr val="1971C2"/>
              </a:buClr>
              <a:buFont typeface="Fira Sans"/>
              <a:buChar char="–"/>
            </a:pPr>
            <a:r>
              <a:rPr sz="1092" b="1" i="0" dirty="0">
                <a:solidFill>
                  <a:srgbClr val="25282A"/>
                </a:solidFill>
                <a:latin typeface="Fira Sans"/>
              </a:rPr>
              <a:t>Autonomy</a:t>
            </a:r>
            <a:r>
              <a:rPr sz="1092" b="0" i="0" dirty="0">
                <a:solidFill>
                  <a:srgbClr val="333639"/>
                </a:solidFill>
                <a:latin typeface="Fira Sans"/>
              </a:rPr>
              <a:t> follows: an agent that relies only on the designer’s prior knowledge is rational only in the world the designer imagined.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Agent architectures</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Five ways of turning percepts into actions, each adding one capability that the previous one lacked.</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does each architecture buy, and what does it cost?</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Simple reflex agents</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Model-based reflex agents</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Goal-based agents and minimax</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Utility-based agents</a:t>
            </a:r>
          </a:p>
          <a:p>
            <a:pPr marL="0" indent="0" algn="l">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Learning agents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  ARCHITECTURE AND PROGRAM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agent is the machine plus the program that runs on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34</a:t>
            </a:r>
          </a:p>
        </p:txBody>
      </p:sp>
      <p:sp>
        <p:nvSpPr>
          <p:cNvPr id="8" name="TextBox 7"/>
          <p:cNvSpPr txBox="1"/>
          <p:nvPr/>
        </p:nvSpPr>
        <p:spPr>
          <a:xfrm>
            <a:off x="841248" y="1316736"/>
            <a:ext cx="10515600"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The agent program runs on a </a:t>
            </a:r>
            <a:r>
              <a:rPr sz="1235" b="1" i="0" dirty="0">
                <a:solidFill>
                  <a:srgbClr val="333639"/>
                </a:solidFill>
                <a:latin typeface="Fira Sans"/>
              </a:rPr>
              <a:t>physical computing system </a:t>
            </a:r>
            <a:r>
              <a:rPr sz="1235" b="0" i="0" dirty="0">
                <a:solidFill>
                  <a:srgbClr val="333639"/>
                </a:solidFill>
                <a:latin typeface="Fira Sans"/>
              </a:rPr>
              <a:t>with sensors and actuators</a:t>
            </a:r>
            <a:r>
              <a:rPr lang="it-IT" sz="1235" b="0" i="0" dirty="0">
                <a:solidFill>
                  <a:srgbClr val="333639"/>
                </a:solidFill>
                <a:latin typeface="Fira Sans"/>
              </a:rPr>
              <a:t>: </a:t>
            </a:r>
            <a:r>
              <a:rPr sz="1235" b="0" i="0" dirty="0">
                <a:solidFill>
                  <a:srgbClr val="333639"/>
                </a:solidFill>
                <a:latin typeface="Fira Sans"/>
              </a:rPr>
              <a:t>the </a:t>
            </a:r>
            <a:r>
              <a:rPr sz="1235" b="1" i="0" dirty="0">
                <a:solidFill>
                  <a:srgbClr val="333639"/>
                </a:solidFill>
                <a:latin typeface="Fira Sans"/>
              </a:rPr>
              <a:t>agent architecture</a:t>
            </a:r>
            <a:r>
              <a:rPr sz="1235" b="0" i="0" dirty="0">
                <a:solidFill>
                  <a:srgbClr val="333639"/>
                </a:solidFill>
                <a:latin typeface="Fira Sans"/>
              </a:rPr>
              <a:t>. The architecture delivers percepts to the program, runs it, and executes the actions it returns. The two must be compatible: if the program says </a:t>
            </a:r>
            <a:r>
              <a:rPr lang="it-IT" sz="1235" dirty="0">
                <a:solidFill>
                  <a:srgbClr val="333639"/>
                </a:solidFill>
                <a:latin typeface="Fira Sans"/>
              </a:rPr>
              <a:t>"</a:t>
            </a:r>
            <a:r>
              <a:rPr sz="1235" b="0" i="0" dirty="0">
                <a:solidFill>
                  <a:srgbClr val="333639"/>
                </a:solidFill>
                <a:latin typeface="Fira Sans"/>
              </a:rPr>
              <a:t>walk</a:t>
            </a:r>
            <a:r>
              <a:rPr lang="it-IT" sz="1235" dirty="0">
                <a:solidFill>
                  <a:srgbClr val="333639"/>
                </a:solidFill>
                <a:latin typeface="Fira Sans"/>
              </a:rPr>
              <a:t>"</a:t>
            </a:r>
            <a:r>
              <a:rPr sz="1235" b="0" i="0" dirty="0">
                <a:solidFill>
                  <a:srgbClr val="333639"/>
                </a:solidFill>
                <a:latin typeface="Fira Sans"/>
              </a:rPr>
              <a:t>, the architecture had better have legs.</a:t>
            </a:r>
          </a:p>
        </p:txBody>
      </p:sp>
      <p:pic>
        <p:nvPicPr>
          <p:cNvPr id="9" name="Picture 8" descr="eq_agent_eq.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55095" y="2183396"/>
            <a:ext cx="5081778" cy="387476"/>
          </a:xfrm>
          <a:prstGeom prst="rect">
            <a:avLst/>
          </a:prstGeom>
        </p:spPr>
      </p:pic>
      <p:sp>
        <p:nvSpPr>
          <p:cNvPr id="10" name="Rectangle 9"/>
          <p:cNvSpPr/>
          <p:nvPr/>
        </p:nvSpPr>
        <p:spPr>
          <a:xfrm>
            <a:off x="841248" y="295492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21095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FIVE WAYS OF TURNING PERCEPTS INTO ACTIONS</a:t>
            </a:r>
          </a:p>
        </p:txBody>
      </p:sp>
      <p:sp>
        <p:nvSpPr>
          <p:cNvPr id="12" name="Rectangle 11"/>
          <p:cNvSpPr/>
          <p:nvPr/>
        </p:nvSpPr>
        <p:spPr>
          <a:xfrm>
            <a:off x="841248" y="3466985"/>
            <a:ext cx="2029967" cy="71323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3466985"/>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50976" y="3576713"/>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dirty="0">
                <a:solidFill>
                  <a:srgbClr val="8E9295"/>
                </a:solidFill>
                <a:latin typeface="Fira Sans"/>
              </a:rPr>
              <a:t>Simple reflex</a:t>
            </a:r>
          </a:p>
          <a:p>
            <a:pPr marL="0" indent="0" algn="l">
              <a:lnSpc>
                <a:spcPts val="988"/>
              </a:lnSpc>
              <a:spcBef>
                <a:spcPts val="300"/>
              </a:spcBef>
              <a:spcAft>
                <a:spcPts val="0"/>
              </a:spcAft>
              <a:buNone/>
            </a:pPr>
            <a:r>
              <a:rPr sz="882" b="0" i="0" dirty="0">
                <a:solidFill>
                  <a:srgbClr val="8E9295"/>
                </a:solidFill>
                <a:latin typeface="Fira Sans"/>
              </a:rPr>
              <a:t>current percept only</a:t>
            </a:r>
          </a:p>
        </p:txBody>
      </p:sp>
      <p:sp>
        <p:nvSpPr>
          <p:cNvPr id="15" name="Rectangle 14"/>
          <p:cNvSpPr/>
          <p:nvPr/>
        </p:nvSpPr>
        <p:spPr>
          <a:xfrm>
            <a:off x="2962656" y="3466985"/>
            <a:ext cx="2029967" cy="71323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2962656" y="3466985"/>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072384" y="3576713"/>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dirty="0">
                <a:solidFill>
                  <a:srgbClr val="8E9295"/>
                </a:solidFill>
                <a:latin typeface="Fira Sans"/>
              </a:rPr>
              <a:t>Model-based reflex</a:t>
            </a:r>
          </a:p>
          <a:p>
            <a:pPr marL="0" indent="0" algn="l">
              <a:lnSpc>
                <a:spcPts val="988"/>
              </a:lnSpc>
              <a:spcBef>
                <a:spcPts val="300"/>
              </a:spcBef>
              <a:spcAft>
                <a:spcPts val="0"/>
              </a:spcAft>
              <a:buNone/>
            </a:pPr>
            <a:r>
              <a:rPr sz="882" b="0" i="0" dirty="0">
                <a:solidFill>
                  <a:srgbClr val="8E9295"/>
                </a:solidFill>
                <a:latin typeface="Fira Sans"/>
              </a:rPr>
              <a:t>+ internal state</a:t>
            </a:r>
          </a:p>
        </p:txBody>
      </p:sp>
      <p:sp>
        <p:nvSpPr>
          <p:cNvPr id="18" name="Rectangle 17"/>
          <p:cNvSpPr/>
          <p:nvPr/>
        </p:nvSpPr>
        <p:spPr>
          <a:xfrm>
            <a:off x="5084064" y="3466985"/>
            <a:ext cx="2029967" cy="71323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5084064" y="3466985"/>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193792" y="3576713"/>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dirty="0">
                <a:solidFill>
                  <a:srgbClr val="8E9295"/>
                </a:solidFill>
                <a:latin typeface="Fira Sans"/>
              </a:rPr>
              <a:t>Goal-based</a:t>
            </a:r>
          </a:p>
          <a:p>
            <a:pPr marL="0" indent="0" algn="l">
              <a:lnSpc>
                <a:spcPts val="988"/>
              </a:lnSpc>
              <a:spcBef>
                <a:spcPts val="300"/>
              </a:spcBef>
              <a:spcAft>
                <a:spcPts val="0"/>
              </a:spcAft>
              <a:buNone/>
            </a:pPr>
            <a:r>
              <a:rPr sz="882" b="0" i="0" dirty="0">
                <a:solidFill>
                  <a:srgbClr val="8E9295"/>
                </a:solidFill>
                <a:latin typeface="Fira Sans"/>
              </a:rPr>
              <a:t>+ goal, look ahead</a:t>
            </a:r>
          </a:p>
        </p:txBody>
      </p:sp>
      <p:sp>
        <p:nvSpPr>
          <p:cNvPr id="21" name="Rectangle 20"/>
          <p:cNvSpPr/>
          <p:nvPr/>
        </p:nvSpPr>
        <p:spPr>
          <a:xfrm>
            <a:off x="7205471" y="3466985"/>
            <a:ext cx="2029967" cy="71323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205471" y="3466985"/>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315199" y="3576713"/>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dirty="0">
                <a:solidFill>
                  <a:srgbClr val="8E9295"/>
                </a:solidFill>
                <a:latin typeface="Fira Sans"/>
              </a:rPr>
              <a:t>Utility-based</a:t>
            </a:r>
          </a:p>
          <a:p>
            <a:pPr marL="0" indent="0" algn="l">
              <a:lnSpc>
                <a:spcPts val="988"/>
              </a:lnSpc>
              <a:spcBef>
                <a:spcPts val="300"/>
              </a:spcBef>
              <a:spcAft>
                <a:spcPts val="0"/>
              </a:spcAft>
              <a:buNone/>
            </a:pPr>
            <a:r>
              <a:rPr sz="882" b="0" i="0" dirty="0">
                <a:solidFill>
                  <a:srgbClr val="8E9295"/>
                </a:solidFill>
                <a:latin typeface="Fira Sans"/>
              </a:rPr>
              <a:t>+ graded preferences</a:t>
            </a:r>
          </a:p>
        </p:txBody>
      </p:sp>
      <p:sp>
        <p:nvSpPr>
          <p:cNvPr id="24" name="Rectangle 23"/>
          <p:cNvSpPr/>
          <p:nvPr/>
        </p:nvSpPr>
        <p:spPr>
          <a:xfrm>
            <a:off x="9326880" y="3466985"/>
            <a:ext cx="2029967" cy="71323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9326880" y="3466985"/>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436607" y="3576713"/>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dirty="0">
                <a:solidFill>
                  <a:srgbClr val="8E9295"/>
                </a:solidFill>
                <a:latin typeface="Fira Sans"/>
              </a:rPr>
              <a:t>Learning</a:t>
            </a:r>
          </a:p>
          <a:p>
            <a:pPr marL="0" indent="0" algn="l">
              <a:lnSpc>
                <a:spcPts val="988"/>
              </a:lnSpc>
              <a:spcBef>
                <a:spcPts val="300"/>
              </a:spcBef>
              <a:spcAft>
                <a:spcPts val="0"/>
              </a:spcAft>
              <a:buNone/>
            </a:pPr>
            <a:r>
              <a:rPr sz="882" b="0" i="0" dirty="0">
                <a:solidFill>
                  <a:srgbClr val="8E9295"/>
                </a:solidFill>
                <a:latin typeface="Fira Sans"/>
              </a:rPr>
              <a:t>+ improvement from feedback</a:t>
            </a:r>
          </a:p>
        </p:txBody>
      </p:sp>
      <p:sp>
        <p:nvSpPr>
          <p:cNvPr id="27" name="TextBox 26"/>
          <p:cNvSpPr txBox="1"/>
          <p:nvPr/>
        </p:nvSpPr>
        <p:spPr>
          <a:xfrm>
            <a:off x="841248" y="4491113"/>
            <a:ext cx="10515600" cy="597834"/>
          </a:xfrm>
          <a:prstGeom prst="rect">
            <a:avLst/>
          </a:prstGeom>
          <a:noFill/>
        </p:spPr>
        <p:txBody>
          <a:bodyPr wrap="square" lIns="0" tIns="0" rIns="0" bIns="0" anchor="t">
            <a:noAutofit/>
          </a:bodyPr>
          <a:lstStyle/>
          <a:p>
            <a:pPr marL="0" indent="0" algn="l">
              <a:lnSpc>
                <a:spcPts val="1473"/>
              </a:lnSpc>
              <a:spcBef>
                <a:spcPts val="0"/>
              </a:spcBef>
              <a:spcAft>
                <a:spcPts val="0"/>
              </a:spcAft>
              <a:buNone/>
            </a:pPr>
            <a:r>
              <a:rPr sz="1188" b="0" i="0" dirty="0">
                <a:solidFill>
                  <a:srgbClr val="333639"/>
                </a:solidFill>
                <a:latin typeface="Fira Sans"/>
              </a:rPr>
              <a:t>There is no single recipe. Each architecture combines particular components in a particular way, and each one adds exactly one capability that the previous one lacked: </a:t>
            </a:r>
            <a:r>
              <a:rPr sz="1188" b="1" i="0" dirty="0">
                <a:solidFill>
                  <a:srgbClr val="25282A"/>
                </a:solidFill>
                <a:latin typeface="Fira Sans"/>
              </a:rPr>
              <a:t>memory, then foresight, then preference, then improvement</a:t>
            </a:r>
            <a:r>
              <a:rPr sz="1188" b="0" i="0" dirty="0">
                <a:solidFill>
                  <a:srgbClr val="333639"/>
                </a:solidFill>
                <a:latin typeface="Fira Sans"/>
              </a:rPr>
              <a:t>.</a:t>
            </a:r>
          </a:p>
        </p:txBody>
      </p:sp>
      <p:sp>
        <p:nvSpPr>
          <p:cNvPr id="28" name="Rectangle 27"/>
          <p:cNvSpPr/>
          <p:nvPr/>
        </p:nvSpPr>
        <p:spPr>
          <a:xfrm>
            <a:off x="841248" y="5326692"/>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841248" y="5326692"/>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060704" y="5472996"/>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Each step is a response to a property of the environment: </a:t>
            </a:r>
            <a:r>
              <a:rPr sz="1140" b="1" i="0" dirty="0">
                <a:solidFill>
                  <a:srgbClr val="333639"/>
                </a:solidFill>
                <a:latin typeface="Fira Sans"/>
              </a:rPr>
              <a:t>partial observability</a:t>
            </a:r>
            <a:r>
              <a:rPr sz="1140" b="0" i="0" dirty="0">
                <a:solidFill>
                  <a:srgbClr val="333639"/>
                </a:solidFill>
                <a:latin typeface="Fira Sans"/>
              </a:rPr>
              <a:t> forces internal state; </a:t>
            </a:r>
            <a:r>
              <a:rPr lang="it-IT" sz="1140" b="1" i="0" dirty="0" err="1">
                <a:solidFill>
                  <a:srgbClr val="333639"/>
                </a:solidFill>
                <a:latin typeface="Fira Sans"/>
              </a:rPr>
              <a:t>sequentiality</a:t>
            </a:r>
            <a:r>
              <a:rPr sz="1140" b="0" i="0" dirty="0">
                <a:solidFill>
                  <a:srgbClr val="333639"/>
                </a:solidFill>
                <a:latin typeface="Fira Sans"/>
              </a:rPr>
              <a:t> forces looking ahead; </a:t>
            </a:r>
            <a:r>
              <a:rPr sz="1140" b="1" i="0" dirty="0">
                <a:solidFill>
                  <a:srgbClr val="333639"/>
                </a:solidFill>
                <a:latin typeface="Fira Sans"/>
              </a:rPr>
              <a:t>stochasticity</a:t>
            </a:r>
            <a:r>
              <a:rPr sz="1140" b="0" i="0" dirty="0">
                <a:solidFill>
                  <a:srgbClr val="333639"/>
                </a:solidFill>
                <a:latin typeface="Fira Sans"/>
              </a:rPr>
              <a:t> forces graded preferences; </a:t>
            </a:r>
            <a:r>
              <a:rPr sz="1140" b="1" i="0" dirty="0">
                <a:solidFill>
                  <a:srgbClr val="333639"/>
                </a:solidFill>
                <a:latin typeface="Fira Sans"/>
              </a:rPr>
              <a:t>unknown dynamics</a:t>
            </a:r>
            <a:r>
              <a:rPr sz="1140" b="0" i="0" dirty="0">
                <a:solidFill>
                  <a:srgbClr val="333639"/>
                </a:solidFill>
                <a:latin typeface="Fira Sans"/>
              </a:rPr>
              <a:t> force learning.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5.2  SIMPLE REFLEX AGENT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Act on what you see now, and forget everything else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35</a:t>
            </a:r>
          </a:p>
        </p:txBody>
      </p:sp>
      <p:sp>
        <p:nvSpPr>
          <p:cNvPr id="8" name="Rectangle 7"/>
          <p:cNvSpPr/>
          <p:nvPr/>
        </p:nvSpPr>
        <p:spPr>
          <a:xfrm>
            <a:off x="841248"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Model-based reflex</a:t>
            </a:r>
          </a:p>
          <a:p>
            <a:pPr marL="0" indent="0" algn="l">
              <a:lnSpc>
                <a:spcPts val="988"/>
              </a:lnSpc>
              <a:spcBef>
                <a:spcPts val="300"/>
              </a:spcBef>
              <a:spcAft>
                <a:spcPts val="0"/>
              </a:spcAft>
              <a:buNone/>
            </a:pPr>
            <a:r>
              <a:rPr sz="882" b="0" i="0">
                <a:solidFill>
                  <a:srgbClr val="8E9295"/>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Goal-based</a:t>
            </a:r>
          </a:p>
          <a:p>
            <a:pPr marL="0" indent="0" algn="l">
              <a:lnSpc>
                <a:spcPts val="988"/>
              </a:lnSpc>
              <a:spcBef>
                <a:spcPts val="300"/>
              </a:spcBef>
              <a:spcAft>
                <a:spcPts val="0"/>
              </a:spcAft>
              <a:buNone/>
            </a:pPr>
            <a:r>
              <a:rPr sz="882" b="0" i="0">
                <a:solidFill>
                  <a:srgbClr val="8E9295"/>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21408"/>
            <a:ext cx="5980176"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most basic architecture selects an action solely on the basis of the current percept, ignoring the history entirely. Its knowledge is a set of condition–action rules.</a:t>
            </a:r>
          </a:p>
        </p:txBody>
      </p:sp>
      <p:pic>
        <p:nvPicPr>
          <p:cNvPr id="24" name="Picture 23" descr="arch_reflex.png"/>
          <p:cNvPicPr>
            <a:picLocks noChangeAspect="1"/>
          </p:cNvPicPr>
          <p:nvPr/>
        </p:nvPicPr>
        <p:blipFill>
          <a:blip r:embed="rId2"/>
          <a:stretch>
            <a:fillRect/>
          </a:stretch>
        </p:blipFill>
        <p:spPr>
          <a:xfrm>
            <a:off x="841248" y="2672425"/>
            <a:ext cx="5555630" cy="2148840"/>
          </a:xfrm>
          <a:prstGeom prst="rect">
            <a:avLst/>
          </a:prstGeom>
        </p:spPr>
      </p:pic>
      <p:sp>
        <p:nvSpPr>
          <p:cNvPr id="25" name="TextBox 24"/>
          <p:cNvSpPr txBox="1"/>
          <p:nvPr/>
        </p:nvSpPr>
        <p:spPr>
          <a:xfrm>
            <a:off x="841248" y="4930993"/>
            <a:ext cx="5980176"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Percepts enter through the sensors and are interpreted as “what the world is like now”; a rule fires; the action leaves through the actuators. There is no state.</a:t>
            </a:r>
          </a:p>
        </p:txBody>
      </p:sp>
      <p:pic>
        <p:nvPicPr>
          <p:cNvPr id="26" name="Picture 25" descr="eq_reflex_rul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32904" y="2157984"/>
            <a:ext cx="3088385" cy="603504"/>
          </a:xfrm>
          <a:prstGeom prst="rect">
            <a:avLst/>
          </a:prstGeom>
        </p:spPr>
      </p:pic>
      <p:sp>
        <p:nvSpPr>
          <p:cNvPr id="27" name="TextBox 26"/>
          <p:cNvSpPr txBox="1"/>
          <p:nvPr/>
        </p:nvSpPr>
        <p:spPr>
          <a:xfrm>
            <a:off x="7232904" y="3035808"/>
            <a:ext cx="4117817" cy="207416"/>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0" i="0">
                <a:solidFill>
                  <a:srgbClr val="333639"/>
                </a:solidFill>
                <a:latin typeface="Fira Sans"/>
              </a:rPr>
              <a:t>The vacuum agent’s entire program, in words:</a:t>
            </a:r>
          </a:p>
        </p:txBody>
      </p:sp>
      <p:sp>
        <p:nvSpPr>
          <p:cNvPr id="28" name="Rectangle 27"/>
          <p:cNvSpPr/>
          <p:nvPr/>
        </p:nvSpPr>
        <p:spPr>
          <a:xfrm>
            <a:off x="7232904" y="3328416"/>
            <a:ext cx="4117817" cy="78638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7232904" y="3328416"/>
            <a:ext cx="41148" cy="786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434072" y="3438144"/>
            <a:ext cx="3715481" cy="443443"/>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0" i="1">
                <a:solidFill>
                  <a:srgbClr val="25282A"/>
                </a:solidFill>
                <a:latin typeface="Fira Sans"/>
              </a:rPr>
              <a:t>“If the current square is dirty, clean it;</a:t>
            </a:r>
          </a:p>
          <a:p>
            <a:pPr marL="0" indent="0" algn="l">
              <a:lnSpc>
                <a:spcPts val="1402"/>
              </a:lnSpc>
              <a:spcBef>
                <a:spcPts val="400"/>
              </a:spcBef>
              <a:spcAft>
                <a:spcPts val="0"/>
              </a:spcAft>
              <a:buNone/>
            </a:pPr>
            <a:r>
              <a:rPr sz="1188" b="0" i="1">
                <a:solidFill>
                  <a:srgbClr val="25282A"/>
                </a:solidFill>
                <a:latin typeface="Fira Sans"/>
              </a:rPr>
              <a:t>otherwise, move to the other square.”</a:t>
            </a:r>
          </a:p>
        </p:txBody>
      </p:sp>
      <p:sp>
        <p:nvSpPr>
          <p:cNvPr id="31" name="TextBox 30"/>
          <p:cNvSpPr txBox="1"/>
          <p:nvPr/>
        </p:nvSpPr>
        <p:spPr>
          <a:xfrm>
            <a:off x="7232904" y="4279392"/>
            <a:ext cx="4117817"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Each action is determined by the current location and whether that location is dirty — nothing else. The rule set is a </a:t>
            </a:r>
            <a:r>
              <a:rPr sz="1092" b="1" i="0">
                <a:solidFill>
                  <a:srgbClr val="25282A"/>
                </a:solidFill>
                <a:latin typeface="Fira Sans"/>
              </a:rPr>
              <a:t>condition–action</a:t>
            </a:r>
            <a:r>
              <a:rPr sz="1092" b="0" i="0">
                <a:solidFill>
                  <a:srgbClr val="626669"/>
                </a:solidFill>
                <a:latin typeface="Fira Sans"/>
              </a:rPr>
              <a:t> mapping, and it is the smallest possible thing that could be called a program.</a:t>
            </a:r>
          </a:p>
        </p:txBody>
      </p:sp>
      <p:sp>
        <p:nvSpPr>
          <p:cNvPr id="32" name="Rectangle 31"/>
          <p:cNvSpPr/>
          <p:nvPr/>
        </p:nvSpPr>
        <p:spPr>
          <a:xfrm>
            <a:off x="841248" y="524865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841248" y="541324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READING THE DIAGRAM</a:t>
            </a:r>
          </a:p>
        </p:txBody>
      </p:sp>
      <p:sp>
        <p:nvSpPr>
          <p:cNvPr id="34" name="TextBox 33"/>
          <p:cNvSpPr txBox="1"/>
          <p:nvPr/>
        </p:nvSpPr>
        <p:spPr>
          <a:xfrm>
            <a:off x="1060704" y="5650992"/>
            <a:ext cx="3078480" cy="54984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dirty="0">
                <a:solidFill>
                  <a:srgbClr val="25282A"/>
                </a:solidFill>
                <a:latin typeface="Fira Sans"/>
              </a:rPr>
              <a:t>Condition–action rules</a:t>
            </a:r>
          </a:p>
          <a:p>
            <a:pPr marL="0" indent="0" algn="l">
              <a:lnSpc>
                <a:spcPts val="1176"/>
              </a:lnSpc>
              <a:spcBef>
                <a:spcPts val="400"/>
              </a:spcBef>
              <a:spcAft>
                <a:spcPts val="0"/>
              </a:spcAft>
              <a:buNone/>
            </a:pPr>
            <a:r>
              <a:rPr sz="997" b="0" i="0" dirty="0">
                <a:solidFill>
                  <a:srgbClr val="626669"/>
                </a:solidFill>
                <a:latin typeface="Fira Sans"/>
              </a:rPr>
              <a:t>The agent’s entire knowledge</a:t>
            </a:r>
          </a:p>
        </p:txBody>
      </p:sp>
      <p:sp>
        <p:nvSpPr>
          <p:cNvPr id="35" name="Rectangle 34"/>
          <p:cNvSpPr/>
          <p:nvPr/>
        </p:nvSpPr>
        <p:spPr>
          <a:xfrm>
            <a:off x="841248" y="5650992"/>
            <a:ext cx="41148" cy="51326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669536" y="5650992"/>
            <a:ext cx="3078480" cy="54984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“What the world is like now”</a:t>
            </a:r>
          </a:p>
          <a:p>
            <a:pPr marL="0" indent="0" algn="l">
              <a:lnSpc>
                <a:spcPts val="1176"/>
              </a:lnSpc>
              <a:spcBef>
                <a:spcPts val="400"/>
              </a:spcBef>
              <a:spcAft>
                <a:spcPts val="0"/>
              </a:spcAft>
              <a:buNone/>
            </a:pPr>
            <a:r>
              <a:rPr sz="997" b="0" i="0">
                <a:solidFill>
                  <a:srgbClr val="626669"/>
                </a:solidFill>
                <a:latin typeface="Fira Sans"/>
              </a:rPr>
              <a:t>An interpretation of the current percept, recomputed at every step and never kept.</a:t>
            </a:r>
          </a:p>
        </p:txBody>
      </p:sp>
      <p:sp>
        <p:nvSpPr>
          <p:cNvPr id="37" name="Rectangle 36"/>
          <p:cNvSpPr/>
          <p:nvPr/>
        </p:nvSpPr>
        <p:spPr>
          <a:xfrm>
            <a:off x="4450080" y="5650992"/>
            <a:ext cx="41148" cy="51326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278368" y="5650992"/>
            <a:ext cx="3078480" cy="54984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No loop inside the agent</a:t>
            </a:r>
          </a:p>
          <a:p>
            <a:pPr marL="0" indent="0" algn="l">
              <a:lnSpc>
                <a:spcPts val="1176"/>
              </a:lnSpc>
              <a:spcBef>
                <a:spcPts val="400"/>
              </a:spcBef>
              <a:spcAft>
                <a:spcPts val="0"/>
              </a:spcAft>
              <a:buNone/>
            </a:pPr>
            <a:r>
              <a:rPr sz="997" b="0" i="0">
                <a:solidFill>
                  <a:srgbClr val="626669"/>
                </a:solidFill>
                <a:latin typeface="Fira Sans"/>
              </a:rPr>
              <a:t>Nothing flows from one time step to the next. That absence is the definition.</a:t>
            </a:r>
          </a:p>
        </p:txBody>
      </p:sp>
      <p:sp>
        <p:nvSpPr>
          <p:cNvPr id="39" name="Rectangle 38"/>
          <p:cNvSpPr/>
          <p:nvPr/>
        </p:nvSpPr>
        <p:spPr>
          <a:xfrm>
            <a:off x="8058912" y="5650992"/>
            <a:ext cx="41148" cy="513267"/>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5.3  WHY THE REFLEX PROGRAM IS SMALL</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It is compact precisely because it does not depend on the past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36</a:t>
            </a:r>
          </a:p>
        </p:txBody>
      </p:sp>
      <p:sp>
        <p:nvSpPr>
          <p:cNvPr id="8" name="Rectangle 7"/>
          <p:cNvSpPr/>
          <p:nvPr/>
        </p:nvSpPr>
        <p:spPr>
          <a:xfrm>
            <a:off x="841248"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Model-based reflex</a:t>
            </a:r>
          </a:p>
          <a:p>
            <a:pPr marL="0" indent="0" algn="l">
              <a:lnSpc>
                <a:spcPts val="988"/>
              </a:lnSpc>
              <a:spcBef>
                <a:spcPts val="300"/>
              </a:spcBef>
              <a:spcAft>
                <a:spcPts val="0"/>
              </a:spcAft>
              <a:buNone/>
            </a:pPr>
            <a:r>
              <a:rPr sz="882" b="0" i="0">
                <a:solidFill>
                  <a:srgbClr val="8E9295"/>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Goal-based</a:t>
            </a:r>
          </a:p>
          <a:p>
            <a:pPr marL="0" indent="0" algn="l">
              <a:lnSpc>
                <a:spcPts val="988"/>
              </a:lnSpc>
              <a:spcBef>
                <a:spcPts val="300"/>
              </a:spcBef>
              <a:spcAft>
                <a:spcPts val="0"/>
              </a:spcAft>
              <a:buNone/>
            </a:pPr>
            <a:r>
              <a:rPr sz="882" b="0" i="0">
                <a:solidFill>
                  <a:srgbClr val="8E9295"/>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Rectangle 22"/>
          <p:cNvSpPr/>
          <p:nvPr/>
        </p:nvSpPr>
        <p:spPr>
          <a:xfrm>
            <a:off x="841248" y="2121408"/>
            <a:ext cx="5720486" cy="2633637"/>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41248" y="2121408"/>
            <a:ext cx="41148" cy="2633637"/>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024128" y="2203704"/>
            <a:ext cx="5354726"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COMPLETE AGENT PROGRAM</a:t>
            </a:r>
          </a:p>
        </p:txBody>
      </p:sp>
      <p:sp>
        <p:nvSpPr>
          <p:cNvPr id="26" name="TextBox 25"/>
          <p:cNvSpPr txBox="1"/>
          <p:nvPr/>
        </p:nvSpPr>
        <p:spPr>
          <a:xfrm>
            <a:off x="1024128" y="2505456"/>
            <a:ext cx="5409590" cy="2176437"/>
          </a:xfrm>
          <a:prstGeom prst="rect">
            <a:avLst/>
          </a:prstGeom>
          <a:noFill/>
        </p:spPr>
        <p:txBody>
          <a:bodyPr wrap="none" lIns="0" tIns="0" rIns="0" bIns="0" anchor="t">
            <a:noAutofit/>
          </a:bodyPr>
          <a:lstStyle/>
          <a:p>
            <a:pPr marL="0" indent="0" algn="l">
              <a:lnSpc>
                <a:spcPts val="1296"/>
              </a:lnSpc>
              <a:spcBef>
                <a:spcPts val="0"/>
              </a:spcBef>
              <a:spcAft>
                <a:spcPts val="0"/>
              </a:spcAft>
              <a:buNone/>
            </a:pPr>
            <a:r>
              <a:rPr sz="997" b="0" i="0" dirty="0">
                <a:solidFill>
                  <a:srgbClr val="1F2A37"/>
                </a:solidFill>
                <a:latin typeface="Consolas"/>
              </a:rPr>
              <a:t>def </a:t>
            </a:r>
            <a:r>
              <a:rPr sz="997" b="0" i="0" dirty="0" err="1">
                <a:solidFill>
                  <a:srgbClr val="1F2A37"/>
                </a:solidFill>
                <a:latin typeface="Consolas"/>
              </a:rPr>
              <a:t>SimpleReflexVacuumAgent</a:t>
            </a:r>
            <a:r>
              <a:rPr sz="997" b="0" i="0" dirty="0">
                <a:solidFill>
                  <a:srgbClr val="1F2A37"/>
                </a:solidFill>
                <a:latin typeface="Consolas"/>
              </a:rPr>
              <a:t>():</a:t>
            </a:r>
          </a:p>
          <a:p>
            <a:pPr marL="0" indent="0" algn="l">
              <a:lnSpc>
                <a:spcPts val="1296"/>
              </a:lnSpc>
              <a:spcBef>
                <a:spcPts val="0"/>
              </a:spcBef>
              <a:spcAft>
                <a:spcPts val="0"/>
              </a:spcAft>
              <a:buNone/>
            </a:pPr>
            <a:r>
              <a:rPr sz="997" b="0" i="0" dirty="0">
                <a:solidFill>
                  <a:srgbClr val="333639"/>
                </a:solidFill>
                <a:latin typeface="Consolas"/>
              </a:rPr>
              <a:t> </a:t>
            </a:r>
          </a:p>
          <a:p>
            <a:pPr marL="0" indent="0" algn="l">
              <a:lnSpc>
                <a:spcPts val="1296"/>
              </a:lnSpc>
              <a:spcBef>
                <a:spcPts val="0"/>
              </a:spcBef>
              <a:spcAft>
                <a:spcPts val="0"/>
              </a:spcAft>
              <a:buNone/>
            </a:pPr>
            <a:r>
              <a:rPr sz="997" b="0" i="0" dirty="0">
                <a:solidFill>
                  <a:srgbClr val="1F2A37"/>
                </a:solidFill>
                <a:latin typeface="Consolas"/>
              </a:rPr>
              <a:t>    def program(percept):</a:t>
            </a:r>
          </a:p>
          <a:p>
            <a:pPr marL="0" indent="0" algn="l">
              <a:lnSpc>
                <a:spcPts val="1296"/>
              </a:lnSpc>
              <a:spcBef>
                <a:spcPts val="0"/>
              </a:spcBef>
              <a:spcAft>
                <a:spcPts val="0"/>
              </a:spcAft>
              <a:buNone/>
            </a:pPr>
            <a:r>
              <a:rPr sz="997" b="0" i="0" dirty="0">
                <a:solidFill>
                  <a:srgbClr val="1F2A37"/>
                </a:solidFill>
                <a:latin typeface="Consolas"/>
              </a:rPr>
              <a:t>        location, status = percept</a:t>
            </a:r>
          </a:p>
          <a:p>
            <a:pPr marL="0" indent="0" algn="l">
              <a:lnSpc>
                <a:spcPts val="1296"/>
              </a:lnSpc>
              <a:spcBef>
                <a:spcPts val="0"/>
              </a:spcBef>
              <a:spcAft>
                <a:spcPts val="0"/>
              </a:spcAft>
              <a:buNone/>
            </a:pPr>
            <a:r>
              <a:rPr sz="997" b="0" i="0" dirty="0">
                <a:solidFill>
                  <a:srgbClr val="333639"/>
                </a:solidFill>
                <a:latin typeface="Consolas"/>
              </a:rPr>
              <a:t> </a:t>
            </a:r>
          </a:p>
          <a:p>
            <a:pPr marL="0" indent="0" algn="l">
              <a:lnSpc>
                <a:spcPts val="1296"/>
              </a:lnSpc>
              <a:spcBef>
                <a:spcPts val="0"/>
              </a:spcBef>
              <a:spcAft>
                <a:spcPts val="0"/>
              </a:spcAft>
              <a:buNone/>
            </a:pPr>
            <a:r>
              <a:rPr sz="997" b="1" i="0" dirty="0">
                <a:solidFill>
                  <a:srgbClr val="574676"/>
                </a:solidFill>
                <a:latin typeface="Consolas"/>
              </a:rPr>
              <a:t>        if status == 'dirty':</a:t>
            </a:r>
          </a:p>
          <a:p>
            <a:pPr marL="0" indent="0" algn="l">
              <a:lnSpc>
                <a:spcPts val="1296"/>
              </a:lnSpc>
              <a:spcBef>
                <a:spcPts val="0"/>
              </a:spcBef>
              <a:spcAft>
                <a:spcPts val="0"/>
              </a:spcAft>
              <a:buNone/>
            </a:pPr>
            <a:r>
              <a:rPr sz="997" b="1" i="0" dirty="0">
                <a:solidFill>
                  <a:srgbClr val="574676"/>
                </a:solidFill>
                <a:latin typeface="Consolas"/>
              </a:rPr>
              <a:t>            return 'suck'</a:t>
            </a:r>
          </a:p>
          <a:p>
            <a:pPr marL="0" indent="0" algn="l">
              <a:lnSpc>
                <a:spcPts val="1296"/>
              </a:lnSpc>
              <a:spcBef>
                <a:spcPts val="0"/>
              </a:spcBef>
              <a:spcAft>
                <a:spcPts val="0"/>
              </a:spcAft>
              <a:buNone/>
            </a:pPr>
            <a:r>
              <a:rPr sz="997" b="0" i="0" dirty="0">
                <a:solidFill>
                  <a:srgbClr val="1F2A37"/>
                </a:solidFill>
                <a:latin typeface="Consolas"/>
              </a:rPr>
              <a:t>        </a:t>
            </a:r>
            <a:r>
              <a:rPr sz="997" b="0" i="0" dirty="0" err="1">
                <a:solidFill>
                  <a:srgbClr val="1F2A37"/>
                </a:solidFill>
                <a:latin typeface="Consolas"/>
              </a:rPr>
              <a:t>elif</a:t>
            </a:r>
            <a:r>
              <a:rPr sz="997" b="0" i="0" dirty="0">
                <a:solidFill>
                  <a:srgbClr val="1F2A37"/>
                </a:solidFill>
                <a:latin typeface="Consolas"/>
              </a:rPr>
              <a:t> location == 'A':</a:t>
            </a:r>
          </a:p>
          <a:p>
            <a:pPr marL="0" indent="0" algn="l">
              <a:lnSpc>
                <a:spcPts val="1296"/>
              </a:lnSpc>
              <a:spcBef>
                <a:spcPts val="0"/>
              </a:spcBef>
              <a:spcAft>
                <a:spcPts val="0"/>
              </a:spcAft>
              <a:buNone/>
            </a:pPr>
            <a:r>
              <a:rPr sz="997" b="0" i="0" dirty="0">
                <a:solidFill>
                  <a:srgbClr val="1F2A37"/>
                </a:solidFill>
                <a:latin typeface="Consolas"/>
              </a:rPr>
              <a:t>            return 'right'</a:t>
            </a:r>
          </a:p>
          <a:p>
            <a:pPr marL="0" indent="0" algn="l">
              <a:lnSpc>
                <a:spcPts val="1296"/>
              </a:lnSpc>
              <a:spcBef>
                <a:spcPts val="0"/>
              </a:spcBef>
              <a:spcAft>
                <a:spcPts val="0"/>
              </a:spcAft>
              <a:buNone/>
            </a:pPr>
            <a:r>
              <a:rPr sz="997" b="0" i="0" dirty="0">
                <a:solidFill>
                  <a:srgbClr val="1F2A37"/>
                </a:solidFill>
                <a:latin typeface="Consolas"/>
              </a:rPr>
              <a:t>        </a:t>
            </a:r>
            <a:r>
              <a:rPr sz="997" b="0" i="0" dirty="0" err="1">
                <a:solidFill>
                  <a:srgbClr val="1F2A37"/>
                </a:solidFill>
                <a:latin typeface="Consolas"/>
              </a:rPr>
              <a:t>elif</a:t>
            </a:r>
            <a:r>
              <a:rPr sz="997" b="0" i="0" dirty="0">
                <a:solidFill>
                  <a:srgbClr val="1F2A37"/>
                </a:solidFill>
                <a:latin typeface="Consolas"/>
              </a:rPr>
              <a:t> location == 'B':</a:t>
            </a:r>
          </a:p>
          <a:p>
            <a:pPr marL="0" indent="0" algn="l">
              <a:lnSpc>
                <a:spcPts val="1296"/>
              </a:lnSpc>
              <a:spcBef>
                <a:spcPts val="0"/>
              </a:spcBef>
              <a:spcAft>
                <a:spcPts val="0"/>
              </a:spcAft>
              <a:buNone/>
            </a:pPr>
            <a:r>
              <a:rPr sz="997" b="0" i="0" dirty="0">
                <a:solidFill>
                  <a:srgbClr val="1F2A37"/>
                </a:solidFill>
                <a:latin typeface="Consolas"/>
              </a:rPr>
              <a:t>            return 'left'</a:t>
            </a:r>
          </a:p>
          <a:p>
            <a:pPr marL="0" indent="0" algn="l">
              <a:lnSpc>
                <a:spcPts val="1296"/>
              </a:lnSpc>
              <a:spcBef>
                <a:spcPts val="0"/>
              </a:spcBef>
              <a:spcAft>
                <a:spcPts val="0"/>
              </a:spcAft>
              <a:buNone/>
            </a:pPr>
            <a:r>
              <a:rPr sz="997" b="0" i="0" dirty="0">
                <a:solidFill>
                  <a:srgbClr val="333639"/>
                </a:solidFill>
                <a:latin typeface="Consolas"/>
              </a:rPr>
              <a:t> </a:t>
            </a:r>
          </a:p>
          <a:p>
            <a:pPr marL="0" indent="0" algn="l">
              <a:lnSpc>
                <a:spcPts val="1296"/>
              </a:lnSpc>
              <a:spcBef>
                <a:spcPts val="0"/>
              </a:spcBef>
              <a:spcAft>
                <a:spcPts val="0"/>
              </a:spcAft>
              <a:buNone/>
            </a:pPr>
            <a:r>
              <a:rPr sz="997" b="0" i="0" dirty="0">
                <a:solidFill>
                  <a:srgbClr val="1F2A37"/>
                </a:solidFill>
                <a:latin typeface="Consolas"/>
              </a:rPr>
              <a:t>    return program</a:t>
            </a:r>
          </a:p>
        </p:txBody>
      </p:sp>
      <p:sp>
        <p:nvSpPr>
          <p:cNvPr id="27" name="Rectangle 26"/>
          <p:cNvSpPr/>
          <p:nvPr/>
        </p:nvSpPr>
        <p:spPr>
          <a:xfrm>
            <a:off x="841248" y="4937925"/>
            <a:ext cx="5720486" cy="1152194"/>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841248" y="4937925"/>
            <a:ext cx="41148" cy="1152194"/>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24128" y="5020221"/>
            <a:ext cx="5354726"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A THREE-STEP RUN</a:t>
            </a:r>
          </a:p>
        </p:txBody>
      </p:sp>
      <p:sp>
        <p:nvSpPr>
          <p:cNvPr id="30" name="TextBox 29"/>
          <p:cNvSpPr txBox="1"/>
          <p:nvPr/>
        </p:nvSpPr>
        <p:spPr>
          <a:xfrm>
            <a:off x="1024128" y="5321973"/>
            <a:ext cx="5409590" cy="694994"/>
          </a:xfrm>
          <a:prstGeom prst="rect">
            <a:avLst/>
          </a:prstGeom>
          <a:noFill/>
        </p:spPr>
        <p:txBody>
          <a:bodyPr wrap="none" lIns="0" tIns="0" rIns="0" bIns="0" anchor="t">
            <a:noAutofit/>
          </a:bodyPr>
          <a:lstStyle/>
          <a:p>
            <a:pPr marL="0" indent="0" algn="l">
              <a:lnSpc>
                <a:spcPts val="1296"/>
              </a:lnSpc>
              <a:spcBef>
                <a:spcPts val="0"/>
              </a:spcBef>
              <a:spcAft>
                <a:spcPts val="0"/>
              </a:spcAft>
              <a:buNone/>
            </a:pPr>
            <a:r>
              <a:rPr sz="997" b="0" i="0" dirty="0">
                <a:solidFill>
                  <a:srgbClr val="1F2A37"/>
                </a:solidFill>
                <a:latin typeface="Consolas"/>
              </a:rPr>
              <a:t>agent = </a:t>
            </a:r>
            <a:r>
              <a:rPr sz="997" b="0" i="0" dirty="0" err="1">
                <a:solidFill>
                  <a:srgbClr val="1F2A37"/>
                </a:solidFill>
                <a:latin typeface="Consolas"/>
              </a:rPr>
              <a:t>SimpleReflexVacuumAgent</a:t>
            </a:r>
            <a:r>
              <a:rPr sz="997" b="0" i="0" dirty="0">
                <a:solidFill>
                  <a:srgbClr val="1F2A37"/>
                </a:solidFill>
                <a:latin typeface="Consolas"/>
              </a:rPr>
              <a:t>()</a:t>
            </a:r>
          </a:p>
          <a:p>
            <a:pPr marL="0" indent="0" algn="l">
              <a:lnSpc>
                <a:spcPts val="1296"/>
              </a:lnSpc>
              <a:spcBef>
                <a:spcPts val="0"/>
              </a:spcBef>
              <a:spcAft>
                <a:spcPts val="0"/>
              </a:spcAft>
              <a:buNone/>
            </a:pPr>
            <a:r>
              <a:rPr sz="997" b="0" i="0" dirty="0">
                <a:solidFill>
                  <a:srgbClr val="1F2A37"/>
                </a:solidFill>
                <a:latin typeface="Consolas"/>
              </a:rPr>
              <a:t>print(agent(('A', 'clean')))   </a:t>
            </a:r>
            <a:r>
              <a:rPr sz="997" b="0" i="1" dirty="0">
                <a:solidFill>
                  <a:srgbClr val="768896"/>
                </a:solidFill>
                <a:latin typeface="Consolas"/>
              </a:rPr>
              <a:t># right</a:t>
            </a:r>
          </a:p>
          <a:p>
            <a:pPr marL="0" indent="0" algn="l">
              <a:lnSpc>
                <a:spcPts val="1296"/>
              </a:lnSpc>
              <a:spcBef>
                <a:spcPts val="0"/>
              </a:spcBef>
              <a:spcAft>
                <a:spcPts val="0"/>
              </a:spcAft>
              <a:buNone/>
            </a:pPr>
            <a:r>
              <a:rPr sz="997" b="0" i="0" dirty="0">
                <a:solidFill>
                  <a:srgbClr val="1F2A37"/>
                </a:solidFill>
                <a:latin typeface="Consolas"/>
              </a:rPr>
              <a:t>print(agent(('A', 'dirty')))   </a:t>
            </a:r>
            <a:r>
              <a:rPr sz="997" b="0" i="1" dirty="0">
                <a:solidFill>
                  <a:srgbClr val="768896"/>
                </a:solidFill>
                <a:latin typeface="Consolas"/>
              </a:rPr>
              <a:t># suck</a:t>
            </a:r>
          </a:p>
          <a:p>
            <a:pPr marL="0" indent="0" algn="l">
              <a:lnSpc>
                <a:spcPts val="1296"/>
              </a:lnSpc>
              <a:spcBef>
                <a:spcPts val="0"/>
              </a:spcBef>
              <a:spcAft>
                <a:spcPts val="0"/>
              </a:spcAft>
              <a:buNone/>
            </a:pPr>
            <a:r>
              <a:rPr sz="997" b="0" i="0" dirty="0">
                <a:solidFill>
                  <a:srgbClr val="1F2A37"/>
                </a:solidFill>
                <a:latin typeface="Consolas"/>
              </a:rPr>
              <a:t>print(agent(('B', 'clean')))   </a:t>
            </a:r>
            <a:r>
              <a:rPr sz="997" b="0" i="1" dirty="0">
                <a:solidFill>
                  <a:srgbClr val="768896"/>
                </a:solidFill>
                <a:latin typeface="Consolas"/>
              </a:rPr>
              <a:t># left   &lt;- not None</a:t>
            </a:r>
          </a:p>
        </p:txBody>
      </p:sp>
      <p:sp>
        <p:nvSpPr>
          <p:cNvPr id="31" name="TextBox 30"/>
          <p:cNvSpPr txBox="1"/>
          <p:nvPr/>
        </p:nvSpPr>
        <p:spPr>
          <a:xfrm>
            <a:off x="6973214" y="2121408"/>
            <a:ext cx="4377507" cy="794890"/>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dirty="0">
                <a:solidFill>
                  <a:srgbClr val="574676"/>
                </a:solidFill>
                <a:latin typeface="Fira Sans"/>
              </a:rPr>
              <a:t>COMPARE</a:t>
            </a:r>
          </a:p>
          <a:p>
            <a:pPr marL="0" indent="0" algn="l">
              <a:lnSpc>
                <a:spcPts val="1391"/>
              </a:lnSpc>
              <a:spcBef>
                <a:spcPts val="0"/>
              </a:spcBef>
              <a:spcAft>
                <a:spcPts val="0"/>
              </a:spcAft>
              <a:buNone/>
            </a:pPr>
            <a:r>
              <a:rPr sz="1140" b="0" i="0" dirty="0">
                <a:solidFill>
                  <a:srgbClr val="333639"/>
                </a:solidFill>
                <a:latin typeface="Fira Sans"/>
              </a:rPr>
              <a:t>The table-driven agent returned </a:t>
            </a:r>
            <a:r>
              <a:rPr sz="1045" b="0" i="0" dirty="0">
                <a:solidFill>
                  <a:srgbClr val="C8102E"/>
                </a:solidFill>
                <a:latin typeface="Consolas"/>
              </a:rPr>
              <a:t>None</a:t>
            </a:r>
            <a:r>
              <a:rPr sz="1140" b="0" i="0" dirty="0">
                <a:solidFill>
                  <a:srgbClr val="333639"/>
                </a:solidFill>
                <a:latin typeface="Fira Sans"/>
              </a:rPr>
              <a:t> on the third step, because that particular three-step history had not been enumerated. This program answers every percept, for every history, in four lines.</a:t>
            </a:r>
          </a:p>
        </p:txBody>
      </p:sp>
      <p:sp>
        <p:nvSpPr>
          <p:cNvPr id="32" name="TextBox 31"/>
          <p:cNvSpPr txBox="1"/>
          <p:nvPr/>
        </p:nvSpPr>
        <p:spPr>
          <a:xfrm>
            <a:off x="6973214" y="3154042"/>
            <a:ext cx="4377507"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WHERE THE COMPRESSION COMES FROM</a:t>
            </a:r>
          </a:p>
        </p:txBody>
      </p:sp>
      <p:sp>
        <p:nvSpPr>
          <p:cNvPr id="33" name="TextBox 32"/>
          <p:cNvSpPr txBox="1"/>
          <p:nvPr/>
        </p:nvSpPr>
        <p:spPr>
          <a:xfrm>
            <a:off x="6973214" y="3410074"/>
            <a:ext cx="4377507" cy="1170858"/>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dirty="0">
                <a:solidFill>
                  <a:srgbClr val="25282A"/>
                </a:solidFill>
                <a:latin typeface="Fira Sans"/>
              </a:rPr>
              <a:t>It does not depend on the percept history</a:t>
            </a:r>
            <a:r>
              <a:rPr sz="1092" b="0" i="0" dirty="0">
                <a:solidFill>
                  <a:srgbClr val="333639"/>
                </a:solidFill>
                <a:latin typeface="Fira Sans"/>
              </a:rPr>
              <a:t>, so the P^T rows collapse to one entry per distinct percept: from P^T to P.</a:t>
            </a:r>
          </a:p>
          <a:p>
            <a:pPr marL="173736" indent="-173736" algn="l">
              <a:lnSpc>
                <a:spcPts val="1289"/>
              </a:lnSpc>
              <a:spcBef>
                <a:spcPts val="600"/>
              </a:spcBef>
              <a:spcAft>
                <a:spcPts val="0"/>
              </a:spcAft>
              <a:buClr>
                <a:srgbClr val="1971C2"/>
              </a:buClr>
              <a:buFont typeface="Fira Sans"/>
              <a:buChar char="–"/>
            </a:pPr>
            <a:r>
              <a:rPr sz="1092" b="1" i="0" dirty="0">
                <a:solidFill>
                  <a:srgbClr val="25282A"/>
                </a:solidFill>
                <a:latin typeface="Fira Sans"/>
              </a:rPr>
              <a:t>Some actions ignore part of the percept too</a:t>
            </a:r>
            <a:r>
              <a:rPr sz="1092" b="0" i="0" dirty="0">
                <a:solidFill>
                  <a:srgbClr val="333639"/>
                </a:solidFill>
                <a:latin typeface="Fira Sans"/>
              </a:rPr>
              <a:t>: sucking a dirty square is correct in A and in B, so the two cases share a rule.</a:t>
            </a:r>
          </a:p>
          <a:p>
            <a:pPr marL="173736" indent="-173736" algn="l">
              <a:lnSpc>
                <a:spcPts val="1289"/>
              </a:lnSpc>
              <a:spcBef>
                <a:spcPts val="600"/>
              </a:spcBef>
              <a:spcAft>
                <a:spcPts val="0"/>
              </a:spcAft>
              <a:buClr>
                <a:srgbClr val="1971C2"/>
              </a:buClr>
              <a:buFont typeface="Fira Sans"/>
              <a:buChar char="–"/>
            </a:pPr>
            <a:r>
              <a:rPr sz="1092" b="1" i="0" dirty="0">
                <a:solidFill>
                  <a:srgbClr val="C8102E"/>
                </a:solidFill>
                <a:latin typeface="Fira Sans"/>
              </a:rPr>
              <a:t>The saving is not free</a:t>
            </a:r>
            <a:r>
              <a:rPr sz="1092" b="0" i="0" dirty="0">
                <a:solidFill>
                  <a:srgbClr val="333639"/>
                </a:solidFill>
                <a:latin typeface="Fira Sans"/>
              </a:rPr>
              <a:t>: everything the history could have told the agent has been discarded, deliberately.</a:t>
            </a:r>
          </a:p>
        </p:txBody>
      </p:sp>
      <p:sp>
        <p:nvSpPr>
          <p:cNvPr id="34" name="Rectangle 33"/>
          <p:cNvSpPr/>
          <p:nvPr/>
        </p:nvSpPr>
        <p:spPr>
          <a:xfrm>
            <a:off x="6973214" y="4818677"/>
            <a:ext cx="4377507" cy="102961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6973214" y="4818677"/>
            <a:ext cx="41148" cy="102961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192670" y="4964981"/>
            <a:ext cx="4084899"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GENERAL LESSON</a:t>
            </a:r>
          </a:p>
        </p:txBody>
      </p:sp>
      <p:sp>
        <p:nvSpPr>
          <p:cNvPr id="37" name="TextBox 36"/>
          <p:cNvSpPr txBox="1"/>
          <p:nvPr/>
        </p:nvSpPr>
        <p:spPr>
          <a:xfrm>
            <a:off x="7192670" y="5202725"/>
            <a:ext cx="3993459"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Compression is obtained by choosing a representation in which most distinctions do not matter</a:t>
            </a:r>
            <a:r>
              <a:rPr lang="it-IT" sz="1092" dirty="0">
                <a:solidFill>
                  <a:srgbClr val="333639"/>
                </a:solidFill>
                <a:latin typeface="Fira Sans"/>
              </a:rPr>
              <a:t>, </a:t>
            </a:r>
            <a:r>
              <a:rPr sz="1092" b="0" i="0" dirty="0">
                <a:solidFill>
                  <a:srgbClr val="333639"/>
                </a:solidFill>
                <a:latin typeface="Fira Sans"/>
              </a:rPr>
              <a:t>not by storing the table more cleverly.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5.4  REFLEX BEHAVIOUR IS NOT CONFINED TO TOY WORLDS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Layers of simple behaviours can produce complex activity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37</a:t>
            </a:r>
          </a:p>
        </p:txBody>
      </p:sp>
      <p:sp>
        <p:nvSpPr>
          <p:cNvPr id="8" name="Rectangle 7"/>
          <p:cNvSpPr/>
          <p:nvPr/>
        </p:nvSpPr>
        <p:spPr>
          <a:xfrm>
            <a:off x="841248"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Model-based reflex</a:t>
            </a:r>
          </a:p>
          <a:p>
            <a:pPr marL="0" indent="0" algn="l">
              <a:lnSpc>
                <a:spcPts val="988"/>
              </a:lnSpc>
              <a:spcBef>
                <a:spcPts val="300"/>
              </a:spcBef>
              <a:spcAft>
                <a:spcPts val="0"/>
              </a:spcAft>
              <a:buNone/>
            </a:pPr>
            <a:r>
              <a:rPr sz="882" b="0" i="0">
                <a:solidFill>
                  <a:srgbClr val="8E9295"/>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Goal-based</a:t>
            </a:r>
          </a:p>
          <a:p>
            <a:pPr marL="0" indent="0" algn="l">
              <a:lnSpc>
                <a:spcPts val="988"/>
              </a:lnSpc>
              <a:spcBef>
                <a:spcPts val="300"/>
              </a:spcBef>
              <a:spcAft>
                <a:spcPts val="0"/>
              </a:spcAft>
              <a:buNone/>
            </a:pPr>
            <a:r>
              <a:rPr sz="882" b="0" i="0">
                <a:solidFill>
                  <a:srgbClr val="8E9295"/>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03120"/>
            <a:ext cx="1051560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lang="en-GB" sz="1188" b="0" i="0" noProof="0" dirty="0">
                <a:solidFill>
                  <a:srgbClr val="333639"/>
                </a:solidFill>
                <a:latin typeface="Fira Sans"/>
              </a:rPr>
              <a:t>Reflex responses appear at every scale: an autonomous vehicle braking on detecting the brake lights ahead, or a human blinking as an object approaches the eye. It can be argued something stronger, that complex robotic behaviour can emerge from layers of simple behaviours, with no explicit internal representation of the world at all</a:t>
            </a:r>
            <a:r>
              <a:rPr sz="1188" b="0" i="0" dirty="0">
                <a:solidFill>
                  <a:srgbClr val="333639"/>
                </a:solidFill>
                <a:latin typeface="Fira Sans"/>
              </a:rPr>
              <a:t>.</a:t>
            </a:r>
          </a:p>
        </p:txBody>
      </p:sp>
      <p:pic>
        <p:nvPicPr>
          <p:cNvPr id="24" name="Picture 23" descr="brooks_genghis.png"/>
          <p:cNvPicPr>
            <a:picLocks noChangeAspect="1"/>
          </p:cNvPicPr>
          <p:nvPr/>
        </p:nvPicPr>
        <p:blipFill>
          <a:blip r:embed="rId2"/>
          <a:stretch>
            <a:fillRect/>
          </a:stretch>
        </p:blipFill>
        <p:spPr>
          <a:xfrm>
            <a:off x="2981839" y="2838206"/>
            <a:ext cx="6234416" cy="1719072"/>
          </a:xfrm>
          <a:prstGeom prst="rect">
            <a:avLst/>
          </a:prstGeom>
        </p:spPr>
      </p:pic>
      <p:sp>
        <p:nvSpPr>
          <p:cNvPr id="25" name="Rectangle 24"/>
          <p:cNvSpPr/>
          <p:nvPr/>
        </p:nvSpPr>
        <p:spPr>
          <a:xfrm>
            <a:off x="841248" y="481331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41248" y="5032766"/>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41248" y="5179070"/>
            <a:ext cx="3297936" cy="1087594"/>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574676"/>
                </a:solidFill>
                <a:latin typeface="Fira Sans"/>
              </a:rPr>
              <a:t>BROOKS, 1991</a:t>
            </a:r>
          </a:p>
          <a:p>
            <a:pPr marL="0" indent="0" algn="l">
              <a:lnSpc>
                <a:spcPts val="1277"/>
              </a:lnSpc>
              <a:spcBef>
                <a:spcPts val="500"/>
              </a:spcBef>
              <a:spcAft>
                <a:spcPts val="0"/>
              </a:spcAft>
              <a:buNone/>
            </a:pPr>
            <a:r>
              <a:rPr sz="1140" b="1" i="0" dirty="0">
                <a:solidFill>
                  <a:srgbClr val="25282A"/>
                </a:solidFill>
                <a:latin typeface="Fira Sans"/>
              </a:rPr>
              <a:t>Intelligence without representation</a:t>
            </a:r>
          </a:p>
          <a:p>
            <a:pPr marL="0" indent="0" algn="l">
              <a:lnSpc>
                <a:spcPts val="1254"/>
              </a:lnSpc>
              <a:spcBef>
                <a:spcPts val="500"/>
              </a:spcBef>
              <a:spcAft>
                <a:spcPts val="0"/>
              </a:spcAft>
              <a:buNone/>
            </a:pPr>
            <a:r>
              <a:rPr sz="1045" b="0" i="0" dirty="0">
                <a:solidFill>
                  <a:srgbClr val="626669"/>
                </a:solidFill>
                <a:latin typeface="Fira Sans"/>
              </a:rPr>
              <a:t>Genghis runs independent condition–action </a:t>
            </a:r>
            <a:r>
              <a:rPr sz="1045" b="0" i="0" dirty="0" err="1">
                <a:solidFill>
                  <a:srgbClr val="626669"/>
                </a:solidFill>
                <a:latin typeface="Fira Sans"/>
              </a:rPr>
              <a:t>behaviours</a:t>
            </a:r>
            <a:r>
              <a:rPr sz="1045" b="0" i="0" dirty="0">
                <a:solidFill>
                  <a:srgbClr val="626669"/>
                </a:solidFill>
                <a:latin typeface="Fira Sans"/>
              </a:rPr>
              <a:t> in parallel</a:t>
            </a:r>
            <a:r>
              <a:rPr lang="it-IT" sz="1045" b="0" i="0" dirty="0">
                <a:solidFill>
                  <a:srgbClr val="626669"/>
                </a:solidFill>
                <a:latin typeface="Fira Sans"/>
              </a:rPr>
              <a:t>: </a:t>
            </a:r>
            <a:r>
              <a:rPr sz="1045" b="0" i="0" dirty="0">
                <a:solidFill>
                  <a:srgbClr val="626669"/>
                </a:solidFill>
                <a:latin typeface="Fira Sans"/>
              </a:rPr>
              <a:t>avoid obstacles, seek light, avoid cliffs, wander. Coherent exploration is the result of their interaction.</a:t>
            </a:r>
          </a:p>
        </p:txBody>
      </p:sp>
      <p:sp>
        <p:nvSpPr>
          <p:cNvPr id="28" name="Rectangle 27"/>
          <p:cNvSpPr/>
          <p:nvPr/>
        </p:nvSpPr>
        <p:spPr>
          <a:xfrm>
            <a:off x="4450080" y="5032766"/>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450080" y="5179070"/>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2B7A3E"/>
                </a:solidFill>
                <a:latin typeface="Fira Sans"/>
              </a:rPr>
              <a:t>ROOMBA, FIRST GENERATION</a:t>
            </a:r>
          </a:p>
          <a:p>
            <a:pPr marL="0" indent="0" algn="l">
              <a:lnSpc>
                <a:spcPts val="1277"/>
              </a:lnSpc>
              <a:spcBef>
                <a:spcPts val="500"/>
              </a:spcBef>
              <a:spcAft>
                <a:spcPts val="0"/>
              </a:spcAft>
              <a:buNone/>
            </a:pPr>
            <a:r>
              <a:rPr sz="1140" b="1" i="0" dirty="0">
                <a:solidFill>
                  <a:srgbClr val="25282A"/>
                </a:solidFill>
                <a:latin typeface="Fira Sans"/>
              </a:rPr>
              <a:t>Largely reactive navigation</a:t>
            </a:r>
          </a:p>
          <a:p>
            <a:pPr marL="0" indent="0" algn="l">
              <a:lnSpc>
                <a:spcPts val="1254"/>
              </a:lnSpc>
              <a:spcBef>
                <a:spcPts val="500"/>
              </a:spcBef>
              <a:spcAft>
                <a:spcPts val="0"/>
              </a:spcAft>
              <a:buNone/>
            </a:pPr>
            <a:r>
              <a:rPr sz="1045" b="0" i="0" dirty="0">
                <a:solidFill>
                  <a:srgbClr val="626669"/>
                </a:solidFill>
                <a:latin typeface="Fira Sans"/>
              </a:rPr>
              <a:t>Direction changes triggered by bumpers and edge sensors. No map, no memory and, for a small room, good enough.</a:t>
            </a:r>
          </a:p>
        </p:txBody>
      </p:sp>
      <p:sp>
        <p:nvSpPr>
          <p:cNvPr id="30" name="Rectangle 29"/>
          <p:cNvSpPr/>
          <p:nvPr/>
        </p:nvSpPr>
        <p:spPr>
          <a:xfrm>
            <a:off x="8058912" y="5032766"/>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058912" y="5179070"/>
            <a:ext cx="3297936" cy="928336"/>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8A5100"/>
                </a:solidFill>
                <a:latin typeface="Fira Sans"/>
              </a:rPr>
              <a:t>IFTTT</a:t>
            </a:r>
          </a:p>
          <a:p>
            <a:pPr marL="0" indent="0" algn="l">
              <a:lnSpc>
                <a:spcPts val="1277"/>
              </a:lnSpc>
              <a:spcBef>
                <a:spcPts val="500"/>
              </a:spcBef>
              <a:spcAft>
                <a:spcPts val="0"/>
              </a:spcAft>
              <a:buNone/>
            </a:pPr>
            <a:r>
              <a:rPr sz="1140" b="1" i="0" dirty="0">
                <a:solidFill>
                  <a:srgbClr val="25282A"/>
                </a:solidFill>
                <a:latin typeface="Fira Sans"/>
              </a:rPr>
              <a:t>Condition–action rules as a product</a:t>
            </a:r>
          </a:p>
          <a:p>
            <a:pPr marL="0" indent="0" algn="l">
              <a:lnSpc>
                <a:spcPts val="1254"/>
              </a:lnSpc>
              <a:spcBef>
                <a:spcPts val="500"/>
              </a:spcBef>
              <a:spcAft>
                <a:spcPts val="0"/>
              </a:spcAft>
              <a:buNone/>
            </a:pPr>
            <a:r>
              <a:rPr sz="1045" b="0" i="0" dirty="0">
                <a:solidFill>
                  <a:srgbClr val="626669"/>
                </a:solidFill>
                <a:latin typeface="Fira Sans"/>
              </a:rPr>
              <a:t>“If rain is forecast, send a reminder to carry an umbrella.” The same architecture, with the internet as environment.</a:t>
            </a:r>
          </a:p>
        </p:txBody>
      </p:sp>
      <p:sp>
        <p:nvSpPr>
          <p:cNvPr id="32" name="CasellaDiTesto 31">
            <a:extLst>
              <a:ext uri="{FF2B5EF4-FFF2-40B4-BE49-F238E27FC236}">
                <a16:creationId xmlns:a16="http://schemas.microsoft.com/office/drawing/2014/main" id="{B95C3B0A-9DAE-F7BA-32F0-83FE5AF48B27}"/>
              </a:ext>
            </a:extLst>
          </p:cNvPr>
          <p:cNvSpPr txBox="1"/>
          <p:nvPr/>
        </p:nvSpPr>
        <p:spPr>
          <a:xfrm>
            <a:off x="-144379" y="7154779"/>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5.5  WHERE REFLEX AGENTS BREAK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clean square looks the same everywhere, and the agent loops for ever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38</a:t>
            </a:r>
          </a:p>
        </p:txBody>
      </p:sp>
      <p:sp>
        <p:nvSpPr>
          <p:cNvPr id="8" name="Rectangle 7"/>
          <p:cNvSpPr/>
          <p:nvPr/>
        </p:nvSpPr>
        <p:spPr>
          <a:xfrm>
            <a:off x="841248"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Model-based reflex</a:t>
            </a:r>
          </a:p>
          <a:p>
            <a:pPr marL="0" indent="0" algn="l">
              <a:lnSpc>
                <a:spcPts val="988"/>
              </a:lnSpc>
              <a:spcBef>
                <a:spcPts val="300"/>
              </a:spcBef>
              <a:spcAft>
                <a:spcPts val="0"/>
              </a:spcAft>
              <a:buNone/>
            </a:pPr>
            <a:r>
              <a:rPr sz="882" b="0" i="0">
                <a:solidFill>
                  <a:srgbClr val="8E9295"/>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Goal-based</a:t>
            </a:r>
          </a:p>
          <a:p>
            <a:pPr marL="0" indent="0" algn="l">
              <a:lnSpc>
                <a:spcPts val="988"/>
              </a:lnSpc>
              <a:spcBef>
                <a:spcPts val="300"/>
              </a:spcBef>
              <a:spcAft>
                <a:spcPts val="0"/>
              </a:spcAft>
              <a:buNone/>
            </a:pPr>
            <a:r>
              <a:rPr sz="882" b="0" i="0">
                <a:solidFill>
                  <a:srgbClr val="8E9295"/>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21408"/>
            <a:ext cx="6326733"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Reflex agents work only when the correct action can be determined from the current percept alone. In a partially observable environment that condition fails, and the failure is not graceful.</a:t>
            </a:r>
          </a:p>
        </p:txBody>
      </p:sp>
      <p:sp>
        <p:nvSpPr>
          <p:cNvPr id="24" name="Rectangle 23"/>
          <p:cNvSpPr/>
          <p:nvPr/>
        </p:nvSpPr>
        <p:spPr>
          <a:xfrm>
            <a:off x="841248" y="2929646"/>
            <a:ext cx="41148" cy="3657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078992" y="2929646"/>
            <a:ext cx="6088989" cy="616498"/>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The braking example</a:t>
            </a:r>
          </a:p>
          <a:p>
            <a:pPr marL="0" indent="0" algn="l">
              <a:lnSpc>
                <a:spcPts val="1332"/>
              </a:lnSpc>
              <a:spcBef>
                <a:spcPts val="500"/>
              </a:spcBef>
              <a:spcAft>
                <a:spcPts val="0"/>
              </a:spcAft>
              <a:buNone/>
            </a:pPr>
            <a:r>
              <a:rPr sz="1092" b="0" i="0">
                <a:solidFill>
                  <a:srgbClr val="333639"/>
                </a:solidFill>
                <a:latin typeface="Fira Sans"/>
              </a:rPr>
              <a:t>A single camera frame may not distinguish brake lights that are on from tail lights that are merely bright. The percept is genuinely ambiguous, so no rule over single frames can be right.</a:t>
            </a:r>
          </a:p>
        </p:txBody>
      </p:sp>
      <p:sp>
        <p:nvSpPr>
          <p:cNvPr id="26" name="Rectangle 25"/>
          <p:cNvSpPr/>
          <p:nvPr/>
        </p:nvSpPr>
        <p:spPr>
          <a:xfrm>
            <a:off x="841248" y="2929646"/>
            <a:ext cx="41148" cy="57992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41248" y="3783888"/>
            <a:ext cx="41148"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78992" y="3783888"/>
            <a:ext cx="6088989" cy="785693"/>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The vacuum example</a:t>
            </a:r>
          </a:p>
          <a:p>
            <a:pPr marL="0" indent="0" algn="l">
              <a:lnSpc>
                <a:spcPts val="1332"/>
              </a:lnSpc>
              <a:spcBef>
                <a:spcPts val="500"/>
              </a:spcBef>
              <a:spcAft>
                <a:spcPts val="0"/>
              </a:spcAft>
              <a:buNone/>
            </a:pPr>
            <a:r>
              <a:rPr sz="1092" b="0" i="0" dirty="0">
                <a:solidFill>
                  <a:srgbClr val="333639"/>
                </a:solidFill>
                <a:latin typeface="Fira Sans"/>
              </a:rPr>
              <a:t>Give the agent a dirt sensor but no location sensor. On a clean square it cannot tell whether it is in A or in B, so a deterministic rule sends it the same way every time and it moves back and forth for ever, or walks into a wall repeatedly.</a:t>
            </a:r>
          </a:p>
        </p:txBody>
      </p:sp>
      <p:sp>
        <p:nvSpPr>
          <p:cNvPr id="29" name="Rectangle 28"/>
          <p:cNvSpPr/>
          <p:nvPr/>
        </p:nvSpPr>
        <p:spPr>
          <a:xfrm>
            <a:off x="841248" y="3783888"/>
            <a:ext cx="41148" cy="749117"/>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841248" y="4807325"/>
            <a:ext cx="41148" cy="3657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078992" y="4807325"/>
            <a:ext cx="6088989" cy="785693"/>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The repair: </a:t>
            </a:r>
            <a:r>
              <a:rPr sz="1188" b="1" i="0" dirty="0" err="1">
                <a:solidFill>
                  <a:srgbClr val="25282A"/>
                </a:solidFill>
                <a:latin typeface="Fira Sans"/>
              </a:rPr>
              <a:t>randomise</a:t>
            </a:r>
            <a:endParaRPr sz="1188" b="1" i="0" dirty="0">
              <a:solidFill>
                <a:srgbClr val="25282A"/>
              </a:solidFill>
              <a:latin typeface="Fira Sans"/>
            </a:endParaRPr>
          </a:p>
          <a:p>
            <a:pPr marL="0" indent="0" algn="l">
              <a:lnSpc>
                <a:spcPts val="1332"/>
              </a:lnSpc>
              <a:spcBef>
                <a:spcPts val="500"/>
              </a:spcBef>
              <a:spcAft>
                <a:spcPts val="0"/>
              </a:spcAft>
              <a:buNone/>
            </a:pPr>
            <a:r>
              <a:rPr sz="1092" b="0" i="0" dirty="0">
                <a:solidFill>
                  <a:srgbClr val="333639"/>
                </a:solidFill>
                <a:latin typeface="Fira Sans"/>
              </a:rPr>
              <a:t>On a clean square, choose left or right at random. In the two-square world this reaches the other square with probability one. </a:t>
            </a:r>
            <a:r>
              <a:rPr sz="1092" b="1" i="0" dirty="0" err="1">
                <a:solidFill>
                  <a:srgbClr val="333639"/>
                </a:solidFill>
                <a:latin typeface="Fira Sans"/>
              </a:rPr>
              <a:t>Randomised</a:t>
            </a:r>
            <a:r>
              <a:rPr sz="1092" b="1" i="0" dirty="0">
                <a:solidFill>
                  <a:srgbClr val="333639"/>
                </a:solidFill>
                <a:latin typeface="Fira Sans"/>
              </a:rPr>
              <a:t> </a:t>
            </a:r>
            <a:r>
              <a:rPr sz="1092" b="1" i="0" dirty="0" err="1">
                <a:solidFill>
                  <a:srgbClr val="333639"/>
                </a:solidFill>
                <a:latin typeface="Fira Sans"/>
              </a:rPr>
              <a:t>behaviour</a:t>
            </a:r>
            <a:r>
              <a:rPr sz="1092" b="1" i="0" dirty="0">
                <a:solidFill>
                  <a:srgbClr val="333639"/>
                </a:solidFill>
                <a:latin typeface="Fira Sans"/>
              </a:rPr>
              <a:t> can be strictly more rational than deterministic </a:t>
            </a:r>
            <a:r>
              <a:rPr sz="1092" b="1" i="0" dirty="0" err="1">
                <a:solidFill>
                  <a:srgbClr val="333639"/>
                </a:solidFill>
                <a:latin typeface="Fira Sans"/>
              </a:rPr>
              <a:t>behaviour</a:t>
            </a:r>
            <a:r>
              <a:rPr sz="1092" b="0" i="0" dirty="0">
                <a:solidFill>
                  <a:srgbClr val="333639"/>
                </a:solidFill>
                <a:latin typeface="Fira Sans"/>
              </a:rPr>
              <a:t>.</a:t>
            </a:r>
          </a:p>
        </p:txBody>
      </p:sp>
      <p:sp>
        <p:nvSpPr>
          <p:cNvPr id="32" name="Rectangle 31"/>
          <p:cNvSpPr/>
          <p:nvPr/>
        </p:nvSpPr>
        <p:spPr>
          <a:xfrm>
            <a:off x="841248" y="4807325"/>
            <a:ext cx="41148" cy="74911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7579461" y="2121408"/>
            <a:ext cx="3771259" cy="1528876"/>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579461" y="2121408"/>
            <a:ext cx="41148" cy="15288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798917" y="2267712"/>
            <a:ext cx="347865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THE UNDERLYING DEFECT</a:t>
            </a:r>
          </a:p>
        </p:txBody>
      </p:sp>
      <p:sp>
        <p:nvSpPr>
          <p:cNvPr id="36" name="TextBox 35"/>
          <p:cNvSpPr txBox="1"/>
          <p:nvPr/>
        </p:nvSpPr>
        <p:spPr>
          <a:xfrm>
            <a:off x="7798917" y="2505456"/>
            <a:ext cx="3387211" cy="998524"/>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333639"/>
                </a:solidFill>
                <a:latin typeface="Fira Sans"/>
              </a:rPr>
              <a:t>The percept is not a state.</a:t>
            </a:r>
            <a:r>
              <a:rPr sz="1092" b="0" i="0" dirty="0">
                <a:solidFill>
                  <a:srgbClr val="333639"/>
                </a:solidFill>
                <a:latin typeface="Fira Sans"/>
              </a:rPr>
              <a:t> A reflex agent silently assumes that the current percept identifies the situation. Whenever two genuinely different situations produce the same percept, the architecture cannot represent the difference</a:t>
            </a:r>
            <a:endParaRPr lang="it-IT" sz="1092" b="0" i="0" dirty="0">
              <a:solidFill>
                <a:srgbClr val="333639"/>
              </a:solidFill>
              <a:latin typeface="Fira Sans"/>
            </a:endParaRPr>
          </a:p>
          <a:p>
            <a:pPr marL="0" indent="0" algn="l">
              <a:lnSpc>
                <a:spcPts val="1310"/>
              </a:lnSpc>
              <a:spcBef>
                <a:spcPts val="0"/>
              </a:spcBef>
              <a:spcAft>
                <a:spcPts val="0"/>
              </a:spcAft>
              <a:buNone/>
            </a:pPr>
            <a:r>
              <a:rPr sz="1092" b="0" i="0" dirty="0">
                <a:solidFill>
                  <a:srgbClr val="333639"/>
                </a:solidFill>
                <a:latin typeface="Fira Sans"/>
              </a:rPr>
              <a:t>however cleverly the rules are written.</a:t>
            </a:r>
          </a:p>
        </p:txBody>
      </p:sp>
      <p:sp>
        <p:nvSpPr>
          <p:cNvPr id="37" name="TextBox 36"/>
          <p:cNvSpPr txBox="1"/>
          <p:nvPr/>
        </p:nvSpPr>
        <p:spPr>
          <a:xfrm>
            <a:off x="7579461" y="3924604"/>
            <a:ext cx="377125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IS NEEDED INSTEAD</a:t>
            </a:r>
          </a:p>
        </p:txBody>
      </p:sp>
      <p:sp>
        <p:nvSpPr>
          <p:cNvPr id="38" name="TextBox 37"/>
          <p:cNvSpPr txBox="1"/>
          <p:nvPr/>
        </p:nvSpPr>
        <p:spPr>
          <a:xfrm>
            <a:off x="7579461" y="4180636"/>
            <a:ext cx="3771259" cy="743102"/>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Something inside the agent that distinguishes “clean square, just arrived from A” from “clean square, just arrived from B”. That something is </a:t>
            </a:r>
            <a:r>
              <a:rPr sz="1140" b="1" i="0" dirty="0">
                <a:solidFill>
                  <a:srgbClr val="574676"/>
                </a:solidFill>
                <a:latin typeface="Fira Sans"/>
              </a:rPr>
              <a:t>internal state</a:t>
            </a:r>
            <a:r>
              <a:rPr sz="1140" b="0" i="0" dirty="0">
                <a:solidFill>
                  <a:srgbClr val="333639"/>
                </a:solidFill>
                <a:latin typeface="Fira Sans"/>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5.6  MODEL-BASED REFLEX AGENT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Memory compensates for what the sensors cannot observe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39</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Goal-based</a:t>
            </a:r>
          </a:p>
          <a:p>
            <a:pPr marL="0" indent="0" algn="l">
              <a:lnSpc>
                <a:spcPts val="988"/>
              </a:lnSpc>
              <a:spcBef>
                <a:spcPts val="300"/>
              </a:spcBef>
              <a:spcAft>
                <a:spcPts val="0"/>
              </a:spcAft>
              <a:buNone/>
            </a:pPr>
            <a:r>
              <a:rPr sz="882" b="0" i="0">
                <a:solidFill>
                  <a:srgbClr val="8E9295"/>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21408"/>
            <a:ext cx="5980176"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effective way to handle partial observability is to give the agent an internal state that captures what the current percept does not show, and to keep that state up to date using the percept history.</a:t>
            </a:r>
          </a:p>
        </p:txBody>
      </p:sp>
      <p:sp>
        <p:nvSpPr>
          <p:cNvPr id="25" name="TextBox 24"/>
          <p:cNvSpPr txBox="1"/>
          <p:nvPr/>
        </p:nvSpPr>
        <p:spPr>
          <a:xfrm>
            <a:off x="841248" y="5206502"/>
            <a:ext cx="5980176"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The same diagram with one block added </a:t>
            </a:r>
            <a:r>
              <a:rPr lang="it-IT" sz="950" i="1" dirty="0">
                <a:solidFill>
                  <a:srgbClr val="626669"/>
                </a:solidFill>
                <a:latin typeface="Fira Sans"/>
              </a:rPr>
              <a:t>(</a:t>
            </a:r>
            <a:r>
              <a:rPr sz="950" b="0" i="1" dirty="0">
                <a:solidFill>
                  <a:srgbClr val="626669"/>
                </a:solidFill>
                <a:latin typeface="Fira Sans"/>
              </a:rPr>
              <a:t>the state</a:t>
            </a:r>
            <a:r>
              <a:rPr lang="it-IT" sz="950" b="0" i="1" dirty="0">
                <a:solidFill>
                  <a:srgbClr val="626669"/>
                </a:solidFill>
                <a:latin typeface="Fira Sans"/>
              </a:rPr>
              <a:t>)</a:t>
            </a:r>
            <a:r>
              <a:rPr sz="950" b="0" i="1" dirty="0">
                <a:solidFill>
                  <a:srgbClr val="626669"/>
                </a:solidFill>
                <a:latin typeface="Fira Sans"/>
              </a:rPr>
              <a:t> and the two models that maintain it. Everything else is unchanged.</a:t>
            </a:r>
          </a:p>
        </p:txBody>
      </p:sp>
      <p:sp>
        <p:nvSpPr>
          <p:cNvPr id="26" name="Rectangle 25"/>
          <p:cNvSpPr/>
          <p:nvPr/>
        </p:nvSpPr>
        <p:spPr>
          <a:xfrm>
            <a:off x="7232904" y="2157984"/>
            <a:ext cx="4117817"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232904" y="2304288"/>
            <a:ext cx="4117817" cy="805436"/>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Sensor model</a:t>
            </a:r>
          </a:p>
          <a:p>
            <a:pPr marL="0" indent="0" algn="l">
              <a:lnSpc>
                <a:spcPts val="1332"/>
              </a:lnSpc>
              <a:spcBef>
                <a:spcPts val="600"/>
              </a:spcBef>
              <a:spcAft>
                <a:spcPts val="0"/>
              </a:spcAft>
              <a:buNone/>
            </a:pPr>
            <a:r>
              <a:rPr sz="1092" b="0" i="0">
                <a:solidFill>
                  <a:srgbClr val="626669"/>
                </a:solidFill>
                <a:latin typeface="Fira Sans"/>
              </a:rPr>
              <a:t>How the state of the world is reflected in the agent’s percepts. Illuminated brake lights appear as red regions in the camera image; a wall appears as a short range reading.</a:t>
            </a:r>
          </a:p>
        </p:txBody>
      </p:sp>
      <p:sp>
        <p:nvSpPr>
          <p:cNvPr id="28" name="Rectangle 27"/>
          <p:cNvSpPr/>
          <p:nvPr/>
        </p:nvSpPr>
        <p:spPr>
          <a:xfrm>
            <a:off x="7232904" y="3575304"/>
            <a:ext cx="4117817"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232904" y="3721608"/>
            <a:ext cx="4117817" cy="805436"/>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Transition model</a:t>
            </a:r>
          </a:p>
          <a:p>
            <a:pPr marL="0" indent="0" algn="l">
              <a:lnSpc>
                <a:spcPts val="1332"/>
              </a:lnSpc>
              <a:spcBef>
                <a:spcPts val="600"/>
              </a:spcBef>
              <a:spcAft>
                <a:spcPts val="0"/>
              </a:spcAft>
              <a:buNone/>
            </a:pPr>
            <a:r>
              <a:rPr sz="1092" b="0" i="0">
                <a:solidFill>
                  <a:srgbClr val="626669"/>
                </a:solidFill>
                <a:latin typeface="Fira Sans"/>
              </a:rPr>
              <a:t>How the world evolves over time: both the effects of the agent’s own actions (turning the wheel changes heading) and changes independent of it (rain reduces visibility).</a:t>
            </a:r>
          </a:p>
        </p:txBody>
      </p:sp>
      <p:sp>
        <p:nvSpPr>
          <p:cNvPr id="30" name="Rectangle 29"/>
          <p:cNvSpPr/>
          <p:nvPr/>
        </p:nvSpPr>
        <p:spPr>
          <a:xfrm>
            <a:off x="7232904" y="4992624"/>
            <a:ext cx="4117817" cy="1124712"/>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7232904" y="4992624"/>
            <a:ext cx="41148" cy="112471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452360" y="5138928"/>
            <a:ext cx="3733769"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Combining the two models with the percept history lets the agent estimate the current state of the world </a:t>
            </a:r>
            <a:r>
              <a:rPr sz="1092" b="1" i="0" dirty="0">
                <a:solidFill>
                  <a:srgbClr val="333639"/>
                </a:solidFill>
                <a:latin typeface="Fira Sans"/>
              </a:rPr>
              <a:t>as accurately as its sensors allow</a:t>
            </a:r>
            <a:r>
              <a:rPr sz="1092" b="0" i="0" dirty="0">
                <a:solidFill>
                  <a:srgbClr val="333639"/>
                </a:solidFill>
                <a:latin typeface="Fira Sans"/>
              </a:rPr>
              <a:t> which is usually not exactly. The state is a belief, not a fact, and the agent must act anyway.</a:t>
            </a:r>
          </a:p>
        </p:txBody>
      </p:sp>
      <p:pic>
        <p:nvPicPr>
          <p:cNvPr id="35" name="Immagine 34">
            <a:extLst>
              <a:ext uri="{FF2B5EF4-FFF2-40B4-BE49-F238E27FC236}">
                <a16:creationId xmlns:a16="http://schemas.microsoft.com/office/drawing/2014/main" id="{D6B8260C-B86B-A8C7-81E3-1141073F6EE5}"/>
              </a:ext>
            </a:extLst>
          </p:cNvPr>
          <p:cNvPicPr>
            <a:picLocks noChangeAspect="1"/>
          </p:cNvPicPr>
          <p:nvPr/>
        </p:nvPicPr>
        <p:blipFill>
          <a:blip r:embed="rId2"/>
          <a:srcRect r="26570"/>
          <a:stretch>
            <a:fillRect/>
          </a:stretch>
        </p:blipFill>
        <p:spPr>
          <a:xfrm>
            <a:off x="841248" y="2719001"/>
            <a:ext cx="5707280" cy="230236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5.7  MAINTAINING THE STATE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update rule, three ingredients, two models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40</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Goal-based</a:t>
            </a:r>
          </a:p>
          <a:p>
            <a:pPr marL="0" indent="0" algn="l">
              <a:lnSpc>
                <a:spcPts val="988"/>
              </a:lnSpc>
              <a:spcBef>
                <a:spcPts val="300"/>
              </a:spcBef>
              <a:spcAft>
                <a:spcPts val="0"/>
              </a:spcAft>
              <a:buNone/>
            </a:pPr>
            <a:r>
              <a:rPr sz="882" b="0" i="0">
                <a:solidFill>
                  <a:srgbClr val="8E9295"/>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pic>
        <p:nvPicPr>
          <p:cNvPr id="23" name="Picture 22" descr="eq_state_updat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52837" y="2048256"/>
            <a:ext cx="7686294" cy="888492"/>
          </a:xfrm>
          <a:prstGeom prst="rect">
            <a:avLst/>
          </a:prstGeom>
        </p:spPr>
      </p:pic>
      <p:sp>
        <p:nvSpPr>
          <p:cNvPr id="24" name="Rectangle 23"/>
          <p:cNvSpPr/>
          <p:nvPr/>
        </p:nvSpPr>
        <p:spPr>
          <a:xfrm>
            <a:off x="841248" y="31927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3375660"/>
            <a:ext cx="5676595" cy="268960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41248" y="3375660"/>
            <a:ext cx="41148" cy="268960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24128" y="3457956"/>
            <a:ext cx="5310835"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MODEL-BASED VACUUM AGENT</a:t>
            </a:r>
          </a:p>
        </p:txBody>
      </p:sp>
      <p:sp>
        <p:nvSpPr>
          <p:cNvPr id="28" name="TextBox 27"/>
          <p:cNvSpPr txBox="1"/>
          <p:nvPr/>
        </p:nvSpPr>
        <p:spPr>
          <a:xfrm>
            <a:off x="1024128" y="3759708"/>
            <a:ext cx="5365699" cy="2232406"/>
          </a:xfrm>
          <a:prstGeom prst="rect">
            <a:avLst/>
          </a:prstGeom>
          <a:noFill/>
        </p:spPr>
        <p:txBody>
          <a:bodyPr wrap="none" lIns="0" tIns="0" rIns="0" bIns="0" anchor="t">
            <a:noAutofit/>
          </a:bodyPr>
          <a:lstStyle/>
          <a:p>
            <a:pPr marL="0" indent="0" algn="l">
              <a:lnSpc>
                <a:spcPts val="1235"/>
              </a:lnSpc>
              <a:spcBef>
                <a:spcPts val="0"/>
              </a:spcBef>
              <a:spcAft>
                <a:spcPts val="0"/>
              </a:spcAft>
              <a:buNone/>
            </a:pPr>
            <a:r>
              <a:rPr sz="950" b="0" i="0" dirty="0">
                <a:solidFill>
                  <a:srgbClr val="1F2A37"/>
                </a:solidFill>
                <a:latin typeface="Consolas"/>
              </a:rPr>
              <a:t>def </a:t>
            </a:r>
            <a:r>
              <a:rPr sz="950" b="0" i="0" dirty="0" err="1">
                <a:solidFill>
                  <a:srgbClr val="1F2A37"/>
                </a:solidFill>
                <a:latin typeface="Consolas"/>
              </a:rPr>
              <a:t>ModelBasedReflexVacuumAgent</a:t>
            </a:r>
            <a:r>
              <a:rPr sz="950" b="0" i="0" dirty="0">
                <a:solidFill>
                  <a:srgbClr val="1F2A37"/>
                </a:solidFill>
                <a:latin typeface="Consolas"/>
              </a:rPr>
              <a:t>():</a:t>
            </a:r>
          </a:p>
          <a:p>
            <a:pPr marL="0" indent="0" algn="l">
              <a:lnSpc>
                <a:spcPts val="1235"/>
              </a:lnSpc>
              <a:spcBef>
                <a:spcPts val="0"/>
              </a:spcBef>
              <a:spcAft>
                <a:spcPts val="0"/>
              </a:spcAft>
              <a:buNone/>
            </a:pPr>
            <a:r>
              <a:rPr sz="950" b="1" i="0" dirty="0">
                <a:solidFill>
                  <a:srgbClr val="574676"/>
                </a:solidFill>
                <a:latin typeface="Consolas"/>
              </a:rPr>
              <a:t>    model = {'A': None, 'B': None}    </a:t>
            </a:r>
            <a:r>
              <a:rPr sz="950" b="0" i="1" dirty="0">
                <a:solidFill>
                  <a:srgbClr val="768896"/>
                </a:solidFill>
                <a:latin typeface="Consolas"/>
              </a:rPr>
              <a:t># the internal state</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def program(percept):</a:t>
            </a:r>
          </a:p>
          <a:p>
            <a:pPr marL="0" indent="0" algn="l">
              <a:lnSpc>
                <a:spcPts val="1235"/>
              </a:lnSpc>
              <a:spcBef>
                <a:spcPts val="0"/>
              </a:spcBef>
              <a:spcAft>
                <a:spcPts val="0"/>
              </a:spcAft>
              <a:buNone/>
            </a:pPr>
            <a:r>
              <a:rPr sz="950" b="0" i="0" dirty="0">
                <a:solidFill>
                  <a:srgbClr val="1F2A37"/>
                </a:solidFill>
                <a:latin typeface="Consolas"/>
              </a:rPr>
              <a:t>        location, status = percept</a:t>
            </a:r>
          </a:p>
          <a:p>
            <a:pPr marL="0" indent="0" algn="l">
              <a:lnSpc>
                <a:spcPts val="1235"/>
              </a:lnSpc>
              <a:spcBef>
                <a:spcPts val="0"/>
              </a:spcBef>
              <a:spcAft>
                <a:spcPts val="0"/>
              </a:spcAft>
              <a:buNone/>
            </a:pPr>
            <a:r>
              <a:rPr sz="950" b="1" i="0" dirty="0">
                <a:solidFill>
                  <a:srgbClr val="574676"/>
                </a:solidFill>
                <a:latin typeface="Consolas"/>
              </a:rPr>
              <a:t>        model[location] = status      </a:t>
            </a:r>
            <a:r>
              <a:rPr sz="950" b="0" i="1" dirty="0">
                <a:solidFill>
                  <a:srgbClr val="768896"/>
                </a:solidFill>
                <a:latin typeface="Consolas"/>
              </a:rPr>
              <a:t># update the state</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1" i="0" dirty="0">
                <a:solidFill>
                  <a:srgbClr val="574676"/>
                </a:solidFill>
                <a:latin typeface="Consolas"/>
              </a:rPr>
              <a:t>        if model['A'] == model['B'] == 'clean':</a:t>
            </a:r>
          </a:p>
          <a:p>
            <a:pPr marL="0" indent="0" algn="l">
              <a:lnSpc>
                <a:spcPts val="1235"/>
              </a:lnSpc>
              <a:spcBef>
                <a:spcPts val="0"/>
              </a:spcBef>
              <a:spcAft>
                <a:spcPts val="0"/>
              </a:spcAft>
              <a:buNone/>
            </a:pPr>
            <a:r>
              <a:rPr sz="950" b="0" i="0" dirty="0">
                <a:solidFill>
                  <a:srgbClr val="1F2A37"/>
                </a:solidFill>
                <a:latin typeface="Consolas"/>
              </a:rPr>
              <a:t>            return '</a:t>
            </a:r>
            <a:r>
              <a:rPr sz="950" b="0" i="0" dirty="0" err="1">
                <a:solidFill>
                  <a:srgbClr val="1F2A37"/>
                </a:solidFill>
                <a:latin typeface="Consolas"/>
              </a:rPr>
              <a:t>noop</a:t>
            </a:r>
            <a:r>
              <a:rPr sz="950" b="0" i="0" dirty="0">
                <a:solidFill>
                  <a:srgbClr val="1F2A37"/>
                </a:solidFill>
                <a:latin typeface="Consolas"/>
              </a:rPr>
              <a:t>'             </a:t>
            </a:r>
            <a:r>
              <a:rPr sz="950" b="0" i="1" dirty="0">
                <a:solidFill>
                  <a:srgbClr val="768896"/>
                </a:solidFill>
                <a:latin typeface="Consolas"/>
              </a:rPr>
              <a:t># needs the state</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elif</a:t>
            </a:r>
            <a:r>
              <a:rPr sz="950" b="0" i="0" dirty="0">
                <a:solidFill>
                  <a:srgbClr val="1F2A37"/>
                </a:solidFill>
                <a:latin typeface="Consolas"/>
              </a:rPr>
              <a:t> status == 'dirty':  return 'suck'</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elif</a:t>
            </a:r>
            <a:r>
              <a:rPr sz="950" b="0" i="0" dirty="0">
                <a:solidFill>
                  <a:srgbClr val="1F2A37"/>
                </a:solidFill>
                <a:latin typeface="Consolas"/>
              </a:rPr>
              <a:t> location == 'A':    return 'right'</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elif</a:t>
            </a:r>
            <a:r>
              <a:rPr sz="950" b="0" i="0" dirty="0">
                <a:solidFill>
                  <a:srgbClr val="1F2A37"/>
                </a:solidFill>
                <a:latin typeface="Consolas"/>
              </a:rPr>
              <a:t> location == 'B':    return 'left'</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return program</a:t>
            </a:r>
          </a:p>
        </p:txBody>
      </p:sp>
      <p:sp>
        <p:nvSpPr>
          <p:cNvPr id="29" name="TextBox 28"/>
          <p:cNvSpPr txBox="1"/>
          <p:nvPr/>
        </p:nvSpPr>
        <p:spPr>
          <a:xfrm>
            <a:off x="6929323" y="3375660"/>
            <a:ext cx="4421398" cy="971522"/>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dirty="0">
                <a:solidFill>
                  <a:srgbClr val="574676"/>
                </a:solidFill>
                <a:latin typeface="Fira Sans"/>
              </a:rPr>
              <a:t>WHAT THE STATE BUYS HERE</a:t>
            </a:r>
          </a:p>
          <a:p>
            <a:pPr marL="0" indent="0" algn="l">
              <a:lnSpc>
                <a:spcPts val="1391"/>
              </a:lnSpc>
              <a:spcBef>
                <a:spcPts val="0"/>
              </a:spcBef>
              <a:spcAft>
                <a:spcPts val="0"/>
              </a:spcAft>
              <a:buNone/>
            </a:pPr>
            <a:r>
              <a:rPr sz="1140" b="0" i="0" dirty="0">
                <a:solidFill>
                  <a:srgbClr val="333639"/>
                </a:solidFill>
                <a:latin typeface="Fira Sans"/>
              </a:rPr>
              <a:t>The reflex agent can never stop, because “both squares are clean” is not a percept</a:t>
            </a:r>
            <a:r>
              <a:rPr lang="it-IT" sz="1140" b="0" i="0" dirty="0">
                <a:solidFill>
                  <a:srgbClr val="333639"/>
                </a:solidFill>
                <a:latin typeface="Fira Sans"/>
              </a:rPr>
              <a:t>, </a:t>
            </a:r>
            <a:r>
              <a:rPr sz="1140" b="0" i="0" dirty="0">
                <a:solidFill>
                  <a:srgbClr val="333639"/>
                </a:solidFill>
                <a:latin typeface="Fira Sans"/>
              </a:rPr>
              <a:t>it is a </a:t>
            </a:r>
            <a:r>
              <a:rPr sz="1140" b="1" i="0" dirty="0">
                <a:solidFill>
                  <a:srgbClr val="25282A"/>
                </a:solidFill>
                <a:latin typeface="Fira Sans"/>
              </a:rPr>
              <a:t>conclusion drawn from two percepts at different times</a:t>
            </a:r>
            <a:r>
              <a:rPr sz="1140" b="0" i="0" dirty="0">
                <a:solidFill>
                  <a:srgbClr val="333639"/>
                </a:solidFill>
                <a:latin typeface="Fira Sans"/>
              </a:rPr>
              <a:t>. One dictionary of two entries is enough to represent it, and the </a:t>
            </a:r>
            <a:r>
              <a:rPr sz="1045" b="0" i="0" dirty="0" err="1">
                <a:solidFill>
                  <a:srgbClr val="25282A"/>
                </a:solidFill>
                <a:latin typeface="Consolas"/>
              </a:rPr>
              <a:t>noop</a:t>
            </a:r>
            <a:r>
              <a:rPr sz="1140" b="0" i="0" dirty="0">
                <a:solidFill>
                  <a:srgbClr val="333639"/>
                </a:solidFill>
                <a:latin typeface="Fira Sans"/>
              </a:rPr>
              <a:t> action becomes available.</a:t>
            </a:r>
          </a:p>
        </p:txBody>
      </p:sp>
      <p:sp>
        <p:nvSpPr>
          <p:cNvPr id="30" name="Rectangle 29"/>
          <p:cNvSpPr/>
          <p:nvPr/>
        </p:nvSpPr>
        <p:spPr>
          <a:xfrm>
            <a:off x="6929323" y="4548350"/>
            <a:ext cx="4421398" cy="96926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112203" y="4639790"/>
            <a:ext cx="4055638" cy="728210"/>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626669"/>
                </a:solidFill>
                <a:latin typeface="Fira Sans"/>
              </a:rPr>
              <a:t>A RUN</a:t>
            </a:r>
          </a:p>
          <a:p>
            <a:pPr marL="0" indent="0" algn="l">
              <a:lnSpc>
                <a:spcPts val="1121"/>
              </a:lnSpc>
              <a:spcBef>
                <a:spcPts val="500"/>
              </a:spcBef>
              <a:spcAft>
                <a:spcPts val="0"/>
              </a:spcAft>
              <a:buNone/>
            </a:pPr>
            <a:r>
              <a:rPr sz="950" b="0" i="0" dirty="0">
                <a:solidFill>
                  <a:srgbClr val="25282A"/>
                </a:solidFill>
                <a:latin typeface="Consolas"/>
              </a:rPr>
              <a:t>agent(('</a:t>
            </a:r>
            <a:r>
              <a:rPr sz="950" b="0" i="0" dirty="0" err="1">
                <a:solidFill>
                  <a:srgbClr val="25282A"/>
                </a:solidFill>
                <a:latin typeface="Consolas"/>
              </a:rPr>
              <a:t>A','clean</a:t>
            </a:r>
            <a:r>
              <a:rPr sz="950" b="0" i="0" dirty="0">
                <a:solidFill>
                  <a:srgbClr val="25282A"/>
                </a:solidFill>
                <a:latin typeface="Consolas"/>
              </a:rPr>
              <a:t>'))  →  right</a:t>
            </a:r>
          </a:p>
          <a:p>
            <a:pPr marL="0" indent="0" algn="l">
              <a:lnSpc>
                <a:spcPts val="1121"/>
              </a:lnSpc>
              <a:spcBef>
                <a:spcPts val="300"/>
              </a:spcBef>
              <a:spcAft>
                <a:spcPts val="0"/>
              </a:spcAft>
              <a:buNone/>
            </a:pPr>
            <a:r>
              <a:rPr sz="950" b="0" i="0" dirty="0">
                <a:solidFill>
                  <a:srgbClr val="25282A"/>
                </a:solidFill>
                <a:latin typeface="Consolas"/>
              </a:rPr>
              <a:t>agent(('</a:t>
            </a:r>
            <a:r>
              <a:rPr sz="950" b="0" i="0" dirty="0" err="1">
                <a:solidFill>
                  <a:srgbClr val="25282A"/>
                </a:solidFill>
                <a:latin typeface="Consolas"/>
              </a:rPr>
              <a:t>B','dirty</a:t>
            </a:r>
            <a:r>
              <a:rPr sz="950" b="0" i="0" dirty="0">
                <a:solidFill>
                  <a:srgbClr val="25282A"/>
                </a:solidFill>
                <a:latin typeface="Consolas"/>
              </a:rPr>
              <a:t>'))  →  suck</a:t>
            </a:r>
          </a:p>
          <a:p>
            <a:pPr marL="0" indent="0" algn="l">
              <a:lnSpc>
                <a:spcPts val="1121"/>
              </a:lnSpc>
              <a:spcBef>
                <a:spcPts val="300"/>
              </a:spcBef>
              <a:spcAft>
                <a:spcPts val="0"/>
              </a:spcAft>
              <a:buNone/>
            </a:pPr>
            <a:r>
              <a:rPr sz="950" b="0" i="0" dirty="0">
                <a:solidFill>
                  <a:srgbClr val="2B7A3E"/>
                </a:solidFill>
                <a:latin typeface="Consolas"/>
              </a:rPr>
              <a:t>agent(('</a:t>
            </a:r>
            <a:r>
              <a:rPr sz="950" b="0" i="0" dirty="0" err="1">
                <a:solidFill>
                  <a:srgbClr val="2B7A3E"/>
                </a:solidFill>
                <a:latin typeface="Consolas"/>
              </a:rPr>
              <a:t>B','clean</a:t>
            </a:r>
            <a:r>
              <a:rPr sz="950" b="0" i="0" dirty="0">
                <a:solidFill>
                  <a:srgbClr val="2B7A3E"/>
                </a:solidFill>
                <a:latin typeface="Consolas"/>
              </a:rPr>
              <a:t>'))  →  </a:t>
            </a:r>
            <a:r>
              <a:rPr sz="950" b="0" i="0" dirty="0" err="1">
                <a:solidFill>
                  <a:srgbClr val="2B7A3E"/>
                </a:solidFill>
                <a:latin typeface="Consolas"/>
              </a:rPr>
              <a:t>noop</a:t>
            </a:r>
            <a:endParaRPr sz="950" b="0" i="0" dirty="0">
              <a:solidFill>
                <a:srgbClr val="2B7A3E"/>
              </a:solidFill>
              <a:latin typeface="Consolas"/>
            </a:endParaRPr>
          </a:p>
        </p:txBody>
      </p:sp>
      <p:sp>
        <p:nvSpPr>
          <p:cNvPr id="32" name="TextBox 31"/>
          <p:cNvSpPr txBox="1"/>
          <p:nvPr/>
        </p:nvSpPr>
        <p:spPr>
          <a:xfrm>
            <a:off x="6929323" y="5663918"/>
            <a:ext cx="4421398"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Real examples: the </a:t>
            </a:r>
            <a:r>
              <a:rPr sz="1045" b="1" i="0">
                <a:solidFill>
                  <a:srgbClr val="25282A"/>
                </a:solidFill>
                <a:latin typeface="Fira Sans"/>
              </a:rPr>
              <a:t>Roomba 980</a:t>
            </a:r>
            <a:r>
              <a:rPr sz="1045" b="0" i="0">
                <a:solidFill>
                  <a:srgbClr val="626669"/>
                </a:solidFill>
                <a:latin typeface="Fira Sans"/>
              </a:rPr>
              <a:t> tracks its position by visual localisation, and the </a:t>
            </a:r>
            <a:r>
              <a:rPr sz="1045" b="1" i="0">
                <a:solidFill>
                  <a:srgbClr val="25282A"/>
                </a:solidFill>
                <a:latin typeface="Fira Sans"/>
              </a:rPr>
              <a:t>Dyson 360 Eye</a:t>
            </a:r>
            <a:r>
              <a:rPr sz="1045" b="0" i="0">
                <a:solidFill>
                  <a:srgbClr val="626669"/>
                </a:solidFill>
                <a:latin typeface="Fira Sans"/>
              </a:rPr>
              <a:t> maps its surroundings with a 360° camera. In both, the internal map supplies what the current percept never carries.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5.8  GOAL-BASED AGENT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Knowing where you are does not tell you which way to turn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41</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21408"/>
            <a:ext cx="5980176"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At a road junction a vehicle may turn left, turn right, or continue straight. All three are available, and the state of the world is fully known. Nothing in the state says which to choose</a:t>
            </a:r>
            <a:r>
              <a:rPr lang="it-IT" sz="1188" b="0" i="0" dirty="0">
                <a:solidFill>
                  <a:srgbClr val="333639"/>
                </a:solidFill>
                <a:latin typeface="Fira Sans"/>
              </a:rPr>
              <a:t>, </a:t>
            </a:r>
            <a:r>
              <a:rPr sz="1188" b="0" i="0" dirty="0">
                <a:solidFill>
                  <a:srgbClr val="333639"/>
                </a:solidFill>
                <a:latin typeface="Fira Sans"/>
              </a:rPr>
              <a:t>that depends on where the agent is trying to go.</a:t>
            </a:r>
          </a:p>
        </p:txBody>
      </p:sp>
      <p:sp>
        <p:nvSpPr>
          <p:cNvPr id="25" name="TextBox 24"/>
          <p:cNvSpPr txBox="1"/>
          <p:nvPr/>
        </p:nvSpPr>
        <p:spPr>
          <a:xfrm>
            <a:off x="841248" y="5160782"/>
            <a:ext cx="5980176"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Two blocks are added: the goal, and the ability to ask what the world will be like after action a. The transition model is now used to look forward, not only to track the present.</a:t>
            </a:r>
          </a:p>
        </p:txBody>
      </p:sp>
      <p:sp>
        <p:nvSpPr>
          <p:cNvPr id="26" name="TextBox 25"/>
          <p:cNvSpPr txBox="1"/>
          <p:nvPr/>
        </p:nvSpPr>
        <p:spPr>
          <a:xfrm>
            <a:off x="7232904" y="2121408"/>
            <a:ext cx="4117817" cy="1071984"/>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dirty="0">
                <a:solidFill>
                  <a:srgbClr val="8A5100"/>
                </a:solidFill>
                <a:latin typeface="Fira Sans"/>
              </a:rPr>
              <a:t>WHAT IS ADDED</a:t>
            </a:r>
          </a:p>
          <a:p>
            <a:pPr marL="173736" indent="-173736" algn="l">
              <a:lnSpc>
                <a:spcPts val="1289"/>
              </a:lnSpc>
              <a:spcBef>
                <a:spcPts val="600"/>
              </a:spcBef>
              <a:spcAft>
                <a:spcPts val="0"/>
              </a:spcAft>
              <a:buClr>
                <a:srgbClr val="1971C2"/>
              </a:buClr>
              <a:buFont typeface="Fira Sans"/>
              <a:buChar char="–"/>
            </a:pPr>
            <a:r>
              <a:rPr sz="1092" b="1" i="0" dirty="0">
                <a:solidFill>
                  <a:srgbClr val="25282A"/>
                </a:solidFill>
                <a:latin typeface="Fira Sans"/>
              </a:rPr>
              <a:t>Goal information</a:t>
            </a:r>
            <a:r>
              <a:rPr lang="it-IT" sz="1092" dirty="0">
                <a:solidFill>
                  <a:srgbClr val="333639"/>
                </a:solidFill>
                <a:latin typeface="Fira Sans"/>
              </a:rPr>
              <a:t>: </a:t>
            </a:r>
            <a:r>
              <a:rPr sz="1092" b="0" i="0" dirty="0">
                <a:solidFill>
                  <a:srgbClr val="333639"/>
                </a:solidFill>
                <a:latin typeface="Fira Sans"/>
              </a:rPr>
              <a:t>a description of the states the agent wants to bring about.</a:t>
            </a:r>
          </a:p>
          <a:p>
            <a:pPr marL="173736" indent="-173736" algn="l">
              <a:lnSpc>
                <a:spcPts val="1289"/>
              </a:lnSpc>
              <a:spcBef>
                <a:spcPts val="600"/>
              </a:spcBef>
              <a:spcAft>
                <a:spcPts val="0"/>
              </a:spcAft>
              <a:buClr>
                <a:srgbClr val="1971C2"/>
              </a:buClr>
              <a:buFont typeface="Fira Sans"/>
              <a:buChar char="–"/>
            </a:pPr>
            <a:r>
              <a:rPr sz="1092" b="1" i="0" dirty="0">
                <a:solidFill>
                  <a:srgbClr val="25282A"/>
                </a:solidFill>
                <a:latin typeface="Fira Sans"/>
              </a:rPr>
              <a:t>Prediction</a:t>
            </a:r>
            <a:r>
              <a:rPr lang="it-IT" sz="1092" dirty="0">
                <a:solidFill>
                  <a:srgbClr val="333639"/>
                </a:solidFill>
                <a:latin typeface="Fira Sans"/>
              </a:rPr>
              <a:t>: </a:t>
            </a:r>
            <a:r>
              <a:rPr sz="1092" b="0" i="0" dirty="0">
                <a:solidFill>
                  <a:srgbClr val="333639"/>
                </a:solidFill>
                <a:latin typeface="Fira Sans"/>
              </a:rPr>
              <a:t>“what will the world be like if I do action a?”, answered with the transition model the agent already has.</a:t>
            </a:r>
          </a:p>
        </p:txBody>
      </p:sp>
      <p:sp>
        <p:nvSpPr>
          <p:cNvPr id="27" name="TextBox 26"/>
          <p:cNvSpPr txBox="1"/>
          <p:nvPr/>
        </p:nvSpPr>
        <p:spPr>
          <a:xfrm>
            <a:off x="7232904" y="3449424"/>
            <a:ext cx="4117817"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REFLEX VERSUS GOAL-BASED</a:t>
            </a:r>
          </a:p>
        </p:txBody>
      </p:sp>
      <p:sp>
        <p:nvSpPr>
          <p:cNvPr id="28" name="TextBox 27"/>
          <p:cNvSpPr txBox="1"/>
          <p:nvPr/>
        </p:nvSpPr>
        <p:spPr>
          <a:xfrm>
            <a:off x="7232904" y="3632304"/>
            <a:ext cx="4117817" cy="919734"/>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A reflex agent brakes </a:t>
            </a:r>
            <a:r>
              <a:rPr sz="1140" b="1" i="0" dirty="0">
                <a:solidFill>
                  <a:srgbClr val="2B7A3E"/>
                </a:solidFill>
                <a:latin typeface="Fira Sans"/>
              </a:rPr>
              <a:t>because it sees brake lights</a:t>
            </a:r>
            <a:r>
              <a:rPr sz="1140" b="0" i="0" dirty="0">
                <a:solidFill>
                  <a:srgbClr val="333639"/>
                </a:solidFill>
                <a:latin typeface="Fira Sans"/>
              </a:rPr>
              <a:t>. A goal-based agent brakes </a:t>
            </a:r>
            <a:r>
              <a:rPr sz="1140" b="1" i="0" dirty="0">
                <a:solidFill>
                  <a:srgbClr val="8A5100"/>
                </a:solidFill>
                <a:latin typeface="Fira Sans"/>
              </a:rPr>
              <a:t>because braking helps it avoid a collision</a:t>
            </a:r>
            <a:r>
              <a:rPr sz="1140" b="0" i="0" dirty="0">
                <a:solidFill>
                  <a:srgbClr val="333639"/>
                </a:solidFill>
                <a:latin typeface="Fira Sans"/>
              </a:rPr>
              <a:t>. The behavior can coincide; the reason does not</a:t>
            </a:r>
            <a:r>
              <a:rPr lang="it-IT" sz="1140" b="0" i="0" dirty="0">
                <a:solidFill>
                  <a:srgbClr val="333639"/>
                </a:solidFill>
                <a:latin typeface="Fira Sans"/>
              </a:rPr>
              <a:t>, </a:t>
            </a:r>
            <a:r>
              <a:rPr sz="1140" b="0" i="0" dirty="0">
                <a:solidFill>
                  <a:srgbClr val="333639"/>
                </a:solidFill>
                <a:latin typeface="Fira Sans"/>
              </a:rPr>
              <a:t>and only the second survives a situation the designer did not anticipate.</a:t>
            </a:r>
          </a:p>
        </p:txBody>
      </p:sp>
      <p:sp>
        <p:nvSpPr>
          <p:cNvPr id="29" name="Rectangle 28"/>
          <p:cNvSpPr/>
          <p:nvPr/>
        </p:nvSpPr>
        <p:spPr>
          <a:xfrm>
            <a:off x="7232904" y="4862934"/>
            <a:ext cx="4117817" cy="1124712"/>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232904" y="4862934"/>
            <a:ext cx="41148" cy="112471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452360" y="5009238"/>
            <a:ext cx="3733769"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Flexibility is the real payoff: the goal can be changed </a:t>
            </a:r>
            <a:r>
              <a:rPr sz="1092" b="1" i="0">
                <a:solidFill>
                  <a:srgbClr val="333639"/>
                </a:solidFill>
                <a:latin typeface="Fira Sans"/>
              </a:rPr>
              <a:t>without redesigning a single decision rule</a:t>
            </a:r>
            <a:r>
              <a:rPr sz="1092" b="0" i="0">
                <a:solidFill>
                  <a:srgbClr val="333639"/>
                </a:solidFill>
                <a:latin typeface="Fira Sans"/>
              </a:rPr>
              <a:t>. A navigation agent is sent to a new destination by replacing the goal. A reflex agent would need a different rule set per destination.</a:t>
            </a:r>
          </a:p>
        </p:txBody>
      </p:sp>
      <p:pic>
        <p:nvPicPr>
          <p:cNvPr id="24" name="Immagine 23">
            <a:extLst>
              <a:ext uri="{FF2B5EF4-FFF2-40B4-BE49-F238E27FC236}">
                <a16:creationId xmlns:a16="http://schemas.microsoft.com/office/drawing/2014/main" id="{26252450-D722-2411-6904-0E152AACBC85}"/>
              </a:ext>
            </a:extLst>
          </p:cNvPr>
          <p:cNvPicPr>
            <a:picLocks noChangeAspect="1"/>
          </p:cNvPicPr>
          <p:nvPr/>
        </p:nvPicPr>
        <p:blipFill>
          <a:blip r:embed="rId2"/>
          <a:srcRect r="25645"/>
          <a:stretch>
            <a:fillRect/>
          </a:stretch>
        </p:blipFill>
        <p:spPr>
          <a:xfrm>
            <a:off x="685800" y="2710190"/>
            <a:ext cx="5779168" cy="223160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5.9  SEARCH AND PLANNING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When one action is not enough, the agent must search the future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42</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21408"/>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Goal-based action selection is straightforward when a single action achieves the goal. It becomes hard when a sequence is required: reaching a destination may involve many possible sequences of turns. Finding such sequences is precisely what search and planning are for.</a:t>
            </a:r>
          </a:p>
        </p:txBody>
      </p:sp>
      <p:sp>
        <p:nvSpPr>
          <p:cNvPr id="24" name="Rectangle 23"/>
          <p:cNvSpPr/>
          <p:nvPr/>
        </p:nvSpPr>
        <p:spPr>
          <a:xfrm>
            <a:off x="841248" y="2815005"/>
            <a:ext cx="2395728"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41248" y="2961309"/>
            <a:ext cx="2395728" cy="960564"/>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20">
                <a:solidFill>
                  <a:srgbClr val="8A5100"/>
                </a:solidFill>
                <a:latin typeface="Fira Sans"/>
              </a:rPr>
              <a:t>STEP 1</a:t>
            </a:r>
          </a:p>
          <a:p>
            <a:pPr marL="0" indent="0" algn="l">
              <a:lnSpc>
                <a:spcPts val="1331"/>
              </a:lnSpc>
              <a:spcBef>
                <a:spcPts val="600"/>
              </a:spcBef>
              <a:spcAft>
                <a:spcPts val="0"/>
              </a:spcAft>
              <a:buNone/>
            </a:pPr>
            <a:r>
              <a:rPr sz="1188" b="1" i="0">
                <a:solidFill>
                  <a:srgbClr val="25282A"/>
                </a:solidFill>
                <a:latin typeface="Fira Sans"/>
              </a:rPr>
              <a:t>Represent the current state</a:t>
            </a:r>
          </a:p>
          <a:p>
            <a:pPr marL="0" indent="0" algn="l">
              <a:lnSpc>
                <a:spcPts val="1254"/>
              </a:lnSpc>
              <a:spcBef>
                <a:spcPts val="600"/>
              </a:spcBef>
              <a:spcAft>
                <a:spcPts val="0"/>
              </a:spcAft>
              <a:buNone/>
            </a:pPr>
            <a:r>
              <a:rPr sz="1045" b="0" i="0">
                <a:solidFill>
                  <a:srgbClr val="626669"/>
                </a:solidFill>
                <a:latin typeface="Fira Sans"/>
              </a:rPr>
              <a:t>The agent starts from its estimate of the world, exactly as the model-based agent maintains it.</a:t>
            </a:r>
          </a:p>
        </p:txBody>
      </p:sp>
      <p:sp>
        <p:nvSpPr>
          <p:cNvPr id="26" name="Rectangle 25"/>
          <p:cNvSpPr/>
          <p:nvPr/>
        </p:nvSpPr>
        <p:spPr>
          <a:xfrm>
            <a:off x="3547872" y="2815005"/>
            <a:ext cx="2395728"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547872" y="2961309"/>
            <a:ext cx="2395728" cy="960564"/>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20">
                <a:solidFill>
                  <a:srgbClr val="8A5100"/>
                </a:solidFill>
                <a:latin typeface="Fira Sans"/>
              </a:rPr>
              <a:t>STEP 2</a:t>
            </a:r>
          </a:p>
          <a:p>
            <a:pPr marL="0" indent="0" algn="l">
              <a:lnSpc>
                <a:spcPts val="1331"/>
              </a:lnSpc>
              <a:spcBef>
                <a:spcPts val="600"/>
              </a:spcBef>
              <a:spcAft>
                <a:spcPts val="0"/>
              </a:spcAft>
              <a:buNone/>
            </a:pPr>
            <a:r>
              <a:rPr sz="1188" b="1" i="0">
                <a:solidFill>
                  <a:srgbClr val="25282A"/>
                </a:solidFill>
                <a:latin typeface="Fira Sans"/>
              </a:rPr>
              <a:t>Enumerate available actions</a:t>
            </a:r>
          </a:p>
          <a:p>
            <a:pPr marL="0" indent="0" algn="l">
              <a:lnSpc>
                <a:spcPts val="1254"/>
              </a:lnSpc>
              <a:spcBef>
                <a:spcPts val="600"/>
              </a:spcBef>
              <a:spcAft>
                <a:spcPts val="0"/>
              </a:spcAft>
              <a:buNone/>
            </a:pPr>
            <a:r>
              <a:rPr sz="1045" b="0" i="0">
                <a:solidFill>
                  <a:srgbClr val="626669"/>
                </a:solidFill>
                <a:latin typeface="Fira Sans"/>
              </a:rPr>
              <a:t>Which actions are legal here? Each one leads, via the transition model, to a different successor state.</a:t>
            </a:r>
          </a:p>
        </p:txBody>
      </p:sp>
      <p:sp>
        <p:nvSpPr>
          <p:cNvPr id="28" name="Rectangle 27"/>
          <p:cNvSpPr/>
          <p:nvPr/>
        </p:nvSpPr>
        <p:spPr>
          <a:xfrm>
            <a:off x="6254496" y="2815005"/>
            <a:ext cx="2395728"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254496" y="2961309"/>
            <a:ext cx="2395728" cy="960564"/>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20">
                <a:solidFill>
                  <a:srgbClr val="8A5100"/>
                </a:solidFill>
                <a:latin typeface="Fira Sans"/>
              </a:rPr>
              <a:t>STEP 3</a:t>
            </a:r>
          </a:p>
          <a:p>
            <a:pPr marL="0" indent="0" algn="l">
              <a:lnSpc>
                <a:spcPts val="1331"/>
              </a:lnSpc>
              <a:spcBef>
                <a:spcPts val="600"/>
              </a:spcBef>
              <a:spcAft>
                <a:spcPts val="0"/>
              </a:spcAft>
              <a:buNone/>
            </a:pPr>
            <a:r>
              <a:rPr sz="1188" b="1" i="0">
                <a:solidFill>
                  <a:srgbClr val="25282A"/>
                </a:solidFill>
                <a:latin typeface="Fira Sans"/>
              </a:rPr>
              <a:t>Simulate the consequences</a:t>
            </a:r>
          </a:p>
          <a:p>
            <a:pPr marL="0" indent="0" algn="l">
              <a:lnSpc>
                <a:spcPts val="1254"/>
              </a:lnSpc>
              <a:spcBef>
                <a:spcPts val="600"/>
              </a:spcBef>
              <a:spcAft>
                <a:spcPts val="0"/>
              </a:spcAft>
              <a:buNone/>
            </a:pPr>
            <a:r>
              <a:rPr sz="1045" b="0" i="0">
                <a:solidFill>
                  <a:srgbClr val="626669"/>
                </a:solidFill>
                <a:latin typeface="Fira Sans"/>
              </a:rPr>
              <a:t>Apply the transition model repeatedly to explore sequences of actions, and the states they lead to.</a:t>
            </a:r>
          </a:p>
        </p:txBody>
      </p:sp>
      <p:sp>
        <p:nvSpPr>
          <p:cNvPr id="30" name="Rectangle 29"/>
          <p:cNvSpPr/>
          <p:nvPr/>
        </p:nvSpPr>
        <p:spPr>
          <a:xfrm>
            <a:off x="8961119" y="2815005"/>
            <a:ext cx="2395728"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961119" y="2961309"/>
            <a:ext cx="2395728" cy="111982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20" dirty="0">
                <a:solidFill>
                  <a:srgbClr val="8A5100"/>
                </a:solidFill>
                <a:latin typeface="Fira Sans"/>
              </a:rPr>
              <a:t>STEP 4</a:t>
            </a:r>
          </a:p>
          <a:p>
            <a:pPr marL="0" indent="0" algn="l">
              <a:lnSpc>
                <a:spcPts val="1331"/>
              </a:lnSpc>
              <a:spcBef>
                <a:spcPts val="600"/>
              </a:spcBef>
              <a:spcAft>
                <a:spcPts val="0"/>
              </a:spcAft>
              <a:buNone/>
            </a:pPr>
            <a:r>
              <a:rPr sz="1188" b="1" i="0" dirty="0">
                <a:solidFill>
                  <a:srgbClr val="25282A"/>
                </a:solidFill>
                <a:latin typeface="Fira Sans"/>
              </a:rPr>
              <a:t>Choose by outcome, not by rule</a:t>
            </a:r>
          </a:p>
          <a:p>
            <a:pPr marL="0" indent="0" algn="l">
              <a:lnSpc>
                <a:spcPts val="1254"/>
              </a:lnSpc>
              <a:spcBef>
                <a:spcPts val="600"/>
              </a:spcBef>
              <a:spcAft>
                <a:spcPts val="0"/>
              </a:spcAft>
              <a:buNone/>
            </a:pPr>
            <a:r>
              <a:rPr sz="1045" b="0" i="0" dirty="0">
                <a:solidFill>
                  <a:srgbClr val="626669"/>
                </a:solidFill>
                <a:latin typeface="Fira Sans"/>
              </a:rPr>
              <a:t>Select the first action of a sequence reaching the goal or, against an adversary, the best guaranteed outcome.</a:t>
            </a:r>
          </a:p>
        </p:txBody>
      </p:sp>
      <p:sp>
        <p:nvSpPr>
          <p:cNvPr id="32" name="Rectangle 31"/>
          <p:cNvSpPr/>
          <p:nvPr/>
        </p:nvSpPr>
        <p:spPr>
          <a:xfrm>
            <a:off x="841248" y="433716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841248" y="4520044"/>
            <a:ext cx="10515600" cy="410748"/>
          </a:xfrm>
          <a:prstGeom prst="rect">
            <a:avLst/>
          </a:prstGeom>
          <a:noFill/>
        </p:spPr>
        <p:txBody>
          <a:bodyPr wrap="square" lIns="0" tIns="0" rIns="0" bIns="0" anchor="t">
            <a:noAutofit/>
          </a:bodyPr>
          <a:lstStyle/>
          <a:p>
            <a:pPr marL="0" indent="0" algn="l">
              <a:lnSpc>
                <a:spcPts val="1473"/>
              </a:lnSpc>
              <a:spcBef>
                <a:spcPts val="0"/>
              </a:spcBef>
              <a:spcAft>
                <a:spcPts val="0"/>
              </a:spcAft>
              <a:buNone/>
            </a:pPr>
            <a:r>
              <a:rPr sz="1188" b="0" i="0" dirty="0">
                <a:solidFill>
                  <a:srgbClr val="333639"/>
                </a:solidFill>
                <a:latin typeface="Fira Sans"/>
              </a:rPr>
              <a:t>Unlike a reflex agent, which maps percepts directly to actions, a goal-based agent considers the </a:t>
            </a:r>
            <a:r>
              <a:rPr sz="1188" b="1" i="0" dirty="0">
                <a:solidFill>
                  <a:srgbClr val="25282A"/>
                </a:solidFill>
                <a:latin typeface="Fira Sans"/>
              </a:rPr>
              <a:t>future consequences</a:t>
            </a:r>
            <a:r>
              <a:rPr sz="1188" b="0" i="0" dirty="0">
                <a:solidFill>
                  <a:srgbClr val="333639"/>
                </a:solidFill>
                <a:latin typeface="Fira Sans"/>
              </a:rPr>
              <a:t> of what it does. </a:t>
            </a:r>
            <a:r>
              <a:rPr lang="it-IT" sz="1188" b="0" i="0" dirty="0">
                <a:solidFill>
                  <a:srgbClr val="333639"/>
                </a:solidFill>
                <a:latin typeface="Fira Sans"/>
              </a:rPr>
              <a:t>The </a:t>
            </a:r>
            <a:r>
              <a:rPr lang="it-IT" sz="1188" b="0" i="0" dirty="0" err="1">
                <a:solidFill>
                  <a:srgbClr val="333639"/>
                </a:solidFill>
                <a:latin typeface="Fira Sans"/>
              </a:rPr>
              <a:t>rest</a:t>
            </a:r>
            <a:r>
              <a:rPr lang="it-IT" sz="1188" b="0" i="0" dirty="0">
                <a:solidFill>
                  <a:srgbClr val="333639"/>
                </a:solidFill>
                <a:latin typeface="Fira Sans"/>
              </a:rPr>
              <a:t> of </a:t>
            </a:r>
            <a:r>
              <a:rPr lang="it-IT" sz="1188" b="0" i="0" dirty="0" err="1">
                <a:solidFill>
                  <a:srgbClr val="333639"/>
                </a:solidFill>
                <a:latin typeface="Fira Sans"/>
              </a:rPr>
              <a:t>this</a:t>
            </a:r>
            <a:r>
              <a:rPr lang="it-IT" sz="1188" b="0" i="0" dirty="0">
                <a:solidFill>
                  <a:srgbClr val="333639"/>
                </a:solidFill>
                <a:latin typeface="Fira Sans"/>
              </a:rPr>
              <a:t> </a:t>
            </a:r>
            <a:r>
              <a:rPr lang="it-IT" sz="1188" b="0" i="0" dirty="0" err="1">
                <a:solidFill>
                  <a:srgbClr val="333639"/>
                </a:solidFill>
                <a:latin typeface="Fira Sans"/>
              </a:rPr>
              <a:t>section</a:t>
            </a:r>
            <a:r>
              <a:rPr lang="it-IT" sz="1188" b="0" i="0" dirty="0">
                <a:solidFill>
                  <a:srgbClr val="333639"/>
                </a:solidFill>
                <a:latin typeface="Fira Sans"/>
              </a:rPr>
              <a:t> works </a:t>
            </a:r>
            <a:r>
              <a:rPr lang="it-IT" sz="1188" b="0" i="0" dirty="0" err="1">
                <a:solidFill>
                  <a:srgbClr val="333639"/>
                </a:solidFill>
                <a:latin typeface="Fira Sans"/>
              </a:rPr>
              <a:t>through</a:t>
            </a:r>
            <a:r>
              <a:rPr lang="it-IT" sz="1188" b="0" i="0" dirty="0">
                <a:solidFill>
                  <a:srgbClr val="333639"/>
                </a:solidFill>
                <a:latin typeface="Fira Sans"/>
              </a:rPr>
              <a:t> the </a:t>
            </a:r>
            <a:r>
              <a:rPr lang="it-IT" sz="1188" b="0" i="0" dirty="0" err="1">
                <a:solidFill>
                  <a:srgbClr val="333639"/>
                </a:solidFill>
                <a:latin typeface="Fira Sans"/>
              </a:rPr>
              <a:t>smallest</a:t>
            </a:r>
            <a:r>
              <a:rPr lang="it-IT" sz="1188" b="0" i="0" dirty="0">
                <a:solidFill>
                  <a:srgbClr val="333639"/>
                </a:solidFill>
                <a:latin typeface="Fira Sans"/>
              </a:rPr>
              <a:t> complete </a:t>
            </a:r>
            <a:r>
              <a:rPr lang="it-IT" sz="1188" b="0" i="0" dirty="0" err="1">
                <a:solidFill>
                  <a:srgbClr val="333639"/>
                </a:solidFill>
                <a:latin typeface="Fira Sans"/>
              </a:rPr>
              <a:t>example</a:t>
            </a:r>
            <a:r>
              <a:rPr lang="it-IT" sz="1188" b="0" i="0" dirty="0">
                <a:solidFill>
                  <a:srgbClr val="333639"/>
                </a:solidFill>
                <a:latin typeface="Fira Sans"/>
              </a:rPr>
              <a:t> of </a:t>
            </a:r>
            <a:r>
              <a:rPr lang="it-IT" sz="1188" b="0" i="0" dirty="0" err="1">
                <a:solidFill>
                  <a:srgbClr val="333639"/>
                </a:solidFill>
                <a:latin typeface="Fira Sans"/>
              </a:rPr>
              <a:t>that</a:t>
            </a:r>
            <a:r>
              <a:rPr lang="it-IT" sz="1188" b="0" i="0" dirty="0">
                <a:solidFill>
                  <a:srgbClr val="333639"/>
                </a:solidFill>
                <a:latin typeface="Fira Sans"/>
              </a:rPr>
              <a:t> idea: a Tic-Tac-Toe agent </a:t>
            </a:r>
            <a:r>
              <a:rPr lang="it-IT" sz="1188" b="0" i="0" dirty="0" err="1">
                <a:solidFill>
                  <a:srgbClr val="333639"/>
                </a:solidFill>
                <a:latin typeface="Fira Sans"/>
              </a:rPr>
              <a:t>that</a:t>
            </a:r>
            <a:r>
              <a:rPr lang="it-IT" sz="1188" b="0" i="0" dirty="0">
                <a:solidFill>
                  <a:srgbClr val="333639"/>
                </a:solidFill>
                <a:latin typeface="Fira Sans"/>
              </a:rPr>
              <a:t> plays by </a:t>
            </a:r>
            <a:r>
              <a:rPr lang="it-IT" sz="1188" b="0" i="0" dirty="0" err="1">
                <a:solidFill>
                  <a:srgbClr val="333639"/>
                </a:solidFill>
                <a:latin typeface="Fira Sans"/>
              </a:rPr>
              <a:t>searching</a:t>
            </a:r>
            <a:r>
              <a:rPr lang="it-IT" sz="1188" b="0" i="0" dirty="0">
                <a:solidFill>
                  <a:srgbClr val="333639"/>
                </a:solidFill>
                <a:latin typeface="Fira Sans"/>
              </a:rPr>
              <a:t> the </a:t>
            </a:r>
            <a:r>
              <a:rPr lang="it-IT" sz="1188" b="0" i="0" dirty="0" err="1">
                <a:solidFill>
                  <a:srgbClr val="333639"/>
                </a:solidFill>
                <a:latin typeface="Fira Sans"/>
              </a:rPr>
              <a:t>entire</a:t>
            </a:r>
            <a:r>
              <a:rPr lang="it-IT" sz="1188" b="0" i="0" dirty="0">
                <a:solidFill>
                  <a:srgbClr val="333639"/>
                </a:solidFill>
                <a:latin typeface="Fira Sans"/>
              </a:rPr>
              <a:t> game </a:t>
            </a:r>
            <a:r>
              <a:rPr lang="it-IT" sz="1188" b="0" i="0" dirty="0" err="1">
                <a:solidFill>
                  <a:srgbClr val="333639"/>
                </a:solidFill>
                <a:latin typeface="Fira Sans"/>
              </a:rPr>
              <a:t>tree</a:t>
            </a:r>
            <a:r>
              <a:rPr lang="it-IT" sz="1188" b="0" i="0" dirty="0">
                <a:solidFill>
                  <a:srgbClr val="333639"/>
                </a:solidFill>
                <a:latin typeface="Fira Sans"/>
              </a:rPr>
              <a:t>.</a:t>
            </a:r>
            <a:endParaRPr sz="1188" b="0" i="0" dirty="0">
              <a:solidFill>
                <a:srgbClr val="333639"/>
              </a:solidFill>
              <a:latin typeface="Fira Sans"/>
            </a:endParaRPr>
          </a:p>
        </p:txBody>
      </p:sp>
      <p:sp>
        <p:nvSpPr>
          <p:cNvPr id="34" name="Rectangle 33"/>
          <p:cNvSpPr/>
          <p:nvPr/>
        </p:nvSpPr>
        <p:spPr>
          <a:xfrm>
            <a:off x="841248" y="5168536"/>
            <a:ext cx="5006340" cy="1042415"/>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841248" y="5168536"/>
            <a:ext cx="500634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042416" y="5333128"/>
            <a:ext cx="4604003" cy="6236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Where the agent acts alone</a:t>
            </a:r>
          </a:p>
          <a:p>
            <a:pPr marL="0" indent="0" algn="l">
              <a:lnSpc>
                <a:spcPts val="1310"/>
              </a:lnSpc>
              <a:spcBef>
                <a:spcPts val="600"/>
              </a:spcBef>
              <a:spcAft>
                <a:spcPts val="0"/>
              </a:spcAft>
              <a:buNone/>
            </a:pPr>
            <a:r>
              <a:rPr sz="1092" b="0" i="0">
                <a:solidFill>
                  <a:srgbClr val="626669"/>
                </a:solidFill>
                <a:latin typeface="Fira Sans"/>
              </a:rPr>
              <a:t>Reaching a destination, stacking boxes, solving a puzzle: search for a sequence of actions ending in a goal state.</a:t>
            </a:r>
          </a:p>
        </p:txBody>
      </p:sp>
      <p:sp>
        <p:nvSpPr>
          <p:cNvPr id="37" name="Rectangle 36"/>
          <p:cNvSpPr/>
          <p:nvPr/>
        </p:nvSpPr>
        <p:spPr>
          <a:xfrm>
            <a:off x="6350507" y="5168536"/>
            <a:ext cx="5006340" cy="1042415"/>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6350507" y="5168536"/>
            <a:ext cx="500634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551675" y="5333128"/>
            <a:ext cx="4604003" cy="6236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Where something acts against the agent</a:t>
            </a:r>
          </a:p>
          <a:p>
            <a:pPr marL="0" indent="0" algn="l">
              <a:lnSpc>
                <a:spcPts val="1310"/>
              </a:lnSpc>
              <a:spcBef>
                <a:spcPts val="600"/>
              </a:spcBef>
              <a:spcAft>
                <a:spcPts val="0"/>
              </a:spcAft>
              <a:buNone/>
            </a:pPr>
            <a:r>
              <a:rPr sz="1092" b="0" i="0" dirty="0">
                <a:solidFill>
                  <a:srgbClr val="626669"/>
                </a:solidFill>
                <a:latin typeface="Fira Sans"/>
              </a:rPr>
              <a:t>In a game, half the moves are chosen by an opponent. The agent must assume the worst reply at each of them</a:t>
            </a:r>
            <a:r>
              <a:rPr lang="it-IT" sz="1092" b="0" i="0" dirty="0">
                <a:solidFill>
                  <a:srgbClr val="626669"/>
                </a:solidFill>
                <a:latin typeface="Fira Sans"/>
              </a:rPr>
              <a:t>, </a:t>
            </a:r>
            <a:r>
              <a:rPr sz="1092" b="0" i="0" dirty="0">
                <a:solidFill>
                  <a:srgbClr val="626669"/>
                </a:solidFill>
                <a:latin typeface="Fira Sans"/>
              </a:rPr>
              <a:t>which is what minimax does.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5.10  MINIMAX ON TIC-TAC-TOE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Simulate the future, including the replies you would least like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43</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pic>
        <p:nvPicPr>
          <p:cNvPr id="23" name="Picture 22" descr="minimax_tree.png"/>
          <p:cNvPicPr>
            <a:picLocks noChangeAspect="1"/>
          </p:cNvPicPr>
          <p:nvPr/>
        </p:nvPicPr>
        <p:blipFill>
          <a:blip r:embed="rId2"/>
          <a:stretch>
            <a:fillRect/>
          </a:stretch>
        </p:blipFill>
        <p:spPr>
          <a:xfrm>
            <a:off x="644195" y="2163678"/>
            <a:ext cx="4636922" cy="4055157"/>
          </a:xfrm>
          <a:prstGeom prst="rect">
            <a:avLst/>
          </a:prstGeom>
        </p:spPr>
      </p:pic>
      <p:sp>
        <p:nvSpPr>
          <p:cNvPr id="24" name="TextBox 23"/>
          <p:cNvSpPr txBox="1"/>
          <p:nvPr/>
        </p:nvSpPr>
        <p:spPr>
          <a:xfrm>
            <a:off x="5935370" y="2121408"/>
            <a:ext cx="5415351" cy="784920"/>
          </a:xfrm>
          <a:prstGeom prst="rect">
            <a:avLst/>
          </a:prstGeom>
          <a:noFill/>
        </p:spPr>
        <p:txBody>
          <a:bodyPr wrap="square" lIns="0" tIns="0" rIns="0" bIns="0" anchor="t">
            <a:noAutofit/>
          </a:bodyPr>
          <a:lstStyle/>
          <a:p>
            <a:pPr marL="0" indent="0" algn="l">
              <a:lnSpc>
                <a:spcPts val="1473"/>
              </a:lnSpc>
              <a:spcBef>
                <a:spcPts val="0"/>
              </a:spcBef>
              <a:spcAft>
                <a:spcPts val="0"/>
              </a:spcAft>
              <a:buNone/>
            </a:pPr>
            <a:r>
              <a:rPr sz="1188" b="0" i="0">
                <a:solidFill>
                  <a:srgbClr val="333639"/>
                </a:solidFill>
                <a:latin typeface="Fira Sans"/>
              </a:rPr>
              <a:t>Instead of hard-coded rules, the agent searches the tree of future move sequences and returns the action with the best guaranteed outcome against a rational opponent. The board is a flat tuple of nine cells, read left to right, top to bottom.</a:t>
            </a:r>
          </a:p>
        </p:txBody>
      </p:sp>
      <p:sp>
        <p:nvSpPr>
          <p:cNvPr id="25" name="Rectangle 24"/>
          <p:cNvSpPr/>
          <p:nvPr/>
        </p:nvSpPr>
        <p:spPr>
          <a:xfrm>
            <a:off x="5935370" y="3274100"/>
            <a:ext cx="201168" cy="20116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35370" y="3292388"/>
            <a:ext cx="201168" cy="182880"/>
          </a:xfrm>
          <a:prstGeom prst="rect">
            <a:avLst/>
          </a:prstGeom>
          <a:noFill/>
        </p:spPr>
        <p:txBody>
          <a:bodyPr wrap="square" lIns="0" tIns="0" rIns="0" bIns="0" anchor="t">
            <a:noAutofit/>
          </a:bodyPr>
          <a:lstStyle/>
          <a:p>
            <a:pPr marL="0" indent="0" algn="ctr">
              <a:lnSpc>
                <a:spcPts val="950"/>
              </a:lnSpc>
              <a:spcBef>
                <a:spcPts val="0"/>
              </a:spcBef>
              <a:spcAft>
                <a:spcPts val="0"/>
              </a:spcAft>
              <a:buNone/>
            </a:pPr>
            <a:r>
              <a:rPr sz="950" b="1" i="0">
                <a:solidFill>
                  <a:srgbClr val="FFFFFF"/>
                </a:solidFill>
                <a:latin typeface="Fira Sans"/>
              </a:rPr>
              <a:t>1</a:t>
            </a:r>
          </a:p>
        </p:txBody>
      </p:sp>
      <p:sp>
        <p:nvSpPr>
          <p:cNvPr id="27" name="TextBox 26"/>
          <p:cNvSpPr txBox="1"/>
          <p:nvPr/>
        </p:nvSpPr>
        <p:spPr>
          <a:xfrm>
            <a:off x="6246263" y="3263310"/>
            <a:ext cx="5104455" cy="202996"/>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25282A"/>
                </a:solidFill>
                <a:latin typeface="Fira Sans"/>
              </a:rPr>
              <a:t>Current state</a:t>
            </a:r>
            <a:r>
              <a:rPr lang="it-IT" sz="1092" dirty="0">
                <a:solidFill>
                  <a:srgbClr val="8E9295"/>
                </a:solidFill>
                <a:latin typeface="Fira Sans"/>
              </a:rPr>
              <a:t>:</a:t>
            </a:r>
            <a:r>
              <a:rPr sz="1092" b="0" i="0" dirty="0">
                <a:solidFill>
                  <a:srgbClr val="8E9295"/>
                </a:solidFill>
                <a:latin typeface="Fira Sans"/>
              </a:rPr>
              <a:t> </a:t>
            </a:r>
            <a:r>
              <a:rPr sz="1092" b="0" i="0" dirty="0">
                <a:solidFill>
                  <a:srgbClr val="626669"/>
                </a:solidFill>
                <a:latin typeface="Fira Sans"/>
              </a:rPr>
              <a:t>The position the agent must move from</a:t>
            </a:r>
            <a:r>
              <a:rPr lang="it-IT" sz="1092" b="0" i="0" dirty="0">
                <a:solidFill>
                  <a:srgbClr val="626669"/>
                </a:solidFill>
                <a:latin typeface="Fira Sans"/>
              </a:rPr>
              <a:t>, </a:t>
            </a:r>
            <a:r>
              <a:rPr sz="1092" b="0" i="0" dirty="0" err="1">
                <a:solidFill>
                  <a:srgbClr val="626669"/>
                </a:solidFill>
                <a:latin typeface="Fira Sans"/>
              </a:rPr>
              <a:t>ts</a:t>
            </a:r>
            <a:r>
              <a:rPr sz="1092" b="0" i="0" dirty="0">
                <a:solidFill>
                  <a:srgbClr val="626669"/>
                </a:solidFill>
                <a:latin typeface="Fira Sans"/>
              </a:rPr>
              <a:t> percept.</a:t>
            </a:r>
          </a:p>
        </p:txBody>
      </p:sp>
      <p:sp>
        <p:nvSpPr>
          <p:cNvPr id="28" name="Rectangle 27"/>
          <p:cNvSpPr/>
          <p:nvPr/>
        </p:nvSpPr>
        <p:spPr>
          <a:xfrm>
            <a:off x="5935370" y="3605113"/>
            <a:ext cx="201168" cy="20116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935370" y="3623401"/>
            <a:ext cx="201168" cy="182880"/>
          </a:xfrm>
          <a:prstGeom prst="rect">
            <a:avLst/>
          </a:prstGeom>
          <a:noFill/>
        </p:spPr>
        <p:txBody>
          <a:bodyPr wrap="square" lIns="0" tIns="0" rIns="0" bIns="0" anchor="t">
            <a:noAutofit/>
          </a:bodyPr>
          <a:lstStyle/>
          <a:p>
            <a:pPr marL="0" indent="0" algn="ctr">
              <a:lnSpc>
                <a:spcPts val="950"/>
              </a:lnSpc>
              <a:spcBef>
                <a:spcPts val="0"/>
              </a:spcBef>
              <a:spcAft>
                <a:spcPts val="0"/>
              </a:spcAft>
              <a:buNone/>
            </a:pPr>
            <a:r>
              <a:rPr sz="950" b="1" i="0">
                <a:solidFill>
                  <a:srgbClr val="FFFFFF"/>
                </a:solidFill>
                <a:latin typeface="Fira Sans"/>
              </a:rPr>
              <a:t>2</a:t>
            </a:r>
          </a:p>
        </p:txBody>
      </p:sp>
      <p:sp>
        <p:nvSpPr>
          <p:cNvPr id="30" name="TextBox 29"/>
          <p:cNvSpPr txBox="1"/>
          <p:nvPr/>
        </p:nvSpPr>
        <p:spPr>
          <a:xfrm>
            <a:off x="6246263" y="3600542"/>
            <a:ext cx="5104455" cy="202996"/>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25282A"/>
                </a:solidFill>
                <a:latin typeface="Fira Sans"/>
              </a:rPr>
              <a:t>Available actions</a:t>
            </a:r>
            <a:r>
              <a:rPr lang="it-IT" sz="1092" dirty="0">
                <a:solidFill>
                  <a:srgbClr val="8E9295"/>
                </a:solidFill>
                <a:latin typeface="Fira Sans"/>
              </a:rPr>
              <a:t>: </a:t>
            </a:r>
            <a:r>
              <a:rPr sz="1092" b="0" i="0" dirty="0">
                <a:solidFill>
                  <a:srgbClr val="626669"/>
                </a:solidFill>
                <a:latin typeface="Fira Sans"/>
              </a:rPr>
              <a:t>Every empty cell is a legal move.</a:t>
            </a:r>
          </a:p>
        </p:txBody>
      </p:sp>
      <p:sp>
        <p:nvSpPr>
          <p:cNvPr id="31" name="Rectangle 30"/>
          <p:cNvSpPr/>
          <p:nvPr/>
        </p:nvSpPr>
        <p:spPr>
          <a:xfrm>
            <a:off x="5935370" y="3936126"/>
            <a:ext cx="201168" cy="20116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935370" y="3954414"/>
            <a:ext cx="201168" cy="182880"/>
          </a:xfrm>
          <a:prstGeom prst="rect">
            <a:avLst/>
          </a:prstGeom>
          <a:noFill/>
        </p:spPr>
        <p:txBody>
          <a:bodyPr wrap="square" lIns="0" tIns="0" rIns="0" bIns="0" anchor="t">
            <a:noAutofit/>
          </a:bodyPr>
          <a:lstStyle/>
          <a:p>
            <a:pPr marL="0" indent="0" algn="ctr">
              <a:lnSpc>
                <a:spcPts val="950"/>
              </a:lnSpc>
              <a:spcBef>
                <a:spcPts val="0"/>
              </a:spcBef>
              <a:spcAft>
                <a:spcPts val="0"/>
              </a:spcAft>
              <a:buNone/>
            </a:pPr>
            <a:r>
              <a:rPr sz="950" b="1" i="0">
                <a:solidFill>
                  <a:srgbClr val="FFFFFF"/>
                </a:solidFill>
                <a:latin typeface="Fira Sans"/>
              </a:rPr>
              <a:t>3</a:t>
            </a:r>
          </a:p>
        </p:txBody>
      </p:sp>
      <p:sp>
        <p:nvSpPr>
          <p:cNvPr id="33" name="TextBox 32"/>
          <p:cNvSpPr txBox="1"/>
          <p:nvPr/>
        </p:nvSpPr>
        <p:spPr>
          <a:xfrm>
            <a:off x="6246263" y="3861145"/>
            <a:ext cx="5104455"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25282A"/>
                </a:solidFill>
                <a:latin typeface="Fira Sans"/>
              </a:rPr>
              <a:t>Simulation of the future</a:t>
            </a:r>
            <a:r>
              <a:rPr lang="it-IT" sz="1092" dirty="0">
                <a:solidFill>
                  <a:srgbClr val="8E9295"/>
                </a:solidFill>
                <a:latin typeface="Fira Sans"/>
              </a:rPr>
              <a:t>: </a:t>
            </a:r>
            <a:r>
              <a:rPr sz="1092" b="0" i="0" dirty="0">
                <a:solidFill>
                  <a:srgbClr val="626669"/>
                </a:solidFill>
                <a:latin typeface="Fira Sans"/>
              </a:rPr>
              <a:t>Apply moves and counter-moves recursively, down to terminal positions.</a:t>
            </a:r>
          </a:p>
        </p:txBody>
      </p:sp>
      <p:sp>
        <p:nvSpPr>
          <p:cNvPr id="34" name="Rectangle 33"/>
          <p:cNvSpPr/>
          <p:nvPr/>
        </p:nvSpPr>
        <p:spPr>
          <a:xfrm>
            <a:off x="5935370" y="4335536"/>
            <a:ext cx="201168" cy="20116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935370" y="4353824"/>
            <a:ext cx="201168" cy="182880"/>
          </a:xfrm>
          <a:prstGeom prst="rect">
            <a:avLst/>
          </a:prstGeom>
          <a:noFill/>
        </p:spPr>
        <p:txBody>
          <a:bodyPr wrap="square" lIns="0" tIns="0" rIns="0" bIns="0" anchor="t">
            <a:noAutofit/>
          </a:bodyPr>
          <a:lstStyle/>
          <a:p>
            <a:pPr marL="0" indent="0" algn="ctr">
              <a:lnSpc>
                <a:spcPts val="950"/>
              </a:lnSpc>
              <a:spcBef>
                <a:spcPts val="0"/>
              </a:spcBef>
              <a:spcAft>
                <a:spcPts val="0"/>
              </a:spcAft>
              <a:buNone/>
            </a:pPr>
            <a:r>
              <a:rPr sz="950" b="1" i="0">
                <a:solidFill>
                  <a:srgbClr val="FFFFFF"/>
                </a:solidFill>
                <a:latin typeface="Fira Sans"/>
              </a:rPr>
              <a:t>4</a:t>
            </a:r>
          </a:p>
        </p:txBody>
      </p:sp>
      <p:sp>
        <p:nvSpPr>
          <p:cNvPr id="36" name="TextBox 35"/>
          <p:cNvSpPr txBox="1"/>
          <p:nvPr/>
        </p:nvSpPr>
        <p:spPr>
          <a:xfrm>
            <a:off x="6246264" y="4347698"/>
            <a:ext cx="5104455" cy="202996"/>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25282A"/>
                </a:solidFill>
                <a:latin typeface="Fira Sans"/>
              </a:rPr>
              <a:t>Outcomes</a:t>
            </a:r>
            <a:r>
              <a:rPr lang="it-IT" sz="1092" dirty="0">
                <a:solidFill>
                  <a:srgbClr val="8E9295"/>
                </a:solidFill>
                <a:latin typeface="Fira Sans"/>
              </a:rPr>
              <a:t>: </a:t>
            </a:r>
            <a:r>
              <a:rPr sz="1092" b="0" i="0" dirty="0">
                <a:solidFill>
                  <a:srgbClr val="626669"/>
                </a:solidFill>
                <a:latin typeface="Fira Sans"/>
              </a:rPr>
              <a:t>Each leaf is a win, a loss or a draw, scored from X’s point of view.</a:t>
            </a:r>
          </a:p>
        </p:txBody>
      </p:sp>
      <p:sp>
        <p:nvSpPr>
          <p:cNvPr id="37" name="Rectangle 36"/>
          <p:cNvSpPr/>
          <p:nvPr/>
        </p:nvSpPr>
        <p:spPr>
          <a:xfrm>
            <a:off x="5935370" y="4666548"/>
            <a:ext cx="201168" cy="20116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935370" y="4684836"/>
            <a:ext cx="201168" cy="182880"/>
          </a:xfrm>
          <a:prstGeom prst="rect">
            <a:avLst/>
          </a:prstGeom>
          <a:noFill/>
        </p:spPr>
        <p:txBody>
          <a:bodyPr wrap="square" lIns="0" tIns="0" rIns="0" bIns="0" anchor="t">
            <a:noAutofit/>
          </a:bodyPr>
          <a:lstStyle/>
          <a:p>
            <a:pPr marL="0" indent="0" algn="ctr">
              <a:lnSpc>
                <a:spcPts val="950"/>
              </a:lnSpc>
              <a:spcBef>
                <a:spcPts val="0"/>
              </a:spcBef>
              <a:spcAft>
                <a:spcPts val="0"/>
              </a:spcAft>
              <a:buNone/>
            </a:pPr>
            <a:r>
              <a:rPr sz="950" b="1" i="0">
                <a:solidFill>
                  <a:srgbClr val="FFFFFF"/>
                </a:solidFill>
                <a:latin typeface="Fira Sans"/>
              </a:rPr>
              <a:t>5</a:t>
            </a:r>
          </a:p>
        </p:txBody>
      </p:sp>
      <p:sp>
        <p:nvSpPr>
          <p:cNvPr id="39" name="TextBox 38"/>
          <p:cNvSpPr txBox="1"/>
          <p:nvPr/>
        </p:nvSpPr>
        <p:spPr>
          <a:xfrm>
            <a:off x="6246265" y="4591567"/>
            <a:ext cx="5104455"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25282A"/>
                </a:solidFill>
                <a:latin typeface="Fira Sans"/>
              </a:rPr>
              <a:t>Propagate back</a:t>
            </a:r>
            <a:r>
              <a:rPr lang="it-IT" sz="1092" dirty="0">
                <a:solidFill>
                  <a:srgbClr val="8E9295"/>
                </a:solidFill>
                <a:latin typeface="Fira Sans"/>
              </a:rPr>
              <a:t>: </a:t>
            </a:r>
            <a:r>
              <a:rPr sz="1092" b="0" i="0" dirty="0" err="1">
                <a:solidFill>
                  <a:srgbClr val="626669"/>
                </a:solidFill>
                <a:latin typeface="Fira Sans"/>
              </a:rPr>
              <a:t>Maximise</a:t>
            </a:r>
            <a:r>
              <a:rPr sz="1092" b="0" i="0" dirty="0">
                <a:solidFill>
                  <a:srgbClr val="626669"/>
                </a:solidFill>
                <a:latin typeface="Fira Sans"/>
              </a:rPr>
              <a:t> at X’s turns, </a:t>
            </a:r>
            <a:r>
              <a:rPr sz="1092" b="0" i="0" dirty="0" err="1">
                <a:solidFill>
                  <a:srgbClr val="626669"/>
                </a:solidFill>
                <a:latin typeface="Fira Sans"/>
              </a:rPr>
              <a:t>minimise</a:t>
            </a:r>
            <a:r>
              <a:rPr sz="1092" b="0" i="0" dirty="0">
                <a:solidFill>
                  <a:srgbClr val="626669"/>
                </a:solidFill>
                <a:latin typeface="Fira Sans"/>
              </a:rPr>
              <a:t> at O’s</a:t>
            </a:r>
            <a:r>
              <a:rPr lang="it-IT" sz="1092" b="0" i="0" dirty="0">
                <a:solidFill>
                  <a:srgbClr val="626669"/>
                </a:solidFill>
                <a:latin typeface="Fira Sans"/>
              </a:rPr>
              <a:t>:</a:t>
            </a:r>
            <a:r>
              <a:rPr sz="1092" b="0" i="0" dirty="0">
                <a:solidFill>
                  <a:srgbClr val="626669"/>
                </a:solidFill>
                <a:latin typeface="Fira Sans"/>
              </a:rPr>
              <a:t> the worst-case assumption about a rational adversary.</a:t>
            </a:r>
          </a:p>
        </p:txBody>
      </p:sp>
      <p:sp>
        <p:nvSpPr>
          <p:cNvPr id="40" name="Rectangle 39"/>
          <p:cNvSpPr/>
          <p:nvPr/>
        </p:nvSpPr>
        <p:spPr>
          <a:xfrm>
            <a:off x="5935370" y="5163982"/>
            <a:ext cx="201168" cy="20116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5935370" y="5182270"/>
            <a:ext cx="201168" cy="182880"/>
          </a:xfrm>
          <a:prstGeom prst="rect">
            <a:avLst/>
          </a:prstGeom>
          <a:noFill/>
        </p:spPr>
        <p:txBody>
          <a:bodyPr wrap="square" lIns="0" tIns="0" rIns="0" bIns="0" anchor="t">
            <a:noAutofit/>
          </a:bodyPr>
          <a:lstStyle/>
          <a:p>
            <a:pPr marL="0" indent="0" algn="ctr">
              <a:lnSpc>
                <a:spcPts val="950"/>
              </a:lnSpc>
              <a:spcBef>
                <a:spcPts val="0"/>
              </a:spcBef>
              <a:spcAft>
                <a:spcPts val="0"/>
              </a:spcAft>
              <a:buNone/>
            </a:pPr>
            <a:r>
              <a:rPr sz="950" b="1" i="0">
                <a:solidFill>
                  <a:srgbClr val="FFFFFF"/>
                </a:solidFill>
                <a:latin typeface="Fira Sans"/>
              </a:rPr>
              <a:t>6</a:t>
            </a:r>
          </a:p>
        </p:txBody>
      </p:sp>
      <p:sp>
        <p:nvSpPr>
          <p:cNvPr id="42" name="TextBox 41"/>
          <p:cNvSpPr txBox="1"/>
          <p:nvPr/>
        </p:nvSpPr>
        <p:spPr>
          <a:xfrm>
            <a:off x="6246265" y="5162154"/>
            <a:ext cx="5104455" cy="202996"/>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25282A"/>
                </a:solidFill>
                <a:latin typeface="Fira Sans"/>
              </a:rPr>
              <a:t>Decide</a:t>
            </a:r>
            <a:r>
              <a:rPr lang="it-IT" sz="1092" dirty="0">
                <a:solidFill>
                  <a:srgbClr val="8E9295"/>
                </a:solidFill>
                <a:latin typeface="Fira Sans"/>
              </a:rPr>
              <a:t>: </a:t>
            </a:r>
            <a:r>
              <a:rPr sz="1092" b="0" i="0" dirty="0">
                <a:solidFill>
                  <a:srgbClr val="626669"/>
                </a:solidFill>
                <a:latin typeface="Fira Sans"/>
              </a:rPr>
              <a:t>Take the action at the root whose backed-up value is highest.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5.11  THE MINIMAX VALUE FUNCTION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tree search, written as one recursive definition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44</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03120"/>
            <a:ext cx="1051560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Minimax asks, recursively: what does the world look like after I do action a, and the opponent then responds as well as they can? The recursion bottoms out at terminal positions, and the values are propagated back up the tree.</a:t>
            </a:r>
          </a:p>
        </p:txBody>
      </p:sp>
      <p:pic>
        <p:nvPicPr>
          <p:cNvPr id="24" name="Picture 23" descr="eq_minimax.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7898" y="3009610"/>
            <a:ext cx="5388102" cy="1465326"/>
          </a:xfrm>
          <a:prstGeom prst="rect">
            <a:avLst/>
          </a:prstGeom>
        </p:spPr>
      </p:pic>
      <p:sp>
        <p:nvSpPr>
          <p:cNvPr id="25" name="TextBox 24"/>
          <p:cNvSpPr txBox="1"/>
          <p:nvPr/>
        </p:nvSpPr>
        <p:spPr>
          <a:xfrm>
            <a:off x="6446520" y="2773009"/>
            <a:ext cx="4904201"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8A5100"/>
                </a:solidFill>
                <a:latin typeface="Fira Sans"/>
              </a:rPr>
              <a:t>THE SCORING AT THE LEAVES</a:t>
            </a:r>
          </a:p>
        </p:txBody>
      </p:sp>
      <p:pic>
        <p:nvPicPr>
          <p:cNvPr id="26" name="Picture 25" descr="eq_minimax_util.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8919" y="2937601"/>
            <a:ext cx="2837688" cy="1107567"/>
          </a:xfrm>
          <a:prstGeom prst="rect">
            <a:avLst/>
          </a:prstGeom>
        </p:spPr>
      </p:pic>
      <p:sp>
        <p:nvSpPr>
          <p:cNvPr id="27" name="TextBox 26"/>
          <p:cNvSpPr txBox="1"/>
          <p:nvPr/>
        </p:nvSpPr>
        <p:spPr>
          <a:xfrm>
            <a:off x="6446520" y="4474936"/>
            <a:ext cx="4904201"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8A5100"/>
                </a:solidFill>
                <a:latin typeface="Fira Sans"/>
              </a:rPr>
              <a:t>THE ACTION FINALLY TAKEN</a:t>
            </a:r>
          </a:p>
        </p:txBody>
      </p:sp>
      <p:pic>
        <p:nvPicPr>
          <p:cNvPr id="28" name="Picture 27" descr="eq_minimax_act.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46520" y="4749256"/>
            <a:ext cx="3515868" cy="464057"/>
          </a:xfrm>
          <a:prstGeom prst="rect">
            <a:avLst/>
          </a:prstGeom>
        </p:spPr>
      </p:pic>
      <p:sp>
        <p:nvSpPr>
          <p:cNvPr id="29" name="Rectangle 28"/>
          <p:cNvSpPr/>
          <p:nvPr/>
        </p:nvSpPr>
        <p:spPr>
          <a:xfrm>
            <a:off x="841248" y="550592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841248" y="5707090"/>
            <a:ext cx="10515600" cy="410748"/>
          </a:xfrm>
          <a:prstGeom prst="rect">
            <a:avLst/>
          </a:prstGeom>
          <a:noFill/>
        </p:spPr>
        <p:txBody>
          <a:bodyPr wrap="square" lIns="0" tIns="0" rIns="0" bIns="0" anchor="t">
            <a:noAutofit/>
          </a:bodyPr>
          <a:lstStyle/>
          <a:p>
            <a:pPr marL="0" indent="0" algn="l">
              <a:lnSpc>
                <a:spcPts val="1473"/>
              </a:lnSpc>
              <a:spcBef>
                <a:spcPts val="0"/>
              </a:spcBef>
              <a:spcAft>
                <a:spcPts val="0"/>
              </a:spcAft>
              <a:buNone/>
            </a:pPr>
            <a:r>
              <a:rPr sz="1188" b="0" i="0">
                <a:solidFill>
                  <a:srgbClr val="333639"/>
                </a:solidFill>
                <a:latin typeface="Fira Sans"/>
              </a:rPr>
              <a:t>Read the three cases as the three kinds of node in the picture on the previous slide. The </a:t>
            </a:r>
            <a:r>
              <a:rPr sz="1188" b="1" i="0">
                <a:solidFill>
                  <a:srgbClr val="C8102E"/>
                </a:solidFill>
                <a:latin typeface="Fira Sans"/>
              </a:rPr>
              <a:t>min</a:t>
            </a:r>
            <a:r>
              <a:rPr sz="1188" b="0" i="0">
                <a:solidFill>
                  <a:srgbClr val="333639"/>
                </a:solidFill>
                <a:latin typeface="Fira Sans"/>
              </a:rPr>
              <a:t> case is the whole of the adversarial assumption: the agent never counts on the opponent making a mistake. This guarantees the agent will never lose, and will win whenever a win is forced.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5.12  MINIMAX IN CODE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definition translates line for line into the program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45</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Rectangle 22"/>
          <p:cNvSpPr/>
          <p:nvPr/>
        </p:nvSpPr>
        <p:spPr>
          <a:xfrm>
            <a:off x="841248" y="2103120"/>
            <a:ext cx="5459882" cy="2469032"/>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41248" y="2103120"/>
            <a:ext cx="41148" cy="2469032"/>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024128" y="2185415"/>
            <a:ext cx="5094122"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ENVIRONMENT MODEL: ACTIONS, TRANSITIONS, UTILITY</a:t>
            </a:r>
          </a:p>
        </p:txBody>
      </p:sp>
      <p:sp>
        <p:nvSpPr>
          <p:cNvPr id="26" name="TextBox 25"/>
          <p:cNvSpPr txBox="1"/>
          <p:nvPr/>
        </p:nvSpPr>
        <p:spPr>
          <a:xfrm>
            <a:off x="1024128" y="2487168"/>
            <a:ext cx="5148986" cy="2011832"/>
          </a:xfrm>
          <a:prstGeom prst="rect">
            <a:avLst/>
          </a:prstGeom>
          <a:noFill/>
        </p:spPr>
        <p:txBody>
          <a:bodyPr wrap="none" lIns="0" tIns="0" rIns="0" bIns="0" anchor="t">
            <a:noAutofit/>
          </a:bodyPr>
          <a:lstStyle/>
          <a:p>
            <a:pPr marL="0" indent="0" algn="l">
              <a:lnSpc>
                <a:spcPts val="1296"/>
              </a:lnSpc>
              <a:spcBef>
                <a:spcPts val="0"/>
              </a:spcBef>
              <a:spcAft>
                <a:spcPts val="0"/>
              </a:spcAft>
              <a:buNone/>
            </a:pPr>
            <a:r>
              <a:rPr sz="997" b="0" i="0">
                <a:solidFill>
                  <a:srgbClr val="1F2A37"/>
                </a:solidFill>
                <a:latin typeface="Consolas"/>
              </a:rPr>
              <a:t>def actions(board):          </a:t>
            </a:r>
            <a:r>
              <a:rPr sz="997" b="0" i="1">
                <a:solidFill>
                  <a:srgbClr val="768896"/>
                </a:solidFill>
                <a:latin typeface="Consolas"/>
              </a:rPr>
              <a:t># every empty cell</a:t>
            </a:r>
          </a:p>
          <a:p>
            <a:pPr marL="0" indent="0" algn="l">
              <a:lnSpc>
                <a:spcPts val="1296"/>
              </a:lnSpc>
              <a:spcBef>
                <a:spcPts val="0"/>
              </a:spcBef>
              <a:spcAft>
                <a:spcPts val="0"/>
              </a:spcAft>
              <a:buNone/>
            </a:pPr>
            <a:r>
              <a:rPr sz="997" b="0" i="0">
                <a:solidFill>
                  <a:srgbClr val="1F2A37"/>
                </a:solidFill>
                <a:latin typeface="Consolas"/>
              </a:rPr>
              <a:t>    return [i for i, c in enumerate(board) if c is None]</a:t>
            </a:r>
          </a:p>
          <a:p>
            <a:pPr marL="0" indent="0" algn="l">
              <a:lnSpc>
                <a:spcPts val="1296"/>
              </a:lnSpc>
              <a:spcBef>
                <a:spcPts val="0"/>
              </a:spcBef>
              <a:spcAft>
                <a:spcPts val="0"/>
              </a:spcAft>
              <a:buNone/>
            </a:pPr>
            <a:r>
              <a:rPr sz="997" b="0" i="0">
                <a:solidFill>
                  <a:srgbClr val="333639"/>
                </a:solidFill>
                <a:latin typeface="Consolas"/>
              </a:rPr>
              <a:t> </a:t>
            </a:r>
          </a:p>
          <a:p>
            <a:pPr marL="0" indent="0" algn="l">
              <a:lnSpc>
                <a:spcPts val="1296"/>
              </a:lnSpc>
              <a:spcBef>
                <a:spcPts val="0"/>
              </a:spcBef>
              <a:spcAft>
                <a:spcPts val="0"/>
              </a:spcAft>
              <a:buNone/>
            </a:pPr>
            <a:r>
              <a:rPr sz="997" b="0" i="0">
                <a:solidFill>
                  <a:srgbClr val="1F2A37"/>
                </a:solidFill>
                <a:latin typeface="Consolas"/>
              </a:rPr>
              <a:t>def result(board, move, player):</a:t>
            </a:r>
          </a:p>
          <a:p>
            <a:pPr marL="0" indent="0" algn="l">
              <a:lnSpc>
                <a:spcPts val="1296"/>
              </a:lnSpc>
              <a:spcBef>
                <a:spcPts val="0"/>
              </a:spcBef>
              <a:spcAft>
                <a:spcPts val="0"/>
              </a:spcAft>
              <a:buNone/>
            </a:pPr>
            <a:r>
              <a:rPr sz="997" b="0" i="0">
                <a:solidFill>
                  <a:srgbClr val="1F2A37"/>
                </a:solidFill>
                <a:latin typeface="Consolas"/>
              </a:rPr>
              <a:t>    new = list(board); new[move] = player</a:t>
            </a:r>
          </a:p>
          <a:p>
            <a:pPr marL="0" indent="0" algn="l">
              <a:lnSpc>
                <a:spcPts val="1296"/>
              </a:lnSpc>
              <a:spcBef>
                <a:spcPts val="0"/>
              </a:spcBef>
              <a:spcAft>
                <a:spcPts val="0"/>
              </a:spcAft>
              <a:buNone/>
            </a:pPr>
            <a:r>
              <a:rPr sz="997" b="0" i="0">
                <a:solidFill>
                  <a:srgbClr val="1F2A37"/>
                </a:solidFill>
                <a:latin typeface="Consolas"/>
              </a:rPr>
              <a:t>    return tuple(new)</a:t>
            </a:r>
          </a:p>
          <a:p>
            <a:pPr marL="0" indent="0" algn="l">
              <a:lnSpc>
                <a:spcPts val="1296"/>
              </a:lnSpc>
              <a:spcBef>
                <a:spcPts val="0"/>
              </a:spcBef>
              <a:spcAft>
                <a:spcPts val="0"/>
              </a:spcAft>
              <a:buNone/>
            </a:pPr>
            <a:r>
              <a:rPr sz="997" b="0" i="0">
                <a:solidFill>
                  <a:srgbClr val="333639"/>
                </a:solidFill>
                <a:latin typeface="Consolas"/>
              </a:rPr>
              <a:t> </a:t>
            </a:r>
          </a:p>
          <a:p>
            <a:pPr marL="0" indent="0" algn="l">
              <a:lnSpc>
                <a:spcPts val="1296"/>
              </a:lnSpc>
              <a:spcBef>
                <a:spcPts val="0"/>
              </a:spcBef>
              <a:spcAft>
                <a:spcPts val="0"/>
              </a:spcAft>
              <a:buNone/>
            </a:pPr>
            <a:r>
              <a:rPr sz="997" b="0" i="0">
                <a:solidFill>
                  <a:srgbClr val="1F2A37"/>
                </a:solidFill>
                <a:latin typeface="Consolas"/>
              </a:rPr>
              <a:t>def utility(board):          </a:t>
            </a:r>
            <a:r>
              <a:rPr sz="997" b="0" i="1">
                <a:solidFill>
                  <a:srgbClr val="768896"/>
                </a:solidFill>
                <a:latin typeface="Consolas"/>
              </a:rPr>
              <a:t># from X's point of view</a:t>
            </a:r>
          </a:p>
          <a:p>
            <a:pPr marL="0" indent="0" algn="l">
              <a:lnSpc>
                <a:spcPts val="1296"/>
              </a:lnSpc>
              <a:spcBef>
                <a:spcPts val="0"/>
              </a:spcBef>
              <a:spcAft>
                <a:spcPts val="0"/>
              </a:spcAft>
              <a:buNone/>
            </a:pPr>
            <a:r>
              <a:rPr sz="997" b="0" i="0">
                <a:solidFill>
                  <a:srgbClr val="1F2A37"/>
                </a:solidFill>
                <a:latin typeface="Consolas"/>
              </a:rPr>
              <a:t>    win = winner(board)</a:t>
            </a:r>
          </a:p>
          <a:p>
            <a:pPr marL="0" indent="0" algn="l">
              <a:lnSpc>
                <a:spcPts val="1296"/>
              </a:lnSpc>
              <a:spcBef>
                <a:spcPts val="0"/>
              </a:spcBef>
              <a:spcAft>
                <a:spcPts val="0"/>
              </a:spcAft>
              <a:buNone/>
            </a:pPr>
            <a:r>
              <a:rPr sz="997" b="0" i="0">
                <a:solidFill>
                  <a:srgbClr val="1F2A37"/>
                </a:solidFill>
                <a:latin typeface="Consolas"/>
              </a:rPr>
              <a:t>    if win == 'X':  return  1</a:t>
            </a:r>
          </a:p>
          <a:p>
            <a:pPr marL="0" indent="0" algn="l">
              <a:lnSpc>
                <a:spcPts val="1296"/>
              </a:lnSpc>
              <a:spcBef>
                <a:spcPts val="0"/>
              </a:spcBef>
              <a:spcAft>
                <a:spcPts val="0"/>
              </a:spcAft>
              <a:buNone/>
            </a:pPr>
            <a:r>
              <a:rPr sz="997" b="0" i="0">
                <a:solidFill>
                  <a:srgbClr val="1F2A37"/>
                </a:solidFill>
                <a:latin typeface="Consolas"/>
              </a:rPr>
              <a:t>    elif win == 'O':  return -1</a:t>
            </a:r>
          </a:p>
          <a:p>
            <a:pPr marL="0" indent="0" algn="l">
              <a:lnSpc>
                <a:spcPts val="1296"/>
              </a:lnSpc>
              <a:spcBef>
                <a:spcPts val="0"/>
              </a:spcBef>
              <a:spcAft>
                <a:spcPts val="0"/>
              </a:spcAft>
              <a:buNone/>
            </a:pPr>
            <a:r>
              <a:rPr sz="997" b="0" i="0">
                <a:solidFill>
                  <a:srgbClr val="1F2A37"/>
                </a:solidFill>
                <a:latin typeface="Consolas"/>
              </a:rPr>
              <a:t>    return 0</a:t>
            </a:r>
          </a:p>
        </p:txBody>
      </p:sp>
      <p:sp>
        <p:nvSpPr>
          <p:cNvPr id="27" name="Rectangle 26"/>
          <p:cNvSpPr/>
          <p:nvPr/>
        </p:nvSpPr>
        <p:spPr>
          <a:xfrm>
            <a:off x="6685178" y="2103120"/>
            <a:ext cx="4665543" cy="296284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6685178" y="2103120"/>
            <a:ext cx="41148" cy="296284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868058" y="2185415"/>
            <a:ext cx="4299783"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SEARCH</a:t>
            </a:r>
          </a:p>
        </p:txBody>
      </p:sp>
      <p:sp>
        <p:nvSpPr>
          <p:cNvPr id="30" name="TextBox 29"/>
          <p:cNvSpPr txBox="1"/>
          <p:nvPr/>
        </p:nvSpPr>
        <p:spPr>
          <a:xfrm>
            <a:off x="6868058" y="2487168"/>
            <a:ext cx="4354647" cy="2505646"/>
          </a:xfrm>
          <a:prstGeom prst="rect">
            <a:avLst/>
          </a:prstGeom>
          <a:noFill/>
        </p:spPr>
        <p:txBody>
          <a:bodyPr wrap="none" lIns="0" tIns="0" rIns="0" bIns="0" anchor="t">
            <a:noAutofit/>
          </a:bodyPr>
          <a:lstStyle/>
          <a:p>
            <a:pPr marL="0" indent="0" algn="l">
              <a:lnSpc>
                <a:spcPts val="1296"/>
              </a:lnSpc>
              <a:spcBef>
                <a:spcPts val="0"/>
              </a:spcBef>
              <a:spcAft>
                <a:spcPts val="0"/>
              </a:spcAft>
              <a:buNone/>
            </a:pPr>
            <a:r>
              <a:rPr sz="997" b="0" i="0">
                <a:solidFill>
                  <a:srgbClr val="1F2A37"/>
                </a:solidFill>
                <a:latin typeface="Consolas"/>
              </a:rPr>
              <a:t>def minimax(board, player):</a:t>
            </a:r>
          </a:p>
          <a:p>
            <a:pPr marL="0" indent="0" algn="l">
              <a:lnSpc>
                <a:spcPts val="1296"/>
              </a:lnSpc>
              <a:spcBef>
                <a:spcPts val="0"/>
              </a:spcBef>
              <a:spcAft>
                <a:spcPts val="0"/>
              </a:spcAft>
              <a:buNone/>
            </a:pPr>
            <a:r>
              <a:rPr sz="997" b="0" i="0">
                <a:solidFill>
                  <a:srgbClr val="1F2A37"/>
                </a:solidFill>
                <a:latin typeface="Consolas"/>
              </a:rPr>
              <a:t>    if is_terminal(board):</a:t>
            </a:r>
          </a:p>
          <a:p>
            <a:pPr marL="0" indent="0" algn="l">
              <a:lnSpc>
                <a:spcPts val="1296"/>
              </a:lnSpc>
              <a:spcBef>
                <a:spcPts val="0"/>
              </a:spcBef>
              <a:spcAft>
                <a:spcPts val="0"/>
              </a:spcAft>
              <a:buNone/>
            </a:pPr>
            <a:r>
              <a:rPr sz="997" b="0" i="0">
                <a:solidFill>
                  <a:srgbClr val="1F2A37"/>
                </a:solidFill>
                <a:latin typeface="Consolas"/>
              </a:rPr>
              <a:t>        return utility(board), None</a:t>
            </a:r>
          </a:p>
          <a:p>
            <a:pPr marL="0" indent="0" algn="l">
              <a:lnSpc>
                <a:spcPts val="1296"/>
              </a:lnSpc>
              <a:spcBef>
                <a:spcPts val="0"/>
              </a:spcBef>
              <a:spcAft>
                <a:spcPts val="0"/>
              </a:spcAft>
              <a:buNone/>
            </a:pPr>
            <a:r>
              <a:rPr sz="997" b="0" i="0">
                <a:solidFill>
                  <a:srgbClr val="333639"/>
                </a:solidFill>
                <a:latin typeface="Consolas"/>
              </a:rPr>
              <a:t> </a:t>
            </a:r>
          </a:p>
          <a:p>
            <a:pPr marL="0" indent="0" algn="l">
              <a:lnSpc>
                <a:spcPts val="1296"/>
              </a:lnSpc>
              <a:spcBef>
                <a:spcPts val="0"/>
              </a:spcBef>
              <a:spcAft>
                <a:spcPts val="0"/>
              </a:spcAft>
              <a:buNone/>
            </a:pPr>
            <a:r>
              <a:rPr sz="997" b="1" i="0">
                <a:solidFill>
                  <a:srgbClr val="574676"/>
                </a:solidFill>
                <a:latin typeface="Consolas"/>
              </a:rPr>
              <a:t>    if player == 'X':        </a:t>
            </a:r>
            <a:r>
              <a:rPr sz="997" b="0" i="1">
                <a:solidFill>
                  <a:srgbClr val="768896"/>
                </a:solidFill>
                <a:latin typeface="Consolas"/>
              </a:rPr>
              <a:t># maximising player</a:t>
            </a:r>
          </a:p>
          <a:p>
            <a:pPr marL="0" indent="0" algn="l">
              <a:lnSpc>
                <a:spcPts val="1296"/>
              </a:lnSpc>
              <a:spcBef>
                <a:spcPts val="0"/>
              </a:spcBef>
              <a:spcAft>
                <a:spcPts val="0"/>
              </a:spcAft>
              <a:buNone/>
            </a:pPr>
            <a:r>
              <a:rPr sz="997" b="0" i="0">
                <a:solidFill>
                  <a:srgbClr val="1F2A37"/>
                </a:solidFill>
                <a:latin typeface="Consolas"/>
              </a:rPr>
              <a:t>        best, move = -math.inf, None</a:t>
            </a:r>
          </a:p>
          <a:p>
            <a:pPr marL="0" indent="0" algn="l">
              <a:lnSpc>
                <a:spcPts val="1296"/>
              </a:lnSpc>
              <a:spcBef>
                <a:spcPts val="0"/>
              </a:spcBef>
              <a:spcAft>
                <a:spcPts val="0"/>
              </a:spcAft>
              <a:buNone/>
            </a:pPr>
            <a:r>
              <a:rPr sz="997" b="0" i="0">
                <a:solidFill>
                  <a:srgbClr val="1F2A37"/>
                </a:solidFill>
                <a:latin typeface="Consolas"/>
              </a:rPr>
              <a:t>        for a in actions(board):</a:t>
            </a:r>
          </a:p>
          <a:p>
            <a:pPr marL="0" indent="0" algn="l">
              <a:lnSpc>
                <a:spcPts val="1296"/>
              </a:lnSpc>
              <a:spcBef>
                <a:spcPts val="0"/>
              </a:spcBef>
              <a:spcAft>
                <a:spcPts val="0"/>
              </a:spcAft>
              <a:buNone/>
            </a:pPr>
            <a:r>
              <a:rPr sz="997" b="0" i="0">
                <a:solidFill>
                  <a:srgbClr val="1F2A37"/>
                </a:solidFill>
                <a:latin typeface="Consolas"/>
              </a:rPr>
              <a:t>            v, _ = minimax(result(board, a, 'X'), 'O')</a:t>
            </a:r>
          </a:p>
          <a:p>
            <a:pPr marL="0" indent="0" algn="l">
              <a:lnSpc>
                <a:spcPts val="1296"/>
              </a:lnSpc>
              <a:spcBef>
                <a:spcPts val="0"/>
              </a:spcBef>
              <a:spcAft>
                <a:spcPts val="0"/>
              </a:spcAft>
              <a:buNone/>
            </a:pPr>
            <a:r>
              <a:rPr sz="997" b="0" i="0">
                <a:solidFill>
                  <a:srgbClr val="1F2A37"/>
                </a:solidFill>
                <a:latin typeface="Consolas"/>
              </a:rPr>
              <a:t>            if v &gt; best:  best, move = v, a</a:t>
            </a:r>
          </a:p>
          <a:p>
            <a:pPr marL="0" indent="0" algn="l">
              <a:lnSpc>
                <a:spcPts val="1296"/>
              </a:lnSpc>
              <a:spcBef>
                <a:spcPts val="0"/>
              </a:spcBef>
              <a:spcAft>
                <a:spcPts val="0"/>
              </a:spcAft>
              <a:buNone/>
            </a:pPr>
            <a:r>
              <a:rPr sz="997" b="1" i="0">
                <a:solidFill>
                  <a:srgbClr val="574676"/>
                </a:solidFill>
                <a:latin typeface="Consolas"/>
              </a:rPr>
              <a:t>    else:                    </a:t>
            </a:r>
            <a:r>
              <a:rPr sz="997" b="0" i="1">
                <a:solidFill>
                  <a:srgbClr val="768896"/>
                </a:solidFill>
                <a:latin typeface="Consolas"/>
              </a:rPr>
              <a:t># minimising player</a:t>
            </a:r>
          </a:p>
          <a:p>
            <a:pPr marL="0" indent="0" algn="l">
              <a:lnSpc>
                <a:spcPts val="1296"/>
              </a:lnSpc>
              <a:spcBef>
                <a:spcPts val="0"/>
              </a:spcBef>
              <a:spcAft>
                <a:spcPts val="0"/>
              </a:spcAft>
              <a:buNone/>
            </a:pPr>
            <a:r>
              <a:rPr sz="997" b="0" i="0">
                <a:solidFill>
                  <a:srgbClr val="1F2A37"/>
                </a:solidFill>
                <a:latin typeface="Consolas"/>
              </a:rPr>
              <a:t>        best, move = math.inf, None</a:t>
            </a:r>
          </a:p>
          <a:p>
            <a:pPr marL="0" indent="0" algn="l">
              <a:lnSpc>
                <a:spcPts val="1296"/>
              </a:lnSpc>
              <a:spcBef>
                <a:spcPts val="0"/>
              </a:spcBef>
              <a:spcAft>
                <a:spcPts val="0"/>
              </a:spcAft>
              <a:buNone/>
            </a:pPr>
            <a:r>
              <a:rPr sz="997" b="0" i="0">
                <a:solidFill>
                  <a:srgbClr val="1F2A37"/>
                </a:solidFill>
                <a:latin typeface="Consolas"/>
              </a:rPr>
              <a:t>        for a in actions(board):</a:t>
            </a:r>
          </a:p>
          <a:p>
            <a:pPr marL="0" indent="0" algn="l">
              <a:lnSpc>
                <a:spcPts val="1296"/>
              </a:lnSpc>
              <a:spcBef>
                <a:spcPts val="0"/>
              </a:spcBef>
              <a:spcAft>
                <a:spcPts val="0"/>
              </a:spcAft>
              <a:buNone/>
            </a:pPr>
            <a:r>
              <a:rPr sz="997" b="0" i="0">
                <a:solidFill>
                  <a:srgbClr val="1F2A37"/>
                </a:solidFill>
                <a:latin typeface="Consolas"/>
              </a:rPr>
              <a:t>            v, _ = minimax(result(board, a, 'O'), 'X')</a:t>
            </a:r>
          </a:p>
          <a:p>
            <a:pPr marL="0" indent="0" algn="l">
              <a:lnSpc>
                <a:spcPts val="1296"/>
              </a:lnSpc>
              <a:spcBef>
                <a:spcPts val="0"/>
              </a:spcBef>
              <a:spcAft>
                <a:spcPts val="0"/>
              </a:spcAft>
              <a:buNone/>
            </a:pPr>
            <a:r>
              <a:rPr sz="997" b="0" i="0">
                <a:solidFill>
                  <a:srgbClr val="1F2A37"/>
                </a:solidFill>
                <a:latin typeface="Consolas"/>
              </a:rPr>
              <a:t>            if v &lt; best:  best, move = v, a</a:t>
            </a:r>
          </a:p>
          <a:p>
            <a:pPr marL="0" indent="0" algn="l">
              <a:lnSpc>
                <a:spcPts val="1296"/>
              </a:lnSpc>
              <a:spcBef>
                <a:spcPts val="0"/>
              </a:spcBef>
              <a:spcAft>
                <a:spcPts val="0"/>
              </a:spcAft>
              <a:buNone/>
            </a:pPr>
            <a:r>
              <a:rPr sz="997" b="0" i="0">
                <a:solidFill>
                  <a:srgbClr val="1F2A37"/>
                </a:solidFill>
                <a:latin typeface="Consolas"/>
              </a:rPr>
              <a:t>    return best, move</a:t>
            </a:r>
          </a:p>
        </p:txBody>
      </p:sp>
      <p:sp>
        <p:nvSpPr>
          <p:cNvPr id="31" name="TextBox 30"/>
          <p:cNvSpPr txBox="1"/>
          <p:nvPr/>
        </p:nvSpPr>
        <p:spPr>
          <a:xfrm>
            <a:off x="841248" y="5303710"/>
            <a:ext cx="10515600" cy="410748"/>
          </a:xfrm>
          <a:prstGeom prst="rect">
            <a:avLst/>
          </a:prstGeom>
          <a:noFill/>
        </p:spPr>
        <p:txBody>
          <a:bodyPr wrap="square" lIns="0" tIns="0" rIns="0" bIns="0" anchor="t">
            <a:noAutofit/>
          </a:bodyPr>
          <a:lstStyle/>
          <a:p>
            <a:pPr marL="0" indent="0" algn="l">
              <a:lnSpc>
                <a:spcPts val="1473"/>
              </a:lnSpc>
              <a:spcBef>
                <a:spcPts val="0"/>
              </a:spcBef>
              <a:spcAft>
                <a:spcPts val="0"/>
              </a:spcAft>
              <a:buNone/>
            </a:pPr>
            <a:r>
              <a:rPr sz="1188" b="0" i="0" dirty="0">
                <a:solidFill>
                  <a:srgbClr val="333639"/>
                </a:solidFill>
                <a:latin typeface="Fira Sans"/>
              </a:rPr>
              <a:t>Notice which parts are the </a:t>
            </a:r>
            <a:r>
              <a:rPr sz="1188" b="1" i="0" dirty="0">
                <a:solidFill>
                  <a:srgbClr val="574676"/>
                </a:solidFill>
                <a:latin typeface="Fira Sans"/>
              </a:rPr>
              <a:t>environment model</a:t>
            </a:r>
            <a:r>
              <a:rPr sz="1188" b="0" i="0" dirty="0">
                <a:solidFill>
                  <a:srgbClr val="333639"/>
                </a:solidFill>
                <a:latin typeface="Fira Sans"/>
              </a:rPr>
              <a:t> and which is the </a:t>
            </a:r>
            <a:r>
              <a:rPr sz="1188" b="1" i="0" dirty="0">
                <a:solidFill>
                  <a:srgbClr val="8A5100"/>
                </a:solidFill>
                <a:latin typeface="Fira Sans"/>
              </a:rPr>
              <a:t>decision procedure</a:t>
            </a:r>
            <a:r>
              <a:rPr sz="1188" b="0" i="0" dirty="0">
                <a:solidFill>
                  <a:srgbClr val="333639"/>
                </a:solidFill>
                <a:latin typeface="Fira Sans"/>
              </a:rPr>
              <a:t>. The goal-based architecture is exactly this separation: a model of how the world works, plus a search that uses it.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5.13  TWO POSITIONS, TWO REASONS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program wins when it can and blocks when it must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46</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Rectangle 22"/>
          <p:cNvSpPr/>
          <p:nvPr/>
        </p:nvSpPr>
        <p:spPr>
          <a:xfrm>
            <a:off x="841248" y="2084832"/>
            <a:ext cx="500634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41248" y="2231136"/>
            <a:ext cx="5006340" cy="2216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Scenario 1 — X can win now</a:t>
            </a:r>
          </a:p>
        </p:txBody>
      </p:sp>
      <p:sp>
        <p:nvSpPr>
          <p:cNvPr id="25" name="Rectangle 24"/>
          <p:cNvSpPr/>
          <p:nvPr/>
        </p:nvSpPr>
        <p:spPr>
          <a:xfrm>
            <a:off x="841248" y="2562517"/>
            <a:ext cx="5006340" cy="1024191"/>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41248" y="2562517"/>
            <a:ext cx="41148" cy="1024191"/>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24128" y="2653957"/>
            <a:ext cx="4695444" cy="859599"/>
          </a:xfrm>
          <a:prstGeom prst="rect">
            <a:avLst/>
          </a:prstGeom>
          <a:noFill/>
        </p:spPr>
        <p:txBody>
          <a:bodyPr wrap="none" lIns="0" tIns="0" rIns="0" bIns="0" anchor="t">
            <a:noAutofit/>
          </a:bodyPr>
          <a:lstStyle/>
          <a:p>
            <a:pPr marL="0" indent="0" algn="l">
              <a:lnSpc>
                <a:spcPts val="1296"/>
              </a:lnSpc>
              <a:spcBef>
                <a:spcPts val="0"/>
              </a:spcBef>
              <a:spcAft>
                <a:spcPts val="0"/>
              </a:spcAft>
              <a:buNone/>
            </a:pPr>
            <a:r>
              <a:rPr sz="997" b="0" i="0" dirty="0">
                <a:solidFill>
                  <a:srgbClr val="1F2A37"/>
                </a:solidFill>
                <a:latin typeface="Consolas"/>
              </a:rPr>
              <a:t>board = ('X', 'X', None,</a:t>
            </a:r>
          </a:p>
          <a:p>
            <a:pPr marL="0" indent="0" algn="l">
              <a:lnSpc>
                <a:spcPts val="1296"/>
              </a:lnSpc>
              <a:spcBef>
                <a:spcPts val="0"/>
              </a:spcBef>
              <a:spcAft>
                <a:spcPts val="0"/>
              </a:spcAft>
              <a:buNone/>
            </a:pPr>
            <a:r>
              <a:rPr sz="997" b="0" i="0" dirty="0">
                <a:solidFill>
                  <a:srgbClr val="1F2A37"/>
                </a:solidFill>
                <a:latin typeface="Consolas"/>
              </a:rPr>
              <a:t>         'O', 'O', None,</a:t>
            </a:r>
          </a:p>
          <a:p>
            <a:pPr marL="0" indent="0" algn="l">
              <a:lnSpc>
                <a:spcPts val="1296"/>
              </a:lnSpc>
              <a:spcBef>
                <a:spcPts val="0"/>
              </a:spcBef>
              <a:spcAft>
                <a:spcPts val="0"/>
              </a:spcAft>
              <a:buNone/>
            </a:pPr>
            <a:r>
              <a:rPr sz="997" b="0" i="0" dirty="0">
                <a:solidFill>
                  <a:srgbClr val="1F2A37"/>
                </a:solidFill>
                <a:latin typeface="Consolas"/>
              </a:rPr>
              <a:t>         None, None, None)</a:t>
            </a:r>
          </a:p>
          <a:p>
            <a:pPr marL="0" indent="0" algn="l">
              <a:lnSpc>
                <a:spcPts val="1296"/>
              </a:lnSpc>
              <a:spcBef>
                <a:spcPts val="0"/>
              </a:spcBef>
              <a:spcAft>
                <a:spcPts val="0"/>
              </a:spcAft>
              <a:buNone/>
            </a:pPr>
            <a:r>
              <a:rPr sz="997" b="0" i="0" dirty="0">
                <a:solidFill>
                  <a:srgbClr val="1F2A37"/>
                </a:solidFill>
                <a:latin typeface="Consolas"/>
              </a:rPr>
              <a:t>agent = </a:t>
            </a:r>
            <a:r>
              <a:rPr sz="997" b="0" i="0" dirty="0" err="1">
                <a:solidFill>
                  <a:srgbClr val="1F2A37"/>
                </a:solidFill>
                <a:latin typeface="Consolas"/>
              </a:rPr>
              <a:t>GoalBasedTicTacToeAgent</a:t>
            </a:r>
            <a:r>
              <a:rPr sz="997" b="0" i="0" dirty="0">
                <a:solidFill>
                  <a:srgbClr val="1F2A37"/>
                </a:solidFill>
                <a:latin typeface="Consolas"/>
              </a:rPr>
              <a:t>('X')</a:t>
            </a:r>
          </a:p>
          <a:p>
            <a:pPr marL="0" indent="0" algn="l">
              <a:lnSpc>
                <a:spcPts val="1296"/>
              </a:lnSpc>
              <a:spcBef>
                <a:spcPts val="0"/>
              </a:spcBef>
              <a:spcAft>
                <a:spcPts val="0"/>
              </a:spcAft>
              <a:buNone/>
            </a:pPr>
            <a:r>
              <a:rPr sz="997" b="0" i="0" dirty="0">
                <a:solidFill>
                  <a:srgbClr val="1F2A37"/>
                </a:solidFill>
                <a:latin typeface="Consolas"/>
              </a:rPr>
              <a:t>agent(board)   </a:t>
            </a:r>
            <a:r>
              <a:rPr sz="997" b="0" i="1" dirty="0">
                <a:solidFill>
                  <a:srgbClr val="768896"/>
                </a:solidFill>
                <a:latin typeface="Consolas"/>
              </a:rPr>
              <a:t># -&gt; 2</a:t>
            </a:r>
          </a:p>
        </p:txBody>
      </p:sp>
      <p:sp>
        <p:nvSpPr>
          <p:cNvPr id="28" name="TextBox 27"/>
          <p:cNvSpPr txBox="1"/>
          <p:nvPr/>
        </p:nvSpPr>
        <p:spPr>
          <a:xfrm>
            <a:off x="841248" y="3751300"/>
            <a:ext cx="500634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Position 2 completes the top row: that branch has value +1, higher than any alternative. No rule “take the winning move” was written.</a:t>
            </a:r>
          </a:p>
        </p:txBody>
      </p:sp>
      <p:sp>
        <p:nvSpPr>
          <p:cNvPr id="29" name="Rectangle 28"/>
          <p:cNvSpPr/>
          <p:nvPr/>
        </p:nvSpPr>
        <p:spPr>
          <a:xfrm>
            <a:off x="6350507" y="2084832"/>
            <a:ext cx="500634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350507" y="2231136"/>
            <a:ext cx="5006340" cy="2216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Scenario 2 — X must block</a:t>
            </a:r>
          </a:p>
        </p:txBody>
      </p:sp>
      <p:sp>
        <p:nvSpPr>
          <p:cNvPr id="31" name="Rectangle 30"/>
          <p:cNvSpPr/>
          <p:nvPr/>
        </p:nvSpPr>
        <p:spPr>
          <a:xfrm>
            <a:off x="6350507" y="2562517"/>
            <a:ext cx="5006340" cy="85958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6350507" y="2562517"/>
            <a:ext cx="41148" cy="85958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533388" y="2653957"/>
            <a:ext cx="4695444" cy="694994"/>
          </a:xfrm>
          <a:prstGeom prst="rect">
            <a:avLst/>
          </a:prstGeom>
          <a:noFill/>
        </p:spPr>
        <p:txBody>
          <a:bodyPr wrap="none" lIns="0" tIns="0" rIns="0" bIns="0" anchor="t">
            <a:noAutofit/>
          </a:bodyPr>
          <a:lstStyle/>
          <a:p>
            <a:pPr marL="0" indent="0" algn="l">
              <a:lnSpc>
                <a:spcPts val="1296"/>
              </a:lnSpc>
              <a:spcBef>
                <a:spcPts val="0"/>
              </a:spcBef>
              <a:spcAft>
                <a:spcPts val="0"/>
              </a:spcAft>
              <a:buNone/>
            </a:pPr>
            <a:r>
              <a:rPr sz="997" b="0" i="0" dirty="0">
                <a:solidFill>
                  <a:srgbClr val="1F2A37"/>
                </a:solidFill>
                <a:latin typeface="Consolas"/>
              </a:rPr>
              <a:t>board = ('O', 'O', None,</a:t>
            </a:r>
          </a:p>
          <a:p>
            <a:pPr marL="0" indent="0" algn="l">
              <a:lnSpc>
                <a:spcPts val="1296"/>
              </a:lnSpc>
              <a:spcBef>
                <a:spcPts val="0"/>
              </a:spcBef>
              <a:spcAft>
                <a:spcPts val="0"/>
              </a:spcAft>
              <a:buNone/>
            </a:pPr>
            <a:r>
              <a:rPr sz="997" b="0" i="0" dirty="0">
                <a:solidFill>
                  <a:srgbClr val="1F2A37"/>
                </a:solidFill>
                <a:latin typeface="Consolas"/>
              </a:rPr>
              <a:t>         'X', None, None,</a:t>
            </a:r>
          </a:p>
          <a:p>
            <a:pPr marL="0" indent="0" algn="l">
              <a:lnSpc>
                <a:spcPts val="1296"/>
              </a:lnSpc>
              <a:spcBef>
                <a:spcPts val="0"/>
              </a:spcBef>
              <a:spcAft>
                <a:spcPts val="0"/>
              </a:spcAft>
              <a:buNone/>
            </a:pPr>
            <a:r>
              <a:rPr sz="997" b="0" i="0" dirty="0">
                <a:solidFill>
                  <a:srgbClr val="1F2A37"/>
                </a:solidFill>
                <a:latin typeface="Consolas"/>
              </a:rPr>
              <a:t>         None, None, 'X')</a:t>
            </a:r>
          </a:p>
          <a:p>
            <a:pPr marL="0" indent="0" algn="l">
              <a:lnSpc>
                <a:spcPts val="1296"/>
              </a:lnSpc>
              <a:spcBef>
                <a:spcPts val="0"/>
              </a:spcBef>
              <a:spcAft>
                <a:spcPts val="0"/>
              </a:spcAft>
              <a:buNone/>
            </a:pPr>
            <a:r>
              <a:rPr sz="997" b="0" i="0" dirty="0">
                <a:solidFill>
                  <a:srgbClr val="1F2A37"/>
                </a:solidFill>
                <a:latin typeface="Consolas"/>
              </a:rPr>
              <a:t>agent(board)   </a:t>
            </a:r>
            <a:r>
              <a:rPr sz="997" b="0" i="1" dirty="0">
                <a:solidFill>
                  <a:srgbClr val="768896"/>
                </a:solidFill>
                <a:latin typeface="Consolas"/>
              </a:rPr>
              <a:t># -&gt; 2</a:t>
            </a:r>
          </a:p>
        </p:txBody>
      </p:sp>
      <p:sp>
        <p:nvSpPr>
          <p:cNvPr id="34" name="TextBox 33"/>
          <p:cNvSpPr txBox="1"/>
          <p:nvPr/>
        </p:nvSpPr>
        <p:spPr>
          <a:xfrm>
            <a:off x="6350507" y="3586695"/>
            <a:ext cx="500634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same index, for the opposite reason: every other move lets O complete the top row, giving value −1. Blocking is the only move that avoids a loss.</a:t>
            </a:r>
          </a:p>
        </p:txBody>
      </p:sp>
      <p:sp>
        <p:nvSpPr>
          <p:cNvPr id="35" name="Rectangle 34"/>
          <p:cNvSpPr/>
          <p:nvPr/>
        </p:nvSpPr>
        <p:spPr>
          <a:xfrm>
            <a:off x="841248" y="4321886"/>
            <a:ext cx="10515600" cy="64008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841248" y="4321886"/>
            <a:ext cx="41148" cy="64008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060704" y="4468190"/>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One program, two </a:t>
            </a:r>
            <a:r>
              <a:rPr sz="1140" b="0" i="0" dirty="0" err="1">
                <a:solidFill>
                  <a:srgbClr val="333639"/>
                </a:solidFill>
                <a:latin typeface="Fira Sans"/>
              </a:rPr>
              <a:t>behaviours</a:t>
            </a:r>
            <a:r>
              <a:rPr sz="1140" b="0" i="0" dirty="0">
                <a:solidFill>
                  <a:srgbClr val="333639"/>
                </a:solidFill>
                <a:latin typeface="Fira Sans"/>
              </a:rPr>
              <a:t> that a reflex agent would have needed two separate rules for and it would still fail on the third case nobody thought of. </a:t>
            </a:r>
            <a:r>
              <a:rPr sz="1140" b="1" i="0" dirty="0">
                <a:solidFill>
                  <a:srgbClr val="333639"/>
                </a:solidFill>
                <a:latin typeface="Fira Sans"/>
              </a:rPr>
              <a:t>This is what “considering future consequences” buys.</a:t>
            </a:r>
          </a:p>
        </p:txBody>
      </p:sp>
      <p:sp>
        <p:nvSpPr>
          <p:cNvPr id="38" name="TextBox 37"/>
          <p:cNvSpPr txBox="1"/>
          <p:nvPr/>
        </p:nvSpPr>
        <p:spPr>
          <a:xfrm>
            <a:off x="841248" y="516313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MINIMAX GUARANTEES, AND WHAT IT ASSUMES</a:t>
            </a:r>
          </a:p>
        </p:txBody>
      </p:sp>
      <p:sp>
        <p:nvSpPr>
          <p:cNvPr id="39" name="Rectangle 38"/>
          <p:cNvSpPr/>
          <p:nvPr/>
        </p:nvSpPr>
        <p:spPr>
          <a:xfrm>
            <a:off x="841248" y="5400878"/>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41248" y="5528894"/>
            <a:ext cx="3297936" cy="56254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dirty="0">
                <a:solidFill>
                  <a:srgbClr val="25282A"/>
                </a:solidFill>
                <a:latin typeface="Fira Sans"/>
              </a:rPr>
              <a:t>It never loses</a:t>
            </a:r>
          </a:p>
          <a:p>
            <a:pPr marL="0" indent="0" algn="l">
              <a:lnSpc>
                <a:spcPts val="1176"/>
              </a:lnSpc>
              <a:spcBef>
                <a:spcPts val="500"/>
              </a:spcBef>
              <a:spcAft>
                <a:spcPts val="0"/>
              </a:spcAft>
              <a:buNone/>
            </a:pPr>
            <a:r>
              <a:rPr sz="997" b="0" i="0" dirty="0">
                <a:solidFill>
                  <a:srgbClr val="626669"/>
                </a:solidFill>
                <a:latin typeface="Fira Sans"/>
              </a:rPr>
              <a:t>The backed-up value of the chosen action is its worst case</a:t>
            </a:r>
            <a:r>
              <a:rPr lang="it-IT" sz="997" b="0" i="0" dirty="0">
                <a:solidFill>
                  <a:srgbClr val="626669"/>
                </a:solidFill>
                <a:latin typeface="Fira Sans"/>
              </a:rPr>
              <a:t>, </a:t>
            </a:r>
            <a:r>
              <a:rPr sz="997" b="0" i="0" dirty="0">
                <a:solidFill>
                  <a:srgbClr val="626669"/>
                </a:solidFill>
                <a:latin typeface="Fira Sans"/>
              </a:rPr>
              <a:t>never −1 from the opening position.</a:t>
            </a:r>
          </a:p>
        </p:txBody>
      </p:sp>
      <p:sp>
        <p:nvSpPr>
          <p:cNvPr id="41" name="Rectangle 40"/>
          <p:cNvSpPr/>
          <p:nvPr/>
        </p:nvSpPr>
        <p:spPr>
          <a:xfrm>
            <a:off x="4450080" y="5400878"/>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4450080" y="5528894"/>
            <a:ext cx="3297936" cy="56254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It wins when a win is forced</a:t>
            </a:r>
          </a:p>
          <a:p>
            <a:pPr marL="0" indent="0" algn="l">
              <a:lnSpc>
                <a:spcPts val="1176"/>
              </a:lnSpc>
              <a:spcBef>
                <a:spcPts val="500"/>
              </a:spcBef>
              <a:spcAft>
                <a:spcPts val="0"/>
              </a:spcAft>
              <a:buNone/>
            </a:pPr>
            <a:r>
              <a:rPr sz="997" b="0" i="0">
                <a:solidFill>
                  <a:srgbClr val="626669"/>
                </a:solidFill>
                <a:latin typeface="Fira Sans"/>
              </a:rPr>
              <a:t>If a branch has value +1 under optimal opposition, the search finds it. Nothing is approximated.</a:t>
            </a:r>
          </a:p>
        </p:txBody>
      </p:sp>
      <p:sp>
        <p:nvSpPr>
          <p:cNvPr id="43" name="Rectangle 42"/>
          <p:cNvSpPr/>
          <p:nvPr/>
        </p:nvSpPr>
        <p:spPr>
          <a:xfrm>
            <a:off x="8058912" y="5400878"/>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058912" y="5528894"/>
            <a:ext cx="3297936" cy="56254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It assumes a rational opponent</a:t>
            </a:r>
          </a:p>
          <a:p>
            <a:pPr marL="0" indent="0" algn="l">
              <a:lnSpc>
                <a:spcPts val="1176"/>
              </a:lnSpc>
              <a:spcBef>
                <a:spcPts val="500"/>
              </a:spcBef>
              <a:spcAft>
                <a:spcPts val="0"/>
              </a:spcAft>
              <a:buNone/>
            </a:pPr>
            <a:r>
              <a:rPr sz="997" b="0" i="0">
                <a:solidFill>
                  <a:srgbClr val="626669"/>
                </a:solidFill>
                <a:latin typeface="Fira Sans"/>
              </a:rPr>
              <a:t>Against a weak opponent it is safe rather than exploitative: it never gambles on a likely mistake.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5.14  THE COST OF LOOKING AHEAD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Exhaustive search is feasible for Tic-Tac-Toe and for almost nothing else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47</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Utility-based</a:t>
            </a:r>
          </a:p>
          <a:p>
            <a:pPr marL="0" indent="0" algn="l">
              <a:lnSpc>
                <a:spcPts val="988"/>
              </a:lnSpc>
              <a:spcBef>
                <a:spcPts val="300"/>
              </a:spcBef>
              <a:spcAft>
                <a:spcPts val="0"/>
              </a:spcAft>
              <a:buNone/>
            </a:pPr>
            <a:r>
              <a:rPr sz="882" b="0" i="0">
                <a:solidFill>
                  <a:srgbClr val="8E9295"/>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57984"/>
            <a:ext cx="10515600" cy="227926"/>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This brute-force minimax explores the entire remaining game tree. That is possible for Tic-Tac-Toe only because the tree is small.</a:t>
            </a:r>
          </a:p>
        </p:txBody>
      </p:sp>
      <p:pic>
        <p:nvPicPr>
          <p:cNvPr id="24" name="Picture 23" descr="eq_ttt_ches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13047" y="2641942"/>
            <a:ext cx="6365875" cy="409575"/>
          </a:xfrm>
          <a:prstGeom prst="rect">
            <a:avLst/>
          </a:prstGeom>
        </p:spPr>
      </p:pic>
      <p:sp>
        <p:nvSpPr>
          <p:cNvPr id="25" name="Rectangle 24"/>
          <p:cNvSpPr/>
          <p:nvPr/>
        </p:nvSpPr>
        <p:spPr>
          <a:xfrm>
            <a:off x="841248" y="345385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41248" y="3691597"/>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41248" y="3837901"/>
            <a:ext cx="3297936" cy="9439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2B7A3E"/>
                </a:solidFill>
                <a:latin typeface="Fira Sans"/>
              </a:rPr>
              <a:t>THE TOY CASE</a:t>
            </a:r>
          </a:p>
          <a:p>
            <a:pPr marL="0" indent="0" algn="l">
              <a:lnSpc>
                <a:spcPts val="1300"/>
              </a:lnSpc>
              <a:spcBef>
                <a:spcPts val="500"/>
              </a:spcBef>
              <a:spcAft>
                <a:spcPts val="0"/>
              </a:spcAft>
              <a:buNone/>
            </a:pPr>
            <a:r>
              <a:rPr sz="1140" b="1" i="0">
                <a:solidFill>
                  <a:srgbClr val="25282A"/>
                </a:solidFill>
                <a:latin typeface="Fira Sans"/>
              </a:rPr>
              <a:t>Tic-Tac-Toe: about 3.63 × 10⁵ terminal sequences</a:t>
            </a:r>
          </a:p>
          <a:p>
            <a:pPr marL="0" indent="0" algn="l">
              <a:lnSpc>
                <a:spcPts val="1254"/>
              </a:lnSpc>
              <a:spcBef>
                <a:spcPts val="600"/>
              </a:spcBef>
              <a:spcAft>
                <a:spcPts val="0"/>
              </a:spcAft>
              <a:buNone/>
            </a:pPr>
            <a:r>
              <a:rPr sz="1045" b="0" i="0">
                <a:solidFill>
                  <a:srgbClr val="626669"/>
                </a:solidFill>
                <a:latin typeface="Fira Sans"/>
              </a:rPr>
              <a:t>Small enough to enumerate exhaustively in well under a second. The agent is optimal by construction, and there is nothing to approximate.</a:t>
            </a:r>
          </a:p>
        </p:txBody>
      </p:sp>
      <p:sp>
        <p:nvSpPr>
          <p:cNvPr id="28" name="Rectangle 27"/>
          <p:cNvSpPr/>
          <p:nvPr/>
        </p:nvSpPr>
        <p:spPr>
          <a:xfrm>
            <a:off x="4450080" y="3691597"/>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450080" y="3837901"/>
            <a:ext cx="3297936" cy="9439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C8102E"/>
                </a:solidFill>
                <a:latin typeface="Fira Sans"/>
              </a:rPr>
              <a:t>THE REAL CASE</a:t>
            </a:r>
          </a:p>
          <a:p>
            <a:pPr marL="0" indent="0" algn="l">
              <a:lnSpc>
                <a:spcPts val="1300"/>
              </a:lnSpc>
              <a:spcBef>
                <a:spcPts val="500"/>
              </a:spcBef>
              <a:spcAft>
                <a:spcPts val="0"/>
              </a:spcAft>
              <a:buNone/>
            </a:pPr>
            <a:r>
              <a:rPr sz="1140" b="1" i="0" dirty="0">
                <a:solidFill>
                  <a:srgbClr val="25282A"/>
                </a:solidFill>
                <a:latin typeface="Fira Sans"/>
              </a:rPr>
              <a:t>Chess: roughly 10¹⁵⁴ possible game sequences</a:t>
            </a:r>
          </a:p>
          <a:p>
            <a:pPr marL="0" indent="0" algn="l">
              <a:lnSpc>
                <a:spcPts val="1254"/>
              </a:lnSpc>
              <a:spcBef>
                <a:spcPts val="600"/>
              </a:spcBef>
              <a:spcAft>
                <a:spcPts val="0"/>
              </a:spcAft>
              <a:buNone/>
            </a:pPr>
            <a:r>
              <a:rPr sz="1045" b="0" i="0" dirty="0">
                <a:solidFill>
                  <a:srgbClr val="626669"/>
                </a:solidFill>
                <a:latin typeface="Fira Sans"/>
              </a:rPr>
              <a:t>Exhaustive search is not slow here; it is impossible.</a:t>
            </a:r>
          </a:p>
        </p:txBody>
      </p:sp>
      <p:sp>
        <p:nvSpPr>
          <p:cNvPr id="30" name="Rectangle 29"/>
          <p:cNvSpPr/>
          <p:nvPr/>
        </p:nvSpPr>
        <p:spPr>
          <a:xfrm>
            <a:off x="8058912" y="3691597"/>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058912" y="3837901"/>
            <a:ext cx="3297936" cy="1103190"/>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574676"/>
                </a:solidFill>
                <a:latin typeface="Fira Sans"/>
              </a:rPr>
              <a:t>THE PRACTICAL REPAIR</a:t>
            </a:r>
          </a:p>
          <a:p>
            <a:pPr marL="0" indent="0" algn="l">
              <a:lnSpc>
                <a:spcPts val="1300"/>
              </a:lnSpc>
              <a:spcBef>
                <a:spcPts val="500"/>
              </a:spcBef>
              <a:spcAft>
                <a:spcPts val="0"/>
              </a:spcAft>
              <a:buNone/>
            </a:pPr>
            <a:r>
              <a:rPr sz="1140" b="1" i="0">
                <a:solidFill>
                  <a:srgbClr val="25282A"/>
                </a:solidFill>
                <a:latin typeface="Fira Sans"/>
              </a:rPr>
              <a:t>Prune, and stop early with an estimate</a:t>
            </a:r>
          </a:p>
          <a:p>
            <a:pPr marL="0" indent="0" algn="l">
              <a:lnSpc>
                <a:spcPts val="1254"/>
              </a:lnSpc>
              <a:spcBef>
                <a:spcPts val="600"/>
              </a:spcBef>
              <a:spcAft>
                <a:spcPts val="0"/>
              </a:spcAft>
              <a:buNone/>
            </a:pPr>
            <a:r>
              <a:rPr sz="1045" b="0" i="0">
                <a:solidFill>
                  <a:srgbClr val="626669"/>
                </a:solidFill>
                <a:latin typeface="Fira Sans"/>
              </a:rPr>
              <a:t>Alpha–beta pruning discards branches that cannot affect the result, and a heuristic evaluation function replaces exact values at a cut-off depth. Both are approximations of the same recursion.</a:t>
            </a:r>
          </a:p>
        </p:txBody>
      </p:sp>
      <p:sp>
        <p:nvSpPr>
          <p:cNvPr id="32" name="Rectangle 31"/>
          <p:cNvSpPr/>
          <p:nvPr/>
        </p:nvSpPr>
        <p:spPr>
          <a:xfrm>
            <a:off x="841248" y="5197124"/>
            <a:ext cx="10515600" cy="6400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841248" y="5197124"/>
            <a:ext cx="41148" cy="6400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060704" y="534342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 pattern repeats for the third time: an exact method that is correct and infeasible, and an approximation that is feasible and nearly correct. </a:t>
            </a:r>
            <a:r>
              <a:rPr sz="1140" b="1" i="0">
                <a:solidFill>
                  <a:srgbClr val="333639"/>
                </a:solidFill>
                <a:latin typeface="Fira Sans"/>
              </a:rPr>
              <a:t>Reinforcement learning is, in large part, a systematic study of such approximations.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5.15  UTILITY-BASED AGENT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goal is binary; a preference is graded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48</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Utility-based</a:t>
            </a:r>
          </a:p>
          <a:p>
            <a:pPr marL="0" indent="0" algn="l">
              <a:lnSpc>
                <a:spcPts val="988"/>
              </a:lnSpc>
              <a:spcBef>
                <a:spcPts val="300"/>
              </a:spcBef>
              <a:spcAft>
                <a:spcPts val="0"/>
              </a:spcAft>
              <a:buNone/>
            </a:pPr>
            <a:r>
              <a:rPr sz="882" b="0" i="0">
                <a:solidFill>
                  <a:srgbClr val="626669"/>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21408"/>
            <a:ext cx="5980176"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Goals alone are often not enough for high-quality behaviour. Many action sequences reach the same goal, but some are faster, safer or cheaper. A goal only distinguishes success from failure; a performance measure says how desirable each outcome is.</a:t>
            </a:r>
          </a:p>
        </p:txBody>
      </p:sp>
      <p:sp>
        <p:nvSpPr>
          <p:cNvPr id="25" name="TextBox 24"/>
          <p:cNvSpPr txBox="1"/>
          <p:nvPr/>
        </p:nvSpPr>
        <p:spPr>
          <a:xfrm>
            <a:off x="841248" y="5115062"/>
            <a:ext cx="5980176"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One more block: predicted outcomes are scored by a utility function before an action is chosen. The diagram has grown monotonically</a:t>
            </a:r>
            <a:r>
              <a:rPr lang="it-IT" sz="950" b="0" i="1" dirty="0">
                <a:solidFill>
                  <a:srgbClr val="626669"/>
                </a:solidFill>
                <a:latin typeface="Fira Sans"/>
              </a:rPr>
              <a:t>, </a:t>
            </a:r>
            <a:r>
              <a:rPr sz="950" b="0" i="1" dirty="0">
                <a:solidFill>
                  <a:srgbClr val="626669"/>
                </a:solidFill>
                <a:latin typeface="Fira Sans"/>
              </a:rPr>
              <a:t>nothing has been taken away.</a:t>
            </a:r>
          </a:p>
        </p:txBody>
      </p:sp>
      <p:sp>
        <p:nvSpPr>
          <p:cNvPr id="26" name="TextBox 25"/>
          <p:cNvSpPr txBox="1"/>
          <p:nvPr/>
        </p:nvSpPr>
        <p:spPr>
          <a:xfrm>
            <a:off x="7232904" y="2121408"/>
            <a:ext cx="4117817" cy="794890"/>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20">
                <a:solidFill>
                  <a:srgbClr val="C8102E"/>
                </a:solidFill>
                <a:latin typeface="Fira Sans"/>
              </a:rPr>
              <a:t>UTILITY</a:t>
            </a:r>
          </a:p>
          <a:p>
            <a:pPr marL="0" indent="0" algn="l">
              <a:lnSpc>
                <a:spcPts val="1391"/>
              </a:lnSpc>
              <a:spcBef>
                <a:spcPts val="0"/>
              </a:spcBef>
              <a:spcAft>
                <a:spcPts val="0"/>
              </a:spcAft>
              <a:buNone/>
            </a:pPr>
            <a:r>
              <a:rPr sz="1140" b="0" i="0">
                <a:solidFill>
                  <a:srgbClr val="333639"/>
                </a:solidFill>
                <a:latin typeface="Fira Sans"/>
              </a:rPr>
              <a:t>A </a:t>
            </a:r>
            <a:r>
              <a:rPr sz="1140" b="1" i="0">
                <a:solidFill>
                  <a:srgbClr val="25282A"/>
                </a:solidFill>
                <a:latin typeface="Fira Sans"/>
              </a:rPr>
              <a:t>utility function</a:t>
            </a:r>
            <a:r>
              <a:rPr sz="1140" b="0" i="0">
                <a:solidFill>
                  <a:srgbClr val="333639"/>
                </a:solidFill>
                <a:latin typeface="Fira Sans"/>
              </a:rPr>
              <a:t> assigns a number to each outcome according to how desirable it is, extending a goal from a yes/no test into a ranking.</a:t>
            </a:r>
          </a:p>
        </p:txBody>
      </p:sp>
      <p:sp>
        <p:nvSpPr>
          <p:cNvPr id="27" name="Rectangle 26"/>
          <p:cNvSpPr/>
          <p:nvPr/>
        </p:nvSpPr>
        <p:spPr>
          <a:xfrm>
            <a:off x="7232904" y="3117466"/>
            <a:ext cx="4117817" cy="958291"/>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232904" y="3117466"/>
            <a:ext cx="41148" cy="9582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452360" y="3263770"/>
            <a:ext cx="3733769"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Utility is the </a:t>
            </a:r>
            <a:r>
              <a:rPr sz="1092" b="1" i="0" dirty="0" err="1">
                <a:solidFill>
                  <a:srgbClr val="333639"/>
                </a:solidFill>
                <a:latin typeface="Fira Sans"/>
              </a:rPr>
              <a:t>internalisation</a:t>
            </a:r>
            <a:r>
              <a:rPr sz="1092" b="1" i="0" dirty="0">
                <a:solidFill>
                  <a:srgbClr val="333639"/>
                </a:solidFill>
                <a:latin typeface="Fira Sans"/>
              </a:rPr>
              <a:t> of the performance measure</a:t>
            </a:r>
            <a:r>
              <a:rPr sz="1092" b="0" i="0" dirty="0">
                <a:solidFill>
                  <a:srgbClr val="333639"/>
                </a:solidFill>
                <a:latin typeface="Fira Sans"/>
              </a:rPr>
              <a:t>. If it is aligned with the external measure, an agent that </a:t>
            </a:r>
            <a:r>
              <a:rPr sz="1092" b="0" i="0" dirty="0" err="1">
                <a:solidFill>
                  <a:srgbClr val="333639"/>
                </a:solidFill>
                <a:latin typeface="Fira Sans"/>
              </a:rPr>
              <a:t>maximises</a:t>
            </a:r>
            <a:r>
              <a:rPr sz="1092" b="0" i="0" dirty="0">
                <a:solidFill>
                  <a:srgbClr val="333639"/>
                </a:solidFill>
                <a:latin typeface="Fira Sans"/>
              </a:rPr>
              <a:t> utility behaves rationally with respect to that measure</a:t>
            </a:r>
            <a:r>
              <a:rPr lang="it-IT" sz="1092" b="0" i="0" dirty="0">
                <a:solidFill>
                  <a:srgbClr val="333639"/>
                </a:solidFill>
                <a:latin typeface="Fira Sans"/>
              </a:rPr>
              <a:t>, </a:t>
            </a:r>
            <a:r>
              <a:rPr sz="1092" b="0" i="0" dirty="0">
                <a:solidFill>
                  <a:srgbClr val="333639"/>
                </a:solidFill>
                <a:latin typeface="Fira Sans"/>
              </a:rPr>
              <a:t>which is the point of introducing it.</a:t>
            </a:r>
          </a:p>
        </p:txBody>
      </p:sp>
      <p:sp>
        <p:nvSpPr>
          <p:cNvPr id="30" name="TextBox 29"/>
          <p:cNvSpPr txBox="1"/>
          <p:nvPr/>
        </p:nvSpPr>
        <p:spPr>
          <a:xfrm>
            <a:off x="7232904" y="4295213"/>
            <a:ext cx="4117817"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GOALS ALONE ARE INSUFFICIENT</a:t>
            </a:r>
          </a:p>
        </p:txBody>
      </p:sp>
      <p:sp>
        <p:nvSpPr>
          <p:cNvPr id="31" name="TextBox 30"/>
          <p:cNvSpPr txBox="1"/>
          <p:nvPr/>
        </p:nvSpPr>
        <p:spPr>
          <a:xfrm>
            <a:off x="7232904" y="4551245"/>
            <a:ext cx="4117817" cy="1170858"/>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0" i="0" dirty="0">
                <a:solidFill>
                  <a:srgbClr val="333639"/>
                </a:solidFill>
                <a:latin typeface="Fira Sans"/>
              </a:rPr>
              <a:t>Many routes reach the destination; they differ in time, fuel and risk.</a:t>
            </a:r>
          </a:p>
          <a:p>
            <a:pPr marL="173736" indent="-173736" algn="l">
              <a:lnSpc>
                <a:spcPts val="1289"/>
              </a:lnSpc>
              <a:spcBef>
                <a:spcPts val="600"/>
              </a:spcBef>
              <a:spcAft>
                <a:spcPts val="0"/>
              </a:spcAft>
              <a:buClr>
                <a:srgbClr val="1971C2"/>
              </a:buClr>
              <a:buFont typeface="Fira Sans"/>
              <a:buChar char="–"/>
            </a:pPr>
            <a:r>
              <a:rPr sz="1092" b="0" i="0" dirty="0">
                <a:solidFill>
                  <a:srgbClr val="333639"/>
                </a:solidFill>
                <a:latin typeface="Fira Sans"/>
              </a:rPr>
              <a:t>Goals can conflict</a:t>
            </a:r>
            <a:r>
              <a:rPr lang="it-IT" sz="1092" b="0" i="0" dirty="0">
                <a:solidFill>
                  <a:srgbClr val="333639"/>
                </a:solidFill>
                <a:latin typeface="Fira Sans"/>
              </a:rPr>
              <a:t>:</a:t>
            </a:r>
            <a:r>
              <a:rPr sz="1092" b="0" i="0" dirty="0">
                <a:solidFill>
                  <a:srgbClr val="333639"/>
                </a:solidFill>
                <a:latin typeface="Fira Sans"/>
              </a:rPr>
              <a:t> arrive quickly, arrive safely. Utility trades them off on one scale.</a:t>
            </a:r>
          </a:p>
          <a:p>
            <a:pPr marL="173736" indent="-173736" algn="l">
              <a:lnSpc>
                <a:spcPts val="1289"/>
              </a:lnSpc>
              <a:spcBef>
                <a:spcPts val="600"/>
              </a:spcBef>
              <a:spcAft>
                <a:spcPts val="0"/>
              </a:spcAft>
              <a:buClr>
                <a:srgbClr val="1971C2"/>
              </a:buClr>
              <a:buFont typeface="Fira Sans"/>
              <a:buChar char="–"/>
            </a:pPr>
            <a:r>
              <a:rPr sz="1092" b="0" i="0" dirty="0">
                <a:solidFill>
                  <a:srgbClr val="333639"/>
                </a:solidFill>
                <a:latin typeface="Fira Sans"/>
              </a:rPr>
              <a:t>Some goals are unreachable with certainty. Utility still ranks the partial outcomes.</a:t>
            </a:r>
          </a:p>
        </p:txBody>
      </p:sp>
      <p:pic>
        <p:nvPicPr>
          <p:cNvPr id="32" name="Immagine 31">
            <a:extLst>
              <a:ext uri="{FF2B5EF4-FFF2-40B4-BE49-F238E27FC236}">
                <a16:creationId xmlns:a16="http://schemas.microsoft.com/office/drawing/2014/main" id="{D611FF5A-46B7-2050-EB79-0254EB4445BC}"/>
              </a:ext>
            </a:extLst>
          </p:cNvPr>
          <p:cNvPicPr>
            <a:picLocks noChangeAspect="1"/>
          </p:cNvPicPr>
          <p:nvPr/>
        </p:nvPicPr>
        <p:blipFill>
          <a:blip r:embed="rId2"/>
          <a:srcRect r="26264"/>
          <a:stretch>
            <a:fillRect/>
          </a:stretch>
        </p:blipFill>
        <p:spPr>
          <a:xfrm>
            <a:off x="790524" y="2741475"/>
            <a:ext cx="5731046" cy="225923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5.16  DECIDING UNDER UNCERTAINTY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Weigh each outcome by how likely it is and by how good it is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49</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Utility-based</a:t>
            </a:r>
          </a:p>
          <a:p>
            <a:pPr marL="0" indent="0" algn="l">
              <a:lnSpc>
                <a:spcPts val="988"/>
              </a:lnSpc>
              <a:spcBef>
                <a:spcPts val="300"/>
              </a:spcBef>
              <a:spcAft>
                <a:spcPts val="0"/>
              </a:spcAft>
              <a:buNone/>
            </a:pPr>
            <a:r>
              <a:rPr sz="882" b="0" i="0">
                <a:solidFill>
                  <a:srgbClr val="626669"/>
                </a:solidFill>
                <a:latin typeface="Fira Sans"/>
              </a:rPr>
              <a:t>+ graded preferences</a:t>
            </a:r>
          </a:p>
        </p:txBody>
      </p:sp>
      <p:sp>
        <p:nvSpPr>
          <p:cNvPr id="20" name="Rectangle 19"/>
          <p:cNvSpPr/>
          <p:nvPr/>
        </p:nvSpPr>
        <p:spPr>
          <a:xfrm>
            <a:off x="9326880"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8E9295"/>
                </a:solidFill>
                <a:latin typeface="Fira Sans"/>
              </a:rPr>
              <a:t>Learning</a:t>
            </a:r>
          </a:p>
          <a:p>
            <a:pPr marL="0" indent="0" algn="l">
              <a:lnSpc>
                <a:spcPts val="988"/>
              </a:lnSpc>
              <a:spcBef>
                <a:spcPts val="300"/>
              </a:spcBef>
              <a:spcAft>
                <a:spcPts val="0"/>
              </a:spcAft>
              <a:buNone/>
            </a:pPr>
            <a:r>
              <a:rPr sz="882" b="0" i="0">
                <a:solidFill>
                  <a:srgbClr val="8E9295"/>
                </a:solidFill>
                <a:latin typeface="Fira Sans"/>
              </a:rPr>
              <a:t>+ improvement from feedback</a:t>
            </a:r>
          </a:p>
        </p:txBody>
      </p:sp>
      <p:sp>
        <p:nvSpPr>
          <p:cNvPr id="23" name="TextBox 22"/>
          <p:cNvSpPr txBox="1"/>
          <p:nvPr/>
        </p:nvSpPr>
        <p:spPr>
          <a:xfrm>
            <a:off x="841248" y="2121408"/>
            <a:ext cx="1051560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Partial observability and non-determinism are inherent in real environments, so an action does not determine an outcome. A rational utility-based agent chooses the action that </a:t>
            </a:r>
            <a:r>
              <a:rPr sz="1188" b="0" i="0" dirty="0" err="1">
                <a:solidFill>
                  <a:srgbClr val="333639"/>
                </a:solidFill>
                <a:latin typeface="Fira Sans"/>
              </a:rPr>
              <a:t>maximises</a:t>
            </a:r>
            <a:r>
              <a:rPr sz="1188" b="0" i="0" dirty="0">
                <a:solidFill>
                  <a:srgbClr val="333639"/>
                </a:solidFill>
                <a:latin typeface="Fira Sans"/>
              </a:rPr>
              <a:t> expected utility: the utility it expects on average, weighing both the probability and the desirability of each possible outcome.</a:t>
            </a:r>
          </a:p>
        </p:txBody>
      </p:sp>
      <p:pic>
        <p:nvPicPr>
          <p:cNvPr id="24" name="Picture 23" descr="eq_eu.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4128" y="2947934"/>
            <a:ext cx="4807965" cy="882141"/>
          </a:xfrm>
          <a:prstGeom prst="rect">
            <a:avLst/>
          </a:prstGeom>
        </p:spPr>
      </p:pic>
      <p:sp>
        <p:nvSpPr>
          <p:cNvPr id="25" name="TextBox 24"/>
          <p:cNvSpPr txBox="1"/>
          <p:nvPr/>
        </p:nvSpPr>
        <p:spPr>
          <a:xfrm>
            <a:off x="6446520" y="3039374"/>
            <a:ext cx="4904201"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C8102E"/>
                </a:solidFill>
                <a:latin typeface="Fira Sans"/>
              </a:rPr>
              <a:t>AND THEN ACT</a:t>
            </a:r>
          </a:p>
        </p:txBody>
      </p:sp>
      <p:pic>
        <p:nvPicPr>
          <p:cNvPr id="26" name="Picture 25" descr="eq_eu_ac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46520" y="3368558"/>
            <a:ext cx="2420620" cy="431799"/>
          </a:xfrm>
          <a:prstGeom prst="rect">
            <a:avLst/>
          </a:prstGeom>
        </p:spPr>
      </p:pic>
      <p:sp>
        <p:nvSpPr>
          <p:cNvPr id="27" name="Rectangle 26"/>
          <p:cNvSpPr/>
          <p:nvPr/>
        </p:nvSpPr>
        <p:spPr>
          <a:xfrm>
            <a:off x="841248" y="410439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841248" y="4342140"/>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41248" y="4488444"/>
            <a:ext cx="3297936" cy="9439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574676"/>
                </a:solidFill>
                <a:latin typeface="Fira Sans"/>
              </a:rPr>
              <a:t>THE PROBABILITY TERM</a:t>
            </a:r>
          </a:p>
          <a:p>
            <a:pPr marL="0" indent="0" algn="l">
              <a:lnSpc>
                <a:spcPts val="1300"/>
              </a:lnSpc>
              <a:spcBef>
                <a:spcPts val="500"/>
              </a:spcBef>
              <a:spcAft>
                <a:spcPts val="0"/>
              </a:spcAft>
              <a:buNone/>
            </a:pPr>
            <a:r>
              <a:rPr sz="1140" b="1" i="0" dirty="0">
                <a:solidFill>
                  <a:srgbClr val="25282A"/>
                </a:solidFill>
                <a:latin typeface="Fira Sans"/>
              </a:rPr>
              <a:t>Comes from the transition and sensor models</a:t>
            </a:r>
          </a:p>
          <a:p>
            <a:pPr marL="0" indent="0" algn="l">
              <a:lnSpc>
                <a:spcPts val="1254"/>
              </a:lnSpc>
              <a:spcBef>
                <a:spcPts val="600"/>
              </a:spcBef>
              <a:spcAft>
                <a:spcPts val="0"/>
              </a:spcAft>
              <a:buNone/>
            </a:pPr>
            <a:r>
              <a:rPr sz="1045" b="0" i="0" dirty="0">
                <a:solidFill>
                  <a:srgbClr val="626669"/>
                </a:solidFill>
                <a:latin typeface="Fira Sans"/>
              </a:rPr>
              <a:t>The model-based machinery, now used to weigh futures rather than track the present. Where it is unavailable, it must be learned.</a:t>
            </a:r>
          </a:p>
        </p:txBody>
      </p:sp>
      <p:sp>
        <p:nvSpPr>
          <p:cNvPr id="30" name="Rectangle 29"/>
          <p:cNvSpPr/>
          <p:nvPr/>
        </p:nvSpPr>
        <p:spPr>
          <a:xfrm>
            <a:off x="4450080" y="4342140"/>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4450080" y="4488444"/>
            <a:ext cx="3297936" cy="1108981"/>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2B7A3E"/>
                </a:solidFill>
                <a:latin typeface="Fira Sans"/>
              </a:rPr>
              <a:t>THE UTILITY TERM</a:t>
            </a:r>
          </a:p>
          <a:p>
            <a:pPr marL="0" indent="0" algn="l">
              <a:lnSpc>
                <a:spcPts val="1300"/>
              </a:lnSpc>
              <a:spcBef>
                <a:spcPts val="500"/>
              </a:spcBef>
              <a:spcAft>
                <a:spcPts val="0"/>
              </a:spcAft>
              <a:buNone/>
            </a:pPr>
            <a:r>
              <a:rPr sz="1140" b="1" i="0" dirty="0">
                <a:solidFill>
                  <a:srgbClr val="25282A"/>
                </a:solidFill>
                <a:latin typeface="Fira Sans"/>
              </a:rPr>
              <a:t>Comes from the designer, via the performance measure</a:t>
            </a:r>
          </a:p>
          <a:p>
            <a:pPr marL="0" indent="0" algn="l">
              <a:lnSpc>
                <a:spcPts val="1254"/>
              </a:lnSpc>
              <a:spcBef>
                <a:spcPts val="600"/>
              </a:spcBef>
              <a:spcAft>
                <a:spcPts val="0"/>
              </a:spcAft>
              <a:buNone/>
            </a:pPr>
            <a:r>
              <a:rPr lang="it-IT" sz="1045" dirty="0">
                <a:solidFill>
                  <a:srgbClr val="626669"/>
                </a:solidFill>
                <a:latin typeface="Fira Sans"/>
              </a:rPr>
              <a:t>The</a:t>
            </a:r>
            <a:r>
              <a:rPr sz="1045" b="0" i="0" dirty="0">
                <a:solidFill>
                  <a:srgbClr val="626669"/>
                </a:solidFill>
                <a:latin typeface="Fira Sans"/>
              </a:rPr>
              <a:t> alignment with the external measure is an assumption, not a theorem.</a:t>
            </a:r>
          </a:p>
        </p:txBody>
      </p:sp>
      <p:sp>
        <p:nvSpPr>
          <p:cNvPr id="32" name="Rectangle 31"/>
          <p:cNvSpPr/>
          <p:nvPr/>
        </p:nvSpPr>
        <p:spPr>
          <a:xfrm>
            <a:off x="8058912" y="4342140"/>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8058912" y="4488444"/>
            <a:ext cx="3297936" cy="9439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8A5100"/>
                </a:solidFill>
                <a:latin typeface="Fira Sans"/>
              </a:rPr>
              <a:t>BOUNDED RATIONALITY</a:t>
            </a:r>
          </a:p>
          <a:p>
            <a:pPr marL="0" indent="0" algn="l">
              <a:lnSpc>
                <a:spcPts val="1300"/>
              </a:lnSpc>
              <a:spcBef>
                <a:spcPts val="500"/>
              </a:spcBef>
              <a:spcAft>
                <a:spcPts val="0"/>
              </a:spcAft>
              <a:buNone/>
            </a:pPr>
            <a:r>
              <a:rPr sz="1140" b="1" i="0">
                <a:solidFill>
                  <a:srgbClr val="25282A"/>
                </a:solidFill>
                <a:latin typeface="Fira Sans"/>
              </a:rPr>
              <a:t>Perfect rationality is usually too expensive</a:t>
            </a:r>
          </a:p>
          <a:p>
            <a:pPr marL="0" indent="0" algn="l">
              <a:lnSpc>
                <a:spcPts val="1254"/>
              </a:lnSpc>
              <a:spcBef>
                <a:spcPts val="600"/>
              </a:spcBef>
              <a:spcAft>
                <a:spcPts val="0"/>
              </a:spcAft>
              <a:buNone/>
            </a:pPr>
            <a:r>
              <a:rPr sz="1045" b="0" i="0">
                <a:solidFill>
                  <a:srgbClr val="626669"/>
                </a:solidFill>
                <a:latin typeface="Fira Sans"/>
              </a:rPr>
              <a:t>Computing the optimal action may itself be intractable, so AI also studies bounded rationality (Russell, 1997).</a:t>
            </a:r>
          </a:p>
        </p:txBody>
      </p:sp>
      <p:sp>
        <p:nvSpPr>
          <p:cNvPr id="34" name="Rectangle 33"/>
          <p:cNvSpPr/>
          <p:nvPr/>
        </p:nvSpPr>
        <p:spPr>
          <a:xfrm>
            <a:off x="841248" y="5633544"/>
            <a:ext cx="10515600" cy="6400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841248" y="5633544"/>
            <a:ext cx="41148" cy="6400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060704" y="577984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Many utility-based agents rely on an explicit model of the environment. </a:t>
            </a:r>
            <a:r>
              <a:rPr sz="1140" b="1" i="0" dirty="0">
                <a:solidFill>
                  <a:srgbClr val="333639"/>
                </a:solidFill>
                <a:latin typeface="Fira Sans"/>
              </a:rPr>
              <a:t>Model-free agents do not</a:t>
            </a:r>
            <a:r>
              <a:rPr sz="1140" b="0" i="0" dirty="0">
                <a:solidFill>
                  <a:srgbClr val="333639"/>
                </a:solidFill>
                <a:latin typeface="Fira Sans"/>
              </a:rPr>
              <a:t>: they learn from experience which actions </a:t>
            </a:r>
            <a:r>
              <a:rPr sz="1140" b="0" i="0" dirty="0" err="1">
                <a:solidFill>
                  <a:srgbClr val="333639"/>
                </a:solidFill>
                <a:latin typeface="Fira Sans"/>
              </a:rPr>
              <a:t>maximise</a:t>
            </a:r>
            <a:r>
              <a:rPr sz="1140" b="0" i="0" dirty="0">
                <a:solidFill>
                  <a:srgbClr val="333639"/>
                </a:solidFill>
                <a:latin typeface="Fira Sans"/>
              </a:rPr>
              <a:t> utility, without representing how their actions change the world.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5.17  LEARNING AGENT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Where the program itself comes from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50</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Utility-based</a:t>
            </a:r>
          </a:p>
          <a:p>
            <a:pPr marL="0" indent="0" algn="l">
              <a:lnSpc>
                <a:spcPts val="988"/>
              </a:lnSpc>
              <a:spcBef>
                <a:spcPts val="300"/>
              </a:spcBef>
              <a:spcAft>
                <a:spcPts val="0"/>
              </a:spcAft>
              <a:buNone/>
            </a:pPr>
            <a:r>
              <a:rPr sz="882" b="0" i="0">
                <a:solidFill>
                  <a:srgbClr val="626669"/>
                </a:solidFill>
                <a:latin typeface="Fira Sans"/>
              </a:rPr>
              <a:t>+ graded preferences</a:t>
            </a:r>
          </a:p>
        </p:txBody>
      </p:sp>
      <p:sp>
        <p:nvSpPr>
          <p:cNvPr id="20" name="Rectangle 19"/>
          <p:cNvSpPr/>
          <p:nvPr/>
        </p:nvSpPr>
        <p:spPr>
          <a:xfrm>
            <a:off x="9326880"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Learning</a:t>
            </a:r>
          </a:p>
          <a:p>
            <a:pPr marL="0" indent="0" algn="l">
              <a:lnSpc>
                <a:spcPts val="988"/>
              </a:lnSpc>
              <a:spcBef>
                <a:spcPts val="300"/>
              </a:spcBef>
              <a:spcAft>
                <a:spcPts val="0"/>
              </a:spcAft>
              <a:buNone/>
            </a:pPr>
            <a:r>
              <a:rPr sz="882" b="0" i="0">
                <a:solidFill>
                  <a:srgbClr val="626669"/>
                </a:solidFill>
                <a:latin typeface="Fira Sans"/>
              </a:rPr>
              <a:t>+ improvement from feedback</a:t>
            </a:r>
          </a:p>
        </p:txBody>
      </p:sp>
      <p:sp>
        <p:nvSpPr>
          <p:cNvPr id="23" name="TextBox 22"/>
          <p:cNvSpPr txBox="1"/>
          <p:nvPr/>
        </p:nvSpPr>
        <p:spPr>
          <a:xfrm>
            <a:off x="841248" y="2121408"/>
            <a:ext cx="5980176"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So far we have described architectures, but not how they are produced. Turing considered programming intelligent behaviour by hand, recognised the limits of that approach, and argued instead for machines that improve through experience.</a:t>
            </a:r>
          </a:p>
        </p:txBody>
      </p:sp>
      <p:pic>
        <p:nvPicPr>
          <p:cNvPr id="24" name="Picture 23" descr="arch_learning.png"/>
          <p:cNvPicPr>
            <a:picLocks noChangeAspect="1"/>
          </p:cNvPicPr>
          <p:nvPr/>
        </p:nvPicPr>
        <p:blipFill>
          <a:blip r:embed="rId2"/>
          <a:stretch>
            <a:fillRect/>
          </a:stretch>
        </p:blipFill>
        <p:spPr>
          <a:xfrm>
            <a:off x="841248" y="2856494"/>
            <a:ext cx="5303520" cy="2194560"/>
          </a:xfrm>
          <a:prstGeom prst="rect">
            <a:avLst/>
          </a:prstGeom>
        </p:spPr>
      </p:pic>
      <p:sp>
        <p:nvSpPr>
          <p:cNvPr id="25" name="TextBox 24"/>
          <p:cNvSpPr txBox="1"/>
          <p:nvPr/>
        </p:nvSpPr>
        <p:spPr>
          <a:xfrm>
            <a:off x="841248" y="5160782"/>
            <a:ext cx="5980176"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Everything studied so far is now a single block</a:t>
            </a:r>
            <a:r>
              <a:rPr lang="it-IT" sz="950" b="0" i="1" dirty="0">
                <a:solidFill>
                  <a:srgbClr val="626669"/>
                </a:solidFill>
                <a:latin typeface="Fira Sans"/>
              </a:rPr>
              <a:t>: </a:t>
            </a:r>
            <a:r>
              <a:rPr sz="950" b="0" i="1" dirty="0">
                <a:solidFill>
                  <a:srgbClr val="626669"/>
                </a:solidFill>
                <a:latin typeface="Fira Sans"/>
              </a:rPr>
              <a:t>the performance element. Three new components surround it, and their job is to change it.</a:t>
            </a:r>
          </a:p>
        </p:txBody>
      </p:sp>
      <p:sp>
        <p:nvSpPr>
          <p:cNvPr id="26" name="TextBox 25"/>
          <p:cNvSpPr txBox="1"/>
          <p:nvPr/>
        </p:nvSpPr>
        <p:spPr>
          <a:xfrm>
            <a:off x="7470648" y="2121408"/>
            <a:ext cx="3880073" cy="583925"/>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Performance element</a:t>
            </a:r>
          </a:p>
          <a:p>
            <a:pPr marL="0" indent="0" algn="l">
              <a:lnSpc>
                <a:spcPts val="1254"/>
              </a:lnSpc>
              <a:spcBef>
                <a:spcPts val="400"/>
              </a:spcBef>
              <a:spcAft>
                <a:spcPts val="0"/>
              </a:spcAft>
              <a:buNone/>
            </a:pPr>
            <a:r>
              <a:rPr sz="1045" b="0" i="0">
                <a:solidFill>
                  <a:srgbClr val="626669"/>
                </a:solidFill>
                <a:latin typeface="Fira Sans"/>
              </a:rPr>
              <a:t>Selects actions from percepts. This is what we have been calling “the agent” for the whole chapter.</a:t>
            </a:r>
          </a:p>
        </p:txBody>
      </p:sp>
      <p:sp>
        <p:nvSpPr>
          <p:cNvPr id="27" name="Rectangle 26"/>
          <p:cNvSpPr/>
          <p:nvPr/>
        </p:nvSpPr>
        <p:spPr>
          <a:xfrm>
            <a:off x="7232904" y="2121408"/>
            <a:ext cx="41148" cy="54734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470648" y="2888213"/>
            <a:ext cx="3880073" cy="583925"/>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Learning element</a:t>
            </a:r>
          </a:p>
          <a:p>
            <a:pPr marL="0" indent="0" algn="l">
              <a:lnSpc>
                <a:spcPts val="1254"/>
              </a:lnSpc>
              <a:spcBef>
                <a:spcPts val="400"/>
              </a:spcBef>
              <a:spcAft>
                <a:spcPts val="0"/>
              </a:spcAft>
              <a:buNone/>
            </a:pPr>
            <a:r>
              <a:rPr sz="1045" b="0" i="0">
                <a:solidFill>
                  <a:srgbClr val="626669"/>
                </a:solidFill>
                <a:latin typeface="Fira Sans"/>
              </a:rPr>
              <a:t>Modifies the performance element: its model of the world, the effects of its actions, its goals, its utilities.</a:t>
            </a:r>
          </a:p>
        </p:txBody>
      </p:sp>
      <p:sp>
        <p:nvSpPr>
          <p:cNvPr id="29" name="Rectangle 28"/>
          <p:cNvSpPr/>
          <p:nvPr/>
        </p:nvSpPr>
        <p:spPr>
          <a:xfrm>
            <a:off x="7232904" y="2888213"/>
            <a:ext cx="41148" cy="54734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470648" y="3655019"/>
            <a:ext cx="3880073" cy="583925"/>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Critic</a:t>
            </a:r>
          </a:p>
          <a:p>
            <a:pPr marL="0" indent="0" algn="l">
              <a:lnSpc>
                <a:spcPts val="1254"/>
              </a:lnSpc>
              <a:spcBef>
                <a:spcPts val="400"/>
              </a:spcBef>
              <a:spcAft>
                <a:spcPts val="0"/>
              </a:spcAft>
              <a:buNone/>
            </a:pPr>
            <a:r>
              <a:rPr sz="1045" b="0" i="0">
                <a:solidFill>
                  <a:srgbClr val="626669"/>
                </a:solidFill>
                <a:latin typeface="Fira Sans"/>
              </a:rPr>
              <a:t>Evaluates behaviour against a fixed performance standard and reports back, typically as reward or penalty.</a:t>
            </a:r>
          </a:p>
        </p:txBody>
      </p:sp>
      <p:sp>
        <p:nvSpPr>
          <p:cNvPr id="31" name="Rectangle 30"/>
          <p:cNvSpPr/>
          <p:nvPr/>
        </p:nvSpPr>
        <p:spPr>
          <a:xfrm>
            <a:off x="7232904" y="3655019"/>
            <a:ext cx="41148" cy="54734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470648" y="4421825"/>
            <a:ext cx="3880073" cy="583925"/>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Problem generator</a:t>
            </a:r>
          </a:p>
          <a:p>
            <a:pPr marL="0" indent="0" algn="l">
              <a:lnSpc>
                <a:spcPts val="1254"/>
              </a:lnSpc>
              <a:spcBef>
                <a:spcPts val="400"/>
              </a:spcBef>
              <a:spcAft>
                <a:spcPts val="0"/>
              </a:spcAft>
              <a:buNone/>
            </a:pPr>
            <a:r>
              <a:rPr sz="1045" b="0" i="0">
                <a:solidFill>
                  <a:srgbClr val="626669"/>
                </a:solidFill>
                <a:latin typeface="Fira Sans"/>
              </a:rPr>
              <a:t>Suggests actions that differ from the currently preferred ones, so that informative experience is actually obtained.</a:t>
            </a:r>
          </a:p>
        </p:txBody>
      </p:sp>
      <p:sp>
        <p:nvSpPr>
          <p:cNvPr id="33" name="Rectangle 32"/>
          <p:cNvSpPr/>
          <p:nvPr/>
        </p:nvSpPr>
        <p:spPr>
          <a:xfrm>
            <a:off x="7232904" y="4421825"/>
            <a:ext cx="41148" cy="54734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232904" y="5280070"/>
            <a:ext cx="4117817" cy="79187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7232904" y="5280070"/>
            <a:ext cx="41148" cy="79187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452360" y="5426374"/>
            <a:ext cx="3733769"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Learning can be added to </a:t>
            </a:r>
            <a:r>
              <a:rPr sz="1092" b="1" i="0">
                <a:solidFill>
                  <a:srgbClr val="333639"/>
                </a:solidFill>
                <a:latin typeface="Fira Sans"/>
              </a:rPr>
              <a:t>any</a:t>
            </a:r>
            <a:r>
              <a:rPr sz="1092" b="0" i="0">
                <a:solidFill>
                  <a:srgbClr val="333639"/>
                </a:solidFill>
                <a:latin typeface="Fira Sans"/>
              </a:rPr>
              <a:t> of the previous architectures. It is not a sixth kind of agent; it is a way of producing the other four.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5.18  THE CRITIC SUPPLIES WHAT PERCEPTS CANNOT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Experience alone does not say whether an outcome was good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 — Agent architectures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51</a:t>
            </a:r>
          </a:p>
        </p:txBody>
      </p:sp>
      <p:sp>
        <p:nvSpPr>
          <p:cNvPr id="8" name="Rectangle 7"/>
          <p:cNvSpPr/>
          <p:nvPr/>
        </p:nvSpPr>
        <p:spPr>
          <a:xfrm>
            <a:off x="841248"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2029967"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0976"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Simple reflex</a:t>
            </a:r>
          </a:p>
          <a:p>
            <a:pPr marL="0" indent="0" algn="l">
              <a:lnSpc>
                <a:spcPts val="988"/>
              </a:lnSpc>
              <a:spcBef>
                <a:spcPts val="300"/>
              </a:spcBef>
              <a:spcAft>
                <a:spcPts val="0"/>
              </a:spcAft>
              <a:buNone/>
            </a:pPr>
            <a:r>
              <a:rPr sz="882" b="0" i="0">
                <a:solidFill>
                  <a:srgbClr val="626669"/>
                </a:solidFill>
                <a:latin typeface="Fira Sans"/>
              </a:rPr>
              <a:t>current percept only</a:t>
            </a:r>
          </a:p>
        </p:txBody>
      </p:sp>
      <p:sp>
        <p:nvSpPr>
          <p:cNvPr id="11" name="Rectangle 10"/>
          <p:cNvSpPr/>
          <p:nvPr/>
        </p:nvSpPr>
        <p:spPr>
          <a:xfrm>
            <a:off x="2962656"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962656"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072384"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Model-based reflex</a:t>
            </a:r>
          </a:p>
          <a:p>
            <a:pPr marL="0" indent="0" algn="l">
              <a:lnSpc>
                <a:spcPts val="988"/>
              </a:lnSpc>
              <a:spcBef>
                <a:spcPts val="300"/>
              </a:spcBef>
              <a:spcAft>
                <a:spcPts val="0"/>
              </a:spcAft>
              <a:buNone/>
            </a:pPr>
            <a:r>
              <a:rPr sz="882" b="0" i="0">
                <a:solidFill>
                  <a:srgbClr val="626669"/>
                </a:solidFill>
                <a:latin typeface="Fira Sans"/>
              </a:rPr>
              <a:t>+ internal state</a:t>
            </a:r>
          </a:p>
        </p:txBody>
      </p:sp>
      <p:sp>
        <p:nvSpPr>
          <p:cNvPr id="14" name="Rectangle 13"/>
          <p:cNvSpPr/>
          <p:nvPr/>
        </p:nvSpPr>
        <p:spPr>
          <a:xfrm>
            <a:off x="5084064"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084064" y="1316736"/>
            <a:ext cx="2029967"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193792"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Goal-based</a:t>
            </a:r>
          </a:p>
          <a:p>
            <a:pPr marL="0" indent="0" algn="l">
              <a:lnSpc>
                <a:spcPts val="988"/>
              </a:lnSpc>
              <a:spcBef>
                <a:spcPts val="300"/>
              </a:spcBef>
              <a:spcAft>
                <a:spcPts val="0"/>
              </a:spcAft>
              <a:buNone/>
            </a:pPr>
            <a:r>
              <a:rPr sz="882" b="0" i="0">
                <a:solidFill>
                  <a:srgbClr val="626669"/>
                </a:solidFill>
                <a:latin typeface="Fira Sans"/>
              </a:rPr>
              <a:t>+ goal, look ahead</a:t>
            </a:r>
          </a:p>
        </p:txBody>
      </p:sp>
      <p:sp>
        <p:nvSpPr>
          <p:cNvPr id="17" name="Rectangle 16"/>
          <p:cNvSpPr/>
          <p:nvPr/>
        </p:nvSpPr>
        <p:spPr>
          <a:xfrm>
            <a:off x="7205471" y="1316736"/>
            <a:ext cx="2029967" cy="56692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05471" y="1316736"/>
            <a:ext cx="2029967"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199"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333639"/>
                </a:solidFill>
                <a:latin typeface="Fira Sans"/>
              </a:rPr>
              <a:t>Utility-based</a:t>
            </a:r>
          </a:p>
          <a:p>
            <a:pPr marL="0" indent="0" algn="l">
              <a:lnSpc>
                <a:spcPts val="988"/>
              </a:lnSpc>
              <a:spcBef>
                <a:spcPts val="300"/>
              </a:spcBef>
              <a:spcAft>
                <a:spcPts val="0"/>
              </a:spcAft>
              <a:buNone/>
            </a:pPr>
            <a:r>
              <a:rPr sz="882" b="0" i="0">
                <a:solidFill>
                  <a:srgbClr val="626669"/>
                </a:solidFill>
                <a:latin typeface="Fira Sans"/>
              </a:rPr>
              <a:t>+ graded preferences</a:t>
            </a:r>
          </a:p>
        </p:txBody>
      </p:sp>
      <p:sp>
        <p:nvSpPr>
          <p:cNvPr id="20" name="Rectangle 19"/>
          <p:cNvSpPr/>
          <p:nvPr/>
        </p:nvSpPr>
        <p:spPr>
          <a:xfrm>
            <a:off x="9326880" y="1316736"/>
            <a:ext cx="2029967" cy="566928"/>
          </a:xfrm>
          <a:prstGeom prst="rect">
            <a:avLst/>
          </a:prstGeom>
          <a:solidFill>
            <a:srgbClr val="EC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9326880" y="1316736"/>
            <a:ext cx="2029967"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436607" y="1426464"/>
            <a:ext cx="1810511" cy="349542"/>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1" i="0">
                <a:solidFill>
                  <a:srgbClr val="25282A"/>
                </a:solidFill>
                <a:latin typeface="Fira Sans"/>
              </a:rPr>
              <a:t>Learning</a:t>
            </a:r>
          </a:p>
          <a:p>
            <a:pPr marL="0" indent="0" algn="l">
              <a:lnSpc>
                <a:spcPts val="988"/>
              </a:lnSpc>
              <a:spcBef>
                <a:spcPts val="300"/>
              </a:spcBef>
              <a:spcAft>
                <a:spcPts val="0"/>
              </a:spcAft>
              <a:buNone/>
            </a:pPr>
            <a:r>
              <a:rPr sz="882" b="0" i="0">
                <a:solidFill>
                  <a:srgbClr val="626669"/>
                </a:solidFill>
                <a:latin typeface="Fira Sans"/>
              </a:rPr>
              <a:t>+ improvement from feedback</a:t>
            </a:r>
          </a:p>
        </p:txBody>
      </p:sp>
      <p:sp>
        <p:nvSpPr>
          <p:cNvPr id="23" name="TextBox 22"/>
          <p:cNvSpPr txBox="1"/>
          <p:nvPr/>
        </p:nvSpPr>
        <p:spPr>
          <a:xfrm>
            <a:off x="841248" y="2121408"/>
            <a:ext cx="6413601"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An agent can learn directly from experience: an autonomous vehicle discovers how braking behaves on different road surfaces. But experience by itself is only a record of what happened, not a judgement about it.</a:t>
            </a:r>
          </a:p>
        </p:txBody>
      </p:sp>
      <p:sp>
        <p:nvSpPr>
          <p:cNvPr id="24" name="TextBox 23"/>
          <p:cNvSpPr txBox="1"/>
          <p:nvPr/>
        </p:nvSpPr>
        <p:spPr>
          <a:xfrm>
            <a:off x="1078992" y="2947934"/>
            <a:ext cx="6175857" cy="6109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The percepts cannot grade themselves</a:t>
            </a:r>
          </a:p>
          <a:p>
            <a:pPr marL="0" indent="0" algn="l">
              <a:lnSpc>
                <a:spcPts val="1310"/>
              </a:lnSpc>
              <a:spcBef>
                <a:spcPts val="500"/>
              </a:spcBef>
              <a:spcAft>
                <a:spcPts val="0"/>
              </a:spcAft>
              <a:buNone/>
            </a:pPr>
            <a:r>
              <a:rPr sz="1092" b="0" i="0">
                <a:solidFill>
                  <a:srgbClr val="333639"/>
                </a:solidFill>
                <a:latin typeface="Fira Sans"/>
              </a:rPr>
              <a:t>A chess program can recognise checkmate. Nothing in that percept says whether it is a win or a loss: a performance standard external to the percept stream supplies the sign.</a:t>
            </a:r>
          </a:p>
        </p:txBody>
      </p:sp>
      <p:sp>
        <p:nvSpPr>
          <p:cNvPr id="25" name="Rectangle 24"/>
          <p:cNvSpPr/>
          <p:nvPr/>
        </p:nvSpPr>
        <p:spPr>
          <a:xfrm>
            <a:off x="841248" y="2947934"/>
            <a:ext cx="41148" cy="57437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78992" y="3741765"/>
            <a:ext cx="6175857" cy="6109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The standard may be built in or acquired</a:t>
            </a:r>
          </a:p>
          <a:p>
            <a:pPr marL="0" indent="0" algn="l">
              <a:lnSpc>
                <a:spcPts val="1310"/>
              </a:lnSpc>
              <a:spcBef>
                <a:spcPts val="500"/>
              </a:spcBef>
              <a:spcAft>
                <a:spcPts val="0"/>
              </a:spcAft>
              <a:buNone/>
            </a:pPr>
            <a:r>
              <a:rPr sz="1092" b="0" i="0" dirty="0">
                <a:solidFill>
                  <a:srgbClr val="333639"/>
                </a:solidFill>
                <a:latin typeface="Fira Sans"/>
              </a:rPr>
              <a:t>It can be hard-wired </a:t>
            </a:r>
            <a:r>
              <a:rPr lang="it-IT" sz="1092" dirty="0">
                <a:solidFill>
                  <a:srgbClr val="333639"/>
                </a:solidFill>
                <a:latin typeface="Fira Sans"/>
              </a:rPr>
              <a:t>(</a:t>
            </a:r>
            <a:r>
              <a:rPr sz="1092" b="0" i="0" dirty="0">
                <a:solidFill>
                  <a:srgbClr val="333639"/>
                </a:solidFill>
                <a:latin typeface="Fira Sans"/>
              </a:rPr>
              <a:t>pain and hunger in humans</a:t>
            </a:r>
            <a:r>
              <a:rPr lang="it-IT" sz="1092" b="0" i="0" dirty="0">
                <a:solidFill>
                  <a:srgbClr val="333639"/>
                </a:solidFill>
                <a:latin typeface="Fira Sans"/>
              </a:rPr>
              <a:t>)</a:t>
            </a:r>
            <a:r>
              <a:rPr sz="1092" b="0" i="0" dirty="0">
                <a:solidFill>
                  <a:srgbClr val="333639"/>
                </a:solidFill>
                <a:latin typeface="Fira Sans"/>
              </a:rPr>
              <a:t> or learned from human behavior and stated preferences. Either way it comes from outside.</a:t>
            </a:r>
          </a:p>
        </p:txBody>
      </p:sp>
      <p:sp>
        <p:nvSpPr>
          <p:cNvPr id="27" name="Rectangle 26"/>
          <p:cNvSpPr/>
          <p:nvPr/>
        </p:nvSpPr>
        <p:spPr>
          <a:xfrm>
            <a:off x="841248" y="3741765"/>
            <a:ext cx="41148" cy="574375"/>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78992" y="4535596"/>
            <a:ext cx="6175857" cy="6109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The problem generator makes learning possible</a:t>
            </a:r>
          </a:p>
          <a:p>
            <a:pPr marL="0" indent="0" algn="l">
              <a:lnSpc>
                <a:spcPts val="1310"/>
              </a:lnSpc>
              <a:spcBef>
                <a:spcPts val="500"/>
              </a:spcBef>
              <a:spcAft>
                <a:spcPts val="0"/>
              </a:spcAft>
              <a:buNone/>
            </a:pPr>
            <a:r>
              <a:rPr sz="1092" b="0" i="0" dirty="0">
                <a:solidFill>
                  <a:srgbClr val="333639"/>
                </a:solidFill>
                <a:latin typeface="Fira Sans"/>
              </a:rPr>
              <a:t>An agent that only ever takes its preferred action never discovers a better one. Suggesting informative actions is what turns experience into improvement and it costs performance.</a:t>
            </a:r>
          </a:p>
        </p:txBody>
      </p:sp>
      <p:sp>
        <p:nvSpPr>
          <p:cNvPr id="29" name="Rectangle 28"/>
          <p:cNvSpPr/>
          <p:nvPr/>
        </p:nvSpPr>
        <p:spPr>
          <a:xfrm>
            <a:off x="841248" y="4535596"/>
            <a:ext cx="41148" cy="57437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666329" y="2121408"/>
            <a:ext cx="3684391" cy="13624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7666329" y="2121408"/>
            <a:ext cx="41148" cy="13624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885785" y="2267712"/>
            <a:ext cx="3391783"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LEARNING DIRECTLY FROM EXPERIENCE</a:t>
            </a:r>
          </a:p>
        </p:txBody>
      </p:sp>
      <p:sp>
        <p:nvSpPr>
          <p:cNvPr id="33" name="TextBox 32"/>
          <p:cNvSpPr txBox="1"/>
          <p:nvPr/>
        </p:nvSpPr>
        <p:spPr>
          <a:xfrm>
            <a:off x="7885785" y="2505456"/>
            <a:ext cx="3300343"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Samuel’s checkers player (1959) is the classic demonstration: a program that improved by playing, using game outcomes to adjust its evaluation of positions. </a:t>
            </a:r>
            <a:r>
              <a:rPr sz="1092" b="1" i="0" dirty="0">
                <a:solidFill>
                  <a:srgbClr val="333639"/>
                </a:solidFill>
                <a:latin typeface="Fira Sans"/>
              </a:rPr>
              <a:t>That is reinforcement learning, twenty years before the name.</a:t>
            </a:r>
          </a:p>
        </p:txBody>
      </p:sp>
      <p:sp>
        <p:nvSpPr>
          <p:cNvPr id="34" name="TextBox 33"/>
          <p:cNvSpPr txBox="1"/>
          <p:nvPr/>
        </p:nvSpPr>
        <p:spPr>
          <a:xfrm>
            <a:off x="7666329" y="3739896"/>
            <a:ext cx="3684391"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SHAPE OF THE REST OF THE COURSE</a:t>
            </a:r>
          </a:p>
        </p:txBody>
      </p:sp>
      <p:sp>
        <p:nvSpPr>
          <p:cNvPr id="35" name="TextBox 34"/>
          <p:cNvSpPr txBox="1"/>
          <p:nvPr/>
        </p:nvSpPr>
        <p:spPr>
          <a:xfrm>
            <a:off x="7666329" y="3995928"/>
            <a:ext cx="3684391" cy="1498152"/>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0" i="0" dirty="0">
                <a:solidFill>
                  <a:srgbClr val="333639"/>
                </a:solidFill>
                <a:latin typeface="Fira Sans"/>
              </a:rPr>
              <a:t>The critic’s feedback becomes the </a:t>
            </a:r>
            <a:r>
              <a:rPr sz="1092" b="1" i="0" dirty="0">
                <a:solidFill>
                  <a:srgbClr val="25282A"/>
                </a:solidFill>
                <a:latin typeface="Fira Sans"/>
              </a:rPr>
              <a:t>reward signal</a:t>
            </a:r>
            <a:r>
              <a:rPr sz="1092" b="0" i="0" dirty="0">
                <a:solidFill>
                  <a:srgbClr val="333639"/>
                </a:solidFill>
                <a:latin typeface="Fira Sans"/>
              </a:rPr>
              <a:t>.</a:t>
            </a:r>
          </a:p>
          <a:p>
            <a:pPr marL="173736" indent="-173736" algn="l">
              <a:lnSpc>
                <a:spcPts val="1289"/>
              </a:lnSpc>
              <a:spcBef>
                <a:spcPts val="600"/>
              </a:spcBef>
              <a:spcAft>
                <a:spcPts val="0"/>
              </a:spcAft>
              <a:buClr>
                <a:srgbClr val="1971C2"/>
              </a:buClr>
              <a:buFont typeface="Fira Sans"/>
              <a:buChar char="–"/>
            </a:pPr>
            <a:r>
              <a:rPr sz="1092" b="0" i="0" dirty="0">
                <a:solidFill>
                  <a:srgbClr val="333639"/>
                </a:solidFill>
                <a:latin typeface="Fira Sans"/>
              </a:rPr>
              <a:t>The </a:t>
            </a:r>
            <a:r>
              <a:rPr sz="1092" b="0" i="0" dirty="0" err="1">
                <a:solidFill>
                  <a:srgbClr val="333639"/>
                </a:solidFill>
                <a:latin typeface="Fira Sans"/>
              </a:rPr>
              <a:t>proble</a:t>
            </a:r>
            <a:r>
              <a:rPr lang="it-IT" sz="1092" b="0" i="0" dirty="0">
                <a:solidFill>
                  <a:srgbClr val="333639"/>
                </a:solidFill>
                <a:latin typeface="Fira Sans"/>
              </a:rPr>
              <a:t>m</a:t>
            </a:r>
            <a:r>
              <a:rPr sz="1092" b="0" i="0" dirty="0">
                <a:solidFill>
                  <a:srgbClr val="333639"/>
                </a:solidFill>
                <a:latin typeface="Fira Sans"/>
              </a:rPr>
              <a:t> generator becomes </a:t>
            </a:r>
            <a:r>
              <a:rPr sz="1092" b="1" i="0" dirty="0">
                <a:solidFill>
                  <a:srgbClr val="25282A"/>
                </a:solidFill>
                <a:latin typeface="Fira Sans"/>
              </a:rPr>
              <a:t>exploration</a:t>
            </a:r>
            <a:r>
              <a:rPr sz="1092" b="0" i="0" dirty="0">
                <a:solidFill>
                  <a:srgbClr val="333639"/>
                </a:solidFill>
                <a:latin typeface="Fira Sans"/>
              </a:rPr>
              <a:t>, and the tension with acting well becomes the exploration–exploitation trade-off.</a:t>
            </a:r>
          </a:p>
          <a:p>
            <a:pPr marL="173736" indent="-173736" algn="l">
              <a:lnSpc>
                <a:spcPts val="1289"/>
              </a:lnSpc>
              <a:spcBef>
                <a:spcPts val="600"/>
              </a:spcBef>
              <a:spcAft>
                <a:spcPts val="0"/>
              </a:spcAft>
              <a:buClr>
                <a:srgbClr val="1971C2"/>
              </a:buClr>
              <a:buFont typeface="Fira Sans"/>
              <a:buChar char="–"/>
            </a:pPr>
            <a:r>
              <a:rPr sz="1092" b="0" i="0" dirty="0">
                <a:solidFill>
                  <a:srgbClr val="333639"/>
                </a:solidFill>
                <a:latin typeface="Fira Sans"/>
              </a:rPr>
              <a:t>The learning element becomes the </a:t>
            </a:r>
            <a:r>
              <a:rPr sz="1092" b="1" i="0" dirty="0">
                <a:solidFill>
                  <a:srgbClr val="25282A"/>
                </a:solidFill>
                <a:latin typeface="Fira Sans"/>
              </a:rPr>
              <a:t>update rule</a:t>
            </a:r>
            <a:r>
              <a:rPr lang="it-IT" sz="1092" dirty="0">
                <a:solidFill>
                  <a:srgbClr val="333639"/>
                </a:solidFill>
                <a:latin typeface="Fira Sans"/>
              </a:rPr>
              <a:t>: </a:t>
            </a:r>
            <a:r>
              <a:rPr sz="1092" b="0" i="0" dirty="0">
                <a:solidFill>
                  <a:srgbClr val="333639"/>
                </a:solidFill>
                <a:latin typeface="Fira Sans"/>
              </a:rPr>
              <a:t>TD learning, Q-learning, policy gradients.</a:t>
            </a:r>
          </a:p>
        </p:txBody>
      </p:sp>
      <p:sp>
        <p:nvSpPr>
          <p:cNvPr id="36" name="Rectangle 35"/>
          <p:cNvSpPr/>
          <p:nvPr/>
        </p:nvSpPr>
        <p:spPr>
          <a:xfrm>
            <a:off x="7666329" y="5676960"/>
            <a:ext cx="3684391"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666329" y="5804976"/>
            <a:ext cx="3684391"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1">
                <a:solidFill>
                  <a:srgbClr val="333639"/>
                </a:solidFill>
                <a:latin typeface="Fira Sans"/>
              </a:rPr>
              <a:t>Learning is the adaptation of the agent’s internal components from experience and feedback.</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Case study: flocking</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A complete model-based agent, written out in full: percepts, internal state, and emergent collective behavior.</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How much global behaviour can purely local rules produce?</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Reynolds’ three rules</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Forces and their weighted sum</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Euler integration</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Emergence in simulation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  REYNOLDS, 1987</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Complex group motion from three purely local rules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VI — Case study: flocking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53</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In “Flocks, Herds, and Schools: A Distributed Behavioral Model”, Reynolds simulates the collective </a:t>
            </a:r>
            <a:r>
              <a:rPr sz="1235" b="0" i="0" dirty="0" err="1">
                <a:solidFill>
                  <a:srgbClr val="333639"/>
                </a:solidFill>
                <a:latin typeface="Fira Sans"/>
              </a:rPr>
              <a:t>behaviour</a:t>
            </a:r>
            <a:r>
              <a:rPr sz="1235" b="0" i="0" dirty="0">
                <a:solidFill>
                  <a:srgbClr val="333639"/>
                </a:solidFill>
                <a:latin typeface="Fira Sans"/>
              </a:rPr>
              <a:t> of birds, fish and insects. Each entity</a:t>
            </a:r>
            <a:r>
              <a:rPr lang="it-IT" sz="1235" b="0" i="0" dirty="0">
                <a:solidFill>
                  <a:srgbClr val="333639"/>
                </a:solidFill>
                <a:latin typeface="Fira Sans"/>
              </a:rPr>
              <a:t> (</a:t>
            </a:r>
            <a:r>
              <a:rPr sz="1235" b="0" i="0" dirty="0">
                <a:solidFill>
                  <a:srgbClr val="333639"/>
                </a:solidFill>
                <a:latin typeface="Fira Sans"/>
              </a:rPr>
              <a:t>a </a:t>
            </a:r>
            <a:r>
              <a:rPr sz="1235" b="0" i="0" dirty="0" err="1">
                <a:solidFill>
                  <a:srgbClr val="333639"/>
                </a:solidFill>
                <a:latin typeface="Fira Sans"/>
              </a:rPr>
              <a:t>boid</a:t>
            </a:r>
            <a:r>
              <a:rPr lang="it-IT" sz="1235" b="0" i="0" dirty="0">
                <a:solidFill>
                  <a:srgbClr val="333639"/>
                </a:solidFill>
                <a:latin typeface="Fira Sans"/>
              </a:rPr>
              <a:t>)</a:t>
            </a:r>
            <a:r>
              <a:rPr sz="1235" b="0" i="0" dirty="0">
                <a:solidFill>
                  <a:srgbClr val="333639"/>
                </a:solidFill>
                <a:latin typeface="Fira Sans"/>
              </a:rPr>
              <a:t> follows simple local rules based on what it can perceive, and coherent group motion follows.</a:t>
            </a:r>
          </a:p>
        </p:txBody>
      </p:sp>
      <p:pic>
        <p:nvPicPr>
          <p:cNvPr id="9" name="Picture 8" descr="boids_rules.png"/>
          <p:cNvPicPr>
            <a:picLocks noChangeAspect="1"/>
          </p:cNvPicPr>
          <p:nvPr/>
        </p:nvPicPr>
        <p:blipFill>
          <a:blip r:embed="rId2"/>
          <a:stretch>
            <a:fillRect/>
          </a:stretch>
        </p:blipFill>
        <p:spPr>
          <a:xfrm>
            <a:off x="2952495" y="1772590"/>
            <a:ext cx="5549095" cy="2240279"/>
          </a:xfrm>
          <a:prstGeom prst="rect">
            <a:avLst/>
          </a:prstGeom>
        </p:spPr>
      </p:pic>
      <p:sp>
        <p:nvSpPr>
          <p:cNvPr id="10" name="Rectangle 9"/>
          <p:cNvSpPr/>
          <p:nvPr/>
        </p:nvSpPr>
        <p:spPr>
          <a:xfrm>
            <a:off x="841248" y="401286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232325"/>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378629"/>
            <a:ext cx="3297936" cy="971826"/>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C8102E"/>
                </a:solidFill>
                <a:latin typeface="Fira Sans"/>
              </a:rPr>
              <a:t>Separation</a:t>
            </a:r>
          </a:p>
          <a:p>
            <a:pPr marL="0" indent="0" algn="l">
              <a:lnSpc>
                <a:spcPts val="1245"/>
              </a:lnSpc>
              <a:spcBef>
                <a:spcPts val="400"/>
              </a:spcBef>
              <a:spcAft>
                <a:spcPts val="0"/>
              </a:spcAft>
              <a:buNone/>
            </a:pPr>
            <a:r>
              <a:rPr sz="1092" b="1" i="0">
                <a:solidFill>
                  <a:srgbClr val="25282A"/>
                </a:solidFill>
                <a:latin typeface="Fira Sans"/>
              </a:rPr>
              <a:t>Avoid crowding neighbours</a:t>
            </a:r>
          </a:p>
          <a:p>
            <a:pPr marL="0" indent="0" algn="l">
              <a:lnSpc>
                <a:spcPts val="1254"/>
              </a:lnSpc>
              <a:spcBef>
                <a:spcPts val="500"/>
              </a:spcBef>
              <a:spcAft>
                <a:spcPts val="0"/>
              </a:spcAft>
              <a:buNone/>
            </a:pPr>
            <a:r>
              <a:rPr sz="1045" b="0" i="0">
                <a:solidFill>
                  <a:srgbClr val="626669"/>
                </a:solidFill>
                <a:latin typeface="Fira Sans"/>
              </a:rPr>
              <a:t>Steer away from each neighbour, more strongly the closer it is. Prevents collisions and keeps the flock from collapsing into a point.</a:t>
            </a:r>
          </a:p>
        </p:txBody>
      </p:sp>
      <p:sp>
        <p:nvSpPr>
          <p:cNvPr id="13" name="Rectangle 12"/>
          <p:cNvSpPr/>
          <p:nvPr/>
        </p:nvSpPr>
        <p:spPr>
          <a:xfrm>
            <a:off x="4450080" y="4232325"/>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50080" y="4378629"/>
            <a:ext cx="3297936" cy="971826"/>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B7A3E"/>
                </a:solidFill>
                <a:latin typeface="Fira Sans"/>
              </a:rPr>
              <a:t>Cohesion</a:t>
            </a:r>
          </a:p>
          <a:p>
            <a:pPr marL="0" indent="0" algn="l">
              <a:lnSpc>
                <a:spcPts val="1245"/>
              </a:lnSpc>
              <a:spcBef>
                <a:spcPts val="400"/>
              </a:spcBef>
              <a:spcAft>
                <a:spcPts val="0"/>
              </a:spcAft>
              <a:buNone/>
            </a:pPr>
            <a:r>
              <a:rPr sz="1092" b="1" i="0">
                <a:solidFill>
                  <a:srgbClr val="25282A"/>
                </a:solidFill>
                <a:latin typeface="Fira Sans"/>
              </a:rPr>
              <a:t>Move toward the average position of neighbours</a:t>
            </a:r>
          </a:p>
          <a:p>
            <a:pPr marL="0" indent="0" algn="l">
              <a:lnSpc>
                <a:spcPts val="1254"/>
              </a:lnSpc>
              <a:spcBef>
                <a:spcPts val="500"/>
              </a:spcBef>
              <a:spcAft>
                <a:spcPts val="0"/>
              </a:spcAft>
              <a:buNone/>
            </a:pPr>
            <a:r>
              <a:rPr sz="1045" b="0" i="0">
                <a:solidFill>
                  <a:srgbClr val="626669"/>
                </a:solidFill>
                <a:latin typeface="Fira Sans"/>
              </a:rPr>
              <a:t>Steer toward the centre of mass of the perceived neighbours. Keeps the group together and pulls stragglers back in.</a:t>
            </a:r>
          </a:p>
        </p:txBody>
      </p:sp>
      <p:sp>
        <p:nvSpPr>
          <p:cNvPr id="15" name="Rectangle 14"/>
          <p:cNvSpPr/>
          <p:nvPr/>
        </p:nvSpPr>
        <p:spPr>
          <a:xfrm>
            <a:off x="8058912" y="4232325"/>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058912" y="4378629"/>
            <a:ext cx="3297936" cy="971826"/>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574676"/>
                </a:solidFill>
                <a:latin typeface="Fira Sans"/>
              </a:rPr>
              <a:t>Alignment</a:t>
            </a:r>
          </a:p>
          <a:p>
            <a:pPr marL="0" indent="0" algn="l">
              <a:lnSpc>
                <a:spcPts val="1245"/>
              </a:lnSpc>
              <a:spcBef>
                <a:spcPts val="400"/>
              </a:spcBef>
              <a:spcAft>
                <a:spcPts val="0"/>
              </a:spcAft>
              <a:buNone/>
            </a:pPr>
            <a:r>
              <a:rPr sz="1092" b="1" i="0">
                <a:solidFill>
                  <a:srgbClr val="25282A"/>
                </a:solidFill>
                <a:latin typeface="Fira Sans"/>
              </a:rPr>
              <a:t>Match the average heading of neighbours</a:t>
            </a:r>
          </a:p>
          <a:p>
            <a:pPr marL="0" indent="0" algn="l">
              <a:lnSpc>
                <a:spcPts val="1254"/>
              </a:lnSpc>
              <a:spcBef>
                <a:spcPts val="500"/>
              </a:spcBef>
              <a:spcAft>
                <a:spcPts val="0"/>
              </a:spcAft>
              <a:buNone/>
            </a:pPr>
            <a:r>
              <a:rPr sz="1045" b="0" i="0">
                <a:solidFill>
                  <a:srgbClr val="626669"/>
                </a:solidFill>
                <a:latin typeface="Fira Sans"/>
              </a:rPr>
              <a:t>Steer so that the velocity approaches the average velocity of the neighbours. The flock then travels as one body rather than as a crowd.</a:t>
            </a:r>
          </a:p>
        </p:txBody>
      </p:sp>
      <p:sp>
        <p:nvSpPr>
          <p:cNvPr id="17" name="Rectangle 16"/>
          <p:cNvSpPr/>
          <p:nvPr/>
        </p:nvSpPr>
        <p:spPr>
          <a:xfrm>
            <a:off x="841248" y="5588200"/>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5588200"/>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60704" y="5734504"/>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Two properties do the real work. Perception is </a:t>
            </a:r>
            <a:r>
              <a:rPr sz="1140" b="1" i="0" dirty="0">
                <a:solidFill>
                  <a:srgbClr val="333639"/>
                </a:solidFill>
                <a:latin typeface="Fira Sans"/>
              </a:rPr>
              <a:t>limited to a radius</a:t>
            </a:r>
            <a:r>
              <a:rPr sz="1140" b="0" i="0" dirty="0">
                <a:solidFill>
                  <a:srgbClr val="333639"/>
                </a:solidFill>
                <a:latin typeface="Fira Sans"/>
              </a:rPr>
              <a:t> </a:t>
            </a:r>
            <a:r>
              <a:rPr lang="it-IT" sz="1140" dirty="0">
                <a:solidFill>
                  <a:srgbClr val="333639"/>
                </a:solidFill>
                <a:latin typeface="Fira Sans"/>
              </a:rPr>
              <a:t>(</a:t>
            </a:r>
            <a:r>
              <a:rPr sz="1140" b="0" i="0" dirty="0">
                <a:solidFill>
                  <a:srgbClr val="333639"/>
                </a:solidFill>
                <a:latin typeface="Fira Sans"/>
              </a:rPr>
              <a:t>a </a:t>
            </a:r>
            <a:r>
              <a:rPr sz="1140" b="0" i="0" dirty="0" err="1">
                <a:solidFill>
                  <a:srgbClr val="333639"/>
                </a:solidFill>
                <a:latin typeface="Fira Sans"/>
              </a:rPr>
              <a:t>boid</a:t>
            </a:r>
            <a:r>
              <a:rPr sz="1140" b="0" i="0" dirty="0">
                <a:solidFill>
                  <a:srgbClr val="333639"/>
                </a:solidFill>
                <a:latin typeface="Fira Sans"/>
              </a:rPr>
              <a:t> never sees the whole flock</a:t>
            </a:r>
            <a:r>
              <a:rPr lang="it-IT" sz="1140" b="0" i="0" dirty="0">
                <a:solidFill>
                  <a:srgbClr val="333639"/>
                </a:solidFill>
                <a:latin typeface="Fira Sans"/>
              </a:rPr>
              <a:t>)</a:t>
            </a:r>
            <a:r>
              <a:rPr sz="1140" b="0" i="0" dirty="0">
                <a:solidFill>
                  <a:srgbClr val="333639"/>
                </a:solidFill>
                <a:latin typeface="Fira Sans"/>
              </a:rPr>
              <a:t> and the model is </a:t>
            </a:r>
            <a:r>
              <a:rPr sz="1140" b="1" i="0" dirty="0">
                <a:solidFill>
                  <a:srgbClr val="333639"/>
                </a:solidFill>
                <a:latin typeface="Fira Sans"/>
              </a:rPr>
              <a:t>decentralized</a:t>
            </a:r>
            <a:r>
              <a:rPr sz="1140" b="0" i="0" dirty="0">
                <a:solidFill>
                  <a:srgbClr val="333639"/>
                </a:solidFill>
                <a:latin typeface="Fira Sans"/>
              </a:rPr>
              <a:t>: there is no leader, no shared plan, and no global state. Every </a:t>
            </a:r>
            <a:r>
              <a:rPr sz="1140" b="0" i="0" dirty="0" err="1">
                <a:solidFill>
                  <a:srgbClr val="333639"/>
                </a:solidFill>
                <a:latin typeface="Fira Sans"/>
              </a:rPr>
              <a:t>boid</a:t>
            </a:r>
            <a:r>
              <a:rPr sz="1140" b="0" i="0" dirty="0">
                <a:solidFill>
                  <a:srgbClr val="333639"/>
                </a:solidFill>
                <a:latin typeface="Fira Sans"/>
              </a:rPr>
              <a:t> runs the same program on its own percepts.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6.2  EACH RULE IS AN ACCELERATION REQUEST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Three competing forces, computed from the local neighbourhood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VI — Case study: flocking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54</a:t>
            </a:r>
          </a:p>
        </p:txBody>
      </p:sp>
      <p:sp>
        <p:nvSpPr>
          <p:cNvPr id="8" name="TextBox 7"/>
          <p:cNvSpPr txBox="1"/>
          <p:nvPr/>
        </p:nvSpPr>
        <p:spPr>
          <a:xfrm>
            <a:off x="841248" y="1316736"/>
            <a:ext cx="5633618" cy="772850"/>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Each rule is a simple heuristic evaluated over the </a:t>
            </a:r>
            <a:r>
              <a:rPr sz="1188" b="0" i="0" dirty="0" err="1">
                <a:solidFill>
                  <a:srgbClr val="333639"/>
                </a:solidFill>
                <a:latin typeface="Fira Sans"/>
              </a:rPr>
              <a:t>neighbours</a:t>
            </a:r>
            <a:r>
              <a:rPr sz="1188" b="0" i="0" dirty="0">
                <a:solidFill>
                  <a:srgbClr val="333639"/>
                </a:solidFill>
                <a:latin typeface="Fira Sans"/>
              </a:rPr>
              <a:t> within the perception radius. It does not produce an action directly: it produces a </a:t>
            </a:r>
            <a:r>
              <a:rPr sz="1188" b="1" i="0" dirty="0">
                <a:solidFill>
                  <a:srgbClr val="333639"/>
                </a:solidFill>
                <a:latin typeface="Fira Sans"/>
              </a:rPr>
              <a:t>force</a:t>
            </a:r>
            <a:r>
              <a:rPr lang="it-IT" sz="1188" b="0" i="0" dirty="0">
                <a:solidFill>
                  <a:srgbClr val="333639"/>
                </a:solidFill>
                <a:latin typeface="Fira Sans"/>
              </a:rPr>
              <a:t>:</a:t>
            </a:r>
            <a:r>
              <a:rPr sz="1188" b="0" i="0" dirty="0">
                <a:solidFill>
                  <a:srgbClr val="333639"/>
                </a:solidFill>
                <a:latin typeface="Fira Sans"/>
              </a:rPr>
              <a:t> a request for acceleration. Each force is capped at a maximum magnitude, so that no single rule can overpower the others.</a:t>
            </a:r>
          </a:p>
        </p:txBody>
      </p:sp>
      <p:sp>
        <p:nvSpPr>
          <p:cNvPr id="9" name="TextBox 8"/>
          <p:cNvSpPr txBox="1"/>
          <p:nvPr/>
        </p:nvSpPr>
        <p:spPr>
          <a:xfrm>
            <a:off x="6583680" y="1316736"/>
            <a:ext cx="4767041"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PERCEPT: WHO COUNTS AS A NEIGHBOUR</a:t>
            </a:r>
          </a:p>
        </p:txBody>
      </p:sp>
      <p:pic>
        <p:nvPicPr>
          <p:cNvPr id="10" name="Picture 9" descr="eq_neighbour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83680" y="1591056"/>
            <a:ext cx="3576320" cy="368300"/>
          </a:xfrm>
          <a:prstGeom prst="rect">
            <a:avLst/>
          </a:prstGeom>
        </p:spPr>
      </p:pic>
      <p:sp>
        <p:nvSpPr>
          <p:cNvPr id="11" name="TextBox 10"/>
          <p:cNvSpPr txBox="1"/>
          <p:nvPr/>
        </p:nvSpPr>
        <p:spPr>
          <a:xfrm>
            <a:off x="6583680" y="2105660"/>
            <a:ext cx="4767041"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dirty="0">
                <a:solidFill>
                  <a:srgbClr val="626669"/>
                </a:solidFill>
                <a:latin typeface="Fira Sans"/>
              </a:rPr>
              <a:t>A </a:t>
            </a:r>
            <a:r>
              <a:rPr sz="1045" b="0" i="0" dirty="0" err="1">
                <a:solidFill>
                  <a:srgbClr val="626669"/>
                </a:solidFill>
                <a:latin typeface="Fira Sans"/>
              </a:rPr>
              <a:t>boid</a:t>
            </a:r>
            <a:r>
              <a:rPr sz="1045" b="0" i="0" dirty="0">
                <a:solidFill>
                  <a:srgbClr val="626669"/>
                </a:solidFill>
                <a:latin typeface="Fira Sans"/>
              </a:rPr>
              <a:t> never perceives the flock</a:t>
            </a:r>
            <a:r>
              <a:rPr lang="it-IT" sz="1045" b="0" i="0" dirty="0">
                <a:solidFill>
                  <a:srgbClr val="626669"/>
                </a:solidFill>
                <a:latin typeface="Fira Sans"/>
              </a:rPr>
              <a:t>: </a:t>
            </a:r>
            <a:r>
              <a:rPr sz="1045" b="0" i="0" dirty="0">
                <a:solidFill>
                  <a:srgbClr val="626669"/>
                </a:solidFill>
                <a:latin typeface="Fira Sans"/>
              </a:rPr>
              <a:t>only the </a:t>
            </a:r>
            <a:r>
              <a:rPr sz="1045" b="0" i="0" dirty="0" err="1">
                <a:solidFill>
                  <a:srgbClr val="626669"/>
                </a:solidFill>
                <a:latin typeface="Fira Sans"/>
              </a:rPr>
              <a:t>boids</a:t>
            </a:r>
            <a:r>
              <a:rPr sz="1045" b="0" i="0" dirty="0">
                <a:solidFill>
                  <a:srgbClr val="626669"/>
                </a:solidFill>
                <a:latin typeface="Fira Sans"/>
              </a:rPr>
              <a:t> inside a disc of radius r around it.</a:t>
            </a:r>
          </a:p>
        </p:txBody>
      </p:sp>
      <p:sp>
        <p:nvSpPr>
          <p:cNvPr id="12" name="Rectangle 11"/>
          <p:cNvSpPr/>
          <p:nvPr/>
        </p:nvSpPr>
        <p:spPr>
          <a:xfrm>
            <a:off x="841248" y="2711475"/>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2839491"/>
            <a:ext cx="3297936" cy="2216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C8102E"/>
                </a:solidFill>
                <a:latin typeface="Fira Sans"/>
              </a:rPr>
              <a:t>Separation</a:t>
            </a:r>
          </a:p>
        </p:txBody>
      </p:sp>
      <p:pic>
        <p:nvPicPr>
          <p:cNvPr id="15" name="Picture 14" descr="eq_f_sep.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4759731"/>
            <a:ext cx="3297936" cy="653863"/>
          </a:xfrm>
          <a:prstGeom prst="rect">
            <a:avLst/>
          </a:prstGeom>
        </p:spPr>
      </p:pic>
      <p:sp>
        <p:nvSpPr>
          <p:cNvPr id="16" name="TextBox 15"/>
          <p:cNvSpPr txBox="1"/>
          <p:nvPr/>
        </p:nvSpPr>
        <p:spPr>
          <a:xfrm>
            <a:off x="841248" y="5618251"/>
            <a:ext cx="3297936" cy="506387"/>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Unit vectors pointing away from each neighbour, scaled by 1/distance: close neighbours push much harder.</a:t>
            </a:r>
          </a:p>
        </p:txBody>
      </p:sp>
      <p:sp>
        <p:nvSpPr>
          <p:cNvPr id="17" name="Rectangle 16"/>
          <p:cNvSpPr/>
          <p:nvPr/>
        </p:nvSpPr>
        <p:spPr>
          <a:xfrm>
            <a:off x="4450080" y="2711475"/>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450080" y="2839491"/>
            <a:ext cx="3297936" cy="2216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B7A3E"/>
                </a:solidFill>
                <a:latin typeface="Fira Sans"/>
              </a:rPr>
              <a:t>Cohesion</a:t>
            </a:r>
          </a:p>
        </p:txBody>
      </p:sp>
      <p:pic>
        <p:nvPicPr>
          <p:cNvPr id="20" name="Picture 19" descr="eq_f_coh.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50080" y="4759731"/>
            <a:ext cx="2644647" cy="675639"/>
          </a:xfrm>
          <a:prstGeom prst="rect">
            <a:avLst/>
          </a:prstGeom>
        </p:spPr>
      </p:pic>
      <p:sp>
        <p:nvSpPr>
          <p:cNvPr id="21" name="TextBox 20"/>
          <p:cNvSpPr txBox="1"/>
          <p:nvPr/>
        </p:nvSpPr>
        <p:spPr>
          <a:xfrm>
            <a:off x="4450080" y="5618251"/>
            <a:ext cx="3297936"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 vector from the boid to the centre of mass of its neighbours.</a:t>
            </a:r>
          </a:p>
        </p:txBody>
      </p:sp>
      <p:sp>
        <p:nvSpPr>
          <p:cNvPr id="22" name="Rectangle 21"/>
          <p:cNvSpPr/>
          <p:nvPr/>
        </p:nvSpPr>
        <p:spPr>
          <a:xfrm>
            <a:off x="8058912" y="2711475"/>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058912" y="2839491"/>
            <a:ext cx="3297936" cy="2216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574676"/>
                </a:solidFill>
                <a:latin typeface="Fira Sans"/>
              </a:rPr>
              <a:t>Alignment</a:t>
            </a:r>
          </a:p>
        </p:txBody>
      </p:sp>
      <p:pic>
        <p:nvPicPr>
          <p:cNvPr id="25" name="Picture 24" descr="eq_f_ali.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58912" y="4759731"/>
            <a:ext cx="2552954" cy="675640"/>
          </a:xfrm>
          <a:prstGeom prst="rect">
            <a:avLst/>
          </a:prstGeom>
        </p:spPr>
      </p:pic>
      <p:sp>
        <p:nvSpPr>
          <p:cNvPr id="26" name="TextBox 25"/>
          <p:cNvSpPr txBox="1"/>
          <p:nvPr/>
        </p:nvSpPr>
        <p:spPr>
          <a:xfrm>
            <a:off x="8058912" y="5618251"/>
            <a:ext cx="3297936"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 difference between the average neighbour velocity and the boid’s own velocity.</a:t>
            </a:r>
          </a:p>
        </p:txBody>
      </p:sp>
      <p:pic>
        <p:nvPicPr>
          <p:cNvPr id="28" name="Immagine 27">
            <a:extLst>
              <a:ext uri="{FF2B5EF4-FFF2-40B4-BE49-F238E27FC236}">
                <a16:creationId xmlns:a16="http://schemas.microsoft.com/office/drawing/2014/main" id="{28BC562C-9604-CD3F-835C-342DA39D7DB3}"/>
              </a:ext>
            </a:extLst>
          </p:cNvPr>
          <p:cNvPicPr>
            <a:picLocks noChangeAspect="1"/>
          </p:cNvPicPr>
          <p:nvPr/>
        </p:nvPicPr>
        <p:blipFill>
          <a:blip r:embed="rId6"/>
          <a:stretch>
            <a:fillRect/>
          </a:stretch>
        </p:blipFill>
        <p:spPr>
          <a:xfrm>
            <a:off x="1856926" y="2830886"/>
            <a:ext cx="1672337" cy="1875878"/>
          </a:xfrm>
          <a:prstGeom prst="rect">
            <a:avLst/>
          </a:prstGeom>
        </p:spPr>
      </p:pic>
      <p:pic>
        <p:nvPicPr>
          <p:cNvPr id="29" name="Immagine 28">
            <a:extLst>
              <a:ext uri="{FF2B5EF4-FFF2-40B4-BE49-F238E27FC236}">
                <a16:creationId xmlns:a16="http://schemas.microsoft.com/office/drawing/2014/main" id="{BE7C83B0-1130-CCB3-4B07-014F2D6E0767}"/>
              </a:ext>
            </a:extLst>
          </p:cNvPr>
          <p:cNvPicPr>
            <a:picLocks noChangeAspect="1"/>
          </p:cNvPicPr>
          <p:nvPr/>
        </p:nvPicPr>
        <p:blipFill>
          <a:blip r:embed="rId7"/>
          <a:stretch>
            <a:fillRect/>
          </a:stretch>
        </p:blipFill>
        <p:spPr>
          <a:xfrm>
            <a:off x="5422390" y="2839491"/>
            <a:ext cx="1672337" cy="1875878"/>
          </a:xfrm>
          <a:prstGeom prst="rect">
            <a:avLst/>
          </a:prstGeom>
        </p:spPr>
      </p:pic>
      <p:pic>
        <p:nvPicPr>
          <p:cNvPr id="30" name="Immagine 29">
            <a:extLst>
              <a:ext uri="{FF2B5EF4-FFF2-40B4-BE49-F238E27FC236}">
                <a16:creationId xmlns:a16="http://schemas.microsoft.com/office/drawing/2014/main" id="{17A5572F-0267-317F-F59B-EC4CA454D92E}"/>
              </a:ext>
            </a:extLst>
          </p:cNvPr>
          <p:cNvPicPr>
            <a:picLocks noChangeAspect="1"/>
          </p:cNvPicPr>
          <p:nvPr/>
        </p:nvPicPr>
        <p:blipFill>
          <a:blip r:embed="rId8"/>
          <a:stretch>
            <a:fillRect/>
          </a:stretch>
        </p:blipFill>
        <p:spPr>
          <a:xfrm>
            <a:off x="8792973" y="2839491"/>
            <a:ext cx="1819394" cy="186727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6.3  COMBINING THE REQUESTS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Competing accelerations are resolved by a weighted sum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VI — Case study: flocking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lang="en-GB" sz="1235" b="0" i="0" noProof="0" dirty="0">
                <a:solidFill>
                  <a:srgbClr val="333639"/>
                </a:solidFill>
                <a:latin typeface="Fira Sans"/>
              </a:rPr>
              <a:t>The three rules </a:t>
            </a:r>
            <a:r>
              <a:rPr lang="en-GB" sz="1235" b="1" i="0" noProof="0" dirty="0">
                <a:solidFill>
                  <a:srgbClr val="333639"/>
                </a:solidFill>
                <a:latin typeface="Fira Sans"/>
              </a:rPr>
              <a:t>generally disagree</a:t>
            </a:r>
            <a:r>
              <a:rPr lang="en-GB" sz="1235" b="0" i="0" noProof="0" dirty="0">
                <a:solidFill>
                  <a:srgbClr val="333639"/>
                </a:solidFill>
                <a:latin typeface="Fira Sans"/>
              </a:rPr>
              <a:t>: separation pushes away from the flock while cohesion pulls toward it. They are not arbitrated by a rule; they are simply added, each with its own weight.</a:t>
            </a:r>
          </a:p>
        </p:txBody>
      </p:sp>
      <p:pic>
        <p:nvPicPr>
          <p:cNvPr id="9" name="Picture 8" descr="eq_f_total.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92143" y="2010333"/>
            <a:ext cx="6607682" cy="438912"/>
          </a:xfrm>
          <a:prstGeom prst="rect">
            <a:avLst/>
          </a:prstGeom>
        </p:spPr>
      </p:pic>
      <p:sp>
        <p:nvSpPr>
          <p:cNvPr id="10" name="Rectangle 9"/>
          <p:cNvSpPr/>
          <p:nvPr/>
        </p:nvSpPr>
        <p:spPr>
          <a:xfrm>
            <a:off x="841248" y="281500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07103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 ADDITIONAL FORCE STEERS THE FLOCK</a:t>
            </a:r>
          </a:p>
        </p:txBody>
      </p:sp>
      <p:pic>
        <p:nvPicPr>
          <p:cNvPr id="12" name="Picture 11" descr="eq_f_dir.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8408" y="3327069"/>
            <a:ext cx="1910080" cy="632460"/>
          </a:xfrm>
          <a:prstGeom prst="rect">
            <a:avLst/>
          </a:prstGeom>
        </p:spPr>
      </p:pic>
      <p:sp>
        <p:nvSpPr>
          <p:cNvPr id="13" name="TextBox 12"/>
          <p:cNvSpPr txBox="1"/>
          <p:nvPr/>
        </p:nvSpPr>
        <p:spPr>
          <a:xfrm>
            <a:off x="3172968" y="3345357"/>
            <a:ext cx="3735324"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lang="en-GB" sz="1092" b="0" i="0" noProof="0" dirty="0">
                <a:solidFill>
                  <a:srgbClr val="626669"/>
                </a:solidFill>
                <a:latin typeface="Fira Sans"/>
              </a:rPr>
              <a:t>A unit vector toward a target position t. Unlike the three flocking rules it does not depend on the neighbours, and it is not scaled by distance, the </a:t>
            </a:r>
            <a:r>
              <a:rPr lang="en-GB" sz="1092" b="0" i="0" noProof="0" dirty="0" err="1">
                <a:solidFill>
                  <a:srgbClr val="626669"/>
                </a:solidFill>
                <a:latin typeface="Fira Sans"/>
              </a:rPr>
              <a:t>boid</a:t>
            </a:r>
            <a:r>
              <a:rPr lang="en-GB" sz="1092" b="0" i="0" noProof="0" dirty="0">
                <a:solidFill>
                  <a:srgbClr val="626669"/>
                </a:solidFill>
                <a:latin typeface="Fira Sans"/>
              </a:rPr>
              <a:t> steers that way however far the target is.</a:t>
            </a:r>
          </a:p>
        </p:txBody>
      </p:sp>
      <p:sp>
        <p:nvSpPr>
          <p:cNvPr id="14" name="Rectangle 13"/>
          <p:cNvSpPr/>
          <p:nvPr/>
        </p:nvSpPr>
        <p:spPr>
          <a:xfrm>
            <a:off x="841248" y="4160697"/>
            <a:ext cx="6067044"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4325289"/>
            <a:ext cx="6067044" cy="820704"/>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The weights are the design surface</a:t>
            </a:r>
          </a:p>
          <a:p>
            <a:pPr marL="0" indent="0" algn="l">
              <a:lnSpc>
                <a:spcPts val="1391"/>
              </a:lnSpc>
              <a:spcBef>
                <a:spcPts val="600"/>
              </a:spcBef>
              <a:spcAft>
                <a:spcPts val="0"/>
              </a:spcAft>
              <a:buNone/>
            </a:pPr>
            <a:r>
              <a:rPr sz="1140" b="0" i="0">
                <a:solidFill>
                  <a:srgbClr val="333639"/>
                </a:solidFill>
                <a:latin typeface="Fira Sans"/>
              </a:rPr>
              <a:t>Changing w_sep, w_coh and w_ali changes the character of the flock without changing a line of the rules: tighter or looser formations, faster or slower convergence, more or less willingness to leave the group to reach the target.</a:t>
            </a:r>
          </a:p>
        </p:txBody>
      </p:sp>
      <p:sp>
        <p:nvSpPr>
          <p:cNvPr id="16" name="TextBox 15"/>
          <p:cNvSpPr txBox="1"/>
          <p:nvPr/>
        </p:nvSpPr>
        <p:spPr>
          <a:xfrm>
            <a:off x="1078992" y="5365450"/>
            <a:ext cx="5829300" cy="193179"/>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1" i="0" dirty="0">
                <a:solidFill>
                  <a:srgbClr val="25282A"/>
                </a:solidFill>
                <a:latin typeface="Fira Sans"/>
              </a:rPr>
              <a:t>Separation dominant</a:t>
            </a:r>
            <a:r>
              <a:rPr sz="1045" b="0" i="0" dirty="0">
                <a:solidFill>
                  <a:srgbClr val="8E9295"/>
                </a:solidFill>
                <a:latin typeface="Fira Sans"/>
              </a:rPr>
              <a:t> </a:t>
            </a:r>
            <a:r>
              <a:rPr lang="it-IT" sz="1045" b="0" i="0" dirty="0">
                <a:solidFill>
                  <a:srgbClr val="8E9295"/>
                </a:solidFill>
                <a:latin typeface="Fira Sans"/>
              </a:rPr>
              <a:t>: </a:t>
            </a:r>
            <a:r>
              <a:rPr sz="1045" b="0" i="0" dirty="0">
                <a:solidFill>
                  <a:srgbClr val="626669"/>
                </a:solidFill>
                <a:latin typeface="Fira Sans"/>
              </a:rPr>
              <a:t>the flock spreads out and never forms</a:t>
            </a:r>
          </a:p>
        </p:txBody>
      </p:sp>
      <p:sp>
        <p:nvSpPr>
          <p:cNvPr id="17" name="Rectangle 16"/>
          <p:cNvSpPr/>
          <p:nvPr/>
        </p:nvSpPr>
        <p:spPr>
          <a:xfrm>
            <a:off x="841248" y="5365450"/>
            <a:ext cx="41148" cy="156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78992" y="5686645"/>
            <a:ext cx="5829300" cy="193179"/>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1" i="0" dirty="0">
                <a:solidFill>
                  <a:srgbClr val="25282A"/>
                </a:solidFill>
                <a:latin typeface="Fira Sans"/>
              </a:rPr>
              <a:t>Cohesion dominant</a:t>
            </a:r>
            <a:r>
              <a:rPr lang="it-IT" sz="1045" dirty="0">
                <a:solidFill>
                  <a:srgbClr val="8E9295"/>
                </a:solidFill>
                <a:latin typeface="Fira Sans"/>
              </a:rPr>
              <a:t>: </a:t>
            </a:r>
            <a:r>
              <a:rPr sz="1045" b="0" i="0" dirty="0">
                <a:solidFill>
                  <a:srgbClr val="8E9295"/>
                </a:solidFill>
                <a:latin typeface="Fira Sans"/>
              </a:rPr>
              <a:t> </a:t>
            </a:r>
            <a:r>
              <a:rPr sz="1045" b="0" i="0" dirty="0">
                <a:solidFill>
                  <a:srgbClr val="626669"/>
                </a:solidFill>
                <a:latin typeface="Fira Sans"/>
              </a:rPr>
              <a:t>the flock collapses toward a point and crowds</a:t>
            </a:r>
          </a:p>
        </p:txBody>
      </p:sp>
      <p:sp>
        <p:nvSpPr>
          <p:cNvPr id="19" name="Rectangle 18"/>
          <p:cNvSpPr/>
          <p:nvPr/>
        </p:nvSpPr>
        <p:spPr>
          <a:xfrm>
            <a:off x="841248" y="5686645"/>
            <a:ext cx="41148" cy="156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78992" y="6007841"/>
            <a:ext cx="5829300" cy="193179"/>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1" i="0" dirty="0">
                <a:solidFill>
                  <a:srgbClr val="25282A"/>
                </a:solidFill>
                <a:latin typeface="Fira Sans"/>
              </a:rPr>
              <a:t>Alignment dominant</a:t>
            </a:r>
            <a:r>
              <a:rPr lang="it-IT" sz="1045" dirty="0">
                <a:solidFill>
                  <a:srgbClr val="8E9295"/>
                </a:solidFill>
                <a:latin typeface="Fira Sans"/>
              </a:rPr>
              <a:t>: </a:t>
            </a:r>
            <a:r>
              <a:rPr sz="1045" b="0" i="0" dirty="0">
                <a:solidFill>
                  <a:srgbClr val="626669"/>
                </a:solidFill>
                <a:latin typeface="Fira Sans"/>
              </a:rPr>
              <a:t>headings agree, but spacing is never corrected</a:t>
            </a:r>
          </a:p>
        </p:txBody>
      </p:sp>
      <p:sp>
        <p:nvSpPr>
          <p:cNvPr id="21" name="Rectangle 20"/>
          <p:cNvSpPr/>
          <p:nvPr/>
        </p:nvSpPr>
        <p:spPr>
          <a:xfrm>
            <a:off x="841248" y="6007841"/>
            <a:ext cx="41148" cy="156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365492" y="3071037"/>
            <a:ext cx="398522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PARAMETERS USED IN THE SIMULATION</a:t>
            </a:r>
          </a:p>
        </p:txBody>
      </p:sp>
      <p:sp>
        <p:nvSpPr>
          <p:cNvPr id="23" name="TextBox 22"/>
          <p:cNvSpPr txBox="1"/>
          <p:nvPr/>
        </p:nvSpPr>
        <p:spPr>
          <a:xfrm>
            <a:off x="7365492" y="3363645"/>
            <a:ext cx="2470842"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333639"/>
                </a:solidFill>
                <a:latin typeface="Consolas"/>
              </a:rPr>
              <a:t>w_sep</a:t>
            </a:r>
          </a:p>
        </p:txBody>
      </p:sp>
      <p:sp>
        <p:nvSpPr>
          <p:cNvPr id="24" name="TextBox 23"/>
          <p:cNvSpPr txBox="1"/>
          <p:nvPr/>
        </p:nvSpPr>
        <p:spPr>
          <a:xfrm>
            <a:off x="9836334" y="3363645"/>
            <a:ext cx="1514387" cy="219456"/>
          </a:xfrm>
          <a:prstGeom prst="rect">
            <a:avLst/>
          </a:prstGeom>
          <a:noFill/>
        </p:spPr>
        <p:txBody>
          <a:bodyPr wrap="square" lIns="0" tIns="0" rIns="0" bIns="0" anchor="t">
            <a:noAutofit/>
          </a:bodyPr>
          <a:lstStyle/>
          <a:p>
            <a:pPr marL="0" indent="0" algn="r">
              <a:lnSpc>
                <a:spcPts val="1092"/>
              </a:lnSpc>
              <a:spcBef>
                <a:spcPts val="0"/>
              </a:spcBef>
              <a:spcAft>
                <a:spcPts val="0"/>
              </a:spcAft>
              <a:buNone/>
            </a:pPr>
            <a:r>
              <a:rPr sz="1092" b="1" i="0">
                <a:solidFill>
                  <a:srgbClr val="C8102E"/>
                </a:solidFill>
                <a:latin typeface="Consolas"/>
              </a:rPr>
              <a:t>1.2</a:t>
            </a:r>
          </a:p>
        </p:txBody>
      </p:sp>
      <p:sp>
        <p:nvSpPr>
          <p:cNvPr id="25" name="Rectangle 24"/>
          <p:cNvSpPr/>
          <p:nvPr/>
        </p:nvSpPr>
        <p:spPr>
          <a:xfrm>
            <a:off x="7365492" y="3601389"/>
            <a:ext cx="39852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365492" y="3711117"/>
            <a:ext cx="2470842"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333639"/>
                </a:solidFill>
                <a:latin typeface="Consolas"/>
              </a:rPr>
              <a:t>w_coh</a:t>
            </a:r>
          </a:p>
        </p:txBody>
      </p:sp>
      <p:sp>
        <p:nvSpPr>
          <p:cNvPr id="27" name="TextBox 26"/>
          <p:cNvSpPr txBox="1"/>
          <p:nvPr/>
        </p:nvSpPr>
        <p:spPr>
          <a:xfrm>
            <a:off x="9836334" y="3711117"/>
            <a:ext cx="1514387" cy="219456"/>
          </a:xfrm>
          <a:prstGeom prst="rect">
            <a:avLst/>
          </a:prstGeom>
          <a:noFill/>
        </p:spPr>
        <p:txBody>
          <a:bodyPr wrap="square" lIns="0" tIns="0" rIns="0" bIns="0" anchor="t">
            <a:noAutofit/>
          </a:bodyPr>
          <a:lstStyle/>
          <a:p>
            <a:pPr marL="0" indent="0" algn="r">
              <a:lnSpc>
                <a:spcPts val="1092"/>
              </a:lnSpc>
              <a:spcBef>
                <a:spcPts val="0"/>
              </a:spcBef>
              <a:spcAft>
                <a:spcPts val="0"/>
              </a:spcAft>
              <a:buNone/>
            </a:pPr>
            <a:r>
              <a:rPr sz="1092" b="1" i="0">
                <a:solidFill>
                  <a:srgbClr val="2B7A3E"/>
                </a:solidFill>
                <a:latin typeface="Consolas"/>
              </a:rPr>
              <a:t>0.5</a:t>
            </a:r>
          </a:p>
        </p:txBody>
      </p:sp>
      <p:sp>
        <p:nvSpPr>
          <p:cNvPr id="28" name="Rectangle 27"/>
          <p:cNvSpPr/>
          <p:nvPr/>
        </p:nvSpPr>
        <p:spPr>
          <a:xfrm>
            <a:off x="7365492" y="3948861"/>
            <a:ext cx="39852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365492" y="4058589"/>
            <a:ext cx="2470842"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333639"/>
                </a:solidFill>
                <a:latin typeface="Consolas"/>
              </a:rPr>
              <a:t>w_ali</a:t>
            </a:r>
          </a:p>
        </p:txBody>
      </p:sp>
      <p:sp>
        <p:nvSpPr>
          <p:cNvPr id="30" name="TextBox 29"/>
          <p:cNvSpPr txBox="1"/>
          <p:nvPr/>
        </p:nvSpPr>
        <p:spPr>
          <a:xfrm>
            <a:off x="9836334" y="4058589"/>
            <a:ext cx="1514387" cy="219456"/>
          </a:xfrm>
          <a:prstGeom prst="rect">
            <a:avLst/>
          </a:prstGeom>
          <a:noFill/>
        </p:spPr>
        <p:txBody>
          <a:bodyPr wrap="square" lIns="0" tIns="0" rIns="0" bIns="0" anchor="t">
            <a:noAutofit/>
          </a:bodyPr>
          <a:lstStyle/>
          <a:p>
            <a:pPr marL="0" indent="0" algn="r">
              <a:lnSpc>
                <a:spcPts val="1092"/>
              </a:lnSpc>
              <a:spcBef>
                <a:spcPts val="0"/>
              </a:spcBef>
              <a:spcAft>
                <a:spcPts val="0"/>
              </a:spcAft>
              <a:buNone/>
            </a:pPr>
            <a:r>
              <a:rPr sz="1092" b="1" i="0">
                <a:solidFill>
                  <a:srgbClr val="574676"/>
                </a:solidFill>
                <a:latin typeface="Consolas"/>
              </a:rPr>
              <a:t>1.0</a:t>
            </a:r>
          </a:p>
        </p:txBody>
      </p:sp>
      <p:sp>
        <p:nvSpPr>
          <p:cNvPr id="31" name="Rectangle 30"/>
          <p:cNvSpPr/>
          <p:nvPr/>
        </p:nvSpPr>
        <p:spPr>
          <a:xfrm>
            <a:off x="7365492" y="4296333"/>
            <a:ext cx="39852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365492" y="4406061"/>
            <a:ext cx="2470842"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333639"/>
                </a:solidFill>
                <a:latin typeface="Consolas"/>
              </a:rPr>
              <a:t>w_tgt</a:t>
            </a:r>
          </a:p>
        </p:txBody>
      </p:sp>
      <p:sp>
        <p:nvSpPr>
          <p:cNvPr id="33" name="TextBox 32"/>
          <p:cNvSpPr txBox="1"/>
          <p:nvPr/>
        </p:nvSpPr>
        <p:spPr>
          <a:xfrm>
            <a:off x="9836334" y="4406061"/>
            <a:ext cx="1514387" cy="219456"/>
          </a:xfrm>
          <a:prstGeom prst="rect">
            <a:avLst/>
          </a:prstGeom>
          <a:noFill/>
        </p:spPr>
        <p:txBody>
          <a:bodyPr wrap="square" lIns="0" tIns="0" rIns="0" bIns="0" anchor="t">
            <a:noAutofit/>
          </a:bodyPr>
          <a:lstStyle/>
          <a:p>
            <a:pPr marL="0" indent="0" algn="r">
              <a:lnSpc>
                <a:spcPts val="1092"/>
              </a:lnSpc>
              <a:spcBef>
                <a:spcPts val="0"/>
              </a:spcBef>
              <a:spcAft>
                <a:spcPts val="0"/>
              </a:spcAft>
              <a:buNone/>
            </a:pPr>
            <a:r>
              <a:rPr sz="1092" b="1" i="0">
                <a:solidFill>
                  <a:srgbClr val="8A5100"/>
                </a:solidFill>
                <a:latin typeface="Consolas"/>
              </a:rPr>
              <a:t>0.5</a:t>
            </a:r>
          </a:p>
        </p:txBody>
      </p:sp>
      <p:sp>
        <p:nvSpPr>
          <p:cNvPr id="34" name="Rectangle 33"/>
          <p:cNvSpPr/>
          <p:nvPr/>
        </p:nvSpPr>
        <p:spPr>
          <a:xfrm>
            <a:off x="7365492" y="4643805"/>
            <a:ext cx="39852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365492" y="4753533"/>
            <a:ext cx="2470842"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333639"/>
                </a:solidFill>
                <a:latin typeface="Consolas"/>
              </a:rPr>
              <a:t>radius r</a:t>
            </a:r>
          </a:p>
        </p:txBody>
      </p:sp>
      <p:sp>
        <p:nvSpPr>
          <p:cNvPr id="36" name="TextBox 35"/>
          <p:cNvSpPr txBox="1"/>
          <p:nvPr/>
        </p:nvSpPr>
        <p:spPr>
          <a:xfrm>
            <a:off x="9836334" y="4753533"/>
            <a:ext cx="1514387" cy="219456"/>
          </a:xfrm>
          <a:prstGeom prst="rect">
            <a:avLst/>
          </a:prstGeom>
          <a:noFill/>
        </p:spPr>
        <p:txBody>
          <a:bodyPr wrap="square" lIns="0" tIns="0" rIns="0" bIns="0" anchor="t">
            <a:noAutofit/>
          </a:bodyPr>
          <a:lstStyle/>
          <a:p>
            <a:pPr marL="0" indent="0" algn="r">
              <a:lnSpc>
                <a:spcPts val="1092"/>
              </a:lnSpc>
              <a:spcBef>
                <a:spcPts val="0"/>
              </a:spcBef>
              <a:spcAft>
                <a:spcPts val="0"/>
              </a:spcAft>
              <a:buNone/>
            </a:pPr>
            <a:r>
              <a:rPr sz="1092" b="1" i="0">
                <a:solidFill>
                  <a:srgbClr val="626669"/>
                </a:solidFill>
                <a:latin typeface="Consolas"/>
              </a:rPr>
              <a:t>10</a:t>
            </a:r>
          </a:p>
        </p:txBody>
      </p:sp>
      <p:sp>
        <p:nvSpPr>
          <p:cNvPr id="37" name="Rectangle 36"/>
          <p:cNvSpPr/>
          <p:nvPr/>
        </p:nvSpPr>
        <p:spPr>
          <a:xfrm>
            <a:off x="7365492" y="4991277"/>
            <a:ext cx="39852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365492" y="5101005"/>
            <a:ext cx="2470842"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333639"/>
                </a:solidFill>
                <a:latin typeface="Consolas"/>
              </a:rPr>
              <a:t>v_max</a:t>
            </a:r>
          </a:p>
        </p:txBody>
      </p:sp>
      <p:sp>
        <p:nvSpPr>
          <p:cNvPr id="39" name="TextBox 38"/>
          <p:cNvSpPr txBox="1"/>
          <p:nvPr/>
        </p:nvSpPr>
        <p:spPr>
          <a:xfrm>
            <a:off x="9836334" y="5101005"/>
            <a:ext cx="1514387" cy="219456"/>
          </a:xfrm>
          <a:prstGeom prst="rect">
            <a:avLst/>
          </a:prstGeom>
          <a:noFill/>
        </p:spPr>
        <p:txBody>
          <a:bodyPr wrap="square" lIns="0" tIns="0" rIns="0" bIns="0" anchor="t">
            <a:noAutofit/>
          </a:bodyPr>
          <a:lstStyle/>
          <a:p>
            <a:pPr marL="0" indent="0" algn="r">
              <a:lnSpc>
                <a:spcPts val="1092"/>
              </a:lnSpc>
              <a:spcBef>
                <a:spcPts val="0"/>
              </a:spcBef>
              <a:spcAft>
                <a:spcPts val="0"/>
              </a:spcAft>
              <a:buNone/>
            </a:pPr>
            <a:r>
              <a:rPr sz="1092" b="1" i="0">
                <a:solidFill>
                  <a:srgbClr val="626669"/>
                </a:solidFill>
                <a:latin typeface="Consolas"/>
              </a:rPr>
              <a:t>2.0</a:t>
            </a:r>
          </a:p>
        </p:txBody>
      </p:sp>
      <p:sp>
        <p:nvSpPr>
          <p:cNvPr id="40" name="Rectangle 39"/>
          <p:cNvSpPr/>
          <p:nvPr/>
        </p:nvSpPr>
        <p:spPr>
          <a:xfrm>
            <a:off x="7365492" y="5338749"/>
            <a:ext cx="39852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365492" y="5448477"/>
            <a:ext cx="2470842"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a:solidFill>
                  <a:srgbClr val="333639"/>
                </a:solidFill>
                <a:latin typeface="Consolas"/>
              </a:rPr>
              <a:t>damping λ</a:t>
            </a:r>
          </a:p>
        </p:txBody>
      </p:sp>
      <p:sp>
        <p:nvSpPr>
          <p:cNvPr id="42" name="TextBox 41"/>
          <p:cNvSpPr txBox="1"/>
          <p:nvPr/>
        </p:nvSpPr>
        <p:spPr>
          <a:xfrm>
            <a:off x="9836334" y="5448477"/>
            <a:ext cx="1514387" cy="219456"/>
          </a:xfrm>
          <a:prstGeom prst="rect">
            <a:avLst/>
          </a:prstGeom>
          <a:noFill/>
        </p:spPr>
        <p:txBody>
          <a:bodyPr wrap="square" lIns="0" tIns="0" rIns="0" bIns="0" anchor="t">
            <a:noAutofit/>
          </a:bodyPr>
          <a:lstStyle/>
          <a:p>
            <a:pPr marL="0" indent="0" algn="r">
              <a:lnSpc>
                <a:spcPts val="1092"/>
              </a:lnSpc>
              <a:spcBef>
                <a:spcPts val="0"/>
              </a:spcBef>
              <a:spcAft>
                <a:spcPts val="0"/>
              </a:spcAft>
              <a:buNone/>
            </a:pPr>
            <a:r>
              <a:rPr sz="1092" b="1" i="0">
                <a:solidFill>
                  <a:srgbClr val="626669"/>
                </a:solidFill>
                <a:latin typeface="Consolas"/>
              </a:rPr>
              <a:t>0.95</a:t>
            </a:r>
          </a:p>
        </p:txBody>
      </p:sp>
      <p:sp>
        <p:nvSpPr>
          <p:cNvPr id="43" name="Rectangle 42"/>
          <p:cNvSpPr/>
          <p:nvPr/>
        </p:nvSpPr>
        <p:spPr>
          <a:xfrm>
            <a:off x="7365492" y="5686221"/>
            <a:ext cx="3985229"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6.4  FROM FORCE TO MOTION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Euler integration, in two steps and one approximation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VI — Case study: flocking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56</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combined force determines the acceleration; the acceleration updates the velocity; the velocity updates the position. Applied at every simulation step, this is the whole of the boid’s physics.</a:t>
            </a:r>
          </a:p>
        </p:txBody>
      </p:sp>
      <p:sp>
        <p:nvSpPr>
          <p:cNvPr id="9" name="Rectangle 8"/>
          <p:cNvSpPr/>
          <p:nvPr/>
        </p:nvSpPr>
        <p:spPr>
          <a:xfrm>
            <a:off x="841248" y="1992045"/>
            <a:ext cx="3285744"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138349"/>
            <a:ext cx="3285744" cy="161409"/>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8A5100"/>
                </a:solidFill>
                <a:latin typeface="Fira Sans"/>
              </a:rPr>
              <a:t>STEP 1 — NEWTON</a:t>
            </a:r>
          </a:p>
        </p:txBody>
      </p:sp>
      <p:pic>
        <p:nvPicPr>
          <p:cNvPr id="11" name="Picture 10" descr="eq_accel.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446063"/>
            <a:ext cx="1544193" cy="629411"/>
          </a:xfrm>
          <a:prstGeom prst="rect">
            <a:avLst/>
          </a:prstGeom>
        </p:spPr>
      </p:pic>
      <p:sp>
        <p:nvSpPr>
          <p:cNvPr id="12" name="TextBox 11"/>
          <p:cNvSpPr txBox="1"/>
          <p:nvPr/>
        </p:nvSpPr>
        <p:spPr>
          <a:xfrm>
            <a:off x="841248" y="3276643"/>
            <a:ext cx="3285744"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total force divided by the mass gives the acceleration requested this step.</a:t>
            </a:r>
          </a:p>
        </p:txBody>
      </p:sp>
      <p:sp>
        <p:nvSpPr>
          <p:cNvPr id="13" name="Rectangle 12"/>
          <p:cNvSpPr/>
          <p:nvPr/>
        </p:nvSpPr>
        <p:spPr>
          <a:xfrm>
            <a:off x="4456176" y="1992045"/>
            <a:ext cx="3285744"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56176" y="2138349"/>
            <a:ext cx="3285744" cy="161409"/>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574676"/>
                </a:solidFill>
                <a:latin typeface="Fira Sans"/>
              </a:rPr>
              <a:t>STEP 2 — VELOCITY</a:t>
            </a:r>
          </a:p>
        </p:txBody>
      </p:sp>
      <p:pic>
        <p:nvPicPr>
          <p:cNvPr id="15" name="Picture 14" descr="eq_euler_v.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56176" y="2446063"/>
            <a:ext cx="3285744" cy="621503"/>
          </a:xfrm>
          <a:prstGeom prst="rect">
            <a:avLst/>
          </a:prstGeom>
        </p:spPr>
      </p:pic>
      <p:sp>
        <p:nvSpPr>
          <p:cNvPr id="16" name="TextBox 15"/>
          <p:cNvSpPr txBox="1"/>
          <p:nvPr/>
        </p:nvSpPr>
        <p:spPr>
          <a:xfrm>
            <a:off x="4456176" y="3268734"/>
            <a:ext cx="3285744"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acceleration, held constant over the interval Δt, changes the velocity.</a:t>
            </a:r>
          </a:p>
        </p:txBody>
      </p:sp>
      <p:sp>
        <p:nvSpPr>
          <p:cNvPr id="17" name="Rectangle 16"/>
          <p:cNvSpPr/>
          <p:nvPr/>
        </p:nvSpPr>
        <p:spPr>
          <a:xfrm>
            <a:off x="8071104" y="1992045"/>
            <a:ext cx="3285744"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71104" y="2138349"/>
            <a:ext cx="3285744" cy="161409"/>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2B7A3E"/>
                </a:solidFill>
                <a:latin typeface="Fira Sans"/>
              </a:rPr>
              <a:t>STEP 3 — POSITION</a:t>
            </a:r>
          </a:p>
        </p:txBody>
      </p:sp>
      <p:pic>
        <p:nvPicPr>
          <p:cNvPr id="19" name="Picture 18" descr="eq_euler_p.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71104" y="2446063"/>
            <a:ext cx="3285744" cy="652828"/>
          </a:xfrm>
          <a:prstGeom prst="rect">
            <a:avLst/>
          </a:prstGeom>
        </p:spPr>
      </p:pic>
      <p:sp>
        <p:nvSpPr>
          <p:cNvPr id="20" name="TextBox 19"/>
          <p:cNvSpPr txBox="1"/>
          <p:nvPr/>
        </p:nvSpPr>
        <p:spPr>
          <a:xfrm>
            <a:off x="8071104" y="3300059"/>
            <a:ext cx="3285744"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velocity, held constant over the same interval, moves the boid.</a:t>
            </a:r>
          </a:p>
        </p:txBody>
      </p:sp>
      <p:sp>
        <p:nvSpPr>
          <p:cNvPr id="21" name="Rectangle 20"/>
          <p:cNvSpPr/>
          <p:nvPr/>
        </p:nvSpPr>
        <p:spPr>
          <a:xfrm>
            <a:off x="841248" y="388893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41248" y="407181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THE IMPLEMENTATION ACTUALLY DOES</a:t>
            </a:r>
          </a:p>
        </p:txBody>
      </p:sp>
      <p:pic>
        <p:nvPicPr>
          <p:cNvPr id="23" name="Picture 22" descr="eq_euler_impl.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2688" y="4327845"/>
            <a:ext cx="5684520" cy="289560"/>
          </a:xfrm>
          <a:prstGeom prst="rect">
            <a:avLst/>
          </a:prstGeom>
        </p:spPr>
      </p:pic>
      <p:sp>
        <p:nvSpPr>
          <p:cNvPr id="24" name="TextBox 23"/>
          <p:cNvSpPr txBox="1"/>
          <p:nvPr/>
        </p:nvSpPr>
        <p:spPr>
          <a:xfrm>
            <a:off x="841248" y="4800285"/>
            <a:ext cx="6067044"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Mass and time step are both set to one, so force is added directly to velocity. The extra factor λ = 0.95 acts as </a:t>
            </a:r>
            <a:r>
              <a:rPr sz="1092" b="1" i="0">
                <a:solidFill>
                  <a:srgbClr val="25282A"/>
                </a:solidFill>
                <a:latin typeface="Fira Sans"/>
              </a:rPr>
              <a:t>friction</a:t>
            </a:r>
            <a:r>
              <a:rPr sz="1092" b="0" i="0">
                <a:solidFill>
                  <a:srgbClr val="333639"/>
                </a:solidFill>
                <a:latin typeface="Fira Sans"/>
              </a:rPr>
              <a:t>: without it the velocity is only ever pushed, and combined with the hard speed limit the boid swings between top speed in different directions instead of settling into a smooth heading.</a:t>
            </a:r>
          </a:p>
        </p:txBody>
      </p:sp>
      <p:sp>
        <p:nvSpPr>
          <p:cNvPr id="25" name="Rectangle 24"/>
          <p:cNvSpPr/>
          <p:nvPr/>
        </p:nvSpPr>
        <p:spPr>
          <a:xfrm>
            <a:off x="7365492" y="4108389"/>
            <a:ext cx="3985229" cy="1088897"/>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7365492" y="4108389"/>
            <a:ext cx="41148" cy="1088897"/>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584948" y="4254693"/>
            <a:ext cx="3601181" cy="796289"/>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Euler integration is the crudest possible integrator: it assumes acceleration and velocity are constant across the step. It is used here because it is </a:t>
            </a:r>
            <a:r>
              <a:rPr sz="1045" b="1" i="0" dirty="0">
                <a:solidFill>
                  <a:srgbClr val="333639"/>
                </a:solidFill>
                <a:latin typeface="Fira Sans"/>
              </a:rPr>
              <a:t>exact enough at </a:t>
            </a:r>
            <a:r>
              <a:rPr sz="1045" b="1" i="0" dirty="0" err="1">
                <a:solidFill>
                  <a:srgbClr val="333639"/>
                </a:solidFill>
                <a:latin typeface="Fira Sans"/>
              </a:rPr>
              <a:t>Δt</a:t>
            </a:r>
            <a:r>
              <a:rPr sz="1045" b="1" i="0" dirty="0">
                <a:solidFill>
                  <a:srgbClr val="333639"/>
                </a:solidFill>
                <a:latin typeface="Fira Sans"/>
              </a:rPr>
              <a:t> = 1 and completely transparent</a:t>
            </a:r>
            <a:r>
              <a:rPr lang="it-IT" sz="1045" dirty="0">
                <a:solidFill>
                  <a:srgbClr val="333639"/>
                </a:solidFill>
                <a:latin typeface="Fira Sans"/>
              </a:rPr>
              <a:t>: </a:t>
            </a:r>
            <a:r>
              <a:rPr sz="1045" b="0" i="0" dirty="0">
                <a:solidFill>
                  <a:srgbClr val="333639"/>
                </a:solidFill>
                <a:latin typeface="Fira Sans"/>
              </a:rPr>
              <a:t>the state update is two additions.</a:t>
            </a:r>
          </a:p>
        </p:txBody>
      </p:sp>
      <p:sp>
        <p:nvSpPr>
          <p:cNvPr id="28" name="TextBox 27"/>
          <p:cNvSpPr txBox="1"/>
          <p:nvPr/>
        </p:nvSpPr>
        <p:spPr>
          <a:xfrm>
            <a:off x="7365492" y="5388549"/>
            <a:ext cx="398522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8A5100"/>
                </a:solidFill>
                <a:latin typeface="Fira Sans"/>
              </a:rPr>
              <a:t>AND ONE HARD CONSTRAINT</a:t>
            </a:r>
          </a:p>
        </p:txBody>
      </p:sp>
      <p:pic>
        <p:nvPicPr>
          <p:cNvPr id="29" name="Picture 28" descr="eq_speed_cap.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56931" y="5626293"/>
            <a:ext cx="1081659" cy="269875"/>
          </a:xfrm>
          <a:prstGeom prst="rect">
            <a:avLst/>
          </a:prstGeom>
        </p:spPr>
      </p:pic>
      <p:sp>
        <p:nvSpPr>
          <p:cNvPr id="30" name="TextBox 29"/>
          <p:cNvSpPr txBox="1"/>
          <p:nvPr/>
        </p:nvSpPr>
        <p:spPr>
          <a:xfrm>
            <a:off x="7365492" y="5937189"/>
            <a:ext cx="3985229"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Applied after the velocity update, so no combination of forces can exceed it.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6.5  A BOID IS A MODEL-BASED REFLEX AGENT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lang="it-IT" sz="2162" b="1" dirty="0">
                <a:solidFill>
                  <a:srgbClr val="25282A"/>
                </a:solidFill>
                <a:latin typeface="Roboto Slab"/>
              </a:rPr>
              <a:t>An</a:t>
            </a:r>
            <a:r>
              <a:rPr sz="2162" b="1" i="0" dirty="0">
                <a:solidFill>
                  <a:srgbClr val="25282A"/>
                </a:solidFill>
                <a:latin typeface="Roboto Slab"/>
              </a:rPr>
              <a:t> architecture</a:t>
            </a:r>
            <a:r>
              <a:rPr lang="it-IT" sz="2162" b="1" i="0" dirty="0">
                <a:solidFill>
                  <a:srgbClr val="25282A"/>
                </a:solidFill>
                <a:latin typeface="Roboto Slab"/>
              </a:rPr>
              <a:t> </a:t>
            </a:r>
            <a:r>
              <a:rPr sz="2162" b="1" i="0" dirty="0">
                <a:solidFill>
                  <a:srgbClr val="25282A"/>
                </a:solidFill>
                <a:latin typeface="Roboto Slab"/>
              </a:rPr>
              <a:t>with the state being position and velocity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VI — Case study: flocking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57</a:t>
            </a:r>
          </a:p>
        </p:txBody>
      </p:sp>
      <p:sp>
        <p:nvSpPr>
          <p:cNvPr id="8" name="TextBox 7"/>
          <p:cNvSpPr txBox="1"/>
          <p:nvPr/>
        </p:nvSpPr>
        <p:spPr>
          <a:xfrm>
            <a:off x="841248" y="1316736"/>
            <a:ext cx="10515600" cy="220644"/>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implementation maps one-to-one onto the architecture of Part V. Reading the code beside the diagram is the point of this example.</a:t>
            </a:r>
          </a:p>
        </p:txBody>
      </p:sp>
      <p:sp>
        <p:nvSpPr>
          <p:cNvPr id="9" name="Rectangle 8"/>
          <p:cNvSpPr/>
          <p:nvPr/>
        </p:nvSpPr>
        <p:spPr>
          <a:xfrm>
            <a:off x="841248" y="1738548"/>
            <a:ext cx="6369710" cy="4101211"/>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738548"/>
            <a:ext cx="41148" cy="4101211"/>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1820844"/>
            <a:ext cx="600395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BOID, IN FULL</a:t>
            </a:r>
          </a:p>
        </p:txBody>
      </p:sp>
      <p:sp>
        <p:nvSpPr>
          <p:cNvPr id="12" name="TextBox 11"/>
          <p:cNvSpPr txBox="1"/>
          <p:nvPr/>
        </p:nvSpPr>
        <p:spPr>
          <a:xfrm>
            <a:off x="1024128" y="2122596"/>
            <a:ext cx="6058814" cy="3644010"/>
          </a:xfrm>
          <a:prstGeom prst="rect">
            <a:avLst/>
          </a:prstGeom>
          <a:noFill/>
        </p:spPr>
        <p:txBody>
          <a:bodyPr wrap="none" lIns="0" tIns="0" rIns="0" bIns="0" anchor="t">
            <a:noAutofit/>
          </a:bodyPr>
          <a:lstStyle/>
          <a:p>
            <a:pPr marL="0" indent="0" algn="l">
              <a:lnSpc>
                <a:spcPts val="1235"/>
              </a:lnSpc>
              <a:spcBef>
                <a:spcPts val="0"/>
              </a:spcBef>
              <a:spcAft>
                <a:spcPts val="0"/>
              </a:spcAft>
              <a:buNone/>
            </a:pPr>
            <a:r>
              <a:rPr sz="950" b="1" i="0" dirty="0">
                <a:solidFill>
                  <a:srgbClr val="574676"/>
                </a:solidFill>
                <a:latin typeface="Consolas"/>
              </a:rPr>
              <a:t>def sensors(</a:t>
            </a:r>
            <a:r>
              <a:rPr sz="950" b="1" i="0" dirty="0" err="1">
                <a:solidFill>
                  <a:srgbClr val="574676"/>
                </a:solidFill>
                <a:latin typeface="Consolas"/>
              </a:rPr>
              <a:t>boid</a:t>
            </a:r>
            <a:r>
              <a:rPr sz="950" b="1" i="0" dirty="0">
                <a:solidFill>
                  <a:srgbClr val="574676"/>
                </a:solidFill>
                <a:latin typeface="Consolas"/>
              </a:rPr>
              <a:t>, </a:t>
            </a:r>
            <a:r>
              <a:rPr sz="950" b="1" i="0" dirty="0" err="1">
                <a:solidFill>
                  <a:srgbClr val="574676"/>
                </a:solidFill>
                <a:latin typeface="Consolas"/>
              </a:rPr>
              <a:t>boids</a:t>
            </a:r>
            <a:r>
              <a:rPr sz="950" b="1" i="0" dirty="0">
                <a:solidFill>
                  <a:srgbClr val="574676"/>
                </a:solidFill>
                <a:latin typeface="Consolas"/>
              </a:rPr>
              <a:t>, radius):         </a:t>
            </a:r>
            <a:r>
              <a:rPr sz="950" b="0" i="1" dirty="0">
                <a:solidFill>
                  <a:srgbClr val="768896"/>
                </a:solidFill>
                <a:latin typeface="Consolas"/>
              </a:rPr>
              <a:t># the PERCEPT</a:t>
            </a:r>
          </a:p>
          <a:p>
            <a:pPr marL="0" indent="0" algn="l">
              <a:lnSpc>
                <a:spcPts val="1235"/>
              </a:lnSpc>
              <a:spcBef>
                <a:spcPts val="0"/>
              </a:spcBef>
              <a:spcAft>
                <a:spcPts val="0"/>
              </a:spcAft>
              <a:buNone/>
            </a:pPr>
            <a:r>
              <a:rPr sz="950" b="0" i="0" dirty="0">
                <a:solidFill>
                  <a:srgbClr val="1F2A37"/>
                </a:solidFill>
                <a:latin typeface="Consolas"/>
              </a:rPr>
              <a:t>    return [b for b in </a:t>
            </a:r>
            <a:r>
              <a:rPr sz="950" b="0" i="0" dirty="0" err="1">
                <a:solidFill>
                  <a:srgbClr val="1F2A37"/>
                </a:solidFill>
                <a:latin typeface="Consolas"/>
              </a:rPr>
              <a:t>boids</a:t>
            </a:r>
            <a:r>
              <a:rPr sz="950" b="0" i="0" dirty="0">
                <a:solidFill>
                  <a:srgbClr val="1F2A37"/>
                </a:solidFill>
                <a:latin typeface="Consolas"/>
              </a:rPr>
              <a:t> if b is not </a:t>
            </a:r>
            <a:r>
              <a:rPr sz="950" b="0" i="0" dirty="0" err="1">
                <a:solidFill>
                  <a:srgbClr val="1F2A37"/>
                </a:solidFill>
                <a:latin typeface="Consolas"/>
              </a:rPr>
              <a:t>boid</a:t>
            </a:r>
            <a:endParaRPr sz="950" b="0" i="0" dirty="0">
              <a:solidFill>
                <a:srgbClr val="1F2A37"/>
              </a:solidFill>
              <a:latin typeface="Consolas"/>
            </a:endParaRPr>
          </a:p>
          <a:p>
            <a:pPr marL="0" indent="0" algn="l">
              <a:lnSpc>
                <a:spcPts val="1235"/>
              </a:lnSpc>
              <a:spcBef>
                <a:spcPts val="0"/>
              </a:spcBef>
              <a:spcAft>
                <a:spcPts val="0"/>
              </a:spcAft>
              <a:buNone/>
            </a:pPr>
            <a:r>
              <a:rPr sz="950" b="0" i="0" dirty="0">
                <a:solidFill>
                  <a:srgbClr val="1F2A37"/>
                </a:solidFill>
                <a:latin typeface="Consolas"/>
              </a:rPr>
              <a:t>            and norm(b['position'] - </a:t>
            </a:r>
            <a:r>
              <a:rPr sz="950" b="0" i="0" dirty="0" err="1">
                <a:solidFill>
                  <a:srgbClr val="1F2A37"/>
                </a:solidFill>
                <a:latin typeface="Consolas"/>
              </a:rPr>
              <a:t>boid</a:t>
            </a:r>
            <a:r>
              <a:rPr sz="950" b="0" i="0" dirty="0">
                <a:solidFill>
                  <a:srgbClr val="1F2A37"/>
                </a:solidFill>
                <a:latin typeface="Consolas"/>
              </a:rPr>
              <a:t>['position']) &lt; radius]</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1" i="0" dirty="0">
                <a:solidFill>
                  <a:srgbClr val="574676"/>
                </a:solidFill>
                <a:latin typeface="Consolas"/>
              </a:rPr>
              <a:t>def </a:t>
            </a:r>
            <a:r>
              <a:rPr sz="950" b="1" i="0" dirty="0" err="1">
                <a:solidFill>
                  <a:srgbClr val="574676"/>
                </a:solidFill>
                <a:latin typeface="Consolas"/>
              </a:rPr>
              <a:t>update_state</a:t>
            </a:r>
            <a:r>
              <a:rPr sz="950" b="1" i="0" dirty="0">
                <a:solidFill>
                  <a:srgbClr val="574676"/>
                </a:solidFill>
                <a:latin typeface="Consolas"/>
              </a:rPr>
              <a:t>(</a:t>
            </a:r>
            <a:r>
              <a:rPr sz="950" b="1" i="0" dirty="0" err="1">
                <a:solidFill>
                  <a:srgbClr val="574676"/>
                </a:solidFill>
                <a:latin typeface="Consolas"/>
              </a:rPr>
              <a:t>boid</a:t>
            </a:r>
            <a:r>
              <a:rPr sz="950" b="1" i="0" dirty="0">
                <a:solidFill>
                  <a:srgbClr val="574676"/>
                </a:solidFill>
                <a:latin typeface="Consolas"/>
              </a:rPr>
              <a:t>, percept, model):   </a:t>
            </a:r>
            <a:r>
              <a:rPr sz="950" b="0" i="1" dirty="0">
                <a:solidFill>
                  <a:srgbClr val="768896"/>
                </a:solidFill>
                <a:latin typeface="Consolas"/>
              </a:rPr>
              <a:t># the STATE UPDATE</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nb</a:t>
            </a:r>
            <a:r>
              <a:rPr sz="950" b="0" i="0" dirty="0">
                <a:solidFill>
                  <a:srgbClr val="1F2A37"/>
                </a:solidFill>
                <a:latin typeface="Consolas"/>
              </a:rPr>
              <a:t> = percept['neighbors']</a:t>
            </a:r>
          </a:p>
          <a:p>
            <a:pPr marL="0" indent="0" algn="l">
              <a:lnSpc>
                <a:spcPts val="1235"/>
              </a:lnSpc>
              <a:spcBef>
                <a:spcPts val="0"/>
              </a:spcBef>
              <a:spcAft>
                <a:spcPts val="0"/>
              </a:spcAft>
              <a:buNone/>
            </a:pPr>
            <a:r>
              <a:rPr sz="950" b="0" i="0" dirty="0">
                <a:solidFill>
                  <a:srgbClr val="1F2A37"/>
                </a:solidFill>
                <a:latin typeface="Consolas"/>
              </a:rPr>
              <a:t>    force = (model['</a:t>
            </a:r>
            <a:r>
              <a:rPr sz="950" b="0" i="0" dirty="0" err="1">
                <a:solidFill>
                  <a:srgbClr val="1F2A37"/>
                </a:solidFill>
                <a:latin typeface="Consolas"/>
              </a:rPr>
              <a:t>separation_force_factor</a:t>
            </a:r>
            <a:r>
              <a:rPr sz="950" b="0" i="0" dirty="0">
                <a:solidFill>
                  <a:srgbClr val="1F2A37"/>
                </a:solidFill>
                <a:latin typeface="Consolas"/>
              </a:rPr>
              <a:t>'] * separation(</a:t>
            </a:r>
            <a:r>
              <a:rPr sz="950" b="0" i="0" dirty="0" err="1">
                <a:solidFill>
                  <a:srgbClr val="1F2A37"/>
                </a:solidFill>
                <a:latin typeface="Consolas"/>
              </a:rPr>
              <a:t>boid</a:t>
            </a:r>
            <a:r>
              <a:rPr sz="950" b="0" i="0" dirty="0">
                <a:solidFill>
                  <a:srgbClr val="1F2A37"/>
                </a:solidFill>
                <a:latin typeface="Consolas"/>
              </a:rPr>
              <a:t>, </a:t>
            </a:r>
            <a:r>
              <a:rPr sz="950" b="0" i="0" dirty="0" err="1">
                <a:solidFill>
                  <a:srgbClr val="1F2A37"/>
                </a:solidFill>
                <a:latin typeface="Consolas"/>
              </a:rPr>
              <a:t>nb</a:t>
            </a:r>
            <a:r>
              <a:rPr sz="950" b="0" i="0" dirty="0">
                <a:solidFill>
                  <a:srgbClr val="1F2A37"/>
                </a:solidFill>
                <a:latin typeface="Consolas"/>
              </a:rPr>
              <a:t>)</a:t>
            </a:r>
          </a:p>
          <a:p>
            <a:pPr marL="0" indent="0" algn="l">
              <a:lnSpc>
                <a:spcPts val="1235"/>
              </a:lnSpc>
              <a:spcBef>
                <a:spcPts val="0"/>
              </a:spcBef>
              <a:spcAft>
                <a:spcPts val="0"/>
              </a:spcAft>
              <a:buNone/>
            </a:pPr>
            <a:r>
              <a:rPr sz="950" b="0" i="0" dirty="0">
                <a:solidFill>
                  <a:srgbClr val="1F2A37"/>
                </a:solidFill>
                <a:latin typeface="Consolas"/>
              </a:rPr>
              <a:t>           + model['</a:t>
            </a:r>
            <a:r>
              <a:rPr sz="950" b="0" i="0" dirty="0" err="1">
                <a:solidFill>
                  <a:srgbClr val="1F2A37"/>
                </a:solidFill>
                <a:latin typeface="Consolas"/>
              </a:rPr>
              <a:t>alignment_force_factor</a:t>
            </a:r>
            <a:r>
              <a:rPr sz="950" b="0" i="0" dirty="0">
                <a:solidFill>
                  <a:srgbClr val="1F2A37"/>
                </a:solidFill>
                <a:latin typeface="Consolas"/>
              </a:rPr>
              <a:t>']  * alignment(</a:t>
            </a:r>
            <a:r>
              <a:rPr sz="950" b="0" i="0" dirty="0" err="1">
                <a:solidFill>
                  <a:srgbClr val="1F2A37"/>
                </a:solidFill>
                <a:latin typeface="Consolas"/>
              </a:rPr>
              <a:t>boid</a:t>
            </a:r>
            <a:r>
              <a:rPr sz="950" b="0" i="0" dirty="0">
                <a:solidFill>
                  <a:srgbClr val="1F2A37"/>
                </a:solidFill>
                <a:latin typeface="Consolas"/>
              </a:rPr>
              <a:t>, </a:t>
            </a:r>
            <a:r>
              <a:rPr sz="950" b="0" i="0" dirty="0" err="1">
                <a:solidFill>
                  <a:srgbClr val="1F2A37"/>
                </a:solidFill>
                <a:latin typeface="Consolas"/>
              </a:rPr>
              <a:t>nb</a:t>
            </a:r>
            <a:r>
              <a:rPr sz="950" b="0" i="0" dirty="0">
                <a:solidFill>
                  <a:srgbClr val="1F2A37"/>
                </a:solidFill>
                <a:latin typeface="Consolas"/>
              </a:rPr>
              <a:t>)</a:t>
            </a:r>
          </a:p>
          <a:p>
            <a:pPr marL="0" indent="0" algn="l">
              <a:lnSpc>
                <a:spcPts val="1235"/>
              </a:lnSpc>
              <a:spcBef>
                <a:spcPts val="0"/>
              </a:spcBef>
              <a:spcAft>
                <a:spcPts val="0"/>
              </a:spcAft>
              <a:buNone/>
            </a:pPr>
            <a:r>
              <a:rPr sz="950" b="0" i="0" dirty="0">
                <a:solidFill>
                  <a:srgbClr val="1F2A37"/>
                </a:solidFill>
                <a:latin typeface="Consolas"/>
              </a:rPr>
              <a:t>           + model['</a:t>
            </a:r>
            <a:r>
              <a:rPr sz="950" b="0" i="0" dirty="0" err="1">
                <a:solidFill>
                  <a:srgbClr val="1F2A37"/>
                </a:solidFill>
                <a:latin typeface="Consolas"/>
              </a:rPr>
              <a:t>cohesion_force_factor</a:t>
            </a:r>
            <a:r>
              <a:rPr sz="950" b="0" i="0" dirty="0">
                <a:solidFill>
                  <a:srgbClr val="1F2A37"/>
                </a:solidFill>
                <a:latin typeface="Consolas"/>
              </a:rPr>
              <a:t>']   * cohesion(</a:t>
            </a:r>
            <a:r>
              <a:rPr sz="950" b="0" i="0" dirty="0" err="1">
                <a:solidFill>
                  <a:srgbClr val="1F2A37"/>
                </a:solidFill>
                <a:latin typeface="Consolas"/>
              </a:rPr>
              <a:t>boid</a:t>
            </a:r>
            <a:r>
              <a:rPr sz="950" b="0" i="0" dirty="0">
                <a:solidFill>
                  <a:srgbClr val="1F2A37"/>
                </a:solidFill>
                <a:latin typeface="Consolas"/>
              </a:rPr>
              <a:t>, </a:t>
            </a:r>
            <a:r>
              <a:rPr sz="950" b="0" i="0" dirty="0" err="1">
                <a:solidFill>
                  <a:srgbClr val="1F2A37"/>
                </a:solidFill>
                <a:latin typeface="Consolas"/>
              </a:rPr>
              <a:t>nb</a:t>
            </a:r>
            <a:r>
              <a:rPr sz="950" b="0" i="0" dirty="0">
                <a:solidFill>
                  <a:srgbClr val="1F2A37"/>
                </a:solidFill>
                <a:latin typeface="Consolas"/>
              </a:rPr>
              <a:t>)</a:t>
            </a:r>
          </a:p>
          <a:p>
            <a:pPr marL="0" indent="0" algn="l">
              <a:lnSpc>
                <a:spcPts val="1235"/>
              </a:lnSpc>
              <a:spcBef>
                <a:spcPts val="0"/>
              </a:spcBef>
              <a:spcAft>
                <a:spcPts val="0"/>
              </a:spcAft>
              <a:buNone/>
            </a:pPr>
            <a:r>
              <a:rPr sz="950" b="0" i="0" dirty="0">
                <a:solidFill>
                  <a:srgbClr val="1F2A37"/>
                </a:solidFill>
                <a:latin typeface="Consolas"/>
              </a:rPr>
              <a:t>           + model['</a:t>
            </a:r>
            <a:r>
              <a:rPr sz="950" b="0" i="0" dirty="0" err="1">
                <a:solidFill>
                  <a:srgbClr val="1F2A37"/>
                </a:solidFill>
                <a:latin typeface="Consolas"/>
              </a:rPr>
              <a:t>target_force_factor</a:t>
            </a:r>
            <a:r>
              <a:rPr sz="950" b="0" i="0" dirty="0">
                <a:solidFill>
                  <a:srgbClr val="1F2A37"/>
                </a:solidFill>
                <a:latin typeface="Consolas"/>
              </a:rPr>
              <a:t>']     * direction(</a:t>
            </a:r>
            <a:r>
              <a:rPr sz="950" b="0" i="0" dirty="0" err="1">
                <a:solidFill>
                  <a:srgbClr val="1F2A37"/>
                </a:solidFill>
                <a:latin typeface="Consolas"/>
              </a:rPr>
              <a:t>boid</a:t>
            </a:r>
            <a:r>
              <a:rPr sz="950" b="0" i="0" dirty="0">
                <a:solidFill>
                  <a:srgbClr val="1F2A37"/>
                </a:solidFill>
                <a:latin typeface="Consolas"/>
              </a:rPr>
              <a:t>, ...))</a:t>
            </a: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boid</a:t>
            </a:r>
            <a:r>
              <a:rPr sz="950" b="0" i="0" dirty="0">
                <a:solidFill>
                  <a:srgbClr val="1F2A37"/>
                </a:solidFill>
                <a:latin typeface="Consolas"/>
              </a:rPr>
              <a:t>['velocity'] = model['damping'] * </a:t>
            </a:r>
            <a:r>
              <a:rPr sz="950" b="0" i="0" dirty="0" err="1">
                <a:solidFill>
                  <a:srgbClr val="1F2A37"/>
                </a:solidFill>
                <a:latin typeface="Consolas"/>
              </a:rPr>
              <a:t>boid</a:t>
            </a:r>
            <a:r>
              <a:rPr sz="950" b="0" i="0" dirty="0">
                <a:solidFill>
                  <a:srgbClr val="1F2A37"/>
                </a:solidFill>
                <a:latin typeface="Consolas"/>
              </a:rPr>
              <a:t>['velocity'] + force</a:t>
            </a:r>
          </a:p>
          <a:p>
            <a:pPr marL="0" indent="0" algn="l">
              <a:lnSpc>
                <a:spcPts val="1235"/>
              </a:lnSpc>
              <a:spcBef>
                <a:spcPts val="0"/>
              </a:spcBef>
              <a:spcAft>
                <a:spcPts val="0"/>
              </a:spcAft>
              <a:buNone/>
            </a:pPr>
            <a:r>
              <a:rPr sz="950" b="0" i="0" dirty="0">
                <a:solidFill>
                  <a:srgbClr val="1F2A37"/>
                </a:solidFill>
                <a:latin typeface="Consolas"/>
              </a:rPr>
              <a:t>    speed = norm(</a:t>
            </a:r>
            <a:r>
              <a:rPr sz="950" b="0" i="0" dirty="0" err="1">
                <a:solidFill>
                  <a:srgbClr val="1F2A37"/>
                </a:solidFill>
                <a:latin typeface="Consolas"/>
              </a:rPr>
              <a:t>boid</a:t>
            </a:r>
            <a:r>
              <a:rPr sz="950" b="0" i="0" dirty="0">
                <a:solidFill>
                  <a:srgbClr val="1F2A37"/>
                </a:solidFill>
                <a:latin typeface="Consolas"/>
              </a:rPr>
              <a:t>['velocity'])</a:t>
            </a:r>
          </a:p>
          <a:p>
            <a:pPr marL="0" indent="0" algn="l">
              <a:lnSpc>
                <a:spcPts val="1235"/>
              </a:lnSpc>
              <a:spcBef>
                <a:spcPts val="0"/>
              </a:spcBef>
              <a:spcAft>
                <a:spcPts val="0"/>
              </a:spcAft>
              <a:buNone/>
            </a:pPr>
            <a:r>
              <a:rPr sz="950" b="0" i="0" dirty="0">
                <a:solidFill>
                  <a:srgbClr val="1F2A37"/>
                </a:solidFill>
                <a:latin typeface="Consolas"/>
              </a:rPr>
              <a:t>    if speed &gt; model['</a:t>
            </a:r>
            <a:r>
              <a:rPr sz="950" b="0" i="0" dirty="0" err="1">
                <a:solidFill>
                  <a:srgbClr val="1F2A37"/>
                </a:solidFill>
                <a:latin typeface="Consolas"/>
              </a:rPr>
              <a:t>max_speed</a:t>
            </a:r>
            <a:r>
              <a:rPr sz="950" b="0" i="0" dirty="0">
                <a:solidFill>
                  <a:srgbClr val="1F2A37"/>
                </a:solidFill>
                <a:latin typeface="Consolas"/>
              </a:rPr>
              <a:t>']:        </a:t>
            </a:r>
            <a:r>
              <a:rPr sz="950" b="0" i="1" dirty="0">
                <a:solidFill>
                  <a:srgbClr val="768896"/>
                </a:solidFill>
                <a:latin typeface="Consolas"/>
              </a:rPr>
              <a:t># speed limiting</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boid</a:t>
            </a:r>
            <a:r>
              <a:rPr sz="950" b="0" i="0" dirty="0">
                <a:solidFill>
                  <a:srgbClr val="1F2A37"/>
                </a:solidFill>
                <a:latin typeface="Consolas"/>
              </a:rPr>
              <a:t>['velocity'] *= model['</a:t>
            </a:r>
            <a:r>
              <a:rPr sz="950" b="0" i="0" dirty="0" err="1">
                <a:solidFill>
                  <a:srgbClr val="1F2A37"/>
                </a:solidFill>
                <a:latin typeface="Consolas"/>
              </a:rPr>
              <a:t>max_speed</a:t>
            </a:r>
            <a:r>
              <a:rPr sz="950" b="0" i="0" dirty="0">
                <a:solidFill>
                  <a:srgbClr val="1F2A37"/>
                </a:solidFill>
                <a:latin typeface="Consolas"/>
              </a:rPr>
              <a:t>'] / speed</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boid</a:t>
            </a:r>
            <a:r>
              <a:rPr sz="950" b="0" i="0" dirty="0">
                <a:solidFill>
                  <a:srgbClr val="1F2A37"/>
                </a:solidFill>
                <a:latin typeface="Consolas"/>
              </a:rPr>
              <a:t>['position'] += </a:t>
            </a:r>
            <a:r>
              <a:rPr sz="950" b="0" i="0" dirty="0" err="1">
                <a:solidFill>
                  <a:srgbClr val="1F2A37"/>
                </a:solidFill>
                <a:latin typeface="Consolas"/>
              </a:rPr>
              <a:t>boid</a:t>
            </a:r>
            <a:r>
              <a:rPr sz="950" b="0" i="0" dirty="0">
                <a:solidFill>
                  <a:srgbClr val="1F2A37"/>
                </a:solidFill>
                <a:latin typeface="Consolas"/>
              </a:rPr>
              <a:t>['velocity']</a:t>
            </a:r>
          </a:p>
          <a:p>
            <a:pPr marL="0" indent="0" algn="l">
              <a:lnSpc>
                <a:spcPts val="1235"/>
              </a:lnSpc>
              <a:spcBef>
                <a:spcPts val="0"/>
              </a:spcBef>
              <a:spcAft>
                <a:spcPts val="0"/>
              </a:spcAft>
              <a:buNone/>
            </a:pPr>
            <a:r>
              <a:rPr sz="950" b="0" i="0" dirty="0">
                <a:solidFill>
                  <a:srgbClr val="1F2A37"/>
                </a:solidFill>
                <a:latin typeface="Consolas"/>
              </a:rPr>
              <a:t>    return </a:t>
            </a:r>
            <a:r>
              <a:rPr sz="950" b="0" i="0" dirty="0" err="1">
                <a:solidFill>
                  <a:srgbClr val="1F2A37"/>
                </a:solidFill>
                <a:latin typeface="Consolas"/>
              </a:rPr>
              <a:t>boid</a:t>
            </a:r>
            <a:endParaRPr sz="950" b="0" i="0" dirty="0">
              <a:solidFill>
                <a:srgbClr val="1F2A37"/>
              </a:solidFill>
              <a:latin typeface="Consolas"/>
            </a:endParaRPr>
          </a:p>
          <a:p>
            <a:pPr marL="0" indent="0" algn="l">
              <a:lnSpc>
                <a:spcPts val="1235"/>
              </a:lnSpc>
              <a:spcBef>
                <a:spcPts val="0"/>
              </a:spcBef>
              <a:spcAft>
                <a:spcPts val="0"/>
              </a:spcAft>
              <a:buNone/>
            </a:pPr>
            <a:r>
              <a:rPr sz="950" b="0" i="0" dirty="0">
                <a:solidFill>
                  <a:srgbClr val="333639"/>
                </a:solidFill>
                <a:latin typeface="Consolas"/>
              </a:rPr>
              <a:t> </a:t>
            </a:r>
          </a:p>
          <a:p>
            <a:pPr marL="0" indent="0" algn="l">
              <a:lnSpc>
                <a:spcPts val="1235"/>
              </a:lnSpc>
              <a:spcBef>
                <a:spcPts val="0"/>
              </a:spcBef>
              <a:spcAft>
                <a:spcPts val="0"/>
              </a:spcAft>
              <a:buNone/>
            </a:pPr>
            <a:r>
              <a:rPr sz="950" b="1" i="0" dirty="0">
                <a:solidFill>
                  <a:srgbClr val="574676"/>
                </a:solidFill>
                <a:latin typeface="Consolas"/>
              </a:rPr>
              <a:t>def </a:t>
            </a:r>
            <a:r>
              <a:rPr sz="950" b="1" i="0" dirty="0" err="1">
                <a:solidFill>
                  <a:srgbClr val="574676"/>
                </a:solidFill>
                <a:latin typeface="Consolas"/>
              </a:rPr>
              <a:t>ModelBasedAgent</a:t>
            </a:r>
            <a:r>
              <a:rPr sz="950" b="1" i="0" dirty="0">
                <a:solidFill>
                  <a:srgbClr val="574676"/>
                </a:solidFill>
                <a:latin typeface="Consolas"/>
              </a:rPr>
              <a:t>(</a:t>
            </a:r>
            <a:r>
              <a:rPr sz="950" b="1" i="0" dirty="0" err="1">
                <a:solidFill>
                  <a:srgbClr val="574676"/>
                </a:solidFill>
                <a:latin typeface="Consolas"/>
              </a:rPr>
              <a:t>update_state</a:t>
            </a:r>
            <a:r>
              <a:rPr sz="950" b="1" i="0" dirty="0">
                <a:solidFill>
                  <a:srgbClr val="574676"/>
                </a:solidFill>
                <a:latin typeface="Consolas"/>
              </a:rPr>
              <a:t>, model): </a:t>
            </a:r>
            <a:r>
              <a:rPr sz="950" b="0" i="1" dirty="0">
                <a:solidFill>
                  <a:srgbClr val="768896"/>
                </a:solidFill>
                <a:latin typeface="Consolas"/>
              </a:rPr>
              <a:t># the AGENT PROGRAM</a:t>
            </a:r>
          </a:p>
          <a:p>
            <a:pPr marL="0" indent="0" algn="l">
              <a:lnSpc>
                <a:spcPts val="1235"/>
              </a:lnSpc>
              <a:spcBef>
                <a:spcPts val="0"/>
              </a:spcBef>
              <a:spcAft>
                <a:spcPts val="0"/>
              </a:spcAft>
              <a:buNone/>
            </a:pPr>
            <a:r>
              <a:rPr sz="950" b="0" i="0" dirty="0">
                <a:solidFill>
                  <a:srgbClr val="1F2A37"/>
                </a:solidFill>
                <a:latin typeface="Consolas"/>
              </a:rPr>
              <a:t>    def program(percept):</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program.state</a:t>
            </a:r>
            <a:r>
              <a:rPr sz="950" b="0" i="0" dirty="0">
                <a:solidFill>
                  <a:srgbClr val="1F2A37"/>
                </a:solidFill>
                <a:latin typeface="Consolas"/>
              </a:rPr>
              <a:t> = </a:t>
            </a:r>
            <a:r>
              <a:rPr sz="950" b="0" i="0" dirty="0" err="1">
                <a:solidFill>
                  <a:srgbClr val="1F2A37"/>
                </a:solidFill>
                <a:latin typeface="Consolas"/>
              </a:rPr>
              <a:t>update_state</a:t>
            </a:r>
            <a:r>
              <a:rPr sz="950" b="0" i="0" dirty="0">
                <a:solidFill>
                  <a:srgbClr val="1F2A37"/>
                </a:solidFill>
                <a:latin typeface="Consolas"/>
              </a:rPr>
              <a:t>(</a:t>
            </a:r>
            <a:r>
              <a:rPr sz="950" b="0" i="0" dirty="0" err="1">
                <a:solidFill>
                  <a:srgbClr val="1F2A37"/>
                </a:solidFill>
                <a:latin typeface="Consolas"/>
              </a:rPr>
              <a:t>program.state</a:t>
            </a:r>
            <a:r>
              <a:rPr sz="950" b="0" i="0" dirty="0">
                <a:solidFill>
                  <a:srgbClr val="1F2A37"/>
                </a:solidFill>
                <a:latin typeface="Consolas"/>
              </a:rPr>
              <a:t>, percept, model)</a:t>
            </a:r>
          </a:p>
          <a:p>
            <a:pPr marL="0" indent="0" algn="l">
              <a:lnSpc>
                <a:spcPts val="1235"/>
              </a:lnSpc>
              <a:spcBef>
                <a:spcPts val="0"/>
              </a:spcBef>
              <a:spcAft>
                <a:spcPts val="0"/>
              </a:spcAft>
              <a:buNone/>
            </a:pPr>
            <a:r>
              <a:rPr sz="950" b="0" i="0" dirty="0">
                <a:solidFill>
                  <a:srgbClr val="1F2A37"/>
                </a:solidFill>
                <a:latin typeface="Consolas"/>
              </a:rPr>
              <a:t>    </a:t>
            </a:r>
            <a:r>
              <a:rPr sz="950" b="0" i="0" dirty="0" err="1">
                <a:solidFill>
                  <a:srgbClr val="1F2A37"/>
                </a:solidFill>
                <a:latin typeface="Consolas"/>
              </a:rPr>
              <a:t>program.state</a:t>
            </a:r>
            <a:r>
              <a:rPr sz="950" b="0" i="0" dirty="0">
                <a:solidFill>
                  <a:srgbClr val="1F2A37"/>
                </a:solidFill>
                <a:latin typeface="Consolas"/>
              </a:rPr>
              <a:t> = {'position': ..., 'velocity': ...}</a:t>
            </a:r>
          </a:p>
          <a:p>
            <a:pPr marL="0" indent="0" algn="l">
              <a:lnSpc>
                <a:spcPts val="1235"/>
              </a:lnSpc>
              <a:spcBef>
                <a:spcPts val="0"/>
              </a:spcBef>
              <a:spcAft>
                <a:spcPts val="0"/>
              </a:spcAft>
              <a:buNone/>
            </a:pPr>
            <a:r>
              <a:rPr sz="950" b="0" i="0" dirty="0">
                <a:solidFill>
                  <a:srgbClr val="1F2A37"/>
                </a:solidFill>
                <a:latin typeface="Consolas"/>
              </a:rPr>
              <a:t>    return program</a:t>
            </a:r>
          </a:p>
        </p:txBody>
      </p:sp>
      <p:sp>
        <p:nvSpPr>
          <p:cNvPr id="13" name="TextBox 12"/>
          <p:cNvSpPr txBox="1"/>
          <p:nvPr/>
        </p:nvSpPr>
        <p:spPr>
          <a:xfrm>
            <a:off x="7832750" y="1738548"/>
            <a:ext cx="3517971" cy="557037"/>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dirty="0">
                <a:solidFill>
                  <a:srgbClr val="25282A"/>
                </a:solidFill>
                <a:latin typeface="Fira Sans"/>
              </a:rPr>
              <a:t>Sensors</a:t>
            </a:r>
            <a:r>
              <a:rPr sz="1140" b="0" i="0" dirty="0">
                <a:solidFill>
                  <a:srgbClr val="333639"/>
                </a:solidFill>
                <a:latin typeface="Fira Sans"/>
              </a:rPr>
              <a:t>   </a:t>
            </a:r>
            <a:r>
              <a:rPr sz="950" b="0" i="0" dirty="0">
                <a:solidFill>
                  <a:srgbClr val="2B7A3E"/>
                </a:solidFill>
                <a:latin typeface="Consolas"/>
              </a:rPr>
              <a:t>sensors(...)</a:t>
            </a:r>
          </a:p>
          <a:p>
            <a:pPr marL="0" indent="0" algn="l">
              <a:lnSpc>
                <a:spcPts val="1176"/>
              </a:lnSpc>
              <a:spcBef>
                <a:spcPts val="400"/>
              </a:spcBef>
              <a:spcAft>
                <a:spcPts val="0"/>
              </a:spcAft>
              <a:buNone/>
            </a:pPr>
            <a:r>
              <a:rPr sz="997" b="0" i="0" dirty="0">
                <a:solidFill>
                  <a:srgbClr val="626669"/>
                </a:solidFill>
                <a:latin typeface="Fira Sans"/>
              </a:rPr>
              <a:t>Filters the other </a:t>
            </a:r>
            <a:r>
              <a:rPr sz="997" b="0" i="0" dirty="0" err="1">
                <a:solidFill>
                  <a:srgbClr val="626669"/>
                </a:solidFill>
                <a:latin typeface="Fira Sans"/>
              </a:rPr>
              <a:t>boids</a:t>
            </a:r>
            <a:r>
              <a:rPr sz="997" b="0" i="0" dirty="0">
                <a:solidFill>
                  <a:srgbClr val="626669"/>
                </a:solidFill>
                <a:latin typeface="Fira Sans"/>
              </a:rPr>
              <a:t> by distance. The percept is the list of </a:t>
            </a:r>
            <a:r>
              <a:rPr sz="997" b="0" i="0" dirty="0" err="1">
                <a:solidFill>
                  <a:srgbClr val="626669"/>
                </a:solidFill>
                <a:latin typeface="Fira Sans"/>
              </a:rPr>
              <a:t>neighbours</a:t>
            </a:r>
            <a:r>
              <a:rPr lang="it-IT" sz="997" dirty="0">
                <a:solidFill>
                  <a:srgbClr val="626669"/>
                </a:solidFill>
                <a:latin typeface="Fira Sans"/>
              </a:rPr>
              <a:t>, </a:t>
            </a:r>
            <a:r>
              <a:rPr sz="997" b="0" i="0" dirty="0">
                <a:solidFill>
                  <a:srgbClr val="626669"/>
                </a:solidFill>
                <a:latin typeface="Fira Sans"/>
              </a:rPr>
              <a:t>never the whole flock.</a:t>
            </a:r>
          </a:p>
        </p:txBody>
      </p:sp>
      <p:sp>
        <p:nvSpPr>
          <p:cNvPr id="14" name="Rectangle 13"/>
          <p:cNvSpPr/>
          <p:nvPr/>
        </p:nvSpPr>
        <p:spPr>
          <a:xfrm>
            <a:off x="7595006" y="1738548"/>
            <a:ext cx="41148" cy="520461"/>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32750" y="2496753"/>
            <a:ext cx="3517971" cy="557037"/>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Internal state</a:t>
            </a:r>
            <a:r>
              <a:rPr sz="1140" b="0" i="0">
                <a:solidFill>
                  <a:srgbClr val="333639"/>
                </a:solidFill>
                <a:latin typeface="Fira Sans"/>
              </a:rPr>
              <a:t>   </a:t>
            </a:r>
            <a:r>
              <a:rPr sz="950" b="0" i="0">
                <a:solidFill>
                  <a:srgbClr val="574676"/>
                </a:solidFill>
                <a:latin typeface="Consolas"/>
              </a:rPr>
              <a:t>program.state</a:t>
            </a:r>
          </a:p>
          <a:p>
            <a:pPr marL="0" indent="0" algn="l">
              <a:lnSpc>
                <a:spcPts val="1176"/>
              </a:lnSpc>
              <a:spcBef>
                <a:spcPts val="400"/>
              </a:spcBef>
              <a:spcAft>
                <a:spcPts val="0"/>
              </a:spcAft>
              <a:buNone/>
            </a:pPr>
            <a:r>
              <a:rPr sz="997" b="0" i="0">
                <a:solidFill>
                  <a:srgbClr val="626669"/>
                </a:solidFill>
                <a:latin typeface="Fira Sans"/>
              </a:rPr>
              <a:t>Position and velocity. Not observable from the percept, and carried from step to step.</a:t>
            </a:r>
          </a:p>
        </p:txBody>
      </p:sp>
      <p:sp>
        <p:nvSpPr>
          <p:cNvPr id="16" name="Rectangle 15"/>
          <p:cNvSpPr/>
          <p:nvPr/>
        </p:nvSpPr>
        <p:spPr>
          <a:xfrm>
            <a:off x="7595006" y="2496753"/>
            <a:ext cx="41148" cy="52046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32750" y="3254959"/>
            <a:ext cx="3517971" cy="557037"/>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Transition model</a:t>
            </a:r>
            <a:r>
              <a:rPr sz="1140" b="0" i="0">
                <a:solidFill>
                  <a:srgbClr val="333639"/>
                </a:solidFill>
                <a:latin typeface="Fira Sans"/>
              </a:rPr>
              <a:t>   </a:t>
            </a:r>
            <a:r>
              <a:rPr sz="950" b="0" i="0">
                <a:solidFill>
                  <a:srgbClr val="8A5100"/>
                </a:solidFill>
                <a:latin typeface="Consolas"/>
              </a:rPr>
              <a:t>model[...]</a:t>
            </a:r>
          </a:p>
          <a:p>
            <a:pPr marL="0" indent="0" algn="l">
              <a:lnSpc>
                <a:spcPts val="1176"/>
              </a:lnSpc>
              <a:spcBef>
                <a:spcPts val="400"/>
              </a:spcBef>
              <a:spcAft>
                <a:spcPts val="0"/>
              </a:spcAft>
              <a:buNone/>
            </a:pPr>
            <a:r>
              <a:rPr sz="997" b="0" i="0">
                <a:solidFill>
                  <a:srgbClr val="626669"/>
                </a:solidFill>
                <a:latin typeface="Fira Sans"/>
              </a:rPr>
              <a:t>The weights, the perception radius, the speed limit, the damping factor: how the world and the boid evolve.</a:t>
            </a:r>
          </a:p>
        </p:txBody>
      </p:sp>
      <p:sp>
        <p:nvSpPr>
          <p:cNvPr id="18" name="Rectangle 17"/>
          <p:cNvSpPr/>
          <p:nvPr/>
        </p:nvSpPr>
        <p:spPr>
          <a:xfrm>
            <a:off x="7595006" y="3254959"/>
            <a:ext cx="41148" cy="520461"/>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2750" y="4013164"/>
            <a:ext cx="3517971" cy="706447"/>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dirty="0">
                <a:solidFill>
                  <a:srgbClr val="25282A"/>
                </a:solidFill>
                <a:latin typeface="Fira Sans"/>
              </a:rPr>
              <a:t>Agent program</a:t>
            </a:r>
            <a:r>
              <a:rPr sz="1140" b="0" i="0" dirty="0">
                <a:solidFill>
                  <a:srgbClr val="333639"/>
                </a:solidFill>
                <a:latin typeface="Fira Sans"/>
              </a:rPr>
              <a:t>   </a:t>
            </a:r>
            <a:r>
              <a:rPr sz="950" b="0" i="0" dirty="0">
                <a:solidFill>
                  <a:srgbClr val="C8102E"/>
                </a:solidFill>
                <a:latin typeface="Consolas"/>
              </a:rPr>
              <a:t>program(percept)</a:t>
            </a:r>
          </a:p>
          <a:p>
            <a:pPr marL="0" indent="0" algn="l">
              <a:lnSpc>
                <a:spcPts val="1176"/>
              </a:lnSpc>
              <a:spcBef>
                <a:spcPts val="400"/>
              </a:spcBef>
              <a:spcAft>
                <a:spcPts val="0"/>
              </a:spcAft>
              <a:buNone/>
            </a:pPr>
            <a:r>
              <a:rPr sz="997" b="0" i="0" dirty="0">
                <a:solidFill>
                  <a:srgbClr val="626669"/>
                </a:solidFill>
                <a:latin typeface="Fira Sans"/>
              </a:rPr>
              <a:t>Percept in, state updated, motion out. In this simple case no separate action selection is needed</a:t>
            </a:r>
            <a:r>
              <a:rPr lang="it-IT" sz="997" b="0" i="0" dirty="0">
                <a:solidFill>
                  <a:srgbClr val="626669"/>
                </a:solidFill>
                <a:latin typeface="Fira Sans"/>
              </a:rPr>
              <a:t>: </a:t>
            </a:r>
            <a:r>
              <a:rPr sz="997" b="0" i="0" dirty="0">
                <a:solidFill>
                  <a:srgbClr val="626669"/>
                </a:solidFill>
                <a:latin typeface="Fira Sans"/>
              </a:rPr>
              <a:t>adding a goal or a utility function is what would extend it.</a:t>
            </a:r>
          </a:p>
        </p:txBody>
      </p:sp>
      <p:sp>
        <p:nvSpPr>
          <p:cNvPr id="20" name="Rectangle 19"/>
          <p:cNvSpPr/>
          <p:nvPr/>
        </p:nvSpPr>
        <p:spPr>
          <a:xfrm>
            <a:off x="7595006" y="4013164"/>
            <a:ext cx="41148" cy="6698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6.6  EMERGENCE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Nothing in the code describes a flock</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01 — Agent Architectures   ·   Part VI — Case study: flocking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58</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Forty </a:t>
            </a:r>
            <a:r>
              <a:rPr sz="1235" b="0" i="0" dirty="0" err="1">
                <a:solidFill>
                  <a:srgbClr val="333639"/>
                </a:solidFill>
                <a:latin typeface="Fira Sans"/>
              </a:rPr>
              <a:t>boids</a:t>
            </a:r>
            <a:r>
              <a:rPr sz="1235" b="0" i="0" dirty="0">
                <a:solidFill>
                  <a:srgbClr val="333639"/>
                </a:solidFill>
                <a:latin typeface="Fira Sans"/>
              </a:rPr>
              <a:t>, identical programs, random initial positions and headings, each perceiving only what lies within radius 10. No </a:t>
            </a:r>
            <a:r>
              <a:rPr sz="1235" b="0" i="0" dirty="0" err="1">
                <a:solidFill>
                  <a:srgbClr val="333639"/>
                </a:solidFill>
                <a:latin typeface="Fira Sans"/>
              </a:rPr>
              <a:t>boid</a:t>
            </a:r>
            <a:r>
              <a:rPr sz="1235" b="0" i="0" dirty="0">
                <a:solidFill>
                  <a:srgbClr val="333639"/>
                </a:solidFill>
                <a:latin typeface="Fira Sans"/>
              </a:rPr>
              <a:t> represents the flock, and no </a:t>
            </a:r>
            <a:r>
              <a:rPr sz="1235" b="0" i="0" dirty="0" err="1">
                <a:solidFill>
                  <a:srgbClr val="333639"/>
                </a:solidFill>
                <a:latin typeface="Fira Sans"/>
              </a:rPr>
              <a:t>boid</a:t>
            </a:r>
            <a:r>
              <a:rPr sz="1235" b="0" i="0" dirty="0">
                <a:solidFill>
                  <a:srgbClr val="333639"/>
                </a:solidFill>
                <a:latin typeface="Fira Sans"/>
              </a:rPr>
              <a:t> knows where the others are going.</a:t>
            </a:r>
          </a:p>
        </p:txBody>
      </p:sp>
      <p:pic>
        <p:nvPicPr>
          <p:cNvPr id="9" name="Picture 8" descr="boids_emergence.png"/>
          <p:cNvPicPr>
            <a:picLocks noChangeAspect="1"/>
          </p:cNvPicPr>
          <p:nvPr/>
        </p:nvPicPr>
        <p:blipFill>
          <a:blip r:embed="rId2"/>
          <a:stretch>
            <a:fillRect/>
          </a:stretch>
        </p:blipFill>
        <p:spPr>
          <a:xfrm>
            <a:off x="1696381" y="1937181"/>
            <a:ext cx="8805333" cy="2377440"/>
          </a:xfrm>
          <a:prstGeom prst="rect">
            <a:avLst/>
          </a:prstGeom>
        </p:spPr>
      </p:pic>
      <p:sp>
        <p:nvSpPr>
          <p:cNvPr id="10" name="TextBox 9"/>
          <p:cNvSpPr txBox="1"/>
          <p:nvPr/>
        </p:nvSpPr>
        <p:spPr>
          <a:xfrm>
            <a:off x="841248" y="4515789"/>
            <a:ext cx="1051560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Positions and headings at four time steps; faint lines are trajectories. Produced by running </a:t>
            </a:r>
            <a:r>
              <a:rPr sz="950" b="0" i="1">
                <a:solidFill>
                  <a:srgbClr val="626669"/>
                </a:solidFill>
                <a:latin typeface="Fira Sans"/>
              </a:rPr>
              <a:t>the code.</a:t>
            </a:r>
            <a:endParaRPr sz="950" b="0" i="1" dirty="0">
              <a:solidFill>
                <a:srgbClr val="626669"/>
              </a:solidFill>
              <a:latin typeface="Fira Sans"/>
            </a:endParaRPr>
          </a:p>
        </p:txBody>
      </p:sp>
      <p:sp>
        <p:nvSpPr>
          <p:cNvPr id="11" name="Rectangle 10"/>
          <p:cNvSpPr/>
          <p:nvPr/>
        </p:nvSpPr>
        <p:spPr>
          <a:xfrm>
            <a:off x="841248" y="482668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046141"/>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5192445"/>
            <a:ext cx="3297936" cy="755883"/>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What is programmed</a:t>
            </a:r>
          </a:p>
          <a:p>
            <a:pPr marL="0" indent="0" algn="l">
              <a:lnSpc>
                <a:spcPts val="1254"/>
              </a:lnSpc>
              <a:spcBef>
                <a:spcPts val="500"/>
              </a:spcBef>
              <a:spcAft>
                <a:spcPts val="0"/>
              </a:spcAft>
              <a:buNone/>
            </a:pPr>
            <a:r>
              <a:rPr sz="1045" b="0" i="0">
                <a:solidFill>
                  <a:srgbClr val="626669"/>
                </a:solidFill>
                <a:latin typeface="Fira Sans"/>
              </a:rPr>
              <a:t>Three local heuristics over neighbours within a radius, a steering force toward a target, and two additions per step.</a:t>
            </a:r>
          </a:p>
        </p:txBody>
      </p:sp>
      <p:sp>
        <p:nvSpPr>
          <p:cNvPr id="14" name="Rectangle 13"/>
          <p:cNvSpPr/>
          <p:nvPr/>
        </p:nvSpPr>
        <p:spPr>
          <a:xfrm>
            <a:off x="4450080" y="5046141"/>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50080" y="5192445"/>
            <a:ext cx="3297936" cy="755883"/>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What is not programmed</a:t>
            </a:r>
          </a:p>
          <a:p>
            <a:pPr marL="0" indent="0" algn="l">
              <a:lnSpc>
                <a:spcPts val="1254"/>
              </a:lnSpc>
              <a:spcBef>
                <a:spcPts val="500"/>
              </a:spcBef>
              <a:spcAft>
                <a:spcPts val="0"/>
              </a:spcAft>
              <a:buNone/>
            </a:pPr>
            <a:r>
              <a:rPr sz="1045" b="0" i="0" dirty="0">
                <a:solidFill>
                  <a:srgbClr val="626669"/>
                </a:solidFill>
                <a:latin typeface="Fira Sans"/>
              </a:rPr>
              <a:t>Flock formation, a common heading, constant spacing, splitting around an obstacle, merging. None of these appear anywhere in the code.</a:t>
            </a:r>
          </a:p>
        </p:txBody>
      </p:sp>
      <p:sp>
        <p:nvSpPr>
          <p:cNvPr id="16" name="Rectangle 15"/>
          <p:cNvSpPr/>
          <p:nvPr/>
        </p:nvSpPr>
        <p:spPr>
          <a:xfrm>
            <a:off x="8058912" y="5046141"/>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058912" y="5192445"/>
            <a:ext cx="3297936" cy="91514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dirty="0">
                <a:solidFill>
                  <a:srgbClr val="25282A"/>
                </a:solidFill>
                <a:latin typeface="Fira Sans"/>
              </a:rPr>
              <a:t>Why this matters here</a:t>
            </a:r>
          </a:p>
          <a:p>
            <a:pPr marL="0" indent="0" algn="l">
              <a:lnSpc>
                <a:spcPts val="1254"/>
              </a:lnSpc>
              <a:spcBef>
                <a:spcPts val="500"/>
              </a:spcBef>
              <a:spcAft>
                <a:spcPts val="0"/>
              </a:spcAft>
              <a:buNone/>
            </a:pPr>
            <a:r>
              <a:rPr sz="1045" b="0" i="0" dirty="0">
                <a:solidFill>
                  <a:srgbClr val="626669"/>
                </a:solidFill>
                <a:latin typeface="Fira Sans"/>
              </a:rPr>
              <a:t>Global </a:t>
            </a:r>
            <a:r>
              <a:rPr sz="1045" b="0" i="0" dirty="0" err="1">
                <a:solidFill>
                  <a:srgbClr val="626669"/>
                </a:solidFill>
                <a:latin typeface="Fira Sans"/>
              </a:rPr>
              <a:t>behaviour</a:t>
            </a:r>
            <a:r>
              <a:rPr sz="1045" b="0" i="0" dirty="0">
                <a:solidFill>
                  <a:srgbClr val="626669"/>
                </a:solidFill>
                <a:latin typeface="Fira Sans"/>
              </a:rPr>
              <a:t> was not designed; it emerged from local interaction. The model has since been used widely in computer graphics, animation and robotics to simulate realistic group motion.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9536" y="868680"/>
            <a:ext cx="7315200" cy="365760"/>
          </a:xfrm>
          <a:prstGeom prst="rect">
            <a:avLst/>
          </a:prstGeom>
          <a:noFill/>
        </p:spPr>
        <p:txBody>
          <a:bodyPr wrap="square" lIns="0" tIns="0" rIns="0" bIns="0" anchor="t">
            <a:noAutofit/>
          </a:bodyPr>
          <a:lstStyle/>
          <a:p>
            <a:pPr marL="0" indent="0" algn="l">
              <a:lnSpc>
                <a:spcPts val="997"/>
              </a:lnSpc>
              <a:spcBef>
                <a:spcPts val="0"/>
              </a:spcBef>
              <a:spcAft>
                <a:spcPts val="0"/>
              </a:spcAft>
              <a:buNone/>
            </a:pPr>
            <a:r>
              <a:rPr sz="997" b="1" i="0" spc="150" dirty="0">
                <a:solidFill>
                  <a:srgbClr val="B2A7C4"/>
                </a:solidFill>
                <a:latin typeface="Fira Sans Medium"/>
              </a:rPr>
              <a:t>SUMMARY</a:t>
            </a:r>
          </a:p>
        </p:txBody>
      </p:sp>
      <p:sp>
        <p:nvSpPr>
          <p:cNvPr id="4" name="TextBox 3"/>
          <p:cNvSpPr txBox="1"/>
          <p:nvPr/>
        </p:nvSpPr>
        <p:spPr>
          <a:xfrm>
            <a:off x="859536" y="1225296"/>
            <a:ext cx="6766560" cy="640080"/>
          </a:xfrm>
          <a:prstGeom prst="rect">
            <a:avLst/>
          </a:prstGeom>
          <a:noFill/>
        </p:spPr>
        <p:txBody>
          <a:bodyPr wrap="square" lIns="0" tIns="0" rIns="0" bIns="0" anchor="t">
            <a:noAutofit/>
          </a:bodyPr>
          <a:lstStyle/>
          <a:p>
            <a:pPr marL="0" indent="0" algn="l">
              <a:lnSpc>
                <a:spcPts val="2685"/>
              </a:lnSpc>
              <a:spcBef>
                <a:spcPts val="0"/>
              </a:spcBef>
              <a:spcAft>
                <a:spcPts val="0"/>
              </a:spcAft>
              <a:buNone/>
            </a:pPr>
            <a:r>
              <a:rPr lang="en-GB" sz="2632" b="1" i="0" noProof="0">
                <a:solidFill>
                  <a:srgbClr val="FFFFFF"/>
                </a:solidFill>
                <a:latin typeface="Roboto Slab"/>
              </a:rPr>
              <a:t>Key Takeaways</a:t>
            </a:r>
            <a:endParaRPr lang="en-GB" sz="2632" b="1" i="0" noProof="0" dirty="0">
              <a:solidFill>
                <a:srgbClr val="FFFFFF"/>
              </a:solidFill>
              <a:latin typeface="Roboto Slab"/>
            </a:endParaRPr>
          </a:p>
        </p:txBody>
      </p:sp>
      <p:sp>
        <p:nvSpPr>
          <p:cNvPr id="5" name="TextBox 4"/>
          <p:cNvSpPr txBox="1"/>
          <p:nvPr/>
        </p:nvSpPr>
        <p:spPr>
          <a:xfrm>
            <a:off x="859536" y="2212848"/>
            <a:ext cx="6400800" cy="3657600"/>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dirty="0">
                <a:solidFill>
                  <a:srgbClr val="B2A7C4"/>
                </a:solidFill>
                <a:latin typeface="Fira Sans"/>
              </a:rPr>
              <a:t>01   </a:t>
            </a:r>
            <a:r>
              <a:rPr sz="1188" b="1" i="0" dirty="0">
                <a:solidFill>
                  <a:srgbClr val="FFFFFF"/>
                </a:solidFill>
                <a:latin typeface="Fira Sans"/>
              </a:rPr>
              <a:t>The agent is the unit of analysis</a:t>
            </a:r>
          </a:p>
          <a:p>
            <a:pPr marL="384048" indent="0" algn="l">
              <a:lnSpc>
                <a:spcPts val="1233"/>
              </a:lnSpc>
              <a:spcBef>
                <a:spcPts val="300"/>
              </a:spcBef>
              <a:spcAft>
                <a:spcPts val="0"/>
              </a:spcAft>
              <a:buNone/>
            </a:pPr>
            <a:r>
              <a:rPr sz="1045" b="0" i="0" dirty="0">
                <a:solidFill>
                  <a:srgbClr val="D6D0E0"/>
                </a:solidFill>
                <a:latin typeface="Fira Sans"/>
              </a:rPr>
              <a:t>Percepts in, actions out; everything else </a:t>
            </a:r>
            <a:r>
              <a:rPr lang="it-IT" sz="1045" dirty="0">
                <a:solidFill>
                  <a:srgbClr val="D6D0E0"/>
                </a:solidFill>
                <a:latin typeface="Fira Sans"/>
              </a:rPr>
              <a:t>(</a:t>
            </a:r>
            <a:r>
              <a:rPr sz="1045" b="0" i="0" dirty="0">
                <a:solidFill>
                  <a:srgbClr val="D6D0E0"/>
                </a:solidFill>
                <a:latin typeface="Fira Sans"/>
              </a:rPr>
              <a:t>memory, models, goals, utility, learning</a:t>
            </a:r>
            <a:r>
              <a:rPr lang="it-IT" sz="1045" b="0" i="0" dirty="0">
                <a:solidFill>
                  <a:srgbClr val="D6D0E0"/>
                </a:solidFill>
                <a:latin typeface="Fira Sans"/>
              </a:rPr>
              <a:t>)</a:t>
            </a:r>
            <a:r>
              <a:rPr sz="1045" b="0" i="0" dirty="0">
                <a:solidFill>
                  <a:srgbClr val="D6D0E0"/>
                </a:solidFill>
                <a:latin typeface="Fira Sans"/>
              </a:rPr>
              <a:t> is internal machinery added to make that mapping computable.</a:t>
            </a:r>
          </a:p>
          <a:p>
            <a:pPr marL="0" indent="0" algn="l">
              <a:lnSpc>
                <a:spcPts val="1331"/>
              </a:lnSpc>
              <a:spcBef>
                <a:spcPts val="1400"/>
              </a:spcBef>
              <a:spcAft>
                <a:spcPts val="0"/>
              </a:spcAft>
              <a:buNone/>
            </a:pPr>
            <a:r>
              <a:rPr sz="1188" b="1" i="0" dirty="0">
                <a:solidFill>
                  <a:srgbClr val="B2A7C4"/>
                </a:solidFill>
                <a:latin typeface="Fira Sans"/>
              </a:rPr>
              <a:t>02   </a:t>
            </a:r>
            <a:r>
              <a:rPr sz="1188" b="1" i="0" dirty="0">
                <a:solidFill>
                  <a:srgbClr val="FFFFFF"/>
                </a:solidFill>
                <a:latin typeface="Fira Sans"/>
              </a:rPr>
              <a:t>Explicit representations of behavior do not scale</a:t>
            </a:r>
          </a:p>
          <a:p>
            <a:pPr marL="384048" indent="0" algn="l">
              <a:lnSpc>
                <a:spcPts val="1233"/>
              </a:lnSpc>
              <a:spcBef>
                <a:spcPts val="300"/>
              </a:spcBef>
              <a:spcAft>
                <a:spcPts val="0"/>
              </a:spcAft>
              <a:buNone/>
            </a:pPr>
            <a:r>
              <a:rPr sz="1045" b="0" i="0" dirty="0">
                <a:solidFill>
                  <a:srgbClr val="D6D0E0"/>
                </a:solidFill>
                <a:latin typeface="Fira Sans"/>
              </a:rPr>
              <a:t>The lookup table is correct and useless: E ≈ P^T. Every architecture is a way of compressing </a:t>
            </a:r>
            <a:r>
              <a:rPr lang="it-IT" sz="1045" b="0" i="0" dirty="0">
                <a:solidFill>
                  <a:srgbClr val="D6D0E0"/>
                </a:solidFill>
                <a:latin typeface="Fira Sans"/>
              </a:rPr>
              <a:t>the</a:t>
            </a:r>
            <a:r>
              <a:rPr sz="1045" b="0" i="0" dirty="0">
                <a:solidFill>
                  <a:srgbClr val="D6D0E0"/>
                </a:solidFill>
                <a:latin typeface="Fira Sans"/>
              </a:rPr>
              <a:t> table.</a:t>
            </a:r>
          </a:p>
          <a:p>
            <a:pPr marL="0" indent="0" algn="l">
              <a:lnSpc>
                <a:spcPts val="1331"/>
              </a:lnSpc>
              <a:spcBef>
                <a:spcPts val="1400"/>
              </a:spcBef>
              <a:spcAft>
                <a:spcPts val="0"/>
              </a:spcAft>
              <a:buNone/>
            </a:pPr>
            <a:r>
              <a:rPr sz="1188" b="1" i="0" dirty="0">
                <a:solidFill>
                  <a:srgbClr val="B2A7C4"/>
                </a:solidFill>
                <a:latin typeface="Fira Sans"/>
              </a:rPr>
              <a:t>03   </a:t>
            </a:r>
            <a:r>
              <a:rPr sz="1188" b="1" i="0" dirty="0">
                <a:solidFill>
                  <a:srgbClr val="FFFFFF"/>
                </a:solidFill>
                <a:latin typeface="Fira Sans"/>
              </a:rPr>
              <a:t>The environment dictates the architecture</a:t>
            </a:r>
          </a:p>
          <a:p>
            <a:pPr marL="384048" indent="0" algn="l">
              <a:lnSpc>
                <a:spcPts val="1233"/>
              </a:lnSpc>
              <a:spcBef>
                <a:spcPts val="300"/>
              </a:spcBef>
              <a:spcAft>
                <a:spcPts val="0"/>
              </a:spcAft>
              <a:buNone/>
            </a:pPr>
            <a:r>
              <a:rPr sz="1045" b="0" i="0" dirty="0">
                <a:solidFill>
                  <a:srgbClr val="D6D0E0"/>
                </a:solidFill>
                <a:latin typeface="Fira Sans"/>
              </a:rPr>
              <a:t>Partial observability forces internal state; </a:t>
            </a:r>
            <a:r>
              <a:rPr lang="it-IT" sz="1045" b="0" i="0" dirty="0" err="1">
                <a:solidFill>
                  <a:srgbClr val="D6D0E0"/>
                </a:solidFill>
                <a:latin typeface="Fira Sans"/>
              </a:rPr>
              <a:t>sequentiality</a:t>
            </a:r>
            <a:r>
              <a:rPr sz="1045" b="0" i="0" dirty="0">
                <a:solidFill>
                  <a:srgbClr val="D6D0E0"/>
                </a:solidFill>
                <a:latin typeface="Fira Sans"/>
              </a:rPr>
              <a:t> forces looking ahead; unknown dynamics force learning.</a:t>
            </a:r>
          </a:p>
          <a:p>
            <a:pPr marL="0" indent="0" algn="l">
              <a:lnSpc>
                <a:spcPts val="1331"/>
              </a:lnSpc>
              <a:spcBef>
                <a:spcPts val="1400"/>
              </a:spcBef>
              <a:spcAft>
                <a:spcPts val="0"/>
              </a:spcAft>
              <a:buNone/>
            </a:pPr>
            <a:r>
              <a:rPr sz="1188" b="1" i="0" dirty="0">
                <a:solidFill>
                  <a:srgbClr val="B2A7C4"/>
                </a:solidFill>
                <a:latin typeface="Fira Sans"/>
              </a:rPr>
              <a:t>04   </a:t>
            </a:r>
            <a:r>
              <a:rPr sz="1188" b="1" i="0" dirty="0">
                <a:solidFill>
                  <a:srgbClr val="FFFFFF"/>
                </a:solidFill>
                <a:latin typeface="Fira Sans"/>
              </a:rPr>
              <a:t>Rationality is defined relative to a performance measure</a:t>
            </a:r>
          </a:p>
          <a:p>
            <a:pPr marL="384048" indent="0" algn="l">
              <a:lnSpc>
                <a:spcPts val="1233"/>
              </a:lnSpc>
              <a:spcBef>
                <a:spcPts val="300"/>
              </a:spcBef>
              <a:spcAft>
                <a:spcPts val="0"/>
              </a:spcAft>
              <a:buNone/>
            </a:pPr>
            <a:r>
              <a:rPr sz="1045" b="0" i="0" dirty="0">
                <a:solidFill>
                  <a:srgbClr val="D6D0E0"/>
                </a:solidFill>
                <a:latin typeface="Fira Sans"/>
              </a:rPr>
              <a:t>Specify the outcome you want, not the behavior you imagine. The agent will optimize exactly what you wrote down.</a:t>
            </a:r>
          </a:p>
          <a:p>
            <a:pPr marL="0" indent="0" algn="l">
              <a:lnSpc>
                <a:spcPts val="1331"/>
              </a:lnSpc>
              <a:spcBef>
                <a:spcPts val="1400"/>
              </a:spcBef>
              <a:spcAft>
                <a:spcPts val="0"/>
              </a:spcAft>
              <a:buNone/>
            </a:pPr>
            <a:r>
              <a:rPr sz="1188" b="1" i="0" dirty="0">
                <a:solidFill>
                  <a:srgbClr val="B2A7C4"/>
                </a:solidFill>
                <a:latin typeface="Fira Sans"/>
              </a:rPr>
              <a:t>05   </a:t>
            </a:r>
            <a:r>
              <a:rPr lang="en-GB" sz="1188" b="1" noProof="0" dirty="0">
                <a:solidFill>
                  <a:srgbClr val="FFFFFF"/>
                </a:solidFill>
                <a:latin typeface="Fira Sans"/>
              </a:rPr>
              <a:t>N</a:t>
            </a:r>
            <a:r>
              <a:rPr lang="en-GB" sz="1188" b="1" i="0" noProof="0" dirty="0">
                <a:solidFill>
                  <a:srgbClr val="FFFFFF"/>
                </a:solidFill>
                <a:latin typeface="Fira Sans"/>
              </a:rPr>
              <a:t>ext chapter makes this formal</a:t>
            </a:r>
          </a:p>
          <a:p>
            <a:pPr marL="384048" indent="0" algn="l">
              <a:lnSpc>
                <a:spcPts val="1233"/>
              </a:lnSpc>
              <a:spcBef>
                <a:spcPts val="300"/>
              </a:spcBef>
              <a:spcAft>
                <a:spcPts val="0"/>
              </a:spcAft>
              <a:buNone/>
            </a:pPr>
            <a:r>
              <a:rPr sz="1045" b="0" i="0" dirty="0">
                <a:solidFill>
                  <a:srgbClr val="D6D0E0"/>
                </a:solidFill>
                <a:latin typeface="Fira Sans"/>
              </a:rPr>
              <a:t>The sequential, stochastic, partially known environment becomes a Markov Decision Process, and the performance measure becomes a reward signal to be maximized over time.</a:t>
            </a:r>
          </a:p>
        </p:txBody>
      </p:sp>
      <p:sp>
        <p:nvSpPr>
          <p:cNvPr id="6" name="Rectangle 5"/>
          <p:cNvSpPr/>
          <p:nvPr/>
        </p:nvSpPr>
        <p:spPr>
          <a:xfrm>
            <a:off x="7635240" y="1225296"/>
            <a:ext cx="10972" cy="448056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138160" y="1225296"/>
            <a:ext cx="3383280" cy="27432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40">
                <a:solidFill>
                  <a:srgbClr val="B2A7C4"/>
                </a:solidFill>
                <a:latin typeface="Fira Sans Medium"/>
              </a:rPr>
              <a:t>PRIMARY SOURCES</a:t>
            </a:r>
          </a:p>
        </p:txBody>
      </p:sp>
      <p:sp>
        <p:nvSpPr>
          <p:cNvPr id="8" name="TextBox 7"/>
          <p:cNvSpPr txBox="1"/>
          <p:nvPr/>
        </p:nvSpPr>
        <p:spPr>
          <a:xfrm>
            <a:off x="8138160" y="1609344"/>
            <a:ext cx="3474720" cy="4023360"/>
          </a:xfrm>
          <a:prstGeom prst="rect">
            <a:avLst/>
          </a:prstGeom>
          <a:noFill/>
        </p:spPr>
        <p:txBody>
          <a:bodyPr wrap="square" lIns="0" tIns="0" rIns="0" bIns="0" anchor="t">
            <a:noAutofit/>
          </a:bodyPr>
          <a:lstStyle/>
          <a:p>
            <a:pPr marL="0" indent="0" algn="l">
              <a:lnSpc>
                <a:spcPts val="1129"/>
              </a:lnSpc>
              <a:spcBef>
                <a:spcPts val="0"/>
              </a:spcBef>
              <a:spcAft>
                <a:spcPts val="0"/>
              </a:spcAft>
              <a:buNone/>
            </a:pPr>
            <a:r>
              <a:rPr sz="1045" b="1" i="0">
                <a:solidFill>
                  <a:srgbClr val="FFFFFF"/>
                </a:solidFill>
                <a:latin typeface="Fira Sans"/>
              </a:rPr>
              <a:t>Turing (1950)</a:t>
            </a:r>
          </a:p>
          <a:p>
            <a:pPr marL="0" indent="0" algn="l">
              <a:lnSpc>
                <a:spcPts val="1083"/>
              </a:lnSpc>
              <a:spcBef>
                <a:spcPts val="100"/>
              </a:spcBef>
              <a:spcAft>
                <a:spcPts val="0"/>
              </a:spcAft>
              <a:buNone/>
            </a:pPr>
            <a:r>
              <a:rPr sz="950" b="0" i="1">
                <a:solidFill>
                  <a:srgbClr val="B2A7C4"/>
                </a:solidFill>
                <a:latin typeface="Fira Sans"/>
              </a:rPr>
              <a:t>Computing Machinery and Intelligence</a:t>
            </a:r>
          </a:p>
          <a:p>
            <a:pPr marL="0" indent="0" algn="l">
              <a:lnSpc>
                <a:spcPts val="1129"/>
              </a:lnSpc>
              <a:spcBef>
                <a:spcPts val="1200"/>
              </a:spcBef>
              <a:spcAft>
                <a:spcPts val="0"/>
              </a:spcAft>
              <a:buNone/>
            </a:pPr>
            <a:r>
              <a:rPr sz="1045" b="1" i="0">
                <a:solidFill>
                  <a:srgbClr val="FFFFFF"/>
                </a:solidFill>
                <a:latin typeface="Fira Sans"/>
              </a:rPr>
              <a:t>Shannon (1950)</a:t>
            </a:r>
          </a:p>
          <a:p>
            <a:pPr marL="0" indent="0" algn="l">
              <a:lnSpc>
                <a:spcPts val="1083"/>
              </a:lnSpc>
              <a:spcBef>
                <a:spcPts val="100"/>
              </a:spcBef>
              <a:spcAft>
                <a:spcPts val="0"/>
              </a:spcAft>
              <a:buNone/>
            </a:pPr>
            <a:r>
              <a:rPr sz="950" b="0" i="1">
                <a:solidFill>
                  <a:srgbClr val="B2A7C4"/>
                </a:solidFill>
                <a:latin typeface="Fira Sans"/>
              </a:rPr>
              <a:t>Programming a Computer for Playing Chess</a:t>
            </a:r>
          </a:p>
          <a:p>
            <a:pPr marL="0" indent="0" algn="l">
              <a:lnSpc>
                <a:spcPts val="1129"/>
              </a:lnSpc>
              <a:spcBef>
                <a:spcPts val="1200"/>
              </a:spcBef>
              <a:spcAft>
                <a:spcPts val="0"/>
              </a:spcAft>
              <a:buNone/>
            </a:pPr>
            <a:r>
              <a:rPr sz="1045" b="1" i="0">
                <a:solidFill>
                  <a:srgbClr val="FFFFFF"/>
                </a:solidFill>
                <a:latin typeface="Fira Sans"/>
              </a:rPr>
              <a:t>Samuel (1959)</a:t>
            </a:r>
          </a:p>
          <a:p>
            <a:pPr marL="0" indent="0" algn="l">
              <a:lnSpc>
                <a:spcPts val="1083"/>
              </a:lnSpc>
              <a:spcBef>
                <a:spcPts val="100"/>
              </a:spcBef>
              <a:spcAft>
                <a:spcPts val="0"/>
              </a:spcAft>
              <a:buNone/>
            </a:pPr>
            <a:r>
              <a:rPr sz="950" b="0" i="1">
                <a:solidFill>
                  <a:srgbClr val="B2A7C4"/>
                </a:solidFill>
                <a:latin typeface="Fira Sans"/>
              </a:rPr>
              <a:t>Some Studies in Machine Learning Using the Game of Checkers</a:t>
            </a:r>
          </a:p>
          <a:p>
            <a:pPr marL="0" indent="0" algn="l">
              <a:lnSpc>
                <a:spcPts val="1129"/>
              </a:lnSpc>
              <a:spcBef>
                <a:spcPts val="1200"/>
              </a:spcBef>
              <a:spcAft>
                <a:spcPts val="0"/>
              </a:spcAft>
              <a:buNone/>
            </a:pPr>
            <a:r>
              <a:rPr sz="1045" b="1" i="0">
                <a:solidFill>
                  <a:srgbClr val="FFFFFF"/>
                </a:solidFill>
                <a:latin typeface="Fira Sans"/>
              </a:rPr>
              <a:t>Reynolds (1987)</a:t>
            </a:r>
          </a:p>
          <a:p>
            <a:pPr marL="0" indent="0" algn="l">
              <a:lnSpc>
                <a:spcPts val="1083"/>
              </a:lnSpc>
              <a:spcBef>
                <a:spcPts val="100"/>
              </a:spcBef>
              <a:spcAft>
                <a:spcPts val="0"/>
              </a:spcAft>
              <a:buNone/>
            </a:pPr>
            <a:r>
              <a:rPr sz="950" b="0" i="1">
                <a:solidFill>
                  <a:srgbClr val="B2A7C4"/>
                </a:solidFill>
                <a:latin typeface="Fira Sans"/>
              </a:rPr>
              <a:t>Flocks, Herds, and Schools: A Distributed Behavioral Model</a:t>
            </a:r>
          </a:p>
          <a:p>
            <a:pPr marL="0" indent="0" algn="l">
              <a:lnSpc>
                <a:spcPts val="1129"/>
              </a:lnSpc>
              <a:spcBef>
                <a:spcPts val="1200"/>
              </a:spcBef>
              <a:spcAft>
                <a:spcPts val="0"/>
              </a:spcAft>
              <a:buNone/>
            </a:pPr>
            <a:r>
              <a:rPr sz="1045" b="1" i="0">
                <a:solidFill>
                  <a:srgbClr val="FFFFFF"/>
                </a:solidFill>
                <a:latin typeface="Fira Sans"/>
              </a:rPr>
              <a:t>Brooks (1991)</a:t>
            </a:r>
          </a:p>
          <a:p>
            <a:pPr marL="0" indent="0" algn="l">
              <a:lnSpc>
                <a:spcPts val="1083"/>
              </a:lnSpc>
              <a:spcBef>
                <a:spcPts val="100"/>
              </a:spcBef>
              <a:spcAft>
                <a:spcPts val="0"/>
              </a:spcAft>
              <a:buNone/>
            </a:pPr>
            <a:r>
              <a:rPr sz="950" b="0" i="1">
                <a:solidFill>
                  <a:srgbClr val="B2A7C4"/>
                </a:solidFill>
                <a:latin typeface="Fira Sans"/>
              </a:rPr>
              <a:t>Intelligence without Representation</a:t>
            </a:r>
          </a:p>
          <a:p>
            <a:pPr marL="0" indent="0" algn="l">
              <a:lnSpc>
                <a:spcPts val="1129"/>
              </a:lnSpc>
              <a:spcBef>
                <a:spcPts val="1200"/>
              </a:spcBef>
              <a:spcAft>
                <a:spcPts val="0"/>
              </a:spcAft>
              <a:buNone/>
            </a:pPr>
            <a:r>
              <a:rPr sz="1045" b="1" i="0">
                <a:solidFill>
                  <a:srgbClr val="FFFFFF"/>
                </a:solidFill>
                <a:latin typeface="Fira Sans"/>
              </a:rPr>
              <a:t>Russell (1997)</a:t>
            </a:r>
          </a:p>
          <a:p>
            <a:pPr marL="0" indent="0" algn="l">
              <a:lnSpc>
                <a:spcPts val="1083"/>
              </a:lnSpc>
              <a:spcBef>
                <a:spcPts val="100"/>
              </a:spcBef>
              <a:spcAft>
                <a:spcPts val="0"/>
              </a:spcAft>
              <a:buNone/>
            </a:pPr>
            <a:r>
              <a:rPr sz="950" b="0" i="1">
                <a:solidFill>
                  <a:srgbClr val="B2A7C4"/>
                </a:solidFill>
                <a:latin typeface="Fira Sans"/>
              </a:rPr>
              <a:t>Rationality and Intelligence</a:t>
            </a:r>
          </a:p>
        </p:txBody>
      </p:sp>
      <p:pic>
        <p:nvPicPr>
          <p:cNvPr id="9" name="Picture 8" descr="image.png"/>
          <p:cNvPicPr>
            <a:picLocks noChangeAspect="1"/>
          </p:cNvPicPr>
          <p:nvPr/>
        </p:nvPicPr>
        <p:blipFill>
          <a:blip r:embed="rId2"/>
          <a:stretch>
            <a:fillRect/>
          </a:stretch>
        </p:blipFill>
        <p:spPr>
          <a:xfrm>
            <a:off x="10561320" y="5623560"/>
            <a:ext cx="786384" cy="527320"/>
          </a:xfrm>
          <a:prstGeom prst="rect">
            <a:avLst/>
          </a:prstGeom>
        </p:spPr>
      </p:pic>
    </p:spTree>
  </p:cSld>
  <p:clrMapOvr>
    <a:masterClrMapping/>
  </p:clrMapOvr>
</p:sld>
</file>

<file path=ppt/theme/theme1.xml><?xml version="1.0" encoding="utf-8"?>
<a:theme xmlns:a="http://schemas.openxmlformats.org/drawingml/2006/main" name="Tema di Office">
  <a:themeElements>
    <a:clrScheme name="ingegneria">
      <a:dk1>
        <a:srgbClr val="000000"/>
      </a:dk1>
      <a:lt1>
        <a:srgbClr val="FFFFFF"/>
      </a:lt1>
      <a:dk2>
        <a:srgbClr val="000000"/>
      </a:dk2>
      <a:lt2>
        <a:srgbClr val="E7E6E6"/>
      </a:lt2>
      <a:accent1>
        <a:srgbClr val="574676"/>
      </a:accent1>
      <a:accent2>
        <a:srgbClr val="574676"/>
      </a:accent2>
      <a:accent3>
        <a:srgbClr val="574676"/>
      </a:accent3>
      <a:accent4>
        <a:srgbClr val="574676"/>
      </a:accent4>
      <a:accent5>
        <a:srgbClr val="574676"/>
      </a:accent5>
      <a:accent6>
        <a:srgbClr val="574676"/>
      </a:accent6>
      <a:hlink>
        <a:srgbClr val="574676"/>
      </a:hlink>
      <a:folHlink>
        <a:srgbClr val="E7E6E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marL="0" indent="0" algn="l">
          <a:buNone/>
          <a:defRPr sz="1050" b="0" i="1" dirty="0" smtClean="0">
            <a:latin typeface="Fira Sans" panose="020B0503050000020004" pitchFamily="34" charset="0"/>
          </a:defRPr>
        </a:defPPr>
      </a:lstStyle>
    </a:txDef>
  </a:objectDefaults>
  <a:extraClrSchemeLst/>
  <a:extLst>
    <a:ext uri="{05A4C25C-085E-4340-85A3-A5531E510DB2}">
      <thm15:themeFamily xmlns:thm15="http://schemas.microsoft.com/office/thememl/2012/main" name="Presentation2" id="{9E943207-3816-4CB4-949D-1A150629494E}" vid="{FBF57FA0-DAAF-4234-A026-6691D98987D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768</TotalTime>
  <Words>13037</Words>
  <Application>Microsoft Macintosh PowerPoint</Application>
  <PresentationFormat>Widescreen</PresentationFormat>
  <Paragraphs>1288</Paragraphs>
  <Slides>59</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59</vt:i4>
      </vt:variant>
    </vt:vector>
  </HeadingPairs>
  <TitlesOfParts>
    <vt:vector size="66" baseType="lpstr">
      <vt:lpstr>Arial</vt:lpstr>
      <vt:lpstr>Roboto Slab</vt:lpstr>
      <vt:lpstr>Calibri</vt:lpstr>
      <vt:lpstr>Consolas</vt:lpstr>
      <vt:lpstr>Fira Sans</vt:lpstr>
      <vt:lpstr>Fira Sans Medium</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Architectures — Chapter 01</dc:title>
  <dc:subject>Reinforcement Learning, Chapter 01: Agent Architectures</dc:subject>
  <dc:creator>Riccardo Berta</dc:creator>
  <cp:keywords/>
  <dc:description>Companion lecture slides generated from the Chapter 01 lecture notes (notes.ipynb). Figures reused from the notes; mathematics typeset in LaTeX and embedded as vector graphics with raster fallbacks.</dc:description>
  <cp:lastModifiedBy>Riccardo Berta</cp:lastModifiedBy>
  <cp:revision>2</cp:revision>
  <cp:lastPrinted>2019-04-15T13:03:12Z</cp:lastPrinted>
  <dcterms:created xsi:type="dcterms:W3CDTF">2020-06-03T21:02:46Z</dcterms:created>
  <dcterms:modified xsi:type="dcterms:W3CDTF">2026-10-20T19:32:18Z</dcterms:modified>
  <cp:category>University lecture slides</cp:category>
</cp:coreProperties>
</file>