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0"/>
  </p:notesMasterIdLst>
  <p:sldIdLst>
    <p:sldId id="256" r:id="rId5"/>
    <p:sldId id="275" r:id="rId6"/>
    <p:sldId id="279" r:id="rId7"/>
    <p:sldId id="257" r:id="rId8"/>
    <p:sldId id="259" r:id="rId9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E604F-9DFF-414D-8EC6-5B0F05F8E94A}" v="15" dt="2026-09-22T10:09:44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64"/>
    <p:restoredTop sz="91944"/>
  </p:normalViewPr>
  <p:slideViewPr>
    <p:cSldViewPr snapToGrid="0" snapToObjects="1">
      <p:cViewPr varScale="1">
        <p:scale>
          <a:sx n="145" d="100"/>
          <a:sy n="145" d="100"/>
        </p:scale>
        <p:origin x="1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undo redo custSel addSld delSld modSld">
      <pc:chgData name="Riccardo Berta" userId="c8694f89-bba4-4576-b0a8-456619ca5a8c" providerId="ADAL" clId="{FDDBFC5A-5EA9-5330-BEB8-433D7E3B4C4E}" dt="2026-09-22T11:57:13.531" v="2453" actId="20577"/>
      <pc:docMkLst>
        <pc:docMk/>
      </pc:docMkLst>
      <pc:sldChg chg="modSp mod">
        <pc:chgData name="Riccardo Berta" userId="c8694f89-bba4-4576-b0a8-456619ca5a8c" providerId="ADAL" clId="{FDDBFC5A-5EA9-5330-BEB8-433D7E3B4C4E}" dt="2026-09-22T11:57:13.531" v="2453" actId="20577"/>
        <pc:sldMkLst>
          <pc:docMk/>
          <pc:sldMk cId="0" sldId="256"/>
        </pc:sldMkLst>
        <pc:spChg chg="mod">
          <ac:chgData name="Riccardo Berta" userId="c8694f89-bba4-4576-b0a8-456619ca5a8c" providerId="ADAL" clId="{FDDBFC5A-5EA9-5330-BEB8-433D7E3B4C4E}" dt="2026-09-22T11:57:13.531" v="245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6-09-22T10:10:36.450" v="2417" actId="20577"/>
        <pc:sldMkLst>
          <pc:docMk/>
          <pc:sldMk cId="0" sldId="257"/>
        </pc:sldMkLst>
        <pc:spChg chg="mod">
          <ac:chgData name="Riccardo Berta" userId="c8694f89-bba4-4576-b0a8-456619ca5a8c" providerId="ADAL" clId="{FDDBFC5A-5EA9-5330-BEB8-433D7E3B4C4E}" dt="2026-09-22T10:10:36.450" v="2417" actId="20577"/>
          <ac:spMkLst>
            <pc:docMk/>
            <pc:sldMk cId="0" sldId="257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6-09-22T10:12:09.140" v="2448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DDBFC5A-5EA9-5330-BEB8-433D7E3B4C4E}" dt="2026-09-22T10:12:09.140" v="2448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FDDBFC5A-5EA9-5330-BEB8-433D7E3B4C4E}" dt="2026-09-22T10:12:03.779" v="2444" actId="1076"/>
          <ac:spMkLst>
            <pc:docMk/>
            <pc:sldMk cId="3018556184" sldId="259"/>
            <ac:spMk id="3" creationId="{38BFAA1C-1163-169B-2D77-6FEF73CC8512}"/>
          </ac:spMkLst>
        </pc:spChg>
      </pc:sldChg>
      <pc:sldChg chg="modSp del mod">
        <pc:chgData name="Riccardo Berta" userId="c8694f89-bba4-4576-b0a8-456619ca5a8c" providerId="ADAL" clId="{FDDBFC5A-5EA9-5330-BEB8-433D7E3B4C4E}" dt="2026-09-22T10:12:16.285" v="2451" actId="2696"/>
        <pc:sldMkLst>
          <pc:docMk/>
          <pc:sldMk cId="3239712184" sldId="260"/>
        </pc:sldMkLst>
        <pc:spChg chg="mod">
          <ac:chgData name="Riccardo Berta" userId="c8694f89-bba4-4576-b0a8-456619ca5a8c" providerId="ADAL" clId="{FDDBFC5A-5EA9-5330-BEB8-433D7E3B4C4E}" dt="2026-09-21T05:43:15.241" v="2116" actId="20577"/>
          <ac:spMkLst>
            <pc:docMk/>
            <pc:sldMk cId="3239712184" sldId="260"/>
            <ac:spMk id="84" creationId="{00000000-0000-0000-0000-000000000000}"/>
          </ac:spMkLst>
        </pc:spChg>
      </pc:sldChg>
      <pc:sldChg chg="modSp del mod">
        <pc:chgData name="Riccardo Berta" userId="c8694f89-bba4-4576-b0a8-456619ca5a8c" providerId="ADAL" clId="{FDDBFC5A-5EA9-5330-BEB8-433D7E3B4C4E}" dt="2026-09-22T09:47:24.861" v="2242" actId="2696"/>
        <pc:sldMkLst>
          <pc:docMk/>
          <pc:sldMk cId="0" sldId="264"/>
        </pc:sldMkLst>
        <pc:spChg chg="mod">
          <ac:chgData name="Riccardo Berta" userId="c8694f89-bba4-4576-b0a8-456619ca5a8c" providerId="ADAL" clId="{FDDBFC5A-5EA9-5330-BEB8-433D7E3B4C4E}" dt="2026-09-22T09:43:03.578" v="2169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6-09-22T09:40:13.262" v="2168" actId="20577"/>
        <pc:sldMkLst>
          <pc:docMk/>
          <pc:sldMk cId="1621568873" sldId="275"/>
        </pc:sldMkLst>
        <pc:spChg chg="mod">
          <ac:chgData name="Riccardo Berta" userId="c8694f89-bba4-4576-b0a8-456619ca5a8c" providerId="ADAL" clId="{FDDBFC5A-5EA9-5330-BEB8-433D7E3B4C4E}" dt="2026-09-22T09:40:00.972" v="2162" actId="20577"/>
          <ac:spMkLst>
            <pc:docMk/>
            <pc:sldMk cId="1621568873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FDDBFC5A-5EA9-5330-BEB8-433D7E3B4C4E}" dt="2026-09-22T09:40:13.262" v="2168" actId="20577"/>
          <ac:spMkLst>
            <pc:docMk/>
            <pc:sldMk cId="1621568873" sldId="275"/>
            <ac:spMk id="84" creationId="{00000000-0000-0000-0000-000000000000}"/>
          </ac:spMkLst>
        </pc:spChg>
      </pc:sldChg>
      <pc:sldChg chg="modSp del mod">
        <pc:chgData name="Riccardo Berta" userId="c8694f89-bba4-4576-b0a8-456619ca5a8c" providerId="ADAL" clId="{FDDBFC5A-5EA9-5330-BEB8-433D7E3B4C4E}" dt="2026-09-22T10:12:12.312" v="2449" actId="2696"/>
        <pc:sldMkLst>
          <pc:docMk/>
          <pc:sldMk cId="3487546630" sldId="276"/>
        </pc:sldMkLst>
        <pc:spChg chg="mod">
          <ac:chgData name="Riccardo Berta" userId="c8694f89-bba4-4576-b0a8-456619ca5a8c" providerId="ADAL" clId="{FDDBFC5A-5EA9-5330-BEB8-433D7E3B4C4E}" dt="2026-09-21T05:42:14.069" v="2109" actId="20577"/>
          <ac:spMkLst>
            <pc:docMk/>
            <pc:sldMk cId="3487546630" sldId="276"/>
            <ac:spMk id="3" creationId="{46BD2FCA-8D76-10AF-554C-0604D61BE7BC}"/>
          </ac:spMkLst>
        </pc:spChg>
      </pc:sldChg>
      <pc:sldChg chg="modSp del mod">
        <pc:chgData name="Riccardo Berta" userId="c8694f89-bba4-4576-b0a8-456619ca5a8c" providerId="ADAL" clId="{FDDBFC5A-5EA9-5330-BEB8-433D7E3B4C4E}" dt="2026-09-22T10:12:14.359" v="2450" actId="2696"/>
        <pc:sldMkLst>
          <pc:docMk/>
          <pc:sldMk cId="268974731" sldId="277"/>
        </pc:sldMkLst>
      </pc:sldChg>
      <pc:sldChg chg="addSp delSp modSp new del mod">
        <pc:chgData name="Riccardo Berta" userId="c8694f89-bba4-4576-b0a8-456619ca5a8c" providerId="ADAL" clId="{FDDBFC5A-5EA9-5330-BEB8-433D7E3B4C4E}" dt="2026-09-22T10:12:18.419" v="2452" actId="2696"/>
        <pc:sldMkLst>
          <pc:docMk/>
          <pc:sldMk cId="4220527629" sldId="278"/>
        </pc:sldMkLst>
      </pc:sldChg>
      <pc:sldChg chg="modSp add mod">
        <pc:chgData name="Riccardo Berta" userId="c8694f89-bba4-4576-b0a8-456619ca5a8c" providerId="ADAL" clId="{FDDBFC5A-5EA9-5330-BEB8-433D7E3B4C4E}" dt="2026-09-22T09:48:46.854" v="2270" actId="14100"/>
        <pc:sldMkLst>
          <pc:docMk/>
          <pc:sldMk cId="3139826843" sldId="279"/>
        </pc:sldMkLst>
        <pc:spChg chg="mod">
          <ac:chgData name="Riccardo Berta" userId="c8694f89-bba4-4576-b0a8-456619ca5a8c" providerId="ADAL" clId="{FDDBFC5A-5EA9-5330-BEB8-433D7E3B4C4E}" dt="2026-09-22T09:47:22.733" v="2241"/>
          <ac:spMkLst>
            <pc:docMk/>
            <pc:sldMk cId="3139826843" sldId="279"/>
            <ac:spMk id="83" creationId="{DD33D3B1-16CD-FFD3-DBEF-EED2FC0994AE}"/>
          </ac:spMkLst>
        </pc:spChg>
        <pc:spChg chg="mod">
          <ac:chgData name="Riccardo Berta" userId="c8694f89-bba4-4576-b0a8-456619ca5a8c" providerId="ADAL" clId="{FDDBFC5A-5EA9-5330-BEB8-433D7E3B4C4E}" dt="2026-09-22T09:48:46.854" v="2270" actId="14100"/>
          <ac:spMkLst>
            <pc:docMk/>
            <pc:sldMk cId="3139826843" sldId="279"/>
            <ac:spMk id="84" creationId="{905E8715-283A-BFB2-1969-3EEC25E76C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30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76E2E9E8-A680-7DBD-117F-EC63165C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4C4AA1D9-F4A6-0C55-68DE-DF4447B58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3F4E669E-A3C4-B22D-D64E-AFA0B06BC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5160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iccardo.berta@unige.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2026.aulaweb.unige.it/course/view.php?id=5130" TargetMode="External"/><Relationship Id="rId7" Type="http://schemas.openxmlformats.org/officeDocument/2006/relationships/hyperlink" Target="https://github.com/riccardoberta/reinforcement-learn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ymnasium.farama.org/index.html" TargetMode="External"/><Relationship Id="rId5" Type="http://schemas.openxmlformats.org/officeDocument/2006/relationships/hyperlink" Target="https://jupyter.org/" TargetMode="External"/><Relationship Id="rId4" Type="http://schemas.openxmlformats.org/officeDocument/2006/relationships/hyperlink" Target="https://teams.microsoft.com/l/channel/19%3A63639a414f664341a1b28f8b6ff9da6b%40thread.tacv2/2026?groupId=89681fe9-fe03-444e-a5b4-9b2d2f886e96&amp;tenantId=6cd36f83-1a02-442d-972f-2670cb5e9b1a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dirty="0"/>
              <a:t>Applied </a:t>
            </a:r>
            <a:r>
              <a:rPr lang="it-IT" dirty="0" err="1"/>
              <a:t>Reinforcement</a:t>
            </a:r>
            <a:r>
              <a:rPr lang="it-IT" dirty="0"/>
              <a:t> Learning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Who am I?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632950"/>
            <a:ext cx="8520600" cy="4396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Prof. </a:t>
            </a:r>
            <a:r>
              <a:rPr lang="en-GB" b="1" dirty="0"/>
              <a:t>Riccardo Berta</a:t>
            </a:r>
            <a:br>
              <a:rPr lang="en-GB" dirty="0"/>
            </a:br>
            <a:r>
              <a:rPr lang="en-GB" dirty="0"/>
              <a:t>Elios Lab, DITEN building, third floor</a:t>
            </a:r>
            <a:br>
              <a:rPr lang="en-GB" dirty="0"/>
            </a:br>
            <a:r>
              <a:rPr lang="en-GB" dirty="0" err="1">
                <a:hlinkClick r:id="rId3"/>
              </a:rPr>
              <a:t>riccardo.berta@unige.it</a:t>
            </a:r>
            <a:r>
              <a:rPr lang="en-GB" dirty="0"/>
              <a:t> </a:t>
            </a:r>
          </a:p>
          <a:p>
            <a:pPr marL="120650" lvl="0" indent="0">
              <a:buNone/>
            </a:pPr>
            <a:r>
              <a:rPr lang="en-GB" dirty="0"/>
              <a:t>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Please, contact me on Microsoft Teams!</a:t>
            </a:r>
          </a:p>
        </p:txBody>
      </p:sp>
    </p:spTree>
    <p:extLst>
      <p:ext uri="{BB962C8B-B14F-4D97-AF65-F5344CB8AC3E}">
        <p14:creationId xmlns:p14="http://schemas.microsoft.com/office/powerpoint/2010/main" val="162156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2B78C158-63B9-2760-D833-7A9D5265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DD33D3B1-16CD-FFD3-DBEF-EED2FC0994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05E8715-283A-BFB2-1969-3EEC25E76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355189"/>
            <a:ext cx="8818500" cy="4792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Understand the fundamental concepts and mathematical foundations of Reinforcement Learning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Model real-world problems as agents interacting with environments through states, actions, rewards, and policies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Understand and compare the main families of RL algorithms, from tabular methods to Deep Reinforcement Learning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Design and implement RL agents in Python using tools such as Gymnasium and modern RL libraries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Evaluate agent performance and understand the trade-offs between exploration, exploitation, stability, and sample efficiency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Apply RL methods to practical problems involving autonomous decision-making</a:t>
            </a:r>
          </a:p>
          <a:p>
            <a:pPr lvl="0"/>
            <a:endParaRPr lang="en-GB" sz="500" dirty="0"/>
          </a:p>
          <a:p>
            <a:pPr lvl="0"/>
            <a:r>
              <a:rPr lang="en-GB" dirty="0"/>
              <a:t>Develop the critical skills needed to select an appropriate RL approach for a given problem</a:t>
            </a:r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982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Information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499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 err="1"/>
              <a:t>AulaWeb</a:t>
            </a:r>
            <a:endParaRPr lang="en-GB" b="1" dirty="0"/>
          </a:p>
          <a:p>
            <a:pPr lvl="1"/>
            <a:r>
              <a:rPr lang="en-GB" dirty="0">
                <a:hlinkClick r:id="rId3"/>
              </a:rPr>
              <a:t>https://2026.aulaweb.unige.it/course/view.php?id=5130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Microsoft Teams Channel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Code: </a:t>
            </a:r>
            <a:r>
              <a:rPr lang="en-GB" b="1" dirty="0"/>
              <a:t>g4yq38y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Channel: </a:t>
            </a:r>
            <a:r>
              <a:rPr lang="it-IT" dirty="0">
                <a:hlinkClick r:id="rId4"/>
              </a:rPr>
              <a:t>2026</a:t>
            </a:r>
            <a:endParaRPr lang="it-IT" dirty="0"/>
          </a:p>
          <a:p>
            <a:r>
              <a:rPr lang="it-IT" b="1" dirty="0"/>
              <a:t>Tools and </a:t>
            </a:r>
            <a:r>
              <a:rPr lang="it-IT" b="1" dirty="0" err="1"/>
              <a:t>material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Slides</a:t>
            </a:r>
            <a:r>
              <a:rPr lang="en-GB" dirty="0"/>
              <a:t> and </a:t>
            </a:r>
            <a:r>
              <a:rPr lang="en-GB" b="1" dirty="0"/>
              <a:t>lecture notes: </a:t>
            </a:r>
            <a:r>
              <a:rPr lang="en-GB" dirty="0"/>
              <a:t>provided on Teams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Exercises</a:t>
            </a:r>
            <a:r>
              <a:rPr lang="en-GB" dirty="0"/>
              <a:t> (provided on Teams)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Jupyter</a:t>
            </a:r>
            <a:r>
              <a:rPr lang="en-GB" dirty="0"/>
              <a:t>: </a:t>
            </a:r>
            <a:r>
              <a:rPr lang="en-GB" dirty="0">
                <a:hlinkClick r:id="rId5"/>
              </a:rPr>
              <a:t>https://jupyter.org/</a:t>
            </a:r>
            <a:r>
              <a:rPr lang="en-GB" dirty="0"/>
              <a:t>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Gymnasium</a:t>
            </a:r>
            <a:r>
              <a:rPr lang="en-GB" dirty="0"/>
              <a:t>: </a:t>
            </a:r>
            <a:r>
              <a:rPr lang="en-GB" dirty="0">
                <a:hlinkClick r:id="rId6"/>
              </a:rPr>
              <a:t>https://gymnasium.farama.org/index.html</a:t>
            </a:r>
            <a:endParaRPr lang="en-GB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GitHub repo: </a:t>
            </a:r>
            <a:r>
              <a:rPr lang="en-GB" dirty="0">
                <a:hlinkClick r:id="rId7"/>
              </a:rPr>
              <a:t>https://github.com/riccardoberta/reinforcement-learning</a:t>
            </a:r>
            <a:r>
              <a:rPr lang="en-GB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r>
              <a:rPr lang="en-GB" b="1" dirty="0"/>
              <a:t>Schedule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Tuesday 14:00 – </a:t>
            </a:r>
            <a:r>
              <a:rPr lang="en-GB" b="1" strike="sngStrike" dirty="0"/>
              <a:t>17:00</a:t>
            </a:r>
            <a:r>
              <a:rPr lang="en-GB" b="1" dirty="0"/>
              <a:t> 16:00 G3B (we use the extra hour to catch up, if needed…)</a:t>
            </a:r>
            <a:endParaRPr lang="en-GB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Thursday 16:00 – </a:t>
            </a:r>
            <a:r>
              <a:rPr lang="en-GB" b="1" strike="sngStrike" dirty="0"/>
              <a:t>19:00</a:t>
            </a:r>
            <a:r>
              <a:rPr lang="en-GB" b="1" dirty="0"/>
              <a:t> 18:00 G3B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r>
              <a:rPr lang="en-GB" b="1" dirty="0"/>
              <a:t>Book</a:t>
            </a:r>
            <a:r>
              <a:rPr lang="en-GB" dirty="0"/>
              <a:t> (not strictly required)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Miguel Morales, </a:t>
            </a:r>
            <a:r>
              <a:rPr lang="en-GB" b="1" dirty="0"/>
              <a:t>Grokking Deep Reinforcement Learning</a:t>
            </a:r>
            <a:r>
              <a:rPr lang="en-GB" dirty="0"/>
              <a:t>, Manning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Richard S. Sutton, Andrew G. Barto, </a:t>
            </a:r>
            <a:r>
              <a:rPr lang="en-GB" b="1" dirty="0"/>
              <a:t>Reinforcement Learning: An Introduction</a:t>
            </a:r>
            <a:r>
              <a:rPr lang="en-GB" dirty="0"/>
              <a:t>, MIT Press</a:t>
            </a:r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268BF7-2F3B-A5C4-4F7E-1982399FCE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</p:spPr>
        <p:txBody>
          <a:bodyPr/>
          <a:lstStyle/>
          <a:p>
            <a:r>
              <a:rPr lang="en-GB" dirty="0"/>
              <a:t>Grading – Written test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BFAA1C-1163-169B-2D77-6FEF73CC8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22071"/>
            <a:ext cx="8361245" cy="5001611"/>
          </a:xfrm>
        </p:spPr>
        <p:txBody>
          <a:bodyPr/>
          <a:lstStyle/>
          <a:p>
            <a:r>
              <a:rPr lang="en-GB" dirty="0"/>
              <a:t>Written exam covering both theoretical and practical topics discussed in class</a:t>
            </a:r>
          </a:p>
          <a:p>
            <a:endParaRPr lang="en-GB" sz="500" dirty="0"/>
          </a:p>
          <a:p>
            <a:r>
              <a:rPr lang="en-GB" dirty="0"/>
              <a:t>Questions will assess understanding of the main Reinforcement Learning concepts and algorithms</a:t>
            </a:r>
          </a:p>
          <a:p>
            <a:endParaRPr lang="en-GB" sz="500" dirty="0"/>
          </a:p>
          <a:p>
            <a:r>
              <a:rPr lang="en-GB" dirty="0"/>
              <a:t>Students are expected to understand how the algorithms work, not just memorize formulas or procedures</a:t>
            </a:r>
          </a:p>
          <a:p>
            <a:endParaRPr lang="en-GB" sz="500" dirty="0"/>
          </a:p>
          <a:p>
            <a:r>
              <a:rPr lang="en-GB" dirty="0"/>
              <a:t>The exam will include both open-ended questions and exercises similar in style and difficulty to those discussed during lectures and exercise sessions</a:t>
            </a:r>
          </a:p>
          <a:p>
            <a:endParaRPr lang="en-GB" sz="500" dirty="0"/>
          </a:p>
          <a:p>
            <a:r>
              <a:rPr lang="en-GB" dirty="0"/>
              <a:t>Exercises may require applying RL algorithms to practical problems, performing calculations, or reasoning about the behaviour of an agent</a:t>
            </a:r>
          </a:p>
          <a:p>
            <a:endParaRPr lang="en-GB" sz="500" dirty="0"/>
          </a:p>
          <a:p>
            <a:r>
              <a:rPr lang="en-GB" dirty="0"/>
              <a:t>Basic understanding of the Python implementation of the algorithms presented in class is required</a:t>
            </a:r>
          </a:p>
          <a:p>
            <a:endParaRPr lang="en-GB" sz="500" dirty="0"/>
          </a:p>
          <a:p>
            <a:r>
              <a:rPr lang="en-GB" dirty="0"/>
              <a:t>The exam will evaluate the ability to connect theoretical concepts with their practical use in the design of autonomous agents</a:t>
            </a:r>
          </a:p>
          <a:p>
            <a:pPr marL="1206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8556184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2" ma:contentTypeDescription="Creare un nuovo documento." ma:contentTypeScope="" ma:versionID="4c8b1e8002f5a6c880c83187af115cef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618b708abf3b656f834d84e193700042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A7AF99-BB7F-41AD-A8D1-87CF14E9F1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665EF8-BE0C-4DC6-83F3-8C8DF90BBB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5C6100-012D-4352-9B8F-12BB34CA0A1E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e9b5433c-2372-4cb7-8bab-09518096b29b"/>
    <ds:schemaRef ds:uri="http://schemas.openxmlformats.org/package/2006/metadata/core-properties"/>
    <ds:schemaRef ds:uri="http://schemas.microsoft.com/office/2006/metadata/properties"/>
    <ds:schemaRef ds:uri="3bd0d43f-5e5b-43cd-b6fc-691bd77672c6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6088</TotalTime>
  <Words>399</Words>
  <Application>Microsoft Macintosh PowerPoint</Application>
  <PresentationFormat>Presentazione su schermo (4:3)</PresentationFormat>
  <Paragraphs>57</Paragraphs>
  <Slides>5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Economica</vt:lpstr>
      <vt:lpstr>Arial</vt:lpstr>
      <vt:lpstr>Open Sans</vt:lpstr>
      <vt:lpstr>Luxe</vt:lpstr>
      <vt:lpstr>Applied Reinforcement Learning</vt:lpstr>
      <vt:lpstr>Who am I?</vt:lpstr>
      <vt:lpstr>Objectives</vt:lpstr>
      <vt:lpstr>Information</vt:lpstr>
      <vt:lpstr>Grading – Written test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21</cp:revision>
  <dcterms:modified xsi:type="dcterms:W3CDTF">2026-09-22T11:57:18Z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