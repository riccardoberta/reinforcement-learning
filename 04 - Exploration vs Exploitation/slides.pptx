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47"/>
  </p:notesMasterIdLst>
  <p:handoutMasterIdLst>
    <p:handoutMasterId r:id="rId48"/>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12192000" cy="6858000"/>
  <p:notesSz cx="6858000" cy="9144000"/>
  <p:embeddedFontLst>
    <p:embeddedFont>
      <p:font typeface="Consolas" panose="020B0609020204030204" pitchFamily="49" charset="0"/>
      <p:regular r:id="rId49"/>
      <p:bold r:id="rId50"/>
      <p:italic r:id="rId51"/>
      <p:boldItalic r:id="rId52"/>
    </p:embeddedFont>
    <p:embeddedFont>
      <p:font typeface="Fira Sans" panose="020B0503050000020004" pitchFamily="34" charset="0"/>
      <p:regular r:id="rId53"/>
      <p:bold r:id="rId54"/>
      <p:italic r:id="rId55"/>
      <p:boldItalic r:id="rId56"/>
    </p:embeddedFont>
    <p:embeddedFont>
      <p:font typeface="Fira Sans Medium" panose="020B0603050000020004" pitchFamily="34" charset="0"/>
      <p:regular r:id="rId57"/>
      <p:italic r:id="rId58"/>
    </p:embeddedFont>
    <p:embeddedFont>
      <p:font typeface="Roboto Slab" pitchFamily="2" charset="0"/>
      <p:regular r:id="rId59"/>
      <p:bold r:id="rId60"/>
    </p:embeddedFont>
  </p:embeddedFontLst>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74676"/>
    <a:srgbClr val="EF3340"/>
    <a:srgbClr val="A4BCC2"/>
    <a:srgbClr val="727272"/>
    <a:srgbClr val="D6AC02"/>
    <a:srgbClr val="F1C400"/>
    <a:srgbClr val="DEB401"/>
    <a:srgbClr val="B08D3B"/>
    <a:srgbClr val="F4633A"/>
    <a:srgbClr val="0061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08" autoAdjust="0"/>
    <p:restoredTop sz="86441"/>
  </p:normalViewPr>
  <p:slideViewPr>
    <p:cSldViewPr snapToGrid="0" snapToObjects="1" showGuides="1">
      <p:cViewPr varScale="1">
        <p:scale>
          <a:sx n="127" d="100"/>
          <a:sy n="127" d="100"/>
        </p:scale>
        <p:origin x="656" y="39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font" Target="fonts/font2.fntdata"/><Relationship Id="rId55" Type="http://schemas.openxmlformats.org/officeDocument/2006/relationships/font" Target="fonts/font7.fntdata"/><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openxmlformats.org/officeDocument/2006/relationships/font" Target="fonts/font10.fntdata"/><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56" Type="http://schemas.openxmlformats.org/officeDocument/2006/relationships/font" Target="fonts/font8.fntdata"/><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6.fntdata"/><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font" Target="fonts/font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60" Type="http://schemas.openxmlformats.org/officeDocument/2006/relationships/font" Target="fonts/font12.fntdata"/><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cardo Berta" userId="c8694f89-bba4-4576-b0a8-456619ca5a8c" providerId="ADAL" clId="{FDDBFC5A-5EA9-5330-BEB8-433D7E3B4C4E}"/>
    <pc:docChg chg="undo redo custSel modSld">
      <pc:chgData name="Riccardo Berta" userId="c8694f89-bba4-4576-b0a8-456619ca5a8c" providerId="ADAL" clId="{FDDBFC5A-5EA9-5330-BEB8-433D7E3B4C4E}" dt="2026-10-06T08:02:53" v="125" actId="1076"/>
      <pc:docMkLst>
        <pc:docMk/>
      </pc:docMkLst>
      <pc:sldChg chg="modSp mod">
        <pc:chgData name="Riccardo Berta" userId="c8694f89-bba4-4576-b0a8-456619ca5a8c" providerId="ADAL" clId="{FDDBFC5A-5EA9-5330-BEB8-433D7E3B4C4E}" dt="2026-09-28T20:20:52.188" v="4" actId="20577"/>
        <pc:sldMkLst>
          <pc:docMk/>
          <pc:sldMk cId="0" sldId="256"/>
        </pc:sldMkLst>
        <pc:spChg chg="mod">
          <ac:chgData name="Riccardo Berta" userId="c8694f89-bba4-4576-b0a8-456619ca5a8c" providerId="ADAL" clId="{FDDBFC5A-5EA9-5330-BEB8-433D7E3B4C4E}" dt="2026-09-28T20:20:52.188" v="4" actId="20577"/>
          <ac:spMkLst>
            <pc:docMk/>
            <pc:sldMk cId="0" sldId="256"/>
            <ac:spMk id="7" creationId="{00000000-0000-0000-0000-000000000000}"/>
          </ac:spMkLst>
        </pc:spChg>
      </pc:sldChg>
      <pc:sldChg chg="modSp mod">
        <pc:chgData name="Riccardo Berta" userId="c8694f89-bba4-4576-b0a8-456619ca5a8c" providerId="ADAL" clId="{FDDBFC5A-5EA9-5330-BEB8-433D7E3B4C4E}" dt="2026-09-28T20:21:47.301" v="10" actId="20577"/>
        <pc:sldMkLst>
          <pc:docMk/>
          <pc:sldMk cId="0" sldId="257"/>
        </pc:sldMkLst>
        <pc:spChg chg="mod">
          <ac:chgData name="Riccardo Berta" userId="c8694f89-bba4-4576-b0a8-456619ca5a8c" providerId="ADAL" clId="{FDDBFC5A-5EA9-5330-BEB8-433D7E3B4C4E}" dt="2026-09-28T20:21:47.301" v="10" actId="20577"/>
          <ac:spMkLst>
            <pc:docMk/>
            <pc:sldMk cId="0" sldId="257"/>
            <ac:spMk id="6" creationId="{00000000-0000-0000-0000-000000000000}"/>
          </ac:spMkLst>
        </pc:spChg>
      </pc:sldChg>
      <pc:sldChg chg="modSp mod">
        <pc:chgData name="Riccardo Berta" userId="c8694f89-bba4-4576-b0a8-456619ca5a8c" providerId="ADAL" clId="{FDDBFC5A-5EA9-5330-BEB8-433D7E3B4C4E}" dt="2026-10-01T09:54:34.545" v="51" actId="20577"/>
        <pc:sldMkLst>
          <pc:docMk/>
          <pc:sldMk cId="0" sldId="258"/>
        </pc:sldMkLst>
        <pc:spChg chg="mod">
          <ac:chgData name="Riccardo Berta" userId="c8694f89-bba4-4576-b0a8-456619ca5a8c" providerId="ADAL" clId="{FDDBFC5A-5EA9-5330-BEB8-433D7E3B4C4E}" dt="2026-10-01T09:53:09.660" v="35" actId="790"/>
          <ac:spMkLst>
            <pc:docMk/>
            <pc:sldMk cId="0" sldId="258"/>
            <ac:spMk id="8" creationId="{00000000-0000-0000-0000-000000000000}"/>
          </ac:spMkLst>
        </pc:spChg>
        <pc:spChg chg="mod">
          <ac:chgData name="Riccardo Berta" userId="c8694f89-bba4-4576-b0a8-456619ca5a8c" providerId="ADAL" clId="{FDDBFC5A-5EA9-5330-BEB8-433D7E3B4C4E}" dt="2026-10-01T09:54:20.128" v="45" actId="20577"/>
          <ac:spMkLst>
            <pc:docMk/>
            <pc:sldMk cId="0" sldId="258"/>
            <ac:spMk id="10" creationId="{00000000-0000-0000-0000-000000000000}"/>
          </ac:spMkLst>
        </pc:spChg>
        <pc:spChg chg="mod">
          <ac:chgData name="Riccardo Berta" userId="c8694f89-bba4-4576-b0a8-456619ca5a8c" providerId="ADAL" clId="{FDDBFC5A-5EA9-5330-BEB8-433D7E3B4C4E}" dt="2026-10-01T09:54:34.545" v="51" actId="20577"/>
          <ac:spMkLst>
            <pc:docMk/>
            <pc:sldMk cId="0" sldId="258"/>
            <ac:spMk id="13" creationId="{00000000-0000-0000-0000-000000000000}"/>
          </ac:spMkLst>
        </pc:spChg>
        <pc:spChg chg="mod">
          <ac:chgData name="Riccardo Berta" userId="c8694f89-bba4-4576-b0a8-456619ca5a8c" providerId="ADAL" clId="{FDDBFC5A-5EA9-5330-BEB8-433D7E3B4C4E}" dt="2026-10-01T09:53:55.078" v="40" actId="1076"/>
          <ac:spMkLst>
            <pc:docMk/>
            <pc:sldMk cId="0" sldId="258"/>
            <ac:spMk id="19" creationId="{00000000-0000-0000-0000-000000000000}"/>
          </ac:spMkLst>
        </pc:spChg>
      </pc:sldChg>
      <pc:sldChg chg="modSp mod">
        <pc:chgData name="Riccardo Berta" userId="c8694f89-bba4-4576-b0a8-456619ca5a8c" providerId="ADAL" clId="{FDDBFC5A-5EA9-5330-BEB8-433D7E3B4C4E}" dt="2026-10-01T10:17:24.390" v="52" actId="113"/>
        <pc:sldMkLst>
          <pc:docMk/>
          <pc:sldMk cId="0" sldId="259"/>
        </pc:sldMkLst>
        <pc:spChg chg="mod">
          <ac:chgData name="Riccardo Berta" userId="c8694f89-bba4-4576-b0a8-456619ca5a8c" providerId="ADAL" clId="{FDDBFC5A-5EA9-5330-BEB8-433D7E3B4C4E}" dt="2026-10-01T10:17:24.390" v="52" actId="113"/>
          <ac:spMkLst>
            <pc:docMk/>
            <pc:sldMk cId="0" sldId="259"/>
            <ac:spMk id="13" creationId="{00000000-0000-0000-0000-000000000000}"/>
          </ac:spMkLst>
        </pc:spChg>
      </pc:sldChg>
      <pc:sldChg chg="modSp mod">
        <pc:chgData name="Riccardo Berta" userId="c8694f89-bba4-4576-b0a8-456619ca5a8c" providerId="ADAL" clId="{FDDBFC5A-5EA9-5330-BEB8-433D7E3B4C4E}" dt="2026-10-06T06:32:12.487" v="56" actId="14100"/>
        <pc:sldMkLst>
          <pc:docMk/>
          <pc:sldMk cId="0" sldId="264"/>
        </pc:sldMkLst>
        <pc:spChg chg="mod">
          <ac:chgData name="Riccardo Berta" userId="c8694f89-bba4-4576-b0a8-456619ca5a8c" providerId="ADAL" clId="{FDDBFC5A-5EA9-5330-BEB8-433D7E3B4C4E}" dt="2026-10-06T06:32:12.487" v="56" actId="14100"/>
          <ac:spMkLst>
            <pc:docMk/>
            <pc:sldMk cId="0" sldId="264"/>
            <ac:spMk id="21" creationId="{00000000-0000-0000-0000-000000000000}"/>
          </ac:spMkLst>
        </pc:spChg>
        <pc:spChg chg="mod">
          <ac:chgData name="Riccardo Berta" userId="c8694f89-bba4-4576-b0a8-456619ca5a8c" providerId="ADAL" clId="{FDDBFC5A-5EA9-5330-BEB8-433D7E3B4C4E}" dt="2026-10-06T06:32:02.930" v="54" actId="14100"/>
          <ac:spMkLst>
            <pc:docMk/>
            <pc:sldMk cId="0" sldId="264"/>
            <ac:spMk id="22" creationId="{00000000-0000-0000-0000-000000000000}"/>
          </ac:spMkLst>
        </pc:spChg>
      </pc:sldChg>
      <pc:sldChg chg="modSp mod">
        <pc:chgData name="Riccardo Berta" userId="c8694f89-bba4-4576-b0a8-456619ca5a8c" providerId="ADAL" clId="{FDDBFC5A-5EA9-5330-BEB8-433D7E3B4C4E}" dt="2026-09-28T20:21:47.799" v="11" actId="14100"/>
        <pc:sldMkLst>
          <pc:docMk/>
          <pc:sldMk cId="0" sldId="270"/>
        </pc:sldMkLst>
        <pc:spChg chg="mod">
          <ac:chgData name="Riccardo Berta" userId="c8694f89-bba4-4576-b0a8-456619ca5a8c" providerId="ADAL" clId="{FDDBFC5A-5EA9-5330-BEB8-433D7E3B4C4E}" dt="2026-09-28T20:21:47.799" v="11" actId="14100"/>
          <ac:spMkLst>
            <pc:docMk/>
            <pc:sldMk cId="0" sldId="270"/>
            <ac:spMk id="16" creationId="{00000000-0000-0000-0000-000000000000}"/>
          </ac:spMkLst>
        </pc:spChg>
      </pc:sldChg>
      <pc:sldChg chg="modSp mod">
        <pc:chgData name="Riccardo Berta" userId="c8694f89-bba4-4576-b0a8-456619ca5a8c" providerId="ADAL" clId="{FDDBFC5A-5EA9-5330-BEB8-433D7E3B4C4E}" dt="2026-10-06T06:44:10.310" v="59" actId="1076"/>
        <pc:sldMkLst>
          <pc:docMk/>
          <pc:sldMk cId="0" sldId="277"/>
        </pc:sldMkLst>
        <pc:picChg chg="mod">
          <ac:chgData name="Riccardo Berta" userId="c8694f89-bba4-4576-b0a8-456619ca5a8c" providerId="ADAL" clId="{FDDBFC5A-5EA9-5330-BEB8-433D7E3B4C4E}" dt="2026-10-06T06:44:10.310" v="59" actId="1076"/>
          <ac:picMkLst>
            <pc:docMk/>
            <pc:sldMk cId="0" sldId="277"/>
            <ac:picMk id="9" creationId="{00000000-0000-0000-0000-000000000000}"/>
          </ac:picMkLst>
        </pc:picChg>
      </pc:sldChg>
      <pc:sldChg chg="modSp mod">
        <pc:chgData name="Riccardo Berta" userId="c8694f89-bba4-4576-b0a8-456619ca5a8c" providerId="ADAL" clId="{FDDBFC5A-5EA9-5330-BEB8-433D7E3B4C4E}" dt="2026-10-06T07:07:06.479" v="61" actId="1076"/>
        <pc:sldMkLst>
          <pc:docMk/>
          <pc:sldMk cId="0" sldId="282"/>
        </pc:sldMkLst>
        <pc:picChg chg="mod">
          <ac:chgData name="Riccardo Berta" userId="c8694f89-bba4-4576-b0a8-456619ca5a8c" providerId="ADAL" clId="{FDDBFC5A-5EA9-5330-BEB8-433D7E3B4C4E}" dt="2026-10-06T07:07:06.479" v="61" actId="1076"/>
          <ac:picMkLst>
            <pc:docMk/>
            <pc:sldMk cId="0" sldId="282"/>
            <ac:picMk id="16" creationId="{00000000-0000-0000-0000-000000000000}"/>
          </ac:picMkLst>
        </pc:picChg>
      </pc:sldChg>
      <pc:sldChg chg="modSp mod">
        <pc:chgData name="Riccardo Berta" userId="c8694f89-bba4-4576-b0a8-456619ca5a8c" providerId="ADAL" clId="{FDDBFC5A-5EA9-5330-BEB8-433D7E3B4C4E}" dt="2026-10-06T07:18:50.420" v="65" actId="14100"/>
        <pc:sldMkLst>
          <pc:docMk/>
          <pc:sldMk cId="0" sldId="283"/>
        </pc:sldMkLst>
        <pc:picChg chg="mod">
          <ac:chgData name="Riccardo Berta" userId="c8694f89-bba4-4576-b0a8-456619ca5a8c" providerId="ADAL" clId="{FDDBFC5A-5EA9-5330-BEB8-433D7E3B4C4E}" dt="2026-10-06T07:18:50.420" v="65" actId="14100"/>
          <ac:picMkLst>
            <pc:docMk/>
            <pc:sldMk cId="0" sldId="283"/>
            <ac:picMk id="24" creationId="{00000000-0000-0000-0000-000000000000}"/>
          </ac:picMkLst>
        </pc:picChg>
      </pc:sldChg>
      <pc:sldChg chg="modSp mod">
        <pc:chgData name="Riccardo Berta" userId="c8694f89-bba4-4576-b0a8-456619ca5a8c" providerId="ADAL" clId="{FDDBFC5A-5EA9-5330-BEB8-433D7E3B4C4E}" dt="2026-10-06T07:33:22.040" v="67" actId="14100"/>
        <pc:sldMkLst>
          <pc:docMk/>
          <pc:sldMk cId="0" sldId="287"/>
        </pc:sldMkLst>
        <pc:picChg chg="mod">
          <ac:chgData name="Riccardo Berta" userId="c8694f89-bba4-4576-b0a8-456619ca5a8c" providerId="ADAL" clId="{FDDBFC5A-5EA9-5330-BEB8-433D7E3B4C4E}" dt="2026-10-06T07:33:22.040" v="67" actId="14100"/>
          <ac:picMkLst>
            <pc:docMk/>
            <pc:sldMk cId="0" sldId="287"/>
            <ac:picMk id="9" creationId="{00000000-0000-0000-0000-000000000000}"/>
          </ac:picMkLst>
        </pc:picChg>
      </pc:sldChg>
      <pc:sldChg chg="modSp mod">
        <pc:chgData name="Riccardo Berta" userId="c8694f89-bba4-4576-b0a8-456619ca5a8c" providerId="ADAL" clId="{FDDBFC5A-5EA9-5330-BEB8-433D7E3B4C4E}" dt="2026-10-06T07:51:16.747" v="73" actId="1076"/>
        <pc:sldMkLst>
          <pc:docMk/>
          <pc:sldMk cId="0" sldId="292"/>
        </pc:sldMkLst>
        <pc:picChg chg="mod">
          <ac:chgData name="Riccardo Berta" userId="c8694f89-bba4-4576-b0a8-456619ca5a8c" providerId="ADAL" clId="{FDDBFC5A-5EA9-5330-BEB8-433D7E3B4C4E}" dt="2026-10-06T07:51:16.747" v="73" actId="1076"/>
          <ac:picMkLst>
            <pc:docMk/>
            <pc:sldMk cId="0" sldId="292"/>
            <ac:picMk id="9" creationId="{00000000-0000-0000-0000-000000000000}"/>
          </ac:picMkLst>
        </pc:picChg>
      </pc:sldChg>
      <pc:sldChg chg="modSp mod">
        <pc:chgData name="Riccardo Berta" userId="c8694f89-bba4-4576-b0a8-456619ca5a8c" providerId="ADAL" clId="{FDDBFC5A-5EA9-5330-BEB8-433D7E3B4C4E}" dt="2026-10-06T08:00:14.819" v="99" actId="20577"/>
        <pc:sldMkLst>
          <pc:docMk/>
          <pc:sldMk cId="0" sldId="293"/>
        </pc:sldMkLst>
        <pc:spChg chg="mod">
          <ac:chgData name="Riccardo Berta" userId="c8694f89-bba4-4576-b0a8-456619ca5a8c" providerId="ADAL" clId="{FDDBFC5A-5EA9-5330-BEB8-433D7E3B4C4E}" dt="2026-10-06T08:00:14.819" v="99" actId="20577"/>
          <ac:spMkLst>
            <pc:docMk/>
            <pc:sldMk cId="0" sldId="293"/>
            <ac:spMk id="6" creationId="{00000000-0000-0000-0000-000000000000}"/>
          </ac:spMkLst>
        </pc:spChg>
      </pc:sldChg>
      <pc:sldChg chg="modSp mod">
        <pc:chgData name="Riccardo Berta" userId="c8694f89-bba4-4576-b0a8-456619ca5a8c" providerId="ADAL" clId="{FDDBFC5A-5EA9-5330-BEB8-433D7E3B4C4E}" dt="2026-10-06T08:02:15.528" v="122" actId="20577"/>
        <pc:sldMkLst>
          <pc:docMk/>
          <pc:sldMk cId="0" sldId="294"/>
        </pc:sldMkLst>
        <pc:spChg chg="mod">
          <ac:chgData name="Riccardo Berta" userId="c8694f89-bba4-4576-b0a8-456619ca5a8c" providerId="ADAL" clId="{FDDBFC5A-5EA9-5330-BEB8-433D7E3B4C4E}" dt="2026-10-06T08:01:03.761" v="117" actId="113"/>
          <ac:spMkLst>
            <pc:docMk/>
            <pc:sldMk cId="0" sldId="294"/>
            <ac:spMk id="8" creationId="{00000000-0000-0000-0000-000000000000}"/>
          </ac:spMkLst>
        </pc:spChg>
        <pc:spChg chg="mod">
          <ac:chgData name="Riccardo Berta" userId="c8694f89-bba4-4576-b0a8-456619ca5a8c" providerId="ADAL" clId="{FDDBFC5A-5EA9-5330-BEB8-433D7E3B4C4E}" dt="2026-10-06T08:01:15.720" v="119" actId="20577"/>
          <ac:spMkLst>
            <pc:docMk/>
            <pc:sldMk cId="0" sldId="294"/>
            <ac:spMk id="10" creationId="{00000000-0000-0000-0000-000000000000}"/>
          </ac:spMkLst>
        </pc:spChg>
        <pc:spChg chg="mod">
          <ac:chgData name="Riccardo Berta" userId="c8694f89-bba4-4576-b0a8-456619ca5a8c" providerId="ADAL" clId="{FDDBFC5A-5EA9-5330-BEB8-433D7E3B4C4E}" dt="2026-10-06T08:02:15.528" v="122" actId="20577"/>
          <ac:spMkLst>
            <pc:docMk/>
            <pc:sldMk cId="0" sldId="294"/>
            <ac:spMk id="20" creationId="{00000000-0000-0000-0000-000000000000}"/>
          </ac:spMkLst>
        </pc:spChg>
        <pc:picChg chg="mod">
          <ac:chgData name="Riccardo Berta" userId="c8694f89-bba4-4576-b0a8-456619ca5a8c" providerId="ADAL" clId="{FDDBFC5A-5EA9-5330-BEB8-433D7E3B4C4E}" dt="2026-10-06T08:01:43.848" v="121" actId="14100"/>
          <ac:picMkLst>
            <pc:docMk/>
            <pc:sldMk cId="0" sldId="294"/>
            <ac:picMk id="12" creationId="{00000000-0000-0000-0000-000000000000}"/>
          </ac:picMkLst>
        </pc:picChg>
        <pc:picChg chg="mod">
          <ac:chgData name="Riccardo Berta" userId="c8694f89-bba4-4576-b0a8-456619ca5a8c" providerId="ADAL" clId="{FDDBFC5A-5EA9-5330-BEB8-433D7E3B4C4E}" dt="2026-10-06T08:01:41.050" v="120" actId="14100"/>
          <ac:picMkLst>
            <pc:docMk/>
            <pc:sldMk cId="0" sldId="294"/>
            <ac:picMk id="14" creationId="{00000000-0000-0000-0000-000000000000}"/>
          </ac:picMkLst>
        </pc:picChg>
      </pc:sldChg>
      <pc:sldChg chg="modSp mod">
        <pc:chgData name="Riccardo Berta" userId="c8694f89-bba4-4576-b0a8-456619ca5a8c" providerId="ADAL" clId="{FDDBFC5A-5EA9-5330-BEB8-433D7E3B4C4E}" dt="2026-10-06T08:02:53" v="125" actId="1076"/>
        <pc:sldMkLst>
          <pc:docMk/>
          <pc:sldMk cId="0" sldId="295"/>
        </pc:sldMkLst>
        <pc:picChg chg="mod">
          <ac:chgData name="Riccardo Berta" userId="c8694f89-bba4-4576-b0a8-456619ca5a8c" providerId="ADAL" clId="{FDDBFC5A-5EA9-5330-BEB8-433D7E3B4C4E}" dt="2026-10-06T08:02:53" v="125" actId="1076"/>
          <ac:picMkLst>
            <pc:docMk/>
            <pc:sldMk cId="0" sldId="295"/>
            <ac:picMk id="12" creationId="{00000000-0000-0000-0000-000000000000}"/>
          </ac:picMkLst>
        </pc:picChg>
      </pc:sldChg>
      <pc:sldChg chg="modSp mod">
        <pc:chgData name="Riccardo Berta" userId="c8694f89-bba4-4576-b0a8-456619ca5a8c" providerId="ADAL" clId="{FDDBFC5A-5EA9-5330-BEB8-433D7E3B4C4E}" dt="2026-10-06T07:53:51.585" v="74" actId="20577"/>
        <pc:sldMkLst>
          <pc:docMk/>
          <pc:sldMk cId="0" sldId="299"/>
        </pc:sldMkLst>
        <pc:spChg chg="mod">
          <ac:chgData name="Riccardo Berta" userId="c8694f89-bba4-4576-b0a8-456619ca5a8c" providerId="ADAL" clId="{FDDBFC5A-5EA9-5330-BEB8-433D7E3B4C4E}" dt="2026-10-06T07:53:51.585" v="74" actId="20577"/>
          <ac:spMkLst>
            <pc:docMk/>
            <pc:sldMk cId="0" sldId="299"/>
            <ac:spMk id="3" creationId="{00000000-0000-0000-0000-000000000000}"/>
          </ac:spMkLst>
        </pc:spChg>
      </pc:sldChg>
      <pc:sldChg chg="modSp mod">
        <pc:chgData name="Riccardo Berta" userId="c8694f89-bba4-4576-b0a8-456619ca5a8c" providerId="ADAL" clId="{FDDBFC5A-5EA9-5330-BEB8-433D7E3B4C4E}" dt="2026-10-06T07:59:55.613" v="97" actId="20577"/>
        <pc:sldMkLst>
          <pc:docMk/>
          <pc:sldMk cId="0" sldId="300"/>
        </pc:sldMkLst>
        <pc:spChg chg="mod">
          <ac:chgData name="Riccardo Berta" userId="c8694f89-bba4-4576-b0a8-456619ca5a8c" providerId="ADAL" clId="{FDDBFC5A-5EA9-5330-BEB8-433D7E3B4C4E}" dt="2026-10-06T07:59:30.716" v="96" actId="20577"/>
          <ac:spMkLst>
            <pc:docMk/>
            <pc:sldMk cId="0" sldId="300"/>
            <ac:spMk id="5" creationId="{00000000-0000-0000-0000-000000000000}"/>
          </ac:spMkLst>
        </pc:spChg>
        <pc:spChg chg="mod">
          <ac:chgData name="Riccardo Berta" userId="c8694f89-bba4-4576-b0a8-456619ca5a8c" providerId="ADAL" clId="{FDDBFC5A-5EA9-5330-BEB8-433D7E3B4C4E}" dt="2026-10-06T07:59:55.613" v="97" actId="20577"/>
          <ac:spMkLst>
            <pc:docMk/>
            <pc:sldMk cId="0" sldId="300"/>
            <ac:spMk id="8"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C66AF1DC-7F49-A24C-8A1B-166E2ED7903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a:extLst>
              <a:ext uri="{FF2B5EF4-FFF2-40B4-BE49-F238E27FC236}">
                <a16:creationId xmlns:a16="http://schemas.microsoft.com/office/drawing/2014/main" id="{8AA33C56-A2D5-4E4E-827E-71DE8DB5A9F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C9A2103-E3E1-6C47-9C03-3A4330A63ED2}" type="datetime1">
              <a:rPr lang="it-IT" smtClean="0"/>
              <a:t>20/10/26</a:t>
            </a:fld>
            <a:endParaRPr lang="it-IT"/>
          </a:p>
        </p:txBody>
      </p:sp>
      <p:sp>
        <p:nvSpPr>
          <p:cNvPr id="4" name="Segnaposto piè di pagina 3">
            <a:extLst>
              <a:ext uri="{FF2B5EF4-FFF2-40B4-BE49-F238E27FC236}">
                <a16:creationId xmlns:a16="http://schemas.microsoft.com/office/drawing/2014/main" id="{79AEF9E9-A1D0-864D-B9C9-A16B8798115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a:extLst>
              <a:ext uri="{FF2B5EF4-FFF2-40B4-BE49-F238E27FC236}">
                <a16:creationId xmlns:a16="http://schemas.microsoft.com/office/drawing/2014/main" id="{C8CA1F14-2160-8D4F-920A-A24F059F8B0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0801598-FC98-3F4F-AF67-3E41A8697326}" type="slidenum">
              <a:rPr lang="it-IT" smtClean="0"/>
              <a:t>‹N›</a:t>
            </a:fld>
            <a:endParaRPr lang="it-IT"/>
          </a:p>
        </p:txBody>
      </p:sp>
    </p:spTree>
    <p:extLst>
      <p:ext uri="{BB962C8B-B14F-4D97-AF65-F5344CB8AC3E}">
        <p14:creationId xmlns:p14="http://schemas.microsoft.com/office/powerpoint/2010/main" val="2328583051"/>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4812A7-C7D6-7542-9495-86D2A5F89521}" type="datetime1">
              <a:rPr lang="it-IT" smtClean="0"/>
              <a:t>20/10/26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lang="it-IT"/>
              <a:t>Fare clic per modificare gli stili del testo dello schema
Secondo livello
Terzo livello
Quarto livello
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B8D42F-EEB8-D844-BCC2-FD2609102831}" type="slidenum">
              <a:rPr lang="it-IT" smtClean="0"/>
              <a:t>‹N›</a:t>
            </a:fld>
            <a:endParaRPr lang="it-IT"/>
          </a:p>
        </p:txBody>
      </p:sp>
    </p:spTree>
    <p:extLst>
      <p:ext uri="{BB962C8B-B14F-4D97-AF65-F5344CB8AC3E}">
        <p14:creationId xmlns:p14="http://schemas.microsoft.com/office/powerpoint/2010/main" val="365054473"/>
      </p:ext>
    </p:extLst>
  </p:cSld>
  <p:clrMap bg1="lt1" tx1="dk1" bg2="lt2" tx2="dk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titolo">
    <p:bg>
      <p:bgPr>
        <a:solidFill>
          <a:srgbClr val="574676"/>
        </a:solidFill>
        <a:effectLst/>
      </p:bgPr>
    </p:bg>
    <p:spTree>
      <p:nvGrpSpPr>
        <p:cNvPr id="1" name=""/>
        <p:cNvGrpSpPr/>
        <p:nvPr/>
      </p:nvGrpSpPr>
      <p:grpSpPr>
        <a:xfrm>
          <a:off x="0" y="0"/>
          <a:ext cx="0" cy="0"/>
          <a:chOff x="0" y="0"/>
          <a:chExt cx="0" cy="0"/>
        </a:xfrm>
      </p:grpSpPr>
      <p:sp>
        <p:nvSpPr>
          <p:cNvPr id="3" name="Sottotitolo 2">
            <a:extLst>
              <a:ext uri="{FF2B5EF4-FFF2-40B4-BE49-F238E27FC236}">
                <a16:creationId xmlns:a16="http://schemas.microsoft.com/office/drawing/2014/main" id="{075F0702-5A13-1349-A296-951553656DE8}"/>
              </a:ext>
            </a:extLst>
          </p:cNvPr>
          <p:cNvSpPr>
            <a:spLocks noGrp="1"/>
          </p:cNvSpPr>
          <p:nvPr>
            <p:ph type="subTitle" idx="1" hasCustomPrompt="1"/>
          </p:nvPr>
        </p:nvSpPr>
        <p:spPr>
          <a:xfrm>
            <a:off x="858839" y="5244663"/>
            <a:ext cx="10434596" cy="916652"/>
          </a:xfrm>
        </p:spPr>
        <p:txBody>
          <a:bodyPr>
            <a:normAutofit/>
          </a:bodyPr>
          <a:lstStyle>
            <a:lvl1pPr marL="0" indent="0" algn="l">
              <a:buNone/>
              <a:defRPr sz="1600" b="0" i="0">
                <a:solidFill>
                  <a:schemeClr val="bg1"/>
                </a:solidFill>
                <a:latin typeface="Fira Sans Medium" panose="020B0503050000020004" pitchFamily="34" charset="0"/>
              </a:defRPr>
            </a:lvl1pPr>
            <a:lvl2pPr marL="342884" indent="0" algn="ctr">
              <a:buNone/>
              <a:defRPr sz="1500"/>
            </a:lvl2pPr>
            <a:lvl3pPr marL="685766" indent="0" algn="ctr">
              <a:buNone/>
              <a:defRPr sz="1350"/>
            </a:lvl3pPr>
            <a:lvl4pPr marL="1028649" indent="0" algn="ctr">
              <a:buNone/>
              <a:defRPr sz="1200"/>
            </a:lvl4pPr>
            <a:lvl5pPr marL="1371532" indent="0" algn="ctr">
              <a:buNone/>
              <a:defRPr sz="1200"/>
            </a:lvl5pPr>
            <a:lvl6pPr marL="1714415" indent="0" algn="ctr">
              <a:buNone/>
              <a:defRPr sz="1200"/>
            </a:lvl6pPr>
            <a:lvl7pPr marL="2057297" indent="0" algn="ctr">
              <a:buNone/>
              <a:defRPr sz="1200"/>
            </a:lvl7pPr>
            <a:lvl8pPr marL="2400180" indent="0" algn="ctr">
              <a:buNone/>
              <a:defRPr sz="1200"/>
            </a:lvl8pPr>
            <a:lvl9pPr marL="2743064" indent="0" algn="ctr">
              <a:buNone/>
              <a:defRPr sz="1200"/>
            </a:lvl9pPr>
          </a:lstStyle>
          <a:p>
            <a:r>
              <a:rPr lang="it-IT" dirty="0"/>
              <a:t>Fare clic per modificare l’autore delle slide</a:t>
            </a:r>
          </a:p>
        </p:txBody>
      </p:sp>
      <p:sp>
        <p:nvSpPr>
          <p:cNvPr id="7" name="Google Shape;10;p2">
            <a:extLst>
              <a:ext uri="{FF2B5EF4-FFF2-40B4-BE49-F238E27FC236}">
                <a16:creationId xmlns:a16="http://schemas.microsoft.com/office/drawing/2014/main" id="{BACD2019-637B-3D4C-A8D4-30C84AABC935}"/>
              </a:ext>
            </a:extLst>
          </p:cNvPr>
          <p:cNvSpPr txBox="1">
            <a:spLocks noGrp="1"/>
          </p:cNvSpPr>
          <p:nvPr>
            <p:ph type="ctrTitle" hasCustomPrompt="1"/>
          </p:nvPr>
        </p:nvSpPr>
        <p:spPr>
          <a:xfrm>
            <a:off x="858983" y="1613338"/>
            <a:ext cx="10434596" cy="2099606"/>
          </a:xfrm>
          <a:prstGeom prst="rect">
            <a:avLst/>
          </a:prstGeom>
        </p:spPr>
        <p:txBody>
          <a:bodyPr spcFirstLastPara="1" wrap="square" lIns="91425" tIns="91425" rIns="91425" bIns="91425" anchor="b" anchorCtr="0">
            <a:normAutofit/>
          </a:bodyPr>
          <a:lstStyle>
            <a:lvl1pPr lvl="0" algn="l">
              <a:lnSpc>
                <a:spcPct val="100000"/>
              </a:lnSpc>
              <a:spcBef>
                <a:spcPts val="0"/>
              </a:spcBef>
              <a:spcAft>
                <a:spcPts val="0"/>
              </a:spcAft>
              <a:buClr>
                <a:srgbClr val="FFFFFF"/>
              </a:buClr>
              <a:buSzPts val="5200"/>
              <a:buFont typeface="Roboto Slab"/>
              <a:buNone/>
              <a:defRPr sz="3200" b="1" i="0">
                <a:solidFill>
                  <a:schemeClr val="bg1"/>
                </a:solidFill>
                <a:latin typeface="Roboto Slab" pitchFamily="2" charset="0"/>
                <a:ea typeface="Roboto Slab" pitchFamily="2" charset="0"/>
                <a:cs typeface="Calibri Light" panose="020F0302020204030204" pitchFamily="34" charset="0"/>
                <a:sym typeface="Roboto Slab"/>
              </a:defRPr>
            </a:lvl1pPr>
            <a:lvl2pPr lvl="1" algn="ctr">
              <a:spcBef>
                <a:spcPts val="0"/>
              </a:spcBef>
              <a:spcAft>
                <a:spcPts val="0"/>
              </a:spcAft>
              <a:buSzPts val="5200"/>
              <a:buNone/>
              <a:defRPr sz="3900"/>
            </a:lvl2pPr>
            <a:lvl3pPr lvl="2" algn="ctr">
              <a:spcBef>
                <a:spcPts val="0"/>
              </a:spcBef>
              <a:spcAft>
                <a:spcPts val="0"/>
              </a:spcAft>
              <a:buSzPts val="5200"/>
              <a:buNone/>
              <a:defRPr sz="3900"/>
            </a:lvl3pPr>
            <a:lvl4pPr lvl="3" algn="ctr">
              <a:spcBef>
                <a:spcPts val="0"/>
              </a:spcBef>
              <a:spcAft>
                <a:spcPts val="0"/>
              </a:spcAft>
              <a:buSzPts val="5200"/>
              <a:buNone/>
              <a:defRPr sz="3900"/>
            </a:lvl4pPr>
            <a:lvl5pPr lvl="4" algn="ctr">
              <a:spcBef>
                <a:spcPts val="0"/>
              </a:spcBef>
              <a:spcAft>
                <a:spcPts val="0"/>
              </a:spcAft>
              <a:buSzPts val="5200"/>
              <a:buNone/>
              <a:defRPr sz="3900"/>
            </a:lvl5pPr>
            <a:lvl6pPr lvl="5" algn="ctr">
              <a:spcBef>
                <a:spcPts val="0"/>
              </a:spcBef>
              <a:spcAft>
                <a:spcPts val="0"/>
              </a:spcAft>
              <a:buSzPts val="5200"/>
              <a:buNone/>
              <a:defRPr sz="3900"/>
            </a:lvl6pPr>
            <a:lvl7pPr lvl="6" algn="ctr">
              <a:spcBef>
                <a:spcPts val="0"/>
              </a:spcBef>
              <a:spcAft>
                <a:spcPts val="0"/>
              </a:spcAft>
              <a:buSzPts val="5200"/>
              <a:buNone/>
              <a:defRPr sz="3900"/>
            </a:lvl7pPr>
            <a:lvl8pPr lvl="7" algn="ctr">
              <a:spcBef>
                <a:spcPts val="0"/>
              </a:spcBef>
              <a:spcAft>
                <a:spcPts val="0"/>
              </a:spcAft>
              <a:buSzPts val="5200"/>
              <a:buNone/>
              <a:defRPr sz="3900"/>
            </a:lvl8pPr>
            <a:lvl9pPr lvl="8" algn="ctr">
              <a:spcBef>
                <a:spcPts val="0"/>
              </a:spcBef>
              <a:spcAft>
                <a:spcPts val="0"/>
              </a:spcAft>
              <a:buSzPts val="5200"/>
              <a:buNone/>
              <a:defRPr sz="3900"/>
            </a:lvl9pPr>
          </a:lstStyle>
          <a:p>
            <a:r>
              <a:rPr lang="it-IT" dirty="0"/>
              <a:t>Fare clic per modificare il titolo delle slide</a:t>
            </a:r>
            <a:endParaRPr dirty="0"/>
          </a:p>
        </p:txBody>
      </p:sp>
      <p:sp>
        <p:nvSpPr>
          <p:cNvPr id="4" name="Content Placeholder 3">
            <a:extLst>
              <a:ext uri="{FF2B5EF4-FFF2-40B4-BE49-F238E27FC236}">
                <a16:creationId xmlns:a16="http://schemas.microsoft.com/office/drawing/2014/main" id="{510CC95D-4677-2D48-8044-4BC81EDFDD62}"/>
              </a:ext>
            </a:extLst>
          </p:cNvPr>
          <p:cNvSpPr>
            <a:spLocks noGrp="1"/>
          </p:cNvSpPr>
          <p:nvPr>
            <p:ph sz="quarter" idx="10" hasCustomPrompt="1"/>
          </p:nvPr>
        </p:nvSpPr>
        <p:spPr>
          <a:xfrm>
            <a:off x="858839" y="4091493"/>
            <a:ext cx="10434596" cy="749279"/>
          </a:xfrm>
        </p:spPr>
        <p:txBody>
          <a:bodyPr>
            <a:normAutofit/>
          </a:bodyPr>
          <a:lstStyle>
            <a:lvl1pPr marL="0" indent="0">
              <a:buNone/>
              <a:defRPr sz="2400" b="0">
                <a:solidFill>
                  <a:schemeClr val="bg1"/>
                </a:solidFill>
                <a:latin typeface="Roboto Slab" pitchFamily="2" charset="0"/>
                <a:ea typeface="Roboto Slab" pitchFamily="2" charset="0"/>
              </a:defRPr>
            </a:lvl1pPr>
          </a:lstStyle>
          <a:p>
            <a:pPr lvl="0"/>
            <a:r>
              <a:rPr lang="it-IT" dirty="0"/>
              <a:t>Fare clic per modificare il sottotitolo delle slide</a:t>
            </a:r>
          </a:p>
        </p:txBody>
      </p:sp>
      <p:pic>
        <p:nvPicPr>
          <p:cNvPr id="6" name="Immagine 15">
            <a:extLst>
              <a:ext uri="{FF2B5EF4-FFF2-40B4-BE49-F238E27FC236}">
                <a16:creationId xmlns:a16="http://schemas.microsoft.com/office/drawing/2014/main" id="{FCD93EB7-DA4C-43A4-867F-0F0E0F89B1A8}"/>
              </a:ext>
            </a:extLst>
          </p:cNvPr>
          <p:cNvPicPr>
            <a:picLocks noChangeAspect="1"/>
          </p:cNvPicPr>
          <p:nvPr userDrawn="1"/>
        </p:nvPicPr>
        <p:blipFill>
          <a:blip r:embed="rId2"/>
          <a:stretch>
            <a:fillRect/>
          </a:stretch>
        </p:blipFill>
        <p:spPr>
          <a:xfrm>
            <a:off x="859536" y="754796"/>
            <a:ext cx="3975273" cy="524080"/>
          </a:xfrm>
          <a:prstGeom prst="rect">
            <a:avLst/>
          </a:prstGeom>
        </p:spPr>
      </p:pic>
    </p:spTree>
    <p:extLst>
      <p:ext uri="{BB962C8B-B14F-4D97-AF65-F5344CB8AC3E}">
        <p14:creationId xmlns:p14="http://schemas.microsoft.com/office/powerpoint/2010/main" val="123377940"/>
      </p:ext>
    </p:extLst>
  </p:cSld>
  <p:clrMapOvr>
    <a:masterClrMapping/>
  </p:clrMapOvr>
  <p:extLst>
    <p:ext uri="{DCECCB84-F9BA-43D5-87BE-67443E8EF086}">
      <p15:sldGuideLst xmlns:p15="http://schemas.microsoft.com/office/powerpoint/2012/main">
        <p15:guide id="1" orient="horz" pos="459" userDrawn="1">
          <p15:clr>
            <a:srgbClr val="FBAE40"/>
          </p15:clr>
        </p15:guide>
        <p15:guide id="2" orient="horz" pos="22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estazione sezione">
    <p:bg>
      <p:bgPr>
        <a:solidFill>
          <a:srgbClr val="D9D9D9"/>
        </a:solidFill>
        <a:effectLst/>
      </p:bgPr>
    </p:bg>
    <p:spTree>
      <p:nvGrpSpPr>
        <p:cNvPr id="1" name=""/>
        <p:cNvGrpSpPr/>
        <p:nvPr/>
      </p:nvGrpSpPr>
      <p:grpSpPr>
        <a:xfrm>
          <a:off x="0" y="0"/>
          <a:ext cx="0" cy="0"/>
          <a:chOff x="0" y="0"/>
          <a:chExt cx="0" cy="0"/>
        </a:xfrm>
      </p:grpSpPr>
      <p:sp>
        <p:nvSpPr>
          <p:cNvPr id="6" name="Google Shape;10;p2">
            <a:extLst>
              <a:ext uri="{FF2B5EF4-FFF2-40B4-BE49-F238E27FC236}">
                <a16:creationId xmlns:a16="http://schemas.microsoft.com/office/drawing/2014/main" id="{15FBA683-86A3-41C9-8DB1-2E9A3E09E280}"/>
              </a:ext>
            </a:extLst>
          </p:cNvPr>
          <p:cNvSpPr txBox="1">
            <a:spLocks noGrp="1"/>
          </p:cNvSpPr>
          <p:nvPr>
            <p:ph type="ctrTitle" hasCustomPrompt="1"/>
          </p:nvPr>
        </p:nvSpPr>
        <p:spPr>
          <a:xfrm>
            <a:off x="858983" y="1650670"/>
            <a:ext cx="10434596" cy="4510644"/>
          </a:xfrm>
          <a:prstGeom prst="rect">
            <a:avLst/>
          </a:prstGeom>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5200"/>
              <a:buFont typeface="Roboto Slab"/>
              <a:buNone/>
              <a:defRPr sz="3200" b="1" i="0">
                <a:solidFill>
                  <a:schemeClr val="tx1"/>
                </a:solidFill>
                <a:latin typeface="Roboto Slab" pitchFamily="2" charset="0"/>
                <a:ea typeface="Roboto Slab" pitchFamily="2" charset="0"/>
                <a:cs typeface="Calibri Light" panose="020F0302020204030204" pitchFamily="34" charset="0"/>
                <a:sym typeface="Roboto Slab"/>
              </a:defRPr>
            </a:lvl1pPr>
            <a:lvl2pPr lvl="1" algn="ctr">
              <a:spcBef>
                <a:spcPts val="0"/>
              </a:spcBef>
              <a:spcAft>
                <a:spcPts val="0"/>
              </a:spcAft>
              <a:buSzPts val="5200"/>
              <a:buNone/>
              <a:defRPr sz="3900"/>
            </a:lvl2pPr>
            <a:lvl3pPr lvl="2" algn="ctr">
              <a:spcBef>
                <a:spcPts val="0"/>
              </a:spcBef>
              <a:spcAft>
                <a:spcPts val="0"/>
              </a:spcAft>
              <a:buSzPts val="5200"/>
              <a:buNone/>
              <a:defRPr sz="3900"/>
            </a:lvl3pPr>
            <a:lvl4pPr lvl="3" algn="ctr">
              <a:spcBef>
                <a:spcPts val="0"/>
              </a:spcBef>
              <a:spcAft>
                <a:spcPts val="0"/>
              </a:spcAft>
              <a:buSzPts val="5200"/>
              <a:buNone/>
              <a:defRPr sz="3900"/>
            </a:lvl4pPr>
            <a:lvl5pPr lvl="4" algn="ctr">
              <a:spcBef>
                <a:spcPts val="0"/>
              </a:spcBef>
              <a:spcAft>
                <a:spcPts val="0"/>
              </a:spcAft>
              <a:buSzPts val="5200"/>
              <a:buNone/>
              <a:defRPr sz="3900"/>
            </a:lvl5pPr>
            <a:lvl6pPr lvl="5" algn="ctr">
              <a:spcBef>
                <a:spcPts val="0"/>
              </a:spcBef>
              <a:spcAft>
                <a:spcPts val="0"/>
              </a:spcAft>
              <a:buSzPts val="5200"/>
              <a:buNone/>
              <a:defRPr sz="3900"/>
            </a:lvl6pPr>
            <a:lvl7pPr lvl="6" algn="ctr">
              <a:spcBef>
                <a:spcPts val="0"/>
              </a:spcBef>
              <a:spcAft>
                <a:spcPts val="0"/>
              </a:spcAft>
              <a:buSzPts val="5200"/>
              <a:buNone/>
              <a:defRPr sz="3900"/>
            </a:lvl7pPr>
            <a:lvl8pPr lvl="7" algn="ctr">
              <a:spcBef>
                <a:spcPts val="0"/>
              </a:spcBef>
              <a:spcAft>
                <a:spcPts val="0"/>
              </a:spcAft>
              <a:buSzPts val="5200"/>
              <a:buNone/>
              <a:defRPr sz="3900"/>
            </a:lvl8pPr>
            <a:lvl9pPr lvl="8" algn="ctr">
              <a:spcBef>
                <a:spcPts val="0"/>
              </a:spcBef>
              <a:spcAft>
                <a:spcPts val="0"/>
              </a:spcAft>
              <a:buSzPts val="5200"/>
              <a:buNone/>
              <a:defRPr sz="3900"/>
            </a:lvl9pPr>
          </a:lstStyle>
          <a:p>
            <a:r>
              <a:rPr lang="it-IT" dirty="0"/>
              <a:t>Fare clic per modificare il titolo delle slide</a:t>
            </a:r>
            <a:endParaRPr dirty="0"/>
          </a:p>
        </p:txBody>
      </p:sp>
      <p:pic>
        <p:nvPicPr>
          <p:cNvPr id="4" name="Immagine 16">
            <a:extLst>
              <a:ext uri="{FF2B5EF4-FFF2-40B4-BE49-F238E27FC236}">
                <a16:creationId xmlns:a16="http://schemas.microsoft.com/office/drawing/2014/main" id="{61F1857B-A475-499C-9FD1-C11356497F1A}"/>
              </a:ext>
            </a:extLst>
          </p:cNvPr>
          <p:cNvPicPr>
            <a:picLocks noChangeAspect="1"/>
          </p:cNvPicPr>
          <p:nvPr userDrawn="1"/>
        </p:nvPicPr>
        <p:blipFill>
          <a:blip r:embed="rId2"/>
          <a:stretch>
            <a:fillRect/>
          </a:stretch>
        </p:blipFill>
        <p:spPr>
          <a:xfrm>
            <a:off x="644128" y="739814"/>
            <a:ext cx="4050535" cy="534002"/>
          </a:xfrm>
          <a:prstGeom prst="rect">
            <a:avLst/>
          </a:prstGeom>
        </p:spPr>
      </p:pic>
    </p:spTree>
    <p:extLst>
      <p:ext uri="{BB962C8B-B14F-4D97-AF65-F5344CB8AC3E}">
        <p14:creationId xmlns:p14="http://schemas.microsoft.com/office/powerpoint/2010/main" val="760773657"/>
      </p:ext>
    </p:extLst>
  </p:cSld>
  <p:clrMapOvr>
    <a:masterClrMapping/>
  </p:clrMapOvr>
  <p:extLst>
    <p:ext uri="{DCECCB84-F9BA-43D5-87BE-67443E8EF086}">
      <p15:sldGuideLst xmlns:p15="http://schemas.microsoft.com/office/powerpoint/2012/main">
        <p15:guide id="1" orient="horz" pos="459"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estazione sezione + sottotitolo">
    <p:bg>
      <p:bgPr>
        <a:solidFill>
          <a:srgbClr val="D9D9D9"/>
        </a:solidFill>
        <a:effectLst/>
      </p:bgPr>
    </p:bg>
    <p:spTree>
      <p:nvGrpSpPr>
        <p:cNvPr id="1" name=""/>
        <p:cNvGrpSpPr/>
        <p:nvPr/>
      </p:nvGrpSpPr>
      <p:grpSpPr>
        <a:xfrm>
          <a:off x="0" y="0"/>
          <a:ext cx="0" cy="0"/>
          <a:chOff x="0" y="0"/>
          <a:chExt cx="0" cy="0"/>
        </a:xfrm>
      </p:grpSpPr>
      <p:sp>
        <p:nvSpPr>
          <p:cNvPr id="9" name="Content Placeholder 3">
            <a:extLst>
              <a:ext uri="{FF2B5EF4-FFF2-40B4-BE49-F238E27FC236}">
                <a16:creationId xmlns:a16="http://schemas.microsoft.com/office/drawing/2014/main" id="{DD39042D-E5F6-354C-AE48-85CA368F3EEB}"/>
              </a:ext>
            </a:extLst>
          </p:cNvPr>
          <p:cNvSpPr>
            <a:spLocks noGrp="1"/>
          </p:cNvSpPr>
          <p:nvPr>
            <p:ph sz="quarter" idx="10" hasCustomPrompt="1"/>
          </p:nvPr>
        </p:nvSpPr>
        <p:spPr>
          <a:xfrm>
            <a:off x="858840" y="4512248"/>
            <a:ext cx="10434453" cy="906143"/>
          </a:xfrm>
        </p:spPr>
        <p:txBody>
          <a:bodyPr anchor="ctr">
            <a:normAutofit/>
          </a:bodyPr>
          <a:lstStyle>
            <a:lvl1pPr marL="0" indent="0">
              <a:buNone/>
              <a:defRPr sz="2400" b="0">
                <a:solidFill>
                  <a:schemeClr val="tx1">
                    <a:lumMod val="85000"/>
                    <a:lumOff val="15000"/>
                  </a:schemeClr>
                </a:solidFill>
                <a:latin typeface="Roboto Slab" pitchFamily="2" charset="0"/>
                <a:ea typeface="Roboto Slab" pitchFamily="2" charset="0"/>
              </a:defRPr>
            </a:lvl1pPr>
          </a:lstStyle>
          <a:p>
            <a:pPr lvl="0"/>
            <a:r>
              <a:rPr lang="it-IT" dirty="0"/>
              <a:t>Fare clic per modificare il sottotitolo della sezione</a:t>
            </a:r>
          </a:p>
        </p:txBody>
      </p:sp>
      <p:sp>
        <p:nvSpPr>
          <p:cNvPr id="6" name="Google Shape;10;p2">
            <a:extLst>
              <a:ext uri="{FF2B5EF4-FFF2-40B4-BE49-F238E27FC236}">
                <a16:creationId xmlns:a16="http://schemas.microsoft.com/office/drawing/2014/main" id="{15FBA683-86A3-41C9-8DB1-2E9A3E09E280}"/>
              </a:ext>
            </a:extLst>
          </p:cNvPr>
          <p:cNvSpPr txBox="1">
            <a:spLocks noGrp="1"/>
          </p:cNvSpPr>
          <p:nvPr>
            <p:ph type="ctrTitle" hasCustomPrompt="1"/>
          </p:nvPr>
        </p:nvSpPr>
        <p:spPr>
          <a:xfrm>
            <a:off x="858983" y="1602829"/>
            <a:ext cx="10434596" cy="2422906"/>
          </a:xfrm>
          <a:prstGeom prst="rect">
            <a:avLst/>
          </a:prstGeom>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5200"/>
              <a:buFont typeface="Roboto Slab"/>
              <a:buNone/>
              <a:defRPr sz="3200" b="1" i="0">
                <a:solidFill>
                  <a:schemeClr val="tx1"/>
                </a:solidFill>
                <a:latin typeface="Roboto Slab" pitchFamily="2" charset="0"/>
                <a:ea typeface="Roboto Slab" pitchFamily="2" charset="0"/>
                <a:cs typeface="Calibri Light" panose="020F0302020204030204" pitchFamily="34" charset="0"/>
                <a:sym typeface="Roboto Slab"/>
              </a:defRPr>
            </a:lvl1pPr>
            <a:lvl2pPr lvl="1" algn="ctr">
              <a:spcBef>
                <a:spcPts val="0"/>
              </a:spcBef>
              <a:spcAft>
                <a:spcPts val="0"/>
              </a:spcAft>
              <a:buSzPts val="5200"/>
              <a:buNone/>
              <a:defRPr sz="3900"/>
            </a:lvl2pPr>
            <a:lvl3pPr lvl="2" algn="ctr">
              <a:spcBef>
                <a:spcPts val="0"/>
              </a:spcBef>
              <a:spcAft>
                <a:spcPts val="0"/>
              </a:spcAft>
              <a:buSzPts val="5200"/>
              <a:buNone/>
              <a:defRPr sz="3900"/>
            </a:lvl3pPr>
            <a:lvl4pPr lvl="3" algn="ctr">
              <a:spcBef>
                <a:spcPts val="0"/>
              </a:spcBef>
              <a:spcAft>
                <a:spcPts val="0"/>
              </a:spcAft>
              <a:buSzPts val="5200"/>
              <a:buNone/>
              <a:defRPr sz="3900"/>
            </a:lvl4pPr>
            <a:lvl5pPr lvl="4" algn="ctr">
              <a:spcBef>
                <a:spcPts val="0"/>
              </a:spcBef>
              <a:spcAft>
                <a:spcPts val="0"/>
              </a:spcAft>
              <a:buSzPts val="5200"/>
              <a:buNone/>
              <a:defRPr sz="3900"/>
            </a:lvl5pPr>
            <a:lvl6pPr lvl="5" algn="ctr">
              <a:spcBef>
                <a:spcPts val="0"/>
              </a:spcBef>
              <a:spcAft>
                <a:spcPts val="0"/>
              </a:spcAft>
              <a:buSzPts val="5200"/>
              <a:buNone/>
              <a:defRPr sz="3900"/>
            </a:lvl6pPr>
            <a:lvl7pPr lvl="6" algn="ctr">
              <a:spcBef>
                <a:spcPts val="0"/>
              </a:spcBef>
              <a:spcAft>
                <a:spcPts val="0"/>
              </a:spcAft>
              <a:buSzPts val="5200"/>
              <a:buNone/>
              <a:defRPr sz="3900"/>
            </a:lvl7pPr>
            <a:lvl8pPr lvl="7" algn="ctr">
              <a:spcBef>
                <a:spcPts val="0"/>
              </a:spcBef>
              <a:spcAft>
                <a:spcPts val="0"/>
              </a:spcAft>
              <a:buSzPts val="5200"/>
              <a:buNone/>
              <a:defRPr sz="3900"/>
            </a:lvl8pPr>
            <a:lvl9pPr lvl="8" algn="ctr">
              <a:spcBef>
                <a:spcPts val="0"/>
              </a:spcBef>
              <a:spcAft>
                <a:spcPts val="0"/>
              </a:spcAft>
              <a:buSzPts val="5200"/>
              <a:buNone/>
              <a:defRPr sz="3900"/>
            </a:lvl9pPr>
          </a:lstStyle>
          <a:p>
            <a:r>
              <a:rPr lang="it-IT" dirty="0"/>
              <a:t>Fare clic per modificare il titolo delle slide</a:t>
            </a:r>
            <a:endParaRPr dirty="0"/>
          </a:p>
        </p:txBody>
      </p:sp>
      <p:pic>
        <p:nvPicPr>
          <p:cNvPr id="5" name="Immagine 16">
            <a:extLst>
              <a:ext uri="{FF2B5EF4-FFF2-40B4-BE49-F238E27FC236}">
                <a16:creationId xmlns:a16="http://schemas.microsoft.com/office/drawing/2014/main" id="{7F0F2A94-25FB-444E-B3D1-70F29C0D4BE6}"/>
              </a:ext>
            </a:extLst>
          </p:cNvPr>
          <p:cNvPicPr>
            <a:picLocks noChangeAspect="1"/>
          </p:cNvPicPr>
          <p:nvPr userDrawn="1"/>
        </p:nvPicPr>
        <p:blipFill>
          <a:blip r:embed="rId2"/>
          <a:stretch>
            <a:fillRect/>
          </a:stretch>
        </p:blipFill>
        <p:spPr>
          <a:xfrm>
            <a:off x="644128" y="739814"/>
            <a:ext cx="4050535" cy="534002"/>
          </a:xfrm>
          <a:prstGeom prst="rect">
            <a:avLst/>
          </a:prstGeom>
        </p:spPr>
      </p:pic>
    </p:spTree>
    <p:extLst>
      <p:ext uri="{BB962C8B-B14F-4D97-AF65-F5344CB8AC3E}">
        <p14:creationId xmlns:p14="http://schemas.microsoft.com/office/powerpoint/2010/main" val="3936225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olo, sottotitolo e testo">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83A57FB5-7025-8A46-A2C8-9AC199CBFA66}"/>
              </a:ext>
            </a:extLst>
          </p:cNvPr>
          <p:cNvSpPr>
            <a:spLocks noGrp="1"/>
          </p:cNvSpPr>
          <p:nvPr>
            <p:ph idx="1"/>
          </p:nvPr>
        </p:nvSpPr>
        <p:spPr>
          <a:xfrm>
            <a:off x="838200" y="2511382"/>
            <a:ext cx="10515600" cy="3057565"/>
          </a:xfrm>
        </p:spPr>
        <p:txBody>
          <a:bodyPr anchor="ctr"/>
          <a:lstStyle>
            <a:lvl1pPr marL="0" indent="0">
              <a:lnSpc>
                <a:spcPct val="150000"/>
              </a:lnSpc>
              <a:buClr>
                <a:schemeClr val="tx1">
                  <a:lumMod val="85000"/>
                  <a:lumOff val="15000"/>
                </a:schemeClr>
              </a:buClr>
              <a:buFont typeface="Fira Sans" panose="020B0503050000020004" pitchFamily="34" charset="0"/>
              <a:buNone/>
              <a:defRPr sz="2000" b="0" i="0">
                <a:latin typeface="Fira Sans Medium" panose="020B0503050000020004" pitchFamily="34" charset="0"/>
              </a:defRPr>
            </a:lvl1pPr>
            <a:lvl2pPr marL="514325"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600"/>
            </a:lvl2pPr>
            <a:lvl3pPr marL="814348"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400"/>
            </a:lvl3pPr>
            <a:lvl4pPr>
              <a:defRPr sz="1200" b="0" i="0">
                <a:latin typeface="Fira Sans" panose="020B0503050000020004" pitchFamily="34" charset="0"/>
              </a:defRPr>
            </a:lvl4pPr>
          </a:lstStyle>
          <a:p>
            <a:pPr lvl="0"/>
            <a:r>
              <a:rPr lang="en-US"/>
              <a:t>Click to edit Master text styles</a:t>
            </a:r>
          </a:p>
        </p:txBody>
      </p:sp>
      <p:sp>
        <p:nvSpPr>
          <p:cNvPr id="8" name="Text Placeholder 7">
            <a:extLst>
              <a:ext uri="{FF2B5EF4-FFF2-40B4-BE49-F238E27FC236}">
                <a16:creationId xmlns:a16="http://schemas.microsoft.com/office/drawing/2014/main" id="{A765F876-3350-441E-BD36-BE705EBA2058}"/>
              </a:ext>
            </a:extLst>
          </p:cNvPr>
          <p:cNvSpPr>
            <a:spLocks noGrp="1"/>
          </p:cNvSpPr>
          <p:nvPr>
            <p:ph type="body" sz="quarter" idx="13" hasCustomPrompt="1"/>
          </p:nvPr>
        </p:nvSpPr>
        <p:spPr>
          <a:xfrm>
            <a:off x="838200" y="1551582"/>
            <a:ext cx="10515600" cy="762000"/>
          </a:xfrm>
        </p:spPr>
        <p:txBody>
          <a:bodyPr>
            <a:normAutofit/>
          </a:bodyPr>
          <a:lstStyle>
            <a:lvl1pPr marL="0" indent="0">
              <a:buNone/>
              <a:defRPr sz="2400" b="1">
                <a:solidFill>
                  <a:srgbClr val="574676"/>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11" name="Segnaposto titolo 1">
            <a:extLst>
              <a:ext uri="{FF2B5EF4-FFF2-40B4-BE49-F238E27FC236}">
                <a16:creationId xmlns:a16="http://schemas.microsoft.com/office/drawing/2014/main" id="{04C02021-F048-EF46-A427-824414E03CAC}"/>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sp>
        <p:nvSpPr>
          <p:cNvPr id="5" name="Segnaposto numero diapositiva 4">
            <a:extLst>
              <a:ext uri="{FF2B5EF4-FFF2-40B4-BE49-F238E27FC236}">
                <a16:creationId xmlns:a16="http://schemas.microsoft.com/office/drawing/2014/main" id="{0C11EF75-678E-9E47-B9E3-622B2E130D2E}"/>
              </a:ext>
            </a:extLst>
          </p:cNvPr>
          <p:cNvSpPr>
            <a:spLocks noGrp="1"/>
          </p:cNvSpPr>
          <p:nvPr>
            <p:ph type="sldNum" sz="quarter" idx="16"/>
          </p:nvPr>
        </p:nvSpPr>
        <p:spPr/>
        <p:txBody>
          <a:bodyPr/>
          <a:lstStyle/>
          <a:p>
            <a:fld id="{FEC4A954-C260-E84D-8B85-4D54550A05DF}" type="slidenum">
              <a:rPr lang="it-IT" smtClean="0"/>
              <a:pPr/>
              <a:t>‹N›</a:t>
            </a:fld>
            <a:endParaRPr lang="it-IT"/>
          </a:p>
        </p:txBody>
      </p:sp>
      <p:sp>
        <p:nvSpPr>
          <p:cNvPr id="4" name="Segnaposto testo 3">
            <a:extLst>
              <a:ext uri="{FF2B5EF4-FFF2-40B4-BE49-F238E27FC236}">
                <a16:creationId xmlns:a16="http://schemas.microsoft.com/office/drawing/2014/main" id="{E8A205F8-F97E-E14B-B440-BBC8D0D15D5C}"/>
              </a:ext>
            </a:extLst>
          </p:cNvPr>
          <p:cNvSpPr>
            <a:spLocks noGrp="1"/>
          </p:cNvSpPr>
          <p:nvPr>
            <p:ph type="body" sz="quarter" idx="17" hasCustomPrompt="1"/>
          </p:nvPr>
        </p:nvSpPr>
        <p:spPr>
          <a:xfrm>
            <a:off x="838200" y="5748339"/>
            <a:ext cx="10515600" cy="428625"/>
          </a:xfrm>
        </p:spPr>
        <p:txBody>
          <a:bodyPr>
            <a:noAutofit/>
          </a:bodyPr>
          <a:lstStyle>
            <a:lvl1pPr marL="0" indent="0">
              <a:buNone/>
              <a:defRPr sz="1050" b="0" i="1">
                <a:latin typeface="Fira Sans Medium" panose="020B0503050000020004" pitchFamily="34" charset="0"/>
              </a:defRPr>
            </a:lvl1pPr>
          </a:lstStyle>
          <a:p>
            <a:r>
              <a:rPr lang="it-IT" dirty="0"/>
              <a:t>Fare clic per inserire note</a:t>
            </a:r>
          </a:p>
        </p:txBody>
      </p:sp>
      <p:pic>
        <p:nvPicPr>
          <p:cNvPr id="10" name="Immagine 8">
            <a:extLst>
              <a:ext uri="{FF2B5EF4-FFF2-40B4-BE49-F238E27FC236}">
                <a16:creationId xmlns:a16="http://schemas.microsoft.com/office/drawing/2014/main" id="{50BE5A66-3047-413E-BA14-3135DDA75C76}"/>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603779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olo e testo">
    <p:spTree>
      <p:nvGrpSpPr>
        <p:cNvPr id="1" name=""/>
        <p:cNvGrpSpPr/>
        <p:nvPr/>
      </p:nvGrpSpPr>
      <p:grpSpPr>
        <a:xfrm>
          <a:off x="0" y="0"/>
          <a:ext cx="0" cy="0"/>
          <a:chOff x="0" y="0"/>
          <a:chExt cx="0" cy="0"/>
        </a:xfrm>
      </p:grpSpPr>
      <p:sp>
        <p:nvSpPr>
          <p:cNvPr id="15" name="Segnaposto titolo 1">
            <a:extLst>
              <a:ext uri="{FF2B5EF4-FFF2-40B4-BE49-F238E27FC236}">
                <a16:creationId xmlns:a16="http://schemas.microsoft.com/office/drawing/2014/main" id="{4A68EDD3-8B24-5E4A-A507-BC4297B68394}"/>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sp>
        <p:nvSpPr>
          <p:cNvPr id="4" name="Segnaposto numero diapositiva 3">
            <a:extLst>
              <a:ext uri="{FF2B5EF4-FFF2-40B4-BE49-F238E27FC236}">
                <a16:creationId xmlns:a16="http://schemas.microsoft.com/office/drawing/2014/main" id="{97747EE5-0480-854D-A548-B2B40F2E638A}"/>
              </a:ext>
            </a:extLst>
          </p:cNvPr>
          <p:cNvSpPr>
            <a:spLocks noGrp="1"/>
          </p:cNvSpPr>
          <p:nvPr>
            <p:ph type="sldNum" sz="quarter" idx="11"/>
          </p:nvPr>
        </p:nvSpPr>
        <p:spPr/>
        <p:txBody>
          <a:bodyPr/>
          <a:lstStyle/>
          <a:p>
            <a:fld id="{FEC4A954-C260-E84D-8B85-4D54550A05DF}" type="slidenum">
              <a:rPr lang="it-IT" smtClean="0"/>
              <a:pPr/>
              <a:t>‹N›</a:t>
            </a:fld>
            <a:endParaRPr lang="it-IT"/>
          </a:p>
        </p:txBody>
      </p:sp>
      <p:sp>
        <p:nvSpPr>
          <p:cNvPr id="10" name="Segnaposto contenuto 2">
            <a:extLst>
              <a:ext uri="{FF2B5EF4-FFF2-40B4-BE49-F238E27FC236}">
                <a16:creationId xmlns:a16="http://schemas.microsoft.com/office/drawing/2014/main" id="{1AB9F965-5489-F944-AC9B-8A7ABDD5E406}"/>
              </a:ext>
            </a:extLst>
          </p:cNvPr>
          <p:cNvSpPr>
            <a:spLocks noGrp="1"/>
          </p:cNvSpPr>
          <p:nvPr>
            <p:ph idx="12"/>
          </p:nvPr>
        </p:nvSpPr>
        <p:spPr>
          <a:xfrm>
            <a:off x="838200" y="1531917"/>
            <a:ext cx="10515600" cy="4037029"/>
          </a:xfrm>
        </p:spPr>
        <p:txBody>
          <a:bodyPr anchor="ctr"/>
          <a:lstStyle>
            <a:lvl1pPr marL="0" indent="0">
              <a:lnSpc>
                <a:spcPct val="150000"/>
              </a:lnSpc>
              <a:buClr>
                <a:schemeClr val="tx1">
                  <a:lumMod val="85000"/>
                  <a:lumOff val="15000"/>
                </a:schemeClr>
              </a:buClr>
              <a:buFont typeface="Fira Sans" panose="020B0503050000020004" pitchFamily="34" charset="0"/>
              <a:buNone/>
              <a:defRPr sz="2000" b="0" i="0">
                <a:latin typeface="Fira Sans Medium" panose="020B0503050000020004" pitchFamily="34" charset="0"/>
              </a:defRPr>
            </a:lvl1pPr>
            <a:lvl2pPr marL="514325"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600"/>
            </a:lvl2pPr>
            <a:lvl3pPr marL="814348"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400"/>
            </a:lvl3pPr>
            <a:lvl4pPr>
              <a:defRPr sz="1200" b="0" i="0">
                <a:latin typeface="Fira Sans" panose="020B0503050000020004" pitchFamily="34" charset="0"/>
              </a:defRPr>
            </a:lvl4pPr>
          </a:lstStyle>
          <a:p>
            <a:pPr lvl="0"/>
            <a:r>
              <a:rPr lang="en-US"/>
              <a:t>Click to edit Master text styles</a:t>
            </a:r>
          </a:p>
        </p:txBody>
      </p:sp>
      <p:sp>
        <p:nvSpPr>
          <p:cNvPr id="11" name="Segnaposto testo 3">
            <a:extLst>
              <a:ext uri="{FF2B5EF4-FFF2-40B4-BE49-F238E27FC236}">
                <a16:creationId xmlns:a16="http://schemas.microsoft.com/office/drawing/2014/main" id="{57B3B9C0-6AEB-E343-9620-C69E8840A95D}"/>
              </a:ext>
            </a:extLst>
          </p:cNvPr>
          <p:cNvSpPr>
            <a:spLocks noGrp="1"/>
          </p:cNvSpPr>
          <p:nvPr>
            <p:ph type="body" sz="quarter" idx="17" hasCustomPrompt="1"/>
          </p:nvPr>
        </p:nvSpPr>
        <p:spPr>
          <a:xfrm>
            <a:off x="838200" y="5747075"/>
            <a:ext cx="10515600" cy="429888"/>
          </a:xfrm>
        </p:spPr>
        <p:txBody>
          <a:bodyPr>
            <a:noAutofit/>
          </a:bodyPr>
          <a:lstStyle>
            <a:lvl1pPr marL="0" indent="0">
              <a:buNone/>
              <a:defRPr sz="1050" b="0" i="1">
                <a:latin typeface="Fira Sans Medium" panose="020B0503050000020004" pitchFamily="34" charset="0"/>
              </a:defRPr>
            </a:lvl1pPr>
          </a:lstStyle>
          <a:p>
            <a:r>
              <a:rPr lang="it-IT" dirty="0"/>
              <a:t>Fare clic per inserire note</a:t>
            </a:r>
          </a:p>
        </p:txBody>
      </p:sp>
      <p:pic>
        <p:nvPicPr>
          <p:cNvPr id="9" name="Immagine 8">
            <a:extLst>
              <a:ext uri="{FF2B5EF4-FFF2-40B4-BE49-F238E27FC236}">
                <a16:creationId xmlns:a16="http://schemas.microsoft.com/office/drawing/2014/main" id="{4F3023F1-1844-4375-B72E-DDB714D5CCA0}"/>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318560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olo e immagine">
    <p:spTree>
      <p:nvGrpSpPr>
        <p:cNvPr id="1" name=""/>
        <p:cNvGrpSpPr/>
        <p:nvPr/>
      </p:nvGrpSpPr>
      <p:grpSpPr>
        <a:xfrm>
          <a:off x="0" y="0"/>
          <a:ext cx="0" cy="0"/>
          <a:chOff x="0" y="0"/>
          <a:chExt cx="0" cy="0"/>
        </a:xfrm>
      </p:grpSpPr>
      <p:sp>
        <p:nvSpPr>
          <p:cNvPr id="11" name="Segnaposto immagine 2">
            <a:extLst>
              <a:ext uri="{FF2B5EF4-FFF2-40B4-BE49-F238E27FC236}">
                <a16:creationId xmlns:a16="http://schemas.microsoft.com/office/drawing/2014/main" id="{D4F9B8F1-23BB-DE44-B117-C81D61DBD6A5}"/>
              </a:ext>
            </a:extLst>
          </p:cNvPr>
          <p:cNvSpPr>
            <a:spLocks noGrp="1"/>
          </p:cNvSpPr>
          <p:nvPr>
            <p:ph type="pic" sz="quarter" idx="10"/>
          </p:nvPr>
        </p:nvSpPr>
        <p:spPr>
          <a:xfrm>
            <a:off x="0" y="1543054"/>
            <a:ext cx="12192000" cy="4024630"/>
          </a:xfrm>
        </p:spPr>
        <p:txBody>
          <a:bodyPr anchor="ctr"/>
          <a:lstStyle>
            <a:lvl1pPr marL="0" marR="0" indent="0" algn="ctr" defTabSz="685766" rtl="0" eaLnBrk="1" fontAlgn="auto" latinLnBrk="0" hangingPunct="1">
              <a:lnSpc>
                <a:spcPct val="90000"/>
              </a:lnSpc>
              <a:spcBef>
                <a:spcPts val="750"/>
              </a:spcBef>
              <a:spcAft>
                <a:spcPts val="0"/>
              </a:spcAft>
              <a:buClrTx/>
              <a:buSzTx/>
              <a:buFont typeface="Fira Sans" panose="020B0503050000020004" pitchFamily="34" charset="0"/>
              <a:buNone/>
              <a:tabLst/>
              <a:defRPr b="0" i="1">
                <a:latin typeface="Fira Sans" panose="020B0503050000020004" pitchFamily="34" charset="0"/>
              </a:defRPr>
            </a:lvl1pPr>
          </a:lstStyle>
          <a:p>
            <a:pPr marL="0" marR="0" lvl="0" indent="0" algn="l" defTabSz="685766" rtl="0" eaLnBrk="1" fontAlgn="auto" latinLnBrk="0" hangingPunct="1">
              <a:lnSpc>
                <a:spcPct val="90000"/>
              </a:lnSpc>
              <a:spcBef>
                <a:spcPts val="750"/>
              </a:spcBef>
              <a:spcAft>
                <a:spcPts val="0"/>
              </a:spcAft>
              <a:buClrTx/>
              <a:buSzTx/>
              <a:buFont typeface="Fira Sans" panose="020B0503050000020004" pitchFamily="34" charset="0"/>
              <a:buNone/>
              <a:tabLst/>
              <a:defRPr/>
            </a:pPr>
            <a:r>
              <a:rPr lang="en-US"/>
              <a:t>Click icon to add picture</a:t>
            </a:r>
            <a:endParaRPr lang="it-IT" dirty="0"/>
          </a:p>
        </p:txBody>
      </p:sp>
      <p:sp>
        <p:nvSpPr>
          <p:cNvPr id="3" name="Segnaposto numero diapositiva 2">
            <a:extLst>
              <a:ext uri="{FF2B5EF4-FFF2-40B4-BE49-F238E27FC236}">
                <a16:creationId xmlns:a16="http://schemas.microsoft.com/office/drawing/2014/main" id="{2A5C4FFC-D4BE-BB4F-92DA-D862EC4EB343}"/>
              </a:ext>
            </a:extLst>
          </p:cNvPr>
          <p:cNvSpPr>
            <a:spLocks noGrp="1"/>
          </p:cNvSpPr>
          <p:nvPr>
            <p:ph type="sldNum" sz="quarter" idx="12"/>
          </p:nvPr>
        </p:nvSpPr>
        <p:spPr/>
        <p:txBody>
          <a:bodyPr/>
          <a:lstStyle/>
          <a:p>
            <a:fld id="{FEC4A954-C260-E84D-8B85-4D54550A05DF}" type="slidenum">
              <a:rPr lang="it-IT" smtClean="0"/>
              <a:pPr/>
              <a:t>‹N›</a:t>
            </a:fld>
            <a:endParaRPr lang="it-IT"/>
          </a:p>
        </p:txBody>
      </p:sp>
      <p:sp>
        <p:nvSpPr>
          <p:cNvPr id="8" name="Segnaposto testo 3">
            <a:extLst>
              <a:ext uri="{FF2B5EF4-FFF2-40B4-BE49-F238E27FC236}">
                <a16:creationId xmlns:a16="http://schemas.microsoft.com/office/drawing/2014/main" id="{897D9E1E-9C0A-0D41-B11A-9921E9353E70}"/>
              </a:ext>
            </a:extLst>
          </p:cNvPr>
          <p:cNvSpPr>
            <a:spLocks noGrp="1"/>
          </p:cNvSpPr>
          <p:nvPr>
            <p:ph type="body" sz="quarter" idx="17" hasCustomPrompt="1"/>
          </p:nvPr>
        </p:nvSpPr>
        <p:spPr>
          <a:xfrm>
            <a:off x="838200" y="5747075"/>
            <a:ext cx="10515600" cy="429888"/>
          </a:xfrm>
        </p:spPr>
        <p:txBody>
          <a:bodyPr lIns="0">
            <a:noAutofit/>
          </a:bodyPr>
          <a:lstStyle>
            <a:lvl1pPr marL="0" indent="0">
              <a:buNone/>
              <a:defRPr sz="1050" b="0" i="1">
                <a:latin typeface="Fira Sans Medium" panose="020B0503050000020004" pitchFamily="34" charset="0"/>
              </a:defRPr>
            </a:lvl1pPr>
          </a:lstStyle>
          <a:p>
            <a:r>
              <a:rPr lang="it-IT" dirty="0"/>
              <a:t>Fare clic per inserire note</a:t>
            </a:r>
          </a:p>
        </p:txBody>
      </p:sp>
      <p:sp>
        <p:nvSpPr>
          <p:cNvPr id="10" name="Segnaposto titolo 1">
            <a:extLst>
              <a:ext uri="{FF2B5EF4-FFF2-40B4-BE49-F238E27FC236}">
                <a16:creationId xmlns:a16="http://schemas.microsoft.com/office/drawing/2014/main" id="{E6275BA2-C88F-D442-BB44-16AD120A3F65}"/>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7" name="Immagine 8">
            <a:extLst>
              <a:ext uri="{FF2B5EF4-FFF2-40B4-BE49-F238E27FC236}">
                <a16:creationId xmlns:a16="http://schemas.microsoft.com/office/drawing/2014/main" id="{19A73C7C-F021-46C2-A59B-8FF7976F4BB3}"/>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106832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olo titolo">
    <p:spTree>
      <p:nvGrpSpPr>
        <p:cNvPr id="1" name=""/>
        <p:cNvGrpSpPr/>
        <p:nvPr/>
      </p:nvGrpSpPr>
      <p:grpSpPr>
        <a:xfrm>
          <a:off x="0" y="0"/>
          <a:ext cx="0" cy="0"/>
          <a:chOff x="0" y="0"/>
          <a:chExt cx="0" cy="0"/>
        </a:xfrm>
      </p:grpSpPr>
      <p:sp>
        <p:nvSpPr>
          <p:cNvPr id="3" name="Segnaposto numero diapositiva 2">
            <a:extLst>
              <a:ext uri="{FF2B5EF4-FFF2-40B4-BE49-F238E27FC236}">
                <a16:creationId xmlns:a16="http://schemas.microsoft.com/office/drawing/2014/main" id="{9D72F9B8-ABA2-4C42-A181-607DBB3A26ED}"/>
              </a:ext>
            </a:extLst>
          </p:cNvPr>
          <p:cNvSpPr>
            <a:spLocks noGrp="1"/>
          </p:cNvSpPr>
          <p:nvPr>
            <p:ph type="sldNum" sz="quarter" idx="11"/>
          </p:nvPr>
        </p:nvSpPr>
        <p:spPr/>
        <p:txBody>
          <a:bodyPr/>
          <a:lstStyle/>
          <a:p>
            <a:fld id="{FEC4A954-C260-E84D-8B85-4D54550A05DF}" type="slidenum">
              <a:rPr lang="it-IT" smtClean="0"/>
              <a:pPr/>
              <a:t>‹N›</a:t>
            </a:fld>
            <a:endParaRPr lang="it-IT"/>
          </a:p>
        </p:txBody>
      </p:sp>
      <p:sp>
        <p:nvSpPr>
          <p:cNvPr id="8" name="Text Placeholder 7">
            <a:extLst>
              <a:ext uri="{FF2B5EF4-FFF2-40B4-BE49-F238E27FC236}">
                <a16:creationId xmlns:a16="http://schemas.microsoft.com/office/drawing/2014/main" id="{D2BB8059-381A-704A-886C-F6DD9F44F1BC}"/>
              </a:ext>
            </a:extLst>
          </p:cNvPr>
          <p:cNvSpPr>
            <a:spLocks noGrp="1"/>
          </p:cNvSpPr>
          <p:nvPr>
            <p:ph type="body" sz="quarter" idx="13" hasCustomPrompt="1"/>
          </p:nvPr>
        </p:nvSpPr>
        <p:spPr>
          <a:xfrm>
            <a:off x="838200" y="1551582"/>
            <a:ext cx="10515600" cy="762000"/>
          </a:xfrm>
        </p:spPr>
        <p:txBody>
          <a:bodyPr>
            <a:normAutofit/>
          </a:bodyPr>
          <a:lstStyle>
            <a:lvl1pPr marL="0" indent="0">
              <a:buNone/>
              <a:defRPr sz="2400" b="1">
                <a:solidFill>
                  <a:srgbClr val="574676"/>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10" name="Segnaposto testo 3">
            <a:extLst>
              <a:ext uri="{FF2B5EF4-FFF2-40B4-BE49-F238E27FC236}">
                <a16:creationId xmlns:a16="http://schemas.microsoft.com/office/drawing/2014/main" id="{C08E708D-0E00-AB46-8AF7-AAC94AA38AB2}"/>
              </a:ext>
            </a:extLst>
          </p:cNvPr>
          <p:cNvSpPr>
            <a:spLocks noGrp="1"/>
          </p:cNvSpPr>
          <p:nvPr>
            <p:ph type="body" sz="quarter" idx="17" hasCustomPrompt="1"/>
          </p:nvPr>
        </p:nvSpPr>
        <p:spPr>
          <a:xfrm>
            <a:off x="838200" y="5747075"/>
            <a:ext cx="10515600" cy="429888"/>
          </a:xfrm>
        </p:spPr>
        <p:txBody>
          <a:bodyPr>
            <a:noAutofit/>
          </a:bodyPr>
          <a:lstStyle>
            <a:lvl1pPr marL="0" indent="0">
              <a:buNone/>
              <a:defRPr sz="1050" b="0" i="1">
                <a:latin typeface="Fira Sans Medium" panose="020B0503050000020004" pitchFamily="34" charset="0"/>
              </a:defRPr>
            </a:lvl1pPr>
          </a:lstStyle>
          <a:p>
            <a:r>
              <a:rPr lang="it-IT" dirty="0"/>
              <a:t>Fare clic per inserire note</a:t>
            </a:r>
          </a:p>
        </p:txBody>
      </p:sp>
      <p:sp>
        <p:nvSpPr>
          <p:cNvPr id="11" name="Segnaposto titolo 1">
            <a:extLst>
              <a:ext uri="{FF2B5EF4-FFF2-40B4-BE49-F238E27FC236}">
                <a16:creationId xmlns:a16="http://schemas.microsoft.com/office/drawing/2014/main" id="{80C56B0F-86D4-8640-B1D0-FEBA0E0A02D1}"/>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7" name="Immagine 8">
            <a:extLst>
              <a:ext uri="{FF2B5EF4-FFF2-40B4-BE49-F238E27FC236}">
                <a16:creationId xmlns:a16="http://schemas.microsoft.com/office/drawing/2014/main" id="{A82B40A8-C866-4C16-8C00-EAE5EF75AB43}"/>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4495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olo, testo e immagine">
    <p:spTree>
      <p:nvGrpSpPr>
        <p:cNvPr id="1" name=""/>
        <p:cNvGrpSpPr/>
        <p:nvPr/>
      </p:nvGrpSpPr>
      <p:grpSpPr>
        <a:xfrm>
          <a:off x="0" y="0"/>
          <a:ext cx="0" cy="0"/>
          <a:chOff x="0" y="0"/>
          <a:chExt cx="0" cy="0"/>
        </a:xfrm>
      </p:grpSpPr>
      <p:sp>
        <p:nvSpPr>
          <p:cNvPr id="3" name="Segnaposto immagine 2">
            <a:extLst>
              <a:ext uri="{FF2B5EF4-FFF2-40B4-BE49-F238E27FC236}">
                <a16:creationId xmlns:a16="http://schemas.microsoft.com/office/drawing/2014/main" id="{3E4C4561-347F-D04A-AB74-2E115C024BB0}"/>
              </a:ext>
            </a:extLst>
          </p:cNvPr>
          <p:cNvSpPr>
            <a:spLocks noGrp="1"/>
          </p:cNvSpPr>
          <p:nvPr>
            <p:ph type="pic" idx="1"/>
          </p:nvPr>
        </p:nvSpPr>
        <p:spPr>
          <a:xfrm>
            <a:off x="6096003" y="1825625"/>
            <a:ext cx="5259388" cy="4351338"/>
          </a:xfrm>
        </p:spPr>
        <p:txBody>
          <a:bodyPr anchor="ctr">
            <a:normAutofit/>
          </a:bodyPr>
          <a:lstStyle>
            <a:lvl1pPr marL="0" indent="0" algn="ctr">
              <a:buNone/>
              <a:defRPr sz="1800" b="0" i="1">
                <a:latin typeface="Fira Sans" panose="020B0503050000020004" pitchFamily="34" charset="0"/>
              </a:defRPr>
            </a:lvl1pPr>
            <a:lvl2pPr marL="342884" indent="0">
              <a:buNone/>
              <a:defRPr sz="2100"/>
            </a:lvl2pPr>
            <a:lvl3pPr marL="685766" indent="0">
              <a:buNone/>
              <a:defRPr sz="1800"/>
            </a:lvl3pPr>
            <a:lvl4pPr marL="1028649" indent="0">
              <a:buNone/>
              <a:defRPr sz="1500"/>
            </a:lvl4pPr>
            <a:lvl5pPr marL="1371532" indent="0">
              <a:buNone/>
              <a:defRPr sz="1500"/>
            </a:lvl5pPr>
            <a:lvl6pPr marL="1714415" indent="0">
              <a:buNone/>
              <a:defRPr sz="1500"/>
            </a:lvl6pPr>
            <a:lvl7pPr marL="2057297" indent="0">
              <a:buNone/>
              <a:defRPr sz="1500"/>
            </a:lvl7pPr>
            <a:lvl8pPr marL="2400180" indent="0">
              <a:buNone/>
              <a:defRPr sz="1500"/>
            </a:lvl8pPr>
            <a:lvl9pPr marL="2743064" indent="0">
              <a:buNone/>
              <a:defRPr sz="1500"/>
            </a:lvl9pPr>
          </a:lstStyle>
          <a:p>
            <a:r>
              <a:rPr lang="en-US"/>
              <a:t>Click icon to add picture</a:t>
            </a:r>
            <a:endParaRPr lang="it-IT" dirty="0"/>
          </a:p>
        </p:txBody>
      </p:sp>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839791" y="1825625"/>
            <a:ext cx="5026623" cy="4351338"/>
          </a:xfrm>
        </p:spPr>
        <p:txBody>
          <a:bodyPr anchor="ctr"/>
          <a:lstStyle>
            <a:lvl1pPr marL="0" indent="0">
              <a:buFont typeface="Fira Sans" panose="020B0503050000020004" pitchFamily="34" charset="0"/>
              <a:buNone/>
              <a:defRPr sz="18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6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5" name="Segnaposto numero diapositiva 4">
            <a:extLst>
              <a:ext uri="{FF2B5EF4-FFF2-40B4-BE49-F238E27FC236}">
                <a16:creationId xmlns:a16="http://schemas.microsoft.com/office/drawing/2014/main" id="{EF2FF0E7-4855-2F46-A78C-823982A184FE}"/>
              </a:ext>
            </a:extLst>
          </p:cNvPr>
          <p:cNvSpPr>
            <a:spLocks noGrp="1"/>
          </p:cNvSpPr>
          <p:nvPr>
            <p:ph type="sldNum" sz="quarter" idx="11"/>
          </p:nvPr>
        </p:nvSpPr>
        <p:spPr/>
        <p:txBody>
          <a:bodyPr/>
          <a:lstStyle/>
          <a:p>
            <a:fld id="{FEC4A954-C260-E84D-8B85-4D54550A05DF}" type="slidenum">
              <a:rPr lang="it-IT" smtClean="0"/>
              <a:pPr/>
              <a:t>‹N›</a:t>
            </a:fld>
            <a:endParaRPr lang="it-IT"/>
          </a:p>
        </p:txBody>
      </p:sp>
      <p:sp>
        <p:nvSpPr>
          <p:cNvPr id="9" name="Segnaposto titolo 1">
            <a:extLst>
              <a:ext uri="{FF2B5EF4-FFF2-40B4-BE49-F238E27FC236}">
                <a16:creationId xmlns:a16="http://schemas.microsoft.com/office/drawing/2014/main" id="{4B4775A8-EB69-F341-A56E-1D29905F9C0F}"/>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8" name="Immagine 8">
            <a:extLst>
              <a:ext uri="{FF2B5EF4-FFF2-40B4-BE49-F238E27FC236}">
                <a16:creationId xmlns:a16="http://schemas.microsoft.com/office/drawing/2014/main" id="{8A1CF13A-9AC3-41FE-A6E0-1943517FC7D9}"/>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933766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olo, testo e immagine">
    <p:spTree>
      <p:nvGrpSpPr>
        <p:cNvPr id="1" name=""/>
        <p:cNvGrpSpPr/>
        <p:nvPr/>
      </p:nvGrpSpPr>
      <p:grpSpPr>
        <a:xfrm>
          <a:off x="0" y="0"/>
          <a:ext cx="0" cy="0"/>
          <a:chOff x="0" y="0"/>
          <a:chExt cx="0" cy="0"/>
        </a:xfrm>
      </p:grpSpPr>
      <p:sp>
        <p:nvSpPr>
          <p:cNvPr id="3" name="Segnaposto immagine 2">
            <a:extLst>
              <a:ext uri="{FF2B5EF4-FFF2-40B4-BE49-F238E27FC236}">
                <a16:creationId xmlns:a16="http://schemas.microsoft.com/office/drawing/2014/main" id="{3E4C4561-347F-D04A-AB74-2E115C024BB0}"/>
              </a:ext>
            </a:extLst>
          </p:cNvPr>
          <p:cNvSpPr>
            <a:spLocks noGrp="1"/>
          </p:cNvSpPr>
          <p:nvPr>
            <p:ph type="pic" idx="1"/>
          </p:nvPr>
        </p:nvSpPr>
        <p:spPr>
          <a:xfrm>
            <a:off x="836613" y="1825625"/>
            <a:ext cx="5259388" cy="4351338"/>
          </a:xfrm>
        </p:spPr>
        <p:txBody>
          <a:bodyPr anchor="ctr">
            <a:normAutofit/>
          </a:bodyPr>
          <a:lstStyle>
            <a:lvl1pPr marL="0" indent="0" algn="ctr">
              <a:buNone/>
              <a:defRPr sz="1800" b="0" i="1">
                <a:latin typeface="Fira Sans" panose="020B0503050000020004" pitchFamily="34" charset="0"/>
              </a:defRPr>
            </a:lvl1pPr>
            <a:lvl2pPr marL="342884" indent="0">
              <a:buNone/>
              <a:defRPr sz="2100"/>
            </a:lvl2pPr>
            <a:lvl3pPr marL="685766" indent="0">
              <a:buNone/>
              <a:defRPr sz="1800"/>
            </a:lvl3pPr>
            <a:lvl4pPr marL="1028649" indent="0">
              <a:buNone/>
              <a:defRPr sz="1500"/>
            </a:lvl4pPr>
            <a:lvl5pPr marL="1371532" indent="0">
              <a:buNone/>
              <a:defRPr sz="1500"/>
            </a:lvl5pPr>
            <a:lvl6pPr marL="1714415" indent="0">
              <a:buNone/>
              <a:defRPr sz="1500"/>
            </a:lvl6pPr>
            <a:lvl7pPr marL="2057297" indent="0">
              <a:buNone/>
              <a:defRPr sz="1500"/>
            </a:lvl7pPr>
            <a:lvl8pPr marL="2400180" indent="0">
              <a:buNone/>
              <a:defRPr sz="1500"/>
            </a:lvl8pPr>
            <a:lvl9pPr marL="2743064" indent="0">
              <a:buNone/>
              <a:defRPr sz="1500"/>
            </a:lvl9pPr>
          </a:lstStyle>
          <a:p>
            <a:r>
              <a:rPr lang="en-US"/>
              <a:t>Click icon to add picture</a:t>
            </a:r>
            <a:endParaRPr lang="it-IT" dirty="0"/>
          </a:p>
        </p:txBody>
      </p:sp>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6327178" y="1825625"/>
            <a:ext cx="5026623" cy="4351338"/>
          </a:xfrm>
        </p:spPr>
        <p:txBody>
          <a:bodyPr anchor="ctr"/>
          <a:lstStyle>
            <a:lvl1pPr marL="0" indent="0">
              <a:buFont typeface="Fira Sans" panose="020B0503050000020004" pitchFamily="34" charset="0"/>
              <a:buNone/>
              <a:defRPr sz="18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6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5" name="Segnaposto numero diapositiva 4">
            <a:extLst>
              <a:ext uri="{FF2B5EF4-FFF2-40B4-BE49-F238E27FC236}">
                <a16:creationId xmlns:a16="http://schemas.microsoft.com/office/drawing/2014/main" id="{EF2FF0E7-4855-2F46-A78C-823982A184FE}"/>
              </a:ext>
            </a:extLst>
          </p:cNvPr>
          <p:cNvSpPr>
            <a:spLocks noGrp="1"/>
          </p:cNvSpPr>
          <p:nvPr>
            <p:ph type="sldNum" sz="quarter" idx="11"/>
          </p:nvPr>
        </p:nvSpPr>
        <p:spPr/>
        <p:txBody>
          <a:bodyPr/>
          <a:lstStyle/>
          <a:p>
            <a:fld id="{FEC4A954-C260-E84D-8B85-4D54550A05DF}" type="slidenum">
              <a:rPr lang="it-IT" smtClean="0"/>
              <a:pPr/>
              <a:t>‹N›</a:t>
            </a:fld>
            <a:endParaRPr lang="it-IT"/>
          </a:p>
        </p:txBody>
      </p:sp>
      <p:sp>
        <p:nvSpPr>
          <p:cNvPr id="9" name="Segnaposto titolo 1">
            <a:extLst>
              <a:ext uri="{FF2B5EF4-FFF2-40B4-BE49-F238E27FC236}">
                <a16:creationId xmlns:a16="http://schemas.microsoft.com/office/drawing/2014/main" id="{4B4775A8-EB69-F341-A56E-1D29905F9C0F}"/>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8" name="Immagine 8">
            <a:extLst>
              <a:ext uri="{FF2B5EF4-FFF2-40B4-BE49-F238E27FC236}">
                <a16:creationId xmlns:a16="http://schemas.microsoft.com/office/drawing/2014/main" id="{CF2C13BF-445B-4BE4-AD3F-23117EA32D2E}"/>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6172355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olo, testo e immagine">
    <p:bg>
      <p:bgRef idx="1001">
        <a:schemeClr val="bg1"/>
      </p:bgRef>
    </p:bg>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839789" y="2511381"/>
            <a:ext cx="5058291"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35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6" name="Segnaposto testo 3">
            <a:extLst>
              <a:ext uri="{FF2B5EF4-FFF2-40B4-BE49-F238E27FC236}">
                <a16:creationId xmlns:a16="http://schemas.microsoft.com/office/drawing/2014/main" id="{85F9E723-29C5-D441-88F8-71AFEFA5207B}"/>
              </a:ext>
            </a:extLst>
          </p:cNvPr>
          <p:cNvSpPr>
            <a:spLocks noGrp="1"/>
          </p:cNvSpPr>
          <p:nvPr>
            <p:ph type="body" sz="half" idx="10"/>
          </p:nvPr>
        </p:nvSpPr>
        <p:spPr>
          <a:xfrm>
            <a:off x="6293921" y="2511381"/>
            <a:ext cx="5058291"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35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8" name="Text Placeholder 7">
            <a:extLst>
              <a:ext uri="{FF2B5EF4-FFF2-40B4-BE49-F238E27FC236}">
                <a16:creationId xmlns:a16="http://schemas.microsoft.com/office/drawing/2014/main" id="{FF944A78-B074-B54E-BDDA-D50D5E075619}"/>
              </a:ext>
            </a:extLst>
          </p:cNvPr>
          <p:cNvSpPr>
            <a:spLocks noGrp="1"/>
          </p:cNvSpPr>
          <p:nvPr>
            <p:ph type="body" sz="quarter" idx="13" hasCustomPrompt="1"/>
          </p:nvPr>
        </p:nvSpPr>
        <p:spPr>
          <a:xfrm>
            <a:off x="838201" y="1551582"/>
            <a:ext cx="5058291"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9" name="Text Placeholder 7">
            <a:extLst>
              <a:ext uri="{FF2B5EF4-FFF2-40B4-BE49-F238E27FC236}">
                <a16:creationId xmlns:a16="http://schemas.microsoft.com/office/drawing/2014/main" id="{0CC595F4-9D2D-E044-AAEB-75DB74AA6414}"/>
              </a:ext>
            </a:extLst>
          </p:cNvPr>
          <p:cNvSpPr>
            <a:spLocks noGrp="1"/>
          </p:cNvSpPr>
          <p:nvPr>
            <p:ph type="body" sz="quarter" idx="14" hasCustomPrompt="1"/>
          </p:nvPr>
        </p:nvSpPr>
        <p:spPr>
          <a:xfrm>
            <a:off x="6293921" y="1551581"/>
            <a:ext cx="5058291"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3" name="Segnaposto numero diapositiva 2">
            <a:extLst>
              <a:ext uri="{FF2B5EF4-FFF2-40B4-BE49-F238E27FC236}">
                <a16:creationId xmlns:a16="http://schemas.microsoft.com/office/drawing/2014/main" id="{ED2AEED0-49D4-3E47-AC3F-270F49F4CC39}"/>
              </a:ext>
            </a:extLst>
          </p:cNvPr>
          <p:cNvSpPr>
            <a:spLocks noGrp="1"/>
          </p:cNvSpPr>
          <p:nvPr>
            <p:ph type="sldNum" sz="quarter" idx="16"/>
          </p:nvPr>
        </p:nvSpPr>
        <p:spPr/>
        <p:txBody>
          <a:bodyPr/>
          <a:lstStyle/>
          <a:p>
            <a:fld id="{FEC4A954-C260-E84D-8B85-4D54550A05DF}" type="slidenum">
              <a:rPr lang="it-IT" smtClean="0"/>
              <a:pPr/>
              <a:t>‹N›</a:t>
            </a:fld>
            <a:endParaRPr lang="it-IT"/>
          </a:p>
        </p:txBody>
      </p:sp>
      <p:cxnSp>
        <p:nvCxnSpPr>
          <p:cNvPr id="12" name="Connettore 1 11">
            <a:extLst>
              <a:ext uri="{FF2B5EF4-FFF2-40B4-BE49-F238E27FC236}">
                <a16:creationId xmlns:a16="http://schemas.microsoft.com/office/drawing/2014/main" id="{1D055194-F38E-BC41-A98D-1177A0272C8D}"/>
              </a:ext>
            </a:extLst>
          </p:cNvPr>
          <p:cNvCxnSpPr>
            <a:cxnSpLocks/>
          </p:cNvCxnSpPr>
          <p:nvPr userDrawn="1"/>
        </p:nvCxnSpPr>
        <p:spPr>
          <a:xfrm>
            <a:off x="6096000" y="2505698"/>
            <a:ext cx="0" cy="36694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Segnaposto titolo 1">
            <a:extLst>
              <a:ext uri="{FF2B5EF4-FFF2-40B4-BE49-F238E27FC236}">
                <a16:creationId xmlns:a16="http://schemas.microsoft.com/office/drawing/2014/main" id="{35850251-896E-B041-8180-ED90B1047B2B}"/>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solidFill>
                  <a:srgbClr val="262626"/>
                </a:solidFill>
              </a:defRPr>
            </a:lvl1pPr>
          </a:lstStyle>
          <a:p>
            <a:r>
              <a:rPr lang="en-US"/>
              <a:t>Click to edit Master title style</a:t>
            </a:r>
            <a:endParaRPr lang="it-IT" dirty="0"/>
          </a:p>
        </p:txBody>
      </p:sp>
      <p:pic>
        <p:nvPicPr>
          <p:cNvPr id="13" name="Immagine 8">
            <a:extLst>
              <a:ext uri="{FF2B5EF4-FFF2-40B4-BE49-F238E27FC236}">
                <a16:creationId xmlns:a16="http://schemas.microsoft.com/office/drawing/2014/main" id="{D3254F67-721F-4A44-8033-F90ED32CB3D8}"/>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160330957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olo, testo e immagine">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839791" y="2511381"/>
            <a:ext cx="3102820"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6" name="Segnaposto testo 3">
            <a:extLst>
              <a:ext uri="{FF2B5EF4-FFF2-40B4-BE49-F238E27FC236}">
                <a16:creationId xmlns:a16="http://schemas.microsoft.com/office/drawing/2014/main" id="{85F9E723-29C5-D441-88F8-71AFEFA5207B}"/>
              </a:ext>
            </a:extLst>
          </p:cNvPr>
          <p:cNvSpPr>
            <a:spLocks noGrp="1"/>
          </p:cNvSpPr>
          <p:nvPr>
            <p:ph type="body" sz="half" idx="10"/>
          </p:nvPr>
        </p:nvSpPr>
        <p:spPr>
          <a:xfrm>
            <a:off x="4544591" y="2511381"/>
            <a:ext cx="3102820"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7" name="Segnaposto testo 3">
            <a:extLst>
              <a:ext uri="{FF2B5EF4-FFF2-40B4-BE49-F238E27FC236}">
                <a16:creationId xmlns:a16="http://schemas.microsoft.com/office/drawing/2014/main" id="{798A6822-7DA7-2E4D-B441-3AC1A45F600B}"/>
              </a:ext>
            </a:extLst>
          </p:cNvPr>
          <p:cNvSpPr>
            <a:spLocks noGrp="1"/>
          </p:cNvSpPr>
          <p:nvPr>
            <p:ph type="body" sz="half" idx="11"/>
          </p:nvPr>
        </p:nvSpPr>
        <p:spPr>
          <a:xfrm>
            <a:off x="8249395" y="2511381"/>
            <a:ext cx="3102820"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8" name="Text Placeholder 7">
            <a:extLst>
              <a:ext uri="{FF2B5EF4-FFF2-40B4-BE49-F238E27FC236}">
                <a16:creationId xmlns:a16="http://schemas.microsoft.com/office/drawing/2014/main" id="{FF944A78-B074-B54E-BDDA-D50D5E075619}"/>
              </a:ext>
            </a:extLst>
          </p:cNvPr>
          <p:cNvSpPr>
            <a:spLocks noGrp="1"/>
          </p:cNvSpPr>
          <p:nvPr>
            <p:ph type="body" sz="quarter" idx="13" hasCustomPrompt="1"/>
          </p:nvPr>
        </p:nvSpPr>
        <p:spPr>
          <a:xfrm>
            <a:off x="838203" y="1551582"/>
            <a:ext cx="3102820"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9" name="Text Placeholder 7">
            <a:extLst>
              <a:ext uri="{FF2B5EF4-FFF2-40B4-BE49-F238E27FC236}">
                <a16:creationId xmlns:a16="http://schemas.microsoft.com/office/drawing/2014/main" id="{0CC595F4-9D2D-E044-AAEB-75DB74AA6414}"/>
              </a:ext>
            </a:extLst>
          </p:cNvPr>
          <p:cNvSpPr>
            <a:spLocks noGrp="1"/>
          </p:cNvSpPr>
          <p:nvPr>
            <p:ph type="body" sz="quarter" idx="14" hasCustomPrompt="1"/>
          </p:nvPr>
        </p:nvSpPr>
        <p:spPr>
          <a:xfrm>
            <a:off x="4544591" y="1551581"/>
            <a:ext cx="3102820"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10" name="Text Placeholder 7">
            <a:extLst>
              <a:ext uri="{FF2B5EF4-FFF2-40B4-BE49-F238E27FC236}">
                <a16:creationId xmlns:a16="http://schemas.microsoft.com/office/drawing/2014/main" id="{49EA2753-54CC-C644-8DA9-3ED0F1CF2418}"/>
              </a:ext>
            </a:extLst>
          </p:cNvPr>
          <p:cNvSpPr>
            <a:spLocks noGrp="1"/>
          </p:cNvSpPr>
          <p:nvPr>
            <p:ph type="body" sz="quarter" idx="15" hasCustomPrompt="1"/>
          </p:nvPr>
        </p:nvSpPr>
        <p:spPr>
          <a:xfrm>
            <a:off x="8249395" y="1551581"/>
            <a:ext cx="3102820"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5" name="Segnaposto numero diapositiva 4">
            <a:extLst>
              <a:ext uri="{FF2B5EF4-FFF2-40B4-BE49-F238E27FC236}">
                <a16:creationId xmlns:a16="http://schemas.microsoft.com/office/drawing/2014/main" id="{9E5D853E-0A41-7F40-8291-86C503BFACFA}"/>
              </a:ext>
            </a:extLst>
          </p:cNvPr>
          <p:cNvSpPr>
            <a:spLocks noGrp="1"/>
          </p:cNvSpPr>
          <p:nvPr>
            <p:ph type="sldNum" sz="quarter" idx="17"/>
          </p:nvPr>
        </p:nvSpPr>
        <p:spPr/>
        <p:txBody>
          <a:bodyPr/>
          <a:lstStyle/>
          <a:p>
            <a:fld id="{FEC4A954-C260-E84D-8B85-4D54550A05DF}" type="slidenum">
              <a:rPr lang="it-IT" smtClean="0"/>
              <a:pPr/>
              <a:t>‹N›</a:t>
            </a:fld>
            <a:endParaRPr lang="it-IT"/>
          </a:p>
        </p:txBody>
      </p:sp>
      <p:cxnSp>
        <p:nvCxnSpPr>
          <p:cNvPr id="3" name="Connettore 1 2">
            <a:extLst>
              <a:ext uri="{FF2B5EF4-FFF2-40B4-BE49-F238E27FC236}">
                <a16:creationId xmlns:a16="http://schemas.microsoft.com/office/drawing/2014/main" id="{07389034-36FE-D04B-97E1-02A924367620}"/>
              </a:ext>
            </a:extLst>
          </p:cNvPr>
          <p:cNvCxnSpPr>
            <a:cxnSpLocks/>
          </p:cNvCxnSpPr>
          <p:nvPr userDrawn="1"/>
        </p:nvCxnSpPr>
        <p:spPr>
          <a:xfrm>
            <a:off x="4251367" y="2505698"/>
            <a:ext cx="0" cy="36694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nettore 1 13">
            <a:extLst>
              <a:ext uri="{FF2B5EF4-FFF2-40B4-BE49-F238E27FC236}">
                <a16:creationId xmlns:a16="http://schemas.microsoft.com/office/drawing/2014/main" id="{8B042105-974D-A945-82DA-C0EE98AFE88E}"/>
              </a:ext>
            </a:extLst>
          </p:cNvPr>
          <p:cNvCxnSpPr>
            <a:cxnSpLocks/>
          </p:cNvCxnSpPr>
          <p:nvPr userDrawn="1"/>
        </p:nvCxnSpPr>
        <p:spPr>
          <a:xfrm>
            <a:off x="7942613" y="2505698"/>
            <a:ext cx="0" cy="36694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Segnaposto titolo 1">
            <a:extLst>
              <a:ext uri="{FF2B5EF4-FFF2-40B4-BE49-F238E27FC236}">
                <a16:creationId xmlns:a16="http://schemas.microsoft.com/office/drawing/2014/main" id="{8B77CED5-B561-3846-9AB3-80FAFE67AF75}"/>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13" name="Immagine 8">
            <a:extLst>
              <a:ext uri="{FF2B5EF4-FFF2-40B4-BE49-F238E27FC236}">
                <a16:creationId xmlns:a16="http://schemas.microsoft.com/office/drawing/2014/main" id="{612398E9-A9A8-42A3-AEFD-D1738CFB7F8C}"/>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0247866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apositiva fine">
    <p:bg>
      <p:bgPr>
        <a:solidFill>
          <a:srgbClr val="574676"/>
        </a:solidFill>
        <a:effectLst/>
      </p:bgPr>
    </p:bg>
    <p:spTree>
      <p:nvGrpSpPr>
        <p:cNvPr id="1" name=""/>
        <p:cNvGrpSpPr/>
        <p:nvPr/>
      </p:nvGrpSpPr>
      <p:grpSpPr>
        <a:xfrm>
          <a:off x="0" y="0"/>
          <a:ext cx="0" cy="0"/>
          <a:chOff x="0" y="0"/>
          <a:chExt cx="0" cy="0"/>
        </a:xfrm>
      </p:grpSpPr>
      <p:pic>
        <p:nvPicPr>
          <p:cNvPr id="3" name="Immagine 4">
            <a:extLst>
              <a:ext uri="{FF2B5EF4-FFF2-40B4-BE49-F238E27FC236}">
                <a16:creationId xmlns:a16="http://schemas.microsoft.com/office/drawing/2014/main" id="{4D955C49-DB2F-4B88-946E-C73C83E5ED75}"/>
              </a:ext>
            </a:extLst>
          </p:cNvPr>
          <p:cNvPicPr>
            <a:picLocks noChangeAspect="1"/>
          </p:cNvPicPr>
          <p:nvPr userDrawn="1"/>
        </p:nvPicPr>
        <p:blipFill>
          <a:blip r:embed="rId2"/>
          <a:stretch>
            <a:fillRect/>
          </a:stretch>
        </p:blipFill>
        <p:spPr>
          <a:xfrm>
            <a:off x="5254100" y="2860057"/>
            <a:ext cx="1730693" cy="1161160"/>
          </a:xfrm>
          <a:prstGeom prst="rect">
            <a:avLst/>
          </a:prstGeom>
        </p:spPr>
      </p:pic>
    </p:spTree>
    <p:extLst>
      <p:ext uri="{BB962C8B-B14F-4D97-AF65-F5344CB8AC3E}">
        <p14:creationId xmlns:p14="http://schemas.microsoft.com/office/powerpoint/2010/main" val="26012139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EB895A96-2866-484D-98AF-108A2B672A51}"/>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p>
            <a:r>
              <a:rPr lang="it-IT" dirty="0"/>
              <a:t>Fare clic per modificare lo stile del titolo dello schema</a:t>
            </a:r>
          </a:p>
        </p:txBody>
      </p:sp>
      <p:sp>
        <p:nvSpPr>
          <p:cNvPr id="3" name="Segnaposto testo 2">
            <a:extLst>
              <a:ext uri="{FF2B5EF4-FFF2-40B4-BE49-F238E27FC236}">
                <a16:creationId xmlns:a16="http://schemas.microsoft.com/office/drawing/2014/main" id="{FEADDCE6-9BC9-1045-9A9B-B7DA4ECE9695}"/>
              </a:ext>
            </a:extLst>
          </p:cNvPr>
          <p:cNvSpPr>
            <a:spLocks noGrp="1"/>
          </p:cNvSpPr>
          <p:nvPr>
            <p:ph type="body" idx="1"/>
          </p:nvPr>
        </p:nvSpPr>
        <p:spPr>
          <a:xfrm>
            <a:off x="838200" y="1531918"/>
            <a:ext cx="10515600" cy="4645045"/>
          </a:xfrm>
          <a:prstGeom prst="rect">
            <a:avLst/>
          </a:prstGeom>
        </p:spPr>
        <p:txBody>
          <a:bodyPr vert="horz" lIns="91440" tIns="45720" rIns="91440" bIns="45720" rtlCol="0" anchor="ctr">
            <a:normAutofit/>
          </a:bodyPr>
          <a:lstStyle/>
          <a:p>
            <a:r>
              <a:rPr lang="it-IT" dirty="0"/>
              <a:t>Fare clic per modificare gli stili del testo dello schema</a:t>
            </a:r>
          </a:p>
          <a:p>
            <a:pPr marL="514325" marR="0" lvl="1"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a:pPr>
            <a:r>
              <a:rPr lang="it-IT" dirty="0"/>
              <a:t>Secondo livello</a:t>
            </a:r>
          </a:p>
          <a:p>
            <a:pPr marL="814348" marR="0" lvl="2"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a:pPr>
            <a:r>
              <a:rPr lang="it-IT" dirty="0"/>
              <a:t>Terzo livello</a:t>
            </a:r>
          </a:p>
          <a:p>
            <a:pPr marL="514325" marR="0" lvl="1"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a:pPr>
            <a:endParaRPr lang="it-IT" dirty="0"/>
          </a:p>
        </p:txBody>
      </p:sp>
      <p:sp>
        <p:nvSpPr>
          <p:cNvPr id="6" name="Segnaposto numero diapositiva 5">
            <a:extLst>
              <a:ext uri="{FF2B5EF4-FFF2-40B4-BE49-F238E27FC236}">
                <a16:creationId xmlns:a16="http://schemas.microsoft.com/office/drawing/2014/main" id="{CB3E5275-AA79-C14E-8281-AC408BAAE8DA}"/>
              </a:ext>
            </a:extLst>
          </p:cNvPr>
          <p:cNvSpPr>
            <a:spLocks noGrp="1"/>
          </p:cNvSpPr>
          <p:nvPr>
            <p:ph type="sldNum" sz="quarter" idx="4"/>
          </p:nvPr>
        </p:nvSpPr>
        <p:spPr>
          <a:xfrm>
            <a:off x="8610600" y="6356356"/>
            <a:ext cx="2743200" cy="365125"/>
          </a:xfrm>
          <a:prstGeom prst="rect">
            <a:avLst/>
          </a:prstGeom>
        </p:spPr>
        <p:txBody>
          <a:bodyPr vert="horz" lIns="91440" tIns="45720" rIns="91440" bIns="45720" rtlCol="0" anchor="ctr"/>
          <a:lstStyle>
            <a:lvl1pPr algn="r">
              <a:defRPr sz="825" b="0" i="0">
                <a:solidFill>
                  <a:schemeClr val="bg1">
                    <a:lumMod val="75000"/>
                  </a:schemeClr>
                </a:solidFill>
                <a:latin typeface="Fira Sans Medium" panose="020B0503050000020004" pitchFamily="34" charset="0"/>
              </a:defRPr>
            </a:lvl1pPr>
          </a:lstStyle>
          <a:p>
            <a:fld id="{FEC4A954-C260-E84D-8B85-4D54550A05DF}" type="slidenum">
              <a:rPr lang="it-IT" smtClean="0"/>
              <a:pPr/>
              <a:t>‹N›</a:t>
            </a:fld>
            <a:endParaRPr lang="it-IT"/>
          </a:p>
        </p:txBody>
      </p:sp>
    </p:spTree>
    <p:extLst>
      <p:ext uri="{BB962C8B-B14F-4D97-AF65-F5344CB8AC3E}">
        <p14:creationId xmlns:p14="http://schemas.microsoft.com/office/powerpoint/2010/main" val="4155003289"/>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51" r:id="rId3"/>
    <p:sldLayoutId id="2147483659" r:id="rId4"/>
    <p:sldLayoutId id="2147483650" r:id="rId5"/>
    <p:sldLayoutId id="2147483663" r:id="rId6"/>
    <p:sldLayoutId id="2147483654" r:id="rId7"/>
    <p:sldLayoutId id="2147483657" r:id="rId8"/>
    <p:sldLayoutId id="2147483667" r:id="rId9"/>
    <p:sldLayoutId id="2147483666" r:id="rId10"/>
    <p:sldLayoutId id="2147483665" r:id="rId11"/>
    <p:sldLayoutId id="2147483658" r:id="rId12"/>
  </p:sldLayoutIdLst>
  <p:hf hdr="0" ftr="0" dt="0"/>
  <p:txStyles>
    <p:titleStyle>
      <a:lvl1pPr algn="l" defTabSz="685766" rtl="0" eaLnBrk="1" latinLnBrk="0" hangingPunct="1">
        <a:lnSpc>
          <a:spcPct val="90000"/>
        </a:lnSpc>
        <a:spcBef>
          <a:spcPct val="0"/>
        </a:spcBef>
        <a:buNone/>
        <a:defRPr sz="2700" b="1" kern="1200">
          <a:solidFill>
            <a:schemeClr val="tx1">
              <a:lumMod val="85000"/>
              <a:lumOff val="15000"/>
            </a:schemeClr>
          </a:solidFill>
          <a:latin typeface="Roboto Slab" pitchFamily="2" charset="0"/>
          <a:ea typeface="Roboto Slab" pitchFamily="2" charset="0"/>
          <a:cs typeface="+mj-cs"/>
        </a:defRPr>
      </a:lvl1pPr>
    </p:titleStyle>
    <p:bodyStyle>
      <a:lvl1pPr marL="171442" indent="-171442" algn="l" defTabSz="685766" rtl="0" eaLnBrk="1" latinLnBrk="0" hangingPunct="1">
        <a:lnSpc>
          <a:spcPct val="90000"/>
        </a:lnSpc>
        <a:spcBef>
          <a:spcPts val="750"/>
        </a:spcBef>
        <a:buFont typeface="Fira Sans" panose="020B0503050000020004" pitchFamily="34" charset="0"/>
        <a:buChar char="―"/>
        <a:defRPr sz="1800" b="0" i="0" kern="1200">
          <a:solidFill>
            <a:schemeClr val="tx1">
              <a:lumMod val="65000"/>
              <a:lumOff val="35000"/>
            </a:schemeClr>
          </a:solidFill>
          <a:latin typeface="Fira Sans Medium" panose="020B0503050000020004" pitchFamily="34" charset="0"/>
          <a:ea typeface="+mn-ea"/>
          <a:cs typeface="+mn-cs"/>
        </a:defRPr>
      </a:lvl1pPr>
      <a:lvl2pPr marL="557185" marR="0" indent="-214303" algn="l" defTabSz="685766" rtl="0" eaLnBrk="1" fontAlgn="auto" latinLnBrk="0" hangingPunct="1">
        <a:lnSpc>
          <a:spcPct val="90000"/>
        </a:lnSpc>
        <a:spcBef>
          <a:spcPts val="375"/>
        </a:spcBef>
        <a:spcAft>
          <a:spcPts val="0"/>
        </a:spcAft>
        <a:buClrTx/>
        <a:buSzTx/>
        <a:buFont typeface="Fira Sans" panose="020B0503050000020004" pitchFamily="34" charset="0"/>
        <a:buChar char="–"/>
        <a:tabLst/>
        <a:defRPr sz="1650" b="0" i="0" kern="1200">
          <a:solidFill>
            <a:schemeClr val="tx1">
              <a:lumMod val="65000"/>
              <a:lumOff val="35000"/>
            </a:schemeClr>
          </a:solidFill>
          <a:latin typeface="Fira Sans" panose="020B0503050000020004" pitchFamily="34" charset="0"/>
          <a:ea typeface="+mn-ea"/>
          <a:cs typeface="+mn-cs"/>
        </a:defRPr>
      </a:lvl2pPr>
      <a:lvl3pPr marL="857207" indent="-171442" algn="l" defTabSz="685766" rtl="0" eaLnBrk="1" latinLnBrk="0" hangingPunct="1">
        <a:lnSpc>
          <a:spcPct val="90000"/>
        </a:lnSpc>
        <a:spcBef>
          <a:spcPts val="375"/>
        </a:spcBef>
        <a:buFont typeface="Arial" panose="020B0604020202020204" pitchFamily="34" charset="0"/>
        <a:buChar char="•"/>
        <a:defRPr sz="1500" kern="1200">
          <a:solidFill>
            <a:schemeClr val="tx1">
              <a:lumMod val="65000"/>
              <a:lumOff val="35000"/>
            </a:schemeClr>
          </a:solidFill>
          <a:latin typeface="Fira Sans" panose="020B0503050000020004" pitchFamily="34" charset="0"/>
          <a:ea typeface="+mn-ea"/>
          <a:cs typeface="+mn-cs"/>
        </a:defRPr>
      </a:lvl3pPr>
      <a:lvl4pPr marL="1200090"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it-IT"/>
      </a:defPPr>
      <a:lvl1pPr marL="0" algn="l" defTabSz="685766" rtl="0" eaLnBrk="1" latinLnBrk="0" hangingPunct="1">
        <a:defRPr sz="1350" kern="1200">
          <a:solidFill>
            <a:schemeClr val="tx1"/>
          </a:solidFill>
          <a:latin typeface="+mn-lt"/>
          <a:ea typeface="+mn-ea"/>
          <a:cs typeface="+mn-cs"/>
        </a:defRPr>
      </a:lvl1pPr>
      <a:lvl2pPr marL="342884" algn="l" defTabSz="685766" rtl="0" eaLnBrk="1" latinLnBrk="0" hangingPunct="1">
        <a:defRPr sz="1350" kern="1200">
          <a:solidFill>
            <a:schemeClr val="tx1"/>
          </a:solidFill>
          <a:latin typeface="+mn-lt"/>
          <a:ea typeface="+mn-ea"/>
          <a:cs typeface="+mn-cs"/>
        </a:defRPr>
      </a:lvl2pPr>
      <a:lvl3pPr marL="685766" algn="l" defTabSz="685766" rtl="0" eaLnBrk="1" latinLnBrk="0" hangingPunct="1">
        <a:defRPr sz="1350" kern="1200">
          <a:solidFill>
            <a:schemeClr val="tx1"/>
          </a:solidFill>
          <a:latin typeface="+mn-lt"/>
          <a:ea typeface="+mn-ea"/>
          <a:cs typeface="+mn-cs"/>
        </a:defRPr>
      </a:lvl3pPr>
      <a:lvl4pPr marL="1028649" algn="l" defTabSz="685766" rtl="0" eaLnBrk="1" latinLnBrk="0" hangingPunct="1">
        <a:defRPr sz="1350" kern="1200">
          <a:solidFill>
            <a:schemeClr val="tx1"/>
          </a:solidFill>
          <a:latin typeface="+mn-lt"/>
          <a:ea typeface="+mn-ea"/>
          <a:cs typeface="+mn-cs"/>
        </a:defRPr>
      </a:lvl4pPr>
      <a:lvl5pPr marL="1371532" algn="l" defTabSz="685766" rtl="0" eaLnBrk="1" latinLnBrk="0" hangingPunct="1">
        <a:defRPr sz="1350" kern="1200">
          <a:solidFill>
            <a:schemeClr val="tx1"/>
          </a:solidFill>
          <a:latin typeface="+mn-lt"/>
          <a:ea typeface="+mn-ea"/>
          <a:cs typeface="+mn-cs"/>
        </a:defRPr>
      </a:lvl5pPr>
      <a:lvl6pPr marL="1714415" algn="l" defTabSz="685766" rtl="0" eaLnBrk="1" latinLnBrk="0" hangingPunct="1">
        <a:defRPr sz="1350" kern="1200">
          <a:solidFill>
            <a:schemeClr val="tx1"/>
          </a:solidFill>
          <a:latin typeface="+mn-lt"/>
          <a:ea typeface="+mn-ea"/>
          <a:cs typeface="+mn-cs"/>
        </a:defRPr>
      </a:lvl6pPr>
      <a:lvl7pPr marL="2057297" algn="l" defTabSz="685766" rtl="0" eaLnBrk="1" latinLnBrk="0" hangingPunct="1">
        <a:defRPr sz="1350" kern="1200">
          <a:solidFill>
            <a:schemeClr val="tx1"/>
          </a:solidFill>
          <a:latin typeface="+mn-lt"/>
          <a:ea typeface="+mn-ea"/>
          <a:cs typeface="+mn-cs"/>
        </a:defRPr>
      </a:lvl7pPr>
      <a:lvl8pPr marL="2400180" algn="l" defTabSz="685766" rtl="0" eaLnBrk="1" latinLnBrk="0" hangingPunct="1">
        <a:defRPr sz="1350" kern="1200">
          <a:solidFill>
            <a:schemeClr val="tx1"/>
          </a:solidFill>
          <a:latin typeface="+mn-lt"/>
          <a:ea typeface="+mn-ea"/>
          <a:cs typeface="+mn-cs"/>
        </a:defRPr>
      </a:lvl8pPr>
      <a:lvl9pPr marL="2743064" algn="l" defTabSz="685766"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svg"/></Relationships>
</file>

<file path=ppt/slides/_rels/slide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svg"/><Relationship Id="rId1" Type="http://schemas.openxmlformats.org/officeDocument/2006/relationships/slideLayout" Target="../slideLayouts/slideLayout7.xml"/><Relationship Id="rId5" Type="http://schemas.openxmlformats.org/officeDocument/2006/relationships/image" Target="../media/image23.svg"/><Relationship Id="rId4" Type="http://schemas.openxmlformats.org/officeDocument/2006/relationships/image" Target="../media/image22.svg"/></Relationships>
</file>

<file path=ppt/slides/_rels/slide13.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slideLayout" Target="../slideLayouts/slideLayout7.xml"/><Relationship Id="rId5" Type="http://schemas.openxmlformats.org/officeDocument/2006/relationships/image" Target="../media/image27.svg"/><Relationship Id="rId4" Type="http://schemas.openxmlformats.org/officeDocument/2006/relationships/image" Target="../media/image26.svg"/></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svg"/><Relationship Id="rId1" Type="http://schemas.openxmlformats.org/officeDocument/2006/relationships/slideLayout" Target="../slideLayouts/slideLayout7.xml"/><Relationship Id="rId5" Type="http://schemas.openxmlformats.org/officeDocument/2006/relationships/image" Target="../media/image31.svg"/><Relationship Id="rId4" Type="http://schemas.openxmlformats.org/officeDocument/2006/relationships/image" Target="../media/image30.sv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5.svg"/><Relationship Id="rId7" Type="http://schemas.openxmlformats.org/officeDocument/2006/relationships/image" Target="../media/image39.svg"/><Relationship Id="rId2" Type="http://schemas.openxmlformats.org/officeDocument/2006/relationships/image" Target="../media/image34.svg"/><Relationship Id="rId1" Type="http://schemas.openxmlformats.org/officeDocument/2006/relationships/slideLayout" Target="../slideLayouts/slideLayout7.xml"/><Relationship Id="rId6" Type="http://schemas.openxmlformats.org/officeDocument/2006/relationships/image" Target="../media/image38.svg"/><Relationship Id="rId5" Type="http://schemas.openxmlformats.org/officeDocument/2006/relationships/image" Target="../media/image37.svg"/><Relationship Id="rId4" Type="http://schemas.openxmlformats.org/officeDocument/2006/relationships/image" Target="../media/image36.svg"/></Relationships>
</file>

<file path=ppt/slides/_rels/slide18.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svg"/><Relationship Id="rId1" Type="http://schemas.openxmlformats.org/officeDocument/2006/relationships/slideLayout" Target="../slideLayouts/slideLayout7.xml"/><Relationship Id="rId5" Type="http://schemas.openxmlformats.org/officeDocument/2006/relationships/image" Target="../media/image43.svg"/><Relationship Id="rId4" Type="http://schemas.openxmlformats.org/officeDocument/2006/relationships/image" Target="../media/image42.svg"/></Relationships>
</file>

<file path=ppt/slides/_rels/slide1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5.sv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8.sv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sv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image" Target="../media/image55.svg"/><Relationship Id="rId1" Type="http://schemas.openxmlformats.org/officeDocument/2006/relationships/slideLayout" Target="../slideLayouts/slideLayout7.xml"/><Relationship Id="rId5" Type="http://schemas.openxmlformats.org/officeDocument/2006/relationships/image" Target="../media/image58.svg"/><Relationship Id="rId4" Type="http://schemas.openxmlformats.org/officeDocument/2006/relationships/image" Target="../media/image57.svg"/></Relationships>
</file>

<file path=ppt/slides/_rels/slide3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sv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7.xml"/><Relationship Id="rId5" Type="http://schemas.openxmlformats.org/officeDocument/2006/relationships/image" Target="../media/image65.svg"/><Relationship Id="rId4" Type="http://schemas.openxmlformats.org/officeDocument/2006/relationships/image" Target="../media/image64.svg"/></Relationships>
</file>

<file path=ppt/slides/_rels/slide3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8" Type="http://schemas.openxmlformats.org/officeDocument/2006/relationships/image" Target="../media/image73.svg"/><Relationship Id="rId3" Type="http://schemas.openxmlformats.org/officeDocument/2006/relationships/image" Target="../media/image68.svg"/><Relationship Id="rId7" Type="http://schemas.openxmlformats.org/officeDocument/2006/relationships/image" Target="../media/image72.svg"/><Relationship Id="rId2" Type="http://schemas.openxmlformats.org/officeDocument/2006/relationships/image" Target="../media/image67.svg"/><Relationship Id="rId1" Type="http://schemas.openxmlformats.org/officeDocument/2006/relationships/slideLayout" Target="../slideLayouts/slideLayout7.xml"/><Relationship Id="rId6" Type="http://schemas.openxmlformats.org/officeDocument/2006/relationships/image" Target="../media/image71.svg"/><Relationship Id="rId5" Type="http://schemas.openxmlformats.org/officeDocument/2006/relationships/image" Target="../media/image70.svg"/><Relationship Id="rId4" Type="http://schemas.openxmlformats.org/officeDocument/2006/relationships/image" Target="../media/image69.svg"/></Relationships>
</file>

<file path=ppt/slides/_rels/slide37.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76.svg"/><Relationship Id="rId2" Type="http://schemas.openxmlformats.org/officeDocument/2006/relationships/image" Target="../media/image75.svg"/><Relationship Id="rId1" Type="http://schemas.openxmlformats.org/officeDocument/2006/relationships/slideLayout" Target="../slideLayouts/slideLayout7.xml"/><Relationship Id="rId4" Type="http://schemas.openxmlformats.org/officeDocument/2006/relationships/image" Target="../media/image77.svg"/></Relationships>
</file>

<file path=ppt/slides/_rels/slide40.xml.rels><?xml version="1.0" encoding="UTF-8" standalone="yes"?>
<Relationships xmlns="http://schemas.openxmlformats.org/package/2006/relationships"><Relationship Id="rId3" Type="http://schemas.openxmlformats.org/officeDocument/2006/relationships/image" Target="../media/image79.svg"/><Relationship Id="rId2" Type="http://schemas.openxmlformats.org/officeDocument/2006/relationships/image" Target="../media/image78.svg"/><Relationship Id="rId1" Type="http://schemas.openxmlformats.org/officeDocument/2006/relationships/slideLayout" Target="../slideLayouts/slideLayout7.xml"/><Relationship Id="rId4" Type="http://schemas.openxmlformats.org/officeDocument/2006/relationships/image" Target="../media/image80.svg"/></Relationships>
</file>

<file path=ppt/slides/_rels/slide41.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1773936"/>
            <a:ext cx="630936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REINFORCEMENT LEARNING   ·   CHAPTER 04</a:t>
            </a:r>
          </a:p>
        </p:txBody>
      </p:sp>
      <p:sp>
        <p:nvSpPr>
          <p:cNvPr id="5" name="TextBox 4"/>
          <p:cNvSpPr txBox="1"/>
          <p:nvPr/>
        </p:nvSpPr>
        <p:spPr>
          <a:xfrm>
            <a:off x="859536" y="2139696"/>
            <a:ext cx="6766560" cy="1005840"/>
          </a:xfrm>
          <a:prstGeom prst="rect">
            <a:avLst/>
          </a:prstGeom>
          <a:noFill/>
        </p:spPr>
        <p:txBody>
          <a:bodyPr wrap="square" lIns="0" tIns="0" rIns="0" bIns="0" anchor="t">
            <a:noAutofit/>
          </a:bodyPr>
          <a:lstStyle/>
          <a:p>
            <a:pPr marL="0" indent="0" algn="l">
              <a:lnSpc>
                <a:spcPts val="3587"/>
              </a:lnSpc>
              <a:spcBef>
                <a:spcPts val="0"/>
              </a:spcBef>
              <a:spcAft>
                <a:spcPts val="0"/>
              </a:spcAft>
              <a:buNone/>
            </a:pPr>
            <a:r>
              <a:rPr sz="3384" b="1" i="0">
                <a:solidFill>
                  <a:srgbClr val="FFFFFF"/>
                </a:solidFill>
                <a:latin typeface="Roboto Slab"/>
              </a:rPr>
              <a:t>Exploration vs</a:t>
            </a:r>
          </a:p>
          <a:p>
            <a:pPr marL="0" indent="0" algn="l">
              <a:lnSpc>
                <a:spcPts val="3587"/>
              </a:lnSpc>
              <a:spcBef>
                <a:spcPts val="0"/>
              </a:spcBef>
              <a:spcAft>
                <a:spcPts val="0"/>
              </a:spcAft>
              <a:buNone/>
            </a:pPr>
            <a:r>
              <a:rPr sz="3384" b="1" i="0">
                <a:solidFill>
                  <a:srgbClr val="FFFFFF"/>
                </a:solidFill>
                <a:latin typeface="Roboto Slab"/>
              </a:rPr>
              <a:t>Exploitation</a:t>
            </a:r>
          </a:p>
        </p:txBody>
      </p:sp>
      <p:sp>
        <p:nvSpPr>
          <p:cNvPr id="6" name="Rectangle 5"/>
          <p:cNvSpPr/>
          <p:nvPr/>
        </p:nvSpPr>
        <p:spPr>
          <a:xfrm>
            <a:off x="859536" y="3346704"/>
            <a:ext cx="1280160" cy="320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59536" y="3602736"/>
            <a:ext cx="6126480" cy="1371600"/>
          </a:xfrm>
          <a:prstGeom prst="rect">
            <a:avLst/>
          </a:prstGeom>
          <a:noFill/>
        </p:spPr>
        <p:txBody>
          <a:bodyPr wrap="square" lIns="0" tIns="0" rIns="0" bIns="0" anchor="t">
            <a:noAutofit/>
          </a:bodyPr>
          <a:lstStyle/>
          <a:p>
            <a:pPr marL="0" indent="0" algn="l">
              <a:lnSpc>
                <a:spcPts val="1799"/>
              </a:lnSpc>
              <a:spcBef>
                <a:spcPts val="0"/>
              </a:spcBef>
              <a:spcAft>
                <a:spcPts val="0"/>
              </a:spcAft>
              <a:buNone/>
            </a:pPr>
            <a:r>
              <a:rPr sz="1363" b="0" i="0" dirty="0">
                <a:solidFill>
                  <a:srgbClr val="D6D0E0"/>
                </a:solidFill>
                <a:latin typeface="Fira Sans"/>
              </a:rPr>
              <a:t>Multi-armed bandits: estimating action values, choosing a step size, and six strategies for deciding when to use what you know and when to find out what you do not</a:t>
            </a:r>
            <a:r>
              <a:rPr lang="it-IT" sz="1363" b="0" i="0" dirty="0">
                <a:solidFill>
                  <a:srgbClr val="D6D0E0"/>
                </a:solidFill>
                <a:latin typeface="Fira Sans"/>
              </a:rPr>
              <a:t>; </a:t>
            </a:r>
            <a:r>
              <a:rPr sz="1363" b="0" i="0" dirty="0">
                <a:solidFill>
                  <a:srgbClr val="D6D0E0"/>
                </a:solidFill>
                <a:latin typeface="Fira Sans"/>
              </a:rPr>
              <a:t>measured by reward, by optimal-action rate, and by regret.</a:t>
            </a:r>
          </a:p>
        </p:txBody>
      </p:sp>
      <p:sp>
        <p:nvSpPr>
          <p:cNvPr id="8" name="TextBox 7"/>
          <p:cNvSpPr txBox="1"/>
          <p:nvPr/>
        </p:nvSpPr>
        <p:spPr>
          <a:xfrm>
            <a:off x="859536" y="5522976"/>
            <a:ext cx="6309360" cy="566928"/>
          </a:xfrm>
          <a:prstGeom prst="rect">
            <a:avLst/>
          </a:prstGeom>
          <a:noFill/>
        </p:spPr>
        <p:txBody>
          <a:bodyPr wrap="square" lIns="0" tIns="0" rIns="0" bIns="0" anchor="t">
            <a:noAutofit/>
          </a:bodyPr>
          <a:lstStyle/>
          <a:p>
            <a:pPr marL="0" indent="0" algn="l">
              <a:lnSpc>
                <a:spcPts val="1092"/>
              </a:lnSpc>
              <a:spcBef>
                <a:spcPts val="0"/>
              </a:spcBef>
              <a:spcAft>
                <a:spcPts val="0"/>
              </a:spcAft>
              <a:buNone/>
            </a:pPr>
            <a:r>
              <a:rPr sz="1092" b="0" i="0">
                <a:solidFill>
                  <a:srgbClr val="B2A7C4"/>
                </a:solidFill>
                <a:latin typeface="Fira Sans"/>
              </a:rPr>
              <a:t>Università degli Studi di Genova  ·  DITEN — ELIOS Lab</a:t>
            </a:r>
          </a:p>
          <a:p>
            <a:pPr marL="0" indent="0" algn="l">
              <a:lnSpc>
                <a:spcPts val="1092"/>
              </a:lnSpc>
              <a:spcBef>
                <a:spcPts val="300"/>
              </a:spcBef>
              <a:spcAft>
                <a:spcPts val="0"/>
              </a:spcAft>
              <a:buNone/>
            </a:pPr>
            <a:r>
              <a:rPr sz="1092" b="0" i="0">
                <a:solidFill>
                  <a:srgbClr val="9486AC"/>
                </a:solidFill>
                <a:latin typeface="Fira Sans"/>
              </a:rPr>
              <a:t>Lecture notes, Chapter 04 — companion slides</a:t>
            </a:r>
          </a:p>
        </p:txBody>
      </p:sp>
      <p:sp>
        <p:nvSpPr>
          <p:cNvPr id="9" name="Rectangle 8"/>
          <p:cNvSpPr/>
          <p:nvPr/>
        </p:nvSpPr>
        <p:spPr>
          <a:xfrm>
            <a:off x="7424928" y="1773936"/>
            <a:ext cx="10972" cy="39319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1773936"/>
            <a:ext cx="3383280"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50">
                <a:solidFill>
                  <a:srgbClr val="B2A7C4"/>
                </a:solidFill>
                <a:latin typeface="Fira Sans Medium"/>
              </a:rPr>
              <a:t>CONTENTS</a:t>
            </a:r>
          </a:p>
        </p:txBody>
      </p:sp>
      <p:sp>
        <p:nvSpPr>
          <p:cNvPr id="11" name="TextBox 10"/>
          <p:cNvSpPr txBox="1"/>
          <p:nvPr/>
        </p:nvSpPr>
        <p:spPr>
          <a:xfrm>
            <a:off x="7973568" y="2157984"/>
            <a:ext cx="3383280" cy="365760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80">
                <a:solidFill>
                  <a:srgbClr val="9486AC"/>
                </a:solidFill>
                <a:latin typeface="Fira Sans"/>
              </a:rPr>
              <a:t>PART I   </a:t>
            </a:r>
          </a:p>
          <a:p>
            <a:pPr marL="0" indent="0" algn="l">
              <a:lnSpc>
                <a:spcPts val="1283"/>
              </a:lnSpc>
              <a:spcBef>
                <a:spcPts val="200"/>
              </a:spcBef>
              <a:spcAft>
                <a:spcPts val="0"/>
              </a:spcAft>
              <a:buNone/>
            </a:pPr>
            <a:r>
              <a:rPr sz="1188" b="0" i="0">
                <a:solidFill>
                  <a:srgbClr val="FFFFFF"/>
                </a:solidFill>
                <a:latin typeface="Fira Sans Medium"/>
              </a:rPr>
              <a:t>The dilemma, and the bandit</a:t>
            </a:r>
          </a:p>
          <a:p>
            <a:pPr marL="0" indent="0" algn="l">
              <a:lnSpc>
                <a:spcPts val="882"/>
              </a:lnSpc>
              <a:spcBef>
                <a:spcPts val="1200"/>
              </a:spcBef>
              <a:spcAft>
                <a:spcPts val="0"/>
              </a:spcAft>
              <a:buNone/>
            </a:pPr>
            <a:r>
              <a:rPr sz="882" b="1" i="0" spc="80">
                <a:solidFill>
                  <a:srgbClr val="9486AC"/>
                </a:solidFill>
                <a:latin typeface="Fira Sans"/>
              </a:rPr>
              <a:t>PART II  </a:t>
            </a:r>
          </a:p>
          <a:p>
            <a:pPr marL="0" indent="0" algn="l">
              <a:lnSpc>
                <a:spcPts val="1283"/>
              </a:lnSpc>
              <a:spcBef>
                <a:spcPts val="200"/>
              </a:spcBef>
              <a:spcAft>
                <a:spcPts val="0"/>
              </a:spcAft>
              <a:buNone/>
            </a:pPr>
            <a:r>
              <a:rPr sz="1188" b="0" i="0">
                <a:solidFill>
                  <a:srgbClr val="FFFFFF"/>
                </a:solidFill>
                <a:latin typeface="Fira Sans Medium"/>
              </a:rPr>
              <a:t>Estimating action values</a:t>
            </a:r>
          </a:p>
          <a:p>
            <a:pPr marL="0" indent="0" algn="l">
              <a:lnSpc>
                <a:spcPts val="882"/>
              </a:lnSpc>
              <a:spcBef>
                <a:spcPts val="1200"/>
              </a:spcBef>
              <a:spcAft>
                <a:spcPts val="0"/>
              </a:spcAft>
              <a:buNone/>
            </a:pPr>
            <a:r>
              <a:rPr sz="882" b="1" i="0" spc="80">
                <a:solidFill>
                  <a:srgbClr val="9486AC"/>
                </a:solidFill>
                <a:latin typeface="Fira Sans"/>
              </a:rPr>
              <a:t>PART III </a:t>
            </a:r>
          </a:p>
          <a:p>
            <a:pPr marL="0" indent="0" algn="l">
              <a:lnSpc>
                <a:spcPts val="1283"/>
              </a:lnSpc>
              <a:spcBef>
                <a:spcPts val="200"/>
              </a:spcBef>
              <a:spcAft>
                <a:spcPts val="0"/>
              </a:spcAft>
              <a:buNone/>
            </a:pPr>
            <a:r>
              <a:rPr sz="1188" b="0" i="0">
                <a:solidFill>
                  <a:srgbClr val="FFFFFF"/>
                </a:solidFill>
                <a:latin typeface="Fira Sans Medium"/>
              </a:rPr>
              <a:t>Step sizes and convergence</a:t>
            </a:r>
          </a:p>
          <a:p>
            <a:pPr marL="0" indent="0" algn="l">
              <a:lnSpc>
                <a:spcPts val="882"/>
              </a:lnSpc>
              <a:spcBef>
                <a:spcPts val="1200"/>
              </a:spcBef>
              <a:spcAft>
                <a:spcPts val="0"/>
              </a:spcAft>
              <a:buNone/>
            </a:pPr>
            <a:r>
              <a:rPr sz="882" b="1" i="0" spc="80">
                <a:solidFill>
                  <a:srgbClr val="9486AC"/>
                </a:solidFill>
                <a:latin typeface="Fira Sans"/>
              </a:rPr>
              <a:t>PART IV  </a:t>
            </a:r>
          </a:p>
          <a:p>
            <a:pPr marL="0" indent="0" algn="l">
              <a:lnSpc>
                <a:spcPts val="1283"/>
              </a:lnSpc>
              <a:spcBef>
                <a:spcPts val="200"/>
              </a:spcBef>
              <a:spcAft>
                <a:spcPts val="0"/>
              </a:spcAft>
              <a:buNone/>
            </a:pPr>
            <a:r>
              <a:rPr sz="1188" b="0" i="0">
                <a:solidFill>
                  <a:srgbClr val="FFFFFF"/>
                </a:solidFill>
                <a:latin typeface="Fira Sans Medium"/>
              </a:rPr>
              <a:t>Basic exploration strategies</a:t>
            </a:r>
          </a:p>
          <a:p>
            <a:pPr marL="0" indent="0" algn="l">
              <a:lnSpc>
                <a:spcPts val="882"/>
              </a:lnSpc>
              <a:spcBef>
                <a:spcPts val="1200"/>
              </a:spcBef>
              <a:spcAft>
                <a:spcPts val="0"/>
              </a:spcAft>
              <a:buNone/>
            </a:pPr>
            <a:r>
              <a:rPr sz="882" b="1" i="0" spc="80">
                <a:solidFill>
                  <a:srgbClr val="9486AC"/>
                </a:solidFill>
                <a:latin typeface="Fira Sans"/>
              </a:rPr>
              <a:t>PART V   </a:t>
            </a:r>
          </a:p>
          <a:p>
            <a:pPr marL="0" indent="0" algn="l">
              <a:lnSpc>
                <a:spcPts val="1283"/>
              </a:lnSpc>
              <a:spcBef>
                <a:spcPts val="200"/>
              </a:spcBef>
              <a:spcAft>
                <a:spcPts val="0"/>
              </a:spcAft>
              <a:buNone/>
            </a:pPr>
            <a:r>
              <a:rPr sz="1188" b="0" i="0">
                <a:solidFill>
                  <a:srgbClr val="FFFFFF"/>
                </a:solidFill>
                <a:latin typeface="Fira Sans Medium"/>
              </a:rPr>
              <a:t>Strategic exploration</a:t>
            </a:r>
          </a:p>
          <a:p>
            <a:pPr marL="0" indent="0" algn="l">
              <a:lnSpc>
                <a:spcPts val="882"/>
              </a:lnSpc>
              <a:spcBef>
                <a:spcPts val="1200"/>
              </a:spcBef>
              <a:spcAft>
                <a:spcPts val="0"/>
              </a:spcAft>
              <a:buNone/>
            </a:pPr>
            <a:r>
              <a:rPr sz="882" b="1" i="0" spc="80">
                <a:solidFill>
                  <a:srgbClr val="9486AC"/>
                </a:solidFill>
                <a:latin typeface="Fira Sans"/>
              </a:rPr>
              <a:t>PART VI  </a:t>
            </a:r>
          </a:p>
          <a:p>
            <a:pPr marL="0" indent="0" algn="l">
              <a:lnSpc>
                <a:spcPts val="1283"/>
              </a:lnSpc>
              <a:spcBef>
                <a:spcPts val="200"/>
              </a:spcBef>
              <a:spcAft>
                <a:spcPts val="0"/>
              </a:spcAft>
              <a:buNone/>
            </a:pPr>
            <a:r>
              <a:rPr sz="1188" b="0" i="0">
                <a:solidFill>
                  <a:srgbClr val="FFFFFF"/>
                </a:solidFill>
                <a:latin typeface="Fira Sans Medium"/>
              </a:rPr>
              <a:t>Regret, and what to keep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I</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The dilemma, and the bandit</a:t>
            </a:r>
          </a:p>
        </p:txBody>
      </p:sp>
      <p:sp>
        <p:nvSpPr>
          <p:cNvPr id="6" name="TextBox 5"/>
          <p:cNvSpPr txBox="1"/>
          <p:nvPr/>
        </p:nvSpPr>
        <p:spPr>
          <a:xfrm>
            <a:off x="859536" y="3073907"/>
            <a:ext cx="5943600" cy="661781"/>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dirty="0">
                <a:solidFill>
                  <a:srgbClr val="D6D0E0"/>
                </a:solidFill>
                <a:latin typeface="Fira Sans"/>
              </a:rPr>
              <a:t>Once the model is unknown the agent must learn by acting and every action must choose between using what it knows and finding out what it does not. Stripped of sequential consequences, that choice is the multi-armed bandit.</a:t>
            </a:r>
          </a:p>
        </p:txBody>
      </p:sp>
      <p:sp>
        <p:nvSpPr>
          <p:cNvPr id="7" name="Rectangle 6"/>
          <p:cNvSpPr/>
          <p:nvPr/>
        </p:nvSpPr>
        <p:spPr>
          <a:xfrm>
            <a:off x="859536" y="495604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95604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What can the agent never learn from the reward it actually received?</a:t>
            </a:r>
          </a:p>
        </p:txBody>
      </p:sp>
      <p:sp>
        <p:nvSpPr>
          <p:cNvPr id="9" name="Rectangle 8"/>
          <p:cNvSpPr/>
          <p:nvPr/>
        </p:nvSpPr>
        <p:spPr>
          <a:xfrm>
            <a:off x="7424928" y="2084831"/>
            <a:ext cx="10972" cy="32461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324612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Why exploration becomes necessary</a:t>
            </a:r>
          </a:p>
          <a:p>
            <a:pPr marL="0" indent="0" algn="l">
              <a:lnSpc>
                <a:spcPts val="1378"/>
              </a:lnSpc>
              <a:spcBef>
                <a:spcPts val="1300"/>
              </a:spcBef>
              <a:spcAft>
                <a:spcPts val="0"/>
              </a:spcAft>
              <a:buNone/>
            </a:pPr>
            <a:r>
              <a:rPr sz="1188" b="1" i="0">
                <a:solidFill>
                  <a:srgbClr val="B2A7C4"/>
                </a:solidFill>
                <a:latin typeface="Fira Sans"/>
              </a:rPr>
              <a:t>02   </a:t>
            </a:r>
            <a:r>
              <a:rPr sz="1188" b="0" i="0">
                <a:solidFill>
                  <a:srgbClr val="FFFFFF"/>
                </a:solidFill>
                <a:latin typeface="Fira Sans"/>
              </a:rPr>
              <a:t>The multi-armed bandit</a:t>
            </a:r>
          </a:p>
          <a:p>
            <a:pPr marL="0" indent="0" algn="l">
              <a:lnSpc>
                <a:spcPts val="1378"/>
              </a:lnSpc>
              <a:spcBef>
                <a:spcPts val="1300"/>
              </a:spcBef>
              <a:spcAft>
                <a:spcPts val="0"/>
              </a:spcAft>
              <a:buNone/>
            </a:pPr>
            <a:r>
              <a:rPr sz="1188" b="1" i="0">
                <a:solidFill>
                  <a:srgbClr val="B2A7C4"/>
                </a:solidFill>
                <a:latin typeface="Fira Sans"/>
              </a:rPr>
              <a:t>03   </a:t>
            </a:r>
            <a:r>
              <a:rPr sz="1188" b="0" i="0">
                <a:solidFill>
                  <a:srgbClr val="FFFFFF"/>
                </a:solidFill>
                <a:latin typeface="Fira Sans"/>
              </a:rPr>
              <a:t>The objective, simplified</a:t>
            </a:r>
          </a:p>
          <a:p>
            <a:pPr marL="0" indent="0" algn="l">
              <a:lnSpc>
                <a:spcPts val="1378"/>
              </a:lnSpc>
              <a:spcBef>
                <a:spcPts val="1300"/>
              </a:spcBef>
              <a:spcAft>
                <a:spcPts val="0"/>
              </a:spcAft>
              <a:buNone/>
            </a:pPr>
            <a:r>
              <a:rPr sz="1188" b="1" i="0">
                <a:solidFill>
                  <a:srgbClr val="B2A7C4"/>
                </a:solidFill>
                <a:latin typeface="Fira Sans"/>
              </a:rPr>
              <a:t>04   </a:t>
            </a:r>
            <a:r>
              <a:rPr sz="1188" b="0" i="0">
                <a:solidFill>
                  <a:srgbClr val="FFFFFF"/>
                </a:solidFill>
                <a:latin typeface="Fira Sans"/>
              </a:rPr>
              <a:t>The 10-armed testbed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1.1  WHY EXPLORATION BECOMES NECESSARY</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reward tells the agent about the action it took — and about nothing else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I — The dilemma, and the bandit</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a:t>
            </a:r>
          </a:p>
        </p:txBody>
      </p:sp>
      <p:sp>
        <p:nvSpPr>
          <p:cNvPr id="8" name="TextBox 7"/>
          <p:cNvSpPr txBox="1"/>
          <p:nvPr/>
        </p:nvSpPr>
        <p:spPr>
          <a:xfrm>
            <a:off x="841248" y="1316736"/>
            <a:ext cx="6543446" cy="831108"/>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lang="en-GB" sz="1282" noProof="0" dirty="0">
                <a:solidFill>
                  <a:srgbClr val="333639"/>
                </a:solidFill>
                <a:latin typeface="Fira Sans"/>
              </a:rPr>
              <a:t>Before, we</a:t>
            </a:r>
            <a:r>
              <a:rPr lang="en-GB" sz="1282" b="0" i="0" noProof="0" dirty="0">
                <a:solidFill>
                  <a:srgbClr val="333639"/>
                </a:solidFill>
                <a:latin typeface="Fira Sans"/>
              </a:rPr>
              <a:t> assumed the MDP was fully known, so the agent could compute rather than learn. Remove that assumption and the agent must </a:t>
            </a:r>
            <a:r>
              <a:rPr lang="en-GB" sz="1282" b="1" i="0" noProof="0" dirty="0">
                <a:solidFill>
                  <a:srgbClr val="25282A"/>
                </a:solidFill>
                <a:latin typeface="Fira Sans"/>
              </a:rPr>
              <a:t>learn from experience</a:t>
            </a:r>
            <a:r>
              <a:rPr lang="en-GB" sz="1282" b="0" i="0" noProof="0" dirty="0">
                <a:solidFill>
                  <a:srgbClr val="333639"/>
                </a:solidFill>
                <a:latin typeface="Fira Sans"/>
              </a:rPr>
              <a:t>, repeatedly acting while still uncertain about the consequences. That is where a tension appears that dynamic programming never faced.</a:t>
            </a:r>
          </a:p>
        </p:txBody>
      </p:sp>
      <p:sp>
        <p:nvSpPr>
          <p:cNvPr id="9" name="TextBox 8"/>
          <p:cNvSpPr txBox="1"/>
          <p:nvPr/>
        </p:nvSpPr>
        <p:spPr>
          <a:xfrm>
            <a:off x="841248" y="2367300"/>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REWARD IS EVALUATIVE, NOT INSTRUCTIVE</a:t>
            </a:r>
          </a:p>
        </p:txBody>
      </p:sp>
      <p:sp>
        <p:nvSpPr>
          <p:cNvPr id="10" name="TextBox 9"/>
          <p:cNvSpPr txBox="1"/>
          <p:nvPr/>
        </p:nvSpPr>
        <p:spPr>
          <a:xfrm>
            <a:off x="841248" y="2623332"/>
            <a:ext cx="6543446" cy="1119225"/>
          </a:xfrm>
          <a:prstGeom prst="rect">
            <a:avLst/>
          </a:prstGeom>
          <a:noFill/>
        </p:spPr>
        <p:txBody>
          <a:bodyPr wrap="square" lIns="0" tIns="0" rIns="0" bIns="0" anchor="t">
            <a:noAutofit/>
          </a:bodyPr>
          <a:lstStyle/>
          <a:p>
            <a:pPr marL="182880" indent="-182880" algn="l">
              <a:lnSpc>
                <a:spcPts val="1331"/>
              </a:lnSpc>
              <a:spcBef>
                <a:spcPts val="0"/>
              </a:spcBef>
              <a:spcAft>
                <a:spcPts val="0"/>
              </a:spcAft>
              <a:buClr>
                <a:srgbClr val="1971C2"/>
              </a:buClr>
              <a:buFont typeface="Fira Sans"/>
              <a:buChar char="–"/>
            </a:pPr>
            <a:r>
              <a:rPr sz="1188" b="0" i="0" dirty="0">
                <a:solidFill>
                  <a:srgbClr val="333639"/>
                </a:solidFill>
                <a:latin typeface="Fira Sans"/>
              </a:rPr>
              <a:t>The reward says </a:t>
            </a:r>
            <a:r>
              <a:rPr sz="1188" b="1" i="0" dirty="0">
                <a:solidFill>
                  <a:srgbClr val="25282A"/>
                </a:solidFill>
                <a:latin typeface="Fira Sans"/>
              </a:rPr>
              <a:t>how good the action the agent took turned out to be</a:t>
            </a:r>
            <a:r>
              <a:rPr sz="1188" b="0" i="0" dirty="0">
                <a:solidFill>
                  <a:srgbClr val="333639"/>
                </a:solidFill>
                <a:latin typeface="Fira Sans"/>
              </a:rPr>
              <a:t>.</a:t>
            </a:r>
          </a:p>
          <a:p>
            <a:pPr marL="182880" indent="-182880" algn="l">
              <a:lnSpc>
                <a:spcPts val="1331"/>
              </a:lnSpc>
              <a:spcBef>
                <a:spcPts val="900"/>
              </a:spcBef>
              <a:spcAft>
                <a:spcPts val="0"/>
              </a:spcAft>
              <a:buClr>
                <a:srgbClr val="1971C2"/>
              </a:buClr>
              <a:buFont typeface="Fira Sans"/>
              <a:buChar char="–"/>
            </a:pPr>
            <a:r>
              <a:rPr sz="1188" b="0" i="0" dirty="0">
                <a:solidFill>
                  <a:srgbClr val="333639"/>
                </a:solidFill>
                <a:latin typeface="Fira Sans"/>
              </a:rPr>
              <a:t>It says </a:t>
            </a:r>
            <a:r>
              <a:rPr sz="1188" b="1" i="0" dirty="0">
                <a:solidFill>
                  <a:srgbClr val="C8102E"/>
                </a:solidFill>
                <a:latin typeface="Fira Sans"/>
              </a:rPr>
              <a:t>nothing</a:t>
            </a:r>
            <a:r>
              <a:rPr sz="1188" b="0" i="0" dirty="0">
                <a:solidFill>
                  <a:srgbClr val="333639"/>
                </a:solidFill>
                <a:latin typeface="Fira Sans"/>
              </a:rPr>
              <a:t> about what would have happened under any of the other available actions. Those remain unknown.</a:t>
            </a:r>
          </a:p>
          <a:p>
            <a:pPr marL="182880" indent="-182880" algn="l">
              <a:lnSpc>
                <a:spcPts val="1331"/>
              </a:lnSpc>
              <a:spcBef>
                <a:spcPts val="900"/>
              </a:spcBef>
              <a:spcAft>
                <a:spcPts val="0"/>
              </a:spcAft>
              <a:buClr>
                <a:srgbClr val="1971C2"/>
              </a:buClr>
              <a:buFont typeface="Fira Sans"/>
              <a:buChar char="–"/>
            </a:pPr>
            <a:r>
              <a:rPr sz="1188" b="0" i="0" dirty="0">
                <a:solidFill>
                  <a:srgbClr val="333639"/>
                </a:solidFill>
                <a:latin typeface="Fira Sans"/>
              </a:rPr>
              <a:t>The only way to learn about them is to </a:t>
            </a:r>
            <a:r>
              <a:rPr sz="1188" b="1" i="0" dirty="0">
                <a:solidFill>
                  <a:srgbClr val="2B7A3E"/>
                </a:solidFill>
                <a:latin typeface="Fira Sans"/>
              </a:rPr>
              <a:t>try them</a:t>
            </a:r>
            <a:r>
              <a:rPr lang="it-IT" sz="1188" dirty="0">
                <a:solidFill>
                  <a:srgbClr val="333639"/>
                </a:solidFill>
                <a:latin typeface="Fira Sans"/>
              </a:rPr>
              <a:t>, </a:t>
            </a:r>
            <a:r>
              <a:rPr sz="1188" b="0" i="0" dirty="0">
                <a:solidFill>
                  <a:srgbClr val="333639"/>
                </a:solidFill>
                <a:latin typeface="Fira Sans"/>
              </a:rPr>
              <a:t>and trying them costs whatever reward the known-good action would have paid.</a:t>
            </a:r>
          </a:p>
        </p:txBody>
      </p:sp>
      <p:sp>
        <p:nvSpPr>
          <p:cNvPr id="11" name="Rectangle 10"/>
          <p:cNvSpPr/>
          <p:nvPr/>
        </p:nvSpPr>
        <p:spPr>
          <a:xfrm>
            <a:off x="841248" y="3980301"/>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4199757"/>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QUESTION, IN ONE LINE</a:t>
            </a:r>
          </a:p>
        </p:txBody>
      </p:sp>
      <p:sp>
        <p:nvSpPr>
          <p:cNvPr id="13" name="TextBox 12"/>
          <p:cNvSpPr txBox="1"/>
          <p:nvPr/>
        </p:nvSpPr>
        <p:spPr>
          <a:xfrm>
            <a:off x="841248" y="4437501"/>
            <a:ext cx="6543446" cy="870686"/>
          </a:xfrm>
          <a:prstGeom prst="rect">
            <a:avLst/>
          </a:prstGeom>
          <a:noFill/>
        </p:spPr>
        <p:txBody>
          <a:bodyPr wrap="square" lIns="0" tIns="0" rIns="0" bIns="0" anchor="t">
            <a:noAutofit/>
          </a:bodyPr>
          <a:lstStyle/>
          <a:p>
            <a:pPr marL="0" indent="0" algn="l">
              <a:lnSpc>
                <a:spcPts val="1664"/>
              </a:lnSpc>
              <a:spcBef>
                <a:spcPts val="0"/>
              </a:spcBef>
              <a:spcAft>
                <a:spcPts val="0"/>
              </a:spcAft>
              <a:buNone/>
            </a:pPr>
            <a:r>
              <a:rPr lang="it-IT" sz="1410" b="0" i="1" dirty="0">
                <a:solidFill>
                  <a:srgbClr val="25282A"/>
                </a:solidFill>
                <a:latin typeface="Fira Sans"/>
              </a:rPr>
              <a:t>“</a:t>
            </a:r>
            <a:r>
              <a:rPr sz="1410" b="0" i="1" dirty="0">
                <a:solidFill>
                  <a:srgbClr val="25282A"/>
                </a:solidFill>
                <a:latin typeface="Fira Sans"/>
              </a:rPr>
              <a:t>Is the good we already know </a:t>
            </a:r>
            <a:r>
              <a:rPr sz="1410" b="1" i="1" dirty="0">
                <a:solidFill>
                  <a:srgbClr val="25282A"/>
                </a:solidFill>
                <a:latin typeface="Fira Sans"/>
              </a:rPr>
              <a:t>good enough</a:t>
            </a:r>
            <a:r>
              <a:rPr sz="1410" b="0" i="1" dirty="0">
                <a:solidFill>
                  <a:srgbClr val="25282A"/>
                </a:solidFill>
                <a:latin typeface="Fira Sans"/>
              </a:rPr>
              <a:t>?”</a:t>
            </a:r>
          </a:p>
          <a:p>
            <a:pPr marL="0" indent="0" algn="l">
              <a:lnSpc>
                <a:spcPts val="1368"/>
              </a:lnSpc>
              <a:spcBef>
                <a:spcPts val="800"/>
              </a:spcBef>
              <a:spcAft>
                <a:spcPts val="0"/>
              </a:spcAft>
              <a:buNone/>
            </a:pPr>
            <a:r>
              <a:rPr sz="1140" b="0" i="0" dirty="0">
                <a:solidFill>
                  <a:srgbClr val="626669"/>
                </a:solidFill>
                <a:latin typeface="Fira Sans"/>
              </a:rPr>
              <a:t>The agent can never be completely certain that the best option found so far is the best option available. Deciding when to acquire new knowledge and when to </a:t>
            </a:r>
            <a:r>
              <a:rPr sz="1140" b="0" i="0" dirty="0" err="1">
                <a:solidFill>
                  <a:srgbClr val="626669"/>
                </a:solidFill>
                <a:latin typeface="Fira Sans"/>
              </a:rPr>
              <a:t>capitalise</a:t>
            </a:r>
            <a:r>
              <a:rPr sz="1140" b="0" i="0" dirty="0">
                <a:solidFill>
                  <a:srgbClr val="626669"/>
                </a:solidFill>
                <a:latin typeface="Fira Sans"/>
              </a:rPr>
              <a:t> on what has already been learned is the </a:t>
            </a:r>
            <a:r>
              <a:rPr sz="1140" b="1" i="0" dirty="0">
                <a:solidFill>
                  <a:srgbClr val="25282A"/>
                </a:solidFill>
                <a:latin typeface="Fira Sans"/>
              </a:rPr>
              <a:t>exploration–exploitation dilemma</a:t>
            </a:r>
            <a:r>
              <a:rPr sz="1140" b="0" i="0" dirty="0">
                <a:solidFill>
                  <a:srgbClr val="626669"/>
                </a:solidFill>
                <a:latin typeface="Fira Sans"/>
              </a:rPr>
              <a:t>.</a:t>
            </a:r>
          </a:p>
        </p:txBody>
      </p:sp>
      <p:sp>
        <p:nvSpPr>
          <p:cNvPr id="14" name="Rectangle 13"/>
          <p:cNvSpPr/>
          <p:nvPr/>
        </p:nvSpPr>
        <p:spPr>
          <a:xfrm>
            <a:off x="7618780" y="1316736"/>
            <a:ext cx="3731940" cy="1196035"/>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7618780" y="1316736"/>
            <a:ext cx="41148" cy="1196035"/>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838236" y="1463039"/>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THE EVERYDAY VERSION</a:t>
            </a:r>
          </a:p>
        </p:txBody>
      </p:sp>
      <p:sp>
        <p:nvSpPr>
          <p:cNvPr id="17" name="TextBox 16"/>
          <p:cNvSpPr txBox="1"/>
          <p:nvPr/>
        </p:nvSpPr>
        <p:spPr>
          <a:xfrm>
            <a:off x="7838236" y="1700784"/>
            <a:ext cx="3347892" cy="66568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At your favourite restaurant: order the dish you know you like, or finally try the one you have been curious about? The first </a:t>
            </a:r>
            <a:r>
              <a:rPr sz="1092" b="1" i="0">
                <a:solidFill>
                  <a:srgbClr val="333639"/>
                </a:solidFill>
                <a:latin typeface="Fira Sans"/>
              </a:rPr>
              <a:t>exploits</a:t>
            </a:r>
            <a:r>
              <a:rPr sz="1092" b="0" i="0">
                <a:solidFill>
                  <a:srgbClr val="333639"/>
                </a:solidFill>
                <a:latin typeface="Fira Sans"/>
              </a:rPr>
              <a:t> what you know; the second </a:t>
            </a:r>
            <a:r>
              <a:rPr sz="1092" b="1" i="0">
                <a:solidFill>
                  <a:srgbClr val="333639"/>
                </a:solidFill>
                <a:latin typeface="Fira Sans"/>
              </a:rPr>
              <a:t>explores</a:t>
            </a:r>
            <a:r>
              <a:rPr sz="1092" b="0" i="0">
                <a:solidFill>
                  <a:srgbClr val="333639"/>
                </a:solidFill>
                <a:latin typeface="Fira Sans"/>
              </a:rPr>
              <a:t>, hoping for something better.</a:t>
            </a:r>
          </a:p>
        </p:txBody>
      </p:sp>
      <p:sp>
        <p:nvSpPr>
          <p:cNvPr id="18" name="TextBox 17"/>
          <p:cNvSpPr txBox="1"/>
          <p:nvPr/>
        </p:nvSpPr>
        <p:spPr>
          <a:xfrm>
            <a:off x="7618780" y="2787091"/>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WHERE WE MET THIS BEFORE</a:t>
            </a:r>
          </a:p>
        </p:txBody>
      </p:sp>
      <p:sp>
        <p:nvSpPr>
          <p:cNvPr id="19" name="TextBox 18"/>
          <p:cNvSpPr txBox="1"/>
          <p:nvPr/>
        </p:nvSpPr>
        <p:spPr>
          <a:xfrm>
            <a:off x="7618780" y="2969971"/>
            <a:ext cx="3731940" cy="1070253"/>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0" i="0" dirty="0">
                <a:solidFill>
                  <a:srgbClr val="333639"/>
                </a:solidFill>
                <a:latin typeface="Fira Sans"/>
              </a:rPr>
              <a:t>Chapter 02 listed it as one of the </a:t>
            </a:r>
            <a:r>
              <a:rPr sz="1092" b="1" i="0" dirty="0">
                <a:solidFill>
                  <a:srgbClr val="25282A"/>
                </a:solidFill>
                <a:latin typeface="Fira Sans"/>
              </a:rPr>
              <a:t>three properties of the feedback</a:t>
            </a:r>
            <a:r>
              <a:rPr sz="1092" b="0" i="0" dirty="0">
                <a:solidFill>
                  <a:srgbClr val="333639"/>
                </a:solidFill>
                <a:latin typeface="Fira Sans"/>
              </a:rPr>
              <a:t> that make reinforcement learning hard</a:t>
            </a:r>
            <a:r>
              <a:rPr lang="it-IT" sz="1092" b="0" i="0" dirty="0">
                <a:solidFill>
                  <a:srgbClr val="333639"/>
                </a:solidFill>
                <a:latin typeface="Fira Sans"/>
              </a:rPr>
              <a:t>,</a:t>
            </a:r>
            <a:r>
              <a:rPr sz="1092" b="0" i="0" dirty="0">
                <a:solidFill>
                  <a:srgbClr val="333639"/>
                </a:solidFill>
                <a:latin typeface="Fira Sans"/>
              </a:rPr>
              <a:t> alongside the credit-assignment problem and sampled feedback.</a:t>
            </a:r>
          </a:p>
          <a:p>
            <a:pPr marL="182880" indent="-182880" algn="l">
              <a:lnSpc>
                <a:spcPts val="1223"/>
              </a:lnSpc>
              <a:spcBef>
                <a:spcPts val="800"/>
              </a:spcBef>
              <a:spcAft>
                <a:spcPts val="0"/>
              </a:spcAft>
              <a:buClr>
                <a:srgbClr val="1971C2"/>
              </a:buClr>
              <a:buFont typeface="Fira Sans"/>
              <a:buChar char="–"/>
            </a:pPr>
            <a:r>
              <a:rPr sz="1092" b="0" i="0" dirty="0">
                <a:solidFill>
                  <a:srgbClr val="333639"/>
                </a:solidFill>
                <a:latin typeface="Fira Sans"/>
              </a:rPr>
              <a:t>Chapter 03 could ignore it entirely: with a perfect model, </a:t>
            </a:r>
            <a:r>
              <a:rPr sz="1092" b="1" i="0" dirty="0">
                <a:solidFill>
                  <a:srgbClr val="574676"/>
                </a:solidFill>
                <a:latin typeface="Fira Sans"/>
              </a:rPr>
              <a:t>there is nothing to discover by trying</a:t>
            </a:r>
            <a:r>
              <a:rPr sz="1092" b="0" i="0" dirty="0">
                <a:solidFill>
                  <a:srgbClr val="333639"/>
                </a:solidFill>
                <a:latin typeface="Fira Sans"/>
              </a:rPr>
              <a:t>.</a:t>
            </a:r>
          </a:p>
        </p:txBody>
      </p:sp>
      <p:sp>
        <p:nvSpPr>
          <p:cNvPr id="20" name="Rectangle 19"/>
          <p:cNvSpPr/>
          <p:nvPr/>
        </p:nvSpPr>
        <p:spPr>
          <a:xfrm>
            <a:off x="7618780" y="4223105"/>
            <a:ext cx="3731940" cy="1167384"/>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7618780" y="4223105"/>
            <a:ext cx="41148" cy="1167384"/>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838236" y="4369409"/>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9AA6B2"/>
                </a:solidFill>
                <a:latin typeface="Fira Sans"/>
              </a:rPr>
              <a:t>THE PLAN FOR THIS CHAPTER</a:t>
            </a:r>
          </a:p>
        </p:txBody>
      </p:sp>
      <p:sp>
        <p:nvSpPr>
          <p:cNvPr id="23" name="TextBox 22"/>
          <p:cNvSpPr txBox="1"/>
          <p:nvPr/>
        </p:nvSpPr>
        <p:spPr>
          <a:xfrm>
            <a:off x="7838236" y="4607153"/>
            <a:ext cx="3347892" cy="637031"/>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To study the dilemma on its own, we temporarily remove the sequential part of the problem: one state, one decision, no consequences. What remains is the </a:t>
            </a:r>
            <a:r>
              <a:rPr sz="1045" b="1" i="0">
                <a:solidFill>
                  <a:srgbClr val="333639"/>
                </a:solidFill>
                <a:latin typeface="Fira Sans"/>
              </a:rPr>
              <a:t>multi-armed bandit</a:t>
            </a:r>
            <a:r>
              <a:rPr sz="1045" b="0" i="0">
                <a:solidFill>
                  <a:srgbClr val="333639"/>
                </a:solidFill>
                <a:latin typeface="Fira Sans"/>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1.2  THE MULTI-ARMED BANDIT</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Many options, a single choice, and no future to worry about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I — The dilemma, and the bandit</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a:t>
            </a:r>
          </a:p>
        </p:txBody>
      </p:sp>
      <p:sp>
        <p:nvSpPr>
          <p:cNvPr id="8" name="TextBox 7"/>
          <p:cNvSpPr txBox="1"/>
          <p:nvPr/>
        </p:nvSpPr>
        <p:spPr>
          <a:xfrm>
            <a:off x="841248" y="1316736"/>
            <a:ext cx="10515600" cy="632475"/>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A multi-armed bandit is a reinforcement learning problem with </a:t>
            </a:r>
            <a:r>
              <a:rPr sz="1282" b="1" i="0">
                <a:solidFill>
                  <a:srgbClr val="25282A"/>
                </a:solidFill>
                <a:latin typeface="Fira Sans"/>
              </a:rPr>
              <a:t>a single state</a:t>
            </a:r>
            <a:r>
              <a:rPr sz="1282" b="0" i="0">
                <a:solidFill>
                  <a:srgbClr val="333639"/>
                </a:solidFill>
                <a:latin typeface="Fira Sans"/>
              </a:rPr>
              <a:t> and </a:t>
            </a:r>
            <a:r>
              <a:rPr sz="1282" b="1" i="0">
                <a:solidFill>
                  <a:srgbClr val="25282A"/>
                </a:solidFill>
                <a:latin typeface="Fira Sans"/>
              </a:rPr>
              <a:t>a horizon of one step</a:t>
            </a:r>
            <a:r>
              <a:rPr sz="1282" b="0" i="0">
                <a:solidFill>
                  <a:srgbClr val="333639"/>
                </a:solidFill>
                <a:latin typeface="Fira Sans"/>
              </a:rPr>
              <a:t>. At each step the agent chooses one of k actions and receives a reward drawn from a fixed distribution attached to that action. There is no next state, so nothing the agent does changes the problem it faces next time.</a:t>
            </a:r>
          </a:p>
        </p:txBody>
      </p:sp>
      <p:pic>
        <p:nvPicPr>
          <p:cNvPr id="9" name="Picture 8" descr="bandit.png"/>
          <p:cNvPicPr>
            <a:picLocks noChangeAspect="1"/>
          </p:cNvPicPr>
          <p:nvPr/>
        </p:nvPicPr>
        <p:blipFill>
          <a:blip r:embed="rId2"/>
          <a:stretch>
            <a:fillRect/>
          </a:stretch>
        </p:blipFill>
        <p:spPr>
          <a:xfrm>
            <a:off x="2976131" y="2150379"/>
            <a:ext cx="6245833" cy="2560320"/>
          </a:xfrm>
          <a:prstGeom prst="rect">
            <a:avLst/>
          </a:prstGeom>
        </p:spPr>
      </p:pic>
      <p:sp>
        <p:nvSpPr>
          <p:cNvPr id="10" name="TextBox 9"/>
          <p:cNvSpPr txBox="1"/>
          <p:nvPr/>
        </p:nvSpPr>
        <p:spPr>
          <a:xfrm>
            <a:off x="841248" y="4802139"/>
            <a:ext cx="10515600" cy="172212"/>
          </a:xfrm>
          <a:prstGeom prst="rect">
            <a:avLst/>
          </a:prstGeom>
          <a:noFill/>
        </p:spPr>
        <p:txBody>
          <a:bodyPr wrap="square" lIns="0" tIns="0" rIns="0" bIns="0" anchor="t">
            <a:noAutofit/>
          </a:bodyPr>
          <a:lstStyle/>
          <a:p>
            <a:pPr marL="0" indent="0" algn="ctr">
              <a:lnSpc>
                <a:spcPts val="1140"/>
              </a:lnSpc>
              <a:spcBef>
                <a:spcPts val="0"/>
              </a:spcBef>
              <a:spcAft>
                <a:spcPts val="0"/>
              </a:spcAft>
              <a:buNone/>
            </a:pPr>
            <a:r>
              <a:rPr sz="950" b="0" i="1">
                <a:solidFill>
                  <a:srgbClr val="626669"/>
                </a:solidFill>
                <a:latin typeface="Fira Sans"/>
              </a:rPr>
              <a:t>The name comes from a slot machine with several arms. The agent sees only the rewards its own pulls produced — never the rewards the arms it did not pull would have paid.</a:t>
            </a:r>
          </a:p>
        </p:txBody>
      </p:sp>
      <p:sp>
        <p:nvSpPr>
          <p:cNvPr id="11" name="Rectangle 10"/>
          <p:cNvSpPr/>
          <p:nvPr/>
        </p:nvSpPr>
        <p:spPr>
          <a:xfrm>
            <a:off x="841248" y="5157231"/>
            <a:ext cx="3346704" cy="292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5303535"/>
            <a:ext cx="3346704" cy="237744"/>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a:solidFill>
                  <a:srgbClr val="25282A"/>
                </a:solidFill>
                <a:latin typeface="Fira Sans"/>
              </a:rPr>
              <a:t>Multiple actions</a:t>
            </a:r>
          </a:p>
        </p:txBody>
      </p:sp>
      <p:sp>
        <p:nvSpPr>
          <p:cNvPr id="13" name="TextBox 12"/>
          <p:cNvSpPr txBox="1"/>
          <p:nvPr/>
        </p:nvSpPr>
        <p:spPr>
          <a:xfrm>
            <a:off x="841248" y="5596143"/>
            <a:ext cx="3346704" cy="355092"/>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626669"/>
                </a:solidFill>
                <a:latin typeface="Fira Sans"/>
              </a:rPr>
              <a:t>k arms, each with its own </a:t>
            </a:r>
            <a:r>
              <a:rPr sz="1045" b="1" i="0" dirty="0">
                <a:solidFill>
                  <a:srgbClr val="626669"/>
                </a:solidFill>
                <a:latin typeface="Fira Sans"/>
              </a:rPr>
              <a:t>unknown reward distribution</a:t>
            </a:r>
            <a:r>
              <a:rPr sz="1045" b="0" i="0" dirty="0">
                <a:solidFill>
                  <a:srgbClr val="626669"/>
                </a:solidFill>
                <a:latin typeface="Fira Sans"/>
              </a:rPr>
              <a:t>. Choosing one is the entire decision problem.</a:t>
            </a:r>
          </a:p>
        </p:txBody>
      </p:sp>
      <p:sp>
        <p:nvSpPr>
          <p:cNvPr id="14" name="Rectangle 13"/>
          <p:cNvSpPr/>
          <p:nvPr/>
        </p:nvSpPr>
        <p:spPr>
          <a:xfrm>
            <a:off x="4425696" y="5157231"/>
            <a:ext cx="3346704" cy="2926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425696" y="5303535"/>
            <a:ext cx="3346704" cy="237744"/>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a:solidFill>
                  <a:srgbClr val="25282A"/>
                </a:solidFill>
                <a:latin typeface="Fira Sans"/>
              </a:rPr>
              <a:t>A single state</a:t>
            </a:r>
          </a:p>
        </p:txBody>
      </p:sp>
      <p:sp>
        <p:nvSpPr>
          <p:cNvPr id="16" name="TextBox 15"/>
          <p:cNvSpPr txBox="1"/>
          <p:nvPr/>
        </p:nvSpPr>
        <p:spPr>
          <a:xfrm>
            <a:off x="4425696" y="5596143"/>
            <a:ext cx="3346704" cy="51435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626669"/>
                </a:solidFill>
                <a:latin typeface="Fira Sans"/>
              </a:rPr>
              <a:t>The agent always faces the same situation. There is no state to describe, and therefore no policy in the Chapter 02 sense — just a choice among k options.</a:t>
            </a:r>
          </a:p>
        </p:txBody>
      </p:sp>
      <p:sp>
        <p:nvSpPr>
          <p:cNvPr id="17" name="Rectangle 16"/>
          <p:cNvSpPr/>
          <p:nvPr/>
        </p:nvSpPr>
        <p:spPr>
          <a:xfrm>
            <a:off x="8010144" y="5157231"/>
            <a:ext cx="3346704" cy="29260"/>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010144" y="5303535"/>
            <a:ext cx="3346704" cy="237744"/>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a:solidFill>
                  <a:srgbClr val="25282A"/>
                </a:solidFill>
                <a:latin typeface="Fira Sans"/>
              </a:rPr>
              <a:t>No sequential consequences</a:t>
            </a:r>
          </a:p>
        </p:txBody>
      </p:sp>
      <p:sp>
        <p:nvSpPr>
          <p:cNvPr id="19" name="TextBox 18"/>
          <p:cNvSpPr txBox="1"/>
          <p:nvPr/>
        </p:nvSpPr>
        <p:spPr>
          <a:xfrm>
            <a:off x="8010144" y="5596143"/>
            <a:ext cx="3346704" cy="51435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626669"/>
                </a:solidFill>
                <a:latin typeface="Fira Sans"/>
              </a:rPr>
              <a:t>An action produces a reward and the interaction ends. Nothing an action does today makes tomorrow easier or harder.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1.3  THE VALUE OF AN ARM, AND THE OBJECTIVE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Remove the terms that no longer apply, and one expectation is left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I — The dilemma, and the bandit</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5</a:t>
            </a:r>
          </a:p>
        </p:txBody>
      </p:sp>
      <p:sp>
        <p:nvSpPr>
          <p:cNvPr id="8" name="TextBox 7"/>
          <p:cNvSpPr txBox="1"/>
          <p:nvPr/>
        </p:nvSpPr>
        <p:spPr>
          <a:xfrm>
            <a:off x="841248" y="1316736"/>
            <a:ext cx="6543446"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The true value of an action is its </a:t>
            </a:r>
            <a:r>
              <a:rPr sz="1282" b="1" i="0">
                <a:solidFill>
                  <a:srgbClr val="25282A"/>
                </a:solidFill>
                <a:latin typeface="Fira Sans"/>
              </a:rPr>
              <a:t>expected reward</a:t>
            </a:r>
            <a:r>
              <a:rPr sz="1282" b="0" i="0">
                <a:solidFill>
                  <a:srgbClr val="333639"/>
                </a:solidFill>
                <a:latin typeface="Fira Sans"/>
              </a:rPr>
              <a:t> — a single number per arm, fixed but unknown:</a:t>
            </a:r>
          </a:p>
        </p:txBody>
      </p:sp>
      <p:pic>
        <p:nvPicPr>
          <p:cNvPr id="9" name="Picture 8" descr="eq_q_def.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568" y="1951746"/>
            <a:ext cx="3232657" cy="412750"/>
          </a:xfrm>
          <a:prstGeom prst="rect">
            <a:avLst/>
          </a:prstGeom>
        </p:spPr>
      </p:pic>
      <p:pic>
        <p:nvPicPr>
          <p:cNvPr id="10" name="Picture 9" descr="eq_q_def_ann.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2688" y="2638816"/>
            <a:ext cx="5325491" cy="649097"/>
          </a:xfrm>
          <a:prstGeom prst="rect">
            <a:avLst/>
          </a:prstGeom>
        </p:spPr>
      </p:pic>
      <p:sp>
        <p:nvSpPr>
          <p:cNvPr id="11" name="Rectangle 10"/>
          <p:cNvSpPr/>
          <p:nvPr/>
        </p:nvSpPr>
        <p:spPr>
          <a:xfrm>
            <a:off x="841248" y="3580521"/>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3799977"/>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IF THE VALUES WERE KNOWN THE PROBLEM WOULD BE TRIVIAL</a:t>
            </a:r>
          </a:p>
        </p:txBody>
      </p:sp>
      <p:pic>
        <p:nvPicPr>
          <p:cNvPr id="13" name="Picture 12" descr="eq_a_star.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5568" y="4092585"/>
            <a:ext cx="2557272" cy="576072"/>
          </a:xfrm>
          <a:prstGeom prst="rect">
            <a:avLst/>
          </a:prstGeom>
        </p:spPr>
      </p:pic>
      <p:sp>
        <p:nvSpPr>
          <p:cNvPr id="14" name="TextBox 13"/>
          <p:cNvSpPr txBox="1"/>
          <p:nvPr/>
        </p:nvSpPr>
        <p:spPr>
          <a:xfrm>
            <a:off x="841248" y="4906401"/>
            <a:ext cx="6543446" cy="389839"/>
          </a:xfrm>
          <a:prstGeom prst="rect">
            <a:avLst/>
          </a:prstGeom>
          <a:noFill/>
        </p:spPr>
        <p:txBody>
          <a:bodyPr wrap="square" lIns="0" tIns="0" rIns="0" bIns="0" anchor="t">
            <a:noAutofit/>
          </a:bodyPr>
          <a:lstStyle/>
          <a:p>
            <a:pPr marL="0" indent="0" algn="l">
              <a:lnSpc>
                <a:spcPts val="1391"/>
              </a:lnSpc>
              <a:spcBef>
                <a:spcPts val="0"/>
              </a:spcBef>
              <a:spcAft>
                <a:spcPts val="0"/>
              </a:spcAft>
              <a:buNone/>
            </a:pPr>
            <a:r>
              <a:rPr sz="1140" b="0" i="0">
                <a:solidFill>
                  <a:srgbClr val="333639"/>
                </a:solidFill>
                <a:latin typeface="Fira Sans"/>
              </a:rPr>
              <a:t>Always pull the best arm. But the values are unknown: the agent holds only </a:t>
            </a:r>
            <a:r>
              <a:rPr sz="1140" b="1" i="0">
                <a:solidFill>
                  <a:srgbClr val="C8102E"/>
                </a:solidFill>
                <a:latin typeface="Fira Sans"/>
              </a:rPr>
              <a:t>estimates</a:t>
            </a:r>
            <a:r>
              <a:rPr sz="1140" b="0" i="0">
                <a:solidFill>
                  <a:srgbClr val="333639"/>
                </a:solidFill>
                <a:latin typeface="Fira Sans"/>
              </a:rPr>
              <a:t> built from the rewards it has happened to observe, and those estimates are inherently uncertain.</a:t>
            </a:r>
          </a:p>
        </p:txBody>
      </p:sp>
      <p:sp>
        <p:nvSpPr>
          <p:cNvPr id="15" name="TextBox 14"/>
          <p:cNvSpPr txBox="1"/>
          <p:nvPr/>
        </p:nvSpPr>
        <p:spPr>
          <a:xfrm>
            <a:off x="7618780" y="1316736"/>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WHAT THE OBJECTIVE BECOMES</a:t>
            </a:r>
          </a:p>
        </p:txBody>
      </p:sp>
      <p:pic>
        <p:nvPicPr>
          <p:cNvPr id="16" name="Picture 15" descr="eq_mab_obj.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18780" y="1572768"/>
            <a:ext cx="3731940" cy="901600"/>
          </a:xfrm>
          <a:prstGeom prst="rect">
            <a:avLst/>
          </a:prstGeom>
        </p:spPr>
      </p:pic>
      <p:sp>
        <p:nvSpPr>
          <p:cNvPr id="17" name="TextBox 16"/>
          <p:cNvSpPr txBox="1"/>
          <p:nvPr/>
        </p:nvSpPr>
        <p:spPr>
          <a:xfrm>
            <a:off x="7618780" y="2693824"/>
            <a:ext cx="3731940" cy="1025550"/>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0" i="0">
                <a:solidFill>
                  <a:srgbClr val="333639"/>
                </a:solidFill>
                <a:latin typeface="Fira Sans"/>
              </a:rPr>
              <a:t>No </a:t>
            </a:r>
            <a:r>
              <a:rPr sz="1092" b="1" i="0">
                <a:solidFill>
                  <a:srgbClr val="25282A"/>
                </a:solidFill>
                <a:latin typeface="Fira Sans"/>
              </a:rPr>
              <a:t>cumulative</a:t>
            </a:r>
            <a:r>
              <a:rPr sz="1092" b="0" i="0">
                <a:solidFill>
                  <a:srgbClr val="333639"/>
                </a:solidFill>
                <a:latin typeface="Fira Sans"/>
              </a:rPr>
              <a:t> reward: a single interaction produces a single reward.</a:t>
            </a:r>
          </a:p>
          <a:p>
            <a:pPr marL="182880" indent="-182880" algn="l">
              <a:lnSpc>
                <a:spcPts val="1223"/>
              </a:lnSpc>
              <a:spcBef>
                <a:spcPts val="800"/>
              </a:spcBef>
              <a:spcAft>
                <a:spcPts val="0"/>
              </a:spcAft>
              <a:buClr>
                <a:srgbClr val="1971C2"/>
              </a:buClr>
              <a:buFont typeface="Fira Sans"/>
              <a:buChar char="–"/>
            </a:pPr>
            <a:r>
              <a:rPr sz="1092" b="0" i="0">
                <a:solidFill>
                  <a:srgbClr val="333639"/>
                </a:solidFill>
                <a:latin typeface="Fira Sans"/>
              </a:rPr>
              <a:t>No </a:t>
            </a:r>
            <a:r>
              <a:rPr sz="1092" b="1" i="0">
                <a:solidFill>
                  <a:srgbClr val="25282A"/>
                </a:solidFill>
                <a:latin typeface="Fira Sans"/>
              </a:rPr>
              <a:t>discounting</a:t>
            </a:r>
            <a:r>
              <a:rPr sz="1092" b="0" i="0">
                <a:solidFill>
                  <a:srgbClr val="333639"/>
                </a:solidFill>
                <a:latin typeface="Fira Sans"/>
              </a:rPr>
              <a:t>: there is no future reward to discount.</a:t>
            </a:r>
          </a:p>
          <a:p>
            <a:pPr marL="182880" indent="-182880" algn="l">
              <a:lnSpc>
                <a:spcPts val="1223"/>
              </a:lnSpc>
              <a:spcBef>
                <a:spcPts val="800"/>
              </a:spcBef>
              <a:spcAft>
                <a:spcPts val="0"/>
              </a:spcAft>
              <a:buClr>
                <a:srgbClr val="1971C2"/>
              </a:buClr>
              <a:buFont typeface="Fira Sans"/>
              <a:buChar char="–"/>
            </a:pPr>
            <a:r>
              <a:rPr sz="1092" b="0" i="0">
                <a:solidFill>
                  <a:srgbClr val="333639"/>
                </a:solidFill>
                <a:latin typeface="Fira Sans"/>
              </a:rPr>
              <a:t>The word </a:t>
            </a:r>
            <a:r>
              <a:rPr sz="1092" b="1" i="0">
                <a:solidFill>
                  <a:srgbClr val="C8102E"/>
                </a:solidFill>
                <a:latin typeface="Fira Sans"/>
              </a:rPr>
              <a:t>expected</a:t>
            </a:r>
            <a:r>
              <a:rPr sz="1092" b="0" i="0">
                <a:solidFill>
                  <a:srgbClr val="333639"/>
                </a:solidFill>
                <a:latin typeface="Fira Sans"/>
              </a:rPr>
              <a:t> survives, and it carries the whole difficulty.</a:t>
            </a:r>
          </a:p>
        </p:txBody>
      </p:sp>
      <p:sp>
        <p:nvSpPr>
          <p:cNvPr id="18" name="Rectangle 17"/>
          <p:cNvSpPr/>
          <p:nvPr/>
        </p:nvSpPr>
        <p:spPr>
          <a:xfrm>
            <a:off x="7618780" y="3975406"/>
            <a:ext cx="3731940" cy="1196035"/>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7618780" y="3975406"/>
            <a:ext cx="41148" cy="1196035"/>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838236" y="4121710"/>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8A5100"/>
                </a:solidFill>
                <a:latin typeface="Fira Sans"/>
              </a:rPr>
              <a:t>WHY ONE LUCKY PULL PROVES NOTHING</a:t>
            </a:r>
          </a:p>
        </p:txBody>
      </p:sp>
      <p:sp>
        <p:nvSpPr>
          <p:cNvPr id="21" name="TextBox 20"/>
          <p:cNvSpPr txBox="1"/>
          <p:nvPr/>
        </p:nvSpPr>
        <p:spPr>
          <a:xfrm>
            <a:off x="7838236" y="4359454"/>
            <a:ext cx="3347892" cy="66568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Rewards are stochastic: the same arm can pay differently each time. The agent must find the arm with the highest </a:t>
            </a:r>
            <a:r>
              <a:rPr sz="1092" b="1" i="0">
                <a:solidFill>
                  <a:srgbClr val="333639"/>
                </a:solidFill>
                <a:latin typeface="Fira Sans"/>
              </a:rPr>
              <a:t>expected</a:t>
            </a:r>
            <a:r>
              <a:rPr sz="1092" b="0" i="0">
                <a:solidFill>
                  <a:srgbClr val="333639"/>
                </a:solidFill>
                <a:latin typeface="Fira Sans"/>
              </a:rPr>
              <a:t> reward, not the one that happened to pay best on a particular pull.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1.4  THE 10-ARMED TESTBED</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Ten arms, ten unknown means, and a great deal of overlap</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I — The dilemma, and the bandit</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6</a:t>
            </a:r>
          </a:p>
        </p:txBody>
      </p:sp>
      <p:sp>
        <p:nvSpPr>
          <p:cNvPr id="8" name="TextBox 7"/>
          <p:cNvSpPr txBox="1"/>
          <p:nvPr/>
        </p:nvSpPr>
        <p:spPr>
          <a:xfrm>
            <a:off x="841248" y="1316736"/>
            <a:ext cx="6543446" cy="610628"/>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Every experiment in this chapter uses the same environment. When a bandit is created, a true value is drawn for each of the ten arms from a standard normal. A pull of arm a then returns a reward drawn from a normal centred at that arm’s true value, with unit variance.</a:t>
            </a:r>
          </a:p>
        </p:txBody>
      </p:sp>
      <p:pic>
        <p:nvPicPr>
          <p:cNvPr id="9" name="Picture 8" descr="testbed.png"/>
          <p:cNvPicPr>
            <a:picLocks noChangeAspect="1"/>
          </p:cNvPicPr>
          <p:nvPr/>
        </p:nvPicPr>
        <p:blipFill>
          <a:blip r:embed="rId2"/>
          <a:stretch>
            <a:fillRect/>
          </a:stretch>
        </p:blipFill>
        <p:spPr>
          <a:xfrm>
            <a:off x="1276929" y="2091956"/>
            <a:ext cx="5672083" cy="2834640"/>
          </a:xfrm>
          <a:prstGeom prst="rect">
            <a:avLst/>
          </a:prstGeom>
        </p:spPr>
      </p:pic>
      <p:sp>
        <p:nvSpPr>
          <p:cNvPr id="10" name="TextBox 9"/>
          <p:cNvSpPr txBox="1"/>
          <p:nvPr/>
        </p:nvSpPr>
        <p:spPr>
          <a:xfrm>
            <a:off x="841248" y="4999748"/>
            <a:ext cx="6543446"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a:solidFill>
                  <a:srgbClr val="626669"/>
                </a:solidFill>
                <a:latin typeface="Fira Sans"/>
              </a:rPr>
              <a:t>One instance of the testbed. The violins are the reward distributions; the bars mark each arm’s true value q(a).</a:t>
            </a:r>
          </a:p>
        </p:txBody>
      </p:sp>
      <p:sp>
        <p:nvSpPr>
          <p:cNvPr id="11" name="Rectangle 10"/>
          <p:cNvSpPr/>
          <p:nvPr/>
        </p:nvSpPr>
        <p:spPr>
          <a:xfrm>
            <a:off x="7618780" y="1316736"/>
            <a:ext cx="3731940" cy="1982978"/>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7618780" y="1316736"/>
            <a:ext cx="41148" cy="1982978"/>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801660" y="1399032"/>
            <a:ext cx="3366180"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the environment</a:t>
            </a:r>
          </a:p>
        </p:txBody>
      </p:sp>
      <p:sp>
        <p:nvSpPr>
          <p:cNvPr id="14" name="TextBox 13"/>
          <p:cNvSpPr txBox="1"/>
          <p:nvPr/>
        </p:nvSpPr>
        <p:spPr>
          <a:xfrm>
            <a:off x="7801660" y="1700784"/>
            <a:ext cx="3421044" cy="1525778"/>
          </a:xfrm>
          <a:prstGeom prst="rect">
            <a:avLst/>
          </a:prstGeom>
          <a:noFill/>
        </p:spPr>
        <p:txBody>
          <a:bodyPr wrap="none" lIns="0" tIns="0" rIns="0" bIns="0" anchor="t">
            <a:noAutofit/>
          </a:bodyPr>
          <a:lstStyle/>
          <a:p>
            <a:pPr marL="0" indent="0" algn="l">
              <a:lnSpc>
                <a:spcPts val="1173"/>
              </a:lnSpc>
              <a:spcBef>
                <a:spcPts val="0"/>
              </a:spcBef>
              <a:spcAft>
                <a:spcPts val="0"/>
              </a:spcAft>
              <a:buNone/>
            </a:pPr>
            <a:r>
              <a:rPr sz="902" b="0" i="0" dirty="0">
                <a:solidFill>
                  <a:srgbClr val="1F2A37"/>
                </a:solidFill>
                <a:latin typeface="Consolas"/>
              </a:rPr>
              <a:t>class </a:t>
            </a:r>
            <a:r>
              <a:rPr sz="902" b="0" i="0" dirty="0" err="1">
                <a:solidFill>
                  <a:srgbClr val="1F2A37"/>
                </a:solidFill>
                <a:latin typeface="Consolas"/>
              </a:rPr>
              <a:t>BanditEnv</a:t>
            </a:r>
            <a:r>
              <a:rPr sz="902" b="0" i="0" dirty="0">
                <a:solidFill>
                  <a:srgbClr val="1F2A37"/>
                </a:solidFill>
                <a:latin typeface="Consolas"/>
              </a:rPr>
              <a:t>:</a:t>
            </a:r>
          </a:p>
          <a:p>
            <a:pPr marL="0" indent="0" algn="l">
              <a:lnSpc>
                <a:spcPts val="1173"/>
              </a:lnSpc>
              <a:spcBef>
                <a:spcPts val="0"/>
              </a:spcBef>
              <a:spcAft>
                <a:spcPts val="0"/>
              </a:spcAft>
              <a:buNone/>
            </a:pPr>
            <a:r>
              <a:rPr sz="902" b="0" i="0" dirty="0">
                <a:solidFill>
                  <a:srgbClr val="1F2A37"/>
                </a:solidFill>
                <a:latin typeface="Consolas"/>
              </a:rPr>
              <a:t>    def __</a:t>
            </a:r>
            <a:r>
              <a:rPr sz="902" b="0" i="0" dirty="0" err="1">
                <a:solidFill>
                  <a:srgbClr val="1F2A37"/>
                </a:solidFill>
                <a:latin typeface="Consolas"/>
              </a:rPr>
              <a:t>init</a:t>
            </a:r>
            <a:r>
              <a:rPr sz="902" b="0" i="0" dirty="0">
                <a:solidFill>
                  <a:srgbClr val="1F2A37"/>
                </a:solidFill>
                <a:latin typeface="Consolas"/>
              </a:rPr>
              <a:t>__(self, k=10):</a:t>
            </a:r>
          </a:p>
          <a:p>
            <a:pPr marL="0" indent="0" algn="l">
              <a:lnSpc>
                <a:spcPts val="1173"/>
              </a:lnSpc>
              <a:spcBef>
                <a:spcPts val="0"/>
              </a:spcBef>
              <a:spcAft>
                <a:spcPts val="0"/>
              </a:spcAft>
              <a:buNone/>
            </a:pPr>
            <a:r>
              <a:rPr sz="902" b="0" i="0" dirty="0">
                <a:solidFill>
                  <a:srgbClr val="1F2A37"/>
                </a:solidFill>
                <a:latin typeface="Consolas"/>
              </a:rPr>
              <a:t>        </a:t>
            </a:r>
            <a:r>
              <a:rPr sz="902" b="0" i="0" dirty="0" err="1">
                <a:solidFill>
                  <a:srgbClr val="1F2A37"/>
                </a:solidFill>
                <a:latin typeface="Consolas"/>
              </a:rPr>
              <a:t>self.k</a:t>
            </a:r>
            <a:r>
              <a:rPr sz="902" b="0" i="0" dirty="0">
                <a:solidFill>
                  <a:srgbClr val="1F2A37"/>
                </a:solidFill>
                <a:latin typeface="Consolas"/>
              </a:rPr>
              <a:t> = k</a:t>
            </a:r>
          </a:p>
          <a:p>
            <a:pPr marL="0" indent="0" algn="l">
              <a:lnSpc>
                <a:spcPts val="1173"/>
              </a:lnSpc>
              <a:spcBef>
                <a:spcPts val="0"/>
              </a:spcBef>
              <a:spcAft>
                <a:spcPts val="0"/>
              </a:spcAft>
              <a:buNone/>
            </a:pPr>
            <a:r>
              <a:rPr sz="902" b="0" i="0" dirty="0">
                <a:solidFill>
                  <a:srgbClr val="1F2A37"/>
                </a:solidFill>
                <a:latin typeface="Consolas"/>
              </a:rPr>
              <a:t>        </a:t>
            </a:r>
            <a:r>
              <a:rPr sz="902" b="0" i="1" dirty="0">
                <a:solidFill>
                  <a:srgbClr val="768896"/>
                </a:solidFill>
                <a:latin typeface="Consolas"/>
              </a:rPr>
              <a:t># a true value per arm, drawn once</a:t>
            </a:r>
          </a:p>
          <a:p>
            <a:pPr marL="0" indent="0" algn="l">
              <a:lnSpc>
                <a:spcPts val="1173"/>
              </a:lnSpc>
              <a:spcBef>
                <a:spcPts val="0"/>
              </a:spcBef>
              <a:spcAft>
                <a:spcPts val="0"/>
              </a:spcAft>
              <a:buNone/>
            </a:pPr>
            <a:r>
              <a:rPr sz="902" b="0" i="0" dirty="0">
                <a:solidFill>
                  <a:srgbClr val="1F2A37"/>
                </a:solidFill>
                <a:latin typeface="Consolas"/>
              </a:rPr>
              <a:t>        </a:t>
            </a:r>
            <a:r>
              <a:rPr sz="902" b="0" i="0" dirty="0" err="1">
                <a:solidFill>
                  <a:srgbClr val="1F2A37"/>
                </a:solidFill>
                <a:latin typeface="Consolas"/>
              </a:rPr>
              <a:t>self.means</a:t>
            </a:r>
            <a:r>
              <a:rPr sz="902" b="0" i="0" dirty="0">
                <a:solidFill>
                  <a:srgbClr val="1F2A37"/>
                </a:solidFill>
                <a:latin typeface="Consolas"/>
              </a:rPr>
              <a:t> = </a:t>
            </a:r>
            <a:r>
              <a:rPr sz="902" b="0" i="0" dirty="0" err="1">
                <a:solidFill>
                  <a:srgbClr val="1F2A37"/>
                </a:solidFill>
                <a:latin typeface="Consolas"/>
              </a:rPr>
              <a:t>np.random.randn</a:t>
            </a:r>
            <a:r>
              <a:rPr sz="902" b="0" i="0" dirty="0">
                <a:solidFill>
                  <a:srgbClr val="1F2A37"/>
                </a:solidFill>
                <a:latin typeface="Consolas"/>
              </a:rPr>
              <a:t>(k)</a:t>
            </a:r>
          </a:p>
          <a:p>
            <a:pPr marL="0" indent="0" algn="l">
              <a:lnSpc>
                <a:spcPts val="1173"/>
              </a:lnSpc>
              <a:spcBef>
                <a:spcPts val="0"/>
              </a:spcBef>
              <a:spcAft>
                <a:spcPts val="0"/>
              </a:spcAft>
              <a:buNone/>
            </a:pPr>
            <a:r>
              <a:rPr sz="902" b="0" i="0" dirty="0">
                <a:solidFill>
                  <a:srgbClr val="333639"/>
                </a:solidFill>
                <a:latin typeface="Consolas"/>
              </a:rPr>
              <a:t> </a:t>
            </a:r>
          </a:p>
          <a:p>
            <a:pPr marL="0" indent="0" algn="l">
              <a:lnSpc>
                <a:spcPts val="1173"/>
              </a:lnSpc>
              <a:spcBef>
                <a:spcPts val="0"/>
              </a:spcBef>
              <a:spcAft>
                <a:spcPts val="0"/>
              </a:spcAft>
              <a:buNone/>
            </a:pPr>
            <a:r>
              <a:rPr sz="902" b="0" i="0" dirty="0">
                <a:solidFill>
                  <a:srgbClr val="1F2A37"/>
                </a:solidFill>
                <a:latin typeface="Consolas"/>
              </a:rPr>
              <a:t>    def step(self, action):</a:t>
            </a:r>
          </a:p>
          <a:p>
            <a:pPr marL="0" indent="0" algn="l">
              <a:lnSpc>
                <a:spcPts val="1173"/>
              </a:lnSpc>
              <a:spcBef>
                <a:spcPts val="0"/>
              </a:spcBef>
              <a:spcAft>
                <a:spcPts val="0"/>
              </a:spcAft>
              <a:buNone/>
            </a:pPr>
            <a:r>
              <a:rPr sz="902" b="0" i="0" dirty="0">
                <a:solidFill>
                  <a:srgbClr val="1F2A37"/>
                </a:solidFill>
                <a:latin typeface="Consolas"/>
              </a:rPr>
              <a:t>        </a:t>
            </a:r>
            <a:r>
              <a:rPr sz="902" b="0" i="1" dirty="0">
                <a:solidFill>
                  <a:srgbClr val="768896"/>
                </a:solidFill>
                <a:latin typeface="Consolas"/>
              </a:rPr>
              <a:t># reward ~ N(q(a), 1)</a:t>
            </a:r>
          </a:p>
          <a:p>
            <a:pPr marL="0" indent="0" algn="l">
              <a:lnSpc>
                <a:spcPts val="1173"/>
              </a:lnSpc>
              <a:spcBef>
                <a:spcPts val="0"/>
              </a:spcBef>
              <a:spcAft>
                <a:spcPts val="0"/>
              </a:spcAft>
              <a:buNone/>
            </a:pPr>
            <a:r>
              <a:rPr sz="902" b="0" i="0" dirty="0">
                <a:solidFill>
                  <a:srgbClr val="1F2A37"/>
                </a:solidFill>
                <a:latin typeface="Consolas"/>
              </a:rPr>
              <a:t>        return </a:t>
            </a:r>
            <a:r>
              <a:rPr sz="902" b="0" i="0" dirty="0" err="1">
                <a:solidFill>
                  <a:srgbClr val="1F2A37"/>
                </a:solidFill>
                <a:latin typeface="Consolas"/>
              </a:rPr>
              <a:t>np.random.normal</a:t>
            </a:r>
            <a:r>
              <a:rPr sz="902" b="0" i="0" dirty="0">
                <a:solidFill>
                  <a:srgbClr val="1F2A37"/>
                </a:solidFill>
                <a:latin typeface="Consolas"/>
              </a:rPr>
              <a:t>(</a:t>
            </a:r>
          </a:p>
          <a:p>
            <a:pPr marL="0" indent="0" algn="l">
              <a:lnSpc>
                <a:spcPts val="1173"/>
              </a:lnSpc>
              <a:spcBef>
                <a:spcPts val="0"/>
              </a:spcBef>
              <a:spcAft>
                <a:spcPts val="0"/>
              </a:spcAft>
              <a:buNone/>
            </a:pPr>
            <a:r>
              <a:rPr sz="902" b="0" i="0" dirty="0">
                <a:solidFill>
                  <a:srgbClr val="1F2A37"/>
                </a:solidFill>
                <a:latin typeface="Consolas"/>
              </a:rPr>
              <a:t>            loc=</a:t>
            </a:r>
            <a:r>
              <a:rPr sz="902" b="0" i="0" dirty="0" err="1">
                <a:solidFill>
                  <a:srgbClr val="1F2A37"/>
                </a:solidFill>
                <a:latin typeface="Consolas"/>
              </a:rPr>
              <a:t>self.means</a:t>
            </a:r>
            <a:r>
              <a:rPr sz="902" b="0" i="0" dirty="0">
                <a:solidFill>
                  <a:srgbClr val="1F2A37"/>
                </a:solidFill>
                <a:latin typeface="Consolas"/>
              </a:rPr>
              <a:t>[action])</a:t>
            </a:r>
          </a:p>
        </p:txBody>
      </p:sp>
      <p:sp>
        <p:nvSpPr>
          <p:cNvPr id="15" name="TextBox 14"/>
          <p:cNvSpPr txBox="1"/>
          <p:nvPr/>
        </p:nvSpPr>
        <p:spPr>
          <a:xfrm>
            <a:off x="7618780" y="3519170"/>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WHAT MAKES IT HARD</a:t>
            </a:r>
          </a:p>
        </p:txBody>
      </p:sp>
      <p:sp>
        <p:nvSpPr>
          <p:cNvPr id="16" name="TextBox 15"/>
          <p:cNvSpPr txBox="1"/>
          <p:nvPr/>
        </p:nvSpPr>
        <p:spPr>
          <a:xfrm>
            <a:off x="7618780" y="3775201"/>
            <a:ext cx="3731940" cy="1026464"/>
          </a:xfrm>
          <a:prstGeom prst="rect">
            <a:avLst/>
          </a:prstGeom>
          <a:noFill/>
        </p:spPr>
        <p:txBody>
          <a:bodyPr wrap="square" lIns="0" tIns="0" rIns="0" bIns="0" anchor="t">
            <a:noAutofit/>
          </a:bodyPr>
          <a:lstStyle/>
          <a:p>
            <a:pPr marL="182880" indent="-182880" algn="l">
              <a:lnSpc>
                <a:spcPts val="1170"/>
              </a:lnSpc>
              <a:spcBef>
                <a:spcPts val="0"/>
              </a:spcBef>
              <a:spcAft>
                <a:spcPts val="0"/>
              </a:spcAft>
              <a:buClr>
                <a:srgbClr val="1971C2"/>
              </a:buClr>
              <a:buFont typeface="Fira Sans"/>
              <a:buChar char="–"/>
            </a:pPr>
            <a:r>
              <a:rPr sz="1045" b="0" i="0">
                <a:solidFill>
                  <a:srgbClr val="333639"/>
                </a:solidFill>
                <a:latin typeface="Fira Sans"/>
              </a:rPr>
              <a:t>The distributions </a:t>
            </a:r>
            <a:r>
              <a:rPr sz="1045" b="1" i="0">
                <a:solidFill>
                  <a:srgbClr val="C8102E"/>
                </a:solidFill>
                <a:latin typeface="Fira Sans"/>
              </a:rPr>
              <a:t>overlap heavily</a:t>
            </a:r>
            <a:r>
              <a:rPr sz="1045" b="0" i="0">
                <a:solidFill>
                  <a:srgbClr val="333639"/>
                </a:solidFill>
                <a:latin typeface="Fira Sans"/>
              </a:rPr>
              <a:t>: a single sample from a mediocre arm can easily exceed a sample from the best one.</a:t>
            </a:r>
          </a:p>
          <a:p>
            <a:pPr marL="182880" indent="-182880" algn="l">
              <a:lnSpc>
                <a:spcPts val="1170"/>
              </a:lnSpc>
              <a:spcBef>
                <a:spcPts val="700"/>
              </a:spcBef>
              <a:spcAft>
                <a:spcPts val="0"/>
              </a:spcAft>
              <a:buClr>
                <a:srgbClr val="1971C2"/>
              </a:buClr>
              <a:buFont typeface="Fira Sans"/>
              <a:buChar char="–"/>
            </a:pPr>
            <a:r>
              <a:rPr sz="1045" b="0" i="0">
                <a:solidFill>
                  <a:srgbClr val="333639"/>
                </a:solidFill>
                <a:latin typeface="Fira Sans"/>
              </a:rPr>
              <a:t>Every result that follows is averaged over </a:t>
            </a:r>
            <a:r>
              <a:rPr sz="1045" b="1" i="0">
                <a:solidFill>
                  <a:srgbClr val="574676"/>
                </a:solidFill>
                <a:latin typeface="Fira Sans"/>
              </a:rPr>
              <a:t>2000 independently generated bandits</a:t>
            </a:r>
            <a:r>
              <a:rPr sz="1045" b="0" i="0">
                <a:solidFill>
                  <a:srgbClr val="333639"/>
                </a:solidFill>
                <a:latin typeface="Fira Sans"/>
              </a:rPr>
              <a:t> — one run tells us almost nothing.</a:t>
            </a:r>
          </a:p>
        </p:txBody>
      </p:sp>
      <p:sp>
        <p:nvSpPr>
          <p:cNvPr id="17" name="Rectangle 16"/>
          <p:cNvSpPr/>
          <p:nvPr/>
        </p:nvSpPr>
        <p:spPr>
          <a:xfrm>
            <a:off x="7618780" y="5002834"/>
            <a:ext cx="3731940" cy="1290066"/>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7618780" y="5002834"/>
            <a:ext cx="41148" cy="1290066"/>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838236" y="5149138"/>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9AA6B2"/>
                </a:solidFill>
                <a:latin typeface="Fira Sans"/>
              </a:rPr>
              <a:t>A NOTE ON THE SUBSCRIPT</a:t>
            </a:r>
          </a:p>
        </p:txBody>
      </p:sp>
      <p:sp>
        <p:nvSpPr>
          <p:cNvPr id="20" name="TextBox 19"/>
          <p:cNvSpPr txBox="1"/>
          <p:nvPr/>
        </p:nvSpPr>
        <p:spPr>
          <a:xfrm>
            <a:off x="7838236" y="5386882"/>
            <a:ext cx="3347892" cy="759714"/>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Elsewhere the reward of the action taken at t is written with subscript t+1, because the environment must resolve the action first. A bandit has no next state to wait for, so we follow the standard bandit convention and use 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II</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Estimating action values</a:t>
            </a:r>
          </a:p>
        </p:txBody>
      </p:sp>
      <p:sp>
        <p:nvSpPr>
          <p:cNvPr id="6" name="TextBox 5"/>
          <p:cNvSpPr txBox="1"/>
          <p:nvPr/>
        </p:nvSpPr>
        <p:spPr>
          <a:xfrm>
            <a:off x="859536" y="3073907"/>
            <a:ext cx="5943600" cy="661781"/>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a:solidFill>
                  <a:srgbClr val="D6D0E0"/>
                </a:solidFill>
                <a:latin typeface="Fira Sans"/>
              </a:rPr>
              <a:t>Before deciding how to explore, the agent needs an estimate of each action’s value — and an update rule whose shape recurs in every algorithm of this course.</a:t>
            </a:r>
          </a:p>
        </p:txBody>
      </p:sp>
      <p:sp>
        <p:nvSpPr>
          <p:cNvPr id="7" name="Rectangle 6"/>
          <p:cNvSpPr/>
          <p:nvPr/>
        </p:nvSpPr>
        <p:spPr>
          <a:xfrm>
            <a:off x="859536" y="495604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95604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Why does the same update rule appear again and again from here on?</a:t>
            </a:r>
          </a:p>
        </p:txBody>
      </p:sp>
      <p:sp>
        <p:nvSpPr>
          <p:cNvPr id="9" name="Rectangle 8"/>
          <p:cNvSpPr/>
          <p:nvPr/>
        </p:nvSpPr>
        <p:spPr>
          <a:xfrm>
            <a:off x="7424928" y="2084831"/>
            <a:ext cx="10972" cy="32461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324612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The sample average</a:t>
            </a:r>
          </a:p>
          <a:p>
            <a:pPr marL="0" indent="0" algn="l">
              <a:lnSpc>
                <a:spcPts val="1378"/>
              </a:lnSpc>
              <a:spcBef>
                <a:spcPts val="1300"/>
              </a:spcBef>
              <a:spcAft>
                <a:spcPts val="0"/>
              </a:spcAft>
              <a:buNone/>
            </a:pPr>
            <a:r>
              <a:rPr sz="1188" b="1" i="0">
                <a:solidFill>
                  <a:srgbClr val="B2A7C4"/>
                </a:solidFill>
                <a:latin typeface="Fira Sans"/>
              </a:rPr>
              <a:t>02   </a:t>
            </a:r>
            <a:r>
              <a:rPr sz="1188" b="0" i="0">
                <a:solidFill>
                  <a:srgbClr val="FFFFFF"/>
                </a:solidFill>
                <a:latin typeface="Fira Sans"/>
              </a:rPr>
              <a:t>The incremental form</a:t>
            </a:r>
          </a:p>
          <a:p>
            <a:pPr marL="0" indent="0" algn="l">
              <a:lnSpc>
                <a:spcPts val="1378"/>
              </a:lnSpc>
              <a:spcBef>
                <a:spcPts val="1300"/>
              </a:spcBef>
              <a:spcAft>
                <a:spcPts val="0"/>
              </a:spcAft>
              <a:buNone/>
            </a:pPr>
            <a:r>
              <a:rPr sz="1188" b="1" i="0">
                <a:solidFill>
                  <a:srgbClr val="B2A7C4"/>
                </a:solidFill>
                <a:latin typeface="Fira Sans"/>
              </a:rPr>
              <a:t>03   </a:t>
            </a:r>
            <a:r>
              <a:rPr sz="1188" b="0" i="0">
                <a:solidFill>
                  <a:srgbClr val="FFFFFF"/>
                </a:solidFill>
                <a:latin typeface="Fira Sans"/>
              </a:rPr>
              <a:t>The update pattern</a:t>
            </a:r>
          </a:p>
          <a:p>
            <a:pPr marL="0" indent="0" algn="l">
              <a:lnSpc>
                <a:spcPts val="1378"/>
              </a:lnSpc>
              <a:spcBef>
                <a:spcPts val="1300"/>
              </a:spcBef>
              <a:spcAft>
                <a:spcPts val="0"/>
              </a:spcAft>
              <a:buNone/>
            </a:pPr>
            <a:r>
              <a:rPr sz="1188" b="1" i="0">
                <a:solidFill>
                  <a:srgbClr val="B2A7C4"/>
                </a:solidFill>
                <a:latin typeface="Fira Sans"/>
              </a:rPr>
              <a:t>04   </a:t>
            </a:r>
            <a:r>
              <a:rPr sz="1188" b="0" i="0">
                <a:solidFill>
                  <a:srgbClr val="FFFFFF"/>
                </a:solidFill>
                <a:latin typeface="Fira Sans"/>
              </a:rPr>
              <a:t>Constant step size</a:t>
            </a:r>
          </a:p>
          <a:p>
            <a:pPr marL="0" indent="0" algn="l">
              <a:lnSpc>
                <a:spcPts val="1378"/>
              </a:lnSpc>
              <a:spcBef>
                <a:spcPts val="1300"/>
              </a:spcBef>
              <a:spcAft>
                <a:spcPts val="0"/>
              </a:spcAft>
              <a:buNone/>
            </a:pPr>
            <a:r>
              <a:rPr sz="1188" b="1" i="0">
                <a:solidFill>
                  <a:srgbClr val="B2A7C4"/>
                </a:solidFill>
                <a:latin typeface="Fira Sans"/>
              </a:rPr>
              <a:t>05   </a:t>
            </a:r>
            <a:r>
              <a:rPr sz="1188" b="0" i="0">
                <a:solidFill>
                  <a:srgbClr val="FFFFFF"/>
                </a:solidFill>
                <a:latin typeface="Fira Sans"/>
              </a:rPr>
              <a:t>A genuine weighted average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2.1  THE SAMPLE AVERAGE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One action, one reward — so the estimate is just an average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II — Estimating action values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8</a:t>
            </a:r>
          </a:p>
        </p:txBody>
      </p:sp>
      <p:sp>
        <p:nvSpPr>
          <p:cNvPr id="8" name="TextBox 7"/>
          <p:cNvSpPr txBox="1"/>
          <p:nvPr/>
        </p:nvSpPr>
        <p:spPr>
          <a:xfrm>
            <a:off x="841248" y="1316736"/>
            <a:ext cx="6543446" cy="632475"/>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In a bandit each interaction is one action followed by one immediate reward, so the value of an action can be estimated </a:t>
            </a:r>
            <a:r>
              <a:rPr sz="1282" b="1" i="0">
                <a:solidFill>
                  <a:srgbClr val="25282A"/>
                </a:solidFill>
                <a:latin typeface="Fira Sans"/>
              </a:rPr>
              <a:t>directly</a:t>
            </a:r>
            <a:r>
              <a:rPr sz="1282" b="0" i="0">
                <a:solidFill>
                  <a:srgbClr val="333639"/>
                </a:solidFill>
                <a:latin typeface="Fira Sans"/>
              </a:rPr>
              <a:t> from the rewards observed when it was chosen: total reward collected from a, divided by the number of times a was selected.</a:t>
            </a:r>
          </a:p>
        </p:txBody>
      </p:sp>
      <p:pic>
        <p:nvPicPr>
          <p:cNvPr id="9" name="Picture 8" descr="eq_sample_avg_ann.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888807" y="2103120"/>
            <a:ext cx="4451984" cy="1874519"/>
          </a:xfrm>
          <a:prstGeom prst="rect">
            <a:avLst/>
          </a:prstGeom>
        </p:spPr>
      </p:pic>
      <p:sp>
        <p:nvSpPr>
          <p:cNvPr id="10" name="Rectangle 9"/>
          <p:cNvSpPr/>
          <p:nvPr/>
        </p:nvSpPr>
        <p:spPr>
          <a:xfrm>
            <a:off x="841248" y="4178061"/>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41248" y="4315968"/>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READING THE INDICATOR</a:t>
            </a:r>
          </a:p>
        </p:txBody>
      </p:sp>
      <p:sp>
        <p:nvSpPr>
          <p:cNvPr id="12" name="TextBox 11"/>
          <p:cNvSpPr txBox="1"/>
          <p:nvPr/>
        </p:nvSpPr>
        <p:spPr>
          <a:xfrm>
            <a:off x="841248" y="4590288"/>
            <a:ext cx="6543446" cy="1280160"/>
          </a:xfrm>
          <a:prstGeom prst="rect">
            <a:avLst/>
          </a:prstGeom>
          <a:noFill/>
        </p:spPr>
        <p:txBody>
          <a:bodyPr wrap="square" lIns="0" tIns="0" rIns="0" bIns="0" anchor="t">
            <a:noAutofit/>
          </a:bodyPr>
          <a:lstStyle/>
          <a:p>
            <a:pPr marL="0" indent="0" algn="l">
              <a:lnSpc>
                <a:spcPts val="1391"/>
              </a:lnSpc>
              <a:spcBef>
                <a:spcPts val="0"/>
              </a:spcBef>
              <a:spcAft>
                <a:spcPts val="0"/>
              </a:spcAft>
              <a:buNone/>
            </a:pPr>
            <a:r>
              <a:rPr sz="1140" b="0" i="0">
                <a:solidFill>
                  <a:srgbClr val="333639"/>
                </a:solidFill>
                <a:latin typeface="Fira Sans"/>
              </a:rPr>
              <a:t>𝟙 is the </a:t>
            </a:r>
            <a:r>
              <a:rPr sz="1140" b="1" i="0">
                <a:solidFill>
                  <a:srgbClr val="25282A"/>
                </a:solidFill>
                <a:latin typeface="Fira Sans"/>
              </a:rPr>
              <a:t>indicator function</a:t>
            </a:r>
            <a:r>
              <a:rPr sz="1140" b="0" i="0">
                <a:solidFill>
                  <a:srgbClr val="333639"/>
                </a:solidFill>
                <a:latin typeface="Fira Sans"/>
              </a:rPr>
              <a:t>: 1 when its condition holds, 0 otherwise. It simply selects, from the whole history, the steps on which this particular action was the one chosen — the numerator sums their rewards, the denominator counts them. That count is Nₜ(a), the number of times a has been selected before t — the counter every strategy in this chapter relies on.</a:t>
            </a:r>
          </a:p>
          <a:p>
            <a:pPr marL="0" indent="0" algn="l">
              <a:lnSpc>
                <a:spcPts val="1391"/>
              </a:lnSpc>
              <a:spcBef>
                <a:spcPts val="800"/>
              </a:spcBef>
              <a:spcAft>
                <a:spcPts val="0"/>
              </a:spcAft>
              <a:buNone/>
            </a:pPr>
            <a:r>
              <a:rPr sz="1140" b="0" i="0">
                <a:solidFill>
                  <a:srgbClr val="626669"/>
                </a:solidFill>
                <a:latin typeface="Fira Sans"/>
              </a:rPr>
              <a:t>As the action is selected more often, more samples become available and, by the law of large numbers, the estimate approaches the true value. This is the </a:t>
            </a:r>
            <a:r>
              <a:rPr sz="1140" b="1" i="0">
                <a:solidFill>
                  <a:srgbClr val="574676"/>
                </a:solidFill>
                <a:latin typeface="Fira Sans"/>
              </a:rPr>
              <a:t>sample-average method</a:t>
            </a:r>
            <a:r>
              <a:rPr sz="1140" b="0" i="0">
                <a:solidFill>
                  <a:srgbClr val="626669"/>
                </a:solidFill>
                <a:latin typeface="Fira Sans"/>
              </a:rPr>
              <a:t>.</a:t>
            </a:r>
          </a:p>
        </p:txBody>
      </p:sp>
      <p:sp>
        <p:nvSpPr>
          <p:cNvPr id="13" name="Rectangle 12"/>
          <p:cNvSpPr/>
          <p:nvPr/>
        </p:nvSpPr>
        <p:spPr>
          <a:xfrm>
            <a:off x="7618780" y="1316736"/>
            <a:ext cx="3731940" cy="1196035"/>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7618780" y="1316736"/>
            <a:ext cx="41148" cy="1196035"/>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838236" y="1463039"/>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THE ESTIMATE IS PER ACTION</a:t>
            </a:r>
          </a:p>
        </p:txBody>
      </p:sp>
      <p:sp>
        <p:nvSpPr>
          <p:cNvPr id="16" name="TextBox 15"/>
          <p:cNvSpPr txBox="1"/>
          <p:nvPr/>
        </p:nvSpPr>
        <p:spPr>
          <a:xfrm>
            <a:off x="7838236" y="1700784"/>
            <a:ext cx="3347892" cy="66568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Note what is being averaged: only the rewards of </a:t>
            </a:r>
            <a:r>
              <a:rPr sz="1092" b="1" i="0">
                <a:solidFill>
                  <a:srgbClr val="333639"/>
                </a:solidFill>
                <a:latin typeface="Fira Sans"/>
              </a:rPr>
              <a:t>this</a:t>
            </a:r>
            <a:r>
              <a:rPr sz="1092" b="0" i="0">
                <a:solidFill>
                  <a:srgbClr val="333639"/>
                </a:solidFill>
                <a:latin typeface="Fira Sans"/>
              </a:rPr>
              <a:t> action. An arm the agent never pulls has an empty average — which is exactly why an agent that never explores can never correct an early mistake.</a:t>
            </a:r>
          </a:p>
        </p:txBody>
      </p:sp>
      <p:sp>
        <p:nvSpPr>
          <p:cNvPr id="17" name="TextBox 16"/>
          <p:cNvSpPr txBox="1"/>
          <p:nvPr/>
        </p:nvSpPr>
        <p:spPr>
          <a:xfrm>
            <a:off x="7618780" y="2787091"/>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NAIVE IMPLEMENTATION</a:t>
            </a:r>
          </a:p>
        </p:txBody>
      </p:sp>
      <p:sp>
        <p:nvSpPr>
          <p:cNvPr id="18" name="TextBox 17"/>
          <p:cNvSpPr txBox="1"/>
          <p:nvPr/>
        </p:nvSpPr>
        <p:spPr>
          <a:xfrm>
            <a:off x="7618780" y="3043123"/>
            <a:ext cx="3731940" cy="1115364"/>
          </a:xfrm>
          <a:prstGeom prst="rect">
            <a:avLst/>
          </a:prstGeom>
          <a:noFill/>
        </p:spPr>
        <p:txBody>
          <a:bodyPr wrap="square" lIns="0" tIns="0" rIns="0" bIns="0" anchor="t">
            <a:noAutofit/>
          </a:bodyPr>
          <a:lstStyle/>
          <a:p>
            <a:pPr marL="182880" indent="-182880" algn="l">
              <a:lnSpc>
                <a:spcPts val="1170"/>
              </a:lnSpc>
              <a:spcBef>
                <a:spcPts val="0"/>
              </a:spcBef>
              <a:spcAft>
                <a:spcPts val="0"/>
              </a:spcAft>
              <a:buClr>
                <a:srgbClr val="1971C2"/>
              </a:buClr>
              <a:buFont typeface="Fira Sans"/>
              <a:buChar char="–"/>
            </a:pPr>
            <a:r>
              <a:rPr sz="1045" b="0" i="0">
                <a:solidFill>
                  <a:srgbClr val="333639"/>
                </a:solidFill>
                <a:latin typeface="Fira Sans"/>
              </a:rPr>
              <a:t>Store every reward observed for every action, and recompute the average whenever the estimate is needed.</a:t>
            </a:r>
          </a:p>
          <a:p>
            <a:pPr marL="182880" indent="-182880" algn="l">
              <a:lnSpc>
                <a:spcPts val="1170"/>
              </a:lnSpc>
              <a:spcBef>
                <a:spcPts val="700"/>
              </a:spcBef>
              <a:spcAft>
                <a:spcPts val="0"/>
              </a:spcAft>
              <a:buClr>
                <a:srgbClr val="1971C2"/>
              </a:buClr>
              <a:buFont typeface="Fira Sans"/>
              <a:buChar char="–"/>
            </a:pPr>
            <a:r>
              <a:rPr sz="1045" b="0" i="0">
                <a:solidFill>
                  <a:srgbClr val="333639"/>
                </a:solidFill>
                <a:latin typeface="Fira Sans"/>
              </a:rPr>
              <a:t>Memory grows </a:t>
            </a:r>
            <a:r>
              <a:rPr sz="1045" b="1" i="0">
                <a:solidFill>
                  <a:srgbClr val="C8102E"/>
                </a:solidFill>
                <a:latin typeface="Fira Sans"/>
              </a:rPr>
              <a:t>without bound</a:t>
            </a:r>
            <a:r>
              <a:rPr sz="1045" b="0" i="0">
                <a:solidFill>
                  <a:srgbClr val="333639"/>
                </a:solidFill>
                <a:latin typeface="Fira Sans"/>
              </a:rPr>
              <a:t>: one number per interaction, forever.</a:t>
            </a:r>
          </a:p>
          <a:p>
            <a:pPr marL="182880" indent="-182880" algn="l">
              <a:lnSpc>
                <a:spcPts val="1170"/>
              </a:lnSpc>
              <a:spcBef>
                <a:spcPts val="700"/>
              </a:spcBef>
              <a:spcAft>
                <a:spcPts val="0"/>
              </a:spcAft>
              <a:buClr>
                <a:srgbClr val="1971C2"/>
              </a:buClr>
              <a:buFont typeface="Fira Sans"/>
              <a:buChar char="–"/>
            </a:pPr>
            <a:r>
              <a:rPr sz="1045" b="0" i="0">
                <a:solidFill>
                  <a:srgbClr val="333639"/>
                </a:solidFill>
                <a:latin typeface="Fira Sans"/>
              </a:rPr>
              <a:t>Each update costs </a:t>
            </a:r>
            <a:r>
              <a:rPr sz="1045" b="1" i="0">
                <a:solidFill>
                  <a:srgbClr val="C8102E"/>
                </a:solidFill>
                <a:latin typeface="Fira Sans"/>
              </a:rPr>
              <a:t>O(n)</a:t>
            </a:r>
            <a:r>
              <a:rPr sz="1045" b="0" i="0">
                <a:solidFill>
                  <a:srgbClr val="333639"/>
                </a:solidFill>
                <a:latin typeface="Fira Sans"/>
              </a:rPr>
              <a:t>, because the whole history is traversed again.</a:t>
            </a:r>
          </a:p>
        </p:txBody>
      </p:sp>
      <p:sp>
        <p:nvSpPr>
          <p:cNvPr id="19" name="Rectangle 18"/>
          <p:cNvSpPr/>
          <p:nvPr/>
        </p:nvSpPr>
        <p:spPr>
          <a:xfrm>
            <a:off x="7618780" y="4377944"/>
            <a:ext cx="3731940" cy="1167384"/>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7618780" y="4377944"/>
            <a:ext cx="41148" cy="1167384"/>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838236" y="4524248"/>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BOTH PROBLEMS ARE AVOIDABLE</a:t>
            </a:r>
          </a:p>
        </p:txBody>
      </p:sp>
      <p:sp>
        <p:nvSpPr>
          <p:cNvPr id="22" name="TextBox 21"/>
          <p:cNvSpPr txBox="1"/>
          <p:nvPr/>
        </p:nvSpPr>
        <p:spPr>
          <a:xfrm>
            <a:off x="7838236" y="4761992"/>
            <a:ext cx="3347892" cy="637031"/>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Neither is necessary. The next slide rewrites the same average so that it updates in </a:t>
            </a:r>
            <a:r>
              <a:rPr sz="1045" b="1" i="0">
                <a:solidFill>
                  <a:srgbClr val="333639"/>
                </a:solidFill>
                <a:latin typeface="Fira Sans"/>
              </a:rPr>
              <a:t>constant time and constant memory</a:t>
            </a:r>
            <a:r>
              <a:rPr sz="1045" b="0" i="0">
                <a:solidFill>
                  <a:srgbClr val="333639"/>
                </a:solidFill>
                <a:latin typeface="Fira Sans"/>
              </a:rPr>
              <a:t> — and the rewritten form matters far more than the efficiency.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2.2  THE INCREMENTAL FORM, DERIVED</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same average, rewritten so that no history has to be stored</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II — Estimating action values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9</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Fix one action and let the subscript count how many times </a:t>
            </a:r>
            <a:r>
              <a:rPr sz="1282" b="0" i="1">
                <a:solidFill>
                  <a:srgbClr val="333639"/>
                </a:solidFill>
                <a:latin typeface="Fira Sans"/>
              </a:rPr>
              <a:t>that action</a:t>
            </a:r>
            <a:r>
              <a:rPr sz="1282" b="0" i="0">
                <a:solidFill>
                  <a:srgbClr val="333639"/>
                </a:solidFill>
                <a:latin typeface="Fira Sans"/>
              </a:rPr>
              <a:t> has been selected, rather than global time. So R</a:t>
            </a:r>
            <a:r>
              <a:rPr sz="882" b="0" i="0">
                <a:solidFill>
                  <a:srgbClr val="333639"/>
                </a:solidFill>
                <a:latin typeface="Fira Sans"/>
              </a:rPr>
              <a:t>n</a:t>
            </a:r>
            <a:r>
              <a:rPr sz="1282" b="0" i="0">
                <a:solidFill>
                  <a:srgbClr val="333639"/>
                </a:solidFill>
                <a:latin typeface="Fira Sans"/>
              </a:rPr>
              <a:t> is the reward on its n-th selection and Q</a:t>
            </a:r>
            <a:r>
              <a:rPr sz="882" b="0" i="0">
                <a:solidFill>
                  <a:srgbClr val="333639"/>
                </a:solidFill>
                <a:latin typeface="Fira Sans"/>
              </a:rPr>
              <a:t>n</a:t>
            </a:r>
            <a:r>
              <a:rPr sz="1282" b="0" i="0">
                <a:solidFill>
                  <a:srgbClr val="333639"/>
                </a:solidFill>
                <a:latin typeface="Fira Sans"/>
              </a:rPr>
              <a:t> is its estimate after the first n−1 rewards.</a:t>
            </a:r>
          </a:p>
        </p:txBody>
      </p:sp>
      <p:sp>
        <p:nvSpPr>
          <p:cNvPr id="9" name="TextBox 8"/>
          <p:cNvSpPr txBox="1"/>
          <p:nvPr/>
        </p:nvSpPr>
        <p:spPr>
          <a:xfrm>
            <a:off x="859536" y="1951746"/>
            <a:ext cx="457200" cy="237744"/>
          </a:xfrm>
          <a:prstGeom prst="rect">
            <a:avLst/>
          </a:prstGeom>
          <a:noFill/>
        </p:spPr>
        <p:txBody>
          <a:bodyPr wrap="square" lIns="0" tIns="0" rIns="0" bIns="0" anchor="t">
            <a:noAutofit/>
          </a:bodyPr>
          <a:lstStyle/>
          <a:p>
            <a:pPr marL="0" indent="0" algn="l">
              <a:lnSpc>
                <a:spcPts val="1410"/>
              </a:lnSpc>
              <a:spcBef>
                <a:spcPts val="0"/>
              </a:spcBef>
              <a:spcAft>
                <a:spcPts val="0"/>
              </a:spcAft>
              <a:buNone/>
            </a:pPr>
            <a:r>
              <a:rPr sz="1410" b="1" i="0">
                <a:solidFill>
                  <a:srgbClr val="574676"/>
                </a:solidFill>
                <a:latin typeface="Roboto Slab"/>
              </a:rPr>
              <a:t>1</a:t>
            </a:r>
          </a:p>
        </p:txBody>
      </p:sp>
      <p:sp>
        <p:nvSpPr>
          <p:cNvPr id="10" name="TextBox 9"/>
          <p:cNvSpPr txBox="1"/>
          <p:nvPr/>
        </p:nvSpPr>
        <p:spPr>
          <a:xfrm>
            <a:off x="1316736" y="1970034"/>
            <a:ext cx="5852160" cy="219456"/>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140" b="1" i="0">
                <a:solidFill>
                  <a:srgbClr val="25282A"/>
                </a:solidFill>
                <a:latin typeface="Fira Sans"/>
              </a:rPr>
              <a:t>After the n-th reward, the new estimate is the average of the first n</a:t>
            </a:r>
          </a:p>
        </p:txBody>
      </p:sp>
      <p:sp>
        <p:nvSpPr>
          <p:cNvPr id="11" name="TextBox 10"/>
          <p:cNvSpPr txBox="1"/>
          <p:nvPr/>
        </p:nvSpPr>
        <p:spPr>
          <a:xfrm>
            <a:off x="7516368" y="1960890"/>
            <a:ext cx="4681728" cy="183454"/>
          </a:xfrm>
          <a:prstGeom prst="rect">
            <a:avLst/>
          </a:prstGeom>
          <a:noFill/>
        </p:spPr>
        <p:txBody>
          <a:bodyPr wrap="square" lIns="0" tIns="0" rIns="0" bIns="0" anchor="t">
            <a:noAutofit/>
          </a:bodyPr>
          <a:lstStyle/>
          <a:p>
            <a:pPr marL="0" indent="0" algn="l">
              <a:lnSpc>
                <a:spcPts val="1157"/>
              </a:lnSpc>
              <a:spcBef>
                <a:spcPts val="0"/>
              </a:spcBef>
              <a:spcAft>
                <a:spcPts val="0"/>
              </a:spcAft>
              <a:buNone/>
            </a:pPr>
            <a:r>
              <a:rPr sz="997" b="0" i="0">
                <a:solidFill>
                  <a:srgbClr val="626669"/>
                </a:solidFill>
                <a:latin typeface="Fira Sans"/>
              </a:rPr>
              <a:t>Nothing but the definition, written for this action alone.</a:t>
            </a:r>
          </a:p>
        </p:txBody>
      </p:sp>
      <p:pic>
        <p:nvPicPr>
          <p:cNvPr id="12" name="Picture 11" descr="eq_inc1.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16736" y="2226066"/>
            <a:ext cx="3920743" cy="677925"/>
          </a:xfrm>
          <a:prstGeom prst="rect">
            <a:avLst/>
          </a:prstGeom>
        </p:spPr>
      </p:pic>
      <p:sp>
        <p:nvSpPr>
          <p:cNvPr id="13" name="TextBox 12"/>
          <p:cNvSpPr txBox="1"/>
          <p:nvPr/>
        </p:nvSpPr>
        <p:spPr>
          <a:xfrm>
            <a:off x="859536" y="3086872"/>
            <a:ext cx="457200" cy="237744"/>
          </a:xfrm>
          <a:prstGeom prst="rect">
            <a:avLst/>
          </a:prstGeom>
          <a:noFill/>
        </p:spPr>
        <p:txBody>
          <a:bodyPr wrap="square" lIns="0" tIns="0" rIns="0" bIns="0" anchor="t">
            <a:noAutofit/>
          </a:bodyPr>
          <a:lstStyle/>
          <a:p>
            <a:pPr marL="0" indent="0" algn="l">
              <a:lnSpc>
                <a:spcPts val="1410"/>
              </a:lnSpc>
              <a:spcBef>
                <a:spcPts val="0"/>
              </a:spcBef>
              <a:spcAft>
                <a:spcPts val="0"/>
              </a:spcAft>
              <a:buNone/>
            </a:pPr>
            <a:r>
              <a:rPr sz="1410" b="1" i="0">
                <a:solidFill>
                  <a:srgbClr val="574676"/>
                </a:solidFill>
                <a:latin typeface="Roboto Slab"/>
              </a:rPr>
              <a:t>2</a:t>
            </a:r>
          </a:p>
        </p:txBody>
      </p:sp>
      <p:sp>
        <p:nvSpPr>
          <p:cNvPr id="14" name="TextBox 13"/>
          <p:cNvSpPr txBox="1"/>
          <p:nvPr/>
        </p:nvSpPr>
        <p:spPr>
          <a:xfrm>
            <a:off x="1316736" y="3105160"/>
            <a:ext cx="5852160" cy="219456"/>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140" b="1" i="0">
                <a:solidFill>
                  <a:srgbClr val="25282A"/>
                </a:solidFill>
                <a:latin typeface="Fira Sans"/>
              </a:rPr>
              <a:t>Separate the most recent reward from the previous ones</a:t>
            </a:r>
          </a:p>
        </p:txBody>
      </p:sp>
      <p:sp>
        <p:nvSpPr>
          <p:cNvPr id="15" name="TextBox 14"/>
          <p:cNvSpPr txBox="1"/>
          <p:nvPr/>
        </p:nvSpPr>
        <p:spPr>
          <a:xfrm>
            <a:off x="7516368" y="3096016"/>
            <a:ext cx="4681728" cy="183454"/>
          </a:xfrm>
          <a:prstGeom prst="rect">
            <a:avLst/>
          </a:prstGeom>
          <a:noFill/>
        </p:spPr>
        <p:txBody>
          <a:bodyPr wrap="square" lIns="0" tIns="0" rIns="0" bIns="0" anchor="t">
            <a:noAutofit/>
          </a:bodyPr>
          <a:lstStyle/>
          <a:p>
            <a:pPr marL="0" indent="0" algn="l">
              <a:lnSpc>
                <a:spcPts val="1157"/>
              </a:lnSpc>
              <a:spcBef>
                <a:spcPts val="0"/>
              </a:spcBef>
              <a:spcAft>
                <a:spcPts val="0"/>
              </a:spcAft>
              <a:buNone/>
            </a:pPr>
            <a:r>
              <a:rPr sz="997" b="0" i="0">
                <a:solidFill>
                  <a:srgbClr val="626669"/>
                </a:solidFill>
                <a:latin typeface="Fira Sans"/>
              </a:rPr>
              <a:t>And multiply and divide the remaining sum by n−1 so that it becomes an average.</a:t>
            </a:r>
          </a:p>
        </p:txBody>
      </p:sp>
      <p:pic>
        <p:nvPicPr>
          <p:cNvPr id="16" name="Picture 15" descr="eq_inc2.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6736" y="3361192"/>
            <a:ext cx="5852160" cy="707522"/>
          </a:xfrm>
          <a:prstGeom prst="rect">
            <a:avLst/>
          </a:prstGeom>
        </p:spPr>
      </p:pic>
      <p:sp>
        <p:nvSpPr>
          <p:cNvPr id="17" name="TextBox 16"/>
          <p:cNvSpPr txBox="1"/>
          <p:nvPr/>
        </p:nvSpPr>
        <p:spPr>
          <a:xfrm>
            <a:off x="859536" y="4251594"/>
            <a:ext cx="457200" cy="237744"/>
          </a:xfrm>
          <a:prstGeom prst="rect">
            <a:avLst/>
          </a:prstGeom>
          <a:noFill/>
        </p:spPr>
        <p:txBody>
          <a:bodyPr wrap="square" lIns="0" tIns="0" rIns="0" bIns="0" anchor="t">
            <a:noAutofit/>
          </a:bodyPr>
          <a:lstStyle/>
          <a:p>
            <a:pPr marL="0" indent="0" algn="l">
              <a:lnSpc>
                <a:spcPts val="1410"/>
              </a:lnSpc>
              <a:spcBef>
                <a:spcPts val="0"/>
              </a:spcBef>
              <a:spcAft>
                <a:spcPts val="0"/>
              </a:spcAft>
              <a:buNone/>
            </a:pPr>
            <a:r>
              <a:rPr sz="1410" b="1" i="0">
                <a:solidFill>
                  <a:srgbClr val="574676"/>
                </a:solidFill>
                <a:latin typeface="Roboto Slab"/>
              </a:rPr>
              <a:t>3</a:t>
            </a:r>
          </a:p>
        </p:txBody>
      </p:sp>
      <p:sp>
        <p:nvSpPr>
          <p:cNvPr id="18" name="TextBox 17"/>
          <p:cNvSpPr txBox="1"/>
          <p:nvPr/>
        </p:nvSpPr>
        <p:spPr>
          <a:xfrm>
            <a:off x="1316736" y="4269882"/>
            <a:ext cx="5852160" cy="219456"/>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140" b="1" i="0">
                <a:solidFill>
                  <a:srgbClr val="25282A"/>
                </a:solidFill>
                <a:latin typeface="Fira Sans"/>
              </a:rPr>
              <a:t>Recognise the average of the first n−1 rewards</a:t>
            </a:r>
          </a:p>
        </p:txBody>
      </p:sp>
      <p:sp>
        <p:nvSpPr>
          <p:cNvPr id="19" name="TextBox 18"/>
          <p:cNvSpPr txBox="1"/>
          <p:nvPr/>
        </p:nvSpPr>
        <p:spPr>
          <a:xfrm>
            <a:off x="7516368" y="4260738"/>
            <a:ext cx="4681728" cy="183454"/>
          </a:xfrm>
          <a:prstGeom prst="rect">
            <a:avLst/>
          </a:prstGeom>
          <a:noFill/>
        </p:spPr>
        <p:txBody>
          <a:bodyPr wrap="square" lIns="0" tIns="0" rIns="0" bIns="0" anchor="t">
            <a:noAutofit/>
          </a:bodyPr>
          <a:lstStyle/>
          <a:p>
            <a:pPr marL="0" indent="0" algn="l">
              <a:lnSpc>
                <a:spcPts val="1157"/>
              </a:lnSpc>
              <a:spcBef>
                <a:spcPts val="0"/>
              </a:spcBef>
              <a:spcAft>
                <a:spcPts val="0"/>
              </a:spcAft>
              <a:buNone/>
            </a:pPr>
            <a:r>
              <a:rPr sz="997" b="0" i="0">
                <a:solidFill>
                  <a:srgbClr val="626669"/>
                </a:solidFill>
                <a:latin typeface="Fira Sans"/>
              </a:rPr>
              <a:t>That average is precisely Qₙ, the previous estimate. Expand the bracket.</a:t>
            </a:r>
          </a:p>
        </p:txBody>
      </p:sp>
      <p:pic>
        <p:nvPicPr>
          <p:cNvPr id="20" name="Picture 19" descr="eq_inc3.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6736" y="4525914"/>
            <a:ext cx="4948428" cy="485775"/>
          </a:xfrm>
          <a:prstGeom prst="rect">
            <a:avLst/>
          </a:prstGeom>
        </p:spPr>
      </p:pic>
      <p:sp>
        <p:nvSpPr>
          <p:cNvPr id="21" name="Rectangle 20"/>
          <p:cNvSpPr/>
          <p:nvPr/>
        </p:nvSpPr>
        <p:spPr>
          <a:xfrm>
            <a:off x="841247" y="5231144"/>
            <a:ext cx="10515601" cy="989517"/>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841247" y="5231144"/>
            <a:ext cx="45719" cy="989517"/>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115568" y="5340873"/>
            <a:ext cx="5486400" cy="201168"/>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THE INCREMENTAL SAMPLE AVERAGE</a:t>
            </a:r>
          </a:p>
        </p:txBody>
      </p:sp>
      <p:pic>
        <p:nvPicPr>
          <p:cNvPr id="24" name="Picture 23" descr="eq_inc4.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15568" y="5596905"/>
            <a:ext cx="3065780" cy="571500"/>
          </a:xfrm>
          <a:prstGeom prst="rect">
            <a:avLst/>
          </a:prstGeom>
        </p:spPr>
      </p:pic>
      <p:sp>
        <p:nvSpPr>
          <p:cNvPr id="25" name="TextBox 24"/>
          <p:cNvSpPr txBox="1"/>
          <p:nvPr/>
        </p:nvSpPr>
        <p:spPr>
          <a:xfrm>
            <a:off x="5047488" y="5432313"/>
            <a:ext cx="6035040" cy="349783"/>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0" i="0">
                <a:solidFill>
                  <a:srgbClr val="333639"/>
                </a:solidFill>
                <a:latin typeface="Fira Sans"/>
              </a:rPr>
              <a:t>Constant memory — the current estimate and a counter — and constant work per reward. Exactly the same number as the sample average, at every step.</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2.3  THE UPDATE PATTERN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This shape will reappear in every algorithm of the course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II — Estimating action values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10</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The efficiency is convenient. The </a:t>
            </a:r>
            <a:r>
              <a:rPr sz="1282" b="1" i="1">
                <a:solidFill>
                  <a:srgbClr val="25282A"/>
                </a:solidFill>
                <a:latin typeface="Fira Sans"/>
              </a:rPr>
              <a:t>shape</a:t>
            </a:r>
            <a:r>
              <a:rPr sz="1282" b="0" i="0">
                <a:solidFill>
                  <a:srgbClr val="333639"/>
                </a:solidFill>
                <a:latin typeface="Fira Sans"/>
              </a:rPr>
              <a:t> of the rewritten update is what matters, because every learning rule from here to the end of the course is an instance of it.</a:t>
            </a:r>
          </a:p>
        </p:txBody>
      </p:sp>
      <p:sp>
        <p:nvSpPr>
          <p:cNvPr id="9" name="Rectangle 8"/>
          <p:cNvSpPr/>
          <p:nvPr/>
        </p:nvSpPr>
        <p:spPr>
          <a:xfrm>
            <a:off x="841248" y="1970034"/>
            <a:ext cx="10515600" cy="73152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Picture 9" descr="eq_update_pattern.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174224" y="2207778"/>
            <a:ext cx="7843520" cy="368300"/>
          </a:xfrm>
          <a:prstGeom prst="rect">
            <a:avLst/>
          </a:prstGeom>
        </p:spPr>
      </p:pic>
      <p:pic>
        <p:nvPicPr>
          <p:cNvPr id="11" name="Picture 10" descr="eq_inc_ann.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73484" y="2811282"/>
            <a:ext cx="4445000" cy="944880"/>
          </a:xfrm>
          <a:prstGeom prst="rect">
            <a:avLst/>
          </a:prstGeom>
        </p:spPr>
      </p:pic>
      <p:sp>
        <p:nvSpPr>
          <p:cNvPr id="12" name="Rectangle 11"/>
          <p:cNvSpPr/>
          <p:nvPr/>
        </p:nvSpPr>
        <p:spPr>
          <a:xfrm>
            <a:off x="841248" y="3993906"/>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841248" y="4195074"/>
            <a:ext cx="3346704" cy="2926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41248" y="4341378"/>
            <a:ext cx="3346704" cy="237744"/>
          </a:xfrm>
          <a:prstGeom prst="rect">
            <a:avLst/>
          </a:prstGeom>
          <a:noFill/>
        </p:spPr>
        <p:txBody>
          <a:bodyPr wrap="square" lIns="0" tIns="0" rIns="0" bIns="0" anchor="t">
            <a:noAutofit/>
          </a:bodyPr>
          <a:lstStyle/>
          <a:p>
            <a:pPr marL="0" indent="0" algn="l">
              <a:lnSpc>
                <a:spcPts val="1383"/>
              </a:lnSpc>
              <a:spcBef>
                <a:spcPts val="0"/>
              </a:spcBef>
              <a:spcAft>
                <a:spcPts val="0"/>
              </a:spcAft>
              <a:buNone/>
            </a:pPr>
            <a:r>
              <a:rPr sz="1235" b="1" i="0">
                <a:solidFill>
                  <a:srgbClr val="2B7A3E"/>
                </a:solidFill>
                <a:latin typeface="Fira Sans"/>
              </a:rPr>
              <a:t>Target</a:t>
            </a:r>
          </a:p>
        </p:txBody>
      </p:sp>
      <p:sp>
        <p:nvSpPr>
          <p:cNvPr id="15" name="TextBox 14"/>
          <p:cNvSpPr txBox="1"/>
          <p:nvPr/>
        </p:nvSpPr>
        <p:spPr>
          <a:xfrm>
            <a:off x="841248" y="4652274"/>
            <a:ext cx="3346704" cy="51435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626669"/>
                </a:solidFill>
                <a:latin typeface="Fira Sans"/>
              </a:rPr>
              <a:t>Where the estimate should move. Here the observed reward; in Chapter 05 a sampled return or a bootstrapped estimate.</a:t>
            </a:r>
          </a:p>
        </p:txBody>
      </p:sp>
      <p:sp>
        <p:nvSpPr>
          <p:cNvPr id="16" name="Rectangle 15"/>
          <p:cNvSpPr/>
          <p:nvPr/>
        </p:nvSpPr>
        <p:spPr>
          <a:xfrm>
            <a:off x="4425696" y="4195074"/>
            <a:ext cx="3346704" cy="292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425696" y="4341378"/>
            <a:ext cx="3346704" cy="237744"/>
          </a:xfrm>
          <a:prstGeom prst="rect">
            <a:avLst/>
          </a:prstGeom>
          <a:noFill/>
        </p:spPr>
        <p:txBody>
          <a:bodyPr wrap="square" lIns="0" tIns="0" rIns="0" bIns="0" anchor="t">
            <a:noAutofit/>
          </a:bodyPr>
          <a:lstStyle/>
          <a:p>
            <a:pPr marL="0" indent="0" algn="l">
              <a:lnSpc>
                <a:spcPts val="1383"/>
              </a:lnSpc>
              <a:spcBef>
                <a:spcPts val="0"/>
              </a:spcBef>
              <a:spcAft>
                <a:spcPts val="0"/>
              </a:spcAft>
              <a:buNone/>
            </a:pPr>
            <a:r>
              <a:rPr sz="1235" b="1" i="0">
                <a:solidFill>
                  <a:srgbClr val="C8102E"/>
                </a:solidFill>
                <a:latin typeface="Fira Sans"/>
              </a:rPr>
              <a:t>Error</a:t>
            </a:r>
          </a:p>
        </p:txBody>
      </p:sp>
      <p:sp>
        <p:nvSpPr>
          <p:cNvPr id="18" name="TextBox 17"/>
          <p:cNvSpPr txBox="1"/>
          <p:nvPr/>
        </p:nvSpPr>
        <p:spPr>
          <a:xfrm>
            <a:off x="4425696" y="4652274"/>
            <a:ext cx="3346704" cy="355092"/>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626669"/>
                </a:solidFill>
                <a:latin typeface="Fira Sans"/>
              </a:rPr>
              <a:t>Target minus old estimate: the gap between what we believed and what we just saw. Zero error, no change.</a:t>
            </a:r>
          </a:p>
        </p:txBody>
      </p:sp>
      <p:sp>
        <p:nvSpPr>
          <p:cNvPr id="19" name="Rectangle 18"/>
          <p:cNvSpPr/>
          <p:nvPr/>
        </p:nvSpPr>
        <p:spPr>
          <a:xfrm>
            <a:off x="8010144" y="4195074"/>
            <a:ext cx="3346704" cy="292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010144" y="4341378"/>
            <a:ext cx="3346704" cy="237744"/>
          </a:xfrm>
          <a:prstGeom prst="rect">
            <a:avLst/>
          </a:prstGeom>
          <a:noFill/>
        </p:spPr>
        <p:txBody>
          <a:bodyPr wrap="square" lIns="0" tIns="0" rIns="0" bIns="0" anchor="t">
            <a:noAutofit/>
          </a:bodyPr>
          <a:lstStyle/>
          <a:p>
            <a:pPr marL="0" indent="0" algn="l">
              <a:lnSpc>
                <a:spcPts val="1383"/>
              </a:lnSpc>
              <a:spcBef>
                <a:spcPts val="0"/>
              </a:spcBef>
              <a:spcAft>
                <a:spcPts val="0"/>
              </a:spcAft>
              <a:buNone/>
            </a:pPr>
            <a:r>
              <a:rPr sz="1235" b="1" i="0">
                <a:solidFill>
                  <a:srgbClr val="574676"/>
                </a:solidFill>
                <a:latin typeface="Fira Sans"/>
              </a:rPr>
              <a:t>Step size</a:t>
            </a:r>
          </a:p>
        </p:txBody>
      </p:sp>
      <p:sp>
        <p:nvSpPr>
          <p:cNvPr id="21" name="TextBox 20"/>
          <p:cNvSpPr txBox="1"/>
          <p:nvPr/>
        </p:nvSpPr>
        <p:spPr>
          <a:xfrm>
            <a:off x="8010144" y="4652274"/>
            <a:ext cx="3346704" cy="355092"/>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626669"/>
                </a:solidFill>
                <a:latin typeface="Fira Sans"/>
              </a:rPr>
              <a:t>How strongly the estimate reacts. Here 1/n, so the reaction shrinks as experience accumulates.</a:t>
            </a:r>
          </a:p>
        </p:txBody>
      </p:sp>
      <p:sp>
        <p:nvSpPr>
          <p:cNvPr id="22" name="Rectangle 21"/>
          <p:cNvSpPr/>
          <p:nvPr/>
        </p:nvSpPr>
        <p:spPr>
          <a:xfrm>
            <a:off x="841248" y="5328930"/>
            <a:ext cx="10515600" cy="863193"/>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841248" y="5328930"/>
            <a:ext cx="41148" cy="863193"/>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1060704" y="5475234"/>
            <a:ext cx="1022299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WHAT THE SHRINKING STEP SIZE MEANS</a:t>
            </a:r>
          </a:p>
        </p:txBody>
      </p:sp>
      <p:sp>
        <p:nvSpPr>
          <p:cNvPr id="25" name="TextBox 24"/>
          <p:cNvSpPr txBox="1"/>
          <p:nvPr/>
        </p:nvSpPr>
        <p:spPr>
          <a:xfrm>
            <a:off x="1060704" y="5712978"/>
            <a:ext cx="10131552" cy="332841"/>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With the 1/n step size the estimate becomes increasingly deaf to new rewards. For a </a:t>
            </a:r>
            <a:r>
              <a:rPr sz="1092" b="1" i="0">
                <a:solidFill>
                  <a:srgbClr val="333639"/>
                </a:solidFill>
                <a:latin typeface="Fira Sans"/>
              </a:rPr>
              <a:t>stationary</a:t>
            </a:r>
            <a:r>
              <a:rPr sz="1092" b="0" i="0">
                <a:solidFill>
                  <a:srgbClr val="333639"/>
                </a:solidFill>
                <a:latin typeface="Fira Sans"/>
              </a:rPr>
              <a:t> bandit that is exactly right — the quantity being estimated never moves. The next slide asks what happens when it does.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2.4  NON-STATIONARITY, AND THE CONSTANT STEP SIZE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If the target moves, an estimator that stops listening will be left behind</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II — Estimating action values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11</a:t>
            </a:r>
          </a:p>
        </p:txBody>
      </p:sp>
      <p:sp>
        <p:nvSpPr>
          <p:cNvPr id="8" name="TextBox 7"/>
          <p:cNvSpPr txBox="1"/>
          <p:nvPr/>
        </p:nvSpPr>
        <p:spPr>
          <a:xfrm>
            <a:off x="841248" y="1316736"/>
            <a:ext cx="6543446" cy="801979"/>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Many real problems are </a:t>
            </a:r>
            <a:r>
              <a:rPr sz="1235" b="1" i="0">
                <a:solidFill>
                  <a:srgbClr val="25282A"/>
                </a:solidFill>
                <a:latin typeface="Fira Sans"/>
              </a:rPr>
              <a:t>non-stationary</a:t>
            </a:r>
            <a:r>
              <a:rPr sz="1235" b="0" i="0">
                <a:solidFill>
                  <a:srgbClr val="333639"/>
                </a:solidFill>
                <a:latin typeface="Fira Sans"/>
              </a:rPr>
              <a:t>: an action’s value changes as the environment evolves. Observations from the distant past then describe a world that no longer exists, so recent rewards should count for more. The simplest way to arrange that is to stop shrinking the step size:</a:t>
            </a:r>
          </a:p>
        </p:txBody>
      </p:sp>
      <p:sp>
        <p:nvSpPr>
          <p:cNvPr id="9" name="Rectangle 8"/>
          <p:cNvSpPr/>
          <p:nvPr/>
        </p:nvSpPr>
        <p:spPr>
          <a:xfrm>
            <a:off x="841248" y="2338171"/>
            <a:ext cx="6543446" cy="786384"/>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41248" y="2338171"/>
            <a:ext cx="41148" cy="786384"/>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eq_const_step.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568" y="2594203"/>
            <a:ext cx="4516120" cy="368300"/>
          </a:xfrm>
          <a:prstGeom prst="rect">
            <a:avLst/>
          </a:prstGeom>
        </p:spPr>
      </p:pic>
      <p:pic>
        <p:nvPicPr>
          <p:cNvPr id="12" name="Picture 11" descr="track2.png"/>
          <p:cNvPicPr>
            <a:picLocks noChangeAspect="1"/>
          </p:cNvPicPr>
          <p:nvPr/>
        </p:nvPicPr>
        <p:blipFill>
          <a:blip r:embed="rId3"/>
          <a:stretch>
            <a:fillRect/>
          </a:stretch>
        </p:blipFill>
        <p:spPr>
          <a:xfrm>
            <a:off x="1789308" y="3289147"/>
            <a:ext cx="4647325" cy="2304288"/>
          </a:xfrm>
          <a:prstGeom prst="rect">
            <a:avLst/>
          </a:prstGeom>
        </p:spPr>
      </p:pic>
      <p:sp>
        <p:nvSpPr>
          <p:cNvPr id="13" name="TextBox 12"/>
          <p:cNvSpPr txBox="1"/>
          <p:nvPr/>
        </p:nvSpPr>
        <p:spPr>
          <a:xfrm>
            <a:off x="841248" y="5666587"/>
            <a:ext cx="6543446" cy="31699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a:solidFill>
                  <a:srgbClr val="626669"/>
                </a:solidFill>
                <a:latin typeface="Fira Sans"/>
              </a:rPr>
              <a:t>A single arm whose true value random-walks. The sample average tracks it at first, then freezes; the constant step keeps following it — at the price of noise.</a:t>
            </a:r>
          </a:p>
        </p:txBody>
      </p:sp>
      <p:sp>
        <p:nvSpPr>
          <p:cNvPr id="14" name="TextBox 13"/>
          <p:cNvSpPr txBox="1"/>
          <p:nvPr/>
        </p:nvSpPr>
        <p:spPr>
          <a:xfrm>
            <a:off x="7618780" y="1316736"/>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WHAT THE FIGURE SHOWS</a:t>
            </a:r>
          </a:p>
        </p:txBody>
      </p:sp>
      <p:sp>
        <p:nvSpPr>
          <p:cNvPr id="15" name="TextBox 14"/>
          <p:cNvSpPr txBox="1"/>
          <p:nvPr/>
        </p:nvSpPr>
        <p:spPr>
          <a:xfrm>
            <a:off x="7618780" y="1572768"/>
            <a:ext cx="3731940" cy="1491528"/>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0" i="0">
                <a:solidFill>
                  <a:srgbClr val="333639"/>
                </a:solidFill>
                <a:latin typeface="Fira Sans"/>
              </a:rPr>
              <a:t>The </a:t>
            </a:r>
            <a:r>
              <a:rPr sz="1092" b="1" i="0">
                <a:solidFill>
                  <a:srgbClr val="25282A"/>
                </a:solidFill>
                <a:latin typeface="Fira Sans"/>
              </a:rPr>
              <a:t>true value</a:t>
            </a:r>
            <a:r>
              <a:rPr sz="1092" b="0" i="0">
                <a:solidFill>
                  <a:srgbClr val="333639"/>
                </a:solidFill>
                <a:latin typeface="Fira Sans"/>
              </a:rPr>
              <a:t> drifts, so the quantity being estimated is itself a moving target.</a:t>
            </a:r>
          </a:p>
          <a:p>
            <a:pPr marL="182880" indent="-182880" algn="l">
              <a:lnSpc>
                <a:spcPts val="1223"/>
              </a:lnSpc>
              <a:spcBef>
                <a:spcPts val="800"/>
              </a:spcBef>
              <a:spcAft>
                <a:spcPts val="0"/>
              </a:spcAft>
              <a:buClr>
                <a:srgbClr val="1971C2"/>
              </a:buClr>
              <a:buFont typeface="Fira Sans"/>
              <a:buChar char="–"/>
            </a:pPr>
            <a:r>
              <a:rPr sz="1092" b="0" i="0">
                <a:solidFill>
                  <a:srgbClr val="333639"/>
                </a:solidFill>
                <a:latin typeface="Fira Sans"/>
              </a:rPr>
              <a:t>The </a:t>
            </a:r>
            <a:r>
              <a:rPr sz="1092" b="1" i="0">
                <a:solidFill>
                  <a:srgbClr val="574676"/>
                </a:solidFill>
                <a:latin typeface="Fira Sans"/>
              </a:rPr>
              <a:t>sample average</a:t>
            </a:r>
            <a:r>
              <a:rPr sz="1092" b="0" i="0">
                <a:solidFill>
                  <a:srgbClr val="333639"/>
                </a:solidFill>
                <a:latin typeface="Fira Sans"/>
              </a:rPr>
              <a:t> works well early, then progressively loses the ability to track: its step size approaches zero, so new rewards barely move it.</a:t>
            </a:r>
          </a:p>
          <a:p>
            <a:pPr marL="182880" indent="-182880" algn="l">
              <a:lnSpc>
                <a:spcPts val="1223"/>
              </a:lnSpc>
              <a:spcBef>
                <a:spcPts val="800"/>
              </a:spcBef>
              <a:spcAft>
                <a:spcPts val="0"/>
              </a:spcAft>
              <a:buClr>
                <a:srgbClr val="1971C2"/>
              </a:buClr>
              <a:buFont typeface="Fira Sans"/>
              <a:buChar char="–"/>
            </a:pPr>
            <a:r>
              <a:rPr sz="1092" b="0" i="0">
                <a:solidFill>
                  <a:srgbClr val="333639"/>
                </a:solidFill>
                <a:latin typeface="Fira Sans"/>
              </a:rPr>
              <a:t>The </a:t>
            </a:r>
            <a:r>
              <a:rPr sz="1092" b="1" i="0">
                <a:solidFill>
                  <a:srgbClr val="C8102E"/>
                </a:solidFill>
                <a:latin typeface="Fira Sans"/>
              </a:rPr>
              <a:t>constant step</a:t>
            </a:r>
            <a:r>
              <a:rPr sz="1092" b="0" i="0">
                <a:solidFill>
                  <a:srgbClr val="333639"/>
                </a:solidFill>
                <a:latin typeface="Fira Sans"/>
              </a:rPr>
              <a:t> keeps reacting throughout — but it reacts to the noise in individual rewards as well as to genuine change.</a:t>
            </a:r>
          </a:p>
        </p:txBody>
      </p:sp>
      <p:sp>
        <p:nvSpPr>
          <p:cNvPr id="16" name="Rectangle 15"/>
          <p:cNvSpPr/>
          <p:nvPr/>
        </p:nvSpPr>
        <p:spPr>
          <a:xfrm>
            <a:off x="7618780" y="3320328"/>
            <a:ext cx="3731940" cy="1196035"/>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7618780" y="3320328"/>
            <a:ext cx="41148" cy="1196035"/>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838236" y="3466632"/>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8A5100"/>
                </a:solidFill>
                <a:latin typeface="Fira Sans"/>
              </a:rPr>
              <a:t>THE COST OF NEVER FORGETTING TO LISTEN</a:t>
            </a:r>
          </a:p>
        </p:txBody>
      </p:sp>
      <p:sp>
        <p:nvSpPr>
          <p:cNvPr id="19" name="TextBox 18"/>
          <p:cNvSpPr txBox="1"/>
          <p:nvPr/>
        </p:nvSpPr>
        <p:spPr>
          <a:xfrm>
            <a:off x="7838236" y="3704376"/>
            <a:ext cx="3347892" cy="66568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α controls a trade-off between </a:t>
            </a:r>
            <a:r>
              <a:rPr sz="1092" b="1" i="0">
                <a:solidFill>
                  <a:srgbClr val="333639"/>
                </a:solidFill>
                <a:latin typeface="Fira Sans"/>
              </a:rPr>
              <a:t>adaptability</a:t>
            </a:r>
            <a:r>
              <a:rPr sz="1092" b="0" i="0">
                <a:solidFill>
                  <a:srgbClr val="333639"/>
                </a:solidFill>
                <a:latin typeface="Fira Sans"/>
              </a:rPr>
              <a:t> and </a:t>
            </a:r>
            <a:r>
              <a:rPr sz="1092" b="1" i="0">
                <a:solidFill>
                  <a:srgbClr val="333639"/>
                </a:solidFill>
                <a:latin typeface="Fira Sans"/>
              </a:rPr>
              <a:t>noise suppression</a:t>
            </a:r>
            <a:r>
              <a:rPr sz="1092" b="0" i="0">
                <a:solidFill>
                  <a:srgbClr val="333639"/>
                </a:solidFill>
                <a:latin typeface="Fira Sans"/>
              </a:rPr>
              <a:t>. A larger α follows change faster and shakes more; a smaller α is smoother and slower. There is no setting that is good at both.</a:t>
            </a:r>
          </a:p>
        </p:txBody>
      </p:sp>
      <p:sp>
        <p:nvSpPr>
          <p:cNvPr id="20" name="Rectangle 19"/>
          <p:cNvSpPr/>
          <p:nvPr/>
        </p:nvSpPr>
        <p:spPr>
          <a:xfrm>
            <a:off x="7618780" y="4754107"/>
            <a:ext cx="3731940" cy="1008126"/>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7618780" y="4754107"/>
            <a:ext cx="41148" cy="1008126"/>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838236" y="4900411"/>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9AA6B2"/>
                </a:solidFill>
                <a:latin typeface="Fira Sans"/>
              </a:rPr>
              <a:t>IN CODE</a:t>
            </a:r>
          </a:p>
        </p:txBody>
      </p:sp>
      <p:sp>
        <p:nvSpPr>
          <p:cNvPr id="23" name="TextBox 22"/>
          <p:cNvSpPr txBox="1"/>
          <p:nvPr/>
        </p:nvSpPr>
        <p:spPr>
          <a:xfrm>
            <a:off x="7838236" y="5138155"/>
            <a:ext cx="3347892" cy="477773"/>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The implementation changes by one character: replace 1/n by a fixed α. Everything else — the class, the loop, the caller — is identical.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2.5  WHAT A CONSTANT STEP SIZE ACTUALLY COMPUTES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Expand the recursion and the weights become visible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II — Estimating action values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12</a:t>
            </a:r>
          </a:p>
        </p:txBody>
      </p:sp>
      <p:pic>
        <p:nvPicPr>
          <p:cNvPr id="8" name="Picture 7" descr="eq_exp1.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24128" y="1316736"/>
            <a:ext cx="4267200" cy="254000"/>
          </a:xfrm>
          <a:prstGeom prst="rect">
            <a:avLst/>
          </a:prstGeom>
        </p:spPr>
      </p:pic>
      <p:sp>
        <p:nvSpPr>
          <p:cNvPr id="9" name="TextBox 8"/>
          <p:cNvSpPr txBox="1"/>
          <p:nvPr/>
        </p:nvSpPr>
        <p:spPr>
          <a:xfrm>
            <a:off x="1024128" y="1625600"/>
            <a:ext cx="10241280" cy="183454"/>
          </a:xfrm>
          <a:prstGeom prst="rect">
            <a:avLst/>
          </a:prstGeom>
          <a:noFill/>
        </p:spPr>
        <p:txBody>
          <a:bodyPr wrap="square" lIns="0" tIns="0" rIns="0" bIns="0" anchor="t">
            <a:noAutofit/>
          </a:bodyPr>
          <a:lstStyle/>
          <a:p>
            <a:pPr marL="0" indent="0" algn="l">
              <a:lnSpc>
                <a:spcPts val="1157"/>
              </a:lnSpc>
              <a:spcBef>
                <a:spcPts val="0"/>
              </a:spcBef>
              <a:spcAft>
                <a:spcPts val="0"/>
              </a:spcAft>
              <a:buNone/>
            </a:pPr>
            <a:r>
              <a:rPr sz="997" b="0" i="0">
                <a:solidFill>
                  <a:srgbClr val="626669"/>
                </a:solidFill>
                <a:latin typeface="Fira Sans"/>
              </a:rPr>
              <a:t>Rearranged: the new estimate is a blend of the latest reward and the old estimate, with weights α and 1−α.</a:t>
            </a:r>
          </a:p>
        </p:txBody>
      </p:sp>
      <p:pic>
        <p:nvPicPr>
          <p:cNvPr id="10" name="Picture 9" descr="eq_exp2.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4128" y="2010222"/>
            <a:ext cx="7715503" cy="294639"/>
          </a:xfrm>
          <a:prstGeom prst="rect">
            <a:avLst/>
          </a:prstGeom>
        </p:spPr>
      </p:pic>
      <p:sp>
        <p:nvSpPr>
          <p:cNvPr id="11" name="TextBox 10"/>
          <p:cNvSpPr txBox="1"/>
          <p:nvPr/>
        </p:nvSpPr>
        <p:spPr>
          <a:xfrm>
            <a:off x="1024128" y="2359726"/>
            <a:ext cx="10241280" cy="183454"/>
          </a:xfrm>
          <a:prstGeom prst="rect">
            <a:avLst/>
          </a:prstGeom>
          <a:noFill/>
        </p:spPr>
        <p:txBody>
          <a:bodyPr wrap="square" lIns="0" tIns="0" rIns="0" bIns="0" anchor="t">
            <a:noAutofit/>
          </a:bodyPr>
          <a:lstStyle/>
          <a:p>
            <a:pPr marL="0" indent="0" algn="l">
              <a:lnSpc>
                <a:spcPts val="1157"/>
              </a:lnSpc>
              <a:spcBef>
                <a:spcPts val="0"/>
              </a:spcBef>
              <a:spcAft>
                <a:spcPts val="0"/>
              </a:spcAft>
              <a:buNone/>
            </a:pPr>
            <a:r>
              <a:rPr sz="997" b="0" i="0">
                <a:solidFill>
                  <a:srgbClr val="626669"/>
                </a:solidFill>
                <a:latin typeface="Fira Sans"/>
              </a:rPr>
              <a:t>Substitute the previous estimate, and expand.</a:t>
            </a:r>
          </a:p>
        </p:txBody>
      </p:sp>
      <p:pic>
        <p:nvPicPr>
          <p:cNvPr id="12" name="Picture 11" descr="eq_exp3.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4128" y="2744348"/>
            <a:ext cx="7372096" cy="272288"/>
          </a:xfrm>
          <a:prstGeom prst="rect">
            <a:avLst/>
          </a:prstGeom>
        </p:spPr>
      </p:pic>
      <p:sp>
        <p:nvSpPr>
          <p:cNvPr id="13" name="TextBox 12"/>
          <p:cNvSpPr txBox="1"/>
          <p:nvPr/>
        </p:nvSpPr>
        <p:spPr>
          <a:xfrm>
            <a:off x="1024128" y="3071500"/>
            <a:ext cx="10241280" cy="183454"/>
          </a:xfrm>
          <a:prstGeom prst="rect">
            <a:avLst/>
          </a:prstGeom>
          <a:noFill/>
        </p:spPr>
        <p:txBody>
          <a:bodyPr wrap="square" lIns="0" tIns="0" rIns="0" bIns="0" anchor="t">
            <a:noAutofit/>
          </a:bodyPr>
          <a:lstStyle/>
          <a:p>
            <a:pPr marL="0" indent="0" algn="l">
              <a:lnSpc>
                <a:spcPts val="1157"/>
              </a:lnSpc>
              <a:spcBef>
                <a:spcPts val="0"/>
              </a:spcBef>
              <a:spcAft>
                <a:spcPts val="0"/>
              </a:spcAft>
              <a:buNone/>
            </a:pPr>
            <a:r>
              <a:rPr sz="997" b="0" i="0">
                <a:solidFill>
                  <a:srgbClr val="626669"/>
                </a:solidFill>
                <a:latin typeface="Fira Sans"/>
              </a:rPr>
              <a:t>Continue recursively all the way back to the initial estimate.</a:t>
            </a:r>
          </a:p>
        </p:txBody>
      </p:sp>
      <p:sp>
        <p:nvSpPr>
          <p:cNvPr id="14" name="Rectangle 13"/>
          <p:cNvSpPr/>
          <p:nvPr/>
        </p:nvSpPr>
        <p:spPr>
          <a:xfrm>
            <a:off x="841248" y="3419546"/>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841248" y="3602426"/>
            <a:ext cx="10515600" cy="1225296"/>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841248" y="3602426"/>
            <a:ext cx="41148" cy="1225296"/>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115568" y="3730442"/>
            <a:ext cx="6400800" cy="201168"/>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EXPONENTIAL RECENCY-WEIGHTED AVERAGE</a:t>
            </a:r>
          </a:p>
        </p:txBody>
      </p:sp>
      <p:pic>
        <p:nvPicPr>
          <p:cNvPr id="18" name="Picture 17" descr="eq_exp_final.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15568" y="3968186"/>
            <a:ext cx="4698111" cy="1112393"/>
          </a:xfrm>
          <a:prstGeom prst="rect">
            <a:avLst/>
          </a:prstGeom>
        </p:spPr>
      </p:pic>
      <p:sp>
        <p:nvSpPr>
          <p:cNvPr id="19" name="TextBox 18"/>
          <p:cNvSpPr txBox="1"/>
          <p:nvPr/>
        </p:nvSpPr>
        <p:spPr>
          <a:xfrm>
            <a:off x="6419088" y="3821882"/>
            <a:ext cx="4663440" cy="506387"/>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0" i="0">
                <a:solidFill>
                  <a:srgbClr val="333639"/>
                </a:solidFill>
                <a:latin typeface="Fira Sans"/>
              </a:rPr>
              <a:t>The weight attached to a reward decays </a:t>
            </a:r>
            <a:r>
              <a:rPr sz="1045" b="1" i="0">
                <a:solidFill>
                  <a:srgbClr val="25282A"/>
                </a:solidFill>
                <a:latin typeface="Fira Sans"/>
              </a:rPr>
              <a:t>exponentially with its age</a:t>
            </a:r>
            <a:r>
              <a:rPr sz="1045" b="0" i="0">
                <a:solidFill>
                  <a:srgbClr val="333639"/>
                </a:solidFill>
                <a:latin typeface="Fira Sans"/>
              </a:rPr>
              <a:t>. Recent rewards dominate; older ones are progressively forgotten. The initial belief fades too, at the same rate.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2.6  IT IS STILL A GENUINE AVERAGE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weights are non-negative and sum to one — so the estimate cannot drift out of range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II — Estimating action values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13</a:t>
            </a:r>
          </a:p>
        </p:txBody>
      </p:sp>
      <p:sp>
        <p:nvSpPr>
          <p:cNvPr id="8" name="TextBox 7"/>
          <p:cNvSpPr txBox="1"/>
          <p:nvPr/>
        </p:nvSpPr>
        <p:spPr>
          <a:xfrm>
            <a:off x="841248" y="1316736"/>
            <a:ext cx="6543446" cy="632475"/>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Before trusting the expansion, check that it is a </a:t>
            </a:r>
            <a:r>
              <a:rPr sz="1282" b="1" i="0">
                <a:solidFill>
                  <a:srgbClr val="25282A"/>
                </a:solidFill>
                <a:latin typeface="Fira Sans"/>
              </a:rPr>
              <a:t>weighted average</a:t>
            </a:r>
            <a:r>
              <a:rPr sz="1282" b="0" i="0">
                <a:solidFill>
                  <a:srgbClr val="333639"/>
                </a:solidFill>
                <a:latin typeface="Fira Sans"/>
              </a:rPr>
              <a:t> and not an arbitrary linear combination. The coefficients are clearly non-negative; it remains to show that they sum to one.</a:t>
            </a:r>
          </a:p>
        </p:txBody>
      </p:sp>
      <p:pic>
        <p:nvPicPr>
          <p:cNvPr id="9" name="Picture 8" descr="eq_weights_sum.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568" y="2168667"/>
            <a:ext cx="3720465" cy="837438"/>
          </a:xfrm>
          <a:prstGeom prst="rect">
            <a:avLst/>
          </a:prstGeom>
        </p:spPr>
      </p:pic>
      <p:sp>
        <p:nvSpPr>
          <p:cNvPr id="10" name="TextBox 9"/>
          <p:cNvSpPr txBox="1"/>
          <p:nvPr/>
        </p:nvSpPr>
        <p:spPr>
          <a:xfrm>
            <a:off x="841248" y="3280425"/>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PROOF — A FINITE GEOMETRIC SERIES</a:t>
            </a:r>
          </a:p>
        </p:txBody>
      </p:sp>
      <p:pic>
        <p:nvPicPr>
          <p:cNvPr id="11" name="Picture 10" descr="eq_geo1.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568" y="3591321"/>
            <a:ext cx="2924048" cy="692912"/>
          </a:xfrm>
          <a:prstGeom prst="rect">
            <a:avLst/>
          </a:prstGeom>
        </p:spPr>
      </p:pic>
      <p:sp>
        <p:nvSpPr>
          <p:cNvPr id="12" name="TextBox 11"/>
          <p:cNvSpPr txBox="1"/>
          <p:nvPr/>
        </p:nvSpPr>
        <p:spPr>
          <a:xfrm>
            <a:off x="5687568" y="3682761"/>
            <a:ext cx="1737360" cy="174117"/>
          </a:xfrm>
          <a:prstGeom prst="rect">
            <a:avLst/>
          </a:prstGeom>
          <a:noFill/>
        </p:spPr>
        <p:txBody>
          <a:bodyPr wrap="square" lIns="0" tIns="0" rIns="0" bIns="0" anchor="t">
            <a:noAutofit/>
          </a:bodyPr>
          <a:lstStyle/>
          <a:p>
            <a:pPr marL="0" indent="0" algn="l">
              <a:lnSpc>
                <a:spcPts val="1083"/>
              </a:lnSpc>
              <a:spcBef>
                <a:spcPts val="0"/>
              </a:spcBef>
              <a:spcAft>
                <a:spcPts val="0"/>
              </a:spcAft>
              <a:buNone/>
            </a:pPr>
            <a:r>
              <a:rPr sz="950" b="0" i="0">
                <a:solidFill>
                  <a:srgbClr val="626669"/>
                </a:solidFill>
                <a:latin typeface="Fira Sans"/>
              </a:rPr>
              <a:t>substitute j = n − i</a:t>
            </a:r>
          </a:p>
        </p:txBody>
      </p:sp>
      <p:pic>
        <p:nvPicPr>
          <p:cNvPr id="13" name="Picture 12" descr="eq_geo2.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5568" y="4412249"/>
            <a:ext cx="3318256" cy="692912"/>
          </a:xfrm>
          <a:prstGeom prst="rect">
            <a:avLst/>
          </a:prstGeom>
        </p:spPr>
      </p:pic>
      <p:sp>
        <p:nvSpPr>
          <p:cNvPr id="14" name="TextBox 13"/>
          <p:cNvSpPr txBox="1"/>
          <p:nvPr/>
        </p:nvSpPr>
        <p:spPr>
          <a:xfrm>
            <a:off x="5687568" y="4503689"/>
            <a:ext cx="1737360" cy="311658"/>
          </a:xfrm>
          <a:prstGeom prst="rect">
            <a:avLst/>
          </a:prstGeom>
          <a:noFill/>
        </p:spPr>
        <p:txBody>
          <a:bodyPr wrap="square" lIns="0" tIns="0" rIns="0" bIns="0" anchor="t">
            <a:noAutofit/>
          </a:bodyPr>
          <a:lstStyle/>
          <a:p>
            <a:pPr marL="0" indent="0" algn="l">
              <a:lnSpc>
                <a:spcPts val="1083"/>
              </a:lnSpc>
              <a:spcBef>
                <a:spcPts val="0"/>
              </a:spcBef>
              <a:spcAft>
                <a:spcPts val="0"/>
              </a:spcAft>
              <a:buNone/>
            </a:pPr>
            <a:r>
              <a:rPr sz="950" b="0" i="0">
                <a:solidFill>
                  <a:srgbClr val="626669"/>
                </a:solidFill>
                <a:latin typeface="Fira Sans"/>
              </a:rPr>
              <a:t>the finite geometric-series formula</a:t>
            </a:r>
          </a:p>
        </p:txBody>
      </p:sp>
      <p:pic>
        <p:nvPicPr>
          <p:cNvPr id="15" name="Picture 14" descr="eq_geo3.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15568" y="5233177"/>
            <a:ext cx="4206240" cy="676569"/>
          </a:xfrm>
          <a:prstGeom prst="rect">
            <a:avLst/>
          </a:prstGeom>
        </p:spPr>
      </p:pic>
      <p:sp>
        <p:nvSpPr>
          <p:cNvPr id="16" name="TextBox 15"/>
          <p:cNvSpPr txBox="1"/>
          <p:nvPr/>
        </p:nvSpPr>
        <p:spPr>
          <a:xfrm>
            <a:off x="5687568" y="5324617"/>
            <a:ext cx="1737360" cy="174117"/>
          </a:xfrm>
          <a:prstGeom prst="rect">
            <a:avLst/>
          </a:prstGeom>
          <a:noFill/>
        </p:spPr>
        <p:txBody>
          <a:bodyPr wrap="square" lIns="0" tIns="0" rIns="0" bIns="0" anchor="t">
            <a:noAutofit/>
          </a:bodyPr>
          <a:lstStyle/>
          <a:p>
            <a:pPr marL="0" indent="0" algn="l">
              <a:lnSpc>
                <a:spcPts val="1083"/>
              </a:lnSpc>
              <a:spcBef>
                <a:spcPts val="0"/>
              </a:spcBef>
              <a:spcAft>
                <a:spcPts val="0"/>
              </a:spcAft>
              <a:buNone/>
            </a:pPr>
            <a:r>
              <a:rPr sz="950" b="0" i="0">
                <a:solidFill>
                  <a:srgbClr val="626669"/>
                </a:solidFill>
                <a:latin typeface="Fira Sans"/>
              </a:rPr>
              <a:t>the α cancels</a:t>
            </a:r>
          </a:p>
        </p:txBody>
      </p:sp>
      <p:sp>
        <p:nvSpPr>
          <p:cNvPr id="17" name="TextBox 16"/>
          <p:cNvSpPr txBox="1"/>
          <p:nvPr/>
        </p:nvSpPr>
        <p:spPr>
          <a:xfrm>
            <a:off x="841248" y="6092626"/>
            <a:ext cx="6543446" cy="210312"/>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a:solidFill>
                  <a:srgbClr val="333639"/>
                </a:solidFill>
                <a:latin typeface="Fira Sans"/>
              </a:rPr>
              <a:t>Adding back the (1−α)ⁿ term gives exactly 1.</a:t>
            </a:r>
          </a:p>
        </p:txBody>
      </p:sp>
      <p:sp>
        <p:nvSpPr>
          <p:cNvPr id="18" name="Rectangle 17"/>
          <p:cNvSpPr/>
          <p:nvPr/>
        </p:nvSpPr>
        <p:spPr>
          <a:xfrm>
            <a:off x="7618780" y="1316736"/>
            <a:ext cx="3731940" cy="1362456"/>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7618780" y="1316736"/>
            <a:ext cx="41148" cy="1362456"/>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838236" y="1463039"/>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WHY THIS MATTERS</a:t>
            </a:r>
          </a:p>
        </p:txBody>
      </p:sp>
      <p:sp>
        <p:nvSpPr>
          <p:cNvPr id="21" name="TextBox 20"/>
          <p:cNvSpPr txBox="1"/>
          <p:nvPr/>
        </p:nvSpPr>
        <p:spPr>
          <a:xfrm>
            <a:off x="7838236" y="1700784"/>
            <a:ext cx="3347892" cy="83210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Because the coefficients are non-negative and sum to one, the estimate is a </a:t>
            </a:r>
            <a:r>
              <a:rPr sz="1092" b="1" i="0">
                <a:solidFill>
                  <a:srgbClr val="333639"/>
                </a:solidFill>
                <a:latin typeface="Fira Sans"/>
              </a:rPr>
              <a:t>convex combination</a:t>
            </a:r>
            <a:r>
              <a:rPr sz="1092" b="0" i="0">
                <a:solidFill>
                  <a:srgbClr val="333639"/>
                </a:solidFill>
                <a:latin typeface="Fira Sans"/>
              </a:rPr>
              <a:t> of the initial belief and the observed rewards. If they all lie in some interval, so does the estimate — it can never be pushed outside the range of the data.</a:t>
            </a:r>
          </a:p>
        </p:txBody>
      </p:sp>
      <p:sp>
        <p:nvSpPr>
          <p:cNvPr id="22" name="TextBox 21"/>
          <p:cNvSpPr txBox="1"/>
          <p:nvPr/>
        </p:nvSpPr>
        <p:spPr>
          <a:xfrm>
            <a:off x="7618780" y="2953511"/>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HOW THE TOTAL WEIGHT IS REDISTRIBUTED</a:t>
            </a:r>
          </a:p>
        </p:txBody>
      </p:sp>
      <p:sp>
        <p:nvSpPr>
          <p:cNvPr id="23" name="TextBox 22"/>
          <p:cNvSpPr txBox="1"/>
          <p:nvPr/>
        </p:nvSpPr>
        <p:spPr>
          <a:xfrm>
            <a:off x="7618780" y="3209544"/>
            <a:ext cx="3731940" cy="1180876"/>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0" i="0">
                <a:solidFill>
                  <a:srgbClr val="333639"/>
                </a:solidFill>
                <a:latin typeface="Fira Sans"/>
              </a:rPr>
              <a:t>At n = 0 the whole weight sits on the </a:t>
            </a:r>
            <a:r>
              <a:rPr sz="1092" b="1" i="0">
                <a:solidFill>
                  <a:srgbClr val="8A5100"/>
                </a:solidFill>
                <a:latin typeface="Fira Sans"/>
              </a:rPr>
              <a:t>initial estimate</a:t>
            </a:r>
            <a:r>
              <a:rPr sz="1092" b="0" i="0">
                <a:solidFill>
                  <a:srgbClr val="333639"/>
                </a:solidFill>
                <a:latin typeface="Fira Sans"/>
              </a:rPr>
              <a:t>.</a:t>
            </a:r>
          </a:p>
          <a:p>
            <a:pPr marL="182880" indent="-182880" algn="l">
              <a:lnSpc>
                <a:spcPts val="1223"/>
              </a:lnSpc>
              <a:spcBef>
                <a:spcPts val="800"/>
              </a:spcBef>
              <a:spcAft>
                <a:spcPts val="0"/>
              </a:spcAft>
              <a:buClr>
                <a:srgbClr val="1971C2"/>
              </a:buClr>
              <a:buFont typeface="Fira Sans"/>
              <a:buChar char="–"/>
            </a:pPr>
            <a:r>
              <a:rPr sz="1092" b="0" i="0">
                <a:solidFill>
                  <a:srgbClr val="333639"/>
                </a:solidFill>
                <a:latin typeface="Fira Sans"/>
              </a:rPr>
              <a:t>Each new reward transfers a share of that weight to the observations.</a:t>
            </a:r>
          </a:p>
          <a:p>
            <a:pPr marL="182880" indent="-182880" algn="l">
              <a:lnSpc>
                <a:spcPts val="1223"/>
              </a:lnSpc>
              <a:spcBef>
                <a:spcPts val="800"/>
              </a:spcBef>
              <a:spcAft>
                <a:spcPts val="0"/>
              </a:spcAft>
              <a:buClr>
                <a:srgbClr val="1971C2"/>
              </a:buClr>
              <a:buFont typeface="Fira Sans"/>
              <a:buChar char="–"/>
            </a:pPr>
            <a:r>
              <a:rPr sz="1092" b="0" i="0">
                <a:solidFill>
                  <a:srgbClr val="333639"/>
                </a:solidFill>
                <a:latin typeface="Fira Sans"/>
              </a:rPr>
              <a:t>As n grows, (1−α)ⁿ → 0 and the estimate becomes a weighted average of the rewards alone — but always with </a:t>
            </a:r>
            <a:r>
              <a:rPr sz="1092" b="1" i="0">
                <a:solidFill>
                  <a:srgbClr val="25282A"/>
                </a:solidFill>
                <a:latin typeface="Fira Sans"/>
              </a:rPr>
              <a:t>more weight on the recent ones</a:t>
            </a:r>
            <a:r>
              <a:rPr sz="1092" b="0" i="0">
                <a:solidFill>
                  <a:srgbClr val="333639"/>
                </a:solidFill>
                <a:latin typeface="Fira Sans"/>
              </a:rPr>
              <a:t>.</a:t>
            </a:r>
          </a:p>
        </p:txBody>
      </p:sp>
      <p:sp>
        <p:nvSpPr>
          <p:cNvPr id="24" name="Rectangle 23"/>
          <p:cNvSpPr/>
          <p:nvPr/>
        </p:nvSpPr>
        <p:spPr>
          <a:xfrm>
            <a:off x="7618780" y="4646452"/>
            <a:ext cx="3731940" cy="1008126"/>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7618780" y="4646452"/>
            <a:ext cx="41148" cy="1008126"/>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7838236" y="4792756"/>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9AA6B2"/>
                </a:solidFill>
                <a:latin typeface="Fira Sans"/>
              </a:rPr>
              <a:t>THE ONE PARAMETER</a:t>
            </a:r>
          </a:p>
        </p:txBody>
      </p:sp>
      <p:sp>
        <p:nvSpPr>
          <p:cNvPr id="27" name="TextBox 26"/>
          <p:cNvSpPr txBox="1"/>
          <p:nvPr/>
        </p:nvSpPr>
        <p:spPr>
          <a:xfrm>
            <a:off x="7838236" y="5030500"/>
            <a:ext cx="3347892" cy="477773"/>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α therefore controls how quickly the agent forgets. Larger: responds faster to change. Smaller: retains older information for longer and stays smoother.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III</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Step sizes and convergence</a:t>
            </a:r>
          </a:p>
        </p:txBody>
      </p:sp>
      <p:sp>
        <p:nvSpPr>
          <p:cNvPr id="6" name="TextBox 5"/>
          <p:cNvSpPr txBox="1"/>
          <p:nvPr/>
        </p:nvSpPr>
        <p:spPr>
          <a:xfrm>
            <a:off x="859536" y="3073907"/>
            <a:ext cx="5943600" cy="453379"/>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a:solidFill>
                  <a:srgbClr val="D6D0E0"/>
                </a:solidFill>
                <a:latin typeface="Fira Sans"/>
              </a:rPr>
              <a:t>A general step-size schedule, the weight it assigns to each reward, and the two classical conditions that decide whether the estimate converges at all.</a:t>
            </a:r>
          </a:p>
        </p:txBody>
      </p:sp>
      <p:sp>
        <p:nvSpPr>
          <p:cNvPr id="7" name="Rectangle 6"/>
          <p:cNvSpPr/>
          <p:nvPr/>
        </p:nvSpPr>
        <p:spPr>
          <a:xfrm>
            <a:off x="859536" y="495604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95604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When should an agent stop learning — and when must it never stop?</a:t>
            </a:r>
          </a:p>
        </p:txBody>
      </p:sp>
      <p:sp>
        <p:nvSpPr>
          <p:cNvPr id="9" name="Rectangle 8"/>
          <p:cNvSpPr/>
          <p:nvPr/>
        </p:nvSpPr>
        <p:spPr>
          <a:xfrm>
            <a:off x="7424928" y="2084831"/>
            <a:ext cx="10972" cy="32461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324612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A general step-size schedule</a:t>
            </a:r>
          </a:p>
          <a:p>
            <a:pPr marL="0" indent="0" algn="l">
              <a:lnSpc>
                <a:spcPts val="1378"/>
              </a:lnSpc>
              <a:spcBef>
                <a:spcPts val="1300"/>
              </a:spcBef>
              <a:spcAft>
                <a:spcPts val="0"/>
              </a:spcAft>
              <a:buNone/>
            </a:pPr>
            <a:r>
              <a:rPr sz="1188" b="1" i="0">
                <a:solidFill>
                  <a:srgbClr val="B2A7C4"/>
                </a:solidFill>
                <a:latin typeface="Fira Sans"/>
              </a:rPr>
              <a:t>02   </a:t>
            </a:r>
            <a:r>
              <a:rPr sz="1188" b="0" i="0">
                <a:solidFill>
                  <a:srgbClr val="FFFFFF"/>
                </a:solidFill>
                <a:latin typeface="Fira Sans"/>
              </a:rPr>
              <a:t>The weight carried by each reward</a:t>
            </a:r>
          </a:p>
          <a:p>
            <a:pPr marL="0" indent="0" algn="l">
              <a:lnSpc>
                <a:spcPts val="1378"/>
              </a:lnSpc>
              <a:spcBef>
                <a:spcPts val="1300"/>
              </a:spcBef>
              <a:spcAft>
                <a:spcPts val="0"/>
              </a:spcAft>
              <a:buNone/>
            </a:pPr>
            <a:r>
              <a:rPr sz="1188" b="1" i="0">
                <a:solidFill>
                  <a:srgbClr val="B2A7C4"/>
                </a:solidFill>
                <a:latin typeface="Fira Sans"/>
              </a:rPr>
              <a:t>03   </a:t>
            </a:r>
            <a:r>
              <a:rPr sz="1188" b="0" i="0">
                <a:solidFill>
                  <a:srgbClr val="FFFFFF"/>
                </a:solidFill>
                <a:latin typeface="Fira Sans"/>
              </a:rPr>
              <a:t>The Robbins–Monro conditions</a:t>
            </a:r>
          </a:p>
          <a:p>
            <a:pPr marL="0" indent="0" algn="l">
              <a:lnSpc>
                <a:spcPts val="1378"/>
              </a:lnSpc>
              <a:spcBef>
                <a:spcPts val="1300"/>
              </a:spcBef>
              <a:spcAft>
                <a:spcPts val="0"/>
              </a:spcAft>
              <a:buNone/>
            </a:pPr>
            <a:r>
              <a:rPr sz="1188" b="1" i="0">
                <a:solidFill>
                  <a:srgbClr val="B2A7C4"/>
                </a:solidFill>
                <a:latin typeface="Fira Sans"/>
              </a:rPr>
              <a:t>04   </a:t>
            </a:r>
            <a:r>
              <a:rPr sz="1188" b="0" i="0">
                <a:solidFill>
                  <a:srgbClr val="FFFFFF"/>
                </a:solidFill>
                <a:latin typeface="Fira Sans"/>
              </a:rPr>
              <a:t>Convergence versus tracking</a:t>
            </a:r>
          </a:p>
          <a:p>
            <a:pPr marL="0" indent="0" algn="l">
              <a:lnSpc>
                <a:spcPts val="1378"/>
              </a:lnSpc>
              <a:spcBef>
                <a:spcPts val="1300"/>
              </a:spcBef>
              <a:spcAft>
                <a:spcPts val="0"/>
              </a:spcAft>
              <a:buNone/>
            </a:pPr>
            <a:r>
              <a:rPr sz="1188" b="1" i="0">
                <a:solidFill>
                  <a:srgbClr val="B2A7C4"/>
                </a:solidFill>
                <a:latin typeface="Fira Sans"/>
              </a:rPr>
              <a:t>05   </a:t>
            </a:r>
            <a:r>
              <a:rPr sz="1188" b="0" i="0">
                <a:solidFill>
                  <a:srgbClr val="FFFFFF"/>
                </a:solidFill>
                <a:latin typeface="Fira Sans"/>
              </a:rPr>
              <a:t>The initial estimate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3.1  A GENERAL STEP-SIZE SCHEDULE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Neither 1/n nor a constant — let the step size be whatever we choose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III — Step sizes and convergence</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15</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The two estimators so far are the extremes of one family. Let α</a:t>
            </a:r>
            <a:r>
              <a:rPr sz="882" b="0" i="0">
                <a:solidFill>
                  <a:srgbClr val="333639"/>
                </a:solidFill>
                <a:latin typeface="Fira Sans"/>
              </a:rPr>
              <a:t>n</a:t>
            </a:r>
            <a:r>
              <a:rPr sz="1282" b="0" i="0">
                <a:solidFill>
                  <a:srgbClr val="333639"/>
                </a:solidFill>
                <a:latin typeface="Fira Sans"/>
              </a:rPr>
              <a:t> be the step size used when processing the n-th reward observed for a given action, and expand the recursion exactly as before.</a:t>
            </a:r>
          </a:p>
        </p:txBody>
      </p:sp>
      <p:pic>
        <p:nvPicPr>
          <p:cNvPr id="9" name="Picture 8" descr="eq_var_update.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69848" y="1975104"/>
            <a:ext cx="2515616" cy="294639"/>
          </a:xfrm>
          <a:prstGeom prst="rect">
            <a:avLst/>
          </a:prstGeom>
        </p:spPr>
      </p:pic>
      <p:sp>
        <p:nvSpPr>
          <p:cNvPr id="10" name="TextBox 9"/>
          <p:cNvSpPr txBox="1"/>
          <p:nvPr/>
        </p:nvSpPr>
        <p:spPr>
          <a:xfrm>
            <a:off x="1069848" y="2315464"/>
            <a:ext cx="10149840" cy="183454"/>
          </a:xfrm>
          <a:prstGeom prst="rect">
            <a:avLst/>
          </a:prstGeom>
          <a:noFill/>
        </p:spPr>
        <p:txBody>
          <a:bodyPr wrap="square" lIns="0" tIns="0" rIns="0" bIns="0" anchor="t">
            <a:noAutofit/>
          </a:bodyPr>
          <a:lstStyle/>
          <a:p>
            <a:pPr marL="0" indent="0" algn="l">
              <a:lnSpc>
                <a:spcPts val="1157"/>
              </a:lnSpc>
              <a:spcBef>
                <a:spcPts val="0"/>
              </a:spcBef>
              <a:spcAft>
                <a:spcPts val="0"/>
              </a:spcAft>
              <a:buNone/>
            </a:pPr>
            <a:r>
              <a:rPr sz="997" b="0" i="0">
                <a:solidFill>
                  <a:srgbClr val="626669"/>
                </a:solidFill>
                <a:latin typeface="Fira Sans"/>
              </a:rPr>
              <a:t>the update, with a step size that may change at every n</a:t>
            </a:r>
          </a:p>
        </p:txBody>
      </p:sp>
      <p:pic>
        <p:nvPicPr>
          <p:cNvPr id="11" name="Picture 10" descr="eq_var1.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9848" y="2681798"/>
            <a:ext cx="6955536" cy="294639"/>
          </a:xfrm>
          <a:prstGeom prst="rect">
            <a:avLst/>
          </a:prstGeom>
        </p:spPr>
      </p:pic>
      <p:sp>
        <p:nvSpPr>
          <p:cNvPr id="12" name="TextBox 11"/>
          <p:cNvSpPr txBox="1"/>
          <p:nvPr/>
        </p:nvSpPr>
        <p:spPr>
          <a:xfrm>
            <a:off x="1069848" y="3022158"/>
            <a:ext cx="10149840" cy="183454"/>
          </a:xfrm>
          <a:prstGeom prst="rect">
            <a:avLst/>
          </a:prstGeom>
          <a:noFill/>
        </p:spPr>
        <p:txBody>
          <a:bodyPr wrap="square" lIns="0" tIns="0" rIns="0" bIns="0" anchor="t">
            <a:noAutofit/>
          </a:bodyPr>
          <a:lstStyle/>
          <a:p>
            <a:pPr marL="0" indent="0" algn="l">
              <a:lnSpc>
                <a:spcPts val="1157"/>
              </a:lnSpc>
              <a:spcBef>
                <a:spcPts val="0"/>
              </a:spcBef>
              <a:spcAft>
                <a:spcPts val="0"/>
              </a:spcAft>
              <a:buNone/>
            </a:pPr>
            <a:r>
              <a:rPr sz="997" b="0" i="0">
                <a:solidFill>
                  <a:srgbClr val="626669"/>
                </a:solidFill>
                <a:latin typeface="Fira Sans"/>
              </a:rPr>
              <a:t>rearrange, then substitute the previous estimate</a:t>
            </a:r>
          </a:p>
        </p:txBody>
      </p:sp>
      <p:pic>
        <p:nvPicPr>
          <p:cNvPr id="13" name="Picture 12" descr="eq_var2.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9848" y="3388492"/>
            <a:ext cx="8536432" cy="254000"/>
          </a:xfrm>
          <a:prstGeom prst="rect">
            <a:avLst/>
          </a:prstGeom>
        </p:spPr>
      </p:pic>
      <p:sp>
        <p:nvSpPr>
          <p:cNvPr id="14" name="TextBox 13"/>
          <p:cNvSpPr txBox="1"/>
          <p:nvPr/>
        </p:nvSpPr>
        <p:spPr>
          <a:xfrm>
            <a:off x="1069848" y="3688212"/>
            <a:ext cx="10149840" cy="183454"/>
          </a:xfrm>
          <a:prstGeom prst="rect">
            <a:avLst/>
          </a:prstGeom>
          <a:noFill/>
        </p:spPr>
        <p:txBody>
          <a:bodyPr wrap="square" lIns="0" tIns="0" rIns="0" bIns="0" anchor="t">
            <a:noAutofit/>
          </a:bodyPr>
          <a:lstStyle/>
          <a:p>
            <a:pPr marL="0" indent="0" algn="l">
              <a:lnSpc>
                <a:spcPts val="1157"/>
              </a:lnSpc>
              <a:spcBef>
                <a:spcPts val="0"/>
              </a:spcBef>
              <a:spcAft>
                <a:spcPts val="0"/>
              </a:spcAft>
              <a:buNone/>
            </a:pPr>
            <a:r>
              <a:rPr sz="997" b="0" i="0">
                <a:solidFill>
                  <a:srgbClr val="626669"/>
                </a:solidFill>
                <a:latin typeface="Fira Sans"/>
              </a:rPr>
              <a:t>continue recursively back to the initial estimate</a:t>
            </a:r>
          </a:p>
        </p:txBody>
      </p:sp>
      <p:sp>
        <p:nvSpPr>
          <p:cNvPr id="15" name="Rectangle 14"/>
          <p:cNvSpPr/>
          <p:nvPr/>
        </p:nvSpPr>
        <p:spPr>
          <a:xfrm>
            <a:off x="841248" y="401797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841248" y="4200849"/>
            <a:ext cx="10515600" cy="1181639"/>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841248" y="4200850"/>
            <a:ext cx="41148" cy="1024128"/>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1115568" y="4310578"/>
            <a:ext cx="6400800" cy="201168"/>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THE GENERAL WEIGHTED-AVERAGE FORM</a:t>
            </a:r>
          </a:p>
        </p:txBody>
      </p:sp>
      <p:pic>
        <p:nvPicPr>
          <p:cNvPr id="19" name="Picture 18" descr="eq_var_final.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15568" y="4548322"/>
            <a:ext cx="5704332" cy="815594"/>
          </a:xfrm>
          <a:prstGeom prst="rect">
            <a:avLst/>
          </a:prstGeom>
        </p:spPr>
      </p:pic>
      <p:sp>
        <p:nvSpPr>
          <p:cNvPr id="20" name="TextBox 19"/>
          <p:cNvSpPr txBox="1"/>
          <p:nvPr/>
        </p:nvSpPr>
        <p:spPr>
          <a:xfrm>
            <a:off x="6967728" y="4383730"/>
            <a:ext cx="4114800" cy="349783"/>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0" i="0">
                <a:solidFill>
                  <a:srgbClr val="333639"/>
                </a:solidFill>
                <a:latin typeface="Fira Sans"/>
              </a:rPr>
              <a:t>Every estimator in this chapter is this expression with a particular choice of the sequence α₁, α₂,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3.2  THE WEIGHT CARRIED BY EACH REWARD</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Enter with weight αᵢ, then lose a fraction at every later update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III — Step sizes and convergence</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16</a:t>
            </a:r>
          </a:p>
        </p:txBody>
      </p:sp>
      <p:sp>
        <p:nvSpPr>
          <p:cNvPr id="8" name="TextBox 7"/>
          <p:cNvSpPr txBox="1"/>
          <p:nvPr/>
        </p:nvSpPr>
        <p:spPr>
          <a:xfrm>
            <a:off x="841248" y="1316736"/>
            <a:ext cx="6543446" cy="610628"/>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The general form makes the role of the schedule explicit. Reward R</a:t>
            </a:r>
            <a:r>
              <a:rPr sz="882" b="0" i="0">
                <a:solidFill>
                  <a:srgbClr val="333639"/>
                </a:solidFill>
                <a:latin typeface="Fira Sans"/>
              </a:rPr>
              <a:t>i</a:t>
            </a:r>
            <a:r>
              <a:rPr sz="1235" b="0" i="0">
                <a:solidFill>
                  <a:srgbClr val="333639"/>
                </a:solidFill>
                <a:latin typeface="Fira Sans"/>
              </a:rPr>
              <a:t> enters the estimate with weight α</a:t>
            </a:r>
            <a:r>
              <a:rPr sz="882" b="0" i="0">
                <a:solidFill>
                  <a:srgbClr val="333639"/>
                </a:solidFill>
                <a:latin typeface="Fira Sans"/>
              </a:rPr>
              <a:t>i</a:t>
            </a:r>
            <a:r>
              <a:rPr sz="1235" b="0" i="0">
                <a:solidFill>
                  <a:srgbClr val="333639"/>
                </a:solidFill>
                <a:latin typeface="Fira Sans"/>
              </a:rPr>
              <a:t>, and every subsequent update multiplies whatever influence it has left by (1−α</a:t>
            </a:r>
            <a:r>
              <a:rPr sz="882" b="0" i="0">
                <a:solidFill>
                  <a:srgbClr val="333639"/>
                </a:solidFill>
                <a:latin typeface="Fira Sans"/>
              </a:rPr>
              <a:t>j</a:t>
            </a:r>
            <a:r>
              <a:rPr sz="1235" b="0" i="0">
                <a:solidFill>
                  <a:srgbClr val="333639"/>
                </a:solidFill>
                <a:latin typeface="Fira Sans"/>
              </a:rPr>
              <a:t>). So after n updates its weight is:</a:t>
            </a:r>
          </a:p>
        </p:txBody>
      </p:sp>
      <p:pic>
        <p:nvPicPr>
          <p:cNvPr id="9" name="Picture 8" descr="eq_var_weight.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89888" y="2146820"/>
            <a:ext cx="2188591" cy="1143762"/>
          </a:xfrm>
          <a:prstGeom prst="rect">
            <a:avLst/>
          </a:prstGeom>
        </p:spPr>
      </p:pic>
      <p:sp>
        <p:nvSpPr>
          <p:cNvPr id="10" name="Rectangle 9"/>
          <p:cNvSpPr/>
          <p:nvPr/>
        </p:nvSpPr>
        <p:spPr>
          <a:xfrm>
            <a:off x="841248" y="3564902"/>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41248" y="3784358"/>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THREE SCHEDULES, SIDE BY SIDE</a:t>
            </a:r>
          </a:p>
        </p:txBody>
      </p:sp>
      <p:sp>
        <p:nvSpPr>
          <p:cNvPr id="12" name="Rectangle 11"/>
          <p:cNvSpPr/>
          <p:nvPr/>
        </p:nvSpPr>
        <p:spPr>
          <a:xfrm>
            <a:off x="841248" y="4076966"/>
            <a:ext cx="6543446" cy="306791"/>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932688" y="4154690"/>
            <a:ext cx="1780153" cy="151343"/>
          </a:xfrm>
          <a:prstGeom prst="rect">
            <a:avLst/>
          </a:prstGeom>
          <a:noFill/>
        </p:spPr>
        <p:txBody>
          <a:bodyPr wrap="square" lIns="0" tIns="0" rIns="0" bIns="0" anchor="ctr">
            <a:noAutofit/>
          </a:bodyPr>
          <a:lstStyle/>
          <a:p>
            <a:pPr marL="0" indent="0" algn="l">
              <a:lnSpc>
                <a:spcPts val="1024"/>
              </a:lnSpc>
              <a:spcBef>
                <a:spcPts val="0"/>
              </a:spcBef>
              <a:spcAft>
                <a:spcPts val="0"/>
              </a:spcAft>
              <a:buNone/>
            </a:pPr>
            <a:r>
              <a:rPr sz="931" b="1" i="0" spc="60">
                <a:solidFill>
                  <a:srgbClr val="FFFFFF"/>
                </a:solidFill>
                <a:latin typeface="Fira Sans"/>
              </a:rPr>
              <a:t>Schedule</a:t>
            </a:r>
          </a:p>
        </p:txBody>
      </p:sp>
      <p:sp>
        <p:nvSpPr>
          <p:cNvPr id="14" name="TextBox 13"/>
          <p:cNvSpPr txBox="1"/>
          <p:nvPr/>
        </p:nvSpPr>
        <p:spPr>
          <a:xfrm>
            <a:off x="2895721" y="4154690"/>
            <a:ext cx="2696236" cy="151343"/>
          </a:xfrm>
          <a:prstGeom prst="rect">
            <a:avLst/>
          </a:prstGeom>
          <a:noFill/>
        </p:spPr>
        <p:txBody>
          <a:bodyPr wrap="square" lIns="0" tIns="0" rIns="0" bIns="0" anchor="ctr">
            <a:noAutofit/>
          </a:bodyPr>
          <a:lstStyle/>
          <a:p>
            <a:pPr marL="0" indent="0" algn="l">
              <a:lnSpc>
                <a:spcPts val="1024"/>
              </a:lnSpc>
              <a:spcBef>
                <a:spcPts val="0"/>
              </a:spcBef>
              <a:spcAft>
                <a:spcPts val="0"/>
              </a:spcAft>
              <a:buNone/>
            </a:pPr>
            <a:r>
              <a:rPr sz="931" b="1" i="0" spc="60">
                <a:solidFill>
                  <a:srgbClr val="FFFFFF"/>
                </a:solidFill>
                <a:latin typeface="Fira Sans"/>
              </a:rPr>
              <a:t>Weight profile</a:t>
            </a:r>
          </a:p>
        </p:txBody>
      </p:sp>
      <p:sp>
        <p:nvSpPr>
          <p:cNvPr id="15" name="TextBox 14"/>
          <p:cNvSpPr txBox="1"/>
          <p:nvPr/>
        </p:nvSpPr>
        <p:spPr>
          <a:xfrm>
            <a:off x="5774838" y="4154690"/>
            <a:ext cx="1518416" cy="151343"/>
          </a:xfrm>
          <a:prstGeom prst="rect">
            <a:avLst/>
          </a:prstGeom>
          <a:noFill/>
        </p:spPr>
        <p:txBody>
          <a:bodyPr wrap="square" lIns="0" tIns="0" rIns="0" bIns="0" anchor="ctr">
            <a:noAutofit/>
          </a:bodyPr>
          <a:lstStyle/>
          <a:p>
            <a:pPr marL="0" indent="0" algn="l">
              <a:lnSpc>
                <a:spcPts val="1024"/>
              </a:lnSpc>
              <a:spcBef>
                <a:spcPts val="0"/>
              </a:spcBef>
              <a:spcAft>
                <a:spcPts val="0"/>
              </a:spcAft>
              <a:buNone/>
            </a:pPr>
            <a:r>
              <a:rPr sz="931" b="1" i="0" spc="60">
                <a:solidFill>
                  <a:srgbClr val="FFFFFF"/>
                </a:solidFill>
                <a:latin typeface="Fira Sans"/>
              </a:rPr>
              <a:t>Suited to</a:t>
            </a:r>
          </a:p>
        </p:txBody>
      </p:sp>
      <p:sp>
        <p:nvSpPr>
          <p:cNvPr id="16" name="TextBox 15"/>
          <p:cNvSpPr txBox="1"/>
          <p:nvPr/>
        </p:nvSpPr>
        <p:spPr>
          <a:xfrm>
            <a:off x="932688" y="4461482"/>
            <a:ext cx="1780153"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αₙ = 1/n</a:t>
            </a:r>
          </a:p>
        </p:txBody>
      </p:sp>
      <p:sp>
        <p:nvSpPr>
          <p:cNvPr id="17" name="TextBox 16"/>
          <p:cNvSpPr txBox="1"/>
          <p:nvPr/>
        </p:nvSpPr>
        <p:spPr>
          <a:xfrm>
            <a:off x="2895721" y="4461482"/>
            <a:ext cx="2696236"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uniform — every reward counts the same</a:t>
            </a:r>
          </a:p>
        </p:txBody>
      </p:sp>
      <p:sp>
        <p:nvSpPr>
          <p:cNvPr id="18" name="TextBox 17"/>
          <p:cNvSpPr txBox="1"/>
          <p:nvPr/>
        </p:nvSpPr>
        <p:spPr>
          <a:xfrm>
            <a:off x="5774838" y="4461482"/>
            <a:ext cx="1518416"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stationary</a:t>
            </a:r>
          </a:p>
        </p:txBody>
      </p:sp>
      <p:sp>
        <p:nvSpPr>
          <p:cNvPr id="19" name="Rectangle 18"/>
          <p:cNvSpPr/>
          <p:nvPr/>
        </p:nvSpPr>
        <p:spPr>
          <a:xfrm>
            <a:off x="841248" y="4706482"/>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841248" y="4711969"/>
            <a:ext cx="6543446" cy="328211"/>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932688" y="4789693"/>
            <a:ext cx="1780153"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αₙ = 1/n^p,  ½ &lt; p ≤ 1</a:t>
            </a:r>
          </a:p>
        </p:txBody>
      </p:sp>
      <p:sp>
        <p:nvSpPr>
          <p:cNvPr id="22" name="TextBox 21"/>
          <p:cNvSpPr txBox="1"/>
          <p:nvPr/>
        </p:nvSpPr>
        <p:spPr>
          <a:xfrm>
            <a:off x="2895721" y="4789693"/>
            <a:ext cx="2696236"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mildly recency-weighted, flattening over time</a:t>
            </a:r>
          </a:p>
        </p:txBody>
      </p:sp>
      <p:sp>
        <p:nvSpPr>
          <p:cNvPr id="23" name="TextBox 22"/>
          <p:cNvSpPr txBox="1"/>
          <p:nvPr/>
        </p:nvSpPr>
        <p:spPr>
          <a:xfrm>
            <a:off x="5774838" y="4789693"/>
            <a:ext cx="1518416"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either</a:t>
            </a:r>
          </a:p>
        </p:txBody>
      </p:sp>
      <p:sp>
        <p:nvSpPr>
          <p:cNvPr id="24" name="Rectangle 23"/>
          <p:cNvSpPr/>
          <p:nvPr/>
        </p:nvSpPr>
        <p:spPr>
          <a:xfrm>
            <a:off x="841248" y="5034694"/>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932688" y="5117904"/>
            <a:ext cx="1780153"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αₙ = α  (constant)</a:t>
            </a:r>
          </a:p>
        </p:txBody>
      </p:sp>
      <p:sp>
        <p:nvSpPr>
          <p:cNvPr id="26" name="TextBox 25"/>
          <p:cNvSpPr txBox="1"/>
          <p:nvPr/>
        </p:nvSpPr>
        <p:spPr>
          <a:xfrm>
            <a:off x="2895721" y="5117904"/>
            <a:ext cx="2696236"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exponentially recency-weighted</a:t>
            </a:r>
          </a:p>
        </p:txBody>
      </p:sp>
      <p:sp>
        <p:nvSpPr>
          <p:cNvPr id="27" name="TextBox 26"/>
          <p:cNvSpPr txBox="1"/>
          <p:nvPr/>
        </p:nvSpPr>
        <p:spPr>
          <a:xfrm>
            <a:off x="5774838" y="5117904"/>
            <a:ext cx="1518416"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non-stationary</a:t>
            </a:r>
          </a:p>
        </p:txBody>
      </p:sp>
      <p:sp>
        <p:nvSpPr>
          <p:cNvPr id="28" name="Rectangle 27"/>
          <p:cNvSpPr/>
          <p:nvPr/>
        </p:nvSpPr>
        <p:spPr>
          <a:xfrm>
            <a:off x="841248" y="5362905"/>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41248" y="5624423"/>
            <a:ext cx="6543446" cy="217627"/>
          </a:xfrm>
          <a:prstGeom prst="rect">
            <a:avLst/>
          </a:prstGeom>
          <a:noFill/>
        </p:spPr>
        <p:txBody>
          <a:bodyPr wrap="square" lIns="0" tIns="0" rIns="0" bIns="0" anchor="t">
            <a:noAutofit/>
          </a:bodyPr>
          <a:lstStyle/>
          <a:p>
            <a:pPr marL="0" indent="0" algn="l">
              <a:lnSpc>
                <a:spcPts val="1426"/>
              </a:lnSpc>
              <a:spcBef>
                <a:spcPts val="0"/>
              </a:spcBef>
              <a:spcAft>
                <a:spcPts val="0"/>
              </a:spcAft>
              <a:buNone/>
            </a:pPr>
            <a:r>
              <a:rPr sz="1188" b="0" i="0">
                <a:solidFill>
                  <a:srgbClr val="333639"/>
                </a:solidFill>
                <a:latin typeface="Fira Sans"/>
              </a:rPr>
              <a:t>The sequence therefore decides not how fast the agent learns, but </a:t>
            </a:r>
            <a:r>
              <a:rPr sz="1188" b="1" i="0">
                <a:solidFill>
                  <a:srgbClr val="25282A"/>
                </a:solidFill>
                <a:latin typeface="Fira Sans"/>
              </a:rPr>
              <a:t>how quickly it forgets</a:t>
            </a:r>
            <a:r>
              <a:rPr sz="1188" b="0" i="0">
                <a:solidFill>
                  <a:srgbClr val="333639"/>
                </a:solidFill>
                <a:latin typeface="Fira Sans"/>
              </a:rPr>
              <a:t>.</a:t>
            </a:r>
          </a:p>
        </p:txBody>
      </p:sp>
      <p:sp>
        <p:nvSpPr>
          <p:cNvPr id="30" name="TextBox 29"/>
          <p:cNvSpPr txBox="1"/>
          <p:nvPr/>
        </p:nvSpPr>
        <p:spPr>
          <a:xfrm>
            <a:off x="7618780" y="1316736"/>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SAME 60 REWARDS, THREE SCHEDULES</a:t>
            </a:r>
          </a:p>
        </p:txBody>
      </p:sp>
      <p:pic>
        <p:nvPicPr>
          <p:cNvPr id="31" name="Picture 30" descr="weights.png"/>
          <p:cNvPicPr>
            <a:picLocks noChangeAspect="1"/>
          </p:cNvPicPr>
          <p:nvPr/>
        </p:nvPicPr>
        <p:blipFill>
          <a:blip r:embed="rId3"/>
          <a:stretch>
            <a:fillRect/>
          </a:stretch>
        </p:blipFill>
        <p:spPr>
          <a:xfrm>
            <a:off x="7618780" y="1554480"/>
            <a:ext cx="3731940" cy="1623384"/>
          </a:xfrm>
          <a:prstGeom prst="rect">
            <a:avLst/>
          </a:prstGeom>
        </p:spPr>
      </p:pic>
      <p:sp>
        <p:nvSpPr>
          <p:cNvPr id="32" name="TextBox 31"/>
          <p:cNvSpPr txBox="1"/>
          <p:nvPr/>
        </p:nvSpPr>
        <p:spPr>
          <a:xfrm>
            <a:off x="7618780" y="3419856"/>
            <a:ext cx="3731940" cy="31699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a:solidFill>
                  <a:srgbClr val="626669"/>
                </a:solidFill>
                <a:latin typeface="Fira Sans"/>
              </a:rPr>
              <a:t>Weight assigned to each of 60 observed rewards when computing Q₆₁.</a:t>
            </a:r>
          </a:p>
        </p:txBody>
      </p:sp>
      <p:sp>
        <p:nvSpPr>
          <p:cNvPr id="33" name="TextBox 32"/>
          <p:cNvSpPr txBox="1"/>
          <p:nvPr/>
        </p:nvSpPr>
        <p:spPr>
          <a:xfrm>
            <a:off x="7618780" y="3901440"/>
            <a:ext cx="3731940" cy="966723"/>
          </a:xfrm>
          <a:prstGeom prst="rect">
            <a:avLst/>
          </a:prstGeom>
          <a:noFill/>
        </p:spPr>
        <p:txBody>
          <a:bodyPr wrap="square" lIns="0" tIns="0" rIns="0" bIns="0" anchor="t">
            <a:noAutofit/>
          </a:bodyPr>
          <a:lstStyle/>
          <a:p>
            <a:pPr marL="182880" indent="-182880" algn="l">
              <a:lnSpc>
                <a:spcPts val="1170"/>
              </a:lnSpc>
              <a:spcBef>
                <a:spcPts val="0"/>
              </a:spcBef>
              <a:spcAft>
                <a:spcPts val="0"/>
              </a:spcAft>
              <a:buClr>
                <a:srgbClr val="1971C2"/>
              </a:buClr>
              <a:buFont typeface="Fira Sans"/>
              <a:buChar char="–"/>
            </a:pPr>
            <a:r>
              <a:rPr sz="1045" b="0" i="0">
                <a:solidFill>
                  <a:srgbClr val="333639"/>
                </a:solidFill>
                <a:latin typeface="Fira Sans"/>
              </a:rPr>
              <a:t>1/n is flat: the oldest reward counts as much as the newest.</a:t>
            </a:r>
          </a:p>
          <a:p>
            <a:pPr marL="182880" indent="-182880" algn="l">
              <a:lnSpc>
                <a:spcPts val="1170"/>
              </a:lnSpc>
              <a:spcBef>
                <a:spcPts val="700"/>
              </a:spcBef>
              <a:spcAft>
                <a:spcPts val="0"/>
              </a:spcAft>
              <a:buClr>
                <a:srgbClr val="1971C2"/>
              </a:buClr>
              <a:buFont typeface="Fira Sans"/>
              <a:buChar char="–"/>
            </a:pPr>
            <a:r>
              <a:rPr sz="1045" b="0" i="0">
                <a:solidFill>
                  <a:srgbClr val="333639"/>
                </a:solidFill>
                <a:latin typeface="Fira Sans"/>
              </a:rPr>
              <a:t>A constant α is a decaying exponential — most of the weight sits on the last few rewards.</a:t>
            </a:r>
          </a:p>
          <a:p>
            <a:pPr marL="182880" indent="-182880" algn="l">
              <a:lnSpc>
                <a:spcPts val="1170"/>
              </a:lnSpc>
              <a:spcBef>
                <a:spcPts val="700"/>
              </a:spcBef>
              <a:spcAft>
                <a:spcPts val="0"/>
              </a:spcAft>
              <a:buClr>
                <a:srgbClr val="1971C2"/>
              </a:buClr>
              <a:buFont typeface="Fira Sans"/>
              <a:buChar char="–"/>
            </a:pPr>
            <a:r>
              <a:rPr sz="1045" b="0" i="0">
                <a:solidFill>
                  <a:srgbClr val="333639"/>
                </a:solidFill>
                <a:latin typeface="Fira Sans"/>
              </a:rPr>
              <a:t>1/n^0.7 sits between the two: it forgets, but gently.</a:t>
            </a:r>
          </a:p>
        </p:txBody>
      </p:sp>
      <p:sp>
        <p:nvSpPr>
          <p:cNvPr id="34" name="Rectangle 33"/>
          <p:cNvSpPr/>
          <p:nvPr/>
        </p:nvSpPr>
        <p:spPr>
          <a:xfrm>
            <a:off x="7618780" y="5051044"/>
            <a:ext cx="3731940" cy="98618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Rectangle 34"/>
          <p:cNvSpPr/>
          <p:nvPr/>
        </p:nvSpPr>
        <p:spPr>
          <a:xfrm>
            <a:off x="7618780" y="5051044"/>
            <a:ext cx="41148" cy="986180"/>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7838236" y="5197348"/>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9AA6B2"/>
                </a:solidFill>
                <a:latin typeface="Fira Sans"/>
              </a:rPr>
              <a:t>ALL THREE ARE AVERAGES</a:t>
            </a:r>
          </a:p>
        </p:txBody>
      </p:sp>
      <p:sp>
        <p:nvSpPr>
          <p:cNvPr id="37" name="TextBox 36"/>
          <p:cNvSpPr txBox="1"/>
          <p:nvPr/>
        </p:nvSpPr>
        <p:spPr>
          <a:xfrm>
            <a:off x="7838236" y="5435092"/>
            <a:ext cx="3347892" cy="45582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All three curves integrate to one. They differ only in how that single unit of weight is distributed across the history.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3.3  THE ROBBINS–MONRO CONDITIONS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Two requirements: keep moving, and eventually stop shaking</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III — Step sizes and convergence</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17</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For a stationary bandit the sample average converges to the true value by the law of large numbers. For an </a:t>
            </a:r>
            <a:r>
              <a:rPr sz="1282" b="1" i="1">
                <a:solidFill>
                  <a:srgbClr val="25282A"/>
                </a:solidFill>
                <a:latin typeface="Fira Sans"/>
              </a:rPr>
              <a:t>arbitrary</a:t>
            </a:r>
            <a:r>
              <a:rPr sz="1282" b="0" i="0">
                <a:solidFill>
                  <a:srgbClr val="333639"/>
                </a:solidFill>
                <a:latin typeface="Fira Sans"/>
              </a:rPr>
              <a:t> schedule, convergence is not guaranteed at all. Stochastic approximation theory gives two classical conditions.</a:t>
            </a:r>
          </a:p>
        </p:txBody>
      </p:sp>
      <p:sp>
        <p:nvSpPr>
          <p:cNvPr id="9" name="Rectangle 8"/>
          <p:cNvSpPr/>
          <p:nvPr/>
        </p:nvSpPr>
        <p:spPr>
          <a:xfrm>
            <a:off x="841248" y="2024898"/>
            <a:ext cx="5102352" cy="184708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41248" y="2024898"/>
            <a:ext cx="5102352" cy="31089"/>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42416" y="2189490"/>
            <a:ext cx="4700016" cy="219456"/>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00">
                <a:solidFill>
                  <a:srgbClr val="574676"/>
                </a:solidFill>
                <a:latin typeface="Fira Sans"/>
              </a:rPr>
              <a:t>CONDITION 1  ·  ENOUGH TOTAL ADAPTATION</a:t>
            </a:r>
          </a:p>
        </p:txBody>
      </p:sp>
      <p:pic>
        <p:nvPicPr>
          <p:cNvPr id="12" name="Picture 11" descr="eq_rm1.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54554" y="2463810"/>
            <a:ext cx="1475740" cy="795019"/>
          </a:xfrm>
          <a:prstGeom prst="rect">
            <a:avLst/>
          </a:prstGeom>
        </p:spPr>
      </p:pic>
      <p:sp>
        <p:nvSpPr>
          <p:cNvPr id="13" name="TextBox 12"/>
          <p:cNvSpPr txBox="1"/>
          <p:nvPr/>
        </p:nvSpPr>
        <p:spPr>
          <a:xfrm>
            <a:off x="1042416" y="3213618"/>
            <a:ext cx="4700016" cy="484807"/>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626669"/>
                </a:solidFill>
                <a:latin typeface="Fira Sans"/>
              </a:rPr>
              <a:t>The steps must accumulate without bound, so that the influence of the arbitrary initial estimate can be overcome. If they shrink too quickly, learning stops before the estimate ever reaches its target.</a:t>
            </a:r>
          </a:p>
        </p:txBody>
      </p:sp>
      <p:sp>
        <p:nvSpPr>
          <p:cNvPr id="14" name="Rectangle 13"/>
          <p:cNvSpPr/>
          <p:nvPr/>
        </p:nvSpPr>
        <p:spPr>
          <a:xfrm>
            <a:off x="6254496" y="2024898"/>
            <a:ext cx="5102352" cy="184708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6254496" y="2024898"/>
            <a:ext cx="5102352" cy="31089"/>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455664" y="2189490"/>
            <a:ext cx="4700016" cy="219456"/>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00">
                <a:solidFill>
                  <a:srgbClr val="C8102E"/>
                </a:solidFill>
                <a:latin typeface="Fira Sans"/>
              </a:rPr>
              <a:t>CONDITION 2  ·  THE NOISE MUST DIE OUT</a:t>
            </a:r>
          </a:p>
        </p:txBody>
      </p:sp>
      <p:pic>
        <p:nvPicPr>
          <p:cNvPr id="17" name="Picture 16" descr="eq_rm2.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67802" y="2463810"/>
            <a:ext cx="1475740" cy="795019"/>
          </a:xfrm>
          <a:prstGeom prst="rect">
            <a:avLst/>
          </a:prstGeom>
        </p:spPr>
      </p:pic>
      <p:sp>
        <p:nvSpPr>
          <p:cNvPr id="18" name="TextBox 17"/>
          <p:cNvSpPr txBox="1"/>
          <p:nvPr/>
        </p:nvSpPr>
        <p:spPr>
          <a:xfrm>
            <a:off x="6455664" y="3213618"/>
            <a:ext cx="4700016" cy="484807"/>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626669"/>
                </a:solidFill>
                <a:latin typeface="Fira Sans"/>
              </a:rPr>
              <a:t>The squared steps must accumulate to something finite, so that the perturbations injected by stochastic rewards eventually stop moving the estimate.</a:t>
            </a:r>
          </a:p>
        </p:txBody>
      </p:sp>
      <p:sp>
        <p:nvSpPr>
          <p:cNvPr id="19" name="Rectangle 18"/>
          <p:cNvSpPr/>
          <p:nvPr/>
        </p:nvSpPr>
        <p:spPr>
          <a:xfrm>
            <a:off x="841248" y="4073154"/>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41248" y="4256034"/>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WHY CONDITION 1 IS EXACTLY THE RIGHT REQUIREMENT</a:t>
            </a:r>
          </a:p>
        </p:txBody>
      </p:sp>
      <p:pic>
        <p:nvPicPr>
          <p:cNvPr id="21" name="Picture 20" descr="eq_rm_toy.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5568" y="4548642"/>
            <a:ext cx="2365248" cy="294639"/>
          </a:xfrm>
          <a:prstGeom prst="rect">
            <a:avLst/>
          </a:prstGeom>
        </p:spPr>
      </p:pic>
      <p:pic>
        <p:nvPicPr>
          <p:cNvPr id="22" name="Picture 21" descr="eq_rm_err1.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15568" y="4916434"/>
            <a:ext cx="4133087" cy="254000"/>
          </a:xfrm>
          <a:prstGeom prst="rect">
            <a:avLst/>
          </a:prstGeom>
        </p:spPr>
      </p:pic>
      <p:pic>
        <p:nvPicPr>
          <p:cNvPr id="23" name="Picture 22" descr="eq_rm_err2.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15568" y="5243586"/>
            <a:ext cx="2598928" cy="638048"/>
          </a:xfrm>
          <a:prstGeom prst="rect">
            <a:avLst/>
          </a:prstGeom>
        </p:spPr>
      </p:pic>
      <p:sp>
        <p:nvSpPr>
          <p:cNvPr id="24" name="TextBox 23"/>
          <p:cNvSpPr txBox="1"/>
          <p:nvPr/>
        </p:nvSpPr>
        <p:spPr>
          <a:xfrm>
            <a:off x="5961888" y="4839218"/>
            <a:ext cx="5303520" cy="477210"/>
          </a:xfrm>
          <a:prstGeom prst="rect">
            <a:avLst/>
          </a:prstGeom>
          <a:noFill/>
        </p:spPr>
        <p:txBody>
          <a:bodyPr wrap="square" lIns="0" tIns="0" rIns="0" bIns="0" anchor="t">
            <a:noAutofit/>
          </a:bodyPr>
          <a:lstStyle/>
          <a:p>
            <a:pPr marL="0" indent="0" algn="l">
              <a:lnSpc>
                <a:spcPts val="1157"/>
              </a:lnSpc>
              <a:spcBef>
                <a:spcPts val="0"/>
              </a:spcBef>
              <a:spcAft>
                <a:spcPts val="0"/>
              </a:spcAft>
              <a:buNone/>
            </a:pPr>
            <a:r>
              <a:rPr sz="997" b="0" i="0">
                <a:solidFill>
                  <a:srgbClr val="626669"/>
                </a:solidFill>
                <a:latin typeface="Fira Sans"/>
              </a:rPr>
              <a:t>The noise-free update toward a fixed target: the error is multiplied by (1−αᵢ) at every step, so the initial error disappears only if the product tends to zero. Taking logarithms turns that product into a sum, and log(1−x) ≈ −x:</a:t>
            </a:r>
          </a:p>
        </p:txBody>
      </p:sp>
      <p:pic>
        <p:nvPicPr>
          <p:cNvPr id="25" name="Picture 24" descr="eq_rm_log.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961888" y="5625602"/>
            <a:ext cx="4461002" cy="5778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3.4  WHICH SCHEDULES SATISFY THEM</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sample average passes; a constant step size fails on purpose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III — Step sizes and convergence</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18</a:t>
            </a:r>
          </a:p>
        </p:txBody>
      </p:sp>
      <p:sp>
        <p:nvSpPr>
          <p:cNvPr id="8" name="TextBox 7"/>
          <p:cNvSpPr txBox="1"/>
          <p:nvPr/>
        </p:nvSpPr>
        <p:spPr>
          <a:xfrm>
            <a:off x="841248" y="1316736"/>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CONDITION 2, AND WHY IT IS ABOUT NOISE</a:t>
            </a:r>
          </a:p>
        </p:txBody>
      </p:sp>
      <p:pic>
        <p:nvPicPr>
          <p:cNvPr id="9" name="Picture 8" descr="eq_rm_noise.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568" y="1609344"/>
            <a:ext cx="5474970" cy="255270"/>
          </a:xfrm>
          <a:prstGeom prst="rect">
            <a:avLst/>
          </a:prstGeom>
        </p:spPr>
      </p:pic>
      <p:sp>
        <p:nvSpPr>
          <p:cNvPr id="10" name="TextBox 9"/>
          <p:cNvSpPr txBox="1"/>
          <p:nvPr/>
        </p:nvSpPr>
        <p:spPr>
          <a:xfrm>
            <a:off x="841248" y="2065782"/>
            <a:ext cx="6543446" cy="535838"/>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626669"/>
                </a:solidFill>
                <a:latin typeface="Fira Sans"/>
              </a:rPr>
              <a:t>If rewards are noisy observations of the target, the noise injected at step n is scaled by αₙ and contributes a variance proportional to αₙ². Requiring the squared steps to be summable keeps the </a:t>
            </a:r>
            <a:r>
              <a:rPr sz="1092" b="1" i="0">
                <a:solidFill>
                  <a:srgbClr val="25282A"/>
                </a:solidFill>
                <a:latin typeface="Fira Sans"/>
              </a:rPr>
              <a:t>accumulated effect of that noise finite</a:t>
            </a:r>
            <a:r>
              <a:rPr sz="1092" b="0" i="0">
                <a:solidFill>
                  <a:srgbClr val="626669"/>
                </a:solidFill>
                <a:latin typeface="Fira Sans"/>
              </a:rPr>
              <a:t>.</a:t>
            </a:r>
          </a:p>
        </p:txBody>
      </p:sp>
      <p:sp>
        <p:nvSpPr>
          <p:cNvPr id="11" name="Rectangle 10"/>
          <p:cNvSpPr/>
          <p:nvPr/>
        </p:nvSpPr>
        <p:spPr>
          <a:xfrm>
            <a:off x="841248" y="2839364"/>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3058820"/>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SAMPLE AVERAGE PASSES BOTH</a:t>
            </a:r>
          </a:p>
        </p:txBody>
      </p:sp>
      <p:pic>
        <p:nvPicPr>
          <p:cNvPr id="13" name="Picture 12" descr="eq_rm_check.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568" y="3351428"/>
            <a:ext cx="4070731" cy="755268"/>
          </a:xfrm>
          <a:prstGeom prst="rect">
            <a:avLst/>
          </a:prstGeom>
        </p:spPr>
      </p:pic>
      <p:sp>
        <p:nvSpPr>
          <p:cNvPr id="14" name="TextBox 13"/>
          <p:cNvSpPr txBox="1"/>
          <p:nvPr/>
        </p:nvSpPr>
        <p:spPr>
          <a:xfrm>
            <a:off x="841248" y="4362729"/>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A CONSTANT STEP SIZE FAILS THE SECOND</a:t>
            </a:r>
          </a:p>
        </p:txBody>
      </p:sp>
      <p:pic>
        <p:nvPicPr>
          <p:cNvPr id="15" name="Picture 14" descr="eq_rm_const.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5568" y="4655337"/>
            <a:ext cx="3983862" cy="755268"/>
          </a:xfrm>
          <a:prstGeom prst="rect">
            <a:avLst/>
          </a:prstGeom>
        </p:spPr>
      </p:pic>
      <p:sp>
        <p:nvSpPr>
          <p:cNvPr id="16" name="TextBox 15"/>
          <p:cNvSpPr txBox="1"/>
          <p:nvPr/>
        </p:nvSpPr>
        <p:spPr>
          <a:xfrm>
            <a:off x="841248" y="5630062"/>
            <a:ext cx="6543446" cy="535838"/>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So a constant-step estimator never settles on a single value in a stationary stochastic problem: it keeps reacting to new rewards forever. In a </a:t>
            </a:r>
            <a:r>
              <a:rPr sz="1092" b="1" i="0">
                <a:solidFill>
                  <a:srgbClr val="2B7A3E"/>
                </a:solidFill>
                <a:latin typeface="Fira Sans"/>
              </a:rPr>
              <a:t>non-stationary</a:t>
            </a:r>
            <a:r>
              <a:rPr sz="1092" b="0" i="0">
                <a:solidFill>
                  <a:srgbClr val="333639"/>
                </a:solidFill>
                <a:latin typeface="Fira Sans"/>
              </a:rPr>
              <a:t> environment that is precisely the behaviour we want.</a:t>
            </a:r>
          </a:p>
        </p:txBody>
      </p:sp>
      <p:sp>
        <p:nvSpPr>
          <p:cNvPr id="17" name="TextBox 16"/>
          <p:cNvSpPr txBox="1"/>
          <p:nvPr/>
        </p:nvSpPr>
        <p:spPr>
          <a:xfrm>
            <a:off x="7618780" y="1316736"/>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A USEFUL FAMILY</a:t>
            </a:r>
          </a:p>
        </p:txBody>
      </p:sp>
      <p:pic>
        <p:nvPicPr>
          <p:cNvPr id="18" name="Picture 17" descr="eq_rm_family.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18780" y="1591056"/>
            <a:ext cx="3061462" cy="485775"/>
          </a:xfrm>
          <a:prstGeom prst="rect">
            <a:avLst/>
          </a:prstGeom>
        </p:spPr>
      </p:pic>
      <p:sp>
        <p:nvSpPr>
          <p:cNvPr id="19" name="TextBox 18"/>
          <p:cNvSpPr txBox="1"/>
          <p:nvPr/>
        </p:nvSpPr>
        <p:spPr>
          <a:xfrm>
            <a:off x="7618780" y="2296287"/>
            <a:ext cx="3731940" cy="1336202"/>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0" i="0">
                <a:solidFill>
                  <a:srgbClr val="333639"/>
                </a:solidFill>
                <a:latin typeface="Fira Sans"/>
              </a:rPr>
              <a:t>Condition 1 requires </a:t>
            </a:r>
            <a:r>
              <a:rPr sz="1092" b="1" i="0">
                <a:solidFill>
                  <a:srgbClr val="25282A"/>
                </a:solidFill>
                <a:latin typeface="Fira Sans"/>
              </a:rPr>
              <a:t>p ≤ 1</a:t>
            </a:r>
            <a:r>
              <a:rPr sz="1092" b="0" i="0">
                <a:solidFill>
                  <a:srgbClr val="333639"/>
                </a:solidFill>
                <a:latin typeface="Fira Sans"/>
              </a:rPr>
              <a:t>: any faster and the steps sum to a finite total.</a:t>
            </a:r>
          </a:p>
          <a:p>
            <a:pPr marL="182880" indent="-182880" algn="l">
              <a:lnSpc>
                <a:spcPts val="1223"/>
              </a:lnSpc>
              <a:spcBef>
                <a:spcPts val="800"/>
              </a:spcBef>
              <a:spcAft>
                <a:spcPts val="0"/>
              </a:spcAft>
              <a:buClr>
                <a:srgbClr val="1971C2"/>
              </a:buClr>
              <a:buFont typeface="Fira Sans"/>
              <a:buChar char="–"/>
            </a:pPr>
            <a:r>
              <a:rPr sz="1092" b="0" i="0">
                <a:solidFill>
                  <a:srgbClr val="333639"/>
                </a:solidFill>
                <a:latin typeface="Fira Sans"/>
              </a:rPr>
              <a:t>Condition 2 requires </a:t>
            </a:r>
            <a:r>
              <a:rPr sz="1092" b="1" i="0">
                <a:solidFill>
                  <a:srgbClr val="25282A"/>
                </a:solidFill>
                <a:latin typeface="Fira Sans"/>
              </a:rPr>
              <a:t>2p &gt; 1</a:t>
            </a:r>
            <a:r>
              <a:rPr sz="1092" b="0" i="0">
                <a:solidFill>
                  <a:srgbClr val="333639"/>
                </a:solidFill>
                <a:latin typeface="Fira Sans"/>
              </a:rPr>
              <a:t>: any slower and the squared steps diverge.</a:t>
            </a:r>
          </a:p>
          <a:p>
            <a:pPr marL="182880" indent="-182880" algn="l">
              <a:lnSpc>
                <a:spcPts val="1223"/>
              </a:lnSpc>
              <a:spcBef>
                <a:spcPts val="800"/>
              </a:spcBef>
              <a:spcAft>
                <a:spcPts val="0"/>
              </a:spcAft>
              <a:buClr>
                <a:srgbClr val="1971C2"/>
              </a:buClr>
              <a:buFont typeface="Fira Sans"/>
              <a:buChar char="–"/>
            </a:pPr>
            <a:r>
              <a:rPr sz="1092" b="0" i="0">
                <a:solidFill>
                  <a:srgbClr val="333639"/>
                </a:solidFill>
                <a:latin typeface="Fira Sans"/>
              </a:rPr>
              <a:t>Together: ½ &lt; p ≤ 1. The sample average sits at the </a:t>
            </a:r>
            <a:r>
              <a:rPr sz="1092" b="1" i="0">
                <a:solidFill>
                  <a:srgbClr val="574676"/>
                </a:solidFill>
                <a:latin typeface="Fira Sans"/>
              </a:rPr>
              <a:t>upper</a:t>
            </a:r>
            <a:r>
              <a:rPr sz="1092" b="0" i="0">
                <a:solidFill>
                  <a:srgbClr val="333639"/>
                </a:solidFill>
                <a:latin typeface="Fira Sans"/>
              </a:rPr>
              <a:t> end of that window — the most forgetful schedule that still converges is at the lower end.</a:t>
            </a:r>
          </a:p>
        </p:txBody>
      </p:sp>
      <p:sp>
        <p:nvSpPr>
          <p:cNvPr id="20" name="Rectangle 19"/>
          <p:cNvSpPr/>
          <p:nvPr/>
        </p:nvSpPr>
        <p:spPr>
          <a:xfrm>
            <a:off x="7618780" y="3888521"/>
            <a:ext cx="3731940" cy="1196035"/>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7618780" y="3888521"/>
            <a:ext cx="41148" cy="1196035"/>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838236" y="4034825"/>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HOW TO REMEMBER THEM</a:t>
            </a:r>
          </a:p>
        </p:txBody>
      </p:sp>
      <p:sp>
        <p:nvSpPr>
          <p:cNvPr id="23" name="TextBox 22"/>
          <p:cNvSpPr txBox="1"/>
          <p:nvPr/>
        </p:nvSpPr>
        <p:spPr>
          <a:xfrm>
            <a:off x="7838236" y="4272569"/>
            <a:ext cx="3347892" cy="66568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Read the conditions as a pair of opposing pressures. The first says </a:t>
            </a:r>
            <a:r>
              <a:rPr sz="1092" b="1" i="0">
                <a:solidFill>
                  <a:srgbClr val="333639"/>
                </a:solidFill>
                <a:latin typeface="Fira Sans"/>
              </a:rPr>
              <a:t>do not stop too soon</a:t>
            </a:r>
            <a:r>
              <a:rPr sz="1092" b="0" i="0">
                <a:solidFill>
                  <a:srgbClr val="333639"/>
                </a:solidFill>
                <a:latin typeface="Fira Sans"/>
              </a:rPr>
              <a:t>; the second says </a:t>
            </a:r>
            <a:r>
              <a:rPr sz="1092" b="1" i="0">
                <a:solidFill>
                  <a:srgbClr val="333639"/>
                </a:solidFill>
                <a:latin typeface="Fira Sans"/>
              </a:rPr>
              <a:t>do eventually stop</a:t>
            </a:r>
            <a:r>
              <a:rPr sz="1092" b="0" i="0">
                <a:solidFill>
                  <a:srgbClr val="333639"/>
                </a:solidFill>
                <a:latin typeface="Fira Sans"/>
              </a:rPr>
              <a:t>. Any schedule that satisfies both must decay — but slowly.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3.5  CONVERGENCE AND TRACKING ARE NOT THE SAME GOAL</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 schedule that provably converges can still be the wrong one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III — Step sizes and convergence</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19</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Run all three schedules on the same non-stationary action, feeding each estimator exactly the same rewards. The result exposes a distinction that convergence theory alone does not make: </a:t>
            </a:r>
            <a:r>
              <a:rPr sz="1235" b="1" i="0">
                <a:solidFill>
                  <a:srgbClr val="25282A"/>
                </a:solidFill>
                <a:latin typeface="Fira Sans"/>
              </a:rPr>
              <a:t>satisfying Robbins–Monro guarantees convergence, and convergence is not what a moving target needs</a:t>
            </a:r>
            <a:r>
              <a:rPr sz="1235" b="0" i="0">
                <a:solidFill>
                  <a:srgbClr val="333639"/>
                </a:solidFill>
                <a:latin typeface="Fira Sans"/>
              </a:rPr>
              <a:t>.</a:t>
            </a:r>
          </a:p>
        </p:txBody>
      </p:sp>
      <p:pic>
        <p:nvPicPr>
          <p:cNvPr id="9" name="Picture 8" descr="track3.png"/>
          <p:cNvPicPr>
            <a:picLocks noChangeAspect="1"/>
          </p:cNvPicPr>
          <p:nvPr/>
        </p:nvPicPr>
        <p:blipFill>
          <a:blip r:embed="rId2"/>
          <a:stretch>
            <a:fillRect/>
          </a:stretch>
        </p:blipFill>
        <p:spPr>
          <a:xfrm>
            <a:off x="3468073" y="1918892"/>
            <a:ext cx="5261947" cy="2651760"/>
          </a:xfrm>
          <a:prstGeom prst="rect">
            <a:avLst/>
          </a:prstGeom>
        </p:spPr>
      </p:pic>
      <p:sp>
        <p:nvSpPr>
          <p:cNvPr id="10" name="TextBox 9"/>
          <p:cNvSpPr txBox="1"/>
          <p:nvPr/>
        </p:nvSpPr>
        <p:spPr>
          <a:xfrm>
            <a:off x="841248" y="4643805"/>
            <a:ext cx="10515600" cy="172212"/>
          </a:xfrm>
          <a:prstGeom prst="rect">
            <a:avLst/>
          </a:prstGeom>
          <a:noFill/>
        </p:spPr>
        <p:txBody>
          <a:bodyPr wrap="square" lIns="0" tIns="0" rIns="0" bIns="0" anchor="t">
            <a:noAutofit/>
          </a:bodyPr>
          <a:lstStyle/>
          <a:p>
            <a:pPr marL="0" indent="0" algn="ctr">
              <a:lnSpc>
                <a:spcPts val="1140"/>
              </a:lnSpc>
              <a:spcBef>
                <a:spcPts val="0"/>
              </a:spcBef>
              <a:spcAft>
                <a:spcPts val="0"/>
              </a:spcAft>
              <a:buNone/>
            </a:pPr>
            <a:r>
              <a:rPr sz="950" b="0" i="1">
                <a:solidFill>
                  <a:srgbClr val="626669"/>
                </a:solidFill>
                <a:latin typeface="Fira Sans"/>
              </a:rPr>
              <a:t>One arm of the non-stationary testbed, 5000 steps, drift 0.01 per step. All three estimators see identical rewards.</a:t>
            </a:r>
          </a:p>
        </p:txBody>
      </p:sp>
      <p:sp>
        <p:nvSpPr>
          <p:cNvPr id="11" name="Rectangle 10"/>
          <p:cNvSpPr/>
          <p:nvPr/>
        </p:nvSpPr>
        <p:spPr>
          <a:xfrm>
            <a:off x="841248" y="5017185"/>
            <a:ext cx="3346704" cy="292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5163489"/>
            <a:ext cx="3346704" cy="237744"/>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a:solidFill>
                  <a:srgbClr val="574676"/>
                </a:solidFill>
                <a:latin typeface="Fira Sans"/>
              </a:rPr>
              <a:t>αₙ = 1/n</a:t>
            </a:r>
          </a:p>
        </p:txBody>
      </p:sp>
      <p:sp>
        <p:nvSpPr>
          <p:cNvPr id="13" name="TextBox 12"/>
          <p:cNvSpPr txBox="1"/>
          <p:nvPr/>
        </p:nvSpPr>
        <p:spPr>
          <a:xfrm>
            <a:off x="841248" y="5456097"/>
            <a:ext cx="3346704" cy="51435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626669"/>
                </a:solidFill>
                <a:latin typeface="Fira Sans"/>
              </a:rPr>
              <a:t>Converges, and then stops. Early on it tracks well; after step 3000 the target drifts half a unit away and the estimate barely reacts.</a:t>
            </a:r>
          </a:p>
        </p:txBody>
      </p:sp>
      <p:sp>
        <p:nvSpPr>
          <p:cNvPr id="14" name="Rectangle 13"/>
          <p:cNvSpPr/>
          <p:nvPr/>
        </p:nvSpPr>
        <p:spPr>
          <a:xfrm>
            <a:off x="4425696" y="5017185"/>
            <a:ext cx="3346704" cy="2926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425696" y="5163489"/>
            <a:ext cx="3346704" cy="237744"/>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a:solidFill>
                  <a:srgbClr val="2B7A3E"/>
                </a:solidFill>
                <a:latin typeface="Fira Sans"/>
              </a:rPr>
              <a:t>αₙ = 1/n^0.7</a:t>
            </a:r>
          </a:p>
        </p:txBody>
      </p:sp>
      <p:sp>
        <p:nvSpPr>
          <p:cNvPr id="16" name="TextBox 15"/>
          <p:cNvSpPr txBox="1"/>
          <p:nvPr/>
        </p:nvSpPr>
        <p:spPr>
          <a:xfrm>
            <a:off x="4425696" y="5456097"/>
            <a:ext cx="3346704" cy="51435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626669"/>
                </a:solidFill>
                <a:latin typeface="Fira Sans"/>
              </a:rPr>
              <a:t>Also satisfies both conditions, but decays more slowly — so it retains far more tracking ability. Its advantage is temporary: it too tends to zero.</a:t>
            </a:r>
          </a:p>
        </p:txBody>
      </p:sp>
      <p:sp>
        <p:nvSpPr>
          <p:cNvPr id="17" name="Rectangle 16"/>
          <p:cNvSpPr/>
          <p:nvPr/>
        </p:nvSpPr>
        <p:spPr>
          <a:xfrm>
            <a:off x="8010144" y="5017185"/>
            <a:ext cx="3346704" cy="292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010144" y="5163489"/>
            <a:ext cx="3346704" cy="237744"/>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a:solidFill>
                  <a:srgbClr val="C8102E"/>
                </a:solidFill>
                <a:latin typeface="Fira Sans"/>
              </a:rPr>
              <a:t>α = 0.1  (constant)</a:t>
            </a:r>
          </a:p>
        </p:txBody>
      </p:sp>
      <p:sp>
        <p:nvSpPr>
          <p:cNvPr id="19" name="TextBox 18"/>
          <p:cNvSpPr txBox="1"/>
          <p:nvPr/>
        </p:nvSpPr>
        <p:spPr>
          <a:xfrm>
            <a:off x="8010144" y="5456097"/>
            <a:ext cx="3346704" cy="51435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626669"/>
                </a:solidFill>
                <a:latin typeface="Fira Sans"/>
              </a:rPr>
              <a:t>Never stops reacting, so it follows the drift indefinitely — and reacts just as readily to the noise in individual rewards.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3.6  WHAT HAPPENS TO THE INITIAL ESTIMATE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Every observation makes the estimator forget a little more of what we told it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III — Step sizes and convergence</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20</a:t>
            </a:r>
          </a:p>
        </p:txBody>
      </p:sp>
      <p:sp>
        <p:nvSpPr>
          <p:cNvPr id="8" name="TextBox 7"/>
          <p:cNvSpPr txBox="1"/>
          <p:nvPr/>
        </p:nvSpPr>
        <p:spPr>
          <a:xfrm>
            <a:off x="841248" y="1316736"/>
            <a:ext cx="6543446"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Before any reward arrives, Q₁ is our initial belief about the action. Experience should progressively replace that belief. The general form says exactly how fast:</a:t>
            </a:r>
          </a:p>
        </p:txBody>
      </p:sp>
      <p:pic>
        <p:nvPicPr>
          <p:cNvPr id="9" name="Picture 8" descr="eq_init_decay.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78408" y="1988322"/>
            <a:ext cx="5710555" cy="701675"/>
          </a:xfrm>
          <a:prstGeom prst="rect">
            <a:avLst/>
          </a:prstGeom>
        </p:spPr>
      </p:pic>
      <p:sp>
        <p:nvSpPr>
          <p:cNvPr id="10" name="Rectangle 9"/>
          <p:cNvSpPr/>
          <p:nvPr/>
        </p:nvSpPr>
        <p:spPr>
          <a:xfrm>
            <a:off x="841248" y="2982605"/>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41248" y="3202061"/>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TWO ESTIMATORS BEHAVE VERY DIFFERENTLY</a:t>
            </a:r>
          </a:p>
        </p:txBody>
      </p:sp>
      <p:sp>
        <p:nvSpPr>
          <p:cNvPr id="12" name="Rectangle 11"/>
          <p:cNvSpPr/>
          <p:nvPr/>
        </p:nvSpPr>
        <p:spPr>
          <a:xfrm>
            <a:off x="841248" y="3494669"/>
            <a:ext cx="6543446" cy="306791"/>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932688" y="3572393"/>
            <a:ext cx="1518416" cy="151343"/>
          </a:xfrm>
          <a:prstGeom prst="rect">
            <a:avLst/>
          </a:prstGeom>
          <a:noFill/>
        </p:spPr>
        <p:txBody>
          <a:bodyPr wrap="square" lIns="0" tIns="0" rIns="0" bIns="0" anchor="ctr">
            <a:noAutofit/>
          </a:bodyPr>
          <a:lstStyle/>
          <a:p>
            <a:pPr marL="0" indent="0" algn="l">
              <a:lnSpc>
                <a:spcPts val="1024"/>
              </a:lnSpc>
              <a:spcBef>
                <a:spcPts val="0"/>
              </a:spcBef>
              <a:spcAft>
                <a:spcPts val="0"/>
              </a:spcAft>
              <a:buNone/>
            </a:pPr>
            <a:r>
              <a:rPr sz="931" b="1" i="0" spc="60">
                <a:solidFill>
                  <a:srgbClr val="FFFFFF"/>
                </a:solidFill>
                <a:latin typeface="Fira Sans"/>
              </a:rPr>
              <a:t>Schedule</a:t>
            </a:r>
          </a:p>
        </p:txBody>
      </p:sp>
      <p:sp>
        <p:nvSpPr>
          <p:cNvPr id="14" name="TextBox 13"/>
          <p:cNvSpPr txBox="1"/>
          <p:nvPr/>
        </p:nvSpPr>
        <p:spPr>
          <a:xfrm>
            <a:off x="2633984" y="3572393"/>
            <a:ext cx="4659270" cy="151343"/>
          </a:xfrm>
          <a:prstGeom prst="rect">
            <a:avLst/>
          </a:prstGeom>
          <a:noFill/>
        </p:spPr>
        <p:txBody>
          <a:bodyPr wrap="square" lIns="0" tIns="0" rIns="0" bIns="0" anchor="ctr">
            <a:noAutofit/>
          </a:bodyPr>
          <a:lstStyle/>
          <a:p>
            <a:pPr marL="0" indent="0" algn="l">
              <a:lnSpc>
                <a:spcPts val="1024"/>
              </a:lnSpc>
              <a:spcBef>
                <a:spcPts val="0"/>
              </a:spcBef>
              <a:spcAft>
                <a:spcPts val="0"/>
              </a:spcAft>
              <a:buNone/>
            </a:pPr>
            <a:r>
              <a:rPr sz="931" b="1" i="0" spc="60">
                <a:solidFill>
                  <a:srgbClr val="FFFFFF"/>
                </a:solidFill>
                <a:latin typeface="Fira Sans"/>
              </a:rPr>
              <a:t>Fate of the initial estimate</a:t>
            </a:r>
          </a:p>
        </p:txBody>
      </p:sp>
      <p:sp>
        <p:nvSpPr>
          <p:cNvPr id="15" name="TextBox 14"/>
          <p:cNvSpPr txBox="1"/>
          <p:nvPr/>
        </p:nvSpPr>
        <p:spPr>
          <a:xfrm>
            <a:off x="932688" y="3879184"/>
            <a:ext cx="1518416"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αₙ = 1/n</a:t>
            </a:r>
          </a:p>
        </p:txBody>
      </p:sp>
      <p:sp>
        <p:nvSpPr>
          <p:cNvPr id="16" name="TextBox 15"/>
          <p:cNvSpPr txBox="1"/>
          <p:nvPr/>
        </p:nvSpPr>
        <p:spPr>
          <a:xfrm>
            <a:off x="2633984" y="3879184"/>
            <a:ext cx="4659270"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α₁ = 1, so the factor is zero after the first reward: Q₁ is erased immediately and never influences anything again</a:t>
            </a:r>
          </a:p>
        </p:txBody>
      </p:sp>
      <p:sp>
        <p:nvSpPr>
          <p:cNvPr id="17" name="Rectangle 16"/>
          <p:cNvSpPr/>
          <p:nvPr/>
        </p:nvSpPr>
        <p:spPr>
          <a:xfrm>
            <a:off x="841248" y="4278660"/>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841248" y="4284146"/>
            <a:ext cx="6543446" cy="482686"/>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932688" y="4361870"/>
            <a:ext cx="1518416"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α constant</a:t>
            </a:r>
          </a:p>
        </p:txBody>
      </p:sp>
      <p:sp>
        <p:nvSpPr>
          <p:cNvPr id="20" name="TextBox 19"/>
          <p:cNvSpPr txBox="1"/>
          <p:nvPr/>
        </p:nvSpPr>
        <p:spPr>
          <a:xfrm>
            <a:off x="2633984" y="4361870"/>
            <a:ext cx="4659270"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the factor is (1−α)ⁿ: the initial belief fades exponentially, quickly for large α and slowly for small α</a:t>
            </a:r>
          </a:p>
        </p:txBody>
      </p:sp>
      <p:sp>
        <p:nvSpPr>
          <p:cNvPr id="21" name="Rectangle 20"/>
          <p:cNvSpPr/>
          <p:nvPr/>
        </p:nvSpPr>
        <p:spPr>
          <a:xfrm>
            <a:off x="841248" y="4761346"/>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7618780" y="1316736"/>
            <a:ext cx="3731940" cy="1196035"/>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7618780" y="1316736"/>
            <a:ext cx="41148" cy="1196035"/>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838236" y="1463039"/>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WHEN INITIALISATION MATTERS</a:t>
            </a:r>
          </a:p>
        </p:txBody>
      </p:sp>
      <p:sp>
        <p:nvSpPr>
          <p:cNvPr id="25" name="TextBox 24"/>
          <p:cNvSpPr txBox="1"/>
          <p:nvPr/>
        </p:nvSpPr>
        <p:spPr>
          <a:xfrm>
            <a:off x="7838236" y="1700784"/>
            <a:ext cx="3347892" cy="66568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This is why the initial estimate matters during the </a:t>
            </a:r>
            <a:r>
              <a:rPr sz="1092" b="1" i="0">
                <a:solidFill>
                  <a:srgbClr val="333639"/>
                </a:solidFill>
                <a:latin typeface="Fira Sans"/>
              </a:rPr>
              <a:t>early stages of learning</a:t>
            </a:r>
            <a:r>
              <a:rPr sz="1092" b="0" i="0">
                <a:solidFill>
                  <a:srgbClr val="333639"/>
                </a:solidFill>
                <a:latin typeface="Fira Sans"/>
              </a:rPr>
              <a:t>: before enough experience has accumulated, the agent’s estimates still partly reflect what we told it to believe.</a:t>
            </a:r>
          </a:p>
        </p:txBody>
      </p:sp>
      <p:sp>
        <p:nvSpPr>
          <p:cNvPr id="26" name="TextBox 25"/>
          <p:cNvSpPr txBox="1"/>
          <p:nvPr/>
        </p:nvSpPr>
        <p:spPr>
          <a:xfrm>
            <a:off x="7618780" y="2787091"/>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A BIAS WE CAN EXPLOIT</a:t>
            </a:r>
          </a:p>
        </p:txBody>
      </p:sp>
      <p:sp>
        <p:nvSpPr>
          <p:cNvPr id="27" name="TextBox 26"/>
          <p:cNvSpPr txBox="1"/>
          <p:nvPr/>
        </p:nvSpPr>
        <p:spPr>
          <a:xfrm>
            <a:off x="7618780" y="3043123"/>
            <a:ext cx="3731940" cy="1491528"/>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0" i="0">
                <a:solidFill>
                  <a:srgbClr val="333639"/>
                </a:solidFill>
                <a:latin typeface="Fira Sans"/>
              </a:rPr>
              <a:t>Usually the influence of Q₁ is treated as a </a:t>
            </a:r>
            <a:r>
              <a:rPr sz="1092" b="1" i="0">
                <a:solidFill>
                  <a:srgbClr val="C8102E"/>
                </a:solidFill>
                <a:latin typeface="Fira Sans"/>
              </a:rPr>
              <a:t>bias to be removed</a:t>
            </a:r>
            <a:r>
              <a:rPr sz="1092" b="0" i="0">
                <a:solidFill>
                  <a:srgbClr val="333639"/>
                </a:solidFill>
                <a:latin typeface="Fira Sans"/>
              </a:rPr>
              <a:t>.</a:t>
            </a:r>
          </a:p>
          <a:p>
            <a:pPr marL="182880" indent="-182880" algn="l">
              <a:lnSpc>
                <a:spcPts val="1223"/>
              </a:lnSpc>
              <a:spcBef>
                <a:spcPts val="800"/>
              </a:spcBef>
              <a:spcAft>
                <a:spcPts val="0"/>
              </a:spcAft>
              <a:buClr>
                <a:srgbClr val="1971C2"/>
              </a:buClr>
              <a:buFont typeface="Fira Sans"/>
              <a:buChar char="–"/>
            </a:pPr>
            <a:r>
              <a:rPr sz="1092" b="0" i="0">
                <a:solidFill>
                  <a:srgbClr val="333639"/>
                </a:solidFill>
                <a:latin typeface="Fira Sans"/>
              </a:rPr>
              <a:t>But it can be turned into a feature. Initialise every action </a:t>
            </a:r>
            <a:r>
              <a:rPr sz="1092" b="1" i="0">
                <a:solidFill>
                  <a:srgbClr val="2B7A3E"/>
                </a:solidFill>
                <a:latin typeface="Fira Sans"/>
              </a:rPr>
              <a:t>optimistically</a:t>
            </a:r>
            <a:r>
              <a:rPr sz="1092" b="0" i="0">
                <a:solidFill>
                  <a:srgbClr val="333639"/>
                </a:solidFill>
                <a:latin typeface="Fira Sans"/>
              </a:rPr>
              <a:t> and a purely greedy agent will explore all of them, simply because each one it tries disappoints it.</a:t>
            </a:r>
          </a:p>
          <a:p>
            <a:pPr marL="182880" indent="-182880" algn="l">
              <a:lnSpc>
                <a:spcPts val="1223"/>
              </a:lnSpc>
              <a:spcBef>
                <a:spcPts val="800"/>
              </a:spcBef>
              <a:spcAft>
                <a:spcPts val="0"/>
              </a:spcAft>
              <a:buClr>
                <a:srgbClr val="1971C2"/>
              </a:buClr>
              <a:buFont typeface="Fira Sans"/>
              <a:buChar char="–"/>
            </a:pPr>
            <a:r>
              <a:rPr sz="1092" b="0" i="0">
                <a:solidFill>
                  <a:srgbClr val="333639"/>
                </a:solidFill>
                <a:latin typeface="Fira Sans"/>
              </a:rPr>
              <a:t>That is the subject of §4.7 — exploration produced by initialisation rather than by randomness.</a:t>
            </a:r>
          </a:p>
        </p:txBody>
      </p:sp>
      <p:sp>
        <p:nvSpPr>
          <p:cNvPr id="28" name="Rectangle 27"/>
          <p:cNvSpPr/>
          <p:nvPr/>
        </p:nvSpPr>
        <p:spPr>
          <a:xfrm>
            <a:off x="7618780" y="4790683"/>
            <a:ext cx="3731940" cy="1008126"/>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ectangle 28"/>
          <p:cNvSpPr/>
          <p:nvPr/>
        </p:nvSpPr>
        <p:spPr>
          <a:xfrm>
            <a:off x="7618780" y="4790683"/>
            <a:ext cx="41148" cy="1008126"/>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7838236" y="4936987"/>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9AA6B2"/>
                </a:solidFill>
                <a:latin typeface="Fira Sans"/>
              </a:rPr>
              <a:t>WHERE THIS GOES NEXT</a:t>
            </a:r>
          </a:p>
        </p:txBody>
      </p:sp>
      <p:sp>
        <p:nvSpPr>
          <p:cNvPr id="31" name="TextBox 30"/>
          <p:cNvSpPr txBox="1"/>
          <p:nvPr/>
        </p:nvSpPr>
        <p:spPr>
          <a:xfrm>
            <a:off x="7838236" y="5174731"/>
            <a:ext cx="3347892" cy="477773"/>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We now have estimates. Part IV turns to the other half of the problem: given the estimates, </a:t>
            </a:r>
            <a:r>
              <a:rPr sz="1045" b="1" i="0">
                <a:solidFill>
                  <a:srgbClr val="333639"/>
                </a:solidFill>
                <a:latin typeface="Fira Sans"/>
              </a:rPr>
              <a:t>which action should the agent actually take?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IV</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Basic exploration strategies</a:t>
            </a:r>
          </a:p>
        </p:txBody>
      </p:sp>
      <p:sp>
        <p:nvSpPr>
          <p:cNvPr id="6" name="TextBox 5"/>
          <p:cNvSpPr txBox="1"/>
          <p:nvPr/>
        </p:nvSpPr>
        <p:spPr>
          <a:xfrm>
            <a:off x="859536" y="3073907"/>
            <a:ext cx="5943600" cy="453379"/>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a:solidFill>
                  <a:srgbClr val="D6D0E0"/>
                </a:solidFill>
                <a:latin typeface="Fira Sans"/>
              </a:rPr>
              <a:t>Greedy, random, and the simplest useful compromise between them. Two performance measures that disagree, and what that disagreement reveals.</a:t>
            </a:r>
          </a:p>
        </p:txBody>
      </p:sp>
      <p:sp>
        <p:nvSpPr>
          <p:cNvPr id="7" name="Rectangle 6"/>
          <p:cNvSpPr/>
          <p:nvPr/>
        </p:nvSpPr>
        <p:spPr>
          <a:xfrm>
            <a:off x="859536" y="495604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95604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Why does the strategy with the better reward curve have the lower ceiling?</a:t>
            </a:r>
          </a:p>
        </p:txBody>
      </p:sp>
      <p:sp>
        <p:nvSpPr>
          <p:cNvPr id="9" name="Rectangle 8"/>
          <p:cNvSpPr/>
          <p:nvPr/>
        </p:nvSpPr>
        <p:spPr>
          <a:xfrm>
            <a:off x="7424928" y="2084831"/>
            <a:ext cx="10972" cy="32461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324612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Greedy action selection</a:t>
            </a:r>
          </a:p>
          <a:p>
            <a:pPr marL="0" indent="0" algn="l">
              <a:lnSpc>
                <a:spcPts val="1378"/>
              </a:lnSpc>
              <a:spcBef>
                <a:spcPts val="1300"/>
              </a:spcBef>
              <a:spcAft>
                <a:spcPts val="0"/>
              </a:spcAft>
              <a:buNone/>
            </a:pPr>
            <a:r>
              <a:rPr sz="1188" b="1" i="0">
                <a:solidFill>
                  <a:srgbClr val="B2A7C4"/>
                </a:solidFill>
                <a:latin typeface="Fira Sans"/>
              </a:rPr>
              <a:t>02   </a:t>
            </a:r>
            <a:r>
              <a:rPr sz="1188" b="0" i="0">
                <a:solidFill>
                  <a:srgbClr val="FFFFFF"/>
                </a:solidFill>
                <a:latin typeface="Fira Sans"/>
              </a:rPr>
              <a:t>The two extremes</a:t>
            </a:r>
          </a:p>
          <a:p>
            <a:pPr marL="0" indent="0" algn="l">
              <a:lnSpc>
                <a:spcPts val="1378"/>
              </a:lnSpc>
              <a:spcBef>
                <a:spcPts val="1300"/>
              </a:spcBef>
              <a:spcAft>
                <a:spcPts val="0"/>
              </a:spcAft>
              <a:buNone/>
            </a:pPr>
            <a:r>
              <a:rPr sz="1188" b="1" i="0">
                <a:solidFill>
                  <a:srgbClr val="B2A7C4"/>
                </a:solidFill>
                <a:latin typeface="Fira Sans"/>
              </a:rPr>
              <a:t>03   </a:t>
            </a:r>
            <a:r>
              <a:rPr sz="1188" b="0" i="0">
                <a:solidFill>
                  <a:srgbClr val="FFFFFF"/>
                </a:solidFill>
                <a:latin typeface="Fira Sans"/>
              </a:rPr>
              <a:t>ε-greedy</a:t>
            </a:r>
          </a:p>
          <a:p>
            <a:pPr marL="0" indent="0" algn="l">
              <a:lnSpc>
                <a:spcPts val="1378"/>
              </a:lnSpc>
              <a:spcBef>
                <a:spcPts val="1300"/>
              </a:spcBef>
              <a:spcAft>
                <a:spcPts val="0"/>
              </a:spcAft>
              <a:buNone/>
            </a:pPr>
            <a:r>
              <a:rPr sz="1188" b="1" i="0">
                <a:solidFill>
                  <a:srgbClr val="B2A7C4"/>
                </a:solidFill>
                <a:latin typeface="Fira Sans"/>
              </a:rPr>
              <a:t>04   </a:t>
            </a:r>
            <a:r>
              <a:rPr sz="1188" b="0" i="0">
                <a:solidFill>
                  <a:srgbClr val="FFFFFF"/>
                </a:solidFill>
                <a:latin typeface="Fira Sans"/>
              </a:rPr>
              <a:t>Reward and optimal-action rate</a:t>
            </a:r>
          </a:p>
          <a:p>
            <a:pPr marL="0" indent="0" algn="l">
              <a:lnSpc>
                <a:spcPts val="1378"/>
              </a:lnSpc>
              <a:spcBef>
                <a:spcPts val="1300"/>
              </a:spcBef>
              <a:spcAft>
                <a:spcPts val="0"/>
              </a:spcAft>
              <a:buNone/>
            </a:pPr>
            <a:r>
              <a:rPr sz="1188" b="1" i="0">
                <a:solidFill>
                  <a:srgbClr val="B2A7C4"/>
                </a:solidFill>
                <a:latin typeface="Fira Sans"/>
              </a:rPr>
              <a:t>05   </a:t>
            </a:r>
            <a:r>
              <a:rPr sz="1188" b="0" i="0">
                <a:solidFill>
                  <a:srgbClr val="FFFFFF"/>
                </a:solidFill>
                <a:latin typeface="Fira Sans"/>
              </a:rPr>
              <a:t>Decaying ε</a:t>
            </a:r>
          </a:p>
          <a:p>
            <a:pPr marL="0" indent="0" algn="l">
              <a:lnSpc>
                <a:spcPts val="1378"/>
              </a:lnSpc>
              <a:spcBef>
                <a:spcPts val="1300"/>
              </a:spcBef>
              <a:spcAft>
                <a:spcPts val="0"/>
              </a:spcAft>
              <a:buNone/>
            </a:pPr>
            <a:r>
              <a:rPr sz="1188" b="1" i="0">
                <a:solidFill>
                  <a:srgbClr val="B2A7C4"/>
                </a:solidFill>
                <a:latin typeface="Fira Sans"/>
              </a:rPr>
              <a:t>06   </a:t>
            </a:r>
            <a:r>
              <a:rPr sz="1188" b="0" i="0">
                <a:solidFill>
                  <a:srgbClr val="FFFFFF"/>
                </a:solidFill>
                <a:latin typeface="Fira Sans"/>
              </a:rPr>
              <a:t>Optimistic initial values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4.1  GREEDY ACTION SELECTION, AND WHAT IT COSTS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Exploiting is well defined; exploring is not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IV — Basic exploration strategies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22</a:t>
            </a:r>
          </a:p>
        </p:txBody>
      </p:sp>
      <p:sp>
        <p:nvSpPr>
          <p:cNvPr id="8" name="TextBox 7"/>
          <p:cNvSpPr txBox="1"/>
          <p:nvPr/>
        </p:nvSpPr>
        <p:spPr>
          <a:xfrm>
            <a:off x="841248" y="1316736"/>
            <a:ext cx="10515600" cy="632475"/>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Given estimates, at every step at least one action has the largest estimated value. Call it a </a:t>
            </a:r>
            <a:r>
              <a:rPr sz="1282" b="1" i="0">
                <a:solidFill>
                  <a:srgbClr val="25282A"/>
                </a:solidFill>
                <a:latin typeface="Fira Sans"/>
              </a:rPr>
              <a:t>greedy action</a:t>
            </a:r>
            <a:r>
              <a:rPr sz="1282" b="0" i="0">
                <a:solidFill>
                  <a:srgbClr val="333639"/>
                </a:solidFill>
                <a:latin typeface="Fira Sans"/>
              </a:rPr>
              <a:t>. Choosing it is pure exploitation: given everything learned so far, this is what the agent currently believes is best. Choosing anything else is exploration — accepting a possibly lower reward now in exchange for information.</a:t>
            </a:r>
          </a:p>
        </p:txBody>
      </p:sp>
      <p:pic>
        <p:nvPicPr>
          <p:cNvPr id="9" name="Picture 8" descr="explo_exploit.png"/>
          <p:cNvPicPr>
            <a:picLocks noChangeAspect="1"/>
          </p:cNvPicPr>
          <p:nvPr/>
        </p:nvPicPr>
        <p:blipFill>
          <a:blip r:embed="rId2"/>
          <a:stretch>
            <a:fillRect/>
          </a:stretch>
        </p:blipFill>
        <p:spPr>
          <a:xfrm>
            <a:off x="2987564" y="2023506"/>
            <a:ext cx="5689158" cy="2389710"/>
          </a:xfrm>
          <a:prstGeom prst="rect">
            <a:avLst/>
          </a:prstGeom>
        </p:spPr>
      </p:pic>
      <p:sp>
        <p:nvSpPr>
          <p:cNvPr id="10" name="TextBox 9"/>
          <p:cNvSpPr txBox="1"/>
          <p:nvPr/>
        </p:nvSpPr>
        <p:spPr>
          <a:xfrm>
            <a:off x="841248" y="4454667"/>
            <a:ext cx="10515600" cy="172212"/>
          </a:xfrm>
          <a:prstGeom prst="rect">
            <a:avLst/>
          </a:prstGeom>
          <a:noFill/>
        </p:spPr>
        <p:txBody>
          <a:bodyPr wrap="square" lIns="0" tIns="0" rIns="0" bIns="0" anchor="t">
            <a:noAutofit/>
          </a:bodyPr>
          <a:lstStyle/>
          <a:p>
            <a:pPr marL="0" indent="0" algn="ctr">
              <a:lnSpc>
                <a:spcPts val="1140"/>
              </a:lnSpc>
              <a:spcBef>
                <a:spcPts val="0"/>
              </a:spcBef>
              <a:spcAft>
                <a:spcPts val="0"/>
              </a:spcAft>
              <a:buNone/>
            </a:pPr>
            <a:r>
              <a:rPr sz="950" b="0" i="1">
                <a:solidFill>
                  <a:srgbClr val="626669"/>
                </a:solidFill>
                <a:latin typeface="Fira Sans"/>
              </a:rPr>
              <a:t>The same three estimates, two different decisions. Exploiting takes the arm with the largest Q; exploring takes one of the others, knowing the estimate may be wrong.</a:t>
            </a:r>
          </a:p>
        </p:txBody>
      </p:sp>
      <p:sp>
        <p:nvSpPr>
          <p:cNvPr id="11" name="TextBox 10"/>
          <p:cNvSpPr txBox="1"/>
          <p:nvPr/>
        </p:nvSpPr>
        <p:spPr>
          <a:xfrm>
            <a:off x="841248" y="4809759"/>
            <a:ext cx="5120640" cy="237744"/>
          </a:xfrm>
          <a:prstGeom prst="rect">
            <a:avLst/>
          </a:prstGeom>
          <a:noFill/>
        </p:spPr>
        <p:txBody>
          <a:bodyPr wrap="square" lIns="0" tIns="0" rIns="0" bIns="0" anchor="t">
            <a:noAutofit/>
          </a:bodyPr>
          <a:lstStyle/>
          <a:p>
            <a:pPr marL="0" indent="0" algn="l">
              <a:lnSpc>
                <a:spcPts val="1188"/>
              </a:lnSpc>
              <a:spcBef>
                <a:spcPts val="0"/>
              </a:spcBef>
              <a:spcAft>
                <a:spcPts val="0"/>
              </a:spcAft>
              <a:buNone/>
            </a:pPr>
            <a:r>
              <a:rPr sz="1188" b="1" i="0">
                <a:solidFill>
                  <a:srgbClr val="25282A"/>
                </a:solidFill>
                <a:latin typeface="Fira Sans"/>
              </a:rPr>
              <a:t>Exploitation has a clear prescription</a:t>
            </a:r>
          </a:p>
        </p:txBody>
      </p:sp>
      <p:pic>
        <p:nvPicPr>
          <p:cNvPr id="12" name="Picture 11" descr="eq_greedy.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568" y="5138943"/>
            <a:ext cx="2176526" cy="456057"/>
          </a:xfrm>
          <a:prstGeom prst="rect">
            <a:avLst/>
          </a:prstGeom>
        </p:spPr>
      </p:pic>
      <p:sp>
        <p:nvSpPr>
          <p:cNvPr id="13" name="TextBox 12"/>
          <p:cNvSpPr txBox="1"/>
          <p:nvPr/>
        </p:nvSpPr>
        <p:spPr>
          <a:xfrm>
            <a:off x="841248" y="5669295"/>
            <a:ext cx="5120640" cy="506387"/>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0" i="0">
                <a:solidFill>
                  <a:srgbClr val="626669"/>
                </a:solidFill>
                <a:latin typeface="Fira Sans"/>
              </a:rPr>
              <a:t>Take the argmax; break ties at random. That is the whole rule, and it maximises expected immediate reward </a:t>
            </a:r>
            <a:r>
              <a:rPr sz="1045" b="1" i="0">
                <a:solidFill>
                  <a:srgbClr val="C8102E"/>
                </a:solidFill>
                <a:latin typeface="Fira Sans"/>
              </a:rPr>
              <a:t>according to the current estimates</a:t>
            </a:r>
            <a:r>
              <a:rPr sz="1045" b="0" i="0">
                <a:solidFill>
                  <a:srgbClr val="626669"/>
                </a:solidFill>
                <a:latin typeface="Fira Sans"/>
              </a:rPr>
              <a:t> — which may be badly wrong.</a:t>
            </a:r>
          </a:p>
        </p:txBody>
      </p:sp>
      <p:sp>
        <p:nvSpPr>
          <p:cNvPr id="14" name="TextBox 13"/>
          <p:cNvSpPr txBox="1"/>
          <p:nvPr/>
        </p:nvSpPr>
        <p:spPr>
          <a:xfrm>
            <a:off x="6236207" y="4809759"/>
            <a:ext cx="5120640" cy="237744"/>
          </a:xfrm>
          <a:prstGeom prst="rect">
            <a:avLst/>
          </a:prstGeom>
          <a:noFill/>
        </p:spPr>
        <p:txBody>
          <a:bodyPr wrap="square" lIns="0" tIns="0" rIns="0" bIns="0" anchor="t">
            <a:noAutofit/>
          </a:bodyPr>
          <a:lstStyle/>
          <a:p>
            <a:pPr marL="0" indent="0" algn="l">
              <a:lnSpc>
                <a:spcPts val="1188"/>
              </a:lnSpc>
              <a:spcBef>
                <a:spcPts val="0"/>
              </a:spcBef>
              <a:spcAft>
                <a:spcPts val="0"/>
              </a:spcAft>
              <a:buNone/>
            </a:pPr>
            <a:r>
              <a:rPr sz="1188" b="1" i="0">
                <a:solidFill>
                  <a:srgbClr val="25282A"/>
                </a:solidFill>
                <a:latin typeface="Fira Sans"/>
              </a:rPr>
              <a:t>Exploration does not</a:t>
            </a:r>
          </a:p>
        </p:txBody>
      </p:sp>
      <p:sp>
        <p:nvSpPr>
          <p:cNvPr id="15" name="TextBox 14"/>
          <p:cNvSpPr txBox="1"/>
          <p:nvPr/>
        </p:nvSpPr>
        <p:spPr>
          <a:xfrm>
            <a:off x="6236207" y="5138943"/>
            <a:ext cx="5120640" cy="819594"/>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0" i="0">
                <a:solidFill>
                  <a:srgbClr val="626669"/>
                </a:solidFill>
                <a:latin typeface="Fira Sans"/>
              </a:rPr>
              <a:t>Knowing that more information would help does not say </a:t>
            </a:r>
            <a:r>
              <a:rPr sz="1045" b="1" i="1">
                <a:solidFill>
                  <a:srgbClr val="25282A"/>
                </a:solidFill>
                <a:latin typeface="Fira Sans"/>
              </a:rPr>
              <a:t>which</a:t>
            </a:r>
            <a:r>
              <a:rPr sz="1045" b="0" i="0">
                <a:solidFill>
                  <a:srgbClr val="626669"/>
                </a:solidFill>
                <a:latin typeface="Fira Sans"/>
              </a:rPr>
              <a:t> action to try. We could explore at random, favour actions tried less often, investigate the most uncertain ones, or prefer those promising enough that resolving the uncertainty could change our mind. Every strategy in this chapter answers that question differently.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4.2  THE HORIZON DECIDES HOW MUCH EXPLORATION IS WORTH</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Information has value only if there is time left to use it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IV — Basic exploration strategies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23</a:t>
            </a:r>
          </a:p>
        </p:txBody>
      </p:sp>
      <p:sp>
        <p:nvSpPr>
          <p:cNvPr id="8" name="TextBox 7"/>
          <p:cNvSpPr txBox="1"/>
          <p:nvPr/>
        </p:nvSpPr>
        <p:spPr>
          <a:xfrm>
            <a:off x="841248" y="1316736"/>
            <a:ext cx="6543446" cy="632475"/>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A single action cannot be both pure exploitation and pure exploration. The agent must decide how much immediate reward it is willing to give up for better-informed future decisions — and the right answer depends heavily on </a:t>
            </a:r>
            <a:r>
              <a:rPr sz="1282" b="1" i="0">
                <a:solidFill>
                  <a:srgbClr val="25282A"/>
                </a:solidFill>
                <a:latin typeface="Fira Sans"/>
              </a:rPr>
              <a:t>how many decisions are left</a:t>
            </a:r>
            <a:r>
              <a:rPr sz="1282" b="0" i="0">
                <a:solidFill>
                  <a:srgbClr val="333639"/>
                </a:solidFill>
                <a:latin typeface="Fira Sans"/>
              </a:rPr>
              <a:t>.</a:t>
            </a:r>
          </a:p>
        </p:txBody>
      </p:sp>
      <p:sp>
        <p:nvSpPr>
          <p:cNvPr id="9" name="Rectangle 8"/>
          <p:cNvSpPr/>
          <p:nvPr/>
        </p:nvSpPr>
        <p:spPr>
          <a:xfrm>
            <a:off x="841248" y="2186955"/>
            <a:ext cx="3152851" cy="157276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41248" y="2186955"/>
            <a:ext cx="3152851" cy="31089"/>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05840" y="2351547"/>
            <a:ext cx="2823667" cy="2194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00">
                <a:solidFill>
                  <a:srgbClr val="C8102E"/>
                </a:solidFill>
                <a:latin typeface="Fira Sans"/>
              </a:rPr>
              <a:t>ONE INTERACTION REMAINING</a:t>
            </a:r>
          </a:p>
        </p:txBody>
      </p:sp>
      <p:sp>
        <p:nvSpPr>
          <p:cNvPr id="12" name="TextBox 11"/>
          <p:cNvSpPr txBox="1"/>
          <p:nvPr/>
        </p:nvSpPr>
        <p:spPr>
          <a:xfrm>
            <a:off x="1005840" y="2625867"/>
            <a:ext cx="2823667" cy="726056"/>
          </a:xfrm>
          <a:prstGeom prst="rect">
            <a:avLst/>
          </a:prstGeom>
          <a:noFill/>
        </p:spPr>
        <p:txBody>
          <a:bodyPr wrap="square" lIns="0" tIns="0" rIns="0" bIns="0" anchor="t">
            <a:noAutofit/>
          </a:bodyPr>
          <a:lstStyle/>
          <a:p>
            <a:pPr marL="0" indent="0" algn="l">
              <a:lnSpc>
                <a:spcPts val="1300"/>
              </a:lnSpc>
              <a:spcBef>
                <a:spcPts val="0"/>
              </a:spcBef>
              <a:spcAft>
                <a:spcPts val="0"/>
              </a:spcAft>
              <a:buNone/>
            </a:pPr>
            <a:r>
              <a:rPr sz="1140" b="1" i="0">
                <a:solidFill>
                  <a:srgbClr val="25282A"/>
                </a:solidFill>
                <a:latin typeface="Fira Sans"/>
              </a:rPr>
              <a:t>Act greedily.</a:t>
            </a:r>
          </a:p>
          <a:p>
            <a:pPr marL="0" indent="0" algn="l">
              <a:lnSpc>
                <a:spcPts val="1176"/>
              </a:lnSpc>
              <a:spcBef>
                <a:spcPts val="600"/>
              </a:spcBef>
              <a:spcAft>
                <a:spcPts val="0"/>
              </a:spcAft>
              <a:buNone/>
            </a:pPr>
            <a:r>
              <a:rPr sz="997" b="0" i="0">
                <a:solidFill>
                  <a:srgbClr val="626669"/>
                </a:solidFill>
                <a:latin typeface="Fira Sans"/>
              </a:rPr>
              <a:t>There is no future decision in which new information could be used, so buying it is pure loss.</a:t>
            </a:r>
          </a:p>
        </p:txBody>
      </p:sp>
      <p:sp>
        <p:nvSpPr>
          <p:cNvPr id="13" name="Rectangle 12"/>
          <p:cNvSpPr/>
          <p:nvPr/>
        </p:nvSpPr>
        <p:spPr>
          <a:xfrm>
            <a:off x="4231843" y="2186955"/>
            <a:ext cx="3152851" cy="157276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4231843" y="2186955"/>
            <a:ext cx="3152851" cy="31089"/>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396435" y="2351547"/>
            <a:ext cx="2823667" cy="2194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00">
                <a:solidFill>
                  <a:srgbClr val="2B7A3E"/>
                </a:solidFill>
                <a:latin typeface="Fira Sans"/>
              </a:rPr>
              <a:t>MANY INTERACTIONS REMAINING</a:t>
            </a:r>
          </a:p>
        </p:txBody>
      </p:sp>
      <p:sp>
        <p:nvSpPr>
          <p:cNvPr id="16" name="TextBox 15"/>
          <p:cNvSpPr txBox="1"/>
          <p:nvPr/>
        </p:nvSpPr>
        <p:spPr>
          <a:xfrm>
            <a:off x="4396435" y="2625867"/>
            <a:ext cx="2823667" cy="726056"/>
          </a:xfrm>
          <a:prstGeom prst="rect">
            <a:avLst/>
          </a:prstGeom>
          <a:noFill/>
        </p:spPr>
        <p:txBody>
          <a:bodyPr wrap="square" lIns="0" tIns="0" rIns="0" bIns="0" anchor="t">
            <a:noAutofit/>
          </a:bodyPr>
          <a:lstStyle/>
          <a:p>
            <a:pPr marL="0" indent="0" algn="l">
              <a:lnSpc>
                <a:spcPts val="1300"/>
              </a:lnSpc>
              <a:spcBef>
                <a:spcPts val="0"/>
              </a:spcBef>
              <a:spcAft>
                <a:spcPts val="0"/>
              </a:spcAft>
              <a:buNone/>
            </a:pPr>
            <a:r>
              <a:rPr sz="1140" b="1" i="0">
                <a:solidFill>
                  <a:srgbClr val="25282A"/>
                </a:solidFill>
                <a:latin typeface="Fira Sans"/>
              </a:rPr>
              <a:t>Exploration becomes valuable.</a:t>
            </a:r>
          </a:p>
          <a:p>
            <a:pPr marL="0" indent="0" algn="l">
              <a:lnSpc>
                <a:spcPts val="1176"/>
              </a:lnSpc>
              <a:spcBef>
                <a:spcPts val="600"/>
              </a:spcBef>
              <a:spcAft>
                <a:spcPts val="0"/>
              </a:spcAft>
              <a:buNone/>
            </a:pPr>
            <a:r>
              <a:rPr sz="997" b="0" i="0">
                <a:solidFill>
                  <a:srgbClr val="626669"/>
                </a:solidFill>
                <a:latin typeface="Fira Sans"/>
              </a:rPr>
              <a:t>A reward sacrificed today can reveal a better action that is then exploited repeatedly for the rest of the run.</a:t>
            </a:r>
          </a:p>
        </p:txBody>
      </p:sp>
      <p:sp>
        <p:nvSpPr>
          <p:cNvPr id="17" name="Rectangle 16"/>
          <p:cNvSpPr/>
          <p:nvPr/>
        </p:nvSpPr>
        <p:spPr>
          <a:xfrm>
            <a:off x="841248" y="3979179"/>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41248" y="4198635"/>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TWO BASELINES</a:t>
            </a:r>
          </a:p>
        </p:txBody>
      </p:sp>
      <p:sp>
        <p:nvSpPr>
          <p:cNvPr id="19" name="TextBox 18"/>
          <p:cNvSpPr txBox="1"/>
          <p:nvPr/>
        </p:nvSpPr>
        <p:spPr>
          <a:xfrm>
            <a:off x="841248" y="4436379"/>
            <a:ext cx="6543446" cy="566470"/>
          </a:xfrm>
          <a:prstGeom prst="rect">
            <a:avLst/>
          </a:prstGeom>
          <a:noFill/>
        </p:spPr>
        <p:txBody>
          <a:bodyPr wrap="square" lIns="0" tIns="0" rIns="0" bIns="0" anchor="t">
            <a:noAutofit/>
          </a:bodyPr>
          <a:lstStyle/>
          <a:p>
            <a:pPr marL="0" indent="0" algn="l">
              <a:lnSpc>
                <a:spcPts val="1391"/>
              </a:lnSpc>
              <a:spcBef>
                <a:spcPts val="0"/>
              </a:spcBef>
              <a:spcAft>
                <a:spcPts val="0"/>
              </a:spcAft>
              <a:buNone/>
            </a:pPr>
            <a:r>
              <a:rPr sz="1140" b="0" i="0">
                <a:solidFill>
                  <a:srgbClr val="333639"/>
                </a:solidFill>
                <a:latin typeface="Fira Sans"/>
              </a:rPr>
              <a:t>The </a:t>
            </a:r>
            <a:r>
              <a:rPr sz="1140" b="1" i="0">
                <a:solidFill>
                  <a:srgbClr val="25282A"/>
                </a:solidFill>
                <a:latin typeface="Fira Sans"/>
              </a:rPr>
              <a:t>greedy</a:t>
            </a:r>
            <a:r>
              <a:rPr sz="1140" b="0" i="0">
                <a:solidFill>
                  <a:srgbClr val="333639"/>
                </a:solidFill>
                <a:latin typeface="Fira Sans"/>
              </a:rPr>
              <a:t> strategy, which always exploits, and the </a:t>
            </a:r>
            <a:r>
              <a:rPr sz="1140" b="1" i="0">
                <a:solidFill>
                  <a:srgbClr val="25282A"/>
                </a:solidFill>
                <a:latin typeface="Fira Sans"/>
              </a:rPr>
              <a:t>pure random</a:t>
            </a:r>
            <a:r>
              <a:rPr sz="1140" b="0" i="0">
                <a:solidFill>
                  <a:srgbClr val="333639"/>
                </a:solidFill>
                <a:latin typeface="Fira Sans"/>
              </a:rPr>
              <a:t> strategy, which always explores, are the two extremes. Neither is a good strategy, but both are useful </a:t>
            </a:r>
            <a:r>
              <a:rPr sz="1140" b="1" i="0">
                <a:solidFill>
                  <a:srgbClr val="574676"/>
                </a:solidFill>
                <a:latin typeface="Fira Sans"/>
              </a:rPr>
              <a:t>baselines</a:t>
            </a:r>
            <a:r>
              <a:rPr sz="1140" b="0" i="0">
                <a:solidFill>
                  <a:srgbClr val="333639"/>
                </a:solidFill>
                <a:latin typeface="Fira Sans"/>
              </a:rPr>
              <a:t>: every method that follows has to beat them.</a:t>
            </a:r>
          </a:p>
        </p:txBody>
      </p:sp>
      <p:sp>
        <p:nvSpPr>
          <p:cNvPr id="20" name="Rectangle 19"/>
          <p:cNvSpPr/>
          <p:nvPr/>
        </p:nvSpPr>
        <p:spPr>
          <a:xfrm>
            <a:off x="7618780" y="1316736"/>
            <a:ext cx="3731940" cy="1695297"/>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7618780" y="1316736"/>
            <a:ext cx="41148" cy="1695297"/>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838236" y="1463039"/>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CONTROLLING THE EXPERIMENT</a:t>
            </a:r>
          </a:p>
        </p:txBody>
      </p:sp>
      <p:sp>
        <p:nvSpPr>
          <p:cNvPr id="23" name="TextBox 22"/>
          <p:cNvSpPr txBox="1"/>
          <p:nvPr/>
        </p:nvSpPr>
        <p:spPr>
          <a:xfrm>
            <a:off x="7838236" y="1700784"/>
            <a:ext cx="3347892" cy="1164945"/>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In all the experiments that follow, every strategy uses the </a:t>
            </a:r>
            <a:r>
              <a:rPr sz="1092" b="1" i="0">
                <a:solidFill>
                  <a:srgbClr val="333639"/>
                </a:solidFill>
                <a:latin typeface="Fira Sans"/>
              </a:rPr>
              <a:t>same sample-average estimator</a:t>
            </a:r>
            <a:r>
              <a:rPr sz="1092" b="0" i="0">
                <a:solidFill>
                  <a:srgbClr val="333639"/>
                </a:solidFill>
                <a:latin typeface="Fira Sans"/>
              </a:rPr>
              <a:t>. The testbed is stationary, so no recency weighting is needed — and using the same estimator throughout guarantees that any difference we observe comes from </a:t>
            </a:r>
            <a:r>
              <a:rPr sz="1092" b="1" i="0">
                <a:solidFill>
                  <a:srgbClr val="333639"/>
                </a:solidFill>
                <a:latin typeface="Fira Sans"/>
              </a:rPr>
              <a:t>how actions are selected</a:t>
            </a:r>
            <a:r>
              <a:rPr sz="1092" b="0" i="0">
                <a:solidFill>
                  <a:srgbClr val="333639"/>
                </a:solidFill>
                <a:latin typeface="Fira Sans"/>
              </a:rPr>
              <a:t>, not from how they are estimated.</a:t>
            </a:r>
          </a:p>
        </p:txBody>
      </p:sp>
      <p:sp>
        <p:nvSpPr>
          <p:cNvPr id="24" name="TextBox 23"/>
          <p:cNvSpPr txBox="1"/>
          <p:nvPr/>
        </p:nvSpPr>
        <p:spPr>
          <a:xfrm>
            <a:off x="7618780" y="3286353"/>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EXPERIMENTAL PROTOCOL</a:t>
            </a:r>
          </a:p>
        </p:txBody>
      </p:sp>
      <p:sp>
        <p:nvSpPr>
          <p:cNvPr id="25" name="TextBox 24"/>
          <p:cNvSpPr txBox="1"/>
          <p:nvPr/>
        </p:nvSpPr>
        <p:spPr>
          <a:xfrm>
            <a:off x="7618780" y="3542385"/>
            <a:ext cx="3731940" cy="1180876"/>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0" i="0">
                <a:solidFill>
                  <a:srgbClr val="333639"/>
                </a:solidFill>
                <a:latin typeface="Fira Sans"/>
              </a:rPr>
              <a:t>2000 independent bandit problems, 1000 steps each.</a:t>
            </a:r>
          </a:p>
          <a:p>
            <a:pPr marL="182880" indent="-182880" algn="l">
              <a:lnSpc>
                <a:spcPts val="1223"/>
              </a:lnSpc>
              <a:spcBef>
                <a:spcPts val="800"/>
              </a:spcBef>
              <a:spcAft>
                <a:spcPts val="0"/>
              </a:spcAft>
              <a:buClr>
                <a:srgbClr val="1971C2"/>
              </a:buClr>
              <a:buFont typeface="Fira Sans"/>
              <a:buChar char="–"/>
            </a:pPr>
            <a:r>
              <a:rPr sz="1092" b="0" i="0">
                <a:solidFill>
                  <a:srgbClr val="333639"/>
                </a:solidFill>
                <a:latin typeface="Fira Sans"/>
              </a:rPr>
              <a:t>All strategies face the </a:t>
            </a:r>
            <a:r>
              <a:rPr sz="1092" b="1" i="0">
                <a:solidFill>
                  <a:srgbClr val="25282A"/>
                </a:solidFill>
                <a:latin typeface="Fira Sans"/>
              </a:rPr>
              <a:t>same set of problems</a:t>
            </a:r>
            <a:r>
              <a:rPr sz="1092" b="0" i="0">
                <a:solidFill>
                  <a:srgbClr val="333639"/>
                </a:solidFill>
                <a:latin typeface="Fira Sans"/>
              </a:rPr>
              <a:t>, so the comparison is fair.</a:t>
            </a:r>
          </a:p>
          <a:p>
            <a:pPr marL="182880" indent="-182880" algn="l">
              <a:lnSpc>
                <a:spcPts val="1223"/>
              </a:lnSpc>
              <a:spcBef>
                <a:spcPts val="800"/>
              </a:spcBef>
              <a:spcAft>
                <a:spcPts val="0"/>
              </a:spcAft>
              <a:buClr>
                <a:srgbClr val="1971C2"/>
              </a:buClr>
              <a:buFont typeface="Fira Sans"/>
              <a:buChar char="–"/>
            </a:pPr>
            <a:r>
              <a:rPr sz="1092" b="0" i="0">
                <a:solidFill>
                  <a:srgbClr val="333639"/>
                </a:solidFill>
                <a:latin typeface="Fira Sans"/>
              </a:rPr>
              <a:t>Three quantities recorded at every step and averaged across runs: </a:t>
            </a:r>
            <a:r>
              <a:rPr sz="1092" b="1" i="0">
                <a:solidFill>
                  <a:srgbClr val="25282A"/>
                </a:solidFill>
                <a:latin typeface="Fira Sans"/>
              </a:rPr>
              <a:t>average reward</a:t>
            </a:r>
            <a:r>
              <a:rPr sz="1092" b="0" i="0">
                <a:solidFill>
                  <a:srgbClr val="333639"/>
                </a:solidFill>
                <a:latin typeface="Fira Sans"/>
              </a:rPr>
              <a:t>, </a:t>
            </a:r>
            <a:r>
              <a:rPr sz="1092" b="1" i="0">
                <a:solidFill>
                  <a:srgbClr val="25282A"/>
                </a:solidFill>
                <a:latin typeface="Fira Sans"/>
              </a:rPr>
              <a:t>optimal-action rate</a:t>
            </a:r>
            <a:r>
              <a:rPr sz="1092" b="0" i="0">
                <a:solidFill>
                  <a:srgbClr val="333639"/>
                </a:solidFill>
                <a:latin typeface="Fira Sans"/>
              </a:rPr>
              <a:t>, and </a:t>
            </a:r>
            <a:r>
              <a:rPr sz="1092" b="1" i="0">
                <a:solidFill>
                  <a:srgbClr val="25282A"/>
                </a:solidFill>
                <a:latin typeface="Fira Sans"/>
              </a:rPr>
              <a:t>cumulative regret</a:t>
            </a:r>
            <a:r>
              <a:rPr sz="1092" b="0" i="0">
                <a:solidFill>
                  <a:srgbClr val="333639"/>
                </a:solidFill>
                <a:latin typeface="Fira Sans"/>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4.3  Ε-GREEDY</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Act greedily most of the time, and occasionally toss a coin</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IV — Basic exploration strategies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24</a:t>
            </a:r>
          </a:p>
        </p:txBody>
      </p:sp>
      <p:sp>
        <p:nvSpPr>
          <p:cNvPr id="8" name="TextBox 7"/>
          <p:cNvSpPr txBox="1"/>
          <p:nvPr/>
        </p:nvSpPr>
        <p:spPr>
          <a:xfrm>
            <a:off x="841248" y="1316736"/>
            <a:ext cx="6543446"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Combine the two baselines. At each step, explore with probability ε by choosing uniformly among all k actions; otherwise act greedily.</a:t>
            </a:r>
          </a:p>
        </p:txBody>
      </p:sp>
      <p:pic>
        <p:nvPicPr>
          <p:cNvPr id="9" name="Picture 8" descr="eq_p_both.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32688" y="1951746"/>
            <a:ext cx="4946269" cy="757808"/>
          </a:xfrm>
          <a:prstGeom prst="rect">
            <a:avLst/>
          </a:prstGeom>
        </p:spPr>
      </p:pic>
      <p:sp>
        <p:nvSpPr>
          <p:cNvPr id="10" name="Rectangle 9"/>
          <p:cNvSpPr/>
          <p:nvPr/>
        </p:nvSpPr>
        <p:spPr>
          <a:xfrm>
            <a:off x="841248" y="2965587"/>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41248" y="3166755"/>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A DETAIL WORTH STATING EXPLICITLY</a:t>
            </a:r>
          </a:p>
        </p:txBody>
      </p:sp>
      <p:sp>
        <p:nvSpPr>
          <p:cNvPr id="12" name="TextBox 11"/>
          <p:cNvSpPr txBox="1"/>
          <p:nvPr/>
        </p:nvSpPr>
        <p:spPr>
          <a:xfrm>
            <a:off x="841248" y="3386211"/>
            <a:ext cx="6543446" cy="1021334"/>
          </a:xfrm>
          <a:prstGeom prst="rect">
            <a:avLst/>
          </a:prstGeom>
          <a:noFill/>
        </p:spPr>
        <p:txBody>
          <a:bodyPr wrap="square" lIns="0" tIns="0" rIns="0" bIns="0" anchor="t">
            <a:noAutofit/>
          </a:bodyPr>
          <a:lstStyle/>
          <a:p>
            <a:pPr marL="0" indent="0" algn="l">
              <a:lnSpc>
                <a:spcPts val="1391"/>
              </a:lnSpc>
              <a:spcBef>
                <a:spcPts val="0"/>
              </a:spcBef>
              <a:spcAft>
                <a:spcPts val="0"/>
              </a:spcAft>
              <a:buNone/>
            </a:pPr>
            <a:r>
              <a:rPr sz="1140" b="0" i="0">
                <a:solidFill>
                  <a:srgbClr val="333639"/>
                </a:solidFill>
                <a:latin typeface="Fira Sans"/>
              </a:rPr>
              <a:t>The exploratory choice is made among </a:t>
            </a:r>
            <a:r>
              <a:rPr sz="1140" b="1" i="0">
                <a:solidFill>
                  <a:srgbClr val="25282A"/>
                </a:solidFill>
                <a:latin typeface="Fira Sans"/>
              </a:rPr>
              <a:t>all k actions, including the greedy one</a:t>
            </a:r>
            <a:r>
              <a:rPr sz="1140" b="0" i="0">
                <a:solidFill>
                  <a:srgbClr val="333639"/>
                </a:solidFill>
                <a:latin typeface="Fira Sans"/>
              </a:rPr>
              <a:t>. So the greedy action can be selected either by exploiting or by chance while exploring, which is where the extra ε/k comes from.</a:t>
            </a:r>
          </a:p>
          <a:p>
            <a:pPr marL="0" indent="0" algn="l">
              <a:lnSpc>
                <a:spcPts val="1391"/>
              </a:lnSpc>
              <a:spcBef>
                <a:spcPts val="800"/>
              </a:spcBef>
              <a:spcAft>
                <a:spcPts val="0"/>
              </a:spcAft>
              <a:buNone/>
            </a:pPr>
            <a:r>
              <a:rPr sz="1140" b="0" i="0">
                <a:solidFill>
                  <a:srgbClr val="626669"/>
                </a:solidFill>
                <a:latin typeface="Fira Sans"/>
              </a:rPr>
              <a:t>Therefore ε is the probability of </a:t>
            </a:r>
            <a:r>
              <a:rPr sz="1140" b="1" i="0">
                <a:solidFill>
                  <a:srgbClr val="C8102E"/>
                </a:solidFill>
                <a:latin typeface="Fira Sans"/>
              </a:rPr>
              <a:t>entering exploration mode</a:t>
            </a:r>
            <a:r>
              <a:rPr sz="1140" b="0" i="0">
                <a:solidFill>
                  <a:srgbClr val="626669"/>
                </a:solidFill>
                <a:latin typeface="Fira Sans"/>
              </a:rPr>
              <a:t> — not of selecting a non-greedy action: with k = 10 and ε = 0.2 that happens only 18% of the time.</a:t>
            </a:r>
          </a:p>
        </p:txBody>
      </p:sp>
      <p:sp>
        <p:nvSpPr>
          <p:cNvPr id="13" name="Rectangle 12"/>
          <p:cNvSpPr/>
          <p:nvPr/>
        </p:nvSpPr>
        <p:spPr>
          <a:xfrm>
            <a:off x="841248" y="4608713"/>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841248" y="4791593"/>
            <a:ext cx="6543446" cy="243961"/>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932688" y="4841885"/>
            <a:ext cx="471464" cy="143377"/>
          </a:xfrm>
          <a:prstGeom prst="rect">
            <a:avLst/>
          </a:prstGeom>
          <a:noFill/>
        </p:spPr>
        <p:txBody>
          <a:bodyPr wrap="square" lIns="0" tIns="0" rIns="0" bIns="0" anchor="ctr">
            <a:noAutofit/>
          </a:bodyPr>
          <a:lstStyle/>
          <a:p>
            <a:pPr marL="0" indent="0" algn="l">
              <a:lnSpc>
                <a:spcPts val="970"/>
              </a:lnSpc>
              <a:spcBef>
                <a:spcPts val="0"/>
              </a:spcBef>
              <a:spcAft>
                <a:spcPts val="0"/>
              </a:spcAft>
              <a:buNone/>
            </a:pPr>
            <a:r>
              <a:rPr sz="882" b="1" i="0" spc="60">
                <a:solidFill>
                  <a:srgbClr val="FFFFFF"/>
                </a:solidFill>
                <a:latin typeface="Fira Sans"/>
              </a:rPr>
              <a:t>ε</a:t>
            </a:r>
          </a:p>
        </p:txBody>
      </p:sp>
      <p:sp>
        <p:nvSpPr>
          <p:cNvPr id="16" name="TextBox 15"/>
          <p:cNvSpPr txBox="1"/>
          <p:nvPr/>
        </p:nvSpPr>
        <p:spPr>
          <a:xfrm>
            <a:off x="1587032" y="4841885"/>
            <a:ext cx="2957974" cy="143377"/>
          </a:xfrm>
          <a:prstGeom prst="rect">
            <a:avLst/>
          </a:prstGeom>
          <a:noFill/>
        </p:spPr>
        <p:txBody>
          <a:bodyPr wrap="square" lIns="0" tIns="0" rIns="0" bIns="0" anchor="ctr">
            <a:noAutofit/>
          </a:bodyPr>
          <a:lstStyle/>
          <a:p>
            <a:pPr marL="0" indent="0" algn="l">
              <a:lnSpc>
                <a:spcPts val="970"/>
              </a:lnSpc>
              <a:spcBef>
                <a:spcPts val="0"/>
              </a:spcBef>
              <a:spcAft>
                <a:spcPts val="0"/>
              </a:spcAft>
              <a:buNone/>
            </a:pPr>
            <a:r>
              <a:rPr sz="882" b="1" i="0" spc="60">
                <a:solidFill>
                  <a:srgbClr val="FFFFFF"/>
                </a:solidFill>
                <a:latin typeface="Fira Sans"/>
              </a:rPr>
              <a:t>Behaviour</a:t>
            </a:r>
          </a:p>
        </p:txBody>
      </p:sp>
      <p:sp>
        <p:nvSpPr>
          <p:cNvPr id="17" name="TextBox 16"/>
          <p:cNvSpPr txBox="1"/>
          <p:nvPr/>
        </p:nvSpPr>
        <p:spPr>
          <a:xfrm>
            <a:off x="4727886" y="4841885"/>
            <a:ext cx="2565367" cy="143377"/>
          </a:xfrm>
          <a:prstGeom prst="rect">
            <a:avLst/>
          </a:prstGeom>
          <a:noFill/>
        </p:spPr>
        <p:txBody>
          <a:bodyPr wrap="square" lIns="0" tIns="0" rIns="0" bIns="0" anchor="ctr">
            <a:noAutofit/>
          </a:bodyPr>
          <a:lstStyle/>
          <a:p>
            <a:pPr marL="0" indent="0" algn="l">
              <a:lnSpc>
                <a:spcPts val="970"/>
              </a:lnSpc>
              <a:spcBef>
                <a:spcPts val="0"/>
              </a:spcBef>
              <a:spcAft>
                <a:spcPts val="0"/>
              </a:spcAft>
              <a:buNone/>
            </a:pPr>
            <a:r>
              <a:rPr sz="882" b="1" i="0" spc="60">
                <a:solidFill>
                  <a:srgbClr val="FFFFFF"/>
                </a:solidFill>
                <a:latin typeface="Fira Sans"/>
              </a:rPr>
              <a:t>Ceiling on the optimal-action rate</a:t>
            </a:r>
          </a:p>
        </p:txBody>
      </p:sp>
      <p:sp>
        <p:nvSpPr>
          <p:cNvPr id="18" name="TextBox 17"/>
          <p:cNvSpPr txBox="1"/>
          <p:nvPr/>
        </p:nvSpPr>
        <p:spPr>
          <a:xfrm>
            <a:off x="932688" y="5085847"/>
            <a:ext cx="471464" cy="165481"/>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0">
                <a:solidFill>
                  <a:srgbClr val="333639"/>
                </a:solidFill>
                <a:latin typeface="Fira Sans"/>
              </a:rPr>
              <a:t>0</a:t>
            </a:r>
          </a:p>
        </p:txBody>
      </p:sp>
      <p:sp>
        <p:nvSpPr>
          <p:cNvPr id="19" name="TextBox 18"/>
          <p:cNvSpPr txBox="1"/>
          <p:nvPr/>
        </p:nvSpPr>
        <p:spPr>
          <a:xfrm>
            <a:off x="1587032" y="5085847"/>
            <a:ext cx="2957974" cy="165481"/>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0">
                <a:solidFill>
                  <a:srgbClr val="333639"/>
                </a:solidFill>
                <a:latin typeface="Fira Sans"/>
              </a:rPr>
              <a:t>pure exploitation — never explores</a:t>
            </a:r>
          </a:p>
        </p:txBody>
      </p:sp>
      <p:sp>
        <p:nvSpPr>
          <p:cNvPr id="20" name="TextBox 19"/>
          <p:cNvSpPr txBox="1"/>
          <p:nvPr/>
        </p:nvSpPr>
        <p:spPr>
          <a:xfrm>
            <a:off x="4727886" y="5085847"/>
            <a:ext cx="2565367" cy="165481"/>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0">
                <a:solidFill>
                  <a:srgbClr val="333639"/>
                </a:solidFill>
                <a:latin typeface="Fira Sans"/>
              </a:rPr>
              <a:t>whatever luck provides</a:t>
            </a:r>
          </a:p>
        </p:txBody>
      </p:sp>
      <p:sp>
        <p:nvSpPr>
          <p:cNvPr id="21" name="Rectangle 20"/>
          <p:cNvSpPr/>
          <p:nvPr/>
        </p:nvSpPr>
        <p:spPr>
          <a:xfrm>
            <a:off x="841248" y="5296133"/>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841248" y="5301620"/>
            <a:ext cx="6543446" cy="266065"/>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932688" y="5351912"/>
            <a:ext cx="471464" cy="165481"/>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0">
                <a:solidFill>
                  <a:srgbClr val="333639"/>
                </a:solidFill>
                <a:latin typeface="Fira Sans"/>
              </a:rPr>
              <a:t>0.01</a:t>
            </a:r>
          </a:p>
        </p:txBody>
      </p:sp>
      <p:sp>
        <p:nvSpPr>
          <p:cNvPr id="24" name="TextBox 23"/>
          <p:cNvSpPr txBox="1"/>
          <p:nvPr/>
        </p:nvSpPr>
        <p:spPr>
          <a:xfrm>
            <a:off x="1587032" y="5351912"/>
            <a:ext cx="2957974" cy="165481"/>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0">
                <a:solidFill>
                  <a:srgbClr val="333639"/>
                </a:solidFill>
                <a:latin typeface="Fira Sans"/>
              </a:rPr>
              <a:t>explores one step in a hundred</a:t>
            </a:r>
          </a:p>
        </p:txBody>
      </p:sp>
      <p:sp>
        <p:nvSpPr>
          <p:cNvPr id="25" name="TextBox 24"/>
          <p:cNvSpPr txBox="1"/>
          <p:nvPr/>
        </p:nvSpPr>
        <p:spPr>
          <a:xfrm>
            <a:off x="4727886" y="5351912"/>
            <a:ext cx="2565367" cy="165481"/>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0">
                <a:solidFill>
                  <a:srgbClr val="333639"/>
                </a:solidFill>
                <a:latin typeface="Fira Sans"/>
              </a:rPr>
              <a:t>99.1%</a:t>
            </a:r>
          </a:p>
        </p:txBody>
      </p:sp>
      <p:sp>
        <p:nvSpPr>
          <p:cNvPr id="26" name="Rectangle 25"/>
          <p:cNvSpPr/>
          <p:nvPr/>
        </p:nvSpPr>
        <p:spPr>
          <a:xfrm>
            <a:off x="841248" y="5562198"/>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932688" y="5617977"/>
            <a:ext cx="471464" cy="165481"/>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0">
                <a:solidFill>
                  <a:srgbClr val="333639"/>
                </a:solidFill>
                <a:latin typeface="Fira Sans"/>
              </a:rPr>
              <a:t>0.2</a:t>
            </a:r>
          </a:p>
        </p:txBody>
      </p:sp>
      <p:sp>
        <p:nvSpPr>
          <p:cNvPr id="28" name="TextBox 27"/>
          <p:cNvSpPr txBox="1"/>
          <p:nvPr/>
        </p:nvSpPr>
        <p:spPr>
          <a:xfrm>
            <a:off x="1587032" y="5617977"/>
            <a:ext cx="2957974" cy="165481"/>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0">
                <a:solidFill>
                  <a:srgbClr val="333639"/>
                </a:solidFill>
                <a:latin typeface="Fira Sans"/>
              </a:rPr>
              <a:t>explores one step in five</a:t>
            </a:r>
          </a:p>
        </p:txBody>
      </p:sp>
      <p:sp>
        <p:nvSpPr>
          <p:cNvPr id="29" name="TextBox 28"/>
          <p:cNvSpPr txBox="1"/>
          <p:nvPr/>
        </p:nvSpPr>
        <p:spPr>
          <a:xfrm>
            <a:off x="4727886" y="5617977"/>
            <a:ext cx="2565367" cy="165481"/>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0">
                <a:solidFill>
                  <a:srgbClr val="333639"/>
                </a:solidFill>
                <a:latin typeface="Fira Sans"/>
              </a:rPr>
              <a:t>82.0%</a:t>
            </a:r>
          </a:p>
        </p:txBody>
      </p:sp>
      <p:sp>
        <p:nvSpPr>
          <p:cNvPr id="30" name="Rectangle 29"/>
          <p:cNvSpPr/>
          <p:nvPr/>
        </p:nvSpPr>
        <p:spPr>
          <a:xfrm>
            <a:off x="841248" y="5828263"/>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p:cNvSpPr/>
          <p:nvPr/>
        </p:nvSpPr>
        <p:spPr>
          <a:xfrm>
            <a:off x="841248" y="5833750"/>
            <a:ext cx="6543446" cy="266065"/>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932688" y="5884042"/>
            <a:ext cx="471464" cy="165481"/>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0">
                <a:solidFill>
                  <a:srgbClr val="333639"/>
                </a:solidFill>
                <a:latin typeface="Fira Sans"/>
              </a:rPr>
              <a:t>1</a:t>
            </a:r>
          </a:p>
        </p:txBody>
      </p:sp>
      <p:sp>
        <p:nvSpPr>
          <p:cNvPr id="33" name="TextBox 32"/>
          <p:cNvSpPr txBox="1"/>
          <p:nvPr/>
        </p:nvSpPr>
        <p:spPr>
          <a:xfrm>
            <a:off x="1587032" y="5884042"/>
            <a:ext cx="2957974" cy="165481"/>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0">
                <a:solidFill>
                  <a:srgbClr val="333639"/>
                </a:solidFill>
                <a:latin typeface="Fira Sans"/>
              </a:rPr>
              <a:t>pure exploration — never exploits</a:t>
            </a:r>
          </a:p>
        </p:txBody>
      </p:sp>
      <p:sp>
        <p:nvSpPr>
          <p:cNvPr id="34" name="TextBox 33"/>
          <p:cNvSpPr txBox="1"/>
          <p:nvPr/>
        </p:nvSpPr>
        <p:spPr>
          <a:xfrm>
            <a:off x="4727886" y="5884042"/>
            <a:ext cx="2565367" cy="165481"/>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0">
                <a:solidFill>
                  <a:srgbClr val="333639"/>
                </a:solidFill>
                <a:latin typeface="Fira Sans"/>
              </a:rPr>
              <a:t>10.0%</a:t>
            </a:r>
          </a:p>
        </p:txBody>
      </p:sp>
      <p:sp>
        <p:nvSpPr>
          <p:cNvPr id="35" name="Rectangle 34"/>
          <p:cNvSpPr/>
          <p:nvPr/>
        </p:nvSpPr>
        <p:spPr>
          <a:xfrm>
            <a:off x="841248" y="6094328"/>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Rectangle 35"/>
          <p:cNvSpPr/>
          <p:nvPr/>
        </p:nvSpPr>
        <p:spPr>
          <a:xfrm>
            <a:off x="7618780" y="1316736"/>
            <a:ext cx="3731940" cy="3211322"/>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Rectangle 36"/>
          <p:cNvSpPr/>
          <p:nvPr/>
        </p:nvSpPr>
        <p:spPr>
          <a:xfrm>
            <a:off x="7618780" y="1316736"/>
            <a:ext cx="41148" cy="3211322"/>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7801660" y="1399032"/>
            <a:ext cx="3366180"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epsilon_greedy</a:t>
            </a:r>
          </a:p>
        </p:txBody>
      </p:sp>
      <p:sp>
        <p:nvSpPr>
          <p:cNvPr id="39" name="TextBox 38"/>
          <p:cNvSpPr txBox="1"/>
          <p:nvPr/>
        </p:nvSpPr>
        <p:spPr>
          <a:xfrm>
            <a:off x="7801660" y="1700784"/>
            <a:ext cx="3421044" cy="2754122"/>
          </a:xfrm>
          <a:prstGeom prst="rect">
            <a:avLst/>
          </a:prstGeom>
          <a:noFill/>
        </p:spPr>
        <p:txBody>
          <a:bodyPr wrap="none" lIns="0" tIns="0" rIns="0" bIns="0" anchor="t">
            <a:noAutofit/>
          </a:bodyPr>
          <a:lstStyle/>
          <a:p>
            <a:pPr marL="0" indent="0" algn="l">
              <a:lnSpc>
                <a:spcPts val="1070"/>
              </a:lnSpc>
              <a:spcBef>
                <a:spcPts val="0"/>
              </a:spcBef>
              <a:spcAft>
                <a:spcPts val="0"/>
              </a:spcAft>
              <a:buNone/>
            </a:pPr>
            <a:r>
              <a:rPr sz="823" b="0" i="0">
                <a:solidFill>
                  <a:srgbClr val="1F2A37"/>
                </a:solidFill>
                <a:latin typeface="Consolas"/>
              </a:rPr>
              <a:t>def epsilon_greedy(env, epsilon=0.01, n_episodes=1000):</a:t>
            </a:r>
          </a:p>
          <a:p>
            <a:pPr marL="0" indent="0" algn="l">
              <a:lnSpc>
                <a:spcPts val="1070"/>
              </a:lnSpc>
              <a:spcBef>
                <a:spcPts val="0"/>
              </a:spcBef>
              <a:spcAft>
                <a:spcPts val="0"/>
              </a:spcAft>
              <a:buNone/>
            </a:pPr>
            <a:r>
              <a:rPr sz="823" b="0" i="0">
                <a:solidFill>
                  <a:srgbClr val="333639"/>
                </a:solidFill>
                <a:latin typeface="Consolas"/>
              </a:rPr>
              <a:t> </a:t>
            </a:r>
          </a:p>
          <a:p>
            <a:pPr marL="0" indent="0" algn="l">
              <a:lnSpc>
                <a:spcPts val="1070"/>
              </a:lnSpc>
              <a:spcBef>
                <a:spcPts val="0"/>
              </a:spcBef>
              <a:spcAft>
                <a:spcPts val="0"/>
              </a:spcAft>
              <a:buNone/>
            </a:pPr>
            <a:r>
              <a:rPr sz="823" b="0" i="0">
                <a:solidFill>
                  <a:srgbClr val="1F2A37"/>
                </a:solidFill>
                <a:latin typeface="Consolas"/>
              </a:rPr>
              <a:t>    Q = np.zeros(env.k, dtype=float)</a:t>
            </a:r>
          </a:p>
          <a:p>
            <a:pPr marL="0" indent="0" algn="l">
              <a:lnSpc>
                <a:spcPts val="1070"/>
              </a:lnSpc>
              <a:spcBef>
                <a:spcPts val="0"/>
              </a:spcBef>
              <a:spcAft>
                <a:spcPts val="0"/>
              </a:spcAft>
              <a:buNone/>
            </a:pPr>
            <a:r>
              <a:rPr sz="823" b="0" i="0">
                <a:solidFill>
                  <a:srgbClr val="1F2A37"/>
                </a:solidFill>
                <a:latin typeface="Consolas"/>
              </a:rPr>
              <a:t>    N = np.zeros(env.k, dtype=int)</a:t>
            </a:r>
          </a:p>
          <a:p>
            <a:pPr marL="0" indent="0" algn="l">
              <a:lnSpc>
                <a:spcPts val="1070"/>
              </a:lnSpc>
              <a:spcBef>
                <a:spcPts val="0"/>
              </a:spcBef>
              <a:spcAft>
                <a:spcPts val="0"/>
              </a:spcAft>
              <a:buNone/>
            </a:pPr>
            <a:r>
              <a:rPr sz="823" b="0" i="0">
                <a:solidFill>
                  <a:srgbClr val="333639"/>
                </a:solidFill>
                <a:latin typeface="Consolas"/>
              </a:rPr>
              <a:t> </a:t>
            </a:r>
          </a:p>
          <a:p>
            <a:pPr marL="0" indent="0" algn="l">
              <a:lnSpc>
                <a:spcPts val="1070"/>
              </a:lnSpc>
              <a:spcBef>
                <a:spcPts val="0"/>
              </a:spcBef>
              <a:spcAft>
                <a:spcPts val="0"/>
              </a:spcAft>
              <a:buNone/>
            </a:pPr>
            <a:r>
              <a:rPr sz="823" b="0" i="0">
                <a:solidFill>
                  <a:srgbClr val="1F2A37"/>
                </a:solidFill>
                <a:latin typeface="Consolas"/>
              </a:rPr>
              <a:t>    for e in range(n_episodes):</a:t>
            </a:r>
          </a:p>
          <a:p>
            <a:pPr marL="0" indent="0" algn="l">
              <a:lnSpc>
                <a:spcPts val="1070"/>
              </a:lnSpc>
              <a:spcBef>
                <a:spcPts val="0"/>
              </a:spcBef>
              <a:spcAft>
                <a:spcPts val="0"/>
              </a:spcAft>
              <a:buNone/>
            </a:pPr>
            <a:r>
              <a:rPr sz="823" b="0" i="0">
                <a:solidFill>
                  <a:srgbClr val="333639"/>
                </a:solidFill>
                <a:latin typeface="Consolas"/>
              </a:rPr>
              <a:t> </a:t>
            </a:r>
          </a:p>
          <a:p>
            <a:pPr marL="0" indent="0" algn="l">
              <a:lnSpc>
                <a:spcPts val="1070"/>
              </a:lnSpc>
              <a:spcBef>
                <a:spcPts val="0"/>
              </a:spcBef>
              <a:spcAft>
                <a:spcPts val="0"/>
              </a:spcAft>
              <a:buNone/>
            </a:pPr>
            <a:r>
              <a:rPr sz="823" b="1" i="0">
                <a:solidFill>
                  <a:srgbClr val="574676"/>
                </a:solidFill>
                <a:latin typeface="Consolas"/>
              </a:rPr>
              <a:t>        if np.random.rand() &lt; epsilon:</a:t>
            </a:r>
          </a:p>
          <a:p>
            <a:pPr marL="0" indent="0" algn="l">
              <a:lnSpc>
                <a:spcPts val="1070"/>
              </a:lnSpc>
              <a:spcBef>
                <a:spcPts val="0"/>
              </a:spcBef>
              <a:spcAft>
                <a:spcPts val="0"/>
              </a:spcAft>
              <a:buNone/>
            </a:pPr>
            <a:r>
              <a:rPr sz="823" b="0" i="0">
                <a:solidFill>
                  <a:srgbClr val="1F2A37"/>
                </a:solidFill>
                <a:latin typeface="Consolas"/>
              </a:rPr>
              <a:t>            </a:t>
            </a:r>
            <a:r>
              <a:rPr sz="823" b="0" i="1">
                <a:solidFill>
                  <a:srgbClr val="768896"/>
                </a:solidFill>
                <a:latin typeface="Consolas"/>
              </a:rPr>
              <a:t># explore: uniform over all k actions</a:t>
            </a:r>
          </a:p>
          <a:p>
            <a:pPr marL="0" indent="0" algn="l">
              <a:lnSpc>
                <a:spcPts val="1070"/>
              </a:lnSpc>
              <a:spcBef>
                <a:spcPts val="0"/>
              </a:spcBef>
              <a:spcAft>
                <a:spcPts val="0"/>
              </a:spcAft>
              <a:buNone/>
            </a:pPr>
            <a:r>
              <a:rPr sz="823" b="1" i="0">
                <a:solidFill>
                  <a:srgbClr val="574676"/>
                </a:solidFill>
                <a:latin typeface="Consolas"/>
              </a:rPr>
              <a:t>            action = np.random.randint(env.k)</a:t>
            </a:r>
          </a:p>
          <a:p>
            <a:pPr marL="0" indent="0" algn="l">
              <a:lnSpc>
                <a:spcPts val="1070"/>
              </a:lnSpc>
              <a:spcBef>
                <a:spcPts val="0"/>
              </a:spcBef>
              <a:spcAft>
                <a:spcPts val="0"/>
              </a:spcAft>
              <a:buNone/>
            </a:pPr>
            <a:r>
              <a:rPr sz="823" b="0" i="0">
                <a:solidFill>
                  <a:srgbClr val="1F2A37"/>
                </a:solidFill>
                <a:latin typeface="Consolas"/>
              </a:rPr>
              <a:t>        else:</a:t>
            </a:r>
          </a:p>
          <a:p>
            <a:pPr marL="0" indent="0" algn="l">
              <a:lnSpc>
                <a:spcPts val="1070"/>
              </a:lnSpc>
              <a:spcBef>
                <a:spcPts val="0"/>
              </a:spcBef>
              <a:spcAft>
                <a:spcPts val="0"/>
              </a:spcAft>
              <a:buNone/>
            </a:pPr>
            <a:r>
              <a:rPr sz="823" b="0" i="0">
                <a:solidFill>
                  <a:srgbClr val="1F2A37"/>
                </a:solidFill>
                <a:latin typeface="Consolas"/>
              </a:rPr>
              <a:t>            </a:t>
            </a:r>
            <a:r>
              <a:rPr sz="823" b="0" i="1">
                <a:solidFill>
                  <a:srgbClr val="768896"/>
                </a:solidFill>
                <a:latin typeface="Consolas"/>
              </a:rPr>
              <a:t># exploit: among the greedy actions</a:t>
            </a:r>
          </a:p>
          <a:p>
            <a:pPr marL="0" indent="0" algn="l">
              <a:lnSpc>
                <a:spcPts val="1070"/>
              </a:lnSpc>
              <a:spcBef>
                <a:spcPts val="0"/>
              </a:spcBef>
              <a:spcAft>
                <a:spcPts val="0"/>
              </a:spcAft>
              <a:buNone/>
            </a:pPr>
            <a:r>
              <a:rPr sz="823" b="1" i="0">
                <a:solidFill>
                  <a:srgbClr val="574676"/>
                </a:solidFill>
                <a:latin typeface="Consolas"/>
              </a:rPr>
              <a:t>            action = np.random.choice(</a:t>
            </a:r>
          </a:p>
          <a:p>
            <a:pPr marL="0" indent="0" algn="l">
              <a:lnSpc>
                <a:spcPts val="1070"/>
              </a:lnSpc>
              <a:spcBef>
                <a:spcPts val="0"/>
              </a:spcBef>
              <a:spcAft>
                <a:spcPts val="0"/>
              </a:spcAft>
              <a:buNone/>
            </a:pPr>
            <a:r>
              <a:rPr sz="823" b="1" i="0">
                <a:solidFill>
                  <a:srgbClr val="574676"/>
                </a:solidFill>
                <a:latin typeface="Consolas"/>
              </a:rPr>
              <a:t>                np.flatnonzero(Q == Q.max()))</a:t>
            </a:r>
          </a:p>
          <a:p>
            <a:pPr marL="0" indent="0" algn="l">
              <a:lnSpc>
                <a:spcPts val="1070"/>
              </a:lnSpc>
              <a:spcBef>
                <a:spcPts val="0"/>
              </a:spcBef>
              <a:spcAft>
                <a:spcPts val="0"/>
              </a:spcAft>
              <a:buNone/>
            </a:pPr>
            <a:r>
              <a:rPr sz="823" b="0" i="0">
                <a:solidFill>
                  <a:srgbClr val="333639"/>
                </a:solidFill>
                <a:latin typeface="Consolas"/>
              </a:rPr>
              <a:t> </a:t>
            </a:r>
          </a:p>
          <a:p>
            <a:pPr marL="0" indent="0" algn="l">
              <a:lnSpc>
                <a:spcPts val="1070"/>
              </a:lnSpc>
              <a:spcBef>
                <a:spcPts val="0"/>
              </a:spcBef>
              <a:spcAft>
                <a:spcPts val="0"/>
              </a:spcAft>
              <a:buNone/>
            </a:pPr>
            <a:r>
              <a:rPr sz="823" b="0" i="0">
                <a:solidFill>
                  <a:srgbClr val="1F2A37"/>
                </a:solidFill>
                <a:latin typeface="Consolas"/>
              </a:rPr>
              <a:t>        reward = env.step(action)</a:t>
            </a:r>
          </a:p>
          <a:p>
            <a:pPr marL="0" indent="0" algn="l">
              <a:lnSpc>
                <a:spcPts val="1070"/>
              </a:lnSpc>
              <a:spcBef>
                <a:spcPts val="0"/>
              </a:spcBef>
              <a:spcAft>
                <a:spcPts val="0"/>
              </a:spcAft>
              <a:buNone/>
            </a:pPr>
            <a:r>
              <a:rPr sz="823" b="0" i="0">
                <a:solidFill>
                  <a:srgbClr val="333639"/>
                </a:solidFill>
                <a:latin typeface="Consolas"/>
              </a:rPr>
              <a:t> </a:t>
            </a:r>
          </a:p>
          <a:p>
            <a:pPr marL="0" indent="0" algn="l">
              <a:lnSpc>
                <a:spcPts val="1070"/>
              </a:lnSpc>
              <a:spcBef>
                <a:spcPts val="0"/>
              </a:spcBef>
              <a:spcAft>
                <a:spcPts val="0"/>
              </a:spcAft>
              <a:buNone/>
            </a:pPr>
            <a:r>
              <a:rPr sz="823" b="0" i="0">
                <a:solidFill>
                  <a:srgbClr val="1F2A37"/>
                </a:solidFill>
                <a:latin typeface="Consolas"/>
              </a:rPr>
              <a:t>        </a:t>
            </a:r>
            <a:r>
              <a:rPr sz="823" b="0" i="1">
                <a:solidFill>
                  <a:srgbClr val="768896"/>
                </a:solidFill>
                <a:latin typeface="Consolas"/>
              </a:rPr>
              <a:t># sample-average update, as in Part II</a:t>
            </a:r>
          </a:p>
          <a:p>
            <a:pPr marL="0" indent="0" algn="l">
              <a:lnSpc>
                <a:spcPts val="1070"/>
              </a:lnSpc>
              <a:spcBef>
                <a:spcPts val="0"/>
              </a:spcBef>
              <a:spcAft>
                <a:spcPts val="0"/>
              </a:spcAft>
              <a:buNone/>
            </a:pPr>
            <a:r>
              <a:rPr sz="823" b="0" i="0">
                <a:solidFill>
                  <a:srgbClr val="1F2A37"/>
                </a:solidFill>
                <a:latin typeface="Consolas"/>
              </a:rPr>
              <a:t>        N[action] += 1</a:t>
            </a:r>
          </a:p>
          <a:p>
            <a:pPr marL="0" indent="0" algn="l">
              <a:lnSpc>
                <a:spcPts val="1070"/>
              </a:lnSpc>
              <a:spcBef>
                <a:spcPts val="0"/>
              </a:spcBef>
              <a:spcAft>
                <a:spcPts val="0"/>
              </a:spcAft>
              <a:buNone/>
            </a:pPr>
            <a:r>
              <a:rPr sz="823" b="0" i="0">
                <a:solidFill>
                  <a:srgbClr val="1F2A37"/>
                </a:solidFill>
                <a:latin typeface="Consolas"/>
              </a:rPr>
              <a:t>        Q[action] += (reward - Q[action]) / N[action]</a:t>
            </a:r>
          </a:p>
        </p:txBody>
      </p:sp>
      <p:sp>
        <p:nvSpPr>
          <p:cNvPr id="40" name="Rectangle 39"/>
          <p:cNvSpPr/>
          <p:nvPr/>
        </p:nvSpPr>
        <p:spPr>
          <a:xfrm>
            <a:off x="7618780" y="4765802"/>
            <a:ext cx="3731940" cy="98618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Rectangle 40"/>
          <p:cNvSpPr/>
          <p:nvPr/>
        </p:nvSpPr>
        <p:spPr>
          <a:xfrm>
            <a:off x="7618780" y="4765802"/>
            <a:ext cx="41148" cy="986180"/>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7838236" y="4912106"/>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9AA6B2"/>
                </a:solidFill>
                <a:latin typeface="Fira Sans"/>
              </a:rPr>
              <a:t>WHAT IS NEW HERE</a:t>
            </a:r>
          </a:p>
        </p:txBody>
      </p:sp>
      <p:sp>
        <p:nvSpPr>
          <p:cNvPr id="43" name="TextBox 42"/>
          <p:cNvSpPr txBox="1"/>
          <p:nvPr/>
        </p:nvSpPr>
        <p:spPr>
          <a:xfrm>
            <a:off x="7838236" y="5149850"/>
            <a:ext cx="3347892" cy="45582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The estimator is the incremental sample average of Part II, unchanged. Only the two lines that pick the action are new — which is what makes the comparison in §4.4 fair.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4.4  AVERAGE REWARD: THE FOUR BASELINES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first measure, and it already separates the strategies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IV — Basic exploration strategies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25</a:t>
            </a:r>
          </a:p>
        </p:txBody>
      </p:sp>
      <p:sp>
        <p:nvSpPr>
          <p:cNvPr id="8" name="TextBox 7"/>
          <p:cNvSpPr txBox="1"/>
          <p:nvPr/>
        </p:nvSpPr>
        <p:spPr>
          <a:xfrm>
            <a:off x="841248" y="1316736"/>
            <a:ext cx="6543446" cy="610628"/>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Averaged over 2000 independent bandits, the four strategies separate within a hundred steps. Pure exploitation rises fastest and then stops; pure exploration never rises at all; the two ε-greedy settings trade speed against ceiling.</a:t>
            </a:r>
          </a:p>
        </p:txBody>
      </p:sp>
      <p:pic>
        <p:nvPicPr>
          <p:cNvPr id="9" name="Picture 8" descr="reward_basic.png"/>
          <p:cNvPicPr>
            <a:picLocks noChangeAspect="1"/>
          </p:cNvPicPr>
          <p:nvPr/>
        </p:nvPicPr>
        <p:blipFill>
          <a:blip r:embed="rId2"/>
          <a:stretch>
            <a:fillRect/>
          </a:stretch>
        </p:blipFill>
        <p:spPr>
          <a:xfrm>
            <a:off x="1449755" y="2110244"/>
            <a:ext cx="5326429" cy="2834640"/>
          </a:xfrm>
          <a:prstGeom prst="rect">
            <a:avLst/>
          </a:prstGeom>
        </p:spPr>
      </p:pic>
      <p:sp>
        <p:nvSpPr>
          <p:cNvPr id="10" name="TextBox 9"/>
          <p:cNvSpPr txBox="1"/>
          <p:nvPr/>
        </p:nvSpPr>
        <p:spPr>
          <a:xfrm>
            <a:off x="841248" y="5018036"/>
            <a:ext cx="6543446"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a:solidFill>
                  <a:srgbClr val="626669"/>
                </a:solidFill>
                <a:latin typeface="Fira Sans"/>
              </a:rPr>
              <a:t>Average reward at each step, over 2000 bandit problems.</a:t>
            </a:r>
          </a:p>
        </p:txBody>
      </p:sp>
      <p:sp>
        <p:nvSpPr>
          <p:cNvPr id="11" name="TextBox 10"/>
          <p:cNvSpPr txBox="1"/>
          <p:nvPr/>
        </p:nvSpPr>
        <p:spPr>
          <a:xfrm>
            <a:off x="7618780" y="1316736"/>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READING THE CURVES</a:t>
            </a:r>
          </a:p>
        </p:txBody>
      </p:sp>
      <p:sp>
        <p:nvSpPr>
          <p:cNvPr id="12" name="TextBox 11"/>
          <p:cNvSpPr txBox="1"/>
          <p:nvPr/>
        </p:nvSpPr>
        <p:spPr>
          <a:xfrm>
            <a:off x="7618780" y="1572768"/>
            <a:ext cx="3731940" cy="1336202"/>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0" i="0">
                <a:solidFill>
                  <a:srgbClr val="333639"/>
                </a:solidFill>
                <a:latin typeface="Fira Sans"/>
              </a:rPr>
              <a:t>Pure exploration is flat at about 0 — it keeps sampling every arm uniformly, so its expected reward is the </a:t>
            </a:r>
            <a:r>
              <a:rPr sz="1092" b="1" i="0">
                <a:solidFill>
                  <a:srgbClr val="C8102E"/>
                </a:solidFill>
                <a:latin typeface="Fira Sans"/>
              </a:rPr>
              <a:t>average arm</a:t>
            </a:r>
            <a:r>
              <a:rPr sz="1092" b="0" i="0">
                <a:solidFill>
                  <a:srgbClr val="333639"/>
                </a:solidFill>
                <a:latin typeface="Fira Sans"/>
              </a:rPr>
              <a:t>, forever.</a:t>
            </a:r>
          </a:p>
          <a:p>
            <a:pPr marL="182880" indent="-182880" algn="l">
              <a:lnSpc>
                <a:spcPts val="1223"/>
              </a:lnSpc>
              <a:spcBef>
                <a:spcPts val="800"/>
              </a:spcBef>
              <a:spcAft>
                <a:spcPts val="0"/>
              </a:spcAft>
              <a:buClr>
                <a:srgbClr val="1971C2"/>
              </a:buClr>
              <a:buFont typeface="Fira Sans"/>
              <a:buChar char="–"/>
            </a:pPr>
            <a:r>
              <a:rPr sz="1092" b="0" i="0">
                <a:solidFill>
                  <a:srgbClr val="333639"/>
                </a:solidFill>
                <a:latin typeface="Fira Sans"/>
              </a:rPr>
              <a:t>Pure exploitation improves quickly and then </a:t>
            </a:r>
            <a:r>
              <a:rPr sz="1092" b="1" i="0">
                <a:solidFill>
                  <a:srgbClr val="25282A"/>
                </a:solidFill>
                <a:latin typeface="Fira Sans"/>
              </a:rPr>
              <a:t>plateaus well below the optimum</a:t>
            </a:r>
            <a:r>
              <a:rPr sz="1092" b="0" i="0">
                <a:solidFill>
                  <a:srgbClr val="333639"/>
                </a:solidFill>
                <a:latin typeface="Fira Sans"/>
              </a:rPr>
              <a:t>.</a:t>
            </a:r>
          </a:p>
          <a:p>
            <a:pPr marL="182880" indent="-182880" algn="l">
              <a:lnSpc>
                <a:spcPts val="1223"/>
              </a:lnSpc>
              <a:spcBef>
                <a:spcPts val="800"/>
              </a:spcBef>
              <a:spcAft>
                <a:spcPts val="0"/>
              </a:spcAft>
              <a:buClr>
                <a:srgbClr val="1971C2"/>
              </a:buClr>
              <a:buFont typeface="Fira Sans"/>
              <a:buChar char="–"/>
            </a:pPr>
            <a:r>
              <a:rPr sz="1092" b="0" i="0">
                <a:solidFill>
                  <a:srgbClr val="333639"/>
                </a:solidFill>
                <a:latin typeface="Fira Sans"/>
              </a:rPr>
              <a:t>ε = 0.2 learns fast; ε = 0.01 learns slowly but is still climbing at step 1000.</a:t>
            </a:r>
          </a:p>
        </p:txBody>
      </p:sp>
      <p:sp>
        <p:nvSpPr>
          <p:cNvPr id="13" name="Rectangle 12"/>
          <p:cNvSpPr/>
          <p:nvPr/>
        </p:nvSpPr>
        <p:spPr>
          <a:xfrm>
            <a:off x="7618780" y="3165002"/>
            <a:ext cx="3731940" cy="1362456"/>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7618780" y="3165002"/>
            <a:ext cx="41148" cy="1362456"/>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838236" y="3311306"/>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8A5100"/>
                </a:solidFill>
                <a:latin typeface="Fira Sans"/>
              </a:rPr>
              <a:t>WHAT IT HIDES</a:t>
            </a:r>
          </a:p>
        </p:txBody>
      </p:sp>
      <p:sp>
        <p:nvSpPr>
          <p:cNvPr id="16" name="TextBox 15"/>
          <p:cNvSpPr txBox="1"/>
          <p:nvPr/>
        </p:nvSpPr>
        <p:spPr>
          <a:xfrm>
            <a:off x="7838236" y="3549050"/>
            <a:ext cx="3347892" cy="83210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Average reward is the most immediate measure, but it does not tell the whole story. It cannot distinguish </a:t>
            </a:r>
            <a:r>
              <a:rPr sz="1092" b="0" i="1">
                <a:solidFill>
                  <a:srgbClr val="333639"/>
                </a:solidFill>
                <a:latin typeface="Fira Sans"/>
              </a:rPr>
              <a:t>“the agent has not found the best arm”</a:t>
            </a:r>
            <a:r>
              <a:rPr sz="1092" b="0" i="0">
                <a:solidFill>
                  <a:srgbClr val="333639"/>
                </a:solidFill>
                <a:latin typeface="Fira Sans"/>
              </a:rPr>
              <a:t> from </a:t>
            </a:r>
            <a:r>
              <a:rPr sz="1092" b="0" i="1">
                <a:solidFill>
                  <a:srgbClr val="333639"/>
                </a:solidFill>
                <a:latin typeface="Fira Sans"/>
              </a:rPr>
              <a:t>“the agent has found it but keeps leaving it”</a:t>
            </a:r>
            <a:r>
              <a:rPr sz="1092" b="0" i="0">
                <a:solidFill>
                  <a:srgbClr val="333639"/>
                </a:solidFill>
                <a:latin typeface="Fira Sans"/>
              </a:rPr>
              <a:t>. The next slide separates those two.</a:t>
            </a:r>
          </a:p>
        </p:txBody>
      </p:sp>
      <p:sp>
        <p:nvSpPr>
          <p:cNvPr id="17" name="Rectangle 16"/>
          <p:cNvSpPr/>
          <p:nvPr/>
        </p:nvSpPr>
        <p:spPr>
          <a:xfrm>
            <a:off x="7618780" y="4765202"/>
            <a:ext cx="3731940" cy="1008126"/>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7618780" y="4765202"/>
            <a:ext cx="41148" cy="1008126"/>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838236" y="4911506"/>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9AA6B2"/>
                </a:solidFill>
                <a:latin typeface="Fira Sans"/>
              </a:rPr>
              <a:t>WHY 2000 PROBLEMS</a:t>
            </a:r>
          </a:p>
        </p:txBody>
      </p:sp>
      <p:sp>
        <p:nvSpPr>
          <p:cNvPr id="20" name="TextBox 19"/>
          <p:cNvSpPr txBox="1"/>
          <p:nvPr/>
        </p:nvSpPr>
        <p:spPr>
          <a:xfrm>
            <a:off x="7838236" y="5149250"/>
            <a:ext cx="3347892" cy="477773"/>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A single run on a single bandit would tell us nothing: both the problem and its rewards are random, so a strategy can look good purely by luck.</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4.5  OPTIMAL-ACTION RATE: SPEED VERSUS CEILING</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strategy that learns faster is the one that can never be right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IV — Basic exploration strategies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26</a:t>
            </a:r>
          </a:p>
        </p:txBody>
      </p:sp>
      <p:sp>
        <p:nvSpPr>
          <p:cNvPr id="8" name="TextBox 7"/>
          <p:cNvSpPr txBox="1"/>
          <p:nvPr/>
        </p:nvSpPr>
        <p:spPr>
          <a:xfrm>
            <a:off x="841248" y="1316736"/>
            <a:ext cx="6543446"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The fraction of runs that select the </a:t>
            </a:r>
            <a:r>
              <a:rPr sz="1235" b="1" i="1">
                <a:solidFill>
                  <a:srgbClr val="25282A"/>
                </a:solidFill>
                <a:latin typeface="Fira Sans"/>
              </a:rPr>
              <a:t>true</a:t>
            </a:r>
            <a:r>
              <a:rPr sz="1235" b="0" i="0">
                <a:solidFill>
                  <a:srgbClr val="333639"/>
                </a:solidFill>
                <a:latin typeface="Fira Sans"/>
              </a:rPr>
              <a:t> optimal action at each step reveals what the reward curve hides — in particular, the </a:t>
            </a:r>
            <a:r>
              <a:rPr sz="1235" b="1" i="0">
                <a:solidFill>
                  <a:srgbClr val="C8102E"/>
                </a:solidFill>
                <a:latin typeface="Fira Sans"/>
              </a:rPr>
              <a:t>permanent</a:t>
            </a:r>
            <a:r>
              <a:rPr sz="1235" b="0" i="0">
                <a:solidFill>
                  <a:srgbClr val="333639"/>
                </a:solidFill>
                <a:latin typeface="Fira Sans"/>
              </a:rPr>
              <a:t> cost of a fixed exploration rate.</a:t>
            </a:r>
          </a:p>
        </p:txBody>
      </p:sp>
      <p:pic>
        <p:nvPicPr>
          <p:cNvPr id="9" name="Picture 8" descr="optimal_basic.png"/>
          <p:cNvPicPr>
            <a:picLocks noChangeAspect="1"/>
          </p:cNvPicPr>
          <p:nvPr/>
        </p:nvPicPr>
        <p:blipFill>
          <a:blip r:embed="rId2"/>
          <a:stretch>
            <a:fillRect/>
          </a:stretch>
        </p:blipFill>
        <p:spPr>
          <a:xfrm>
            <a:off x="1517891" y="1900604"/>
            <a:ext cx="5190158" cy="2743200"/>
          </a:xfrm>
          <a:prstGeom prst="rect">
            <a:avLst/>
          </a:prstGeom>
        </p:spPr>
      </p:pic>
      <p:sp>
        <p:nvSpPr>
          <p:cNvPr id="10" name="TextBox 9"/>
          <p:cNvSpPr txBox="1"/>
          <p:nvPr/>
        </p:nvSpPr>
        <p:spPr>
          <a:xfrm>
            <a:off x="841248" y="4716957"/>
            <a:ext cx="6543446"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a:solidFill>
                  <a:srgbClr val="626669"/>
                </a:solidFill>
                <a:latin typeface="Fira Sans"/>
              </a:rPr>
              <a:t>Dotted lines: the theoretical ceiling 1 − ε + ε/k for each ε.</a:t>
            </a:r>
          </a:p>
        </p:txBody>
      </p:sp>
      <p:sp>
        <p:nvSpPr>
          <p:cNvPr id="11" name="TextBox 10"/>
          <p:cNvSpPr txBox="1"/>
          <p:nvPr/>
        </p:nvSpPr>
        <p:spPr>
          <a:xfrm>
            <a:off x="7618780" y="1316736"/>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TWO FAILURES, SIDE BY SIDE</a:t>
            </a:r>
          </a:p>
        </p:txBody>
      </p:sp>
      <p:sp>
        <p:nvSpPr>
          <p:cNvPr id="12" name="TextBox 11"/>
          <p:cNvSpPr txBox="1"/>
          <p:nvPr/>
        </p:nvSpPr>
        <p:spPr>
          <a:xfrm>
            <a:off x="7618780" y="1572768"/>
            <a:ext cx="3731940" cy="1234602"/>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0" i="0">
                <a:solidFill>
                  <a:srgbClr val="333639"/>
                </a:solidFill>
                <a:latin typeface="Fira Sans"/>
              </a:rPr>
              <a:t>Pure exploitation plateaus at about 37%. In most of the 2000 problems an early lucky reward made a suboptimal arm look best, and without exploration the agent never discovers the mistake.</a:t>
            </a:r>
          </a:p>
          <a:p>
            <a:pPr marL="182880" indent="-182880" algn="l">
              <a:lnSpc>
                <a:spcPts val="1223"/>
              </a:lnSpc>
              <a:spcBef>
                <a:spcPts val="800"/>
              </a:spcBef>
              <a:spcAft>
                <a:spcPts val="0"/>
              </a:spcAft>
              <a:buClr>
                <a:srgbClr val="1971C2"/>
              </a:buClr>
              <a:buFont typeface="Fira Sans"/>
              <a:buChar char="–"/>
            </a:pPr>
            <a:r>
              <a:rPr sz="1092" b="0" i="0">
                <a:solidFill>
                  <a:srgbClr val="333639"/>
                </a:solidFill>
                <a:latin typeface="Fira Sans"/>
              </a:rPr>
              <a:t>Pure exploration sits at 1/k = 10%, by construction. It learns every value accurately and </a:t>
            </a:r>
            <a:r>
              <a:rPr sz="1092" b="1" i="0">
                <a:solidFill>
                  <a:srgbClr val="C8102E"/>
                </a:solidFill>
                <a:latin typeface="Fira Sans"/>
              </a:rPr>
              <a:t>never uses that knowledge</a:t>
            </a:r>
            <a:r>
              <a:rPr sz="1092" b="0" i="0">
                <a:solidFill>
                  <a:srgbClr val="333639"/>
                </a:solidFill>
                <a:latin typeface="Fira Sans"/>
              </a:rPr>
              <a:t>.</a:t>
            </a:r>
          </a:p>
        </p:txBody>
      </p:sp>
      <p:sp>
        <p:nvSpPr>
          <p:cNvPr id="13" name="TextBox 12"/>
          <p:cNvSpPr txBox="1"/>
          <p:nvPr/>
        </p:nvSpPr>
        <p:spPr>
          <a:xfrm>
            <a:off x="7618780" y="3045114"/>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AND THE TRADE-OFF THIS EXPOSES</a:t>
            </a:r>
          </a:p>
        </p:txBody>
      </p:sp>
      <p:sp>
        <p:nvSpPr>
          <p:cNvPr id="14" name="TextBox 13"/>
          <p:cNvSpPr txBox="1"/>
          <p:nvPr/>
        </p:nvSpPr>
        <p:spPr>
          <a:xfrm>
            <a:off x="7618780" y="3301146"/>
            <a:ext cx="3731940" cy="923950"/>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0" i="0">
                <a:solidFill>
                  <a:srgbClr val="333639"/>
                </a:solidFill>
                <a:latin typeface="Fira Sans"/>
              </a:rPr>
              <a:t>ε = 0.2 climbs quickly, but can never exceed </a:t>
            </a:r>
            <a:r>
              <a:rPr sz="1092" b="1" i="0">
                <a:solidFill>
                  <a:srgbClr val="574676"/>
                </a:solidFill>
                <a:latin typeface="Fira Sans"/>
              </a:rPr>
              <a:t>82%</a:t>
            </a:r>
            <a:r>
              <a:rPr sz="1092" b="0" i="0">
                <a:solidFill>
                  <a:srgbClr val="333639"/>
                </a:solidFill>
                <a:latin typeface="Fira Sans"/>
              </a:rPr>
              <a:t>: one step in five is thrown away even after the best arm is known.</a:t>
            </a:r>
          </a:p>
          <a:p>
            <a:pPr marL="182880" indent="-182880" algn="l">
              <a:lnSpc>
                <a:spcPts val="1223"/>
              </a:lnSpc>
              <a:spcBef>
                <a:spcPts val="800"/>
              </a:spcBef>
              <a:spcAft>
                <a:spcPts val="0"/>
              </a:spcAft>
              <a:buClr>
                <a:srgbClr val="1971C2"/>
              </a:buClr>
              <a:buFont typeface="Fira Sans"/>
              <a:buChar char="–"/>
            </a:pPr>
            <a:r>
              <a:rPr sz="1092" b="0" i="0">
                <a:solidFill>
                  <a:srgbClr val="333639"/>
                </a:solidFill>
                <a:latin typeface="Fira Sans"/>
              </a:rPr>
              <a:t>ε = 0.01 climbs slowly, but its ceiling is </a:t>
            </a:r>
            <a:r>
              <a:rPr sz="1092" b="1" i="0">
                <a:solidFill>
                  <a:srgbClr val="574676"/>
                </a:solidFill>
                <a:latin typeface="Fira Sans"/>
              </a:rPr>
              <a:t>99%</a:t>
            </a:r>
            <a:r>
              <a:rPr sz="1092" b="0" i="0">
                <a:solidFill>
                  <a:srgbClr val="333639"/>
                </a:solidFill>
                <a:latin typeface="Fira Sans"/>
              </a:rPr>
              <a:t> — given enough time it wins comfortably.</a:t>
            </a:r>
          </a:p>
        </p:txBody>
      </p:sp>
      <p:sp>
        <p:nvSpPr>
          <p:cNvPr id="15" name="Rectangle 14"/>
          <p:cNvSpPr/>
          <p:nvPr/>
        </p:nvSpPr>
        <p:spPr>
          <a:xfrm>
            <a:off x="7618780" y="4462840"/>
            <a:ext cx="3731940" cy="1167384"/>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7618780" y="4462840"/>
            <a:ext cx="41148" cy="1167384"/>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838236" y="4609144"/>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THE FUNDAMENTAL LIMITATION</a:t>
            </a:r>
          </a:p>
        </p:txBody>
      </p:sp>
      <p:sp>
        <p:nvSpPr>
          <p:cNvPr id="18" name="TextBox 17"/>
          <p:cNvSpPr txBox="1"/>
          <p:nvPr/>
        </p:nvSpPr>
        <p:spPr>
          <a:xfrm>
            <a:off x="7838236" y="4846888"/>
            <a:ext cx="3347892" cy="637031"/>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A fixed ε forces one exploration rate for the whole run, although the agent’s </a:t>
            </a:r>
            <a:r>
              <a:rPr sz="1045" b="1" i="0">
                <a:solidFill>
                  <a:srgbClr val="333639"/>
                </a:solidFill>
                <a:latin typeface="Fira Sans"/>
              </a:rPr>
              <a:t>need</a:t>
            </a:r>
            <a:r>
              <a:rPr sz="1045" b="0" i="0">
                <a:solidFill>
                  <a:srgbClr val="333639"/>
                </a:solidFill>
                <a:latin typeface="Fira Sans"/>
              </a:rPr>
              <a:t> for exploration falls as its estimates improve. That is the flaw the next slide repairs.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4.6  DECAYING Ε</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Explore while knowledge is scarce, exploit as it accumulates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IV — Basic exploration strategies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27</a:t>
            </a:r>
          </a:p>
        </p:txBody>
      </p:sp>
      <p:sp>
        <p:nvSpPr>
          <p:cNvPr id="8" name="TextBox 7"/>
          <p:cNvSpPr txBox="1"/>
          <p:nvPr/>
        </p:nvSpPr>
        <p:spPr>
          <a:xfrm>
            <a:off x="841248" y="1316736"/>
            <a:ext cx="6543446" cy="801979"/>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Early on, the estimates rest on very little experience and exploration is worth a great deal. Later they are reliable and exploration is mostly waste. So start with a large ε and decrease it. Here the decay is </a:t>
            </a:r>
            <a:r>
              <a:rPr sz="1235" b="1" i="0">
                <a:solidFill>
                  <a:srgbClr val="25282A"/>
                </a:solidFill>
                <a:latin typeface="Fira Sans"/>
              </a:rPr>
              <a:t>exponential</a:t>
            </a:r>
            <a:r>
              <a:rPr sz="1235" b="0" i="0">
                <a:solidFill>
                  <a:srgbClr val="333639"/>
                </a:solidFill>
                <a:latin typeface="Fira Sans"/>
              </a:rPr>
              <a:t>, specified by an initial value, a floor, and the number of steps over which it falls.</a:t>
            </a:r>
          </a:p>
        </p:txBody>
      </p:sp>
      <p:pic>
        <p:nvPicPr>
          <p:cNvPr id="9" name="Picture 8" descr="reward_decay.png"/>
          <p:cNvPicPr>
            <a:picLocks noChangeAspect="1"/>
          </p:cNvPicPr>
          <p:nvPr/>
        </p:nvPicPr>
        <p:blipFill>
          <a:blip r:embed="rId2"/>
          <a:stretch>
            <a:fillRect/>
          </a:stretch>
        </p:blipFill>
        <p:spPr>
          <a:xfrm>
            <a:off x="1862124" y="2301595"/>
            <a:ext cx="4501691" cy="2395728"/>
          </a:xfrm>
          <a:prstGeom prst="rect">
            <a:avLst/>
          </a:prstGeom>
        </p:spPr>
      </p:pic>
      <p:sp>
        <p:nvSpPr>
          <p:cNvPr id="10" name="TextBox 9"/>
          <p:cNvSpPr txBox="1"/>
          <p:nvPr/>
        </p:nvSpPr>
        <p:spPr>
          <a:xfrm>
            <a:off x="841248" y="4770475"/>
            <a:ext cx="6543446"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a:solidFill>
                  <a:srgbClr val="626669"/>
                </a:solidFill>
                <a:latin typeface="Fira Sans"/>
              </a:rPr>
              <a:t>Decaying ε (1.0 → 0.001 over the first 100 steps) against the two fixed settings.</a:t>
            </a:r>
          </a:p>
        </p:txBody>
      </p:sp>
      <p:sp>
        <p:nvSpPr>
          <p:cNvPr id="11" name="Rectangle 10"/>
          <p:cNvSpPr/>
          <p:nvPr/>
        </p:nvSpPr>
        <p:spPr>
          <a:xfrm>
            <a:off x="841248" y="5143855"/>
            <a:ext cx="6543446" cy="863193"/>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841248" y="5143855"/>
            <a:ext cx="41148" cy="86319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0704" y="5290159"/>
            <a:ext cx="6250838"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WHY IT WINS ON BOTH COUNTS</a:t>
            </a:r>
          </a:p>
        </p:txBody>
      </p:sp>
      <p:sp>
        <p:nvSpPr>
          <p:cNvPr id="14" name="TextBox 13"/>
          <p:cNvSpPr txBox="1"/>
          <p:nvPr/>
        </p:nvSpPr>
        <p:spPr>
          <a:xfrm>
            <a:off x="1060704" y="5527903"/>
            <a:ext cx="6159398" cy="332841"/>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It gets the early learning of a large ε </a:t>
            </a:r>
            <a:r>
              <a:rPr sz="1092" b="1" i="0">
                <a:solidFill>
                  <a:srgbClr val="333639"/>
                </a:solidFill>
                <a:latin typeface="Fira Sans"/>
              </a:rPr>
              <a:t>and</a:t>
            </a:r>
            <a:r>
              <a:rPr sz="1092" b="0" i="0">
                <a:solidFill>
                  <a:srgbClr val="333639"/>
                </a:solidFill>
                <a:latin typeface="Fira Sans"/>
              </a:rPr>
              <a:t> the late exploitation of a small one — without paying either cost for the whole run.</a:t>
            </a:r>
          </a:p>
        </p:txBody>
      </p:sp>
      <p:sp>
        <p:nvSpPr>
          <p:cNvPr id="15" name="TextBox 14"/>
          <p:cNvSpPr txBox="1"/>
          <p:nvPr/>
        </p:nvSpPr>
        <p:spPr>
          <a:xfrm>
            <a:off x="7618780" y="1316736"/>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DECAY SCHEDULE</a:t>
            </a:r>
          </a:p>
        </p:txBody>
      </p:sp>
      <p:pic>
        <p:nvPicPr>
          <p:cNvPr id="16" name="Picture 15" descr="eps_sched.png"/>
          <p:cNvPicPr>
            <a:picLocks noChangeAspect="1"/>
          </p:cNvPicPr>
          <p:nvPr/>
        </p:nvPicPr>
        <p:blipFill>
          <a:blip r:embed="rId3"/>
          <a:stretch>
            <a:fillRect/>
          </a:stretch>
        </p:blipFill>
        <p:spPr>
          <a:xfrm>
            <a:off x="7770740" y="1540439"/>
            <a:ext cx="3428019" cy="1623384"/>
          </a:xfrm>
          <a:prstGeom prst="rect">
            <a:avLst/>
          </a:prstGeom>
        </p:spPr>
      </p:pic>
      <p:sp>
        <p:nvSpPr>
          <p:cNvPr id="17" name="TextBox 16"/>
          <p:cNvSpPr txBox="1"/>
          <p:nvPr/>
        </p:nvSpPr>
        <p:spPr>
          <a:xfrm>
            <a:off x="7618780" y="3364991"/>
            <a:ext cx="3731940"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a:solidFill>
                  <a:srgbClr val="626669"/>
                </a:solidFill>
                <a:latin typeface="Fira Sans"/>
              </a:rPr>
              <a:t>Exponential decay to three different floors.</a:t>
            </a:r>
          </a:p>
        </p:txBody>
      </p:sp>
      <p:sp>
        <p:nvSpPr>
          <p:cNvPr id="18" name="TextBox 17"/>
          <p:cNvSpPr txBox="1"/>
          <p:nvPr/>
        </p:nvSpPr>
        <p:spPr>
          <a:xfrm>
            <a:off x="7618780" y="3720084"/>
            <a:ext cx="3731940" cy="1115364"/>
          </a:xfrm>
          <a:prstGeom prst="rect">
            <a:avLst/>
          </a:prstGeom>
          <a:noFill/>
        </p:spPr>
        <p:txBody>
          <a:bodyPr wrap="square" lIns="0" tIns="0" rIns="0" bIns="0" anchor="t">
            <a:noAutofit/>
          </a:bodyPr>
          <a:lstStyle/>
          <a:p>
            <a:pPr marL="182880" indent="-182880" algn="l">
              <a:lnSpc>
                <a:spcPts val="1170"/>
              </a:lnSpc>
              <a:spcBef>
                <a:spcPts val="0"/>
              </a:spcBef>
              <a:spcAft>
                <a:spcPts val="0"/>
              </a:spcAft>
              <a:buClr>
                <a:srgbClr val="1971C2"/>
              </a:buClr>
              <a:buFont typeface="Fira Sans"/>
              <a:buChar char="–"/>
            </a:pPr>
            <a:r>
              <a:rPr sz="1045" b="0" i="0" dirty="0" err="1">
                <a:solidFill>
                  <a:srgbClr val="333639"/>
                </a:solidFill>
                <a:latin typeface="Fira Sans"/>
              </a:rPr>
              <a:t>ε_min</a:t>
            </a:r>
            <a:r>
              <a:rPr sz="1045" b="0" i="0" dirty="0">
                <a:solidFill>
                  <a:srgbClr val="333639"/>
                </a:solidFill>
                <a:latin typeface="Fira Sans"/>
              </a:rPr>
              <a:t> sets how much </a:t>
            </a:r>
            <a:r>
              <a:rPr sz="1045" b="1" i="0" dirty="0">
                <a:solidFill>
                  <a:srgbClr val="25282A"/>
                </a:solidFill>
                <a:latin typeface="Fira Sans"/>
              </a:rPr>
              <a:t>permanent</a:t>
            </a:r>
            <a:r>
              <a:rPr sz="1045" b="0" i="0" dirty="0">
                <a:solidFill>
                  <a:srgbClr val="333639"/>
                </a:solidFill>
                <a:latin typeface="Fira Sans"/>
              </a:rPr>
              <a:t> exploration survives the initial phase.</a:t>
            </a:r>
          </a:p>
          <a:p>
            <a:pPr marL="182880" indent="-182880" algn="l">
              <a:lnSpc>
                <a:spcPts val="1170"/>
              </a:lnSpc>
              <a:spcBef>
                <a:spcPts val="700"/>
              </a:spcBef>
              <a:spcAft>
                <a:spcPts val="0"/>
              </a:spcAft>
              <a:buClr>
                <a:srgbClr val="1971C2"/>
              </a:buClr>
              <a:buFont typeface="Fira Sans"/>
              <a:buChar char="–"/>
            </a:pPr>
            <a:r>
              <a:rPr sz="1045" b="0" i="0" dirty="0">
                <a:solidFill>
                  <a:srgbClr val="333639"/>
                </a:solidFill>
                <a:latin typeface="Fira Sans"/>
              </a:rPr>
              <a:t>Decay </a:t>
            </a:r>
            <a:r>
              <a:rPr sz="1045" b="1" i="0" dirty="0">
                <a:solidFill>
                  <a:srgbClr val="C8102E"/>
                </a:solidFill>
                <a:latin typeface="Fira Sans"/>
              </a:rPr>
              <a:t>too fast</a:t>
            </a:r>
            <a:r>
              <a:rPr sz="1045" b="0" i="0" dirty="0">
                <a:solidFill>
                  <a:srgbClr val="333639"/>
                </a:solidFill>
                <a:latin typeface="Fira Sans"/>
              </a:rPr>
              <a:t> and the agent stops exploring before it has reliably identified the best arm.</a:t>
            </a:r>
          </a:p>
          <a:p>
            <a:pPr marL="182880" indent="-182880" algn="l">
              <a:lnSpc>
                <a:spcPts val="1170"/>
              </a:lnSpc>
              <a:spcBef>
                <a:spcPts val="700"/>
              </a:spcBef>
              <a:spcAft>
                <a:spcPts val="0"/>
              </a:spcAft>
              <a:buClr>
                <a:srgbClr val="1971C2"/>
              </a:buClr>
              <a:buFont typeface="Fira Sans"/>
              <a:buChar char="–"/>
            </a:pPr>
            <a:r>
              <a:rPr sz="1045" b="0" i="0" dirty="0">
                <a:solidFill>
                  <a:srgbClr val="333639"/>
                </a:solidFill>
                <a:latin typeface="Fira Sans"/>
              </a:rPr>
              <a:t>Decay </a:t>
            </a:r>
            <a:r>
              <a:rPr sz="1045" b="1" i="0" dirty="0">
                <a:solidFill>
                  <a:srgbClr val="C8102E"/>
                </a:solidFill>
                <a:latin typeface="Fira Sans"/>
              </a:rPr>
              <a:t>too slowly</a:t>
            </a:r>
            <a:r>
              <a:rPr sz="1045" b="0" i="0" dirty="0">
                <a:solidFill>
                  <a:srgbClr val="333639"/>
                </a:solidFill>
                <a:latin typeface="Fira Sans"/>
              </a:rPr>
              <a:t> and it keeps paying for information it no longer needs.</a:t>
            </a:r>
          </a:p>
        </p:txBody>
      </p:sp>
      <p:sp>
        <p:nvSpPr>
          <p:cNvPr id="19" name="Rectangle 18"/>
          <p:cNvSpPr/>
          <p:nvPr/>
        </p:nvSpPr>
        <p:spPr>
          <a:xfrm>
            <a:off x="7618780" y="5036616"/>
            <a:ext cx="3731940" cy="1138123"/>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7618780" y="5036616"/>
            <a:ext cx="41148" cy="1138123"/>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838236" y="5182920"/>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8A5100"/>
                </a:solidFill>
                <a:latin typeface="Fira Sans"/>
              </a:rPr>
              <a:t>THE CATCH</a:t>
            </a:r>
          </a:p>
        </p:txBody>
      </p:sp>
      <p:sp>
        <p:nvSpPr>
          <p:cNvPr id="22" name="TextBox 21"/>
          <p:cNvSpPr txBox="1"/>
          <p:nvPr/>
        </p:nvSpPr>
        <p:spPr>
          <a:xfrm>
            <a:off x="7838236" y="5420664"/>
            <a:ext cx="3347892" cy="607771"/>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This is a new trade-off, not the removal of the old one — and it relies on the environment being </a:t>
            </a:r>
            <a:r>
              <a:rPr sz="997" b="1" i="0">
                <a:solidFill>
                  <a:srgbClr val="333639"/>
                </a:solidFill>
                <a:latin typeface="Fira Sans"/>
              </a:rPr>
              <a:t>stationary</a:t>
            </a:r>
            <a:r>
              <a:rPr sz="997" b="0" i="0">
                <a:solidFill>
                  <a:srgbClr val="333639"/>
                </a:solidFill>
                <a:latin typeface="Fira Sans"/>
              </a:rPr>
              <a:t>. If action values can change, shutting exploration down is dangerous.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4.7  OPTIMISTIC INITIAL VALUES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Exploration produced by disappointment, with no random choice at all</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IV — Basic exploration strategies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28</a:t>
            </a:r>
          </a:p>
        </p:txBody>
      </p:sp>
      <p:sp>
        <p:nvSpPr>
          <p:cNvPr id="8" name="TextBox 7"/>
          <p:cNvSpPr txBox="1"/>
          <p:nvPr/>
        </p:nvSpPr>
        <p:spPr>
          <a:xfrm>
            <a:off x="841248" y="1316736"/>
            <a:ext cx="6543446" cy="610628"/>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Everything so far encouraged exploration by changing the </a:t>
            </a:r>
            <a:r>
              <a:rPr sz="1235" b="1" i="0">
                <a:solidFill>
                  <a:srgbClr val="25282A"/>
                </a:solidFill>
                <a:latin typeface="Fira Sans"/>
              </a:rPr>
              <a:t>selection rule</a:t>
            </a:r>
            <a:r>
              <a:rPr sz="1235" b="0" i="0">
                <a:solidFill>
                  <a:srgbClr val="333639"/>
                </a:solidFill>
                <a:latin typeface="Fira Sans"/>
              </a:rPr>
              <a:t>. There is another way, which leaves the rule completely greedy: initialise every estimate </a:t>
            </a:r>
            <a:r>
              <a:rPr sz="1235" b="1" i="0">
                <a:solidFill>
                  <a:srgbClr val="2B7A3E"/>
                </a:solidFill>
                <a:latin typeface="Fira Sans"/>
              </a:rPr>
              <a:t>optimistically high</a:t>
            </a:r>
            <a:r>
              <a:rPr sz="1235" b="0" i="0">
                <a:solidFill>
                  <a:srgbClr val="333639"/>
                </a:solidFill>
                <a:latin typeface="Fira Sans"/>
              </a:rPr>
              <a:t>, above any reward we realistically expect.</a:t>
            </a:r>
          </a:p>
        </p:txBody>
      </p:sp>
      <p:sp>
        <p:nvSpPr>
          <p:cNvPr id="9" name="Rectangle 8"/>
          <p:cNvSpPr/>
          <p:nvPr/>
        </p:nvSpPr>
        <p:spPr>
          <a:xfrm>
            <a:off x="841248" y="2146820"/>
            <a:ext cx="2010460"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41248" y="2274836"/>
            <a:ext cx="2010460" cy="2194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20">
                <a:solidFill>
                  <a:srgbClr val="574676"/>
                </a:solidFill>
                <a:latin typeface="Fira Sans"/>
              </a:rPr>
              <a:t>STEP 1</a:t>
            </a:r>
          </a:p>
        </p:txBody>
      </p:sp>
      <p:sp>
        <p:nvSpPr>
          <p:cNvPr id="11" name="TextBox 10"/>
          <p:cNvSpPr txBox="1"/>
          <p:nvPr/>
        </p:nvSpPr>
        <p:spPr>
          <a:xfrm>
            <a:off x="841248" y="2512580"/>
            <a:ext cx="2010460" cy="274320"/>
          </a:xfrm>
          <a:prstGeom prst="rect">
            <a:avLst/>
          </a:prstGeom>
          <a:noFill/>
        </p:spPr>
        <p:txBody>
          <a:bodyPr wrap="square" lIns="0" tIns="0" rIns="0" bIns="0" anchor="t">
            <a:noAutofit/>
          </a:bodyPr>
          <a:lstStyle/>
          <a:p>
            <a:pPr marL="0" indent="0" algn="l">
              <a:lnSpc>
                <a:spcPts val="1277"/>
              </a:lnSpc>
              <a:spcBef>
                <a:spcPts val="0"/>
              </a:spcBef>
              <a:spcAft>
                <a:spcPts val="0"/>
              </a:spcAft>
              <a:buNone/>
            </a:pPr>
            <a:r>
              <a:rPr sz="1140" b="1" i="0">
                <a:solidFill>
                  <a:srgbClr val="25282A"/>
                </a:solidFill>
                <a:latin typeface="Fira Sans"/>
              </a:rPr>
              <a:t>Everything looks promising</a:t>
            </a:r>
          </a:p>
        </p:txBody>
      </p:sp>
      <p:sp>
        <p:nvSpPr>
          <p:cNvPr id="12" name="TextBox 11"/>
          <p:cNvSpPr txBox="1"/>
          <p:nvPr/>
        </p:nvSpPr>
        <p:spPr>
          <a:xfrm>
            <a:off x="841248" y="2907792"/>
            <a:ext cx="2010460" cy="914400"/>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0" i="0">
                <a:solidFill>
                  <a:srgbClr val="626669"/>
                </a:solidFill>
                <a:latin typeface="Fira Sans"/>
              </a:rPr>
              <a:t>All arms start at Q₀ = 5, far above their true values, so all are equally attractive.</a:t>
            </a:r>
          </a:p>
        </p:txBody>
      </p:sp>
      <p:sp>
        <p:nvSpPr>
          <p:cNvPr id="13" name="Rectangle 12"/>
          <p:cNvSpPr/>
          <p:nvPr/>
        </p:nvSpPr>
        <p:spPr>
          <a:xfrm>
            <a:off x="3107740" y="2146820"/>
            <a:ext cx="2010460"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3107740" y="2274836"/>
            <a:ext cx="2010460" cy="2194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20">
                <a:solidFill>
                  <a:srgbClr val="574676"/>
                </a:solidFill>
                <a:latin typeface="Fira Sans"/>
              </a:rPr>
              <a:t>STEP 2</a:t>
            </a:r>
          </a:p>
        </p:txBody>
      </p:sp>
      <p:sp>
        <p:nvSpPr>
          <p:cNvPr id="15" name="TextBox 14"/>
          <p:cNvSpPr txBox="1"/>
          <p:nvPr/>
        </p:nvSpPr>
        <p:spPr>
          <a:xfrm>
            <a:off x="3107740" y="2512580"/>
            <a:ext cx="2010460" cy="274320"/>
          </a:xfrm>
          <a:prstGeom prst="rect">
            <a:avLst/>
          </a:prstGeom>
          <a:noFill/>
        </p:spPr>
        <p:txBody>
          <a:bodyPr wrap="square" lIns="0" tIns="0" rIns="0" bIns="0" anchor="t">
            <a:noAutofit/>
          </a:bodyPr>
          <a:lstStyle/>
          <a:p>
            <a:pPr marL="0" indent="0" algn="l">
              <a:lnSpc>
                <a:spcPts val="1277"/>
              </a:lnSpc>
              <a:spcBef>
                <a:spcPts val="0"/>
              </a:spcBef>
              <a:spcAft>
                <a:spcPts val="0"/>
              </a:spcAft>
              <a:buNone/>
            </a:pPr>
            <a:r>
              <a:rPr sz="1140" b="1" i="0">
                <a:solidFill>
                  <a:srgbClr val="25282A"/>
                </a:solidFill>
                <a:latin typeface="Fira Sans"/>
              </a:rPr>
              <a:t>Trying one is a disappointment</a:t>
            </a:r>
          </a:p>
        </p:txBody>
      </p:sp>
      <p:sp>
        <p:nvSpPr>
          <p:cNvPr id="16" name="TextBox 15"/>
          <p:cNvSpPr txBox="1"/>
          <p:nvPr/>
        </p:nvSpPr>
        <p:spPr>
          <a:xfrm>
            <a:off x="3107740" y="2908820"/>
            <a:ext cx="2010460" cy="914400"/>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0" i="0">
                <a:solidFill>
                  <a:srgbClr val="626669"/>
                </a:solidFill>
                <a:latin typeface="Fira Sans"/>
              </a:rPr>
              <a:t>The observed reward is below the optimistic estimate, so that arm’s estimate drops.</a:t>
            </a:r>
          </a:p>
        </p:txBody>
      </p:sp>
      <p:sp>
        <p:nvSpPr>
          <p:cNvPr id="17" name="Rectangle 16"/>
          <p:cNvSpPr/>
          <p:nvPr/>
        </p:nvSpPr>
        <p:spPr>
          <a:xfrm>
            <a:off x="5374233" y="2146820"/>
            <a:ext cx="2010460"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374233" y="2274836"/>
            <a:ext cx="2010460" cy="2194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20">
                <a:solidFill>
                  <a:srgbClr val="574676"/>
                </a:solidFill>
                <a:latin typeface="Fira Sans"/>
              </a:rPr>
              <a:t>STEP 3</a:t>
            </a:r>
          </a:p>
        </p:txBody>
      </p:sp>
      <p:sp>
        <p:nvSpPr>
          <p:cNvPr id="19" name="TextBox 18"/>
          <p:cNvSpPr txBox="1"/>
          <p:nvPr/>
        </p:nvSpPr>
        <p:spPr>
          <a:xfrm>
            <a:off x="5374233" y="2512580"/>
            <a:ext cx="2010460" cy="274320"/>
          </a:xfrm>
          <a:prstGeom prst="rect">
            <a:avLst/>
          </a:prstGeom>
          <a:noFill/>
        </p:spPr>
        <p:txBody>
          <a:bodyPr wrap="square" lIns="0" tIns="0" rIns="0" bIns="0" anchor="t">
            <a:noAutofit/>
          </a:bodyPr>
          <a:lstStyle/>
          <a:p>
            <a:pPr marL="0" indent="0" algn="l">
              <a:lnSpc>
                <a:spcPts val="1277"/>
              </a:lnSpc>
              <a:spcBef>
                <a:spcPts val="0"/>
              </a:spcBef>
              <a:spcAft>
                <a:spcPts val="0"/>
              </a:spcAft>
              <a:buNone/>
            </a:pPr>
            <a:r>
              <a:rPr sz="1140" b="1" i="0">
                <a:solidFill>
                  <a:srgbClr val="25282A"/>
                </a:solidFill>
                <a:latin typeface="Fira Sans"/>
              </a:rPr>
              <a:t>The untried arms now look best</a:t>
            </a:r>
          </a:p>
        </p:txBody>
      </p:sp>
      <p:sp>
        <p:nvSpPr>
          <p:cNvPr id="20" name="TextBox 19"/>
          <p:cNvSpPr txBox="1"/>
          <p:nvPr/>
        </p:nvSpPr>
        <p:spPr>
          <a:xfrm>
            <a:off x="5374233" y="2908820"/>
            <a:ext cx="2010460" cy="914400"/>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0" i="0">
                <a:solidFill>
                  <a:srgbClr val="626669"/>
                </a:solidFill>
                <a:latin typeface="Fira Sans"/>
              </a:rPr>
              <a:t>The greedy rule moves on to another one. The agent sweeps the whole action set.</a:t>
            </a:r>
          </a:p>
        </p:txBody>
      </p:sp>
      <p:pic>
        <p:nvPicPr>
          <p:cNvPr id="21" name="Picture 20" descr="eq_optimistic_first.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32688" y="3847604"/>
            <a:ext cx="6334125" cy="428624"/>
          </a:xfrm>
          <a:prstGeom prst="rect">
            <a:avLst/>
          </a:prstGeom>
        </p:spPr>
      </p:pic>
      <p:sp>
        <p:nvSpPr>
          <p:cNvPr id="22" name="TextBox 21"/>
          <p:cNvSpPr txBox="1"/>
          <p:nvPr/>
        </p:nvSpPr>
        <p:spPr>
          <a:xfrm>
            <a:off x="841248" y="4459109"/>
            <a:ext cx="6543446" cy="535838"/>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626669"/>
                </a:solidFill>
                <a:latin typeface="Fira Sans"/>
              </a:rPr>
              <a:t>With the sample-average estimator Nₜ(a) = 1 after the first pull, so the optimistic value is replaced outright by the first observed reward. The other arms keep their optimism — which is exactly what drives the agent to them.</a:t>
            </a:r>
          </a:p>
        </p:txBody>
      </p:sp>
      <p:sp>
        <p:nvSpPr>
          <p:cNvPr id="23" name="TextBox 22"/>
          <p:cNvSpPr txBox="1"/>
          <p:nvPr/>
        </p:nvSpPr>
        <p:spPr>
          <a:xfrm>
            <a:off x="7618780" y="1316736"/>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AGAINST DECAYING Ε-GREEDY</a:t>
            </a:r>
          </a:p>
        </p:txBody>
      </p:sp>
      <p:pic>
        <p:nvPicPr>
          <p:cNvPr id="24" name="Picture 23" descr="reward_optimistic.png"/>
          <p:cNvPicPr>
            <a:picLocks noChangeAspect="1"/>
          </p:cNvPicPr>
          <p:nvPr/>
        </p:nvPicPr>
        <p:blipFill>
          <a:blip r:embed="rId3"/>
          <a:stretch>
            <a:fillRect/>
          </a:stretch>
        </p:blipFill>
        <p:spPr>
          <a:xfrm>
            <a:off x="7818093" y="1536192"/>
            <a:ext cx="3333313" cy="1773936"/>
          </a:xfrm>
          <a:prstGeom prst="rect">
            <a:avLst/>
          </a:prstGeom>
        </p:spPr>
      </p:pic>
      <p:sp>
        <p:nvSpPr>
          <p:cNvPr id="25" name="TextBox 24"/>
          <p:cNvSpPr txBox="1"/>
          <p:nvPr/>
        </p:nvSpPr>
        <p:spPr>
          <a:xfrm>
            <a:off x="7618780" y="3346704"/>
            <a:ext cx="3731940" cy="31699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a:solidFill>
                  <a:srgbClr val="626669"/>
                </a:solidFill>
                <a:latin typeface="Fira Sans"/>
              </a:rPr>
              <a:t>Optimistic initialisation starts worse — it is forcing itself through the whole action set — then overtakes.</a:t>
            </a:r>
          </a:p>
        </p:txBody>
      </p:sp>
      <p:sp>
        <p:nvSpPr>
          <p:cNvPr id="26" name="Rectangle 25"/>
          <p:cNvSpPr/>
          <p:nvPr/>
        </p:nvSpPr>
        <p:spPr>
          <a:xfrm>
            <a:off x="7618780" y="3828288"/>
            <a:ext cx="3731940" cy="834237"/>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ectangle 26"/>
          <p:cNvSpPr/>
          <p:nvPr/>
        </p:nvSpPr>
        <p:spPr>
          <a:xfrm>
            <a:off x="7618780" y="3828288"/>
            <a:ext cx="41148" cy="834237"/>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7838236" y="3974592"/>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A DIFFERENT MECHANISM</a:t>
            </a:r>
          </a:p>
        </p:txBody>
      </p:sp>
      <p:sp>
        <p:nvSpPr>
          <p:cNvPr id="29" name="TextBox 28"/>
          <p:cNvSpPr txBox="1"/>
          <p:nvPr/>
        </p:nvSpPr>
        <p:spPr>
          <a:xfrm>
            <a:off x="7838236" y="4212336"/>
            <a:ext cx="3347892" cy="303885"/>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dirty="0">
                <a:solidFill>
                  <a:srgbClr val="333639"/>
                </a:solidFill>
                <a:latin typeface="Fira Sans"/>
              </a:rPr>
              <a:t>Exploration here is driven by </a:t>
            </a:r>
            <a:r>
              <a:rPr sz="997" b="1" i="0" dirty="0">
                <a:solidFill>
                  <a:srgbClr val="333639"/>
                </a:solidFill>
                <a:latin typeface="Fira Sans"/>
              </a:rPr>
              <a:t>optimism, not randomness</a:t>
            </a:r>
            <a:r>
              <a:rPr sz="997" b="0" i="0" dirty="0">
                <a:solidFill>
                  <a:srgbClr val="333639"/>
                </a:solidFill>
                <a:latin typeface="Fira Sans"/>
              </a:rPr>
              <a:t>: the agent tries an arm because it still looks valuable.</a:t>
            </a:r>
          </a:p>
        </p:txBody>
      </p:sp>
      <p:sp>
        <p:nvSpPr>
          <p:cNvPr id="30" name="Rectangle 29"/>
          <p:cNvSpPr/>
          <p:nvPr/>
        </p:nvSpPr>
        <p:spPr>
          <a:xfrm>
            <a:off x="7618780" y="4845405"/>
            <a:ext cx="3731940" cy="1138123"/>
          </a:xfrm>
          <a:prstGeom prst="rect">
            <a:avLst/>
          </a:prstGeom>
          <a:solidFill>
            <a:srgbClr val="FA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p:cNvSpPr/>
          <p:nvPr/>
        </p:nvSpPr>
        <p:spPr>
          <a:xfrm>
            <a:off x="7618780" y="4845405"/>
            <a:ext cx="41148" cy="113812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7838236" y="4991709"/>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C8102E"/>
                </a:solidFill>
                <a:latin typeface="Fira Sans"/>
              </a:rPr>
              <a:t>THE LIMITATION</a:t>
            </a:r>
          </a:p>
        </p:txBody>
      </p:sp>
      <p:sp>
        <p:nvSpPr>
          <p:cNvPr id="33" name="TextBox 32"/>
          <p:cNvSpPr txBox="1"/>
          <p:nvPr/>
        </p:nvSpPr>
        <p:spPr>
          <a:xfrm>
            <a:off x="7838236" y="5229453"/>
            <a:ext cx="3347892" cy="607771"/>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dirty="0">
                <a:solidFill>
                  <a:srgbClr val="333639"/>
                </a:solidFill>
                <a:latin typeface="Fira Sans"/>
              </a:rPr>
              <a:t>But the incentive is </a:t>
            </a:r>
            <a:r>
              <a:rPr sz="997" b="1" i="0" dirty="0">
                <a:solidFill>
                  <a:srgbClr val="333639"/>
                </a:solidFill>
                <a:latin typeface="Fira Sans"/>
              </a:rPr>
              <a:t>temporary</a:t>
            </a:r>
            <a:r>
              <a:rPr sz="997" b="0" i="0" dirty="0">
                <a:solidFill>
                  <a:srgbClr val="333639"/>
                </a:solidFill>
                <a:latin typeface="Fira Sans"/>
              </a:rPr>
              <a:t>. Once every arm has been sampled and corrected, the agent is simply greedy — and if the environment later changes, nothing restores the optimism.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V</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Strategic exploration</a:t>
            </a:r>
          </a:p>
        </p:txBody>
      </p:sp>
      <p:sp>
        <p:nvSpPr>
          <p:cNvPr id="6" name="TextBox 5"/>
          <p:cNvSpPr txBox="1"/>
          <p:nvPr/>
        </p:nvSpPr>
        <p:spPr>
          <a:xfrm>
            <a:off x="859536" y="3073907"/>
            <a:ext cx="5943600" cy="661781"/>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a:solidFill>
                  <a:srgbClr val="D6D0E0"/>
                </a:solidFill>
                <a:latin typeface="Fira Sans"/>
              </a:rPr>
              <a:t>Exploring at random treats every unknown action alike. Three methods that instead use what has already been collected to decide where information is worth buying.</a:t>
            </a:r>
          </a:p>
        </p:txBody>
      </p:sp>
      <p:sp>
        <p:nvSpPr>
          <p:cNvPr id="7" name="Rectangle 6"/>
          <p:cNvSpPr/>
          <p:nvPr/>
        </p:nvSpPr>
        <p:spPr>
          <a:xfrm>
            <a:off x="859536" y="495604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95604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Which information is worth acquiring, given that acquiring it costs reward?</a:t>
            </a:r>
          </a:p>
        </p:txBody>
      </p:sp>
      <p:sp>
        <p:nvSpPr>
          <p:cNvPr id="9" name="Rectangle 8"/>
          <p:cNvSpPr/>
          <p:nvPr/>
        </p:nvSpPr>
        <p:spPr>
          <a:xfrm>
            <a:off x="7424928" y="2084831"/>
            <a:ext cx="10972" cy="32461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324612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Why random exploration is wasteful</a:t>
            </a:r>
          </a:p>
          <a:p>
            <a:pPr marL="0" indent="0" algn="l">
              <a:lnSpc>
                <a:spcPts val="1378"/>
              </a:lnSpc>
              <a:spcBef>
                <a:spcPts val="1300"/>
              </a:spcBef>
              <a:spcAft>
                <a:spcPts val="0"/>
              </a:spcAft>
              <a:buNone/>
            </a:pPr>
            <a:r>
              <a:rPr sz="1188" b="1" i="0">
                <a:solidFill>
                  <a:srgbClr val="B2A7C4"/>
                </a:solidFill>
                <a:latin typeface="Fira Sans"/>
              </a:rPr>
              <a:t>02   </a:t>
            </a:r>
            <a:r>
              <a:rPr sz="1188" b="0" i="0">
                <a:solidFill>
                  <a:srgbClr val="FFFFFF"/>
                </a:solidFill>
                <a:latin typeface="Fira Sans"/>
              </a:rPr>
              <a:t>Softmax</a:t>
            </a:r>
          </a:p>
          <a:p>
            <a:pPr marL="0" indent="0" algn="l">
              <a:lnSpc>
                <a:spcPts val="1378"/>
              </a:lnSpc>
              <a:spcBef>
                <a:spcPts val="1300"/>
              </a:spcBef>
              <a:spcAft>
                <a:spcPts val="0"/>
              </a:spcAft>
              <a:buNone/>
            </a:pPr>
            <a:r>
              <a:rPr sz="1188" b="1" i="0">
                <a:solidFill>
                  <a:srgbClr val="B2A7C4"/>
                </a:solidFill>
                <a:latin typeface="Fira Sans"/>
              </a:rPr>
              <a:t>03   </a:t>
            </a:r>
            <a:r>
              <a:rPr sz="1188" b="0" i="0">
                <a:solidFill>
                  <a:srgbClr val="FFFFFF"/>
                </a:solidFill>
                <a:latin typeface="Fira Sans"/>
              </a:rPr>
              <a:t>Upper Confidence Bound</a:t>
            </a:r>
          </a:p>
          <a:p>
            <a:pPr marL="0" indent="0" algn="l">
              <a:lnSpc>
                <a:spcPts val="1378"/>
              </a:lnSpc>
              <a:spcBef>
                <a:spcPts val="1300"/>
              </a:spcBef>
              <a:spcAft>
                <a:spcPts val="0"/>
              </a:spcAft>
              <a:buNone/>
            </a:pPr>
            <a:r>
              <a:rPr sz="1188" b="1" i="0">
                <a:solidFill>
                  <a:srgbClr val="B2A7C4"/>
                </a:solidFill>
                <a:latin typeface="Fira Sans"/>
              </a:rPr>
              <a:t>04   </a:t>
            </a:r>
            <a:r>
              <a:rPr sz="1188" b="0" i="0">
                <a:solidFill>
                  <a:srgbClr val="FFFFFF"/>
                </a:solidFill>
                <a:latin typeface="Fira Sans"/>
              </a:rPr>
              <a:t>Thompson sampling</a:t>
            </a:r>
          </a:p>
          <a:p>
            <a:pPr marL="0" indent="0" algn="l">
              <a:lnSpc>
                <a:spcPts val="1378"/>
              </a:lnSpc>
              <a:spcBef>
                <a:spcPts val="1300"/>
              </a:spcBef>
              <a:spcAft>
                <a:spcPts val="0"/>
              </a:spcAft>
              <a:buNone/>
            </a:pPr>
            <a:r>
              <a:rPr sz="1188" b="1" i="0">
                <a:solidFill>
                  <a:srgbClr val="B2A7C4"/>
                </a:solidFill>
                <a:latin typeface="Fira Sans"/>
              </a:rPr>
              <a:t>05   </a:t>
            </a:r>
            <a:r>
              <a:rPr sz="1188" b="0" i="0">
                <a:solidFill>
                  <a:srgbClr val="FFFFFF"/>
                </a:solidFill>
                <a:latin typeface="Fira Sans"/>
              </a:rPr>
              <a:t>Comparison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5.1  NOT EVERY UNKNOWN IS EQUALLY WORTH INVESTIGATING</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Humans explore, but rarely at random</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V — Strategic exploration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30</a:t>
            </a:r>
          </a:p>
        </p:txBody>
      </p:sp>
      <p:sp>
        <p:nvSpPr>
          <p:cNvPr id="8" name="TextBox 7"/>
          <p:cNvSpPr txBox="1"/>
          <p:nvPr/>
        </p:nvSpPr>
        <p:spPr>
          <a:xfrm>
            <a:off x="841248" y="1316736"/>
            <a:ext cx="6543446" cy="831108"/>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When we explore, we accept a short-term cost for information with long-term value. But we do not pick the unknown option </a:t>
            </a:r>
            <a:r>
              <a:rPr sz="1282" b="1" i="0">
                <a:solidFill>
                  <a:srgbClr val="C8102E"/>
                </a:solidFill>
                <a:latin typeface="Fira Sans"/>
              </a:rPr>
              <a:t>uniformly at random</a:t>
            </a:r>
            <a:r>
              <a:rPr sz="1282" b="0" i="0">
                <a:solidFill>
                  <a:srgbClr val="333639"/>
                </a:solidFill>
                <a:latin typeface="Fira Sans"/>
              </a:rPr>
              <a:t>. We are interested in alternatives that we have not explored enough </a:t>
            </a:r>
            <a:r>
              <a:rPr sz="1282" b="0" i="1">
                <a:solidFill>
                  <a:srgbClr val="333639"/>
                </a:solidFill>
                <a:latin typeface="Fira Sans"/>
              </a:rPr>
              <a:t>and</a:t>
            </a:r>
            <a:r>
              <a:rPr sz="1282" b="0" i="0">
                <a:solidFill>
                  <a:srgbClr val="333639"/>
                </a:solidFill>
                <a:latin typeface="Fira Sans"/>
              </a:rPr>
              <a:t> that still have a realistic chance of being better than what we already know.</a:t>
            </a:r>
          </a:p>
        </p:txBody>
      </p:sp>
      <p:sp>
        <p:nvSpPr>
          <p:cNvPr id="9" name="TextBox 8"/>
          <p:cNvSpPr txBox="1"/>
          <p:nvPr/>
        </p:nvSpPr>
        <p:spPr>
          <a:xfrm>
            <a:off x="841248" y="2367300"/>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RESTAURANT, AGAIN</a:t>
            </a:r>
          </a:p>
        </p:txBody>
      </p:sp>
      <p:sp>
        <p:nvSpPr>
          <p:cNvPr id="10" name="TextBox 9"/>
          <p:cNvSpPr txBox="1"/>
          <p:nvPr/>
        </p:nvSpPr>
        <p:spPr>
          <a:xfrm>
            <a:off x="841248" y="2623332"/>
            <a:ext cx="6543446" cy="835944"/>
          </a:xfrm>
          <a:prstGeom prst="rect">
            <a:avLst/>
          </a:prstGeom>
          <a:noFill/>
        </p:spPr>
        <p:txBody>
          <a:bodyPr wrap="square" lIns="0" tIns="0" rIns="0" bIns="0" anchor="t">
            <a:noAutofit/>
          </a:bodyPr>
          <a:lstStyle/>
          <a:p>
            <a:pPr marL="182880" indent="-182880" algn="l">
              <a:lnSpc>
                <a:spcPts val="1331"/>
              </a:lnSpc>
              <a:spcBef>
                <a:spcPts val="0"/>
              </a:spcBef>
              <a:spcAft>
                <a:spcPts val="0"/>
              </a:spcAft>
              <a:buClr>
                <a:srgbClr val="1971C2"/>
              </a:buClr>
              <a:buFont typeface="Fira Sans"/>
              <a:buChar char="–"/>
            </a:pPr>
            <a:r>
              <a:rPr sz="1188" b="0" i="0" dirty="0">
                <a:solidFill>
                  <a:srgbClr val="333639"/>
                </a:solidFill>
                <a:latin typeface="Fira Sans"/>
              </a:rPr>
              <a:t>We would rather try a </a:t>
            </a:r>
            <a:r>
              <a:rPr sz="1188" b="1" i="0" dirty="0">
                <a:solidFill>
                  <a:srgbClr val="2B7A3E"/>
                </a:solidFill>
                <a:latin typeface="Fira Sans"/>
              </a:rPr>
              <a:t>promising</a:t>
            </a:r>
            <a:r>
              <a:rPr sz="1188" b="0" i="0" dirty="0">
                <a:solidFill>
                  <a:srgbClr val="333639"/>
                </a:solidFill>
                <a:latin typeface="Fira Sans"/>
              </a:rPr>
              <a:t> dish we have never ordered than an unfamiliar dish chosen at random from the menu.</a:t>
            </a:r>
          </a:p>
          <a:p>
            <a:pPr marL="182880" indent="-182880" algn="l">
              <a:lnSpc>
                <a:spcPts val="1331"/>
              </a:lnSpc>
              <a:spcBef>
                <a:spcPts val="900"/>
              </a:spcBef>
              <a:spcAft>
                <a:spcPts val="0"/>
              </a:spcAft>
              <a:buClr>
                <a:srgbClr val="1971C2"/>
              </a:buClr>
              <a:buFont typeface="Fira Sans"/>
              <a:buChar char="–"/>
            </a:pPr>
            <a:r>
              <a:rPr sz="1188" b="0" i="0" dirty="0">
                <a:solidFill>
                  <a:srgbClr val="333639"/>
                </a:solidFill>
                <a:latin typeface="Fira Sans"/>
              </a:rPr>
              <a:t>And there is little reason to keep investigating a dish we have ordered ten times and consistently found mediocre — that uncertainty is </a:t>
            </a:r>
            <a:r>
              <a:rPr sz="1188" b="1" i="0" dirty="0">
                <a:solidFill>
                  <a:srgbClr val="25282A"/>
                </a:solidFill>
                <a:latin typeface="Fira Sans"/>
              </a:rPr>
              <a:t>already resolved</a:t>
            </a:r>
            <a:r>
              <a:rPr sz="1188" b="0" i="0" dirty="0">
                <a:solidFill>
                  <a:srgbClr val="333639"/>
                </a:solidFill>
                <a:latin typeface="Fira Sans"/>
              </a:rPr>
              <a:t>.</a:t>
            </a:r>
          </a:p>
        </p:txBody>
      </p:sp>
      <p:sp>
        <p:nvSpPr>
          <p:cNvPr id="11" name="Rectangle 10"/>
          <p:cNvSpPr/>
          <p:nvPr/>
        </p:nvSpPr>
        <p:spPr>
          <a:xfrm>
            <a:off x="841248" y="3697020"/>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3916476"/>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PRINCIPLE</a:t>
            </a:r>
          </a:p>
        </p:txBody>
      </p:sp>
      <p:sp>
        <p:nvSpPr>
          <p:cNvPr id="13" name="TextBox 12"/>
          <p:cNvSpPr txBox="1"/>
          <p:nvPr/>
        </p:nvSpPr>
        <p:spPr>
          <a:xfrm>
            <a:off x="841248" y="4154220"/>
            <a:ext cx="6543446" cy="743102"/>
          </a:xfrm>
          <a:prstGeom prst="rect">
            <a:avLst/>
          </a:prstGeom>
          <a:noFill/>
        </p:spPr>
        <p:txBody>
          <a:bodyPr wrap="square" lIns="0" tIns="0" rIns="0" bIns="0" anchor="t">
            <a:noAutofit/>
          </a:bodyPr>
          <a:lstStyle/>
          <a:p>
            <a:pPr marL="0" indent="0" algn="l">
              <a:lnSpc>
                <a:spcPts val="1391"/>
              </a:lnSpc>
              <a:spcBef>
                <a:spcPts val="0"/>
              </a:spcBef>
              <a:spcAft>
                <a:spcPts val="0"/>
              </a:spcAft>
              <a:buNone/>
            </a:pPr>
            <a:r>
              <a:rPr sz="1140" b="0" i="0">
                <a:solidFill>
                  <a:srgbClr val="333639"/>
                </a:solidFill>
                <a:latin typeface="Fira Sans"/>
              </a:rPr>
              <a:t>Exploration should be directed toward actions for which acquiring additional information is </a:t>
            </a:r>
            <a:r>
              <a:rPr sz="1140" b="1" i="0">
                <a:solidFill>
                  <a:srgbClr val="25282A"/>
                </a:solidFill>
                <a:latin typeface="Fira Sans"/>
              </a:rPr>
              <a:t>potentially valuable</a:t>
            </a:r>
            <a:r>
              <a:rPr sz="1140" b="0" i="0">
                <a:solidFill>
                  <a:srgbClr val="333639"/>
                </a:solidFill>
                <a:latin typeface="Fira Sans"/>
              </a:rPr>
              <a:t> — because the action has been sampled only a few times, because its value is highly uncertain, or because it is promising enough that resolving that uncertainty could change which action we believe is best.</a:t>
            </a:r>
          </a:p>
        </p:txBody>
      </p:sp>
      <p:sp>
        <p:nvSpPr>
          <p:cNvPr id="14" name="Rectangle 13"/>
          <p:cNvSpPr/>
          <p:nvPr/>
        </p:nvSpPr>
        <p:spPr>
          <a:xfrm>
            <a:off x="7618780" y="1316736"/>
            <a:ext cx="3731940" cy="1362456"/>
          </a:xfrm>
          <a:prstGeom prst="rect">
            <a:avLst/>
          </a:prstGeom>
          <a:solidFill>
            <a:srgbClr val="FA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7618780" y="1316736"/>
            <a:ext cx="41148" cy="136245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838236" y="1463039"/>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C8102E"/>
                </a:solidFill>
                <a:latin typeface="Fira Sans"/>
              </a:rPr>
              <a:t>WHAT RANDOM EXPLORATION WASTES</a:t>
            </a:r>
          </a:p>
        </p:txBody>
      </p:sp>
      <p:sp>
        <p:nvSpPr>
          <p:cNvPr id="17" name="TextBox 16"/>
          <p:cNvSpPr txBox="1"/>
          <p:nvPr/>
        </p:nvSpPr>
        <p:spPr>
          <a:xfrm>
            <a:off x="7838236" y="1700784"/>
            <a:ext cx="3347892" cy="83210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ε-greedy treats every exploratory action alike: a random choice among all k, regardless of estimated value or uncertainty. It therefore spends the same effort on an arm that is nearly best as on one already known to be terrible.</a:t>
            </a:r>
          </a:p>
        </p:txBody>
      </p:sp>
      <p:sp>
        <p:nvSpPr>
          <p:cNvPr id="18" name="TextBox 17"/>
          <p:cNvSpPr txBox="1"/>
          <p:nvPr/>
        </p:nvSpPr>
        <p:spPr>
          <a:xfrm>
            <a:off x="7618780" y="2953511"/>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THREE WAYS TO BE MORE SELECTIVE</a:t>
            </a:r>
          </a:p>
        </p:txBody>
      </p:sp>
      <p:sp>
        <p:nvSpPr>
          <p:cNvPr id="19" name="TextBox 18"/>
          <p:cNvSpPr txBox="1"/>
          <p:nvPr/>
        </p:nvSpPr>
        <p:spPr>
          <a:xfrm>
            <a:off x="7618780" y="3209544"/>
            <a:ext cx="3731940" cy="1180876"/>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0" i="0" dirty="0">
                <a:solidFill>
                  <a:srgbClr val="333639"/>
                </a:solidFill>
                <a:latin typeface="Fira Sans"/>
              </a:rPr>
              <a:t>by </a:t>
            </a:r>
            <a:r>
              <a:rPr sz="1092" b="1" i="0" dirty="0">
                <a:solidFill>
                  <a:srgbClr val="574676"/>
                </a:solidFill>
                <a:latin typeface="Fira Sans"/>
              </a:rPr>
              <a:t>estimated value</a:t>
            </a:r>
            <a:r>
              <a:rPr sz="1092" b="0" i="0" dirty="0">
                <a:solidFill>
                  <a:srgbClr val="333639"/>
                </a:solidFill>
                <a:latin typeface="Fira Sans"/>
              </a:rPr>
              <a:t> — explore the promising more than the hopeless.  →  </a:t>
            </a:r>
            <a:r>
              <a:rPr sz="1092" b="0" i="0" dirty="0" err="1">
                <a:solidFill>
                  <a:srgbClr val="333639"/>
                </a:solidFill>
                <a:latin typeface="Fira Sans"/>
              </a:rPr>
              <a:t>Softmax</a:t>
            </a:r>
            <a:endParaRPr sz="1092" b="0" i="0" dirty="0">
              <a:solidFill>
                <a:srgbClr val="333639"/>
              </a:solidFill>
              <a:latin typeface="Fira Sans"/>
            </a:endParaRPr>
          </a:p>
          <a:p>
            <a:pPr marL="182880" indent="-182880" algn="l">
              <a:lnSpc>
                <a:spcPts val="1223"/>
              </a:lnSpc>
              <a:spcBef>
                <a:spcPts val="800"/>
              </a:spcBef>
              <a:spcAft>
                <a:spcPts val="0"/>
              </a:spcAft>
              <a:buClr>
                <a:srgbClr val="1971C2"/>
              </a:buClr>
              <a:buFont typeface="Fira Sans"/>
              <a:buChar char="–"/>
            </a:pPr>
            <a:r>
              <a:rPr sz="1092" b="0" i="0" dirty="0">
                <a:solidFill>
                  <a:srgbClr val="333639"/>
                </a:solidFill>
                <a:latin typeface="Fira Sans"/>
              </a:rPr>
              <a:t>by </a:t>
            </a:r>
            <a:r>
              <a:rPr sz="1092" b="1" i="0" dirty="0">
                <a:solidFill>
                  <a:srgbClr val="574676"/>
                </a:solidFill>
                <a:latin typeface="Fira Sans"/>
              </a:rPr>
              <a:t>uncertainty</a:t>
            </a:r>
            <a:r>
              <a:rPr sz="1092" b="0" i="0" dirty="0">
                <a:solidFill>
                  <a:srgbClr val="333639"/>
                </a:solidFill>
                <a:latin typeface="Fira Sans"/>
              </a:rPr>
              <a:t> — give insufficiently known actions the benefit of the doubt.  →  UCB</a:t>
            </a:r>
          </a:p>
          <a:p>
            <a:pPr marL="182880" indent="-182880" algn="l">
              <a:lnSpc>
                <a:spcPts val="1223"/>
              </a:lnSpc>
              <a:spcBef>
                <a:spcPts val="800"/>
              </a:spcBef>
              <a:spcAft>
                <a:spcPts val="0"/>
              </a:spcAft>
              <a:buClr>
                <a:srgbClr val="1971C2"/>
              </a:buClr>
              <a:buFont typeface="Fira Sans"/>
              <a:buChar char="–"/>
            </a:pPr>
            <a:r>
              <a:rPr sz="1092" b="0" i="0" dirty="0">
                <a:solidFill>
                  <a:srgbClr val="333639"/>
                </a:solidFill>
                <a:latin typeface="Fira Sans"/>
              </a:rPr>
              <a:t>by </a:t>
            </a:r>
            <a:r>
              <a:rPr sz="1092" b="1" i="0" dirty="0">
                <a:solidFill>
                  <a:srgbClr val="574676"/>
                </a:solidFill>
                <a:latin typeface="Fira Sans"/>
              </a:rPr>
              <a:t>a full distribution</a:t>
            </a:r>
            <a:r>
              <a:rPr sz="1092" b="0" i="0" dirty="0">
                <a:solidFill>
                  <a:srgbClr val="333639"/>
                </a:solidFill>
                <a:latin typeface="Fira Sans"/>
              </a:rPr>
              <a:t> over what each value could be.  →  Thompson sampling</a:t>
            </a:r>
          </a:p>
        </p:txBody>
      </p:sp>
      <p:sp>
        <p:nvSpPr>
          <p:cNvPr id="20" name="Rectangle 19"/>
          <p:cNvSpPr/>
          <p:nvPr/>
        </p:nvSpPr>
        <p:spPr>
          <a:xfrm>
            <a:off x="7618780" y="4646452"/>
            <a:ext cx="3731940" cy="1167384"/>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7618780" y="4646452"/>
            <a:ext cx="41148" cy="1167384"/>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838236" y="4792756"/>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9AA6B2"/>
                </a:solidFill>
                <a:latin typeface="Fira Sans"/>
              </a:rPr>
              <a:t>KEEPING Ε-GREEDY IN THE PICTURE</a:t>
            </a:r>
          </a:p>
        </p:txBody>
      </p:sp>
      <p:sp>
        <p:nvSpPr>
          <p:cNvPr id="23" name="TextBox 22"/>
          <p:cNvSpPr txBox="1"/>
          <p:nvPr/>
        </p:nvSpPr>
        <p:spPr>
          <a:xfrm>
            <a:off x="7838236" y="5030500"/>
            <a:ext cx="3347892" cy="637031"/>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ε-greedy nevertheless remains an important </a:t>
            </a:r>
            <a:r>
              <a:rPr sz="1045" b="1" i="0">
                <a:solidFill>
                  <a:srgbClr val="333639"/>
                </a:solidFill>
                <a:latin typeface="Fira Sans"/>
              </a:rPr>
              <a:t>baseline</a:t>
            </a:r>
            <a:r>
              <a:rPr sz="1045" b="0" i="0">
                <a:solidFill>
                  <a:srgbClr val="333639"/>
                </a:solidFill>
                <a:latin typeface="Fira Sans"/>
              </a:rPr>
              <a:t>, because it captures the essential trade-off with almost no machinery — and because every method below buys its advantage with an extra assumption.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5.2  SOFTMAX: EXPLORE IN PROPORTION TO HOW PROMISING AN ACTION LOOKS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Make every action possible, but not equally likely</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V — Strategic exploration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31</a:t>
            </a:r>
          </a:p>
        </p:txBody>
      </p:sp>
      <p:sp>
        <p:nvSpPr>
          <p:cNvPr id="8" name="TextBox 7"/>
          <p:cNvSpPr txBox="1"/>
          <p:nvPr/>
        </p:nvSpPr>
        <p:spPr>
          <a:xfrm>
            <a:off x="841248" y="1316736"/>
            <a:ext cx="6543446" cy="801979"/>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If two actions are both uncertain but one looks much better, spend more of the exploration budget on the better one — without discarding the other, because the estimates may be wrong. Softmax does this by turning the estimates into a </a:t>
            </a:r>
            <a:r>
              <a:rPr sz="1235" b="1" i="0">
                <a:solidFill>
                  <a:srgbClr val="25282A"/>
                </a:solidFill>
                <a:latin typeface="Fira Sans"/>
              </a:rPr>
              <a:t>probability distribution over actions</a:t>
            </a:r>
            <a:r>
              <a:rPr sz="1235" b="0" i="0">
                <a:solidFill>
                  <a:srgbClr val="333639"/>
                </a:solidFill>
                <a:latin typeface="Fira Sans"/>
              </a:rPr>
              <a:t>.</a:t>
            </a:r>
          </a:p>
        </p:txBody>
      </p:sp>
      <p:pic>
        <p:nvPicPr>
          <p:cNvPr id="9" name="Picture 8" descr="eq_softmax_ann.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07008" y="2338171"/>
            <a:ext cx="4023359" cy="1562608"/>
          </a:xfrm>
          <a:prstGeom prst="rect">
            <a:avLst/>
          </a:prstGeom>
        </p:spPr>
      </p:pic>
      <p:sp>
        <p:nvSpPr>
          <p:cNvPr id="10" name="Rectangle 9"/>
          <p:cNvSpPr/>
          <p:nvPr/>
        </p:nvSpPr>
        <p:spPr>
          <a:xfrm>
            <a:off x="841248" y="4175099"/>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41248" y="4376267"/>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WHY NOT USE THE ESTIMATES AS PROBABILITIES DIRECTLY?</a:t>
            </a:r>
          </a:p>
        </p:txBody>
      </p:sp>
      <p:sp>
        <p:nvSpPr>
          <p:cNvPr id="12" name="TextBox 11"/>
          <p:cNvSpPr txBox="1"/>
          <p:nvPr/>
        </p:nvSpPr>
        <p:spPr>
          <a:xfrm>
            <a:off x="841248" y="4796891"/>
            <a:ext cx="6543446" cy="535838"/>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Because action values are not probabilities: they can be negative, they do not sum to one, and their absolute scale is arbitrary. The exponential makes every preference </a:t>
            </a:r>
            <a:r>
              <a:rPr sz="1092" b="1" i="0">
                <a:solidFill>
                  <a:srgbClr val="2B7A3E"/>
                </a:solidFill>
                <a:latin typeface="Fira Sans"/>
              </a:rPr>
              <a:t>positive</a:t>
            </a:r>
            <a:r>
              <a:rPr sz="1092" b="0" i="0">
                <a:solidFill>
                  <a:srgbClr val="333639"/>
                </a:solidFill>
                <a:latin typeface="Fira Sans"/>
              </a:rPr>
              <a:t> while preserving the ordering, and the denominator normalises them.</a:t>
            </a:r>
          </a:p>
        </p:txBody>
      </p:sp>
      <p:sp>
        <p:nvSpPr>
          <p:cNvPr id="13" name="TextBox 12"/>
          <p:cNvSpPr txBox="1"/>
          <p:nvPr/>
        </p:nvSpPr>
        <p:spPr>
          <a:xfrm>
            <a:off x="7618780" y="1316736"/>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SOFTMAX CARES ABOUT DIFFERENCES, NOT LEVELS</a:t>
            </a:r>
          </a:p>
        </p:txBody>
      </p:sp>
      <p:pic>
        <p:nvPicPr>
          <p:cNvPr id="14" name="Picture 13" descr="eq_softmax_ratio.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18780" y="1591056"/>
            <a:ext cx="2856357" cy="563499"/>
          </a:xfrm>
          <a:prstGeom prst="rect">
            <a:avLst/>
          </a:prstGeom>
        </p:spPr>
      </p:pic>
      <p:sp>
        <p:nvSpPr>
          <p:cNvPr id="15" name="TextBox 14"/>
          <p:cNvSpPr txBox="1"/>
          <p:nvPr/>
        </p:nvSpPr>
        <p:spPr>
          <a:xfrm>
            <a:off x="7618780" y="2374011"/>
            <a:ext cx="3731940" cy="768624"/>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0" i="0">
                <a:solidFill>
                  <a:srgbClr val="333639"/>
                </a:solidFill>
                <a:latin typeface="Fira Sans"/>
              </a:rPr>
              <a:t>Equal estimates ⇒ equal probabilities. Adding a constant to every estimate changes nothing.</a:t>
            </a:r>
          </a:p>
          <a:p>
            <a:pPr marL="182880" indent="-182880" algn="l">
              <a:lnSpc>
                <a:spcPts val="1223"/>
              </a:lnSpc>
              <a:spcBef>
                <a:spcPts val="800"/>
              </a:spcBef>
              <a:spcAft>
                <a:spcPts val="0"/>
              </a:spcAft>
              <a:buClr>
                <a:srgbClr val="1971C2"/>
              </a:buClr>
              <a:buFont typeface="Fira Sans"/>
              <a:buChar char="–"/>
            </a:pPr>
            <a:r>
              <a:rPr sz="1092" b="0" i="0">
                <a:solidFill>
                  <a:srgbClr val="333639"/>
                </a:solidFill>
                <a:latin typeface="Fira Sans"/>
              </a:rPr>
              <a:t>A better-looking action’s probability grows </a:t>
            </a:r>
            <a:r>
              <a:rPr sz="1092" b="1" i="0">
                <a:solidFill>
                  <a:srgbClr val="25282A"/>
                </a:solidFill>
                <a:latin typeface="Fira Sans"/>
              </a:rPr>
              <a:t>exponentially</a:t>
            </a:r>
            <a:r>
              <a:rPr sz="1092" b="0" i="0">
                <a:solidFill>
                  <a:srgbClr val="333639"/>
                </a:solidFill>
                <a:latin typeface="Fira Sans"/>
              </a:rPr>
              <a:t> in the gap between the two estimates.</a:t>
            </a:r>
          </a:p>
        </p:txBody>
      </p:sp>
      <p:sp>
        <p:nvSpPr>
          <p:cNvPr id="16" name="TextBox 15"/>
          <p:cNvSpPr txBox="1"/>
          <p:nvPr/>
        </p:nvSpPr>
        <p:spPr>
          <a:xfrm>
            <a:off x="7618780" y="3380379"/>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TEMPERATURE, AT ITS TWO EXTREMES</a:t>
            </a:r>
          </a:p>
        </p:txBody>
      </p:sp>
      <p:pic>
        <p:nvPicPr>
          <p:cNvPr id="17" name="Picture 16" descr="eq_softmax_hot.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18780" y="3654699"/>
            <a:ext cx="3731940" cy="298608"/>
          </a:xfrm>
          <a:prstGeom prst="rect">
            <a:avLst/>
          </a:prstGeom>
        </p:spPr>
      </p:pic>
      <p:pic>
        <p:nvPicPr>
          <p:cNvPr id="18" name="Picture 17" descr="eq_softmax_col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18780" y="4099611"/>
            <a:ext cx="3731940" cy="167841"/>
          </a:xfrm>
          <a:prstGeom prst="rect">
            <a:avLst/>
          </a:prstGeom>
        </p:spPr>
      </p:pic>
      <p:sp>
        <p:nvSpPr>
          <p:cNvPr id="19" name="Rectangle 18"/>
          <p:cNvSpPr/>
          <p:nvPr/>
        </p:nvSpPr>
        <p:spPr>
          <a:xfrm>
            <a:off x="7618780" y="4468621"/>
            <a:ext cx="3731940" cy="1008126"/>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7618780" y="4468621"/>
            <a:ext cx="41148" cy="1008126"/>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838236" y="4614925"/>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Τ VERSUS Ε</a:t>
            </a:r>
          </a:p>
        </p:txBody>
      </p:sp>
      <p:sp>
        <p:nvSpPr>
          <p:cNvPr id="22" name="TextBox 21"/>
          <p:cNvSpPr txBox="1"/>
          <p:nvPr/>
        </p:nvSpPr>
        <p:spPr>
          <a:xfrm>
            <a:off x="7838236" y="4852669"/>
            <a:ext cx="3347892" cy="477773"/>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τ plays a role similar to ε, but instead of switching between greedy and uniform it </a:t>
            </a:r>
            <a:r>
              <a:rPr sz="1045" b="1" i="0">
                <a:solidFill>
                  <a:srgbClr val="333639"/>
                </a:solidFill>
                <a:latin typeface="Fira Sans"/>
              </a:rPr>
              <a:t>continuously</a:t>
            </a:r>
            <a:r>
              <a:rPr sz="1045" b="0" i="0">
                <a:solidFill>
                  <a:srgbClr val="333639"/>
                </a:solidFill>
                <a:latin typeface="Fira Sans"/>
              </a:rPr>
              <a:t> controls how strongly selection favours larger estimates.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5.3  THE EFFECT OF TEMPERATURE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same three estimates, three very different distributions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V — Strategic exploration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32</a:t>
            </a:r>
          </a:p>
        </p:txBody>
      </p:sp>
      <p:sp>
        <p:nvSpPr>
          <p:cNvPr id="8" name="TextBox 7"/>
          <p:cNvSpPr txBox="1"/>
          <p:nvPr/>
        </p:nvSpPr>
        <p:spPr>
          <a:xfrm>
            <a:off x="841248" y="1316736"/>
            <a:ext cx="6543446" cy="801979"/>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dirty="0">
                <a:solidFill>
                  <a:srgbClr val="333639"/>
                </a:solidFill>
                <a:latin typeface="Fira Sans"/>
              </a:rPr>
              <a:t>Hold the estimates fixed at Q = (1, 2, 3) and vary only </a:t>
            </a:r>
            <a:r>
              <a:rPr sz="1235" b="0" i="0" dirty="0" err="1">
                <a:solidFill>
                  <a:srgbClr val="333639"/>
                </a:solidFill>
                <a:latin typeface="Fira Sans"/>
              </a:rPr>
              <a:t>τ</a:t>
            </a:r>
            <a:r>
              <a:rPr sz="1235" b="0" i="0" dirty="0">
                <a:solidFill>
                  <a:srgbClr val="333639"/>
                </a:solidFill>
                <a:latin typeface="Fira Sans"/>
              </a:rPr>
              <a:t>. A </a:t>
            </a:r>
            <a:r>
              <a:rPr sz="1235" b="1" i="0" dirty="0">
                <a:solidFill>
                  <a:srgbClr val="C8102E"/>
                </a:solidFill>
                <a:latin typeface="Fira Sans"/>
              </a:rPr>
              <a:t>low</a:t>
            </a:r>
            <a:r>
              <a:rPr sz="1235" b="0" i="0" dirty="0">
                <a:solidFill>
                  <a:srgbClr val="333639"/>
                </a:solidFill>
                <a:latin typeface="Fira Sans"/>
              </a:rPr>
              <a:t> temperature amplifies the differences and concentrates almost all probability on the best action — </a:t>
            </a:r>
            <a:r>
              <a:rPr sz="1235" b="0" i="0" dirty="0" err="1">
                <a:solidFill>
                  <a:srgbClr val="333639"/>
                </a:solidFill>
                <a:latin typeface="Fira Sans"/>
              </a:rPr>
              <a:t>Softmax</a:t>
            </a:r>
            <a:r>
              <a:rPr sz="1235" b="0" i="0" dirty="0">
                <a:solidFill>
                  <a:srgbClr val="333639"/>
                </a:solidFill>
                <a:latin typeface="Fira Sans"/>
              </a:rPr>
              <a:t> becomes nearly greedy. A </a:t>
            </a:r>
            <a:r>
              <a:rPr sz="1235" b="1" i="0" dirty="0">
                <a:solidFill>
                  <a:srgbClr val="574676"/>
                </a:solidFill>
                <a:latin typeface="Fira Sans"/>
              </a:rPr>
              <a:t>high</a:t>
            </a:r>
            <a:r>
              <a:rPr sz="1235" b="0" i="0" dirty="0">
                <a:solidFill>
                  <a:srgbClr val="333639"/>
                </a:solidFill>
                <a:latin typeface="Fira Sans"/>
              </a:rPr>
              <a:t> temperature compresses them and the distribution approaches uniform.</a:t>
            </a:r>
          </a:p>
        </p:txBody>
      </p:sp>
      <p:pic>
        <p:nvPicPr>
          <p:cNvPr id="9" name="Picture 8" descr="softmax_temp.png"/>
          <p:cNvPicPr>
            <a:picLocks noChangeAspect="1"/>
          </p:cNvPicPr>
          <p:nvPr/>
        </p:nvPicPr>
        <p:blipFill>
          <a:blip r:embed="rId2"/>
          <a:stretch>
            <a:fillRect/>
          </a:stretch>
        </p:blipFill>
        <p:spPr>
          <a:xfrm>
            <a:off x="1285606" y="2186594"/>
            <a:ext cx="4889039" cy="2701838"/>
          </a:xfrm>
          <a:prstGeom prst="rect">
            <a:avLst/>
          </a:prstGeom>
        </p:spPr>
      </p:pic>
      <p:sp>
        <p:nvSpPr>
          <p:cNvPr id="10" name="TextBox 9"/>
          <p:cNvSpPr txBox="1"/>
          <p:nvPr/>
        </p:nvSpPr>
        <p:spPr>
          <a:xfrm>
            <a:off x="841248" y="4989931"/>
            <a:ext cx="6543446"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a:solidFill>
                  <a:srgbClr val="626669"/>
                </a:solidFill>
                <a:latin typeface="Fira Sans"/>
              </a:rPr>
              <a:t>Selection probabilities for three temperatures. The dotted line is uniform selection, 1/3.</a:t>
            </a:r>
          </a:p>
        </p:txBody>
      </p:sp>
      <p:sp>
        <p:nvSpPr>
          <p:cNvPr id="11" name="Rectangle 10"/>
          <p:cNvSpPr/>
          <p:nvPr/>
        </p:nvSpPr>
        <p:spPr>
          <a:xfrm>
            <a:off x="841248" y="5363311"/>
            <a:ext cx="6543446" cy="863193"/>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841248" y="5363311"/>
            <a:ext cx="41148" cy="86319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0704" y="5509615"/>
            <a:ext cx="6250838"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THE USEFUL REGIME</a:t>
            </a:r>
          </a:p>
        </p:txBody>
      </p:sp>
      <p:sp>
        <p:nvSpPr>
          <p:cNvPr id="14" name="TextBox 13"/>
          <p:cNvSpPr txBox="1"/>
          <p:nvPr/>
        </p:nvSpPr>
        <p:spPr>
          <a:xfrm>
            <a:off x="1060704" y="5747359"/>
            <a:ext cx="6159398" cy="332841"/>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Intermediate temperatures give a </a:t>
            </a:r>
            <a:r>
              <a:rPr sz="1092" b="1" i="0" dirty="0">
                <a:solidFill>
                  <a:srgbClr val="333639"/>
                </a:solidFill>
                <a:latin typeface="Fira Sans"/>
              </a:rPr>
              <a:t>graded</a:t>
            </a:r>
            <a:r>
              <a:rPr sz="1092" b="0" i="0" dirty="0">
                <a:solidFill>
                  <a:srgbClr val="333639"/>
                </a:solidFill>
                <a:latin typeface="Fira Sans"/>
              </a:rPr>
              <a:t> exploration: promising actions are </a:t>
            </a:r>
            <a:r>
              <a:rPr sz="1092" b="0" i="0" dirty="0" err="1">
                <a:solidFill>
                  <a:srgbClr val="333639"/>
                </a:solidFill>
                <a:latin typeface="Fira Sans"/>
              </a:rPr>
              <a:t>favoured</a:t>
            </a:r>
            <a:r>
              <a:rPr sz="1092" b="0" i="0" dirty="0">
                <a:solidFill>
                  <a:srgbClr val="333639"/>
                </a:solidFill>
                <a:latin typeface="Fira Sans"/>
              </a:rPr>
              <a:t> without the others being excluded.</a:t>
            </a:r>
          </a:p>
        </p:txBody>
      </p:sp>
      <p:sp>
        <p:nvSpPr>
          <p:cNvPr id="15" name="TextBox 14"/>
          <p:cNvSpPr txBox="1"/>
          <p:nvPr/>
        </p:nvSpPr>
        <p:spPr>
          <a:xfrm>
            <a:off x="7618780" y="1316736"/>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A DECAYING TEMPERATURE, FOR THE SAME REASON AS Ε</a:t>
            </a:r>
          </a:p>
        </p:txBody>
      </p:sp>
      <p:sp>
        <p:nvSpPr>
          <p:cNvPr id="16" name="TextBox 15"/>
          <p:cNvSpPr txBox="1"/>
          <p:nvPr/>
        </p:nvSpPr>
        <p:spPr>
          <a:xfrm>
            <a:off x="7618780" y="1572768"/>
            <a:ext cx="3731940" cy="1336202"/>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0" i="0">
                <a:solidFill>
                  <a:srgbClr val="333639"/>
                </a:solidFill>
                <a:latin typeface="Fira Sans"/>
              </a:rPr>
              <a:t>Early, when the estimates are unreliable, a high τ spreads the probability broadly.</a:t>
            </a:r>
          </a:p>
          <a:p>
            <a:pPr marL="182880" indent="-182880" algn="l">
              <a:lnSpc>
                <a:spcPts val="1223"/>
              </a:lnSpc>
              <a:spcBef>
                <a:spcPts val="800"/>
              </a:spcBef>
              <a:spcAft>
                <a:spcPts val="0"/>
              </a:spcAft>
              <a:buClr>
                <a:srgbClr val="1971C2"/>
              </a:buClr>
              <a:buFont typeface="Fira Sans"/>
              <a:buChar char="–"/>
            </a:pPr>
            <a:r>
              <a:rPr sz="1092" b="0" i="0">
                <a:solidFill>
                  <a:srgbClr val="333639"/>
                </a:solidFill>
                <a:latin typeface="Fira Sans"/>
              </a:rPr>
              <a:t>Later, as they become trustworthy, lowering τ concentrates the mass on the arms that look best.</a:t>
            </a:r>
          </a:p>
          <a:p>
            <a:pPr marL="182880" indent="-182880" algn="l">
              <a:lnSpc>
                <a:spcPts val="1223"/>
              </a:lnSpc>
              <a:spcBef>
                <a:spcPts val="800"/>
              </a:spcBef>
              <a:spcAft>
                <a:spcPts val="0"/>
              </a:spcAft>
              <a:buClr>
                <a:srgbClr val="1971C2"/>
              </a:buClr>
              <a:buFont typeface="Fira Sans"/>
              <a:buChar char="–"/>
            </a:pPr>
            <a:r>
              <a:rPr sz="1092" b="0" i="0">
                <a:solidFill>
                  <a:srgbClr val="333639"/>
                </a:solidFill>
                <a:latin typeface="Fira Sans"/>
              </a:rPr>
              <a:t>The implementation in the notes decreases τ </a:t>
            </a:r>
            <a:r>
              <a:rPr sz="1092" b="1" i="0">
                <a:solidFill>
                  <a:srgbClr val="25282A"/>
                </a:solidFill>
                <a:latin typeface="Fira Sans"/>
              </a:rPr>
              <a:t>linearly</a:t>
            </a:r>
            <a:r>
              <a:rPr sz="1092" b="0" i="0">
                <a:solidFill>
                  <a:srgbClr val="333639"/>
                </a:solidFill>
                <a:latin typeface="Fira Sans"/>
              </a:rPr>
              <a:t> from an initial value to a floor over a fixed fraction of the run.</a:t>
            </a:r>
          </a:p>
        </p:txBody>
      </p:sp>
      <p:sp>
        <p:nvSpPr>
          <p:cNvPr id="17" name="Rectangle 16"/>
          <p:cNvSpPr/>
          <p:nvPr/>
        </p:nvSpPr>
        <p:spPr>
          <a:xfrm>
            <a:off x="7618780" y="3165002"/>
            <a:ext cx="3731940" cy="1528876"/>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7618780" y="3165002"/>
            <a:ext cx="41148" cy="1528876"/>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838236" y="3311306"/>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SELECTIVE, NOT UNIFORM</a:t>
            </a:r>
          </a:p>
        </p:txBody>
      </p:sp>
      <p:sp>
        <p:nvSpPr>
          <p:cNvPr id="20" name="TextBox 19"/>
          <p:cNvSpPr txBox="1"/>
          <p:nvPr/>
        </p:nvSpPr>
        <p:spPr>
          <a:xfrm>
            <a:off x="7838236" y="3549050"/>
            <a:ext cx="3347892" cy="998524"/>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The key difference from ε-greedy is now explicit. During an ε-greedy exploratory step </a:t>
            </a:r>
            <a:r>
              <a:rPr sz="1092" b="1" i="0">
                <a:solidFill>
                  <a:srgbClr val="333639"/>
                </a:solidFill>
                <a:latin typeface="Fira Sans"/>
              </a:rPr>
              <a:t>all actions are treated equally</a:t>
            </a:r>
            <a:r>
              <a:rPr sz="1092" b="0" i="0">
                <a:solidFill>
                  <a:srgbClr val="333639"/>
                </a:solidFill>
                <a:latin typeface="Fira Sans"/>
              </a:rPr>
              <a:t>. With Softmax, an arm estimated to be almost as good as the best receives substantially more attention than one estimated to be terrible.</a:t>
            </a:r>
          </a:p>
        </p:txBody>
      </p:sp>
      <p:sp>
        <p:nvSpPr>
          <p:cNvPr id="21" name="Rectangle 20"/>
          <p:cNvSpPr/>
          <p:nvPr/>
        </p:nvSpPr>
        <p:spPr>
          <a:xfrm>
            <a:off x="7618780" y="4931623"/>
            <a:ext cx="3731940" cy="1167384"/>
          </a:xfrm>
          <a:prstGeom prst="rect">
            <a:avLst/>
          </a:prstGeom>
          <a:solidFill>
            <a:srgbClr val="FA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7618780" y="4931623"/>
            <a:ext cx="41148" cy="11673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838236" y="5077927"/>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C8102E"/>
                </a:solidFill>
                <a:latin typeface="Fira Sans"/>
              </a:rPr>
              <a:t>THE LIMITATION</a:t>
            </a:r>
          </a:p>
        </p:txBody>
      </p:sp>
      <p:sp>
        <p:nvSpPr>
          <p:cNvPr id="24" name="TextBox 23"/>
          <p:cNvSpPr txBox="1"/>
          <p:nvPr/>
        </p:nvSpPr>
        <p:spPr>
          <a:xfrm>
            <a:off x="7838236" y="5315671"/>
            <a:ext cx="3347892" cy="637031"/>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The price: the probabilities depend on the </a:t>
            </a:r>
            <a:r>
              <a:rPr sz="1045" b="1" i="0">
                <a:solidFill>
                  <a:srgbClr val="333639"/>
                </a:solidFill>
                <a:latin typeface="Fira Sans"/>
              </a:rPr>
              <a:t>absolute scale</a:t>
            </a:r>
            <a:r>
              <a:rPr sz="1045" b="0" i="0">
                <a:solidFill>
                  <a:srgbClr val="333639"/>
                </a:solidFill>
                <a:latin typeface="Fira Sans"/>
              </a:rPr>
              <a:t> of the estimates. The same τ behaves very differently when the gaps are small or large, so τ and its schedule need careful tuning.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5.4  UPPER CONFIDENCE BOUND</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Give an action the benefit of the doubt in proportion to what we do not know</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V — Strategic exploration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33</a:t>
            </a:r>
          </a:p>
        </p:txBody>
      </p:sp>
      <p:sp>
        <p:nvSpPr>
          <p:cNvPr id="8" name="TextBox 7"/>
          <p:cNvSpPr txBox="1"/>
          <p:nvPr/>
        </p:nvSpPr>
        <p:spPr>
          <a:xfrm>
            <a:off x="841248" y="1316736"/>
            <a:ext cx="6543446" cy="801979"/>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Optimistic initialisation was optimistic about everything, arbitrarily and only once. A more principled version makes the optimism depend on </a:t>
            </a:r>
            <a:r>
              <a:rPr sz="1235" b="1" i="0">
                <a:solidFill>
                  <a:srgbClr val="25282A"/>
                </a:solidFill>
                <a:latin typeface="Fira Sans"/>
              </a:rPr>
              <a:t>how uncertain we are about each action</a:t>
            </a:r>
            <a:r>
              <a:rPr sz="1235" b="0" i="0">
                <a:solidFill>
                  <a:srgbClr val="333639"/>
                </a:solidFill>
                <a:latin typeface="Fira Sans"/>
              </a:rPr>
              <a:t>: sampled many times ⇒ we can trust the estimate; sampled rarely ⇒ the true value could still be much better than it looks.</a:t>
            </a:r>
          </a:p>
        </p:txBody>
      </p:sp>
      <p:pic>
        <p:nvPicPr>
          <p:cNvPr id="9" name="Picture 8" descr="eq_ucb_ann.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568" y="2356459"/>
            <a:ext cx="5257800" cy="1085850"/>
          </a:xfrm>
          <a:prstGeom prst="rect">
            <a:avLst/>
          </a:prstGeom>
        </p:spPr>
      </p:pic>
      <p:sp>
        <p:nvSpPr>
          <p:cNvPr id="10" name="Rectangle 9"/>
          <p:cNvSpPr/>
          <p:nvPr/>
        </p:nvSpPr>
        <p:spPr>
          <a:xfrm>
            <a:off x="841248" y="3734917"/>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41248" y="3936085"/>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AN ACTION CAN BE ATTRACTIVE FOR TWO DIFFERENT REASONS</a:t>
            </a:r>
          </a:p>
        </p:txBody>
      </p:sp>
      <p:sp>
        <p:nvSpPr>
          <p:cNvPr id="12" name="TextBox 11"/>
          <p:cNvSpPr txBox="1"/>
          <p:nvPr/>
        </p:nvSpPr>
        <p:spPr>
          <a:xfrm>
            <a:off x="841248" y="4356709"/>
            <a:ext cx="6543446" cy="471627"/>
          </a:xfrm>
          <a:prstGeom prst="rect">
            <a:avLst/>
          </a:prstGeom>
          <a:noFill/>
        </p:spPr>
        <p:txBody>
          <a:bodyPr wrap="square" lIns="0" tIns="0" rIns="0" bIns="0" anchor="t">
            <a:noAutofit/>
          </a:bodyPr>
          <a:lstStyle/>
          <a:p>
            <a:pPr marL="182880" indent="-182880" algn="l">
              <a:lnSpc>
                <a:spcPts val="1277"/>
              </a:lnSpc>
              <a:spcBef>
                <a:spcPts val="0"/>
              </a:spcBef>
              <a:spcAft>
                <a:spcPts val="0"/>
              </a:spcAft>
              <a:buClr>
                <a:srgbClr val="1971C2"/>
              </a:buClr>
              <a:buFont typeface="Fira Sans"/>
              <a:buChar char="–"/>
            </a:pPr>
            <a:r>
              <a:rPr sz="1140" b="0" i="0">
                <a:solidFill>
                  <a:srgbClr val="333639"/>
                </a:solidFill>
                <a:latin typeface="Fira Sans"/>
              </a:rPr>
              <a:t>because we </a:t>
            </a:r>
            <a:r>
              <a:rPr sz="1140" b="1" i="0">
                <a:solidFill>
                  <a:srgbClr val="2B7A3E"/>
                </a:solidFill>
                <a:latin typeface="Fira Sans"/>
              </a:rPr>
              <a:t>already believe it is good</a:t>
            </a:r>
            <a:r>
              <a:rPr sz="1140" b="0" i="0">
                <a:solidFill>
                  <a:srgbClr val="333639"/>
                </a:solidFill>
                <a:latin typeface="Fira Sans"/>
              </a:rPr>
              <a:t> — a large Q;</a:t>
            </a:r>
          </a:p>
          <a:p>
            <a:pPr marL="182880" indent="-182880" algn="l">
              <a:lnSpc>
                <a:spcPts val="1277"/>
              </a:lnSpc>
              <a:spcBef>
                <a:spcPts val="800"/>
              </a:spcBef>
              <a:spcAft>
                <a:spcPts val="0"/>
              </a:spcAft>
              <a:buClr>
                <a:srgbClr val="1971C2"/>
              </a:buClr>
              <a:buFont typeface="Fira Sans"/>
              <a:buChar char="–"/>
            </a:pPr>
            <a:r>
              <a:rPr sz="1140" b="0" i="0">
                <a:solidFill>
                  <a:srgbClr val="333639"/>
                </a:solidFill>
                <a:latin typeface="Fira Sans"/>
              </a:rPr>
              <a:t>because we are </a:t>
            </a:r>
            <a:r>
              <a:rPr sz="1140" b="1" i="0">
                <a:solidFill>
                  <a:srgbClr val="574676"/>
                </a:solidFill>
                <a:latin typeface="Fira Sans"/>
              </a:rPr>
              <a:t>still uncertain how good it might be</a:t>
            </a:r>
            <a:r>
              <a:rPr sz="1140" b="0" i="0">
                <a:solidFill>
                  <a:srgbClr val="333639"/>
                </a:solidFill>
                <a:latin typeface="Fira Sans"/>
              </a:rPr>
              <a:t> — a large bonus.</a:t>
            </a:r>
          </a:p>
        </p:txBody>
      </p:sp>
      <p:sp>
        <p:nvSpPr>
          <p:cNvPr id="13" name="TextBox 12"/>
          <p:cNvSpPr txBox="1"/>
          <p:nvPr/>
        </p:nvSpPr>
        <p:spPr>
          <a:xfrm>
            <a:off x="7618780" y="1316736"/>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BONUS, AND WHY THIS FORM</a:t>
            </a:r>
          </a:p>
        </p:txBody>
      </p:sp>
      <p:pic>
        <p:nvPicPr>
          <p:cNvPr id="14" name="Picture 13" descr="eq_ucb_bonus.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93100" y="1591056"/>
            <a:ext cx="1978660" cy="833120"/>
          </a:xfrm>
          <a:prstGeom prst="rect">
            <a:avLst/>
          </a:prstGeom>
        </p:spPr>
      </p:pic>
      <p:sp>
        <p:nvSpPr>
          <p:cNvPr id="15" name="TextBox 14"/>
          <p:cNvSpPr txBox="1"/>
          <p:nvPr/>
        </p:nvSpPr>
        <p:spPr>
          <a:xfrm>
            <a:off x="7618780" y="2643632"/>
            <a:ext cx="3731940" cy="1115364"/>
          </a:xfrm>
          <a:prstGeom prst="rect">
            <a:avLst/>
          </a:prstGeom>
          <a:noFill/>
        </p:spPr>
        <p:txBody>
          <a:bodyPr wrap="square" lIns="0" tIns="0" rIns="0" bIns="0" anchor="t">
            <a:noAutofit/>
          </a:bodyPr>
          <a:lstStyle/>
          <a:p>
            <a:pPr marL="182880" indent="-182880" algn="l">
              <a:lnSpc>
                <a:spcPts val="1170"/>
              </a:lnSpc>
              <a:spcBef>
                <a:spcPts val="0"/>
              </a:spcBef>
              <a:spcAft>
                <a:spcPts val="0"/>
              </a:spcAft>
              <a:buClr>
                <a:srgbClr val="1971C2"/>
              </a:buClr>
              <a:buFont typeface="Fira Sans"/>
              <a:buChar char="–"/>
            </a:pPr>
            <a:r>
              <a:rPr sz="1045" b="0" i="0">
                <a:solidFill>
                  <a:srgbClr val="333639"/>
                </a:solidFill>
                <a:latin typeface="Fira Sans"/>
              </a:rPr>
              <a:t>Selecting an action increases Nₜ(a), so its bonus </a:t>
            </a:r>
            <a:r>
              <a:rPr sz="1045" b="1" i="0">
                <a:solidFill>
                  <a:srgbClr val="25282A"/>
                </a:solidFill>
                <a:latin typeface="Fira Sans"/>
              </a:rPr>
              <a:t>shrinks</a:t>
            </a:r>
            <a:r>
              <a:rPr sz="1045" b="0" i="0">
                <a:solidFill>
                  <a:srgbClr val="333639"/>
                </a:solidFill>
                <a:latin typeface="Fira Sans"/>
              </a:rPr>
              <a:t>: sampling reduces uncertainty.</a:t>
            </a:r>
          </a:p>
          <a:p>
            <a:pPr marL="182880" indent="-182880" algn="l">
              <a:lnSpc>
                <a:spcPts val="1170"/>
              </a:lnSpc>
              <a:spcBef>
                <a:spcPts val="700"/>
              </a:spcBef>
              <a:spcAft>
                <a:spcPts val="0"/>
              </a:spcAft>
              <a:buClr>
                <a:srgbClr val="1971C2"/>
              </a:buClr>
              <a:buFont typeface="Fira Sans"/>
              <a:buChar char="–"/>
            </a:pPr>
            <a:r>
              <a:rPr sz="1045" b="0" i="0">
                <a:solidFill>
                  <a:srgbClr val="333639"/>
                </a:solidFill>
                <a:latin typeface="Fira Sans"/>
              </a:rPr>
              <a:t>Neglecting one leaves Nₜ(a) fixed while t grows, so its bonus </a:t>
            </a:r>
            <a:r>
              <a:rPr sz="1045" b="1" i="0">
                <a:solidFill>
                  <a:srgbClr val="25282A"/>
                </a:solidFill>
                <a:latin typeface="Fira Sans"/>
              </a:rPr>
              <a:t>slowly grows</a:t>
            </a:r>
            <a:r>
              <a:rPr sz="1045" b="0" i="0">
                <a:solidFill>
                  <a:srgbClr val="333639"/>
                </a:solidFill>
                <a:latin typeface="Fira Sans"/>
              </a:rPr>
              <a:t> and it becomes worth reconsidering.</a:t>
            </a:r>
          </a:p>
          <a:p>
            <a:pPr marL="182880" indent="-182880" algn="l">
              <a:lnSpc>
                <a:spcPts val="1170"/>
              </a:lnSpc>
              <a:spcBef>
                <a:spcPts val="700"/>
              </a:spcBef>
              <a:spcAft>
                <a:spcPts val="0"/>
              </a:spcAft>
              <a:buClr>
                <a:srgbClr val="1971C2"/>
              </a:buClr>
              <a:buFont typeface="Fira Sans"/>
              <a:buChar char="–"/>
            </a:pPr>
            <a:r>
              <a:rPr sz="1045" b="0" i="0">
                <a:solidFill>
                  <a:srgbClr val="333639"/>
                </a:solidFill>
                <a:latin typeface="Fira Sans"/>
              </a:rPr>
              <a:t>ln t rather than t: the incentive returns, but </a:t>
            </a:r>
            <a:r>
              <a:rPr sz="1045" b="1" i="0">
                <a:solidFill>
                  <a:srgbClr val="574676"/>
                </a:solidFill>
                <a:latin typeface="Fira Sans"/>
              </a:rPr>
              <a:t>ever more slowly</a:t>
            </a:r>
            <a:r>
              <a:rPr sz="1045" b="0" i="0">
                <a:solidFill>
                  <a:srgbClr val="333639"/>
                </a:solidFill>
                <a:latin typeface="Fira Sans"/>
              </a:rPr>
              <a:t> — hence logarithmic regret.</a:t>
            </a:r>
          </a:p>
        </p:txBody>
      </p:sp>
      <p:sp>
        <p:nvSpPr>
          <p:cNvPr id="16" name="Rectangle 15"/>
          <p:cNvSpPr/>
          <p:nvPr/>
        </p:nvSpPr>
        <p:spPr>
          <a:xfrm>
            <a:off x="7618780" y="3960164"/>
            <a:ext cx="3731940" cy="986180"/>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7618780" y="3960164"/>
            <a:ext cx="41148" cy="986180"/>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838236" y="4106468"/>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8A5100"/>
                </a:solidFill>
                <a:latin typeface="Fira Sans"/>
              </a:rPr>
              <a:t>THE INITIALISATION</a:t>
            </a:r>
          </a:p>
        </p:txBody>
      </p:sp>
      <p:sp>
        <p:nvSpPr>
          <p:cNvPr id="19" name="TextBox 18"/>
          <p:cNvSpPr txBox="1"/>
          <p:nvPr/>
        </p:nvSpPr>
        <p:spPr>
          <a:xfrm>
            <a:off x="7838236" y="4344212"/>
            <a:ext cx="3347892" cy="45582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The bonus is undefined when Nₜ(a) = 0, so every action is selected </a:t>
            </a:r>
            <a:r>
              <a:rPr sz="997" b="1" i="0">
                <a:solidFill>
                  <a:srgbClr val="333639"/>
                </a:solidFill>
                <a:latin typeface="Fira Sans"/>
              </a:rPr>
              <a:t>once</a:t>
            </a:r>
            <a:r>
              <a:rPr sz="997" b="0" i="0">
                <a:solidFill>
                  <a:srgbClr val="333639"/>
                </a:solidFill>
                <a:latin typeface="Fira Sans"/>
              </a:rPr>
              <a:t> before the rule is applied — the first ten steps are a fixed sweep.</a:t>
            </a:r>
          </a:p>
        </p:txBody>
      </p:sp>
      <p:sp>
        <p:nvSpPr>
          <p:cNvPr id="20" name="Rectangle 19"/>
          <p:cNvSpPr/>
          <p:nvPr/>
        </p:nvSpPr>
        <p:spPr>
          <a:xfrm>
            <a:off x="7618780" y="5129225"/>
            <a:ext cx="3731940" cy="1138123"/>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7618780" y="5129225"/>
            <a:ext cx="41148" cy="1138123"/>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838236" y="5275529"/>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9AA6B2"/>
                </a:solidFill>
                <a:latin typeface="Fira Sans"/>
              </a:rPr>
              <a:t>THE ONE PARAMETER</a:t>
            </a:r>
          </a:p>
        </p:txBody>
      </p:sp>
      <p:sp>
        <p:nvSpPr>
          <p:cNvPr id="23" name="TextBox 22"/>
          <p:cNvSpPr txBox="1"/>
          <p:nvPr/>
        </p:nvSpPr>
        <p:spPr>
          <a:xfrm>
            <a:off x="7838236" y="5513273"/>
            <a:ext cx="3347892" cy="607771"/>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c weights uncertainty against value: small c exploits, large c explores. The exploration is </a:t>
            </a:r>
            <a:r>
              <a:rPr sz="997" b="1" i="0">
                <a:solidFill>
                  <a:srgbClr val="333639"/>
                </a:solidFill>
                <a:latin typeface="Fira Sans"/>
              </a:rPr>
              <a:t>directed</a:t>
            </a:r>
            <a:r>
              <a:rPr sz="997" b="0" i="0">
                <a:solidFill>
                  <a:srgbClr val="333639"/>
                </a:solidFill>
                <a:latin typeface="Fira Sans"/>
              </a:rPr>
              <a:t>, not random — it goes to arms that are either good or insufficiently known.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5.5  THOMPSON SAMPLING: KEEP THE WHOLE DISTRIBUTION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Instead of one number per action, all the values it could plausibly have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V — Strategic exploration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34</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UCB uses uncertainty, but compresses it into a single bonus. Thompson sampling keeps the whole thing: for each action a </a:t>
            </a:r>
            <a:r>
              <a:rPr sz="1235" b="1" i="0">
                <a:solidFill>
                  <a:srgbClr val="25282A"/>
                </a:solidFill>
                <a:latin typeface="Fira Sans"/>
              </a:rPr>
              <a:t>probability distribution over the possible values of q(a)</a:t>
            </a:r>
            <a:r>
              <a:rPr sz="1235" b="0" i="0">
                <a:solidFill>
                  <a:srgbClr val="333639"/>
                </a:solidFill>
                <a:latin typeface="Fira Sans"/>
              </a:rPr>
              <a:t>. Note the distinction from everything so far — q(a) is the true unknown value, Q(a) was only a point estimate of it.</a:t>
            </a:r>
          </a:p>
        </p:txBody>
      </p:sp>
      <p:sp>
        <p:nvSpPr>
          <p:cNvPr id="9" name="TextBox 8"/>
          <p:cNvSpPr txBox="1"/>
          <p:nvPr/>
        </p:nvSpPr>
        <p:spPr>
          <a:xfrm>
            <a:off x="841248" y="1937181"/>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PRIOR — WHAT WE BELIEVE BEFORE ANY EVIDENCE</a:t>
            </a:r>
          </a:p>
        </p:txBody>
      </p:sp>
      <p:pic>
        <p:nvPicPr>
          <p:cNvPr id="10" name="Picture 9" descr="prior.png"/>
          <p:cNvPicPr>
            <a:picLocks noChangeAspect="1"/>
          </p:cNvPicPr>
          <p:nvPr/>
        </p:nvPicPr>
        <p:blipFill>
          <a:blip r:embed="rId2"/>
          <a:stretch>
            <a:fillRect/>
          </a:stretch>
        </p:blipFill>
        <p:spPr>
          <a:xfrm>
            <a:off x="940219" y="2174925"/>
            <a:ext cx="4904408" cy="1572768"/>
          </a:xfrm>
          <a:prstGeom prst="rect">
            <a:avLst/>
          </a:prstGeom>
        </p:spPr>
      </p:pic>
      <p:sp>
        <p:nvSpPr>
          <p:cNvPr id="11" name="TextBox 10"/>
          <p:cNvSpPr txBox="1"/>
          <p:nvPr/>
        </p:nvSpPr>
        <p:spPr>
          <a:xfrm>
            <a:off x="6254496" y="1937181"/>
            <a:ext cx="5096225"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POSTERIOR — AFTER EVIDENCE ARRIVES</a:t>
            </a:r>
          </a:p>
        </p:txBody>
      </p:sp>
      <p:pic>
        <p:nvPicPr>
          <p:cNvPr id="12" name="Picture 11" descr="posterior.png"/>
          <p:cNvPicPr>
            <a:picLocks noChangeAspect="1"/>
          </p:cNvPicPr>
          <p:nvPr/>
        </p:nvPicPr>
        <p:blipFill>
          <a:blip r:embed="rId3"/>
          <a:stretch>
            <a:fillRect/>
          </a:stretch>
        </p:blipFill>
        <p:spPr>
          <a:xfrm>
            <a:off x="6448044" y="2174925"/>
            <a:ext cx="4715256" cy="1572768"/>
          </a:xfrm>
          <a:prstGeom prst="rect">
            <a:avLst/>
          </a:prstGeom>
        </p:spPr>
      </p:pic>
      <p:sp>
        <p:nvSpPr>
          <p:cNvPr id="13" name="TextBox 12"/>
          <p:cNvSpPr txBox="1"/>
          <p:nvPr/>
        </p:nvSpPr>
        <p:spPr>
          <a:xfrm>
            <a:off x="841248" y="3857421"/>
            <a:ext cx="10515600" cy="172212"/>
          </a:xfrm>
          <a:prstGeom prst="rect">
            <a:avLst/>
          </a:prstGeom>
          <a:noFill/>
        </p:spPr>
        <p:txBody>
          <a:bodyPr wrap="square" lIns="0" tIns="0" rIns="0" bIns="0" anchor="t">
            <a:noAutofit/>
          </a:bodyPr>
          <a:lstStyle/>
          <a:p>
            <a:pPr marL="0" indent="0" algn="ctr">
              <a:lnSpc>
                <a:spcPts val="1140"/>
              </a:lnSpc>
              <a:spcBef>
                <a:spcPts val="0"/>
              </a:spcBef>
              <a:spcAft>
                <a:spcPts val="0"/>
              </a:spcAft>
              <a:buNone/>
            </a:pPr>
            <a:r>
              <a:rPr sz="950" b="0" i="1">
                <a:solidFill>
                  <a:srgbClr val="626669"/>
                </a:solidFill>
                <a:latin typeface="Fira Sans"/>
              </a:rPr>
              <a:t>An action sampled many times has a narrow posterior — we know its value fairly precisely. An action sampled rarely has a wide one: many values are still plausible.</a:t>
            </a:r>
          </a:p>
        </p:txBody>
      </p:sp>
      <p:sp>
        <p:nvSpPr>
          <p:cNvPr id="14" name="Rectangle 13"/>
          <p:cNvSpPr/>
          <p:nvPr/>
        </p:nvSpPr>
        <p:spPr>
          <a:xfrm>
            <a:off x="841248" y="4249089"/>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41248" y="4450257"/>
            <a:ext cx="5102352" cy="237744"/>
          </a:xfrm>
          <a:prstGeom prst="rect">
            <a:avLst/>
          </a:prstGeom>
          <a:noFill/>
        </p:spPr>
        <p:txBody>
          <a:bodyPr wrap="square" lIns="0" tIns="0" rIns="0" bIns="0" anchor="t">
            <a:noAutofit/>
          </a:bodyPr>
          <a:lstStyle/>
          <a:p>
            <a:pPr marL="0" indent="0" algn="l">
              <a:lnSpc>
                <a:spcPts val="1188"/>
              </a:lnSpc>
              <a:spcBef>
                <a:spcPts val="0"/>
              </a:spcBef>
              <a:spcAft>
                <a:spcPts val="0"/>
              </a:spcAft>
              <a:buNone/>
            </a:pPr>
            <a:r>
              <a:rPr sz="1188" b="1" i="0">
                <a:solidFill>
                  <a:srgbClr val="25282A"/>
                </a:solidFill>
                <a:latin typeface="Fira Sans"/>
              </a:rPr>
              <a:t>Draw one plausible value per action</a:t>
            </a:r>
          </a:p>
        </p:txBody>
      </p:sp>
      <p:pic>
        <p:nvPicPr>
          <p:cNvPr id="16" name="Picture 15" descr="eq_ts_sample.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5568" y="4779441"/>
            <a:ext cx="2212721" cy="349885"/>
          </a:xfrm>
          <a:prstGeom prst="rect">
            <a:avLst/>
          </a:prstGeom>
        </p:spPr>
      </p:pic>
      <p:sp>
        <p:nvSpPr>
          <p:cNvPr id="17" name="TextBox 16"/>
          <p:cNvSpPr txBox="1"/>
          <p:nvPr/>
        </p:nvSpPr>
        <p:spPr>
          <a:xfrm>
            <a:off x="841248" y="5236641"/>
            <a:ext cx="5102352" cy="349783"/>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0" i="0">
                <a:solidFill>
                  <a:srgbClr val="626669"/>
                </a:solidFill>
                <a:latin typeface="Fira Sans"/>
              </a:rPr>
              <a:t>Not the true value, and not a point estimate: </a:t>
            </a:r>
            <a:r>
              <a:rPr sz="1045" b="1" i="0">
                <a:solidFill>
                  <a:srgbClr val="25282A"/>
                </a:solidFill>
                <a:latin typeface="Fira Sans"/>
              </a:rPr>
              <a:t>one random hypothesis</a:t>
            </a:r>
            <a:r>
              <a:rPr sz="1045" b="0" i="0">
                <a:solidFill>
                  <a:srgbClr val="626669"/>
                </a:solidFill>
                <a:latin typeface="Fira Sans"/>
              </a:rPr>
              <a:t> about what the value might be, given the evidence 𝒟ₜ collected so far.</a:t>
            </a:r>
          </a:p>
        </p:txBody>
      </p:sp>
      <p:sp>
        <p:nvSpPr>
          <p:cNvPr id="18" name="TextBox 17"/>
          <p:cNvSpPr txBox="1"/>
          <p:nvPr/>
        </p:nvSpPr>
        <p:spPr>
          <a:xfrm>
            <a:off x="6254496" y="4450257"/>
            <a:ext cx="5102352" cy="237744"/>
          </a:xfrm>
          <a:prstGeom prst="rect">
            <a:avLst/>
          </a:prstGeom>
          <a:noFill/>
        </p:spPr>
        <p:txBody>
          <a:bodyPr wrap="square" lIns="0" tIns="0" rIns="0" bIns="0" anchor="t">
            <a:noAutofit/>
          </a:bodyPr>
          <a:lstStyle/>
          <a:p>
            <a:pPr marL="0" indent="0" algn="l">
              <a:lnSpc>
                <a:spcPts val="1188"/>
              </a:lnSpc>
              <a:spcBef>
                <a:spcPts val="0"/>
              </a:spcBef>
              <a:spcAft>
                <a:spcPts val="0"/>
              </a:spcAft>
              <a:buNone/>
            </a:pPr>
            <a:r>
              <a:rPr sz="1188" b="1" i="0" dirty="0">
                <a:solidFill>
                  <a:srgbClr val="25282A"/>
                </a:solidFill>
                <a:latin typeface="Fira Sans"/>
              </a:rPr>
              <a:t>Then act greedily on those hypotheses</a:t>
            </a:r>
          </a:p>
        </p:txBody>
      </p:sp>
      <p:pic>
        <p:nvPicPr>
          <p:cNvPr id="19" name="Picture 18" descr="eq_ts_act.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28816" y="4779441"/>
            <a:ext cx="2116201" cy="456057"/>
          </a:xfrm>
          <a:prstGeom prst="rect">
            <a:avLst/>
          </a:prstGeom>
        </p:spPr>
      </p:pic>
      <p:sp>
        <p:nvSpPr>
          <p:cNvPr id="20" name="TextBox 19"/>
          <p:cNvSpPr txBox="1"/>
          <p:nvPr/>
        </p:nvSpPr>
        <p:spPr>
          <a:xfrm>
            <a:off x="6254496" y="5236641"/>
            <a:ext cx="5102352" cy="349783"/>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0" i="0">
                <a:solidFill>
                  <a:srgbClr val="626669"/>
                </a:solidFill>
                <a:latin typeface="Fira Sans"/>
              </a:rPr>
              <a:t>There is no exploration step and no exploitation step. </a:t>
            </a:r>
            <a:r>
              <a:rPr sz="1045" b="1" i="0">
                <a:solidFill>
                  <a:srgbClr val="2B7A3E"/>
                </a:solidFill>
                <a:latin typeface="Fira Sans"/>
              </a:rPr>
              <a:t>Both emerge from the same sampling mechanism</a:t>
            </a:r>
            <a:r>
              <a:rPr sz="1045" b="0" i="0">
                <a:solidFill>
                  <a:srgbClr val="626669"/>
                </a:solidFill>
                <a:latin typeface="Fira Sans"/>
              </a:rPr>
              <a:t> — no ε, no temperature, no schedule.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5.6  WHY SAMPLING PRODUCES EXACTLY THE RIGHT EXPLORATION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Uncertainty is what generates the randomness, so it switches itself off</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V — Strategic exploration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35</a:t>
            </a:r>
          </a:p>
        </p:txBody>
      </p:sp>
      <p:sp>
        <p:nvSpPr>
          <p:cNvPr id="8" name="TextBox 7"/>
          <p:cNvSpPr txBox="1"/>
          <p:nvPr/>
        </p:nvSpPr>
        <p:spPr>
          <a:xfrm>
            <a:off x="841248" y="1316736"/>
            <a:ext cx="10515600" cy="610628"/>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An action with a high estimated value usually produces a large sample and is chosen often. But an </a:t>
            </a:r>
            <a:r>
              <a:rPr sz="1235" b="1" i="0">
                <a:solidFill>
                  <a:srgbClr val="574676"/>
                </a:solidFill>
                <a:latin typeface="Fira Sans"/>
              </a:rPr>
              <a:t>uncertain</a:t>
            </a:r>
            <a:r>
              <a:rPr sz="1235" b="0" i="0">
                <a:solidFill>
                  <a:srgbClr val="333639"/>
                </a:solidFill>
                <a:latin typeface="Fira Sans"/>
              </a:rPr>
              <a:t> action can occasionally produce a very optimistic sample and win the comparison even when its posterior mean is lower. Uncertainty itself creates exploration — and as evidence accumulates, it removes it.</a:t>
            </a:r>
          </a:p>
        </p:txBody>
      </p:sp>
      <p:pic>
        <p:nvPicPr>
          <p:cNvPr id="9" name="Picture 8" descr="ts_evolution.png"/>
          <p:cNvPicPr>
            <a:picLocks noChangeAspect="1"/>
          </p:cNvPicPr>
          <p:nvPr/>
        </p:nvPicPr>
        <p:blipFill>
          <a:blip r:embed="rId2"/>
          <a:stretch>
            <a:fillRect/>
          </a:stretch>
        </p:blipFill>
        <p:spPr>
          <a:xfrm>
            <a:off x="841248" y="2110244"/>
            <a:ext cx="10515600" cy="1966417"/>
          </a:xfrm>
          <a:prstGeom prst="rect">
            <a:avLst/>
          </a:prstGeom>
        </p:spPr>
      </p:pic>
      <p:sp>
        <p:nvSpPr>
          <p:cNvPr id="10" name="TextBox 9"/>
          <p:cNvSpPr txBox="1"/>
          <p:nvPr/>
        </p:nvSpPr>
        <p:spPr>
          <a:xfrm>
            <a:off x="841248" y="4176788"/>
            <a:ext cx="10515600" cy="172212"/>
          </a:xfrm>
          <a:prstGeom prst="rect">
            <a:avLst/>
          </a:prstGeom>
          <a:noFill/>
        </p:spPr>
        <p:txBody>
          <a:bodyPr wrap="square" lIns="0" tIns="0" rIns="0" bIns="0" anchor="t">
            <a:noAutofit/>
          </a:bodyPr>
          <a:lstStyle/>
          <a:p>
            <a:pPr marL="0" indent="0" algn="ctr">
              <a:lnSpc>
                <a:spcPts val="1140"/>
              </a:lnSpc>
              <a:spcBef>
                <a:spcPts val="0"/>
              </a:spcBef>
              <a:spcAft>
                <a:spcPts val="0"/>
              </a:spcAft>
              <a:buNone/>
            </a:pPr>
            <a:r>
              <a:rPr sz="950" b="0" i="1">
                <a:solidFill>
                  <a:srgbClr val="626669"/>
                </a:solidFill>
                <a:latin typeface="Fira Sans"/>
              </a:rPr>
              <a:t>As posteriors narrow, optimistic samples from genuinely poor actions become increasingly unlikely, so the agent stops trying them — without being told to.</a:t>
            </a:r>
          </a:p>
        </p:txBody>
      </p:sp>
      <p:sp>
        <p:nvSpPr>
          <p:cNvPr id="11" name="TextBox 10"/>
          <p:cNvSpPr txBox="1"/>
          <p:nvPr/>
        </p:nvSpPr>
        <p:spPr>
          <a:xfrm>
            <a:off x="841248" y="4568456"/>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UCB VERSUS THOMPSON SAMPLING</a:t>
            </a:r>
          </a:p>
        </p:txBody>
      </p:sp>
      <p:sp>
        <p:nvSpPr>
          <p:cNvPr id="12" name="Rectangle 11"/>
          <p:cNvSpPr/>
          <p:nvPr/>
        </p:nvSpPr>
        <p:spPr>
          <a:xfrm>
            <a:off x="841248" y="4806200"/>
            <a:ext cx="10515600" cy="306791"/>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932688" y="4883924"/>
            <a:ext cx="1709928" cy="151343"/>
          </a:xfrm>
          <a:prstGeom prst="rect">
            <a:avLst/>
          </a:prstGeom>
          <a:noFill/>
        </p:spPr>
        <p:txBody>
          <a:bodyPr wrap="square" lIns="0" tIns="0" rIns="0" bIns="0" anchor="ctr">
            <a:noAutofit/>
          </a:bodyPr>
          <a:lstStyle/>
          <a:p>
            <a:pPr marL="0" indent="0" algn="l">
              <a:lnSpc>
                <a:spcPts val="1024"/>
              </a:lnSpc>
              <a:spcBef>
                <a:spcPts val="0"/>
              </a:spcBef>
              <a:spcAft>
                <a:spcPts val="0"/>
              </a:spcAft>
              <a:buNone/>
            </a:pPr>
            <a:endParaRPr/>
          </a:p>
        </p:txBody>
      </p:sp>
      <p:sp>
        <p:nvSpPr>
          <p:cNvPr id="14" name="TextBox 13"/>
          <p:cNvSpPr txBox="1"/>
          <p:nvPr/>
        </p:nvSpPr>
        <p:spPr>
          <a:xfrm>
            <a:off x="2825496" y="4883924"/>
            <a:ext cx="4759451" cy="151343"/>
          </a:xfrm>
          <a:prstGeom prst="rect">
            <a:avLst/>
          </a:prstGeom>
          <a:noFill/>
        </p:spPr>
        <p:txBody>
          <a:bodyPr wrap="square" lIns="0" tIns="0" rIns="0" bIns="0" anchor="ctr">
            <a:noAutofit/>
          </a:bodyPr>
          <a:lstStyle/>
          <a:p>
            <a:pPr marL="0" indent="0" algn="l">
              <a:lnSpc>
                <a:spcPts val="1024"/>
              </a:lnSpc>
              <a:spcBef>
                <a:spcPts val="0"/>
              </a:spcBef>
              <a:spcAft>
                <a:spcPts val="0"/>
              </a:spcAft>
              <a:buNone/>
            </a:pPr>
            <a:r>
              <a:rPr sz="931" b="1" i="0" spc="60">
                <a:solidFill>
                  <a:srgbClr val="FFFFFF"/>
                </a:solidFill>
                <a:latin typeface="Fira Sans"/>
              </a:rPr>
              <a:t>How it uses uncertainty</a:t>
            </a:r>
          </a:p>
        </p:txBody>
      </p:sp>
      <p:sp>
        <p:nvSpPr>
          <p:cNvPr id="15" name="TextBox 14"/>
          <p:cNvSpPr txBox="1"/>
          <p:nvPr/>
        </p:nvSpPr>
        <p:spPr>
          <a:xfrm>
            <a:off x="7767827" y="4883924"/>
            <a:ext cx="3497579" cy="151343"/>
          </a:xfrm>
          <a:prstGeom prst="rect">
            <a:avLst/>
          </a:prstGeom>
          <a:noFill/>
        </p:spPr>
        <p:txBody>
          <a:bodyPr wrap="square" lIns="0" tIns="0" rIns="0" bIns="0" anchor="ctr">
            <a:noAutofit/>
          </a:bodyPr>
          <a:lstStyle/>
          <a:p>
            <a:pPr marL="0" indent="0" algn="l">
              <a:lnSpc>
                <a:spcPts val="1024"/>
              </a:lnSpc>
              <a:spcBef>
                <a:spcPts val="0"/>
              </a:spcBef>
              <a:spcAft>
                <a:spcPts val="0"/>
              </a:spcAft>
              <a:buNone/>
            </a:pPr>
            <a:r>
              <a:rPr sz="931" b="1" i="0" spc="60">
                <a:solidFill>
                  <a:srgbClr val="FFFFFF"/>
                </a:solidFill>
                <a:latin typeface="Fira Sans"/>
              </a:rPr>
              <a:t>What it needs</a:t>
            </a:r>
          </a:p>
        </p:txBody>
      </p:sp>
      <p:sp>
        <p:nvSpPr>
          <p:cNvPr id="16" name="TextBox 15"/>
          <p:cNvSpPr txBox="1"/>
          <p:nvPr/>
        </p:nvSpPr>
        <p:spPr>
          <a:xfrm>
            <a:off x="932688" y="5190716"/>
            <a:ext cx="1709928"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UCB</a:t>
            </a:r>
          </a:p>
        </p:txBody>
      </p:sp>
      <p:sp>
        <p:nvSpPr>
          <p:cNvPr id="17" name="TextBox 16"/>
          <p:cNvSpPr txBox="1"/>
          <p:nvPr/>
        </p:nvSpPr>
        <p:spPr>
          <a:xfrm>
            <a:off x="2825496" y="5190716"/>
            <a:ext cx="4759451"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deterministically optimistic — evaluate each action near the optimistic edge of what is plausible</a:t>
            </a:r>
          </a:p>
        </p:txBody>
      </p:sp>
      <p:sp>
        <p:nvSpPr>
          <p:cNvPr id="18" name="TextBox 17"/>
          <p:cNvSpPr txBox="1"/>
          <p:nvPr/>
        </p:nvSpPr>
        <p:spPr>
          <a:xfrm>
            <a:off x="7767827" y="5190716"/>
            <a:ext cx="3497579"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dirty="0">
                <a:solidFill>
                  <a:srgbClr val="333639"/>
                </a:solidFill>
                <a:latin typeface="Fira Sans"/>
              </a:rPr>
              <a:t>a coefficient c, and a count-based measure of uncertainty</a:t>
            </a:r>
          </a:p>
        </p:txBody>
      </p:sp>
      <p:sp>
        <p:nvSpPr>
          <p:cNvPr id="19" name="Rectangle 18"/>
          <p:cNvSpPr/>
          <p:nvPr/>
        </p:nvSpPr>
        <p:spPr>
          <a:xfrm>
            <a:off x="841248" y="5590192"/>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841248" y="5595678"/>
            <a:ext cx="10515600" cy="482686"/>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932688" y="5673402"/>
            <a:ext cx="1709928"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Thompson sampling</a:t>
            </a:r>
          </a:p>
        </p:txBody>
      </p:sp>
      <p:sp>
        <p:nvSpPr>
          <p:cNvPr id="22" name="TextBox 21"/>
          <p:cNvSpPr txBox="1"/>
          <p:nvPr/>
        </p:nvSpPr>
        <p:spPr>
          <a:xfrm>
            <a:off x="2825496" y="5673402"/>
            <a:ext cx="4759451"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probabilistically optimistic — draw one plausible value and act as if it were true</a:t>
            </a:r>
          </a:p>
        </p:txBody>
      </p:sp>
      <p:sp>
        <p:nvSpPr>
          <p:cNvPr id="23" name="TextBox 22"/>
          <p:cNvSpPr txBox="1"/>
          <p:nvPr/>
        </p:nvSpPr>
        <p:spPr>
          <a:xfrm>
            <a:off x="7767827" y="5673402"/>
            <a:ext cx="3497579"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a probabilistic model of the values and rewards, and a prior</a:t>
            </a:r>
          </a:p>
        </p:txBody>
      </p:sp>
      <p:sp>
        <p:nvSpPr>
          <p:cNvPr id="24" name="Rectangle 23"/>
          <p:cNvSpPr/>
          <p:nvPr/>
        </p:nvSpPr>
        <p:spPr>
          <a:xfrm>
            <a:off x="841248" y="6072878"/>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5.7  THE GAUSSIAN POSTERIOR, IN TWO UPDATES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Precision-weighted average for the centre, added precisions for the width</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V — Strategic exploration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36</a:t>
            </a:r>
          </a:p>
        </p:txBody>
      </p:sp>
      <p:sp>
        <p:nvSpPr>
          <p:cNvPr id="8" name="TextBox 7"/>
          <p:cNvSpPr txBox="1"/>
          <p:nvPr/>
        </p:nvSpPr>
        <p:spPr>
          <a:xfrm>
            <a:off x="841248" y="1316736"/>
            <a:ext cx="6543446"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To implement the idea we need a model. Take a Gaussian prior over the unknown value and a Gaussian observation model for the rewards; the posterior is then Gaussian too.</a:t>
            </a:r>
          </a:p>
        </p:txBody>
      </p:sp>
      <p:pic>
        <p:nvPicPr>
          <p:cNvPr id="9" name="Picture 8" descr="eq_ts_prior.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24128" y="1955469"/>
            <a:ext cx="1861058" cy="313055"/>
          </a:xfrm>
          <a:prstGeom prst="rect">
            <a:avLst/>
          </a:prstGeom>
        </p:spPr>
      </p:pic>
      <p:sp>
        <p:nvSpPr>
          <p:cNvPr id="10" name="TextBox 9"/>
          <p:cNvSpPr txBox="1"/>
          <p:nvPr/>
        </p:nvSpPr>
        <p:spPr>
          <a:xfrm>
            <a:off x="1060704" y="2286812"/>
            <a:ext cx="6269126" cy="180921"/>
          </a:xfrm>
          <a:prstGeom prst="rect">
            <a:avLst/>
          </a:prstGeom>
          <a:noFill/>
        </p:spPr>
        <p:txBody>
          <a:bodyPr wrap="square" lIns="0" tIns="0" rIns="0" bIns="0" anchor="t">
            <a:noAutofit/>
          </a:bodyPr>
          <a:lstStyle/>
          <a:p>
            <a:pPr marL="0" indent="0" algn="l">
              <a:lnSpc>
                <a:spcPts val="1137"/>
              </a:lnSpc>
              <a:spcBef>
                <a:spcPts val="0"/>
              </a:spcBef>
              <a:spcAft>
                <a:spcPts val="0"/>
              </a:spcAft>
              <a:buNone/>
            </a:pPr>
            <a:r>
              <a:rPr sz="997" b="0" i="0">
                <a:solidFill>
                  <a:srgbClr val="626669"/>
                </a:solidFill>
                <a:latin typeface="Fira Sans"/>
              </a:rPr>
              <a:t>prior — our initial guess, and how unsure we are of it</a:t>
            </a:r>
          </a:p>
        </p:txBody>
      </p:sp>
      <p:pic>
        <p:nvPicPr>
          <p:cNvPr id="11" name="Picture 10" descr="eq_ts_obs.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4128" y="2579420"/>
            <a:ext cx="2325243" cy="313055"/>
          </a:xfrm>
          <a:prstGeom prst="rect">
            <a:avLst/>
          </a:prstGeom>
        </p:spPr>
      </p:pic>
      <p:sp>
        <p:nvSpPr>
          <p:cNvPr id="12" name="TextBox 11"/>
          <p:cNvSpPr txBox="1"/>
          <p:nvPr/>
        </p:nvSpPr>
        <p:spPr>
          <a:xfrm>
            <a:off x="1060704" y="2910763"/>
            <a:ext cx="6269126" cy="180921"/>
          </a:xfrm>
          <a:prstGeom prst="rect">
            <a:avLst/>
          </a:prstGeom>
          <a:noFill/>
        </p:spPr>
        <p:txBody>
          <a:bodyPr wrap="square" lIns="0" tIns="0" rIns="0" bIns="0" anchor="t">
            <a:noAutofit/>
          </a:bodyPr>
          <a:lstStyle/>
          <a:p>
            <a:pPr marL="0" indent="0" algn="l">
              <a:lnSpc>
                <a:spcPts val="1137"/>
              </a:lnSpc>
              <a:spcBef>
                <a:spcPts val="0"/>
              </a:spcBef>
              <a:spcAft>
                <a:spcPts val="0"/>
              </a:spcAft>
              <a:buNone/>
            </a:pPr>
            <a:r>
              <a:rPr sz="997" b="0" i="0">
                <a:solidFill>
                  <a:srgbClr val="626669"/>
                </a:solidFill>
                <a:latin typeface="Fira Sans"/>
              </a:rPr>
              <a:t>observation model — rewards fluctuate around the true value</a:t>
            </a:r>
          </a:p>
        </p:txBody>
      </p:sp>
      <p:pic>
        <p:nvPicPr>
          <p:cNvPr id="13" name="Picture 12" descr="eq_ts_post.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4128" y="3203371"/>
            <a:ext cx="2757043" cy="313055"/>
          </a:xfrm>
          <a:prstGeom prst="rect">
            <a:avLst/>
          </a:prstGeom>
        </p:spPr>
      </p:pic>
      <p:sp>
        <p:nvSpPr>
          <p:cNvPr id="14" name="TextBox 13"/>
          <p:cNvSpPr txBox="1"/>
          <p:nvPr/>
        </p:nvSpPr>
        <p:spPr>
          <a:xfrm>
            <a:off x="1060704" y="3534714"/>
            <a:ext cx="6269126" cy="180921"/>
          </a:xfrm>
          <a:prstGeom prst="rect">
            <a:avLst/>
          </a:prstGeom>
          <a:noFill/>
        </p:spPr>
        <p:txBody>
          <a:bodyPr wrap="square" lIns="0" tIns="0" rIns="0" bIns="0" anchor="t">
            <a:noAutofit/>
          </a:bodyPr>
          <a:lstStyle/>
          <a:p>
            <a:pPr marL="0" indent="0" algn="l">
              <a:lnSpc>
                <a:spcPts val="1137"/>
              </a:lnSpc>
              <a:spcBef>
                <a:spcPts val="0"/>
              </a:spcBef>
              <a:spcAft>
                <a:spcPts val="0"/>
              </a:spcAft>
              <a:buNone/>
            </a:pPr>
            <a:r>
              <a:rPr sz="997" b="0" i="0">
                <a:solidFill>
                  <a:srgbClr val="626669"/>
                </a:solidFill>
                <a:latin typeface="Fira Sans"/>
              </a:rPr>
              <a:t>posterior — the same shape, updated by the evidence</a:t>
            </a:r>
          </a:p>
        </p:txBody>
      </p:sp>
      <p:sp>
        <p:nvSpPr>
          <p:cNvPr id="15" name="Rectangle 14"/>
          <p:cNvSpPr/>
          <p:nvPr/>
        </p:nvSpPr>
        <p:spPr>
          <a:xfrm>
            <a:off x="841248" y="3882186"/>
            <a:ext cx="6543446"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841248" y="4083354"/>
            <a:ext cx="6543446" cy="1029614"/>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841248" y="4083354"/>
            <a:ext cx="41148" cy="1029614"/>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1060704" y="4229658"/>
            <a:ext cx="6250838"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8A5100"/>
                </a:solidFill>
                <a:latin typeface="Fira Sans"/>
              </a:rPr>
              <a:t>TWO SOURCES OF UNCERTAINTY, NOT ONE</a:t>
            </a:r>
          </a:p>
        </p:txBody>
      </p:sp>
      <p:sp>
        <p:nvSpPr>
          <p:cNvPr id="19" name="TextBox 18"/>
          <p:cNvSpPr txBox="1"/>
          <p:nvPr/>
        </p:nvSpPr>
        <p:spPr>
          <a:xfrm>
            <a:off x="1060704" y="4467402"/>
            <a:ext cx="6159398" cy="499262"/>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The two variances describe </a:t>
            </a:r>
            <a:r>
              <a:rPr sz="1092" b="1" i="0">
                <a:solidFill>
                  <a:srgbClr val="333639"/>
                </a:solidFill>
                <a:latin typeface="Fira Sans"/>
              </a:rPr>
              <a:t>different things</a:t>
            </a:r>
            <a:r>
              <a:rPr sz="1092" b="0" i="0">
                <a:solidFill>
                  <a:srgbClr val="333639"/>
                </a:solidFill>
                <a:latin typeface="Fira Sans"/>
              </a:rPr>
              <a:t>: σ₀² is our uncertainty about </a:t>
            </a:r>
            <a:r>
              <a:rPr sz="1092" b="0" i="1">
                <a:solidFill>
                  <a:srgbClr val="333639"/>
                </a:solidFill>
                <a:latin typeface="Fira Sans"/>
              </a:rPr>
              <a:t>where the true value is</a:t>
            </a:r>
            <a:r>
              <a:rPr sz="1092" b="0" i="0">
                <a:solidFill>
                  <a:srgbClr val="333639"/>
                </a:solidFill>
                <a:latin typeface="Fira Sans"/>
              </a:rPr>
              <a:t>; σ² is how much individual rewards </a:t>
            </a:r>
            <a:r>
              <a:rPr sz="1092" b="0" i="1">
                <a:solidFill>
                  <a:srgbClr val="333639"/>
                </a:solidFill>
                <a:latin typeface="Fira Sans"/>
              </a:rPr>
              <a:t>fluctuate around it</a:t>
            </a:r>
            <a:r>
              <a:rPr sz="1092" b="0" i="0">
                <a:solidFill>
                  <a:srgbClr val="333639"/>
                </a:solidFill>
                <a:latin typeface="Fira Sans"/>
              </a:rPr>
              <a:t>. A reward far from our belief is strong evidence if rewards are normally stable, and weak evidence if they are intrinsically noisy.</a:t>
            </a:r>
          </a:p>
        </p:txBody>
      </p:sp>
      <p:sp>
        <p:nvSpPr>
          <p:cNvPr id="20" name="TextBox 19"/>
          <p:cNvSpPr txBox="1"/>
          <p:nvPr/>
        </p:nvSpPr>
        <p:spPr>
          <a:xfrm>
            <a:off x="7618780" y="1316736"/>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PRECISION IS THE NATURAL CURRENCY</a:t>
            </a:r>
          </a:p>
        </p:txBody>
      </p:sp>
      <p:pic>
        <p:nvPicPr>
          <p:cNvPr id="21" name="Picture 20" descr="eq_ts_prec.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801660" y="1591056"/>
            <a:ext cx="2574036" cy="571500"/>
          </a:xfrm>
          <a:prstGeom prst="rect">
            <a:avLst/>
          </a:prstGeom>
        </p:spPr>
      </p:pic>
      <p:sp>
        <p:nvSpPr>
          <p:cNvPr id="22" name="TextBox 21"/>
          <p:cNvSpPr txBox="1"/>
          <p:nvPr/>
        </p:nvSpPr>
        <p:spPr>
          <a:xfrm>
            <a:off x="7618780" y="2363724"/>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CENTRE: A PRECISION-WEIGHTED AVERAGE</a:t>
            </a:r>
          </a:p>
        </p:txBody>
      </p:sp>
      <p:pic>
        <p:nvPicPr>
          <p:cNvPr id="23" name="Picture 22" descr="eq_ts_mean_ann.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801660" y="2619756"/>
            <a:ext cx="2577464" cy="1038225"/>
          </a:xfrm>
          <a:prstGeom prst="rect">
            <a:avLst/>
          </a:prstGeom>
        </p:spPr>
      </p:pic>
      <p:sp>
        <p:nvSpPr>
          <p:cNvPr id="24" name="TextBox 23"/>
          <p:cNvSpPr txBox="1"/>
          <p:nvPr/>
        </p:nvSpPr>
        <p:spPr>
          <a:xfrm>
            <a:off x="7618780" y="3840861"/>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WIDTH: PRECISIONS SIMPLY ADD</a:t>
            </a:r>
          </a:p>
        </p:txBody>
      </p:sp>
      <p:pic>
        <p:nvPicPr>
          <p:cNvPr id="25" name="Picture 24" descr="eq_ts_lambda.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801660" y="4096892"/>
            <a:ext cx="2176272" cy="269875"/>
          </a:xfrm>
          <a:prstGeom prst="rect">
            <a:avLst/>
          </a:prstGeom>
        </p:spPr>
      </p:pic>
      <p:pic>
        <p:nvPicPr>
          <p:cNvPr id="26" name="Picture 25" descr="eq_ts_var.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801660" y="4494783"/>
            <a:ext cx="1363472" cy="508000"/>
          </a:xfrm>
          <a:prstGeom prst="rect">
            <a:avLst/>
          </a:prstGeom>
        </p:spPr>
      </p:pic>
      <p:sp>
        <p:nvSpPr>
          <p:cNvPr id="27" name="Rectangle 26"/>
          <p:cNvSpPr/>
          <p:nvPr/>
        </p:nvSpPr>
        <p:spPr>
          <a:xfrm>
            <a:off x="7618780" y="5167375"/>
            <a:ext cx="3731940" cy="986180"/>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7"/>
          <p:cNvSpPr/>
          <p:nvPr/>
        </p:nvSpPr>
        <p:spPr>
          <a:xfrm>
            <a:off x="7618780" y="5167375"/>
            <a:ext cx="41148" cy="98618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7838236" y="5313679"/>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WHAT THE TWO FORMULAS DO</a:t>
            </a:r>
          </a:p>
        </p:txBody>
      </p:sp>
      <p:sp>
        <p:nvSpPr>
          <p:cNvPr id="30" name="TextBox 29"/>
          <p:cNvSpPr txBox="1"/>
          <p:nvPr/>
        </p:nvSpPr>
        <p:spPr>
          <a:xfrm>
            <a:off x="7838236" y="5551423"/>
            <a:ext cx="3347892" cy="45582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With few rewards the prior dominates; as N(a) grows the posterior mean slides toward the sample mean and the variance shrinks. </a:t>
            </a:r>
            <a:r>
              <a:rPr sz="997" b="1" i="0">
                <a:solidFill>
                  <a:srgbClr val="333639"/>
                </a:solidFill>
                <a:latin typeface="Fira Sans"/>
              </a:rPr>
              <a:t>Both effects are automatic.</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5.8  THE STRATEGIC METHODS COMPARED</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All three beat decaying ε-greedy, and each pays for it differently</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V — Strategic exploration</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37</a:t>
            </a:r>
          </a:p>
        </p:txBody>
      </p:sp>
      <p:sp>
        <p:nvSpPr>
          <p:cNvPr id="8" name="TextBox 7"/>
          <p:cNvSpPr txBox="1"/>
          <p:nvPr/>
        </p:nvSpPr>
        <p:spPr>
          <a:xfrm>
            <a:off x="841248" y="1316736"/>
            <a:ext cx="6543446"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The same 2000 bandit problems for every method, so any difference reflects only how each one decides where and when to explore.</a:t>
            </a:r>
          </a:p>
        </p:txBody>
      </p:sp>
      <p:pic>
        <p:nvPicPr>
          <p:cNvPr id="9" name="Picture 8" descr="reward_strategic.png"/>
          <p:cNvPicPr>
            <a:picLocks noChangeAspect="1"/>
          </p:cNvPicPr>
          <p:nvPr/>
        </p:nvPicPr>
        <p:blipFill>
          <a:blip r:embed="rId2"/>
          <a:stretch>
            <a:fillRect/>
          </a:stretch>
        </p:blipFill>
        <p:spPr>
          <a:xfrm>
            <a:off x="841248" y="1463232"/>
            <a:ext cx="6120330" cy="3212827"/>
          </a:xfrm>
          <a:prstGeom prst="rect">
            <a:avLst/>
          </a:prstGeom>
        </p:spPr>
      </p:pic>
      <p:sp>
        <p:nvSpPr>
          <p:cNvPr id="10" name="TextBox 9"/>
          <p:cNvSpPr txBox="1"/>
          <p:nvPr/>
        </p:nvSpPr>
        <p:spPr>
          <a:xfrm>
            <a:off x="841248" y="4716957"/>
            <a:ext cx="6543446"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a:solidFill>
                  <a:srgbClr val="626669"/>
                </a:solidFill>
                <a:latin typeface="Fira Sans"/>
              </a:rPr>
              <a:t>Average reward. The three strategic methods reach a high level quickly and hold it.</a:t>
            </a:r>
          </a:p>
        </p:txBody>
      </p:sp>
      <p:sp>
        <p:nvSpPr>
          <p:cNvPr id="11" name="Rectangle 10"/>
          <p:cNvSpPr/>
          <p:nvPr/>
        </p:nvSpPr>
        <p:spPr>
          <a:xfrm>
            <a:off x="841248" y="5090337"/>
            <a:ext cx="6543446" cy="1024128"/>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841248" y="5090337"/>
            <a:ext cx="41148" cy="1024128"/>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0704" y="5236641"/>
            <a:ext cx="6250838"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8A5100"/>
                </a:solidFill>
                <a:latin typeface="Fira Sans"/>
              </a:rPr>
              <a:t>WHY REWARD IS NOT ENOUGH</a:t>
            </a:r>
          </a:p>
        </p:txBody>
      </p:sp>
      <p:sp>
        <p:nvSpPr>
          <p:cNvPr id="14" name="TextBox 13"/>
          <p:cNvSpPr txBox="1"/>
          <p:nvPr/>
        </p:nvSpPr>
        <p:spPr>
          <a:xfrm>
            <a:off x="1060704" y="5474385"/>
            <a:ext cx="6159398" cy="493776"/>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The curves are </a:t>
            </a:r>
            <a:r>
              <a:rPr sz="1092" b="1" i="0">
                <a:solidFill>
                  <a:srgbClr val="333639"/>
                </a:solidFill>
                <a:latin typeface="Fira Sans"/>
              </a:rPr>
              <a:t>close together</a:t>
            </a:r>
            <a:r>
              <a:rPr sz="1092" b="0" i="0">
                <a:solidFill>
                  <a:srgbClr val="333639"/>
                </a:solidFill>
                <a:latin typeface="Fira Sans"/>
              </a:rPr>
              <a:t> — over the last 200 steps decaying ε averages 1.37, UCB 1.49, softmax and Thompson sampling about 1.53 — which hides real differences in how efficiently each one explores. Part VI separates them properly.</a:t>
            </a:r>
          </a:p>
        </p:txBody>
      </p:sp>
      <p:sp>
        <p:nvSpPr>
          <p:cNvPr id="15" name="TextBox 14"/>
          <p:cNvSpPr txBox="1"/>
          <p:nvPr/>
        </p:nvSpPr>
        <p:spPr>
          <a:xfrm>
            <a:off x="7618780" y="1316736"/>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WHAT EACH METHOD IS ACTUALLY DOING</a:t>
            </a:r>
          </a:p>
        </p:txBody>
      </p:sp>
      <p:sp>
        <p:nvSpPr>
          <p:cNvPr id="16" name="Rectangle 15"/>
          <p:cNvSpPr/>
          <p:nvPr/>
        </p:nvSpPr>
        <p:spPr>
          <a:xfrm>
            <a:off x="7618780" y="1572768"/>
            <a:ext cx="3731940" cy="306791"/>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710220" y="1650492"/>
            <a:ext cx="1384535" cy="151343"/>
          </a:xfrm>
          <a:prstGeom prst="rect">
            <a:avLst/>
          </a:prstGeom>
          <a:noFill/>
        </p:spPr>
        <p:txBody>
          <a:bodyPr wrap="square" lIns="0" tIns="0" rIns="0" bIns="0" anchor="ctr">
            <a:noAutofit/>
          </a:bodyPr>
          <a:lstStyle/>
          <a:p>
            <a:pPr marL="0" indent="0" algn="l">
              <a:lnSpc>
                <a:spcPts val="1024"/>
              </a:lnSpc>
              <a:spcBef>
                <a:spcPts val="0"/>
              </a:spcBef>
              <a:spcAft>
                <a:spcPts val="0"/>
              </a:spcAft>
              <a:buNone/>
            </a:pPr>
            <a:r>
              <a:rPr sz="931" b="1" i="0" spc="60">
                <a:solidFill>
                  <a:srgbClr val="FFFFFF"/>
                </a:solidFill>
                <a:latin typeface="Fira Sans"/>
              </a:rPr>
              <a:t>Method</a:t>
            </a:r>
          </a:p>
        </p:txBody>
      </p:sp>
      <p:sp>
        <p:nvSpPr>
          <p:cNvPr id="18" name="TextBox 17"/>
          <p:cNvSpPr txBox="1"/>
          <p:nvPr/>
        </p:nvSpPr>
        <p:spPr>
          <a:xfrm>
            <a:off x="9277635" y="1650492"/>
            <a:ext cx="1981645" cy="151343"/>
          </a:xfrm>
          <a:prstGeom prst="rect">
            <a:avLst/>
          </a:prstGeom>
          <a:noFill/>
        </p:spPr>
        <p:txBody>
          <a:bodyPr wrap="square" lIns="0" tIns="0" rIns="0" bIns="0" anchor="ctr">
            <a:noAutofit/>
          </a:bodyPr>
          <a:lstStyle/>
          <a:p>
            <a:pPr marL="0" indent="0" algn="l">
              <a:lnSpc>
                <a:spcPts val="1024"/>
              </a:lnSpc>
              <a:spcBef>
                <a:spcPts val="0"/>
              </a:spcBef>
              <a:spcAft>
                <a:spcPts val="0"/>
              </a:spcAft>
              <a:buNone/>
            </a:pPr>
            <a:r>
              <a:rPr sz="931" b="1" i="0" spc="60">
                <a:solidFill>
                  <a:srgbClr val="FFFFFF"/>
                </a:solidFill>
                <a:latin typeface="Fira Sans"/>
              </a:rPr>
              <a:t>Explores by</a:t>
            </a:r>
          </a:p>
        </p:txBody>
      </p:sp>
      <p:sp>
        <p:nvSpPr>
          <p:cNvPr id="19" name="TextBox 18"/>
          <p:cNvSpPr txBox="1"/>
          <p:nvPr/>
        </p:nvSpPr>
        <p:spPr>
          <a:xfrm>
            <a:off x="7710220" y="1957283"/>
            <a:ext cx="1384535"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Decaying ε-greedy</a:t>
            </a:r>
          </a:p>
        </p:txBody>
      </p:sp>
      <p:sp>
        <p:nvSpPr>
          <p:cNvPr id="20" name="TextBox 19"/>
          <p:cNvSpPr txBox="1"/>
          <p:nvPr/>
        </p:nvSpPr>
        <p:spPr>
          <a:xfrm>
            <a:off x="9277635" y="1957283"/>
            <a:ext cx="1981645"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random choice, at a rate that falls over time</a:t>
            </a:r>
          </a:p>
        </p:txBody>
      </p:sp>
      <p:sp>
        <p:nvSpPr>
          <p:cNvPr id="21" name="Rectangle 20"/>
          <p:cNvSpPr/>
          <p:nvPr/>
        </p:nvSpPr>
        <p:spPr>
          <a:xfrm>
            <a:off x="7618780" y="2356759"/>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7618780" y="2362245"/>
            <a:ext cx="3731940" cy="482686"/>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710220" y="2439969"/>
            <a:ext cx="1384535"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Softmax</a:t>
            </a:r>
          </a:p>
        </p:txBody>
      </p:sp>
      <p:sp>
        <p:nvSpPr>
          <p:cNvPr id="24" name="TextBox 23"/>
          <p:cNvSpPr txBox="1"/>
          <p:nvPr/>
        </p:nvSpPr>
        <p:spPr>
          <a:xfrm>
            <a:off x="9277635" y="2439969"/>
            <a:ext cx="1981645"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estimated value — promising actions more often</a:t>
            </a:r>
          </a:p>
        </p:txBody>
      </p:sp>
      <p:sp>
        <p:nvSpPr>
          <p:cNvPr id="25" name="Rectangle 24"/>
          <p:cNvSpPr/>
          <p:nvPr/>
        </p:nvSpPr>
        <p:spPr>
          <a:xfrm>
            <a:off x="7618780" y="2839445"/>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7710220" y="2922656"/>
            <a:ext cx="1384535"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UCB</a:t>
            </a:r>
          </a:p>
        </p:txBody>
      </p:sp>
      <p:sp>
        <p:nvSpPr>
          <p:cNvPr id="27" name="TextBox 26"/>
          <p:cNvSpPr txBox="1"/>
          <p:nvPr/>
        </p:nvSpPr>
        <p:spPr>
          <a:xfrm>
            <a:off x="9277635" y="2922656"/>
            <a:ext cx="1981645"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value plus an explicit uncertainty bonus</a:t>
            </a:r>
          </a:p>
        </p:txBody>
      </p:sp>
      <p:sp>
        <p:nvSpPr>
          <p:cNvPr id="28" name="Rectangle 27"/>
          <p:cNvSpPr/>
          <p:nvPr/>
        </p:nvSpPr>
        <p:spPr>
          <a:xfrm>
            <a:off x="7618780" y="3322132"/>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ectangle 28"/>
          <p:cNvSpPr/>
          <p:nvPr/>
        </p:nvSpPr>
        <p:spPr>
          <a:xfrm>
            <a:off x="7618780" y="3327618"/>
            <a:ext cx="3731940" cy="482686"/>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7710220" y="3405342"/>
            <a:ext cx="1384535"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Thompson sampling</a:t>
            </a:r>
          </a:p>
        </p:txBody>
      </p:sp>
      <p:sp>
        <p:nvSpPr>
          <p:cNvPr id="31" name="TextBox 30"/>
          <p:cNvSpPr txBox="1"/>
          <p:nvPr/>
        </p:nvSpPr>
        <p:spPr>
          <a:xfrm>
            <a:off x="9277635" y="3405342"/>
            <a:ext cx="1981645" cy="327238"/>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drawing a value from each posterior</a:t>
            </a:r>
          </a:p>
        </p:txBody>
      </p:sp>
      <p:sp>
        <p:nvSpPr>
          <p:cNvPr id="32" name="Rectangle 31"/>
          <p:cNvSpPr/>
          <p:nvPr/>
        </p:nvSpPr>
        <p:spPr>
          <a:xfrm>
            <a:off x="7618780" y="3804818"/>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7618780" y="4048048"/>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AND WHAT EACH ONE DEMANDS IN RETURN</a:t>
            </a:r>
          </a:p>
        </p:txBody>
      </p:sp>
      <p:sp>
        <p:nvSpPr>
          <p:cNvPr id="34" name="TextBox 33"/>
          <p:cNvSpPr txBox="1"/>
          <p:nvPr/>
        </p:nvSpPr>
        <p:spPr>
          <a:xfrm>
            <a:off x="7618780" y="4304080"/>
            <a:ext cx="3731940" cy="1264005"/>
          </a:xfrm>
          <a:prstGeom prst="rect">
            <a:avLst/>
          </a:prstGeom>
          <a:noFill/>
        </p:spPr>
        <p:txBody>
          <a:bodyPr wrap="square" lIns="0" tIns="0" rIns="0" bIns="0" anchor="t">
            <a:noAutofit/>
          </a:bodyPr>
          <a:lstStyle/>
          <a:p>
            <a:pPr marL="182880" indent="-182880" algn="l">
              <a:lnSpc>
                <a:spcPts val="1170"/>
              </a:lnSpc>
              <a:spcBef>
                <a:spcPts val="0"/>
              </a:spcBef>
              <a:spcAft>
                <a:spcPts val="0"/>
              </a:spcAft>
              <a:buClr>
                <a:srgbClr val="1971C2"/>
              </a:buClr>
              <a:buFont typeface="Fira Sans"/>
              <a:buChar char="–"/>
            </a:pPr>
            <a:r>
              <a:rPr sz="1045" b="0" i="0">
                <a:solidFill>
                  <a:srgbClr val="333639"/>
                </a:solidFill>
                <a:latin typeface="Fira Sans"/>
              </a:rPr>
              <a:t>Softmax: a temperature </a:t>
            </a:r>
            <a:r>
              <a:rPr sz="1045" b="1" i="0">
                <a:solidFill>
                  <a:srgbClr val="C8102E"/>
                </a:solidFill>
                <a:latin typeface="Fira Sans"/>
              </a:rPr>
              <a:t>and a schedule for it</a:t>
            </a:r>
            <a:r>
              <a:rPr sz="1045" b="0" i="0">
                <a:solidFill>
                  <a:srgbClr val="333639"/>
                </a:solidFill>
                <a:latin typeface="Fira Sans"/>
              </a:rPr>
              <a:t>, plus sensitivity to the scale of the estimates.</a:t>
            </a:r>
          </a:p>
          <a:p>
            <a:pPr marL="182880" indent="-182880" algn="l">
              <a:lnSpc>
                <a:spcPts val="1170"/>
              </a:lnSpc>
              <a:spcBef>
                <a:spcPts val="700"/>
              </a:spcBef>
              <a:spcAft>
                <a:spcPts val="0"/>
              </a:spcAft>
              <a:buClr>
                <a:srgbClr val="1971C2"/>
              </a:buClr>
              <a:buFont typeface="Fira Sans"/>
              <a:buChar char="–"/>
            </a:pPr>
            <a:r>
              <a:rPr sz="1045" b="0" i="0">
                <a:solidFill>
                  <a:srgbClr val="333639"/>
                </a:solidFill>
                <a:latin typeface="Fira Sans"/>
              </a:rPr>
              <a:t>UCB: an exploration coefficient and an explicit </a:t>
            </a:r>
            <a:r>
              <a:rPr sz="1045" b="1" i="0">
                <a:solidFill>
                  <a:srgbClr val="C8102E"/>
                </a:solidFill>
                <a:latin typeface="Fira Sans"/>
              </a:rPr>
              <a:t>count-based</a:t>
            </a:r>
            <a:r>
              <a:rPr sz="1045" b="0" i="0">
                <a:solidFill>
                  <a:srgbClr val="333639"/>
                </a:solidFill>
                <a:latin typeface="Fira Sans"/>
              </a:rPr>
              <a:t> measure of uncertainty.</a:t>
            </a:r>
          </a:p>
          <a:p>
            <a:pPr marL="182880" indent="-182880" algn="l">
              <a:lnSpc>
                <a:spcPts val="1170"/>
              </a:lnSpc>
              <a:spcBef>
                <a:spcPts val="700"/>
              </a:spcBef>
              <a:spcAft>
                <a:spcPts val="0"/>
              </a:spcAft>
              <a:buClr>
                <a:srgbClr val="1971C2"/>
              </a:buClr>
              <a:buFont typeface="Fira Sans"/>
              <a:buChar char="–"/>
            </a:pPr>
            <a:r>
              <a:rPr sz="1045" b="0" i="0">
                <a:solidFill>
                  <a:srgbClr val="333639"/>
                </a:solidFill>
                <a:latin typeface="Fira Sans"/>
              </a:rPr>
              <a:t>Thompson sampling: a full </a:t>
            </a:r>
            <a:r>
              <a:rPr sz="1045" b="1" i="0">
                <a:solidFill>
                  <a:srgbClr val="C8102E"/>
                </a:solidFill>
                <a:latin typeface="Fira Sans"/>
              </a:rPr>
              <a:t>probabilistic model</a:t>
            </a:r>
            <a:r>
              <a:rPr sz="1045" b="0" i="0">
                <a:solidFill>
                  <a:srgbClr val="333639"/>
                </a:solidFill>
                <a:latin typeface="Fira Sans"/>
              </a:rPr>
              <a:t> of values and rewards, plus a prior. That model is what buys the exploration for free.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VI</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Regret, and what to keep</a:t>
            </a:r>
          </a:p>
        </p:txBody>
      </p:sp>
      <p:sp>
        <p:nvSpPr>
          <p:cNvPr id="6" name="TextBox 5"/>
          <p:cNvSpPr txBox="1"/>
          <p:nvPr/>
        </p:nvSpPr>
        <p:spPr>
          <a:xfrm>
            <a:off x="859536" y="3073907"/>
            <a:ext cx="5943600" cy="661781"/>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dirty="0">
                <a:solidFill>
                  <a:srgbClr val="D6D0E0"/>
                </a:solidFill>
                <a:latin typeface="Fira Sans"/>
              </a:rPr>
              <a:t>Measuring exploration by what it costs rather than by what it earns and testing every method not at its best setting but across its whole parameter range.</a:t>
            </a:r>
          </a:p>
        </p:txBody>
      </p:sp>
      <p:sp>
        <p:nvSpPr>
          <p:cNvPr id="7" name="Rectangle 6"/>
          <p:cNvSpPr/>
          <p:nvPr/>
        </p:nvSpPr>
        <p:spPr>
          <a:xfrm>
            <a:off x="859536" y="495604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95604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What does a bending regret curve tell us that an average-reward curve hides?</a:t>
            </a:r>
          </a:p>
        </p:txBody>
      </p:sp>
      <p:sp>
        <p:nvSpPr>
          <p:cNvPr id="9" name="Rectangle 8"/>
          <p:cNvSpPr/>
          <p:nvPr/>
        </p:nvSpPr>
        <p:spPr>
          <a:xfrm>
            <a:off x="7424928" y="2084831"/>
            <a:ext cx="10972" cy="32461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324612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The gap and cumulative regret</a:t>
            </a:r>
          </a:p>
          <a:p>
            <a:pPr marL="0" indent="0" algn="l">
              <a:lnSpc>
                <a:spcPts val="1378"/>
              </a:lnSpc>
              <a:spcBef>
                <a:spcPts val="1300"/>
              </a:spcBef>
              <a:spcAft>
                <a:spcPts val="0"/>
              </a:spcAft>
              <a:buNone/>
            </a:pPr>
            <a:r>
              <a:rPr sz="1188" b="1" i="0">
                <a:solidFill>
                  <a:srgbClr val="B2A7C4"/>
                </a:solidFill>
                <a:latin typeface="Fira Sans"/>
              </a:rPr>
              <a:t>02   </a:t>
            </a:r>
            <a:r>
              <a:rPr sz="1188" b="0" i="0">
                <a:solidFill>
                  <a:srgbClr val="FFFFFF"/>
                </a:solidFill>
                <a:latin typeface="Fira Sans"/>
              </a:rPr>
              <a:t>Linear versus sublinear regret</a:t>
            </a:r>
          </a:p>
          <a:p>
            <a:pPr marL="0" indent="0" algn="l">
              <a:lnSpc>
                <a:spcPts val="1378"/>
              </a:lnSpc>
              <a:spcBef>
                <a:spcPts val="1300"/>
              </a:spcBef>
              <a:spcAft>
                <a:spcPts val="0"/>
              </a:spcAft>
              <a:buNone/>
            </a:pPr>
            <a:r>
              <a:rPr sz="1188" b="1" i="0">
                <a:solidFill>
                  <a:srgbClr val="B2A7C4"/>
                </a:solidFill>
                <a:latin typeface="Fira Sans"/>
              </a:rPr>
              <a:t>03   </a:t>
            </a:r>
            <a:r>
              <a:rPr sz="1188" b="0" i="0">
                <a:solidFill>
                  <a:srgbClr val="FFFFFF"/>
                </a:solidFill>
                <a:latin typeface="Fira Sans"/>
              </a:rPr>
              <a:t>The regret of each strategy</a:t>
            </a:r>
          </a:p>
          <a:p>
            <a:pPr marL="0" indent="0" algn="l">
              <a:lnSpc>
                <a:spcPts val="1378"/>
              </a:lnSpc>
              <a:spcBef>
                <a:spcPts val="1300"/>
              </a:spcBef>
              <a:spcAft>
                <a:spcPts val="0"/>
              </a:spcAft>
              <a:buNone/>
            </a:pPr>
            <a:r>
              <a:rPr sz="1188" b="1" i="0">
                <a:solidFill>
                  <a:srgbClr val="B2A7C4"/>
                </a:solidFill>
                <a:latin typeface="Fira Sans"/>
              </a:rPr>
              <a:t>04   </a:t>
            </a:r>
            <a:r>
              <a:rPr sz="1188" b="0" i="0">
                <a:solidFill>
                  <a:srgbClr val="FFFFFF"/>
                </a:solidFill>
                <a:latin typeface="Fira Sans"/>
              </a:rPr>
              <a:t>The parameter study</a:t>
            </a:r>
          </a:p>
          <a:p>
            <a:pPr marL="0" indent="0" algn="l">
              <a:lnSpc>
                <a:spcPts val="1378"/>
              </a:lnSpc>
              <a:spcBef>
                <a:spcPts val="1300"/>
              </a:spcBef>
              <a:spcAft>
                <a:spcPts val="0"/>
              </a:spcAft>
              <a:buNone/>
            </a:pPr>
            <a:r>
              <a:rPr sz="1188" b="1" i="0">
                <a:solidFill>
                  <a:srgbClr val="B2A7C4"/>
                </a:solidFill>
                <a:latin typeface="Fira Sans"/>
              </a:rPr>
              <a:t>05   </a:t>
            </a:r>
            <a:r>
              <a:rPr sz="1188" b="0" i="0">
                <a:solidFill>
                  <a:srgbClr val="FFFFFF"/>
                </a:solidFill>
                <a:latin typeface="Fira Sans"/>
              </a:rPr>
              <a:t>From bandits back to RL</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6.1  REGRET: THE COST OF LEARNING</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Ask not how much reward the agent obtained, but how much it lost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VI — Regret, and what to keep</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39</a:t>
            </a:r>
          </a:p>
        </p:txBody>
      </p:sp>
      <p:sp>
        <p:nvSpPr>
          <p:cNvPr id="8" name="TextBox 7"/>
          <p:cNvSpPr txBox="1"/>
          <p:nvPr/>
        </p:nvSpPr>
        <p:spPr>
          <a:xfrm>
            <a:off x="841248" y="1316736"/>
            <a:ext cx="6543446" cy="632475"/>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lang="en-GB" sz="1282" noProof="0" dirty="0">
                <a:solidFill>
                  <a:srgbClr val="333639"/>
                </a:solidFill>
                <a:latin typeface="Fira Sans"/>
              </a:rPr>
              <a:t>We can </a:t>
            </a:r>
            <a:r>
              <a:rPr lang="en-GB" sz="1282" b="0" i="0" noProof="0" dirty="0">
                <a:solidFill>
                  <a:srgbClr val="333639"/>
                </a:solidFill>
                <a:latin typeface="Fira Sans"/>
              </a:rPr>
              <a:t>look at the same problem from the opposite side. For every action other than the optimal one, its </a:t>
            </a:r>
            <a:r>
              <a:rPr lang="en-GB" sz="1282" b="1" i="0" noProof="0" dirty="0">
                <a:solidFill>
                  <a:srgbClr val="25282A"/>
                </a:solidFill>
                <a:latin typeface="Fira Sans"/>
              </a:rPr>
              <a:t>gap</a:t>
            </a:r>
            <a:r>
              <a:rPr lang="en-GB" sz="1282" b="0" i="0" noProof="0" dirty="0">
                <a:solidFill>
                  <a:srgbClr val="333639"/>
                </a:solidFill>
                <a:latin typeface="Fira Sans"/>
              </a:rPr>
              <a:t> is the </a:t>
            </a:r>
            <a:r>
              <a:rPr lang="en-GB" sz="1282" b="1" i="0" noProof="0" dirty="0">
                <a:solidFill>
                  <a:srgbClr val="333639"/>
                </a:solidFill>
                <a:latin typeface="Fira Sans"/>
              </a:rPr>
              <a:t>expected cost </a:t>
            </a:r>
            <a:r>
              <a:rPr lang="en-GB" sz="1282" b="0" i="0" noProof="0" dirty="0">
                <a:solidFill>
                  <a:srgbClr val="333639"/>
                </a:solidFill>
                <a:latin typeface="Fira Sans"/>
              </a:rPr>
              <a:t>of choosing it once instead of the best action:</a:t>
            </a:r>
          </a:p>
        </p:txBody>
      </p:sp>
      <p:pic>
        <p:nvPicPr>
          <p:cNvPr id="9" name="Picture 8" descr="eq_gap.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568" y="2168667"/>
            <a:ext cx="3294888" cy="381000"/>
          </a:xfrm>
          <a:prstGeom prst="rect">
            <a:avLst/>
          </a:prstGeom>
        </p:spPr>
      </p:pic>
      <p:sp>
        <p:nvSpPr>
          <p:cNvPr id="10" name="TextBox 9"/>
          <p:cNvSpPr txBox="1"/>
          <p:nvPr/>
        </p:nvSpPr>
        <p:spPr>
          <a:xfrm>
            <a:off x="841248" y="2805699"/>
            <a:ext cx="6543446" cy="389839"/>
          </a:xfrm>
          <a:prstGeom prst="rect">
            <a:avLst/>
          </a:prstGeom>
          <a:noFill/>
        </p:spPr>
        <p:txBody>
          <a:bodyPr wrap="square" lIns="0" tIns="0" rIns="0" bIns="0" anchor="t">
            <a:noAutofit/>
          </a:bodyPr>
          <a:lstStyle/>
          <a:p>
            <a:pPr marL="0" indent="0" algn="l">
              <a:lnSpc>
                <a:spcPts val="1391"/>
              </a:lnSpc>
              <a:spcBef>
                <a:spcPts val="0"/>
              </a:spcBef>
              <a:spcAft>
                <a:spcPts val="0"/>
              </a:spcAft>
              <a:buNone/>
            </a:pPr>
            <a:r>
              <a:rPr sz="1140" b="0" i="0" dirty="0">
                <a:solidFill>
                  <a:srgbClr val="333639"/>
                </a:solidFill>
                <a:latin typeface="Fira Sans"/>
              </a:rPr>
              <a:t>A nearly optimal action has a small gap; a poor one has a large gap. So exploring is </a:t>
            </a:r>
            <a:r>
              <a:rPr sz="1140" b="1" i="0" dirty="0">
                <a:solidFill>
                  <a:srgbClr val="25282A"/>
                </a:solidFill>
                <a:latin typeface="Fira Sans"/>
              </a:rPr>
              <a:t>not equally expensive in every case</a:t>
            </a:r>
            <a:r>
              <a:rPr sz="1140" b="0" i="0" dirty="0">
                <a:solidFill>
                  <a:srgbClr val="333639"/>
                </a:solidFill>
                <a:latin typeface="Fira Sans"/>
              </a:rPr>
              <a:t> trying an arm almost as good as the best costs very little.</a:t>
            </a:r>
          </a:p>
        </p:txBody>
      </p:sp>
      <p:sp>
        <p:nvSpPr>
          <p:cNvPr id="11" name="TextBox 10"/>
          <p:cNvSpPr txBox="1"/>
          <p:nvPr/>
        </p:nvSpPr>
        <p:spPr>
          <a:xfrm>
            <a:off x="841248" y="3433282"/>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ACCUMULATED OVER T INTERACTIONS</a:t>
            </a:r>
          </a:p>
        </p:txBody>
      </p:sp>
      <p:pic>
        <p:nvPicPr>
          <p:cNvPr id="12" name="Picture 11" descr="eq_regret.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568" y="3725890"/>
            <a:ext cx="3003278" cy="858823"/>
          </a:xfrm>
          <a:prstGeom prst="rect">
            <a:avLst/>
          </a:prstGeom>
        </p:spPr>
      </p:pic>
      <p:sp>
        <p:nvSpPr>
          <p:cNvPr id="13" name="TextBox 12"/>
          <p:cNvSpPr txBox="1"/>
          <p:nvPr/>
        </p:nvSpPr>
        <p:spPr>
          <a:xfrm>
            <a:off x="841248" y="4880320"/>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AND IN EXPECTATION</a:t>
            </a:r>
          </a:p>
        </p:txBody>
      </p:sp>
      <p:pic>
        <p:nvPicPr>
          <p:cNvPr id="14" name="Picture 13" descr="eq_regret_exp_ann.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5568" y="5172928"/>
            <a:ext cx="3925770" cy="685417"/>
          </a:xfrm>
          <a:prstGeom prst="rect">
            <a:avLst/>
          </a:prstGeom>
        </p:spPr>
      </p:pic>
      <p:sp>
        <p:nvSpPr>
          <p:cNvPr id="15" name="Rectangle 14"/>
          <p:cNvSpPr/>
          <p:nvPr/>
        </p:nvSpPr>
        <p:spPr>
          <a:xfrm>
            <a:off x="7618780" y="1316736"/>
            <a:ext cx="3731940" cy="1362456"/>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7618780" y="1316736"/>
            <a:ext cx="41148" cy="1362456"/>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838236" y="1463039"/>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WHAT THE PRODUCT SAYS</a:t>
            </a:r>
          </a:p>
        </p:txBody>
      </p:sp>
      <p:sp>
        <p:nvSpPr>
          <p:cNvPr id="18" name="TextBox 17"/>
          <p:cNvSpPr txBox="1"/>
          <p:nvPr/>
        </p:nvSpPr>
        <p:spPr>
          <a:xfrm>
            <a:off x="7838236" y="1700784"/>
            <a:ext cx="3347892" cy="83210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Regret depends on </a:t>
            </a:r>
            <a:r>
              <a:rPr sz="1092" b="1" i="0">
                <a:solidFill>
                  <a:srgbClr val="333639"/>
                </a:solidFill>
                <a:latin typeface="Fira Sans"/>
              </a:rPr>
              <a:t>two separate things</a:t>
            </a:r>
            <a:r>
              <a:rPr sz="1092" b="0" i="0">
                <a:solidFill>
                  <a:srgbClr val="333639"/>
                </a:solidFill>
                <a:latin typeface="Fira Sans"/>
              </a:rPr>
              <a:t>: how bad a suboptimal action is, and how often the agent selects it. A good strategy therefore has to stop spending interactions on an action once there is enough evidence that it is suboptimal.</a:t>
            </a:r>
          </a:p>
        </p:txBody>
      </p:sp>
      <p:sp>
        <p:nvSpPr>
          <p:cNvPr id="19" name="TextBox 18"/>
          <p:cNvSpPr txBox="1"/>
          <p:nvPr/>
        </p:nvSpPr>
        <p:spPr>
          <a:xfrm>
            <a:off x="7618780" y="2953511"/>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TWO VIEWS OF THE SAME OBJECTIVE</a:t>
            </a:r>
          </a:p>
        </p:txBody>
      </p:sp>
      <p:sp>
        <p:nvSpPr>
          <p:cNvPr id="20" name="TextBox 19"/>
          <p:cNvSpPr txBox="1"/>
          <p:nvPr/>
        </p:nvSpPr>
        <p:spPr>
          <a:xfrm>
            <a:off x="7618780" y="3209544"/>
            <a:ext cx="3731940" cy="1491528"/>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0" i="0" dirty="0" err="1">
                <a:solidFill>
                  <a:srgbClr val="333639"/>
                </a:solidFill>
                <a:latin typeface="Fira Sans"/>
              </a:rPr>
              <a:t>Maximising</a:t>
            </a:r>
            <a:r>
              <a:rPr sz="1092" b="0" i="0" dirty="0">
                <a:solidFill>
                  <a:srgbClr val="333639"/>
                </a:solidFill>
                <a:latin typeface="Fira Sans"/>
              </a:rPr>
              <a:t> expected cumulative reward and </a:t>
            </a:r>
            <a:r>
              <a:rPr sz="1092" b="0" i="0" dirty="0" err="1">
                <a:solidFill>
                  <a:srgbClr val="333639"/>
                </a:solidFill>
                <a:latin typeface="Fira Sans"/>
              </a:rPr>
              <a:t>minimising</a:t>
            </a:r>
            <a:r>
              <a:rPr sz="1092" b="0" i="0" dirty="0">
                <a:solidFill>
                  <a:srgbClr val="333639"/>
                </a:solidFill>
                <a:latin typeface="Fira Sans"/>
              </a:rPr>
              <a:t> expected cumulative regret are the </a:t>
            </a:r>
            <a:r>
              <a:rPr sz="1092" b="1" i="0" dirty="0">
                <a:solidFill>
                  <a:srgbClr val="25282A"/>
                </a:solidFill>
                <a:latin typeface="Fira Sans"/>
              </a:rPr>
              <a:t>same problem</a:t>
            </a:r>
            <a:r>
              <a:rPr sz="1092" b="0" i="0" dirty="0">
                <a:solidFill>
                  <a:srgbClr val="333639"/>
                </a:solidFill>
                <a:latin typeface="Fira Sans"/>
              </a:rPr>
              <a:t>.</a:t>
            </a:r>
          </a:p>
          <a:p>
            <a:pPr marL="182880" indent="-182880" algn="l">
              <a:lnSpc>
                <a:spcPts val="1223"/>
              </a:lnSpc>
              <a:spcBef>
                <a:spcPts val="800"/>
              </a:spcBef>
              <a:spcAft>
                <a:spcPts val="0"/>
              </a:spcAft>
              <a:buClr>
                <a:srgbClr val="1971C2"/>
              </a:buClr>
              <a:buFont typeface="Fira Sans"/>
              <a:buChar char="–"/>
            </a:pPr>
            <a:r>
              <a:rPr sz="1092" b="0" i="0" dirty="0">
                <a:solidFill>
                  <a:srgbClr val="333639"/>
                </a:solidFill>
                <a:latin typeface="Fira Sans"/>
              </a:rPr>
              <a:t>But regret has a natural zero: an </a:t>
            </a:r>
            <a:r>
              <a:rPr sz="1092" b="1" i="0" dirty="0">
                <a:solidFill>
                  <a:srgbClr val="574676"/>
                </a:solidFill>
                <a:latin typeface="Fira Sans"/>
              </a:rPr>
              <a:t>oracle</a:t>
            </a:r>
            <a:r>
              <a:rPr sz="1092" b="0" i="0" dirty="0">
                <a:solidFill>
                  <a:srgbClr val="333639"/>
                </a:solidFill>
                <a:latin typeface="Fira Sans"/>
              </a:rPr>
              <a:t> that already knows the best action and always plays it accumulates none.</a:t>
            </a:r>
          </a:p>
          <a:p>
            <a:pPr marL="182880" indent="-182880" algn="l">
              <a:lnSpc>
                <a:spcPts val="1223"/>
              </a:lnSpc>
              <a:spcBef>
                <a:spcPts val="800"/>
              </a:spcBef>
              <a:spcAft>
                <a:spcPts val="0"/>
              </a:spcAft>
              <a:buClr>
                <a:srgbClr val="1971C2"/>
              </a:buClr>
              <a:buFont typeface="Fira Sans"/>
              <a:buChar char="–"/>
            </a:pPr>
            <a:r>
              <a:rPr sz="1092" b="0" i="0" dirty="0">
                <a:solidFill>
                  <a:srgbClr val="333639"/>
                </a:solidFill>
                <a:latin typeface="Fira Sans"/>
              </a:rPr>
              <a:t>That reference point is what makes the </a:t>
            </a:r>
            <a:r>
              <a:rPr sz="1092" b="1" i="0" dirty="0">
                <a:solidFill>
                  <a:srgbClr val="25282A"/>
                </a:solidFill>
                <a:latin typeface="Fira Sans"/>
              </a:rPr>
              <a:t>shape</a:t>
            </a:r>
            <a:r>
              <a:rPr sz="1092" b="0" i="0" dirty="0">
                <a:solidFill>
                  <a:srgbClr val="333639"/>
                </a:solidFill>
                <a:latin typeface="Fira Sans"/>
              </a:rPr>
              <a:t> of the curve meaningful</a:t>
            </a:r>
          </a:p>
        </p:txBody>
      </p:sp>
      <p:sp>
        <p:nvSpPr>
          <p:cNvPr id="21" name="Rectangle 20"/>
          <p:cNvSpPr/>
          <p:nvPr/>
        </p:nvSpPr>
        <p:spPr>
          <a:xfrm>
            <a:off x="7618780" y="4957104"/>
            <a:ext cx="3731940" cy="1167384"/>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7618780" y="4957104"/>
            <a:ext cx="41148" cy="1167384"/>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838236" y="5103408"/>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8A5100"/>
                </a:solidFill>
                <a:latin typeface="Fira Sans"/>
              </a:rPr>
              <a:t>WHO CAN MEASURE IT</a:t>
            </a:r>
          </a:p>
        </p:txBody>
      </p:sp>
      <p:sp>
        <p:nvSpPr>
          <p:cNvPr id="24" name="TextBox 23"/>
          <p:cNvSpPr txBox="1"/>
          <p:nvPr/>
        </p:nvSpPr>
        <p:spPr>
          <a:xfrm>
            <a:off x="7838236" y="5341152"/>
            <a:ext cx="3347892" cy="637031"/>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Note that regret is computed from the </a:t>
            </a:r>
            <a:r>
              <a:rPr sz="1045" b="1" i="0">
                <a:solidFill>
                  <a:srgbClr val="333639"/>
                </a:solidFill>
                <a:latin typeface="Fira Sans"/>
              </a:rPr>
              <a:t>true</a:t>
            </a:r>
            <a:r>
              <a:rPr sz="1045" b="0" i="0">
                <a:solidFill>
                  <a:srgbClr val="333639"/>
                </a:solidFill>
                <a:latin typeface="Fira Sans"/>
              </a:rPr>
              <a:t> action values, which the agent does not know. It is an analysis tool, not something the agent could ever compute for itself.</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6.2  LINEAR, SUBLINEAR, LOGARITHMIC</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What matters is not the regret at step 1000 but how it grows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VI — Regret, and what to keep</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40</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The amount of regret accumulated after a particular number of steps says very little on its own. The useful question is how regret grows as the horizon becomes longer.</a:t>
            </a:r>
          </a:p>
        </p:txBody>
      </p:sp>
      <p:sp>
        <p:nvSpPr>
          <p:cNvPr id="9" name="Rectangle 8"/>
          <p:cNvSpPr/>
          <p:nvPr/>
        </p:nvSpPr>
        <p:spPr>
          <a:xfrm>
            <a:off x="841248" y="2024898"/>
            <a:ext cx="3334512" cy="265176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41248" y="2024898"/>
            <a:ext cx="3334512" cy="31089"/>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42416" y="2189490"/>
            <a:ext cx="2932176"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C8102E"/>
                </a:solidFill>
                <a:latin typeface="Fira Sans"/>
              </a:rPr>
              <a:t>LINEAR</a:t>
            </a:r>
          </a:p>
        </p:txBody>
      </p:sp>
      <p:pic>
        <p:nvPicPr>
          <p:cNvPr id="12" name="Picture 11" descr="eq_regret_lin.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6320" y="2550180"/>
            <a:ext cx="2765167" cy="164593"/>
          </a:xfrm>
          <a:prstGeom prst="rect">
            <a:avLst/>
          </a:prstGeom>
        </p:spPr>
      </p:pic>
      <p:sp>
        <p:nvSpPr>
          <p:cNvPr id="13" name="TextBox 12"/>
          <p:cNvSpPr txBox="1"/>
          <p:nvPr/>
        </p:nvSpPr>
        <p:spPr>
          <a:xfrm>
            <a:off x="1042416" y="2957586"/>
            <a:ext cx="2932176" cy="1082448"/>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626669"/>
                </a:solidFill>
                <a:latin typeface="Fira Sans"/>
              </a:rPr>
              <a:t>A non-vanishing cost per interaction, forever. Pure random exploration is linear because it keeps sampling bad arms; pure greedy can be linear too, for the opposite reason — it commits to the wrong arm and pays the same gap every step. A fixed ε is linear because a fixed fraction of its decisions stays exploratory.</a:t>
            </a:r>
          </a:p>
        </p:txBody>
      </p:sp>
      <p:sp>
        <p:nvSpPr>
          <p:cNvPr id="14" name="Rectangle 13"/>
          <p:cNvSpPr/>
          <p:nvPr/>
        </p:nvSpPr>
        <p:spPr>
          <a:xfrm>
            <a:off x="4431792" y="2024898"/>
            <a:ext cx="3334512" cy="265176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4431792" y="2024898"/>
            <a:ext cx="3334512" cy="31089"/>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4632960" y="2189490"/>
            <a:ext cx="2932176"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8A5100"/>
                </a:solidFill>
                <a:latin typeface="Fira Sans"/>
              </a:rPr>
              <a:t>SUBLINEAR</a:t>
            </a:r>
          </a:p>
        </p:txBody>
      </p:sp>
      <p:pic>
        <p:nvPicPr>
          <p:cNvPr id="17" name="Picture 16" descr="eq_regret_sub.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32960" y="2463810"/>
            <a:ext cx="1979295" cy="436245"/>
          </a:xfrm>
          <a:prstGeom prst="rect">
            <a:avLst/>
          </a:prstGeom>
        </p:spPr>
      </p:pic>
      <p:sp>
        <p:nvSpPr>
          <p:cNvPr id="18" name="TextBox 17"/>
          <p:cNvSpPr txBox="1"/>
          <p:nvPr/>
        </p:nvSpPr>
        <p:spPr>
          <a:xfrm>
            <a:off x="4632960" y="2957586"/>
            <a:ext cx="2932176" cy="783628"/>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626669"/>
                </a:solidFill>
                <a:latin typeface="Fira Sans"/>
              </a:rPr>
              <a:t>The average loss per interaction eventually vanishes. The agent still pays to learn which actions are good, but over a long enough run that cost becomes negligible. This is the minimum a successful learning strategy should achieve.</a:t>
            </a:r>
          </a:p>
        </p:txBody>
      </p:sp>
      <p:sp>
        <p:nvSpPr>
          <p:cNvPr id="19" name="Rectangle 18"/>
          <p:cNvSpPr/>
          <p:nvPr/>
        </p:nvSpPr>
        <p:spPr>
          <a:xfrm>
            <a:off x="8022336" y="2024898"/>
            <a:ext cx="3334512" cy="265176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8022336" y="2024898"/>
            <a:ext cx="3334512" cy="31089"/>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8223504" y="2189490"/>
            <a:ext cx="2932176"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2B7A3E"/>
                </a:solidFill>
                <a:latin typeface="Fira Sans"/>
              </a:rPr>
              <a:t>LOGARITHMIC</a:t>
            </a:r>
          </a:p>
        </p:txBody>
      </p:sp>
      <p:pic>
        <p:nvPicPr>
          <p:cNvPr id="22" name="Picture 21" descr="eq_regret_log.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3504" y="2463810"/>
            <a:ext cx="2932176" cy="191295"/>
          </a:xfrm>
          <a:prstGeom prst="rect">
            <a:avLst/>
          </a:prstGeom>
        </p:spPr>
      </p:pic>
      <p:sp>
        <p:nvSpPr>
          <p:cNvPr id="23" name="TextBox 22"/>
          <p:cNvSpPr txBox="1"/>
          <p:nvPr/>
        </p:nvSpPr>
        <p:spPr>
          <a:xfrm>
            <a:off x="8223504" y="2957586"/>
            <a:ext cx="2932176" cy="783628"/>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626669"/>
                </a:solidFill>
                <a:latin typeface="Fira Sans"/>
              </a:rPr>
              <a:t>The classical achievable scale for well-behaved stochastic bandits. The agent keeps exploring, but increasingly rarely — gathering only the extra information needed to stay confident about which action is best.</a:t>
            </a:r>
          </a:p>
        </p:txBody>
      </p:sp>
      <p:sp>
        <p:nvSpPr>
          <p:cNvPr id="24" name="Rectangle 23"/>
          <p:cNvSpPr/>
          <p:nvPr/>
        </p:nvSpPr>
        <p:spPr>
          <a:xfrm>
            <a:off x="841248" y="4896114"/>
            <a:ext cx="10515600" cy="1051560"/>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841248" y="4896114"/>
            <a:ext cx="41148" cy="10515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1060704" y="5042418"/>
            <a:ext cx="1022299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WHERE THE SCALES COME FROM</a:t>
            </a:r>
          </a:p>
        </p:txBody>
      </p:sp>
      <p:sp>
        <p:nvSpPr>
          <p:cNvPr id="27" name="TextBox 26"/>
          <p:cNvSpPr txBox="1"/>
          <p:nvPr/>
        </p:nvSpPr>
        <p:spPr>
          <a:xfrm>
            <a:off x="1060704" y="5280162"/>
            <a:ext cx="10131552" cy="521207"/>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a:solidFill>
                  <a:srgbClr val="333639"/>
                </a:solidFill>
                <a:latin typeface="Fira Sans"/>
              </a:rPr>
              <a:t>Classical lower bounds show that logarithmic problem-dependent regret is the fundamental asymptotic scale for sufficiently well-behaved stochastic bandits; appropriately designed UCB and Thompson-sampling methods attain it under their respective assumptions. </a:t>
            </a:r>
            <a:r>
              <a:rPr sz="1140" b="1" i="0">
                <a:solidFill>
                  <a:srgbClr val="333639"/>
                </a:solidFill>
                <a:latin typeface="Fira Sans"/>
              </a:rPr>
              <a:t>This gives the regret plot a visual interpretation: a straight line is a permanent tax, a bending curve is a finite one.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6.3  THE REGRET OF EVERY STRATEGY</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measure that makes the differences visible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VI — Regret, and what to keep</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41</a:t>
            </a:r>
          </a:p>
        </p:txBody>
      </p:sp>
      <p:sp>
        <p:nvSpPr>
          <p:cNvPr id="8" name="TextBox 7"/>
          <p:cNvSpPr txBox="1"/>
          <p:nvPr/>
        </p:nvSpPr>
        <p:spPr>
          <a:xfrm>
            <a:off x="841248" y="1316736"/>
            <a:ext cx="6543446"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All nine strategies, same 2000 bandit problems. Average reward put most of these curves on top of each other; regret pulls them apart.</a:t>
            </a:r>
          </a:p>
        </p:txBody>
      </p:sp>
      <p:pic>
        <p:nvPicPr>
          <p:cNvPr id="9" name="Picture 8" descr="regret.png"/>
          <p:cNvPicPr>
            <a:picLocks noChangeAspect="1"/>
          </p:cNvPicPr>
          <p:nvPr/>
        </p:nvPicPr>
        <p:blipFill>
          <a:blip r:embed="rId2"/>
          <a:stretch>
            <a:fillRect/>
          </a:stretch>
        </p:blipFill>
        <p:spPr>
          <a:xfrm>
            <a:off x="1152856" y="1900604"/>
            <a:ext cx="5920228" cy="3310128"/>
          </a:xfrm>
          <a:prstGeom prst="rect">
            <a:avLst/>
          </a:prstGeom>
        </p:spPr>
      </p:pic>
      <p:sp>
        <p:nvSpPr>
          <p:cNvPr id="10" name="TextBox 9"/>
          <p:cNvSpPr txBox="1"/>
          <p:nvPr/>
        </p:nvSpPr>
        <p:spPr>
          <a:xfrm>
            <a:off x="841248" y="5283885"/>
            <a:ext cx="6543446"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a:solidFill>
                  <a:srgbClr val="626669"/>
                </a:solidFill>
                <a:latin typeface="Fira Sans"/>
              </a:rPr>
              <a:t>Cumulative regret, averaged over 2000 bandit problems.</a:t>
            </a:r>
          </a:p>
        </p:txBody>
      </p:sp>
      <p:sp>
        <p:nvSpPr>
          <p:cNvPr id="11" name="TextBox 10"/>
          <p:cNvSpPr txBox="1"/>
          <p:nvPr/>
        </p:nvSpPr>
        <p:spPr>
          <a:xfrm>
            <a:off x="7618780" y="1316736"/>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FINAL REGRET AFTER 1000 STEPS</a:t>
            </a:r>
          </a:p>
        </p:txBody>
      </p:sp>
      <p:sp>
        <p:nvSpPr>
          <p:cNvPr id="12" name="Rectangle 11"/>
          <p:cNvSpPr/>
          <p:nvPr/>
        </p:nvSpPr>
        <p:spPr>
          <a:xfrm>
            <a:off x="7618780" y="1591056"/>
            <a:ext cx="3731940" cy="251927"/>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710220" y="1641348"/>
            <a:ext cx="2130923" cy="151343"/>
          </a:xfrm>
          <a:prstGeom prst="rect">
            <a:avLst/>
          </a:prstGeom>
          <a:noFill/>
        </p:spPr>
        <p:txBody>
          <a:bodyPr wrap="square" lIns="0" tIns="0" rIns="0" bIns="0" anchor="ctr">
            <a:noAutofit/>
          </a:bodyPr>
          <a:lstStyle/>
          <a:p>
            <a:pPr marL="0" indent="0" algn="l">
              <a:lnSpc>
                <a:spcPts val="1024"/>
              </a:lnSpc>
              <a:spcBef>
                <a:spcPts val="0"/>
              </a:spcBef>
              <a:spcAft>
                <a:spcPts val="0"/>
              </a:spcAft>
              <a:buNone/>
            </a:pPr>
            <a:r>
              <a:rPr sz="931" b="1" i="0" spc="60">
                <a:solidFill>
                  <a:srgbClr val="FFFFFF"/>
                </a:solidFill>
                <a:latin typeface="Fira Sans"/>
              </a:rPr>
              <a:t>Strategy</a:t>
            </a:r>
          </a:p>
        </p:txBody>
      </p:sp>
      <p:sp>
        <p:nvSpPr>
          <p:cNvPr id="14" name="TextBox 13"/>
          <p:cNvSpPr txBox="1"/>
          <p:nvPr/>
        </p:nvSpPr>
        <p:spPr>
          <a:xfrm>
            <a:off x="10024024" y="1641348"/>
            <a:ext cx="1235257" cy="151343"/>
          </a:xfrm>
          <a:prstGeom prst="rect">
            <a:avLst/>
          </a:prstGeom>
          <a:noFill/>
        </p:spPr>
        <p:txBody>
          <a:bodyPr wrap="square" lIns="0" tIns="0" rIns="0" bIns="0" anchor="ctr">
            <a:noAutofit/>
          </a:bodyPr>
          <a:lstStyle/>
          <a:p>
            <a:pPr marL="0" indent="0" algn="r">
              <a:lnSpc>
                <a:spcPts val="1024"/>
              </a:lnSpc>
              <a:spcBef>
                <a:spcPts val="0"/>
              </a:spcBef>
              <a:spcAft>
                <a:spcPts val="0"/>
              </a:spcAft>
              <a:buNone/>
            </a:pPr>
            <a:r>
              <a:rPr sz="931" b="1" i="0" spc="60">
                <a:solidFill>
                  <a:srgbClr val="FFFFFF"/>
                </a:solidFill>
                <a:latin typeface="Fira Sans"/>
              </a:rPr>
              <a:t>Regret</a:t>
            </a:r>
          </a:p>
        </p:txBody>
      </p:sp>
      <p:sp>
        <p:nvSpPr>
          <p:cNvPr id="15" name="TextBox 14"/>
          <p:cNvSpPr txBox="1"/>
          <p:nvPr/>
        </p:nvSpPr>
        <p:spPr>
          <a:xfrm>
            <a:off x="7710220" y="1893275"/>
            <a:ext cx="2130923"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Pure exploration</a:t>
            </a:r>
          </a:p>
        </p:txBody>
      </p:sp>
      <p:sp>
        <p:nvSpPr>
          <p:cNvPr id="16" name="TextBox 15"/>
          <p:cNvSpPr txBox="1"/>
          <p:nvPr/>
        </p:nvSpPr>
        <p:spPr>
          <a:xfrm>
            <a:off x="10024024" y="1893275"/>
            <a:ext cx="1235257" cy="172763"/>
          </a:xfrm>
          <a:prstGeom prst="rect">
            <a:avLst/>
          </a:prstGeom>
          <a:noFill/>
        </p:spPr>
        <p:txBody>
          <a:bodyPr wrap="square" lIns="0" tIns="0" rIns="0" bIns="0" anchor="t">
            <a:noAutofit/>
          </a:bodyPr>
          <a:lstStyle/>
          <a:p>
            <a:pPr marL="0" indent="0" algn="r">
              <a:lnSpc>
                <a:spcPts val="1196"/>
              </a:lnSpc>
              <a:spcBef>
                <a:spcPts val="0"/>
              </a:spcBef>
              <a:spcAft>
                <a:spcPts val="0"/>
              </a:spcAft>
              <a:buNone/>
            </a:pPr>
            <a:r>
              <a:rPr sz="997" b="0" i="0">
                <a:solidFill>
                  <a:srgbClr val="C8102E"/>
                </a:solidFill>
                <a:latin typeface="Fira Sans"/>
              </a:rPr>
              <a:t>1548.2</a:t>
            </a:r>
          </a:p>
        </p:txBody>
      </p:sp>
      <p:sp>
        <p:nvSpPr>
          <p:cNvPr id="17" name="Rectangle 16"/>
          <p:cNvSpPr/>
          <p:nvPr/>
        </p:nvSpPr>
        <p:spPr>
          <a:xfrm>
            <a:off x="7618780" y="2110844"/>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7618780" y="2116330"/>
            <a:ext cx="3731940" cy="273347"/>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710220" y="2166622"/>
            <a:ext cx="2130923"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Pure exploitation</a:t>
            </a:r>
          </a:p>
        </p:txBody>
      </p:sp>
      <p:sp>
        <p:nvSpPr>
          <p:cNvPr id="20" name="TextBox 19"/>
          <p:cNvSpPr txBox="1"/>
          <p:nvPr/>
        </p:nvSpPr>
        <p:spPr>
          <a:xfrm>
            <a:off x="10024024" y="2166622"/>
            <a:ext cx="1235257" cy="172763"/>
          </a:xfrm>
          <a:prstGeom prst="rect">
            <a:avLst/>
          </a:prstGeom>
          <a:noFill/>
        </p:spPr>
        <p:txBody>
          <a:bodyPr wrap="square" lIns="0" tIns="0" rIns="0" bIns="0" anchor="t">
            <a:noAutofit/>
          </a:bodyPr>
          <a:lstStyle/>
          <a:p>
            <a:pPr marL="0" indent="0" algn="r">
              <a:lnSpc>
                <a:spcPts val="1196"/>
              </a:lnSpc>
              <a:spcBef>
                <a:spcPts val="0"/>
              </a:spcBef>
              <a:spcAft>
                <a:spcPts val="0"/>
              </a:spcAft>
              <a:buNone/>
            </a:pPr>
            <a:r>
              <a:rPr sz="997" b="0" i="0">
                <a:solidFill>
                  <a:srgbClr val="C8102E"/>
                </a:solidFill>
                <a:latin typeface="Fira Sans"/>
              </a:rPr>
              <a:t> 502.5</a:t>
            </a:r>
          </a:p>
        </p:txBody>
      </p:sp>
      <p:sp>
        <p:nvSpPr>
          <p:cNvPr id="21" name="Rectangle 20"/>
          <p:cNvSpPr/>
          <p:nvPr/>
        </p:nvSpPr>
        <p:spPr>
          <a:xfrm>
            <a:off x="7618780" y="2384191"/>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710220" y="2439969"/>
            <a:ext cx="2130923"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ε-greedy, ε = 0.2</a:t>
            </a:r>
          </a:p>
        </p:txBody>
      </p:sp>
      <p:sp>
        <p:nvSpPr>
          <p:cNvPr id="23" name="TextBox 22"/>
          <p:cNvSpPr txBox="1"/>
          <p:nvPr/>
        </p:nvSpPr>
        <p:spPr>
          <a:xfrm>
            <a:off x="10024024" y="2439969"/>
            <a:ext cx="1235257" cy="172763"/>
          </a:xfrm>
          <a:prstGeom prst="rect">
            <a:avLst/>
          </a:prstGeom>
          <a:noFill/>
        </p:spPr>
        <p:txBody>
          <a:bodyPr wrap="square" lIns="0" tIns="0" rIns="0" bIns="0" anchor="t">
            <a:noAutofit/>
          </a:bodyPr>
          <a:lstStyle/>
          <a:p>
            <a:pPr marL="0" indent="0" algn="r">
              <a:lnSpc>
                <a:spcPts val="1196"/>
              </a:lnSpc>
              <a:spcBef>
                <a:spcPts val="0"/>
              </a:spcBef>
              <a:spcAft>
                <a:spcPts val="0"/>
              </a:spcAft>
              <a:buNone/>
            </a:pPr>
            <a:r>
              <a:rPr sz="997" b="0" i="0">
                <a:solidFill>
                  <a:srgbClr val="8A5100"/>
                </a:solidFill>
                <a:latin typeface="Fira Sans"/>
              </a:rPr>
              <a:t> 355.2</a:t>
            </a:r>
          </a:p>
        </p:txBody>
      </p:sp>
      <p:sp>
        <p:nvSpPr>
          <p:cNvPr id="24" name="Rectangle 23"/>
          <p:cNvSpPr/>
          <p:nvPr/>
        </p:nvSpPr>
        <p:spPr>
          <a:xfrm>
            <a:off x="7618780" y="2657538"/>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7618780" y="2663024"/>
            <a:ext cx="3731940" cy="273347"/>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7710220" y="2713316"/>
            <a:ext cx="2130923"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ε-greedy, ε = 0.01</a:t>
            </a:r>
          </a:p>
        </p:txBody>
      </p:sp>
      <p:sp>
        <p:nvSpPr>
          <p:cNvPr id="27" name="TextBox 26"/>
          <p:cNvSpPr txBox="1"/>
          <p:nvPr/>
        </p:nvSpPr>
        <p:spPr>
          <a:xfrm>
            <a:off x="10024024" y="2713316"/>
            <a:ext cx="1235257" cy="172763"/>
          </a:xfrm>
          <a:prstGeom prst="rect">
            <a:avLst/>
          </a:prstGeom>
          <a:noFill/>
        </p:spPr>
        <p:txBody>
          <a:bodyPr wrap="square" lIns="0" tIns="0" rIns="0" bIns="0" anchor="t">
            <a:noAutofit/>
          </a:bodyPr>
          <a:lstStyle/>
          <a:p>
            <a:pPr marL="0" indent="0" algn="r">
              <a:lnSpc>
                <a:spcPts val="1196"/>
              </a:lnSpc>
              <a:spcBef>
                <a:spcPts val="0"/>
              </a:spcBef>
              <a:spcAft>
                <a:spcPts val="0"/>
              </a:spcAft>
              <a:buNone/>
            </a:pPr>
            <a:r>
              <a:rPr sz="997" b="0" i="0">
                <a:solidFill>
                  <a:srgbClr val="8A5100"/>
                </a:solidFill>
                <a:latin typeface="Fira Sans"/>
              </a:rPr>
              <a:t> 346.1</a:t>
            </a:r>
          </a:p>
        </p:txBody>
      </p:sp>
      <p:sp>
        <p:nvSpPr>
          <p:cNvPr id="28" name="Rectangle 27"/>
          <p:cNvSpPr/>
          <p:nvPr/>
        </p:nvSpPr>
        <p:spPr>
          <a:xfrm>
            <a:off x="7618780" y="2930885"/>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7710220" y="2986664"/>
            <a:ext cx="2130923"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Decaying ε-greedy</a:t>
            </a:r>
          </a:p>
        </p:txBody>
      </p:sp>
      <p:sp>
        <p:nvSpPr>
          <p:cNvPr id="30" name="TextBox 29"/>
          <p:cNvSpPr txBox="1"/>
          <p:nvPr/>
        </p:nvSpPr>
        <p:spPr>
          <a:xfrm>
            <a:off x="10024024" y="2986664"/>
            <a:ext cx="1235257" cy="172763"/>
          </a:xfrm>
          <a:prstGeom prst="rect">
            <a:avLst/>
          </a:prstGeom>
          <a:noFill/>
        </p:spPr>
        <p:txBody>
          <a:bodyPr wrap="square" lIns="0" tIns="0" rIns="0" bIns="0" anchor="t">
            <a:noAutofit/>
          </a:bodyPr>
          <a:lstStyle/>
          <a:p>
            <a:pPr marL="0" indent="0" algn="r">
              <a:lnSpc>
                <a:spcPts val="1196"/>
              </a:lnSpc>
              <a:spcBef>
                <a:spcPts val="0"/>
              </a:spcBef>
              <a:spcAft>
                <a:spcPts val="0"/>
              </a:spcAft>
              <a:buNone/>
            </a:pPr>
            <a:r>
              <a:rPr sz="997" b="0" i="0">
                <a:solidFill>
                  <a:srgbClr val="8A5100"/>
                </a:solidFill>
                <a:latin typeface="Fira Sans"/>
              </a:rPr>
              <a:t> 204.0</a:t>
            </a:r>
          </a:p>
        </p:txBody>
      </p:sp>
      <p:sp>
        <p:nvSpPr>
          <p:cNvPr id="31" name="Rectangle 30"/>
          <p:cNvSpPr/>
          <p:nvPr/>
        </p:nvSpPr>
        <p:spPr>
          <a:xfrm>
            <a:off x="7618780" y="3204232"/>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ectangle 31"/>
          <p:cNvSpPr/>
          <p:nvPr/>
        </p:nvSpPr>
        <p:spPr>
          <a:xfrm>
            <a:off x="7618780" y="3209719"/>
            <a:ext cx="3731940" cy="273347"/>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7710220" y="3260011"/>
            <a:ext cx="2130923"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Softmax</a:t>
            </a:r>
          </a:p>
        </p:txBody>
      </p:sp>
      <p:sp>
        <p:nvSpPr>
          <p:cNvPr id="34" name="TextBox 33"/>
          <p:cNvSpPr txBox="1"/>
          <p:nvPr/>
        </p:nvSpPr>
        <p:spPr>
          <a:xfrm>
            <a:off x="10024024" y="3260011"/>
            <a:ext cx="1235257" cy="172763"/>
          </a:xfrm>
          <a:prstGeom prst="rect">
            <a:avLst/>
          </a:prstGeom>
          <a:noFill/>
        </p:spPr>
        <p:txBody>
          <a:bodyPr wrap="square" lIns="0" tIns="0" rIns="0" bIns="0" anchor="t">
            <a:noAutofit/>
          </a:bodyPr>
          <a:lstStyle/>
          <a:p>
            <a:pPr marL="0" indent="0" algn="r">
              <a:lnSpc>
                <a:spcPts val="1196"/>
              </a:lnSpc>
              <a:spcBef>
                <a:spcPts val="0"/>
              </a:spcBef>
              <a:spcAft>
                <a:spcPts val="0"/>
              </a:spcAft>
              <a:buNone/>
            </a:pPr>
            <a:r>
              <a:rPr sz="997" b="0" i="0">
                <a:solidFill>
                  <a:srgbClr val="2B7A3E"/>
                </a:solidFill>
                <a:latin typeface="Fira Sans"/>
              </a:rPr>
              <a:t> 200.5</a:t>
            </a:r>
          </a:p>
        </p:txBody>
      </p:sp>
      <p:sp>
        <p:nvSpPr>
          <p:cNvPr id="35" name="Rectangle 34"/>
          <p:cNvSpPr/>
          <p:nvPr/>
        </p:nvSpPr>
        <p:spPr>
          <a:xfrm>
            <a:off x="7618780" y="3477580"/>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7710220" y="3533358"/>
            <a:ext cx="2130923"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UCB</a:t>
            </a:r>
          </a:p>
        </p:txBody>
      </p:sp>
      <p:sp>
        <p:nvSpPr>
          <p:cNvPr id="37" name="TextBox 36"/>
          <p:cNvSpPr txBox="1"/>
          <p:nvPr/>
        </p:nvSpPr>
        <p:spPr>
          <a:xfrm>
            <a:off x="10024024" y="3533358"/>
            <a:ext cx="1235257" cy="172763"/>
          </a:xfrm>
          <a:prstGeom prst="rect">
            <a:avLst/>
          </a:prstGeom>
          <a:noFill/>
        </p:spPr>
        <p:txBody>
          <a:bodyPr wrap="square" lIns="0" tIns="0" rIns="0" bIns="0" anchor="t">
            <a:noAutofit/>
          </a:bodyPr>
          <a:lstStyle/>
          <a:p>
            <a:pPr marL="0" indent="0" algn="r">
              <a:lnSpc>
                <a:spcPts val="1196"/>
              </a:lnSpc>
              <a:spcBef>
                <a:spcPts val="0"/>
              </a:spcBef>
              <a:spcAft>
                <a:spcPts val="0"/>
              </a:spcAft>
              <a:buNone/>
            </a:pPr>
            <a:r>
              <a:rPr sz="997" b="0" i="0">
                <a:solidFill>
                  <a:srgbClr val="2B7A3E"/>
                </a:solidFill>
                <a:latin typeface="Fira Sans"/>
              </a:rPr>
              <a:t> 148.7</a:t>
            </a:r>
          </a:p>
        </p:txBody>
      </p:sp>
      <p:sp>
        <p:nvSpPr>
          <p:cNvPr id="38" name="Rectangle 37"/>
          <p:cNvSpPr/>
          <p:nvPr/>
        </p:nvSpPr>
        <p:spPr>
          <a:xfrm>
            <a:off x="7618780" y="3750927"/>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Rectangle 38"/>
          <p:cNvSpPr/>
          <p:nvPr/>
        </p:nvSpPr>
        <p:spPr>
          <a:xfrm>
            <a:off x="7618780" y="3756413"/>
            <a:ext cx="3731940" cy="273347"/>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7710220" y="3806705"/>
            <a:ext cx="2130923"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Optimistic init</a:t>
            </a:r>
          </a:p>
        </p:txBody>
      </p:sp>
      <p:sp>
        <p:nvSpPr>
          <p:cNvPr id="41" name="TextBox 40"/>
          <p:cNvSpPr txBox="1"/>
          <p:nvPr/>
        </p:nvSpPr>
        <p:spPr>
          <a:xfrm>
            <a:off x="10024024" y="3806705"/>
            <a:ext cx="1235257" cy="172763"/>
          </a:xfrm>
          <a:prstGeom prst="rect">
            <a:avLst/>
          </a:prstGeom>
          <a:noFill/>
        </p:spPr>
        <p:txBody>
          <a:bodyPr wrap="square" lIns="0" tIns="0" rIns="0" bIns="0" anchor="t">
            <a:noAutofit/>
          </a:bodyPr>
          <a:lstStyle/>
          <a:p>
            <a:pPr marL="0" indent="0" algn="r">
              <a:lnSpc>
                <a:spcPts val="1196"/>
              </a:lnSpc>
              <a:spcBef>
                <a:spcPts val="0"/>
              </a:spcBef>
              <a:spcAft>
                <a:spcPts val="0"/>
              </a:spcAft>
              <a:buNone/>
            </a:pPr>
            <a:r>
              <a:rPr sz="997" b="0" i="0">
                <a:solidFill>
                  <a:srgbClr val="2B7A3E"/>
                </a:solidFill>
                <a:latin typeface="Fira Sans"/>
              </a:rPr>
              <a:t> 132.6</a:t>
            </a:r>
          </a:p>
        </p:txBody>
      </p:sp>
      <p:sp>
        <p:nvSpPr>
          <p:cNvPr id="42" name="Rectangle 41"/>
          <p:cNvSpPr/>
          <p:nvPr/>
        </p:nvSpPr>
        <p:spPr>
          <a:xfrm>
            <a:off x="7618780" y="4024274"/>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7710220" y="4080052"/>
            <a:ext cx="2130923"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Thompson sampling</a:t>
            </a:r>
          </a:p>
        </p:txBody>
      </p:sp>
      <p:sp>
        <p:nvSpPr>
          <p:cNvPr id="44" name="TextBox 43"/>
          <p:cNvSpPr txBox="1"/>
          <p:nvPr/>
        </p:nvSpPr>
        <p:spPr>
          <a:xfrm>
            <a:off x="10024024" y="4080052"/>
            <a:ext cx="1235257" cy="172763"/>
          </a:xfrm>
          <a:prstGeom prst="rect">
            <a:avLst/>
          </a:prstGeom>
          <a:noFill/>
        </p:spPr>
        <p:txBody>
          <a:bodyPr wrap="square" lIns="0" tIns="0" rIns="0" bIns="0" anchor="t">
            <a:noAutofit/>
          </a:bodyPr>
          <a:lstStyle/>
          <a:p>
            <a:pPr marL="0" indent="0" algn="r">
              <a:lnSpc>
                <a:spcPts val="1196"/>
              </a:lnSpc>
              <a:spcBef>
                <a:spcPts val="0"/>
              </a:spcBef>
              <a:spcAft>
                <a:spcPts val="0"/>
              </a:spcAft>
              <a:buNone/>
            </a:pPr>
            <a:r>
              <a:rPr sz="997" b="0" i="0">
                <a:solidFill>
                  <a:srgbClr val="2B7A3E"/>
                </a:solidFill>
                <a:latin typeface="Fira Sans"/>
              </a:rPr>
              <a:t>  75.6</a:t>
            </a:r>
          </a:p>
        </p:txBody>
      </p:sp>
      <p:sp>
        <p:nvSpPr>
          <p:cNvPr id="45" name="Rectangle 44"/>
          <p:cNvSpPr/>
          <p:nvPr/>
        </p:nvSpPr>
        <p:spPr>
          <a:xfrm>
            <a:off x="7618780" y="4297621"/>
            <a:ext cx="37319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Rectangle 45"/>
          <p:cNvSpPr/>
          <p:nvPr/>
        </p:nvSpPr>
        <p:spPr>
          <a:xfrm>
            <a:off x="7618780" y="4522563"/>
            <a:ext cx="3731940" cy="1167384"/>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Rectangle 46"/>
          <p:cNvSpPr/>
          <p:nvPr/>
        </p:nvSpPr>
        <p:spPr>
          <a:xfrm>
            <a:off x="7618780" y="4522563"/>
            <a:ext cx="41148" cy="1167384"/>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7838236" y="4668867"/>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THE SPREAD</a:t>
            </a:r>
          </a:p>
        </p:txBody>
      </p:sp>
      <p:sp>
        <p:nvSpPr>
          <p:cNvPr id="49" name="TextBox 48"/>
          <p:cNvSpPr txBox="1"/>
          <p:nvPr/>
        </p:nvSpPr>
        <p:spPr>
          <a:xfrm>
            <a:off x="7838236" y="4906611"/>
            <a:ext cx="3347892" cy="637031"/>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Thompson sampling ends with about </a:t>
            </a:r>
            <a:r>
              <a:rPr sz="1045" b="1" i="0">
                <a:solidFill>
                  <a:srgbClr val="333639"/>
                </a:solidFill>
                <a:latin typeface="Fira Sans"/>
              </a:rPr>
              <a:t>one twentieth</a:t>
            </a:r>
            <a:r>
              <a:rPr sz="1045" b="0" i="0">
                <a:solidFill>
                  <a:srgbClr val="333639"/>
                </a:solidFill>
                <a:latin typeface="Fira Sans"/>
              </a:rPr>
              <a:t> of the regret of pure exploration and less than a sixth of that of pure exploitation — the two strategies that fail for opposite reasons.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6.4  READING THE REGRET CURVES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Two ways to fail, and what a curve that bends is telling you</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VI — Regret, and what to keep</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42</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The figure exposes differences that average reward cannot show. Four groups separate cleanly, and each tells a different story about what exploration is for.</a:t>
            </a:r>
          </a:p>
        </p:txBody>
      </p:sp>
      <p:sp>
        <p:nvSpPr>
          <p:cNvPr id="9" name="Rectangle 8"/>
          <p:cNvSpPr/>
          <p:nvPr/>
        </p:nvSpPr>
        <p:spPr>
          <a:xfrm>
            <a:off x="841248" y="2006610"/>
            <a:ext cx="2464308" cy="292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41248" y="2152914"/>
            <a:ext cx="2464308"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C8102E"/>
                </a:solidFill>
                <a:latin typeface="Fira Sans"/>
              </a:rPr>
              <a:t>ALMOST PERFECTLY LINEAR</a:t>
            </a:r>
          </a:p>
        </p:txBody>
      </p:sp>
      <p:sp>
        <p:nvSpPr>
          <p:cNvPr id="11" name="TextBox 10"/>
          <p:cNvSpPr txBox="1"/>
          <p:nvPr/>
        </p:nvSpPr>
        <p:spPr>
          <a:xfrm>
            <a:off x="841248" y="2390658"/>
            <a:ext cx="2464308" cy="237744"/>
          </a:xfrm>
          <a:prstGeom prst="rect">
            <a:avLst/>
          </a:prstGeom>
          <a:noFill/>
        </p:spPr>
        <p:txBody>
          <a:bodyPr wrap="square" lIns="0" tIns="0" rIns="0" bIns="0" anchor="t">
            <a:noAutofit/>
          </a:bodyPr>
          <a:lstStyle/>
          <a:p>
            <a:pPr marL="0" indent="0" algn="l">
              <a:lnSpc>
                <a:spcPts val="1307"/>
              </a:lnSpc>
              <a:spcBef>
                <a:spcPts val="0"/>
              </a:spcBef>
              <a:spcAft>
                <a:spcPts val="0"/>
              </a:spcAft>
              <a:buNone/>
            </a:pPr>
            <a:r>
              <a:rPr sz="1188" b="1" i="0">
                <a:solidFill>
                  <a:srgbClr val="25282A"/>
                </a:solidFill>
                <a:latin typeface="Fira Sans"/>
              </a:rPr>
              <a:t>Pure exploration</a:t>
            </a:r>
          </a:p>
        </p:txBody>
      </p:sp>
      <p:sp>
        <p:nvSpPr>
          <p:cNvPr id="12" name="TextBox 11"/>
          <p:cNvSpPr txBox="1"/>
          <p:nvPr/>
        </p:nvSpPr>
        <p:spPr>
          <a:xfrm>
            <a:off x="841248" y="2701554"/>
            <a:ext cx="2464308" cy="933038"/>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626669"/>
                </a:solidFill>
                <a:latin typeface="Fira Sans"/>
              </a:rPr>
              <a:t>It keeps allocating interactions uniformly across all arms, including terrible ones. It learns every value accurately — and never uses that knowledge to stop selecting them. Learning without acting on it is worth nothing.</a:t>
            </a:r>
          </a:p>
        </p:txBody>
      </p:sp>
      <p:sp>
        <p:nvSpPr>
          <p:cNvPr id="13" name="Rectangle 12"/>
          <p:cNvSpPr/>
          <p:nvPr/>
        </p:nvSpPr>
        <p:spPr>
          <a:xfrm>
            <a:off x="3525011" y="2006610"/>
            <a:ext cx="2464308" cy="292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3525011" y="2152914"/>
            <a:ext cx="2464308"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C8102E"/>
                </a:solidFill>
                <a:latin typeface="Fira Sans"/>
              </a:rPr>
              <a:t>ALSO ROUGHLY LINEAR</a:t>
            </a:r>
          </a:p>
        </p:txBody>
      </p:sp>
      <p:sp>
        <p:nvSpPr>
          <p:cNvPr id="15" name="TextBox 14"/>
          <p:cNvSpPr txBox="1"/>
          <p:nvPr/>
        </p:nvSpPr>
        <p:spPr>
          <a:xfrm>
            <a:off x="3525011" y="2390658"/>
            <a:ext cx="2464308" cy="237744"/>
          </a:xfrm>
          <a:prstGeom prst="rect">
            <a:avLst/>
          </a:prstGeom>
          <a:noFill/>
        </p:spPr>
        <p:txBody>
          <a:bodyPr wrap="square" lIns="0" tIns="0" rIns="0" bIns="0" anchor="t">
            <a:noAutofit/>
          </a:bodyPr>
          <a:lstStyle/>
          <a:p>
            <a:pPr marL="0" indent="0" algn="l">
              <a:lnSpc>
                <a:spcPts val="1307"/>
              </a:lnSpc>
              <a:spcBef>
                <a:spcPts val="0"/>
              </a:spcBef>
              <a:spcAft>
                <a:spcPts val="0"/>
              </a:spcAft>
              <a:buNone/>
            </a:pPr>
            <a:r>
              <a:rPr sz="1188" b="1" i="0">
                <a:solidFill>
                  <a:srgbClr val="25282A"/>
                </a:solidFill>
                <a:latin typeface="Fira Sans"/>
              </a:rPr>
              <a:t>Pure exploitation</a:t>
            </a:r>
          </a:p>
        </p:txBody>
      </p:sp>
      <p:sp>
        <p:nvSpPr>
          <p:cNvPr id="16" name="TextBox 15"/>
          <p:cNvSpPr txBox="1"/>
          <p:nvPr/>
        </p:nvSpPr>
        <p:spPr>
          <a:xfrm>
            <a:off x="3525011" y="2701554"/>
            <a:ext cx="2464308" cy="783628"/>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626669"/>
                </a:solidFill>
                <a:latin typeface="Fira Sans"/>
              </a:rPr>
              <a:t>The opposite failure. It stops exploring too soon, commits to a suboptimal arm, and then pays the same gap at every step because it never collects the information needed to correct itself.</a:t>
            </a:r>
          </a:p>
        </p:txBody>
      </p:sp>
      <p:sp>
        <p:nvSpPr>
          <p:cNvPr id="17" name="Rectangle 16"/>
          <p:cNvSpPr/>
          <p:nvPr/>
        </p:nvSpPr>
        <p:spPr>
          <a:xfrm>
            <a:off x="6208775" y="2006610"/>
            <a:ext cx="2464308" cy="29260"/>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208775" y="2152914"/>
            <a:ext cx="2464308"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8A5100"/>
                </a:solidFill>
                <a:latin typeface="Fira Sans"/>
              </a:rPr>
              <a:t>LINEAR IN THE TAIL</a:t>
            </a:r>
          </a:p>
        </p:txBody>
      </p:sp>
      <p:sp>
        <p:nvSpPr>
          <p:cNvPr id="19" name="TextBox 18"/>
          <p:cNvSpPr txBox="1"/>
          <p:nvPr/>
        </p:nvSpPr>
        <p:spPr>
          <a:xfrm>
            <a:off x="6208775" y="2390658"/>
            <a:ext cx="2464308" cy="237744"/>
          </a:xfrm>
          <a:prstGeom prst="rect">
            <a:avLst/>
          </a:prstGeom>
          <a:noFill/>
        </p:spPr>
        <p:txBody>
          <a:bodyPr wrap="square" lIns="0" tIns="0" rIns="0" bIns="0" anchor="t">
            <a:noAutofit/>
          </a:bodyPr>
          <a:lstStyle/>
          <a:p>
            <a:pPr marL="0" indent="0" algn="l">
              <a:lnSpc>
                <a:spcPts val="1307"/>
              </a:lnSpc>
              <a:spcBef>
                <a:spcPts val="0"/>
              </a:spcBef>
              <a:spcAft>
                <a:spcPts val="0"/>
              </a:spcAft>
              <a:buNone/>
            </a:pPr>
            <a:r>
              <a:rPr sz="1188" b="1" i="0">
                <a:solidFill>
                  <a:srgbClr val="25282A"/>
                </a:solidFill>
                <a:latin typeface="Fira Sans"/>
              </a:rPr>
              <a:t>Fixed ε</a:t>
            </a:r>
          </a:p>
        </p:txBody>
      </p:sp>
      <p:sp>
        <p:nvSpPr>
          <p:cNvPr id="20" name="TextBox 19"/>
          <p:cNvSpPr txBox="1"/>
          <p:nvPr/>
        </p:nvSpPr>
        <p:spPr>
          <a:xfrm>
            <a:off x="6208775" y="2701554"/>
            <a:ext cx="2464308" cy="933038"/>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626669"/>
                </a:solidFill>
                <a:latin typeface="Fira Sans"/>
              </a:rPr>
              <a:t>Learning improves dramatically, but a fixed fraction of decisions stays exploratory forever. Even after the best arm has been identified, the tax continues — so the curve straightens out rather than flattening.</a:t>
            </a:r>
          </a:p>
        </p:txBody>
      </p:sp>
      <p:sp>
        <p:nvSpPr>
          <p:cNvPr id="21" name="Rectangle 20"/>
          <p:cNvSpPr/>
          <p:nvPr/>
        </p:nvSpPr>
        <p:spPr>
          <a:xfrm>
            <a:off x="8892540" y="2006610"/>
            <a:ext cx="2464308" cy="2926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8892540" y="2152914"/>
            <a:ext cx="2464308"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2B7A3E"/>
                </a:solidFill>
                <a:latin typeface="Fira Sans"/>
              </a:rPr>
              <a:t>BENDING</a:t>
            </a:r>
          </a:p>
        </p:txBody>
      </p:sp>
      <p:sp>
        <p:nvSpPr>
          <p:cNvPr id="23" name="TextBox 22"/>
          <p:cNvSpPr txBox="1"/>
          <p:nvPr/>
        </p:nvSpPr>
        <p:spPr>
          <a:xfrm>
            <a:off x="8892540" y="2390658"/>
            <a:ext cx="2464308" cy="237744"/>
          </a:xfrm>
          <a:prstGeom prst="rect">
            <a:avLst/>
          </a:prstGeom>
          <a:noFill/>
        </p:spPr>
        <p:txBody>
          <a:bodyPr wrap="square" lIns="0" tIns="0" rIns="0" bIns="0" anchor="t">
            <a:noAutofit/>
          </a:bodyPr>
          <a:lstStyle/>
          <a:p>
            <a:pPr marL="0" indent="0" algn="l">
              <a:lnSpc>
                <a:spcPts val="1307"/>
              </a:lnSpc>
              <a:spcBef>
                <a:spcPts val="0"/>
              </a:spcBef>
              <a:spcAft>
                <a:spcPts val="0"/>
              </a:spcAft>
              <a:buNone/>
            </a:pPr>
            <a:r>
              <a:rPr sz="1188" b="1" i="0">
                <a:solidFill>
                  <a:srgbClr val="25282A"/>
                </a:solidFill>
                <a:latin typeface="Fira Sans"/>
              </a:rPr>
              <a:t>UCB  ·  Thompson</a:t>
            </a:r>
          </a:p>
        </p:txBody>
      </p:sp>
      <p:sp>
        <p:nvSpPr>
          <p:cNvPr id="24" name="TextBox 23"/>
          <p:cNvSpPr txBox="1"/>
          <p:nvPr/>
        </p:nvSpPr>
        <p:spPr>
          <a:xfrm>
            <a:off x="8892540" y="2701554"/>
            <a:ext cx="2464308" cy="933038"/>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0">
                <a:solidFill>
                  <a:srgbClr val="626669"/>
                </a:solidFill>
                <a:latin typeface="Fira Sans"/>
              </a:rPr>
              <a:t>As evidence accumulates they become increasingly selective. Poor arms are sampled less and less often, so the regret added at each new step keeps shrinking and the curve bends away from a straight line.</a:t>
            </a:r>
          </a:p>
        </p:txBody>
      </p:sp>
      <p:sp>
        <p:nvSpPr>
          <p:cNvPr id="25" name="Rectangle 24"/>
          <p:cNvSpPr/>
          <p:nvPr/>
        </p:nvSpPr>
        <p:spPr>
          <a:xfrm>
            <a:off x="841248" y="4347474"/>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ectangle 25"/>
          <p:cNvSpPr/>
          <p:nvPr/>
        </p:nvSpPr>
        <p:spPr>
          <a:xfrm>
            <a:off x="841248" y="4566930"/>
            <a:ext cx="10515600" cy="877824"/>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ectangle 26"/>
          <p:cNvSpPr/>
          <p:nvPr/>
        </p:nvSpPr>
        <p:spPr>
          <a:xfrm>
            <a:off x="841248" y="4566930"/>
            <a:ext cx="41148" cy="877824"/>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1060704" y="4713234"/>
            <a:ext cx="1022299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WHAT TO TAKE AWAY</a:t>
            </a:r>
          </a:p>
        </p:txBody>
      </p:sp>
      <p:sp>
        <p:nvSpPr>
          <p:cNvPr id="29" name="TextBox 28"/>
          <p:cNvSpPr txBox="1"/>
          <p:nvPr/>
        </p:nvSpPr>
        <p:spPr>
          <a:xfrm>
            <a:off x="1060704" y="4950978"/>
            <a:ext cx="10131552" cy="347471"/>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a:solidFill>
                  <a:srgbClr val="333639"/>
                </a:solidFill>
                <a:latin typeface="Fira Sans"/>
              </a:rPr>
              <a:t>The central message of regret analysis: </a:t>
            </a:r>
            <a:r>
              <a:rPr sz="1140" b="1" i="0">
                <a:solidFill>
                  <a:srgbClr val="333639"/>
                </a:solidFill>
                <a:latin typeface="Fira Sans"/>
              </a:rPr>
              <a:t>exploration is not free, but good exploration pays a finite and progressively smaller price</a:t>
            </a:r>
            <a:r>
              <a:rPr sz="1140" b="0" i="0">
                <a:solidFill>
                  <a:srgbClr val="333639"/>
                </a:solidFill>
                <a:latin typeface="Fira Sans"/>
              </a:rPr>
              <a:t> for the information it needs. A strategy that never stops paying the same price is not exploring — it is guessing.</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6.5  THE PARAMETER STUDY</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 single setting proves nothing — vary each parameter over its whole range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VI — Regret, and what to keep</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43</a:t>
            </a:r>
          </a:p>
        </p:txBody>
      </p:sp>
      <p:sp>
        <p:nvSpPr>
          <p:cNvPr id="8" name="TextBox 7"/>
          <p:cNvSpPr txBox="1"/>
          <p:nvPr/>
        </p:nvSpPr>
        <p:spPr>
          <a:xfrm>
            <a:off x="841248" y="1316736"/>
            <a:ext cx="6543446" cy="801979"/>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Every comparison so far used one setting per method, which can be misleading. For each strategy we now vary its main parameter over a wide range and summarise the whole learning curve by the </a:t>
            </a:r>
            <a:r>
              <a:rPr sz="1235" b="1" i="0">
                <a:solidFill>
                  <a:srgbClr val="25282A"/>
                </a:solidFill>
                <a:latin typeface="Fira Sans"/>
              </a:rPr>
              <a:t>average reward over the complete run</a:t>
            </a:r>
            <a:r>
              <a:rPr sz="1235" b="0" i="0">
                <a:solidFill>
                  <a:srgbClr val="333639"/>
                </a:solidFill>
                <a:latin typeface="Fira Sans"/>
              </a:rPr>
              <a:t>. Each point is one strategy at one setting, averaged over all 2000 problems.</a:t>
            </a:r>
          </a:p>
        </p:txBody>
      </p:sp>
      <p:pic>
        <p:nvPicPr>
          <p:cNvPr id="9" name="Picture 8" descr="param_study.png"/>
          <p:cNvPicPr>
            <a:picLocks noChangeAspect="1"/>
          </p:cNvPicPr>
          <p:nvPr/>
        </p:nvPicPr>
        <p:blipFill>
          <a:blip r:embed="rId2"/>
          <a:stretch>
            <a:fillRect/>
          </a:stretch>
        </p:blipFill>
        <p:spPr>
          <a:xfrm>
            <a:off x="1751104" y="2283307"/>
            <a:ext cx="4723731" cy="2779776"/>
          </a:xfrm>
          <a:prstGeom prst="rect">
            <a:avLst/>
          </a:prstGeom>
        </p:spPr>
      </p:pic>
      <p:sp>
        <p:nvSpPr>
          <p:cNvPr id="10" name="TextBox 9"/>
          <p:cNvSpPr txBox="1"/>
          <p:nvPr/>
        </p:nvSpPr>
        <p:spPr>
          <a:xfrm>
            <a:off x="841248" y="5136235"/>
            <a:ext cx="6543446" cy="31699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a:solidFill>
                  <a:srgbClr val="626669"/>
                </a:solidFill>
                <a:latin typeface="Fira Sans"/>
              </a:rPr>
              <a:t>The parameters have different meanings and different ranges — the horizontal position is each method’s own parameter, placed on a common log scale.</a:t>
            </a:r>
          </a:p>
        </p:txBody>
      </p:sp>
      <p:sp>
        <p:nvSpPr>
          <p:cNvPr id="11" name="TextBox 10"/>
          <p:cNvSpPr txBox="1"/>
          <p:nvPr/>
        </p:nvSpPr>
        <p:spPr>
          <a:xfrm>
            <a:off x="7618780" y="1316736"/>
            <a:ext cx="373194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SHAPE MOST CURVES HAVE</a:t>
            </a:r>
          </a:p>
        </p:txBody>
      </p:sp>
      <p:sp>
        <p:nvSpPr>
          <p:cNvPr id="12" name="TextBox 11"/>
          <p:cNvSpPr txBox="1"/>
          <p:nvPr/>
        </p:nvSpPr>
        <p:spPr>
          <a:xfrm>
            <a:off x="7618780" y="1572768"/>
            <a:ext cx="3731940" cy="1737360"/>
          </a:xfrm>
          <a:prstGeom prst="rect">
            <a:avLst/>
          </a:prstGeom>
          <a:noFill/>
        </p:spPr>
        <p:txBody>
          <a:bodyPr wrap="square" lIns="0" tIns="0" rIns="0" bIns="0" anchor="t">
            <a:noAutofit/>
          </a:bodyPr>
          <a:lstStyle/>
          <a:p>
            <a:pPr marL="182880" indent="-182880" algn="l">
              <a:lnSpc>
                <a:spcPts val="1223"/>
              </a:lnSpc>
              <a:spcBef>
                <a:spcPts val="0"/>
              </a:spcBef>
              <a:spcAft>
                <a:spcPts val="0"/>
              </a:spcAft>
              <a:buClr>
                <a:srgbClr val="1971C2"/>
              </a:buClr>
              <a:buFont typeface="Fira Sans"/>
              <a:buChar char="–"/>
            </a:pPr>
            <a:r>
              <a:rPr sz="1092" b="0" i="0">
                <a:solidFill>
                  <a:srgbClr val="333639"/>
                </a:solidFill>
                <a:latin typeface="Fira Sans"/>
              </a:rPr>
              <a:t>Performance deteriorates at </a:t>
            </a:r>
            <a:r>
              <a:rPr sz="1092" b="1" i="0">
                <a:solidFill>
                  <a:srgbClr val="C8102E"/>
                </a:solidFill>
                <a:latin typeface="Fira Sans"/>
              </a:rPr>
              <a:t>both extremes</a:t>
            </a:r>
            <a:r>
              <a:rPr sz="1092" b="0" i="0">
                <a:solidFill>
                  <a:srgbClr val="333639"/>
                </a:solidFill>
                <a:latin typeface="Fira Sans"/>
              </a:rPr>
              <a:t>. Too little exploration and the agent never collects enough information to identify the best arm.</a:t>
            </a:r>
          </a:p>
          <a:p>
            <a:pPr marL="182880" indent="-182880" algn="l">
              <a:lnSpc>
                <a:spcPts val="1223"/>
              </a:lnSpc>
              <a:spcBef>
                <a:spcPts val="800"/>
              </a:spcBef>
              <a:spcAft>
                <a:spcPts val="0"/>
              </a:spcAft>
              <a:buClr>
                <a:srgbClr val="1971C2"/>
              </a:buClr>
              <a:buFont typeface="Fira Sans"/>
              <a:buChar char="–"/>
            </a:pPr>
            <a:r>
              <a:rPr sz="1092" b="0" i="0">
                <a:solidFill>
                  <a:srgbClr val="333639"/>
                </a:solidFill>
                <a:latin typeface="Fira Sans"/>
              </a:rPr>
              <a:t>Too much and it never gets to exploit what it has learned.</a:t>
            </a:r>
          </a:p>
          <a:p>
            <a:pPr marL="182880" indent="-182880" algn="l">
              <a:lnSpc>
                <a:spcPts val="1223"/>
              </a:lnSpc>
              <a:spcBef>
                <a:spcPts val="800"/>
              </a:spcBef>
              <a:spcAft>
                <a:spcPts val="0"/>
              </a:spcAft>
              <a:buClr>
                <a:srgbClr val="1971C2"/>
              </a:buClr>
              <a:buFont typeface="Fira Sans"/>
              <a:buChar char="–"/>
            </a:pPr>
            <a:r>
              <a:rPr sz="1092" b="0" i="0">
                <a:solidFill>
                  <a:srgbClr val="333639"/>
                </a:solidFill>
                <a:latin typeface="Fira Sans"/>
              </a:rPr>
              <a:t>Good performance therefore lives in an </a:t>
            </a:r>
            <a:r>
              <a:rPr sz="1092" b="1" i="0">
                <a:solidFill>
                  <a:srgbClr val="2B7A3E"/>
                </a:solidFill>
                <a:latin typeface="Fira Sans"/>
              </a:rPr>
              <a:t>intermediate range</a:t>
            </a:r>
            <a:r>
              <a:rPr sz="1092" b="0" i="0">
                <a:solidFill>
                  <a:srgbClr val="333639"/>
                </a:solidFill>
                <a:latin typeface="Fira Sans"/>
              </a:rPr>
              <a:t> — an inverted U for every strategy whose parameter is an exploration rate. Thompson sampling is the exception: its parameter is a prior, so its curve rises, flattens, and varies by less than 0.1 over the sweep.</a:t>
            </a:r>
          </a:p>
        </p:txBody>
      </p:sp>
      <p:sp>
        <p:nvSpPr>
          <p:cNvPr id="13" name="Rectangle 12"/>
          <p:cNvSpPr/>
          <p:nvPr/>
        </p:nvSpPr>
        <p:spPr>
          <a:xfrm>
            <a:off x="7618780" y="3567338"/>
            <a:ext cx="3731940" cy="1196035"/>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7618780" y="3567338"/>
            <a:ext cx="41148" cy="1196035"/>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838236" y="3713642"/>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READ THE WIDTH, NOT ONLY THE PEAK</a:t>
            </a:r>
          </a:p>
        </p:txBody>
      </p:sp>
      <p:sp>
        <p:nvSpPr>
          <p:cNvPr id="16" name="TextBox 15"/>
          <p:cNvSpPr txBox="1"/>
          <p:nvPr/>
        </p:nvSpPr>
        <p:spPr>
          <a:xfrm>
            <a:off x="7838236" y="3951386"/>
            <a:ext cx="3347892" cy="66568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The </a:t>
            </a:r>
            <a:r>
              <a:rPr sz="1092" b="1" i="0">
                <a:solidFill>
                  <a:srgbClr val="333639"/>
                </a:solidFill>
                <a:latin typeface="Fira Sans"/>
              </a:rPr>
              <a:t>width</a:t>
            </a:r>
            <a:r>
              <a:rPr sz="1092" b="0" i="0">
                <a:solidFill>
                  <a:srgbClr val="333639"/>
                </a:solidFill>
                <a:latin typeface="Fira Sans"/>
              </a:rPr>
              <a:t> of the high-performing region matters as much as its height. A method that is good only at one precise setting needs careful tuning; one that stays good across a broad range is </a:t>
            </a:r>
            <a:r>
              <a:rPr sz="1092" b="1" i="0">
                <a:solidFill>
                  <a:srgbClr val="333639"/>
                </a:solidFill>
                <a:latin typeface="Fira Sans"/>
              </a:rPr>
              <a:t>robust</a:t>
            </a:r>
            <a:r>
              <a:rPr sz="1092" b="0" i="0">
                <a:solidFill>
                  <a:srgbClr val="333639"/>
                </a:solidFill>
                <a:latin typeface="Fira Sans"/>
              </a:rPr>
              <a:t>.</a:t>
            </a:r>
          </a:p>
        </p:txBody>
      </p:sp>
      <p:sp>
        <p:nvSpPr>
          <p:cNvPr id="17" name="Rectangle 16"/>
          <p:cNvSpPr/>
          <p:nvPr/>
        </p:nvSpPr>
        <p:spPr>
          <a:xfrm>
            <a:off x="7618780" y="5001117"/>
            <a:ext cx="3731940" cy="1167384"/>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7618780" y="5001117"/>
            <a:ext cx="41148" cy="1167384"/>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838236" y="5147421"/>
            <a:ext cx="343933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9AA6B2"/>
                </a:solidFill>
                <a:latin typeface="Fira Sans"/>
              </a:rPr>
              <a:t>THE LESSON</a:t>
            </a:r>
          </a:p>
        </p:txBody>
      </p:sp>
      <p:sp>
        <p:nvSpPr>
          <p:cNvPr id="20" name="TextBox 19"/>
          <p:cNvSpPr txBox="1"/>
          <p:nvPr/>
        </p:nvSpPr>
        <p:spPr>
          <a:xfrm>
            <a:off x="7838236" y="5385165"/>
            <a:ext cx="3347892" cy="637031"/>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So an exploration strategy should be judged along two dimensions: how well it can perform when configured well, and how much that performance depends on getting the configuration right.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6.6  FROM BANDITS BACK TO REINFORCEMENT LEARNING</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dirty="0">
                <a:solidFill>
                  <a:srgbClr val="25282A"/>
                </a:solidFill>
                <a:latin typeface="Roboto Slab"/>
              </a:rPr>
              <a:t>Everything here was made easy by removing the states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04 — Exploration vs Exploitation   ·   Part VI — Regret, and what to keep</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44</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The bandit was a deliberate simplification: one state, one step, no consequences. That let us study the exploration–exploitation dilemma in isolation. Restoring the sequential structure keeps every idea from this chapter and makes each one harder.</a:t>
            </a:r>
          </a:p>
        </p:txBody>
      </p:sp>
      <p:sp>
        <p:nvSpPr>
          <p:cNvPr id="9" name="Rectangle 8"/>
          <p:cNvSpPr/>
          <p:nvPr/>
        </p:nvSpPr>
        <p:spPr>
          <a:xfrm>
            <a:off x="841248" y="2006610"/>
            <a:ext cx="10515600" cy="306791"/>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32688" y="2084334"/>
            <a:ext cx="1604772" cy="151343"/>
          </a:xfrm>
          <a:prstGeom prst="rect">
            <a:avLst/>
          </a:prstGeom>
          <a:noFill/>
        </p:spPr>
        <p:txBody>
          <a:bodyPr wrap="square" lIns="0" tIns="0" rIns="0" bIns="0" anchor="ctr">
            <a:noAutofit/>
          </a:bodyPr>
          <a:lstStyle/>
          <a:p>
            <a:pPr marL="0" indent="0" algn="l">
              <a:lnSpc>
                <a:spcPts val="1024"/>
              </a:lnSpc>
              <a:spcBef>
                <a:spcPts val="0"/>
              </a:spcBef>
              <a:spcAft>
                <a:spcPts val="0"/>
              </a:spcAft>
              <a:buNone/>
            </a:pPr>
            <a:endParaRPr/>
          </a:p>
        </p:txBody>
      </p:sp>
      <p:sp>
        <p:nvSpPr>
          <p:cNvPr id="11" name="TextBox 10"/>
          <p:cNvSpPr txBox="1"/>
          <p:nvPr/>
        </p:nvSpPr>
        <p:spPr>
          <a:xfrm>
            <a:off x="2720340" y="2084334"/>
            <a:ext cx="2551176" cy="151343"/>
          </a:xfrm>
          <a:prstGeom prst="rect">
            <a:avLst/>
          </a:prstGeom>
          <a:noFill/>
        </p:spPr>
        <p:txBody>
          <a:bodyPr wrap="square" lIns="0" tIns="0" rIns="0" bIns="0" anchor="ctr">
            <a:noAutofit/>
          </a:bodyPr>
          <a:lstStyle/>
          <a:p>
            <a:pPr marL="0" indent="0" algn="l">
              <a:lnSpc>
                <a:spcPts val="1024"/>
              </a:lnSpc>
              <a:spcBef>
                <a:spcPts val="0"/>
              </a:spcBef>
              <a:spcAft>
                <a:spcPts val="0"/>
              </a:spcAft>
              <a:buNone/>
            </a:pPr>
            <a:r>
              <a:rPr sz="931" b="1" i="0" spc="60">
                <a:solidFill>
                  <a:srgbClr val="FFFFFF"/>
                </a:solidFill>
                <a:latin typeface="Fira Sans"/>
              </a:rPr>
              <a:t>In a bandit</a:t>
            </a:r>
          </a:p>
        </p:txBody>
      </p:sp>
      <p:sp>
        <p:nvSpPr>
          <p:cNvPr id="12" name="TextBox 11"/>
          <p:cNvSpPr txBox="1"/>
          <p:nvPr/>
        </p:nvSpPr>
        <p:spPr>
          <a:xfrm>
            <a:off x="5454396" y="2084334"/>
            <a:ext cx="5811012" cy="151343"/>
          </a:xfrm>
          <a:prstGeom prst="rect">
            <a:avLst/>
          </a:prstGeom>
          <a:noFill/>
        </p:spPr>
        <p:txBody>
          <a:bodyPr wrap="square" lIns="0" tIns="0" rIns="0" bIns="0" anchor="ctr">
            <a:noAutofit/>
          </a:bodyPr>
          <a:lstStyle/>
          <a:p>
            <a:pPr marL="0" indent="0" algn="l">
              <a:lnSpc>
                <a:spcPts val="1024"/>
              </a:lnSpc>
              <a:spcBef>
                <a:spcPts val="0"/>
              </a:spcBef>
              <a:spcAft>
                <a:spcPts val="0"/>
              </a:spcAft>
              <a:buNone/>
            </a:pPr>
            <a:r>
              <a:rPr sz="931" b="1" i="0" spc="60">
                <a:solidFill>
                  <a:srgbClr val="FFFFFF"/>
                </a:solidFill>
                <a:latin typeface="Fira Sans"/>
              </a:rPr>
              <a:t>In a full MDP</a:t>
            </a:r>
          </a:p>
        </p:txBody>
      </p:sp>
      <p:sp>
        <p:nvSpPr>
          <p:cNvPr id="13" name="TextBox 12"/>
          <p:cNvSpPr txBox="1"/>
          <p:nvPr/>
        </p:nvSpPr>
        <p:spPr>
          <a:xfrm>
            <a:off x="932688" y="2391125"/>
            <a:ext cx="1604772"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What is estimated</a:t>
            </a:r>
          </a:p>
        </p:txBody>
      </p:sp>
      <p:sp>
        <p:nvSpPr>
          <p:cNvPr id="14" name="TextBox 13"/>
          <p:cNvSpPr txBox="1"/>
          <p:nvPr/>
        </p:nvSpPr>
        <p:spPr>
          <a:xfrm>
            <a:off x="2720340" y="2391125"/>
            <a:ext cx="2551176"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one value per action, q(a)</a:t>
            </a:r>
          </a:p>
        </p:txBody>
      </p:sp>
      <p:sp>
        <p:nvSpPr>
          <p:cNvPr id="15" name="TextBox 14"/>
          <p:cNvSpPr txBox="1"/>
          <p:nvPr/>
        </p:nvSpPr>
        <p:spPr>
          <a:xfrm>
            <a:off x="5454396" y="2391125"/>
            <a:ext cx="5811012"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one value per state–action pair, q(s, a) — many more quantities, each with less data</a:t>
            </a:r>
          </a:p>
        </p:txBody>
      </p:sp>
      <p:sp>
        <p:nvSpPr>
          <p:cNvPr id="16" name="Rectangle 15"/>
          <p:cNvSpPr/>
          <p:nvPr/>
        </p:nvSpPr>
        <p:spPr>
          <a:xfrm>
            <a:off x="841248" y="2636126"/>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841248" y="2641612"/>
            <a:ext cx="10515600" cy="328211"/>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32688" y="2719336"/>
            <a:ext cx="1604772"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The target</a:t>
            </a:r>
          </a:p>
        </p:txBody>
      </p:sp>
      <p:sp>
        <p:nvSpPr>
          <p:cNvPr id="19" name="TextBox 18"/>
          <p:cNvSpPr txBox="1"/>
          <p:nvPr/>
        </p:nvSpPr>
        <p:spPr>
          <a:xfrm>
            <a:off x="2720340" y="2719336"/>
            <a:ext cx="2551176"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the observed reward</a:t>
            </a:r>
          </a:p>
        </p:txBody>
      </p:sp>
      <p:sp>
        <p:nvSpPr>
          <p:cNvPr id="20" name="TextBox 19"/>
          <p:cNvSpPr txBox="1"/>
          <p:nvPr/>
        </p:nvSpPr>
        <p:spPr>
          <a:xfrm>
            <a:off x="5454396" y="2719336"/>
            <a:ext cx="5811012"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a return, or a bootstrapped estimate that is itself still being learned</a:t>
            </a:r>
          </a:p>
        </p:txBody>
      </p:sp>
      <p:sp>
        <p:nvSpPr>
          <p:cNvPr id="21" name="Rectangle 20"/>
          <p:cNvSpPr/>
          <p:nvPr/>
        </p:nvSpPr>
        <p:spPr>
          <a:xfrm>
            <a:off x="841248" y="2964337"/>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932688" y="3047547"/>
            <a:ext cx="1604772"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Stationarity</a:t>
            </a:r>
          </a:p>
        </p:txBody>
      </p:sp>
      <p:sp>
        <p:nvSpPr>
          <p:cNvPr id="23" name="TextBox 22"/>
          <p:cNvSpPr txBox="1"/>
          <p:nvPr/>
        </p:nvSpPr>
        <p:spPr>
          <a:xfrm>
            <a:off x="2720340" y="3047547"/>
            <a:ext cx="2551176"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the true values are fixed</a:t>
            </a:r>
          </a:p>
        </p:txBody>
      </p:sp>
      <p:sp>
        <p:nvSpPr>
          <p:cNvPr id="24" name="TextBox 23"/>
          <p:cNvSpPr txBox="1"/>
          <p:nvPr/>
        </p:nvSpPr>
        <p:spPr>
          <a:xfrm>
            <a:off x="5454396" y="3047547"/>
            <a:ext cx="5811012"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the values move as the policy improves, so the target is non-stationary by construction</a:t>
            </a:r>
          </a:p>
        </p:txBody>
      </p:sp>
      <p:sp>
        <p:nvSpPr>
          <p:cNvPr id="25" name="Rectangle 24"/>
          <p:cNvSpPr/>
          <p:nvPr/>
        </p:nvSpPr>
        <p:spPr>
          <a:xfrm>
            <a:off x="841248" y="3292548"/>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ectangle 25"/>
          <p:cNvSpPr/>
          <p:nvPr/>
        </p:nvSpPr>
        <p:spPr>
          <a:xfrm>
            <a:off x="841248" y="3298035"/>
            <a:ext cx="10515600" cy="328211"/>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932688" y="3375759"/>
            <a:ext cx="1604772"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Exploration</a:t>
            </a:r>
          </a:p>
        </p:txBody>
      </p:sp>
      <p:sp>
        <p:nvSpPr>
          <p:cNvPr id="28" name="TextBox 27"/>
          <p:cNvSpPr txBox="1"/>
          <p:nvPr/>
        </p:nvSpPr>
        <p:spPr>
          <a:xfrm>
            <a:off x="2720340" y="3375759"/>
            <a:ext cx="2551176"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a choice among k arms</a:t>
            </a:r>
          </a:p>
        </p:txBody>
      </p:sp>
      <p:sp>
        <p:nvSpPr>
          <p:cNvPr id="29" name="TextBox 28"/>
          <p:cNvSpPr txBox="1"/>
          <p:nvPr/>
        </p:nvSpPr>
        <p:spPr>
          <a:xfrm>
            <a:off x="5454396" y="3375759"/>
            <a:ext cx="5811012" cy="172763"/>
          </a:xfrm>
          <a:prstGeom prst="rect">
            <a:avLst/>
          </a:prstGeom>
          <a:noFill/>
        </p:spPr>
        <p:txBody>
          <a:bodyPr wrap="square" lIns="0" tIns="0" rIns="0" bIns="0" anchor="t">
            <a:noAutofit/>
          </a:bodyPr>
          <a:lstStyle/>
          <a:p>
            <a:pPr marL="0" indent="0" algn="l">
              <a:lnSpc>
                <a:spcPts val="1196"/>
              </a:lnSpc>
              <a:spcBef>
                <a:spcPts val="0"/>
              </a:spcBef>
              <a:spcAft>
                <a:spcPts val="0"/>
              </a:spcAft>
              <a:buNone/>
            </a:pPr>
            <a:r>
              <a:rPr sz="997" b="0" i="0">
                <a:solidFill>
                  <a:srgbClr val="333639"/>
                </a:solidFill>
                <a:latin typeface="Fira Sans"/>
              </a:rPr>
              <a:t>a choice that also determines which states the agent will be able to learn about at all</a:t>
            </a:r>
          </a:p>
        </p:txBody>
      </p:sp>
      <p:sp>
        <p:nvSpPr>
          <p:cNvPr id="30" name="Rectangle 29"/>
          <p:cNvSpPr/>
          <p:nvPr/>
        </p:nvSpPr>
        <p:spPr>
          <a:xfrm>
            <a:off x="841248" y="3620759"/>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p:cNvSpPr/>
          <p:nvPr/>
        </p:nvSpPr>
        <p:spPr>
          <a:xfrm>
            <a:off x="841248" y="3900566"/>
            <a:ext cx="3346704" cy="2926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841248" y="4046870"/>
            <a:ext cx="3346704" cy="237744"/>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a:solidFill>
                  <a:srgbClr val="25282A"/>
                </a:solidFill>
                <a:latin typeface="Fira Sans"/>
              </a:rPr>
              <a:t>The update rule survives unchanged</a:t>
            </a:r>
          </a:p>
        </p:txBody>
      </p:sp>
      <p:sp>
        <p:nvSpPr>
          <p:cNvPr id="33" name="TextBox 32"/>
          <p:cNvSpPr txBox="1"/>
          <p:nvPr/>
        </p:nvSpPr>
        <p:spPr>
          <a:xfrm>
            <a:off x="841248" y="4357766"/>
            <a:ext cx="3346704" cy="51435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626669"/>
                </a:solidFill>
                <a:latin typeface="Fira Sans"/>
              </a:rPr>
              <a:t>New ← Old + </a:t>
            </a:r>
            <a:r>
              <a:rPr sz="1045" b="0" i="0" dirty="0" err="1">
                <a:solidFill>
                  <a:srgbClr val="626669"/>
                </a:solidFill>
                <a:latin typeface="Fira Sans"/>
              </a:rPr>
              <a:t>StepSize</a:t>
            </a:r>
            <a:r>
              <a:rPr sz="1045" b="0" i="0" dirty="0">
                <a:solidFill>
                  <a:srgbClr val="626669"/>
                </a:solidFill>
                <a:latin typeface="Fira Sans"/>
              </a:rPr>
              <a:t> × (Target − Old). Only the target changes: in Chapter 05 a sampled return, or a bootstrapped estimate of one.</a:t>
            </a:r>
          </a:p>
        </p:txBody>
      </p:sp>
      <p:sp>
        <p:nvSpPr>
          <p:cNvPr id="34" name="Rectangle 33"/>
          <p:cNvSpPr/>
          <p:nvPr/>
        </p:nvSpPr>
        <p:spPr>
          <a:xfrm>
            <a:off x="4425696" y="3900566"/>
            <a:ext cx="3346704" cy="292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4425696" y="4046870"/>
            <a:ext cx="3346704" cy="237744"/>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a:solidFill>
                  <a:srgbClr val="25282A"/>
                </a:solidFill>
                <a:latin typeface="Fira Sans"/>
              </a:rPr>
              <a:t>The step-size question returns</a:t>
            </a:r>
          </a:p>
        </p:txBody>
      </p:sp>
      <p:sp>
        <p:nvSpPr>
          <p:cNvPr id="36" name="TextBox 35"/>
          <p:cNvSpPr txBox="1"/>
          <p:nvPr/>
        </p:nvSpPr>
        <p:spPr>
          <a:xfrm>
            <a:off x="4425696" y="4357766"/>
            <a:ext cx="3346704" cy="514350"/>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dirty="0">
                <a:solidFill>
                  <a:srgbClr val="626669"/>
                </a:solidFill>
                <a:latin typeface="Fira Sans"/>
              </a:rPr>
              <a:t>And with a moving target, the constant step size that failed Robbins–Monro here becomes the standard choice — for exactly the reason seen in §3.5.</a:t>
            </a:r>
          </a:p>
        </p:txBody>
      </p:sp>
      <p:sp>
        <p:nvSpPr>
          <p:cNvPr id="37" name="Rectangle 36"/>
          <p:cNvSpPr/>
          <p:nvPr/>
        </p:nvSpPr>
        <p:spPr>
          <a:xfrm>
            <a:off x="8010144" y="3900566"/>
            <a:ext cx="3346704" cy="29260"/>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8010144" y="4046870"/>
            <a:ext cx="3346704" cy="237744"/>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a:solidFill>
                  <a:srgbClr val="25282A"/>
                </a:solidFill>
                <a:latin typeface="Fira Sans"/>
              </a:rPr>
              <a:t>The strategies come along too</a:t>
            </a:r>
          </a:p>
        </p:txBody>
      </p:sp>
      <p:sp>
        <p:nvSpPr>
          <p:cNvPr id="39" name="TextBox 38"/>
          <p:cNvSpPr txBox="1"/>
          <p:nvPr/>
        </p:nvSpPr>
        <p:spPr>
          <a:xfrm>
            <a:off x="8010144" y="4357766"/>
            <a:ext cx="3346704" cy="673608"/>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626669"/>
                </a:solidFill>
                <a:latin typeface="Fira Sans"/>
              </a:rPr>
              <a:t>ε-greedy and decaying ε are used throughout the rest of the course. UCB and Thompson sampling generalise less easily: their machinery relies on counts and on a model that large state spaces make impractical.</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59536" y="868680"/>
            <a:ext cx="7315200" cy="365760"/>
          </a:xfrm>
          <a:prstGeom prst="rect">
            <a:avLst/>
          </a:prstGeom>
          <a:noFill/>
        </p:spPr>
        <p:txBody>
          <a:bodyPr wrap="square" lIns="0" tIns="0" rIns="0" bIns="0" anchor="t">
            <a:noAutofit/>
          </a:bodyPr>
          <a:lstStyle/>
          <a:p>
            <a:pPr marL="0" indent="0" algn="l">
              <a:lnSpc>
                <a:spcPts val="997"/>
              </a:lnSpc>
              <a:spcBef>
                <a:spcPts val="0"/>
              </a:spcBef>
              <a:spcAft>
                <a:spcPts val="0"/>
              </a:spcAft>
              <a:buNone/>
            </a:pPr>
            <a:r>
              <a:rPr sz="997" b="1" i="0" spc="150" dirty="0">
                <a:solidFill>
                  <a:srgbClr val="B2A7C4"/>
                </a:solidFill>
                <a:latin typeface="Fira Sans Medium"/>
              </a:rPr>
              <a:t>SUMMARY</a:t>
            </a:r>
          </a:p>
        </p:txBody>
      </p:sp>
      <p:sp>
        <p:nvSpPr>
          <p:cNvPr id="4" name="TextBox 3"/>
          <p:cNvSpPr txBox="1"/>
          <p:nvPr/>
        </p:nvSpPr>
        <p:spPr>
          <a:xfrm>
            <a:off x="859536" y="1225296"/>
            <a:ext cx="6766560" cy="640080"/>
          </a:xfrm>
          <a:prstGeom prst="rect">
            <a:avLst/>
          </a:prstGeom>
          <a:noFill/>
        </p:spPr>
        <p:txBody>
          <a:bodyPr wrap="square" lIns="0" tIns="0" rIns="0" bIns="0" anchor="t">
            <a:noAutofit/>
          </a:bodyPr>
          <a:lstStyle/>
          <a:p>
            <a:pPr marL="0" indent="0" algn="l">
              <a:lnSpc>
                <a:spcPts val="2685"/>
              </a:lnSpc>
              <a:spcBef>
                <a:spcPts val="0"/>
              </a:spcBef>
              <a:spcAft>
                <a:spcPts val="0"/>
              </a:spcAft>
              <a:buNone/>
            </a:pPr>
            <a:r>
              <a:rPr lang="it-IT" sz="2632" b="1" i="0" dirty="0">
                <a:solidFill>
                  <a:srgbClr val="FFFFFF"/>
                </a:solidFill>
                <a:latin typeface="Roboto Slab"/>
              </a:rPr>
              <a:t>Key Takeaways</a:t>
            </a:r>
            <a:endParaRPr sz="2632" b="1" i="0" dirty="0">
              <a:solidFill>
                <a:srgbClr val="FFFFFF"/>
              </a:solidFill>
              <a:latin typeface="Roboto Slab"/>
            </a:endParaRPr>
          </a:p>
        </p:txBody>
      </p:sp>
      <p:sp>
        <p:nvSpPr>
          <p:cNvPr id="5" name="TextBox 4"/>
          <p:cNvSpPr txBox="1"/>
          <p:nvPr/>
        </p:nvSpPr>
        <p:spPr>
          <a:xfrm>
            <a:off x="859536" y="2212848"/>
            <a:ext cx="6400800" cy="3938032"/>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lang="en-GB" sz="1188" b="1" i="0" noProof="0" dirty="0">
                <a:solidFill>
                  <a:srgbClr val="B2A7C4"/>
                </a:solidFill>
                <a:latin typeface="Fira Sans"/>
              </a:rPr>
              <a:t>01   </a:t>
            </a:r>
            <a:r>
              <a:rPr lang="en-GB" sz="1188" b="1" i="0" noProof="0" dirty="0">
                <a:solidFill>
                  <a:srgbClr val="FFFFFF"/>
                </a:solidFill>
                <a:latin typeface="Fira Sans"/>
              </a:rPr>
              <a:t>One update rule underlies everything</a:t>
            </a:r>
          </a:p>
          <a:p>
            <a:pPr marL="384048" indent="0" algn="l">
              <a:lnSpc>
                <a:spcPts val="1233"/>
              </a:lnSpc>
              <a:spcBef>
                <a:spcPts val="300"/>
              </a:spcBef>
              <a:spcAft>
                <a:spcPts val="0"/>
              </a:spcAft>
              <a:buNone/>
            </a:pPr>
            <a:r>
              <a:rPr lang="en-GB" sz="1045" b="0" i="0" noProof="0" dirty="0">
                <a:solidFill>
                  <a:srgbClr val="D6D0E0"/>
                </a:solidFill>
                <a:latin typeface="Fira Sans"/>
              </a:rPr>
              <a:t>New ← Old + </a:t>
            </a:r>
            <a:r>
              <a:rPr lang="en-GB" sz="1045" b="0" i="0" noProof="0" dirty="0" err="1">
                <a:solidFill>
                  <a:srgbClr val="D6D0E0"/>
                </a:solidFill>
                <a:latin typeface="Fira Sans"/>
              </a:rPr>
              <a:t>StepSize</a:t>
            </a:r>
            <a:r>
              <a:rPr lang="en-GB" sz="1045" b="0" i="0" noProof="0" dirty="0">
                <a:solidFill>
                  <a:srgbClr val="D6D0E0"/>
                </a:solidFill>
                <a:latin typeface="Fira Sans"/>
              </a:rPr>
              <a:t> × (Target − Old). Change the target and you change the algorithm; change the step size and you change what the estimate can do.</a:t>
            </a:r>
          </a:p>
          <a:p>
            <a:pPr marL="0" indent="0" algn="l">
              <a:lnSpc>
                <a:spcPts val="1331"/>
              </a:lnSpc>
              <a:spcBef>
                <a:spcPts val="1300"/>
              </a:spcBef>
              <a:spcAft>
                <a:spcPts val="0"/>
              </a:spcAft>
              <a:buNone/>
            </a:pPr>
            <a:r>
              <a:rPr lang="en-GB" sz="1188" b="1" i="0" noProof="0" dirty="0">
                <a:solidFill>
                  <a:srgbClr val="B2A7C4"/>
                </a:solidFill>
                <a:latin typeface="Fira Sans"/>
              </a:rPr>
              <a:t>02   </a:t>
            </a:r>
            <a:r>
              <a:rPr lang="en-GB" sz="1188" b="1" i="0" noProof="0" dirty="0">
                <a:solidFill>
                  <a:srgbClr val="FFFFFF"/>
                </a:solidFill>
                <a:latin typeface="Fira Sans"/>
              </a:rPr>
              <a:t>The step size decides convergence or tracking, not both</a:t>
            </a:r>
          </a:p>
          <a:p>
            <a:pPr marL="384048" indent="0" algn="l">
              <a:lnSpc>
                <a:spcPts val="1233"/>
              </a:lnSpc>
              <a:spcBef>
                <a:spcPts val="300"/>
              </a:spcBef>
              <a:spcAft>
                <a:spcPts val="0"/>
              </a:spcAft>
              <a:buNone/>
            </a:pPr>
            <a:r>
              <a:rPr lang="en-GB" sz="1045" b="0" i="0" noProof="0" dirty="0">
                <a:solidFill>
                  <a:srgbClr val="D6D0E0"/>
                </a:solidFill>
                <a:latin typeface="Fira Sans"/>
              </a:rPr>
              <a:t>Robbins–Monro needs </a:t>
            </a:r>
            <a:r>
              <a:rPr lang="en-GB" sz="1045" b="0" i="0" noProof="0" dirty="0" err="1">
                <a:solidFill>
                  <a:srgbClr val="D6D0E0"/>
                </a:solidFill>
                <a:latin typeface="Fira Sans"/>
              </a:rPr>
              <a:t>Σ</a:t>
            </a:r>
            <a:r>
              <a:rPr lang="en-GB" sz="1045" b="0" i="0" noProof="0" dirty="0">
                <a:solidFill>
                  <a:srgbClr val="D6D0E0"/>
                </a:solidFill>
                <a:latin typeface="Fira Sans"/>
              </a:rPr>
              <a:t>α = ∞ and </a:t>
            </a:r>
            <a:r>
              <a:rPr lang="en-GB" sz="1045" b="0" i="0" noProof="0" dirty="0" err="1">
                <a:solidFill>
                  <a:srgbClr val="D6D0E0"/>
                </a:solidFill>
                <a:latin typeface="Fira Sans"/>
              </a:rPr>
              <a:t>Σ</a:t>
            </a:r>
            <a:r>
              <a:rPr lang="en-GB" sz="1045" b="0" i="0" noProof="0" dirty="0">
                <a:solidFill>
                  <a:srgbClr val="D6D0E0"/>
                </a:solidFill>
                <a:latin typeface="Fira Sans"/>
              </a:rPr>
              <a:t>α² &lt; ∞. A constant α fails the second condition on purpose: that is exactly what lets it follow a moving value.</a:t>
            </a:r>
          </a:p>
          <a:p>
            <a:pPr marL="0" indent="0" algn="l">
              <a:lnSpc>
                <a:spcPts val="1331"/>
              </a:lnSpc>
              <a:spcBef>
                <a:spcPts val="1300"/>
              </a:spcBef>
              <a:spcAft>
                <a:spcPts val="0"/>
              </a:spcAft>
              <a:buNone/>
            </a:pPr>
            <a:r>
              <a:rPr lang="en-GB" sz="1188" b="1" i="0" noProof="0" dirty="0">
                <a:solidFill>
                  <a:srgbClr val="B2A7C4"/>
                </a:solidFill>
                <a:latin typeface="Fira Sans"/>
              </a:rPr>
              <a:t>03   </a:t>
            </a:r>
            <a:r>
              <a:rPr lang="en-GB" sz="1188" b="1" i="0" noProof="0" dirty="0">
                <a:solidFill>
                  <a:srgbClr val="FFFFFF"/>
                </a:solidFill>
                <a:latin typeface="Fira Sans"/>
              </a:rPr>
              <a:t>Exploration is a cost paid for information</a:t>
            </a:r>
          </a:p>
          <a:p>
            <a:pPr marL="384048" indent="0" algn="l">
              <a:lnSpc>
                <a:spcPts val="1233"/>
              </a:lnSpc>
              <a:spcBef>
                <a:spcPts val="300"/>
              </a:spcBef>
              <a:spcAft>
                <a:spcPts val="0"/>
              </a:spcAft>
              <a:buNone/>
            </a:pPr>
            <a:r>
              <a:rPr lang="en-GB" sz="1045" b="0" i="0" noProof="0" dirty="0">
                <a:solidFill>
                  <a:srgbClr val="D6D0E0"/>
                </a:solidFill>
                <a:latin typeface="Fira Sans"/>
              </a:rPr>
              <a:t>Pure greedy locks onto a wrong action; pure random never uses what it learns. Both pay a price forever, for opposite reasons.</a:t>
            </a:r>
          </a:p>
          <a:p>
            <a:pPr marL="0" indent="0" algn="l">
              <a:lnSpc>
                <a:spcPts val="1331"/>
              </a:lnSpc>
              <a:spcBef>
                <a:spcPts val="1300"/>
              </a:spcBef>
              <a:spcAft>
                <a:spcPts val="0"/>
              </a:spcAft>
              <a:buNone/>
            </a:pPr>
            <a:r>
              <a:rPr lang="en-GB" sz="1188" b="1" i="0" noProof="0" dirty="0">
                <a:solidFill>
                  <a:srgbClr val="B2A7C4"/>
                </a:solidFill>
                <a:latin typeface="Fira Sans"/>
              </a:rPr>
              <a:t>04   </a:t>
            </a:r>
            <a:r>
              <a:rPr lang="en-GB" sz="1188" b="1" i="0" noProof="0" dirty="0">
                <a:solidFill>
                  <a:srgbClr val="FFFFFF"/>
                </a:solidFill>
                <a:latin typeface="Fira Sans"/>
              </a:rPr>
              <a:t>Good exploration is directed, not random</a:t>
            </a:r>
          </a:p>
          <a:p>
            <a:pPr marL="384048" indent="0" algn="l">
              <a:lnSpc>
                <a:spcPts val="1233"/>
              </a:lnSpc>
              <a:spcBef>
                <a:spcPts val="300"/>
              </a:spcBef>
              <a:spcAft>
                <a:spcPts val="0"/>
              </a:spcAft>
              <a:buNone/>
            </a:pPr>
            <a:r>
              <a:rPr lang="en-GB" sz="1045" b="0" i="0" noProof="0" dirty="0" err="1">
                <a:solidFill>
                  <a:srgbClr val="D6D0E0"/>
                </a:solidFill>
                <a:latin typeface="Fira Sans"/>
              </a:rPr>
              <a:t>Softmax</a:t>
            </a:r>
            <a:r>
              <a:rPr lang="en-GB" sz="1045" b="0" i="0" noProof="0" dirty="0">
                <a:solidFill>
                  <a:srgbClr val="D6D0E0"/>
                </a:solidFill>
                <a:latin typeface="Fira Sans"/>
              </a:rPr>
              <a:t> explores by estimated value, UCB by uncertainty, Thompson sampling by drawing from a posterior and each buys its advantage with a modelling assumption.</a:t>
            </a:r>
          </a:p>
          <a:p>
            <a:pPr marL="0" indent="0" algn="l">
              <a:lnSpc>
                <a:spcPts val="1331"/>
              </a:lnSpc>
              <a:spcBef>
                <a:spcPts val="1300"/>
              </a:spcBef>
              <a:spcAft>
                <a:spcPts val="0"/>
              </a:spcAft>
              <a:buNone/>
            </a:pPr>
            <a:r>
              <a:rPr lang="en-GB" sz="1188" b="1" i="0" noProof="0" dirty="0">
                <a:solidFill>
                  <a:srgbClr val="B2A7C4"/>
                </a:solidFill>
                <a:latin typeface="Fira Sans"/>
              </a:rPr>
              <a:t>05   </a:t>
            </a:r>
            <a:r>
              <a:rPr lang="en-GB" sz="1188" b="1" i="0" noProof="0" dirty="0">
                <a:solidFill>
                  <a:srgbClr val="FFFFFF"/>
                </a:solidFill>
                <a:latin typeface="Fira Sans"/>
              </a:rPr>
              <a:t>Regret is the honest measure</a:t>
            </a:r>
          </a:p>
          <a:p>
            <a:pPr marL="384048" indent="0" algn="l">
              <a:lnSpc>
                <a:spcPts val="1233"/>
              </a:lnSpc>
              <a:spcBef>
                <a:spcPts val="300"/>
              </a:spcBef>
              <a:spcAft>
                <a:spcPts val="0"/>
              </a:spcAft>
              <a:buNone/>
            </a:pPr>
            <a:r>
              <a:rPr lang="en-GB" sz="1045" b="0" i="0" noProof="0" dirty="0">
                <a:solidFill>
                  <a:srgbClr val="D6D0E0"/>
                </a:solidFill>
                <a:latin typeface="Fira Sans"/>
              </a:rPr>
              <a:t>Average reward hides a permanent exploration tax. Regret makes it visible: a fixed </a:t>
            </a:r>
            <a:r>
              <a:rPr lang="en-GB" sz="1045" b="0" i="0" noProof="0" dirty="0" err="1">
                <a:solidFill>
                  <a:srgbClr val="D6D0E0"/>
                </a:solidFill>
                <a:latin typeface="Fira Sans"/>
              </a:rPr>
              <a:t>ε</a:t>
            </a:r>
            <a:r>
              <a:rPr lang="en-GB" sz="1045" b="0" i="0" noProof="0" dirty="0">
                <a:solidFill>
                  <a:srgbClr val="D6D0E0"/>
                </a:solidFill>
                <a:latin typeface="Fira Sans"/>
              </a:rPr>
              <a:t> gives a straight line, while UCB and Thompson sampling bend.</a:t>
            </a:r>
          </a:p>
          <a:p>
            <a:pPr marL="0" indent="0" algn="l">
              <a:lnSpc>
                <a:spcPts val="1331"/>
              </a:lnSpc>
              <a:spcBef>
                <a:spcPts val="1300"/>
              </a:spcBef>
              <a:spcAft>
                <a:spcPts val="0"/>
              </a:spcAft>
              <a:buNone/>
            </a:pPr>
            <a:r>
              <a:rPr lang="en-GB" sz="1188" b="1" i="0" noProof="0" dirty="0">
                <a:solidFill>
                  <a:srgbClr val="B2A7C4"/>
                </a:solidFill>
                <a:latin typeface="Fira Sans"/>
              </a:rPr>
              <a:t>06   </a:t>
            </a:r>
            <a:r>
              <a:rPr lang="en-GB" sz="1188" b="1" i="0" noProof="0" dirty="0">
                <a:solidFill>
                  <a:srgbClr val="FFFFFF"/>
                </a:solidFill>
                <a:latin typeface="Fira Sans"/>
              </a:rPr>
              <a:t>Chapter 05 puts the states back</a:t>
            </a:r>
          </a:p>
          <a:p>
            <a:pPr marL="384048" indent="0" algn="l">
              <a:lnSpc>
                <a:spcPts val="1233"/>
              </a:lnSpc>
              <a:spcBef>
                <a:spcPts val="300"/>
              </a:spcBef>
              <a:spcAft>
                <a:spcPts val="0"/>
              </a:spcAft>
              <a:buNone/>
            </a:pPr>
            <a:r>
              <a:rPr lang="en-GB" sz="1045" b="0" i="0" noProof="0" dirty="0">
                <a:solidFill>
                  <a:srgbClr val="D6D0E0"/>
                </a:solidFill>
                <a:latin typeface="Fira Sans"/>
              </a:rPr>
              <a:t>These strategies now have to work inside an MDP, where an action also changes where the agent ends up and where the value being estimated moves as the policy improves.</a:t>
            </a:r>
          </a:p>
        </p:txBody>
      </p:sp>
      <p:sp>
        <p:nvSpPr>
          <p:cNvPr id="6" name="Rectangle 5"/>
          <p:cNvSpPr/>
          <p:nvPr/>
        </p:nvSpPr>
        <p:spPr>
          <a:xfrm>
            <a:off x="7635240" y="1225296"/>
            <a:ext cx="10972" cy="448056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138160" y="1225296"/>
            <a:ext cx="3383280" cy="27432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40">
                <a:solidFill>
                  <a:srgbClr val="B2A7C4"/>
                </a:solidFill>
                <a:latin typeface="Fira Sans Medium"/>
              </a:rPr>
              <a:t>PRIMARY SOURCES</a:t>
            </a:r>
          </a:p>
        </p:txBody>
      </p:sp>
      <p:sp>
        <p:nvSpPr>
          <p:cNvPr id="8" name="TextBox 7"/>
          <p:cNvSpPr txBox="1"/>
          <p:nvPr/>
        </p:nvSpPr>
        <p:spPr>
          <a:xfrm>
            <a:off x="8138160" y="1609344"/>
            <a:ext cx="3474720" cy="3154680"/>
          </a:xfrm>
          <a:prstGeom prst="rect">
            <a:avLst/>
          </a:prstGeom>
          <a:noFill/>
        </p:spPr>
        <p:txBody>
          <a:bodyPr wrap="square" lIns="0" tIns="0" rIns="0" bIns="0" anchor="t">
            <a:noAutofit/>
          </a:bodyPr>
          <a:lstStyle/>
          <a:p>
            <a:pPr marL="0" indent="0" algn="l">
              <a:lnSpc>
                <a:spcPts val="1077"/>
              </a:lnSpc>
              <a:spcBef>
                <a:spcPts val="0"/>
              </a:spcBef>
              <a:spcAft>
                <a:spcPts val="0"/>
              </a:spcAft>
              <a:buNone/>
            </a:pPr>
            <a:r>
              <a:rPr sz="997" b="1" i="0" dirty="0">
                <a:solidFill>
                  <a:srgbClr val="FFFFFF"/>
                </a:solidFill>
                <a:latin typeface="Fira Sans"/>
              </a:rPr>
              <a:t>Thompson (1933)</a:t>
            </a:r>
          </a:p>
          <a:p>
            <a:pPr marL="0" indent="0" algn="l">
              <a:lnSpc>
                <a:spcPts val="1061"/>
              </a:lnSpc>
              <a:spcBef>
                <a:spcPts val="100"/>
              </a:spcBef>
              <a:spcAft>
                <a:spcPts val="0"/>
              </a:spcAft>
              <a:buNone/>
            </a:pPr>
            <a:r>
              <a:rPr sz="931" b="0" i="1" dirty="0">
                <a:solidFill>
                  <a:srgbClr val="B2A7C4"/>
                </a:solidFill>
                <a:latin typeface="Fira Sans"/>
              </a:rPr>
              <a:t>On the Likelihood that One Unknown</a:t>
            </a:r>
            <a:br>
              <a:rPr sz="931" b="0" i="1" dirty="0">
                <a:solidFill>
                  <a:srgbClr val="B2A7C4"/>
                </a:solidFill>
                <a:latin typeface="Fira Sans"/>
              </a:rPr>
            </a:br>
            <a:r>
              <a:rPr sz="931" b="0" i="1" dirty="0">
                <a:solidFill>
                  <a:srgbClr val="B2A7C4"/>
                </a:solidFill>
                <a:latin typeface="Fira Sans"/>
              </a:rPr>
              <a:t>Probability Exceeds Another</a:t>
            </a:r>
          </a:p>
          <a:p>
            <a:pPr marL="0" indent="0" algn="l">
              <a:lnSpc>
                <a:spcPts val="1077"/>
              </a:lnSpc>
              <a:spcBef>
                <a:spcPts val="1100"/>
              </a:spcBef>
              <a:spcAft>
                <a:spcPts val="0"/>
              </a:spcAft>
              <a:buNone/>
            </a:pPr>
            <a:r>
              <a:rPr sz="997" b="1" i="0" dirty="0">
                <a:solidFill>
                  <a:srgbClr val="FFFFFF"/>
                </a:solidFill>
                <a:latin typeface="Fira Sans"/>
              </a:rPr>
              <a:t>Robbins &amp; Monro (1951)</a:t>
            </a:r>
          </a:p>
          <a:p>
            <a:pPr marL="0" indent="0" algn="l">
              <a:lnSpc>
                <a:spcPts val="1061"/>
              </a:lnSpc>
              <a:spcBef>
                <a:spcPts val="100"/>
              </a:spcBef>
              <a:spcAft>
                <a:spcPts val="0"/>
              </a:spcAft>
              <a:buNone/>
            </a:pPr>
            <a:r>
              <a:rPr sz="931" b="0" i="1" dirty="0">
                <a:solidFill>
                  <a:srgbClr val="B2A7C4"/>
                </a:solidFill>
                <a:latin typeface="Fira Sans"/>
              </a:rPr>
              <a:t>A Stochastic Approximation Method</a:t>
            </a:r>
          </a:p>
          <a:p>
            <a:pPr marL="0" indent="0" algn="l">
              <a:lnSpc>
                <a:spcPts val="1077"/>
              </a:lnSpc>
              <a:spcBef>
                <a:spcPts val="1100"/>
              </a:spcBef>
              <a:spcAft>
                <a:spcPts val="0"/>
              </a:spcAft>
              <a:buNone/>
            </a:pPr>
            <a:r>
              <a:rPr sz="997" b="1" i="0" dirty="0">
                <a:solidFill>
                  <a:srgbClr val="FFFFFF"/>
                </a:solidFill>
                <a:latin typeface="Fira Sans"/>
              </a:rPr>
              <a:t>Lai &amp; Robbins (1985)</a:t>
            </a:r>
          </a:p>
          <a:p>
            <a:pPr marL="0" indent="0" algn="l">
              <a:lnSpc>
                <a:spcPts val="1061"/>
              </a:lnSpc>
              <a:spcBef>
                <a:spcPts val="100"/>
              </a:spcBef>
              <a:spcAft>
                <a:spcPts val="0"/>
              </a:spcAft>
              <a:buNone/>
            </a:pPr>
            <a:r>
              <a:rPr sz="931" b="0" i="1" dirty="0">
                <a:solidFill>
                  <a:srgbClr val="B2A7C4"/>
                </a:solidFill>
                <a:latin typeface="Fira Sans"/>
              </a:rPr>
              <a:t>Asymptotically Efficient Adaptive</a:t>
            </a:r>
            <a:br>
              <a:rPr sz="931" b="0" i="1" dirty="0">
                <a:solidFill>
                  <a:srgbClr val="B2A7C4"/>
                </a:solidFill>
                <a:latin typeface="Fira Sans"/>
              </a:rPr>
            </a:br>
            <a:r>
              <a:rPr sz="931" b="0" i="1" dirty="0">
                <a:solidFill>
                  <a:srgbClr val="B2A7C4"/>
                </a:solidFill>
                <a:latin typeface="Fira Sans"/>
              </a:rPr>
              <a:t>Allocation Rules</a:t>
            </a:r>
          </a:p>
          <a:p>
            <a:pPr marL="0" indent="0" algn="l">
              <a:lnSpc>
                <a:spcPts val="1077"/>
              </a:lnSpc>
              <a:spcBef>
                <a:spcPts val="1100"/>
              </a:spcBef>
              <a:spcAft>
                <a:spcPts val="0"/>
              </a:spcAft>
              <a:buNone/>
            </a:pPr>
            <a:r>
              <a:rPr sz="997" b="1" i="0" dirty="0">
                <a:solidFill>
                  <a:srgbClr val="FFFFFF"/>
                </a:solidFill>
                <a:latin typeface="Fira Sans"/>
              </a:rPr>
              <a:t>Auer, </a:t>
            </a:r>
            <a:r>
              <a:rPr sz="997" b="1" i="0" dirty="0" err="1">
                <a:solidFill>
                  <a:srgbClr val="FFFFFF"/>
                </a:solidFill>
                <a:latin typeface="Fira Sans"/>
              </a:rPr>
              <a:t>Cesa</a:t>
            </a:r>
            <a:r>
              <a:rPr sz="997" b="1" i="0" dirty="0">
                <a:solidFill>
                  <a:srgbClr val="FFFFFF"/>
                </a:solidFill>
                <a:latin typeface="Fira Sans"/>
              </a:rPr>
              <a:t>-Bianchi &amp;</a:t>
            </a:r>
            <a:br>
              <a:rPr sz="997" b="1" i="0" dirty="0">
                <a:solidFill>
                  <a:srgbClr val="FFFFFF"/>
                </a:solidFill>
                <a:latin typeface="Fira Sans"/>
              </a:rPr>
            </a:br>
            <a:r>
              <a:rPr sz="997" b="1" i="0" dirty="0">
                <a:solidFill>
                  <a:srgbClr val="FFFFFF"/>
                </a:solidFill>
                <a:latin typeface="Fira Sans"/>
              </a:rPr>
              <a:t>Fischer (2002)</a:t>
            </a:r>
          </a:p>
          <a:p>
            <a:pPr marL="0" indent="0" algn="l">
              <a:lnSpc>
                <a:spcPts val="1061"/>
              </a:lnSpc>
              <a:spcBef>
                <a:spcPts val="100"/>
              </a:spcBef>
              <a:spcAft>
                <a:spcPts val="0"/>
              </a:spcAft>
              <a:buNone/>
            </a:pPr>
            <a:r>
              <a:rPr sz="931" b="0" i="1" dirty="0">
                <a:solidFill>
                  <a:srgbClr val="B2A7C4"/>
                </a:solidFill>
                <a:latin typeface="Fira Sans"/>
              </a:rPr>
              <a:t>Finite-time Analysis of the</a:t>
            </a:r>
            <a:br>
              <a:rPr sz="931" b="0" i="1" dirty="0">
                <a:solidFill>
                  <a:srgbClr val="B2A7C4"/>
                </a:solidFill>
                <a:latin typeface="Fira Sans"/>
              </a:rPr>
            </a:br>
            <a:r>
              <a:rPr sz="931" b="0" i="1" dirty="0">
                <a:solidFill>
                  <a:srgbClr val="B2A7C4"/>
                </a:solidFill>
                <a:latin typeface="Fira Sans"/>
              </a:rPr>
              <a:t>Multiarmed Bandit Problem</a:t>
            </a:r>
          </a:p>
        </p:txBody>
      </p:sp>
      <p:pic>
        <p:nvPicPr>
          <p:cNvPr id="9" name="Picture 8" descr="image.png"/>
          <p:cNvPicPr>
            <a:picLocks noChangeAspect="1"/>
          </p:cNvPicPr>
          <p:nvPr/>
        </p:nvPicPr>
        <p:blipFill>
          <a:blip r:embed="rId2"/>
          <a:stretch>
            <a:fillRect/>
          </a:stretch>
        </p:blipFill>
        <p:spPr>
          <a:xfrm>
            <a:off x="10561320" y="5623560"/>
            <a:ext cx="786384" cy="527320"/>
          </a:xfrm>
          <a:prstGeom prst="rect">
            <a:avLst/>
          </a:prstGeom>
        </p:spPr>
      </p:pic>
    </p:spTree>
  </p:cSld>
  <p:clrMapOvr>
    <a:masterClrMapping/>
  </p:clrMapOvr>
</p:sld>
</file>

<file path=ppt/theme/theme1.xml><?xml version="1.0" encoding="utf-8"?>
<a:theme xmlns:a="http://schemas.openxmlformats.org/drawingml/2006/main" name="Tema di Office">
  <a:themeElements>
    <a:clrScheme name="ingegneria">
      <a:dk1>
        <a:srgbClr val="000000"/>
      </a:dk1>
      <a:lt1>
        <a:srgbClr val="FFFFFF"/>
      </a:lt1>
      <a:dk2>
        <a:srgbClr val="000000"/>
      </a:dk2>
      <a:lt2>
        <a:srgbClr val="E7E6E6"/>
      </a:lt2>
      <a:accent1>
        <a:srgbClr val="574676"/>
      </a:accent1>
      <a:accent2>
        <a:srgbClr val="574676"/>
      </a:accent2>
      <a:accent3>
        <a:srgbClr val="574676"/>
      </a:accent3>
      <a:accent4>
        <a:srgbClr val="574676"/>
      </a:accent4>
      <a:accent5>
        <a:srgbClr val="574676"/>
      </a:accent5>
      <a:accent6>
        <a:srgbClr val="574676"/>
      </a:accent6>
      <a:hlink>
        <a:srgbClr val="574676"/>
      </a:hlink>
      <a:folHlink>
        <a:srgbClr val="E7E6E6"/>
      </a:folHlink>
    </a:clrScheme>
    <a:fontScheme name="Consolas-Verdana">
      <a:majorFont>
        <a:latin typeface="Consolas" panose="020B0609020204030204"/>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Verdana" panose="020B060403050404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rmAutofit/>
      </a:bodyPr>
      <a:lstStyle>
        <a:defPPr marL="0" indent="0" algn="l">
          <a:buNone/>
          <a:defRPr sz="1050" b="0" i="1" dirty="0" smtClean="0">
            <a:latin typeface="Fira Sans" panose="020B0503050000020004" pitchFamily="34" charset="0"/>
          </a:defRPr>
        </a:defPPr>
      </a:lstStyle>
    </a:txDef>
  </a:objectDefaults>
  <a:extraClrSchemeLst/>
  <a:extLst>
    <a:ext uri="{05A4C25C-085E-4340-85A3-A5531E510DB2}">
      <thm15:themeFamily xmlns:thm15="http://schemas.microsoft.com/office/thememl/2012/main" name="Presentation2" id="{9E943207-3816-4CB4-949D-1A150629494E}" vid="{FBF57FA0-DAAF-4234-A026-6691D98987D1}"/>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175</TotalTime>
  <Words>9890</Words>
  <Application>Microsoft Macintosh PowerPoint</Application>
  <PresentationFormat>Widescreen</PresentationFormat>
  <Paragraphs>731</Paragraphs>
  <Slides>45</Slides>
  <Notes>0</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45</vt:i4>
      </vt:variant>
    </vt:vector>
  </HeadingPairs>
  <TitlesOfParts>
    <vt:vector size="52" baseType="lpstr">
      <vt:lpstr>Arial</vt:lpstr>
      <vt:lpstr>Roboto Slab</vt:lpstr>
      <vt:lpstr>Calibri</vt:lpstr>
      <vt:lpstr>Consolas</vt:lpstr>
      <vt:lpstr>Fira Sans</vt:lpstr>
      <vt:lpstr>Fira Sans Medium</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Exploration vs Exploitation — Chapter 04</dc:title>
  <dc:subject>Reinforcement Learning, Chapter 04: Exploration vs Exploitation</dc:subject>
  <dc:creator>Riccardo Berta</dc:creator>
  <cp:keywords/>
  <dc:description>Companion lecture slides generated from the Chapter 04 lecture notes (notes.ipynb), on the DITEN widescreen template. Figures reused from the notes; mathematics typeset in LaTeX as vector graphics.</dc:description>
  <cp:lastModifiedBy>Riccardo Berta</cp:lastModifiedBy>
  <cp:revision>2</cp:revision>
  <cp:lastPrinted>2019-04-15T13:03:12Z</cp:lastPrinted>
  <dcterms:created xsi:type="dcterms:W3CDTF">2020-06-03T21:02:46Z</dcterms:created>
  <dcterms:modified xsi:type="dcterms:W3CDTF">2026-10-20T19:33:29Z</dcterms:modified>
  <cp:category>University lecture slides</cp:category>
</cp:coreProperties>
</file>