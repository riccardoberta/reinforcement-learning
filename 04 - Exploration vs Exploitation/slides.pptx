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9"/>
  </p:notesMasterIdLst>
  <p:sldIdLst>
    <p:sldId id="256" r:id="rId5"/>
    <p:sldId id="264" r:id="rId6"/>
    <p:sldId id="265" r:id="rId7"/>
    <p:sldId id="266" r:id="rId8"/>
    <p:sldId id="279" r:id="rId9"/>
    <p:sldId id="267" r:id="rId10"/>
    <p:sldId id="268" r:id="rId11"/>
    <p:sldId id="269" r:id="rId12"/>
    <p:sldId id="270" r:id="rId13"/>
    <p:sldId id="271" r:id="rId14"/>
    <p:sldId id="272" r:id="rId15"/>
    <p:sldId id="275" r:id="rId16"/>
    <p:sldId id="276" r:id="rId17"/>
    <p:sldId id="295" r:id="rId18"/>
    <p:sldId id="280" r:id="rId19"/>
    <p:sldId id="277" r:id="rId20"/>
    <p:sldId id="288" r:id="rId21"/>
    <p:sldId id="293" r:id="rId22"/>
    <p:sldId id="289" r:id="rId23"/>
    <p:sldId id="298" r:id="rId24"/>
    <p:sldId id="273" r:id="rId25"/>
    <p:sldId id="274" r:id="rId26"/>
    <p:sldId id="281" r:id="rId27"/>
    <p:sldId id="282" r:id="rId28"/>
    <p:sldId id="283" r:id="rId29"/>
    <p:sldId id="296" r:id="rId30"/>
    <p:sldId id="285" r:id="rId31"/>
    <p:sldId id="286" r:id="rId32"/>
    <p:sldId id="287" r:id="rId33"/>
    <p:sldId id="299" r:id="rId34"/>
    <p:sldId id="291" r:id="rId35"/>
    <p:sldId id="290" r:id="rId36"/>
    <p:sldId id="297" r:id="rId37"/>
    <p:sldId id="292" r:id="rId38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40"/>
      <p:bold r:id="rId41"/>
      <p:italic r:id="rId42"/>
      <p:boldItalic r:id="rId43"/>
    </p:embeddedFont>
    <p:embeddedFont>
      <p:font typeface="Open Sans" panose="020B0606030504020204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68"/>
    <p:restoredTop sz="91855"/>
  </p:normalViewPr>
  <p:slideViewPr>
    <p:cSldViewPr snapToGrid="0" snapToObjects="1">
      <p:cViewPr varScale="1">
        <p:scale>
          <a:sx n="142" d="100"/>
          <a:sy n="142" d="100"/>
        </p:scale>
        <p:origin x="14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5.fntdata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4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7.fntdata"/><Relationship Id="rId20" Type="http://schemas.openxmlformats.org/officeDocument/2006/relationships/slide" Target="slides/slide16.xml"/><Relationship Id="rId41" Type="http://schemas.openxmlformats.org/officeDocument/2006/relationships/font" Target="fonts/font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custSel addSld delSld modSld">
      <pc:chgData name="Riccardo Berta" userId="c8694f89-bba4-4576-b0a8-456619ca5a8c" providerId="ADAL" clId="{FDDBFC5A-5EA9-5330-BEB8-433D7E3B4C4E}" dt="2025-12-12T13:24:49.779" v="155" actId="1076"/>
      <pc:docMkLst>
        <pc:docMk/>
      </pc:docMkLst>
      <pc:sldChg chg="modSp mod">
        <pc:chgData name="Riccardo Berta" userId="c8694f89-bba4-4576-b0a8-456619ca5a8c" providerId="ADAL" clId="{FDDBFC5A-5EA9-5330-BEB8-433D7E3B4C4E}" dt="2025-12-12T13:24:49.779" v="155" actId="1076"/>
        <pc:sldMkLst>
          <pc:docMk/>
          <pc:sldMk cId="2988223902" sldId="279"/>
        </pc:sldMkLst>
        <pc:picChg chg="mod">
          <ac:chgData name="Riccardo Berta" userId="c8694f89-bba4-4576-b0a8-456619ca5a8c" providerId="ADAL" clId="{FDDBFC5A-5EA9-5330-BEB8-433D7E3B4C4E}" dt="2025-12-12T13:24:49.779" v="155" actId="1076"/>
          <ac:picMkLst>
            <pc:docMk/>
            <pc:sldMk cId="2988223902" sldId="279"/>
            <ac:picMk id="2" creationId="{956D1750-AF73-2EE1-808A-1B03FEECB5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3866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7286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2844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4190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77149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2386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12881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34687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095088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1523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26932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E5C2CA61-03CC-7D1B-356E-EB6E1C739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8753D6F2-8872-A5F2-09E8-9A5EE3E6E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332E025-C56F-AA53-F1F4-56370E2BD7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01775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26242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39418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927004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05582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829825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4971FCA-430F-4E98-634F-A2174732D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796B70BF-80C1-43B3-CA67-941B03E4D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E6D6046-4A52-F4BB-58D2-67A15E7A1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135882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3875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46353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1542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0102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68650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3273DA6-E731-A5D6-2378-AC5DF52E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62B6CDF-6537-9027-9A64-3A46A9E5AA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F968B63-FB42-E372-2237-2AB6FCDDF4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0243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568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47994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06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F7F5ADF-4AD3-9AA3-D38F-4190DEBC9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386742A-A452-5A3C-987A-DE207F93F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3AB2FE9-9A6A-89B4-BFFD-49EA27DFEC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9048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83593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9835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E0975884-EE75-FD0F-177A-2BFABDCD5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2FE17D2-5E41-DFE6-202E-ABB627CC4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1E28E2A-CA51-EAFE-5C77-06463F9AA9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22714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2291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88012" y="2404200"/>
            <a:ext cx="3367975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Exploitation </a:t>
            </a:r>
            <a:br>
              <a:rPr lang="en-GB" dirty="0"/>
            </a:br>
            <a:r>
              <a:rPr lang="en-GB" dirty="0"/>
              <a:t>vs</a:t>
            </a:r>
            <a:br>
              <a:rPr lang="en-GB" dirty="0"/>
            </a:br>
            <a:r>
              <a:rPr lang="en-GB" dirty="0"/>
              <a:t>Exploration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699646"/>
            <a:ext cx="8520600" cy="38332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Dilemma</a:t>
            </a:r>
          </a:p>
          <a:p>
            <a:pPr lvl="0"/>
            <a:r>
              <a:rPr lang="en-GB" sz="1800" dirty="0"/>
              <a:t>Multi-armed bandit problem</a:t>
            </a:r>
          </a:p>
          <a:p>
            <a:pPr lvl="0"/>
            <a:r>
              <a:rPr lang="en-GB" sz="1800" dirty="0"/>
              <a:t>Estimation of the action value</a:t>
            </a:r>
          </a:p>
          <a:p>
            <a:pPr lvl="0"/>
            <a:r>
              <a:rPr lang="en-GB" sz="1800" dirty="0"/>
              <a:t>Exploiting or Exploring?</a:t>
            </a:r>
          </a:p>
          <a:p>
            <a:pPr lvl="0"/>
            <a:r>
              <a:rPr lang="en-GB" sz="1800" dirty="0"/>
              <a:t>Epsilon greedy</a:t>
            </a:r>
          </a:p>
          <a:p>
            <a:pPr lvl="0"/>
            <a:r>
              <a:rPr lang="en-GB" sz="1800" dirty="0"/>
              <a:t>Decaying epsilon-greedy</a:t>
            </a:r>
          </a:p>
          <a:p>
            <a:pPr lvl="0"/>
            <a:r>
              <a:rPr lang="en-GB" sz="1800" dirty="0"/>
              <a:t>Optimistic initial values</a:t>
            </a:r>
          </a:p>
          <a:p>
            <a:pPr lvl="0"/>
            <a:r>
              <a:rPr lang="en-GB" sz="1800" dirty="0"/>
              <a:t>Strategic Exploration</a:t>
            </a:r>
          </a:p>
          <a:p>
            <a:pPr lvl="0"/>
            <a:r>
              <a:rPr lang="en-GB" sz="1800" dirty="0" err="1"/>
              <a:t>Softmax</a:t>
            </a:r>
            <a:r>
              <a:rPr lang="en-GB" sz="1800" dirty="0"/>
              <a:t> method</a:t>
            </a:r>
          </a:p>
          <a:p>
            <a:pPr lvl="0"/>
            <a:r>
              <a:rPr lang="en-GB" sz="1800" dirty="0"/>
              <a:t>Upper Confidence Bound method</a:t>
            </a:r>
          </a:p>
          <a:p>
            <a:pPr lvl="0"/>
            <a:r>
              <a:rPr lang="en-GB" sz="1800" dirty="0"/>
              <a:t>Comparison</a:t>
            </a:r>
          </a:p>
          <a:p>
            <a:pPr lvl="0"/>
            <a:r>
              <a:rPr lang="en-GB" sz="1800" dirty="0"/>
              <a:t>Conclusion</a:t>
            </a:r>
          </a:p>
          <a:p>
            <a:pPr lvl="0"/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Dilemma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For our agent is really important to </a:t>
            </a:r>
            <a:r>
              <a:rPr lang="en-GB" b="1" dirty="0"/>
              <a:t>explore</a:t>
            </a:r>
            <a:r>
              <a:rPr lang="en-GB" dirty="0"/>
              <a:t> when interacting with </a:t>
            </a:r>
            <a:r>
              <a:rPr lang="en-GB" b="1" dirty="0"/>
              <a:t>uncertain environments</a:t>
            </a:r>
          </a:p>
          <a:p>
            <a:pPr lvl="1"/>
            <a:r>
              <a:rPr lang="en-GB" dirty="0"/>
              <a:t>problems in which the MDP isn’t available for planning</a:t>
            </a:r>
          </a:p>
          <a:p>
            <a:pPr lvl="1"/>
            <a:endParaRPr lang="en-GB" sz="900" dirty="0"/>
          </a:p>
          <a:p>
            <a:pPr lvl="0"/>
            <a:r>
              <a:rPr lang="en-GB" dirty="0"/>
              <a:t>Every decision is a </a:t>
            </a:r>
            <a:r>
              <a:rPr lang="en-GB" b="1" dirty="0"/>
              <a:t>trade-off</a:t>
            </a:r>
            <a:r>
              <a:rPr lang="en-GB" dirty="0"/>
              <a:t> between </a:t>
            </a:r>
            <a:r>
              <a:rPr lang="en-GB" b="1" dirty="0"/>
              <a:t>information gathering</a:t>
            </a:r>
            <a:r>
              <a:rPr lang="en-GB" dirty="0"/>
              <a:t> and </a:t>
            </a:r>
            <a:r>
              <a:rPr lang="en-GB" b="1" dirty="0"/>
              <a:t>information exploitation</a:t>
            </a:r>
          </a:p>
          <a:p>
            <a:pPr lvl="1"/>
            <a:r>
              <a:rPr lang="en-GB" dirty="0"/>
              <a:t>when we go to a restaurant, should we order our favourite dish or should we request that dish we want to try? </a:t>
            </a:r>
          </a:p>
          <a:p>
            <a:pPr lvl="1"/>
            <a:endParaRPr lang="en-GB" sz="900" dirty="0"/>
          </a:p>
          <a:p>
            <a:r>
              <a:rPr lang="en-GB" dirty="0"/>
              <a:t>The </a:t>
            </a:r>
            <a:r>
              <a:rPr lang="en-GB" b="1" dirty="0"/>
              <a:t>exploration-exploitation dilemma</a:t>
            </a:r>
            <a:endParaRPr lang="en-GB" dirty="0"/>
          </a:p>
          <a:p>
            <a:pPr lvl="1"/>
            <a:r>
              <a:rPr lang="en-GB" dirty="0"/>
              <a:t>we need to acquire knowledge? </a:t>
            </a:r>
          </a:p>
          <a:p>
            <a:pPr lvl="1"/>
            <a:r>
              <a:rPr lang="en-GB" dirty="0"/>
              <a:t>we should capitalize on knowledge previously learned? </a:t>
            </a:r>
          </a:p>
          <a:p>
            <a:pPr lvl="1"/>
            <a:r>
              <a:rPr lang="en-GB" b="1" dirty="0"/>
              <a:t>is the good we already have good enough?</a:t>
            </a:r>
            <a:r>
              <a:rPr lang="en-GB" dirty="0"/>
              <a:t> </a:t>
            </a:r>
          </a:p>
          <a:p>
            <a:pPr lvl="1"/>
            <a:endParaRPr lang="en-GB" sz="1050" dirty="0"/>
          </a:p>
          <a:p>
            <a:r>
              <a:rPr lang="en-GB" dirty="0"/>
              <a:t>In order to examine this dilemma, we will consider simplified environments that aren’t sequential, but one-shot: the </a:t>
            </a:r>
            <a:r>
              <a:rPr lang="en-GB" b="1" dirty="0"/>
              <a:t>multi-armed bandits</a:t>
            </a:r>
            <a:r>
              <a:rPr lang="en-GB" dirty="0"/>
              <a:t> (</a:t>
            </a:r>
            <a:r>
              <a:rPr lang="en-GB" b="1" dirty="0"/>
              <a:t>MABs</a:t>
            </a:r>
            <a:r>
              <a:rPr lang="en-GB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56707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Multi-armed bandit problem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41014"/>
            <a:ext cx="8818500" cy="54696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We are faced repeatedly with a choice among k different actions</a:t>
            </a:r>
          </a:p>
          <a:p>
            <a:r>
              <a:rPr lang="en-GB" dirty="0"/>
              <a:t>After each choice, we receive a reward chosen from a </a:t>
            </a:r>
            <a:r>
              <a:rPr lang="en-GB" b="1" dirty="0"/>
              <a:t>(stationary) probability distribution</a:t>
            </a:r>
            <a:r>
              <a:rPr lang="en-GB" dirty="0"/>
              <a:t> that depends on the selected action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0"/>
            <a:r>
              <a:rPr lang="en-GB" dirty="0"/>
              <a:t>”</a:t>
            </a:r>
            <a:r>
              <a:rPr lang="en-GB" b="1" dirty="0"/>
              <a:t>Many-options, single-choice</a:t>
            </a:r>
            <a:r>
              <a:rPr lang="en-GB" dirty="0"/>
              <a:t>" environment </a:t>
            </a:r>
          </a:p>
          <a:p>
            <a:pPr lvl="1"/>
            <a:r>
              <a:rPr lang="en-GB" b="1" dirty="0"/>
              <a:t>multiple actions, single state, short horizon</a:t>
            </a:r>
            <a:endParaRPr lang="en-GB" dirty="0"/>
          </a:p>
          <a:p>
            <a:pPr lvl="1"/>
            <a:r>
              <a:rPr lang="en-GB" dirty="0"/>
              <a:t>the Q-function is the expected reward given the sampled action</a:t>
            </a:r>
          </a:p>
          <a:p>
            <a:r>
              <a:rPr lang="en-GB" dirty="0"/>
              <a:t>A RL agent needs to maximize the </a:t>
            </a:r>
            <a:r>
              <a:rPr lang="en-GB" b="1" dirty="0"/>
              <a:t>expected “cumulative” “discounted” reward</a:t>
            </a:r>
          </a:p>
          <a:p>
            <a:pPr lvl="1"/>
            <a:r>
              <a:rPr lang="en-GB" dirty="0"/>
              <a:t>we can </a:t>
            </a:r>
            <a:r>
              <a:rPr lang="en-GB" b="1" dirty="0"/>
              <a:t>remove "cumulative”</a:t>
            </a:r>
            <a:r>
              <a:rPr lang="en-GB" dirty="0"/>
              <a:t>: there’s only a single time step</a:t>
            </a:r>
          </a:p>
          <a:p>
            <a:pPr lvl="1"/>
            <a:r>
              <a:rPr lang="en-GB" dirty="0"/>
              <a:t>we can </a:t>
            </a:r>
            <a:r>
              <a:rPr lang="en-GB" b="1" dirty="0"/>
              <a:t>remove "discounted”</a:t>
            </a:r>
            <a:r>
              <a:rPr lang="en-GB" dirty="0"/>
              <a:t>: there are no next states to account for </a:t>
            </a:r>
          </a:p>
          <a:p>
            <a:pPr lvl="1"/>
            <a:r>
              <a:rPr lang="en-GB" b="1" dirty="0"/>
              <a:t>expected stays</a:t>
            </a:r>
            <a:r>
              <a:rPr lang="en-GB" dirty="0"/>
              <a:t> there: there’s stochasticity in the environment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19358DB-EF70-9BD8-C964-C8D1D03E44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980" b="19693"/>
          <a:stretch/>
        </p:blipFill>
        <p:spPr>
          <a:xfrm>
            <a:off x="5349781" y="2851207"/>
            <a:ext cx="2221922" cy="290946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F7D3EE45-AD34-1372-27E8-2ADF8C465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3" y="2211114"/>
            <a:ext cx="4278086" cy="166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65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Multi-armed bandit problem (2)</a:t>
            </a:r>
            <a:endParaRPr sz="4000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956D1750-AF73-2EE1-808A-1B03FEEC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671" y="173443"/>
            <a:ext cx="407258" cy="49557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E1FC8DF4-159D-249C-2A58-53ED9B0A7D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647" y="1183872"/>
            <a:ext cx="8740706" cy="525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23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Multi-Armed Bandit (MAB) problem (3)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If we knew the value of each action, then it would be trivial to solve the problem: we always select the action with highest value: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However, we assume </a:t>
            </a:r>
            <a:r>
              <a:rPr lang="en-GB" b="1" dirty="0"/>
              <a:t>to not know the action values </a:t>
            </a:r>
            <a:r>
              <a:rPr lang="en-GB" dirty="0"/>
              <a:t>with certainty, although we may have estimates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53B5551-BBF6-EEB5-532D-7796B7268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33" y="2127167"/>
            <a:ext cx="20447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76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Estimation of the action value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Notice that the estimation of the action-value function is straightforward</a:t>
            </a:r>
          </a:p>
          <a:p>
            <a:pPr lvl="1"/>
            <a:r>
              <a:rPr lang="en-GB" dirty="0"/>
              <a:t>MABs are one-step environments</a:t>
            </a:r>
          </a:p>
          <a:p>
            <a:pPr lvl="1"/>
            <a:r>
              <a:rPr lang="en-GB" dirty="0"/>
              <a:t>we need to calculate the per-action average reward</a:t>
            </a:r>
          </a:p>
          <a:p>
            <a:r>
              <a:rPr lang="en-GB" dirty="0"/>
              <a:t>The estimate of an action a is the </a:t>
            </a:r>
            <a:r>
              <a:rPr lang="en-GB" b="1" dirty="0"/>
              <a:t>total reward obtained when selecting action a, divided by the number of times action a has been selected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This implementation has to maintain a record of all the rewards and then perform this computation whenever the estimated value was needed</a:t>
            </a:r>
          </a:p>
          <a:p>
            <a:pPr lvl="1"/>
            <a:r>
              <a:rPr lang="en-GB" dirty="0"/>
              <a:t>memory and computational requirements grow over time </a:t>
            </a:r>
          </a:p>
          <a:p>
            <a:pPr lvl="1"/>
            <a:r>
              <a:rPr lang="en-GB" dirty="0"/>
              <a:t>each additional reward requires additional memory to store it  and additional computation to compute the sum in the numerator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6" name="Immagine 5" descr="Immagine che contiene diagramma, Carattere, bianco, schizzo&#10;&#10;Descrizione generata automaticamente">
            <a:extLst>
              <a:ext uri="{FF2B5EF4-FFF2-40B4-BE49-F238E27FC236}">
                <a16:creationId xmlns:a16="http://schemas.microsoft.com/office/drawing/2014/main" id="{725B3AEF-6E87-161D-261C-743747E96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" y="3297602"/>
            <a:ext cx="1841500" cy="105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84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Estimation of the action value (2)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It is easy to devise </a:t>
            </a:r>
            <a:r>
              <a:rPr lang="en-GB" b="1" dirty="0"/>
              <a:t>incremental formulas </a:t>
            </a:r>
            <a:r>
              <a:rPr lang="en-GB" dirty="0"/>
              <a:t>for updating averages with small, constant computation required to process each new reward</a:t>
            </a:r>
          </a:p>
          <a:p>
            <a:pPr lvl="0"/>
            <a:r>
              <a:rPr lang="en-GB" dirty="0"/>
              <a:t>To simplify notation, we concentrate on a single action</a:t>
            </a:r>
          </a:p>
          <a:p>
            <a:pPr lvl="1"/>
            <a:r>
              <a:rPr lang="en-GB" dirty="0"/>
              <a:t>𝑅</a:t>
            </a:r>
            <a:r>
              <a:rPr lang="en-GB" baseline="-25000" dirty="0"/>
              <a:t>𝑖</a:t>
            </a:r>
            <a:r>
              <a:rPr lang="en-GB" dirty="0"/>
              <a:t> denote the reward received after the 𝑖-𝑡</a:t>
            </a:r>
            <a:r>
              <a:rPr lang="en-GB" dirty="0" err="1"/>
              <a:t>ℎ</a:t>
            </a:r>
            <a:r>
              <a:rPr lang="en-GB" dirty="0"/>
              <a:t> selection of </a:t>
            </a:r>
            <a:r>
              <a:rPr lang="en-GB" b="1" dirty="0"/>
              <a:t>that</a:t>
            </a:r>
            <a:r>
              <a:rPr lang="en-GB" dirty="0"/>
              <a:t> action</a:t>
            </a:r>
          </a:p>
          <a:p>
            <a:pPr lvl="1"/>
            <a:r>
              <a:rPr lang="en-GB" dirty="0"/>
              <a:t>𝑞</a:t>
            </a:r>
            <a:r>
              <a:rPr lang="en-GB" baseline="-25000" dirty="0"/>
              <a:t>t</a:t>
            </a:r>
            <a:r>
              <a:rPr lang="en-GB" dirty="0"/>
              <a:t> denote the estimate of its value after it has been selected t−1 times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590550" lvl="1" indent="0">
              <a:buNone/>
            </a:pPr>
            <a:endParaRPr lang="en-GB" sz="1100" dirty="0"/>
          </a:p>
          <a:p>
            <a:r>
              <a:rPr lang="en-GB" dirty="0"/>
              <a:t>this requires memory only for 𝑞</a:t>
            </a:r>
            <a:r>
              <a:rPr lang="en-GB" baseline="-25000" dirty="0"/>
              <a:t>t</a:t>
            </a:r>
            <a:r>
              <a:rPr lang="en-GB" dirty="0"/>
              <a:t> and t and only this small computation for each new reward</a:t>
            </a:r>
          </a:p>
          <a:p>
            <a:r>
              <a:rPr lang="en-GB" dirty="0"/>
              <a:t>This update is of a form of the general rule:</a:t>
            </a:r>
          </a:p>
          <a:p>
            <a:pPr lvl="1"/>
            <a:r>
              <a:rPr lang="en-GB" b="1" dirty="0" err="1"/>
              <a:t>NewEstimate</a:t>
            </a:r>
            <a:r>
              <a:rPr lang="en-GB" b="1" dirty="0"/>
              <a:t> &lt;-- </a:t>
            </a:r>
            <a:r>
              <a:rPr lang="en-GB" b="1" dirty="0" err="1"/>
              <a:t>OldEstimate</a:t>
            </a:r>
            <a:r>
              <a:rPr lang="en-GB" b="1" dirty="0"/>
              <a:t> + </a:t>
            </a:r>
            <a:r>
              <a:rPr lang="en-GB" b="1" dirty="0" err="1"/>
              <a:t>StepSize</a:t>
            </a:r>
            <a:r>
              <a:rPr lang="en-GB" b="1" dirty="0"/>
              <a:t> (Target - </a:t>
            </a:r>
            <a:r>
              <a:rPr lang="en-GB" b="1" dirty="0" err="1"/>
              <a:t>OldEstimate</a:t>
            </a:r>
            <a:r>
              <a:rPr lang="en-GB" b="1" dirty="0"/>
              <a:t>)</a:t>
            </a:r>
          </a:p>
          <a:p>
            <a:pPr lvl="1"/>
            <a:r>
              <a:rPr lang="en-GB" dirty="0"/>
              <a:t>"Target−</a:t>
            </a:r>
            <a:r>
              <a:rPr lang="en-GB" dirty="0" err="1"/>
              <a:t>OldEstimate</a:t>
            </a:r>
            <a:r>
              <a:rPr lang="en-GB" dirty="0"/>
              <a:t>" is an error in the estimate</a:t>
            </a:r>
          </a:p>
          <a:p>
            <a:pPr lvl="1"/>
            <a:r>
              <a:rPr lang="en-GB" dirty="0"/>
              <a:t>it is reduced by taking a step toward the "Target"</a:t>
            </a:r>
          </a:p>
        </p:txBody>
      </p:sp>
      <p:pic>
        <p:nvPicPr>
          <p:cNvPr id="3" name="Immagine 2" descr="Immagine che contiene testo, Carattere, calligrafia, bianco&#10;&#10;Descrizione generata automaticamente">
            <a:extLst>
              <a:ext uri="{FF2B5EF4-FFF2-40B4-BE49-F238E27FC236}">
                <a16:creationId xmlns:a16="http://schemas.microsoft.com/office/drawing/2014/main" id="{0109B367-6FF3-A401-8673-264F87782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16" y="3028950"/>
            <a:ext cx="7553368" cy="12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214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Estimation of the action value (3)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Averaging method is appropriate for </a:t>
            </a:r>
            <a:r>
              <a:rPr lang="en-GB" b="1" dirty="0"/>
              <a:t>stationary</a:t>
            </a:r>
            <a:r>
              <a:rPr lang="en-GB" dirty="0"/>
              <a:t> bandit problems</a:t>
            </a:r>
          </a:p>
          <a:p>
            <a:pPr lvl="1"/>
            <a:r>
              <a:rPr lang="en-GB" dirty="0"/>
              <a:t>reward probabilities do not change over time</a:t>
            </a:r>
          </a:p>
          <a:p>
            <a:r>
              <a:rPr lang="en-GB" dirty="0"/>
              <a:t>We often encounter problems that are </a:t>
            </a:r>
            <a:r>
              <a:rPr lang="en-GB" b="1" dirty="0"/>
              <a:t>non-stationary</a:t>
            </a:r>
          </a:p>
          <a:p>
            <a:pPr lvl="1"/>
            <a:r>
              <a:rPr lang="en-GB" dirty="0"/>
              <a:t>makes sense to give </a:t>
            </a:r>
            <a:r>
              <a:rPr lang="en-GB" b="1" dirty="0"/>
              <a:t>more weight to recent rewards </a:t>
            </a:r>
            <a:r>
              <a:rPr lang="en-GB" dirty="0"/>
              <a:t>than to long-past rewards</a:t>
            </a:r>
          </a:p>
          <a:p>
            <a:r>
              <a:rPr lang="en-GB" dirty="0"/>
              <a:t>One way is to use a </a:t>
            </a:r>
            <a:r>
              <a:rPr lang="en-GB" b="1" dirty="0"/>
              <a:t>constant step-size parameter</a:t>
            </a:r>
          </a:p>
          <a:p>
            <a:endParaRPr lang="en-GB" b="1" dirty="0"/>
          </a:p>
          <a:p>
            <a:endParaRPr lang="en-GB" b="1" dirty="0"/>
          </a:p>
          <a:p>
            <a:r>
              <a:rPr lang="en-GB" dirty="0"/>
              <a:t>This results in 𝑞</a:t>
            </a:r>
            <a:r>
              <a:rPr lang="en-GB" baseline="-25000" dirty="0"/>
              <a:t>𝑛</a:t>
            </a:r>
            <a:r>
              <a:rPr lang="en-GB" dirty="0"/>
              <a:t> being a </a:t>
            </a:r>
            <a:r>
              <a:rPr lang="en-GB" b="1" dirty="0"/>
              <a:t>weighted average</a:t>
            </a:r>
            <a:r>
              <a:rPr lang="en-GB" dirty="0"/>
              <a:t> of past rewards</a:t>
            </a:r>
          </a:p>
          <a:p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193457A0-2CBD-4AE6-AD80-F33066E6E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632" y="3128780"/>
            <a:ext cx="952500" cy="330200"/>
          </a:xfrm>
          <a:prstGeom prst="rect">
            <a:avLst/>
          </a:prstGeom>
        </p:spPr>
      </p:pic>
      <p:pic>
        <p:nvPicPr>
          <p:cNvPr id="3" name="Immagine 2" descr="Immagine che contiene Carattere, tipografia, calligrafia, bianco&#10;&#10;Descrizione generata automaticamente">
            <a:extLst>
              <a:ext uri="{FF2B5EF4-FFF2-40B4-BE49-F238E27FC236}">
                <a16:creationId xmlns:a16="http://schemas.microsoft.com/office/drawing/2014/main" id="{3C6145F1-A39B-ADE4-029B-32D624BD0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141" y="3104126"/>
            <a:ext cx="1943100" cy="4064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7FCB3A5-6F60-6C09-AE34-DCA68ED775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41" y="3924661"/>
            <a:ext cx="619760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138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Estimation of the action value (4)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Sometimes it is convenient to </a:t>
            </a:r>
            <a:r>
              <a:rPr lang="en-GB" b="1" dirty="0"/>
              <a:t>vary the step-size parameter</a:t>
            </a:r>
            <a:r>
              <a:rPr lang="en-GB" dirty="0"/>
              <a:t> from step to step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endParaRPr lang="en-GB" dirty="0"/>
          </a:p>
          <a:p>
            <a:r>
              <a:rPr lang="en-GB" dirty="0"/>
              <a:t>𝛼</a:t>
            </a:r>
            <a:r>
              <a:rPr lang="en-GB" baseline="-25000" dirty="0"/>
              <a:t>t</a:t>
            </a:r>
            <a:r>
              <a:rPr lang="en-GB" dirty="0"/>
              <a:t>(𝑎)=1/t  results in the sample-average method</a:t>
            </a:r>
          </a:p>
          <a:p>
            <a:pPr lvl="1"/>
            <a:r>
              <a:rPr lang="en-GB" dirty="0"/>
              <a:t>which is guaranteed to converge to the true action values 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testo, Carattere, ricevuta, bianco&#10;&#10;Descrizione generata automaticamente">
            <a:extLst>
              <a:ext uri="{FF2B5EF4-FFF2-40B4-BE49-F238E27FC236}">
                <a16:creationId xmlns:a16="http://schemas.microsoft.com/office/drawing/2014/main" id="{1A521971-9504-AF96-F9D9-5D564F756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1438"/>
            <a:ext cx="7772400" cy="222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97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Estimation of the action value (5)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Convergence is not guaranteed for all choices of 𝛼</a:t>
            </a:r>
            <a:r>
              <a:rPr lang="en-GB" baseline="-25000" dirty="0"/>
              <a:t>t</a:t>
            </a:r>
            <a:r>
              <a:rPr lang="en-GB" dirty="0"/>
              <a:t>(𝑎) </a:t>
            </a:r>
          </a:p>
          <a:p>
            <a:r>
              <a:rPr lang="en-GB" dirty="0"/>
              <a:t>A result in stochastic approximation theory gives us the conditions required to assure convergence:</a:t>
            </a:r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pPr lvl="1"/>
            <a:r>
              <a:rPr lang="en-GB" dirty="0"/>
              <a:t>steps should be </a:t>
            </a:r>
            <a:r>
              <a:rPr lang="en-GB" b="1" dirty="0"/>
              <a:t>large enough</a:t>
            </a:r>
            <a:r>
              <a:rPr lang="en-GB" dirty="0"/>
              <a:t> to overcome any initial conditions or random fluctuations</a:t>
            </a:r>
          </a:p>
          <a:p>
            <a:pPr lvl="1"/>
            <a:r>
              <a:rPr lang="en-GB" dirty="0"/>
              <a:t>steps should </a:t>
            </a:r>
            <a:r>
              <a:rPr lang="en-GB" b="1" dirty="0"/>
              <a:t>become small enough</a:t>
            </a:r>
            <a:r>
              <a:rPr lang="en-GB" dirty="0"/>
              <a:t> to assure convergence</a:t>
            </a:r>
          </a:p>
          <a:p>
            <a:r>
              <a:rPr lang="en-GB" dirty="0"/>
              <a:t>Note that conditions are met for the sample-average case</a:t>
            </a:r>
          </a:p>
          <a:p>
            <a:r>
              <a:rPr lang="en-GB" dirty="0"/>
              <a:t>But not for the case of constant step-size parameter</a:t>
            </a:r>
          </a:p>
          <a:p>
            <a:pPr lvl="1"/>
            <a:r>
              <a:rPr lang="en-GB" dirty="0"/>
              <a:t>the second condition is not met</a:t>
            </a:r>
          </a:p>
          <a:p>
            <a:pPr lvl="1"/>
            <a:r>
              <a:rPr lang="en-GB" dirty="0"/>
              <a:t>the estimates never converge, but </a:t>
            </a:r>
            <a:r>
              <a:rPr lang="en-GB" b="1" dirty="0"/>
              <a:t>continue to vary</a:t>
            </a:r>
            <a:r>
              <a:rPr lang="en-GB" dirty="0"/>
              <a:t> in response to the most recently received rewards</a:t>
            </a:r>
          </a:p>
          <a:p>
            <a:pPr lvl="1"/>
            <a:r>
              <a:rPr lang="en-GB" dirty="0"/>
              <a:t>this is </a:t>
            </a:r>
            <a:r>
              <a:rPr lang="en-GB" b="1" dirty="0"/>
              <a:t>desirable in a nonstationary environment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 descr="Immagine che contiene Carattere, testo, bianco, calligrafia&#10;&#10;Descrizione generata automaticamente">
            <a:extLst>
              <a:ext uri="{FF2B5EF4-FFF2-40B4-BE49-F238E27FC236}">
                <a16:creationId xmlns:a16="http://schemas.microsoft.com/office/drawing/2014/main" id="{C1CEAED4-2227-C4A5-D274-A16CB0F23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38" y="2272495"/>
            <a:ext cx="29972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167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Exploiting or Exploring?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60131"/>
            <a:ext cx="8818500" cy="56177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Using the estimate of the action values, at any time step there is at least one action whose value is greatest (</a:t>
            </a:r>
            <a:r>
              <a:rPr lang="en-GB" b="1" dirty="0"/>
              <a:t>greedy action</a:t>
            </a:r>
            <a:r>
              <a:rPr lang="en-GB" dirty="0"/>
              <a:t>)</a:t>
            </a:r>
          </a:p>
          <a:p>
            <a:pPr lvl="0"/>
            <a:r>
              <a:rPr lang="en-GB" dirty="0"/>
              <a:t>When we select it, we say that </a:t>
            </a:r>
            <a:r>
              <a:rPr lang="en-GB" b="1" dirty="0"/>
              <a:t>we are exploiting </a:t>
            </a:r>
            <a:r>
              <a:rPr lang="en-GB" dirty="0"/>
              <a:t>our current knowledge</a:t>
            </a:r>
          </a:p>
          <a:p>
            <a:pPr lvl="0"/>
            <a:endParaRPr lang="en-GB" dirty="0"/>
          </a:p>
          <a:p>
            <a:pPr marL="590550" lvl="1" indent="0">
              <a:buNone/>
            </a:pPr>
            <a:endParaRPr lang="en-GB" dirty="0"/>
          </a:p>
          <a:p>
            <a:r>
              <a:rPr lang="en-GB" dirty="0"/>
              <a:t>If we select one of the nongreedy actions, then we say </a:t>
            </a:r>
            <a:r>
              <a:rPr lang="en-GB" b="1" dirty="0"/>
              <a:t>we are exploring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sampling apparently inferior actions to see if they might be better</a:t>
            </a:r>
          </a:p>
          <a:p>
            <a:r>
              <a:rPr lang="en-GB" dirty="0"/>
              <a:t>Exploitation </a:t>
            </a:r>
            <a:r>
              <a:rPr lang="en-GB" b="1" dirty="0"/>
              <a:t>maximize the expected reward on the one step</a:t>
            </a:r>
            <a:r>
              <a:rPr lang="en-GB" dirty="0"/>
              <a:t>, but exploration </a:t>
            </a:r>
            <a:r>
              <a:rPr lang="en-GB" b="1" dirty="0"/>
              <a:t>may produce a greater total reward in the long run</a:t>
            </a:r>
          </a:p>
          <a:p>
            <a:pPr lvl="1"/>
            <a:r>
              <a:rPr lang="en-GB" dirty="0"/>
              <a:t>it is not possible both to explore and to exploit with any single action selection</a:t>
            </a:r>
          </a:p>
          <a:p>
            <a:pPr lvl="1"/>
            <a:r>
              <a:rPr lang="en-GB" b="1" dirty="0"/>
              <a:t>conflict</a:t>
            </a:r>
            <a:r>
              <a:rPr lang="en-GB" dirty="0"/>
              <a:t> between exploration and exploitation</a:t>
            </a:r>
          </a:p>
          <a:p>
            <a:pPr lvl="1"/>
            <a:r>
              <a:rPr lang="en-GB" dirty="0"/>
              <a:t>need to balance exploration and exploitation is a </a:t>
            </a:r>
            <a:r>
              <a:rPr lang="en-GB" b="1" dirty="0"/>
              <a:t>distinctive challenge </a:t>
            </a:r>
            <a:r>
              <a:rPr lang="en-GB" dirty="0"/>
              <a:t>of RL</a:t>
            </a:r>
          </a:p>
          <a:p>
            <a:pPr lvl="1"/>
            <a:endParaRPr lang="en-GB" sz="1000" dirty="0"/>
          </a:p>
          <a:p>
            <a:r>
              <a:rPr lang="en-GB" dirty="0"/>
              <a:t>Notice that there’s </a:t>
            </a:r>
            <a:r>
              <a:rPr lang="en-GB" b="1" dirty="0"/>
              <a:t>only a way to exploit</a:t>
            </a:r>
            <a:r>
              <a:rPr lang="en-GB" dirty="0"/>
              <a:t>, there are </a:t>
            </a:r>
            <a:r>
              <a:rPr lang="en-GB" b="1" dirty="0"/>
              <a:t>multiple ways to explore </a:t>
            </a:r>
          </a:p>
          <a:p>
            <a:pPr lvl="1"/>
            <a:r>
              <a:rPr lang="en-GB" dirty="0"/>
              <a:t>we can try gathering information to support our current beliefs</a:t>
            </a:r>
          </a:p>
          <a:p>
            <a:pPr lvl="1"/>
            <a:r>
              <a:rPr lang="en-GB" dirty="0"/>
              <a:t>we can gather information to attempt proving ourself wrong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7A13A4A-569B-0F61-899A-98835B683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27" y="2072412"/>
            <a:ext cx="21336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6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Epsilon greedy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375822"/>
            <a:ext cx="8818500" cy="506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</a:t>
            </a:r>
            <a:r>
              <a:rPr lang="en-GB" b="1" dirty="0"/>
              <a:t>greedy strategy </a:t>
            </a:r>
            <a:r>
              <a:rPr lang="en-GB" dirty="0"/>
              <a:t>(always exploit) and the pure </a:t>
            </a:r>
            <a:r>
              <a:rPr lang="en-GB" b="1" dirty="0"/>
              <a:t>random strategy </a:t>
            </a:r>
            <a:r>
              <a:rPr lang="en-GB" dirty="0"/>
              <a:t>(always explore) aren't really strategies, but two important baselines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can </a:t>
            </a:r>
            <a:r>
              <a:rPr lang="en-GB" b="1" dirty="0"/>
              <a:t>combine</a:t>
            </a:r>
            <a:r>
              <a:rPr lang="en-GB" dirty="0"/>
              <a:t>: the agent can exploit, but also collect information</a:t>
            </a:r>
          </a:p>
          <a:p>
            <a:pPr lvl="1"/>
            <a:r>
              <a:rPr lang="en-GB" dirty="0"/>
              <a:t>we act greedily most of the time</a:t>
            </a:r>
          </a:p>
          <a:p>
            <a:pPr lvl="1"/>
            <a:r>
              <a:rPr lang="en-GB" dirty="0"/>
              <a:t>sometimes we explore randomly</a:t>
            </a:r>
          </a:p>
          <a:p>
            <a:pPr marL="120650" indent="0">
              <a:buNone/>
            </a:pP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38D92C8D-1659-53E5-4FA3-B491EB2DE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95092"/>
            <a:ext cx="7772400" cy="1793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487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C914E5C-A3AC-AC68-6429-C47144568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18A16FF-72AD-671D-3860-A104185F89B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Epsilon greedy (2)</a:t>
            </a:r>
            <a:endParaRPr sz="40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EDE17A9-BD8C-AC97-1342-5310B9042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06" y="1162772"/>
            <a:ext cx="8633588" cy="5180153"/>
          </a:xfrm>
          <a:prstGeom prst="rect">
            <a:avLst/>
          </a:prstGeom>
        </p:spPr>
      </p:pic>
      <p:pic>
        <p:nvPicPr>
          <p:cNvPr id="7" name="Immagine 6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170EDBD4-B0A2-3EF6-E02A-E61E9AF9A1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134642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5396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Comparison (1)</a:t>
            </a:r>
            <a:endParaRPr sz="40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C630D95-2653-31AD-D457-6745323AD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" y="1065300"/>
            <a:ext cx="9088245" cy="5568257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86DDE76D-82DF-C099-A30D-646A278AD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134642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141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Comparison (2)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Pure exploitation improves faster, but performs worse in the long run</a:t>
            </a:r>
          </a:p>
          <a:p>
            <a:pPr lvl="1"/>
            <a:r>
              <a:rPr lang="en-GB" dirty="0"/>
              <a:t>it got stuck performing suboptimal actions </a:t>
            </a:r>
          </a:p>
          <a:p>
            <a:endParaRPr lang="en-GB" dirty="0"/>
          </a:p>
          <a:p>
            <a:r>
              <a:rPr lang="en-GB" dirty="0"/>
              <a:t>Greedy methods performs better in the long run</a:t>
            </a:r>
          </a:p>
          <a:p>
            <a:pPr lvl="1"/>
            <a:r>
              <a:rPr lang="en-GB" dirty="0"/>
              <a:t>they continued to explore to improve their chances of recognizing the optimal action</a:t>
            </a:r>
          </a:p>
          <a:p>
            <a:pPr lvl="1"/>
            <a:r>
              <a:rPr lang="en-GB" sz="2000" dirty="0"/>
              <a:t>𝜖</a:t>
            </a:r>
            <a:r>
              <a:rPr lang="en-GB" dirty="0"/>
              <a:t>=0.2 explores more and usually found the optimal action earlier, but it never selected that action more than 80% of the time (it explores 20% of the time)</a:t>
            </a:r>
          </a:p>
          <a:p>
            <a:pPr lvl="1"/>
            <a:r>
              <a:rPr lang="en-GB" sz="2000" dirty="0"/>
              <a:t>𝜖</a:t>
            </a:r>
            <a:r>
              <a:rPr lang="en-GB" dirty="0"/>
              <a:t>=0.01 improves slowly (it explores less), but eventually perform better in the long run (it explore only 1% of time)</a:t>
            </a:r>
          </a:p>
          <a:p>
            <a:pPr lvl="1"/>
            <a:endParaRPr lang="en-GB" dirty="0"/>
          </a:p>
          <a:p>
            <a:r>
              <a:rPr lang="en-GB" dirty="0"/>
              <a:t>It is possible to </a:t>
            </a:r>
            <a:r>
              <a:rPr lang="en-GB" b="1" dirty="0"/>
              <a:t>reduce 𝜖 over time </a:t>
            </a:r>
            <a:r>
              <a:rPr lang="en-GB" dirty="0"/>
              <a:t>to get the best of both high and low values</a:t>
            </a:r>
          </a:p>
        </p:txBody>
      </p:sp>
    </p:spTree>
    <p:extLst>
      <p:ext uri="{BB962C8B-B14F-4D97-AF65-F5344CB8AC3E}">
        <p14:creationId xmlns:p14="http://schemas.microsoft.com/office/powerpoint/2010/main" val="859965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Decaying epsilon-greedy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Early on we can explore </a:t>
            </a:r>
            <a:r>
              <a:rPr lang="en-GB" dirty="0"/>
              <a:t>the most</a:t>
            </a:r>
          </a:p>
          <a:p>
            <a:pPr lvl="1"/>
            <a:r>
              <a:rPr lang="en-GB" dirty="0"/>
              <a:t>when the agent hasn’t experienced the environment enough</a:t>
            </a:r>
          </a:p>
          <a:p>
            <a:pPr lvl="1"/>
            <a:r>
              <a:rPr lang="en-GB" dirty="0"/>
              <a:t>there’s a high likelihood that value estimates are wrong</a:t>
            </a:r>
          </a:p>
          <a:p>
            <a:pPr lvl="1"/>
            <a:endParaRPr lang="en-GB" sz="500" dirty="0"/>
          </a:p>
          <a:p>
            <a:r>
              <a:rPr lang="en-GB" b="1" dirty="0"/>
              <a:t>Later we want the agent to exploit</a:t>
            </a:r>
            <a:r>
              <a:rPr lang="en-GB" dirty="0"/>
              <a:t> more and more</a:t>
            </a:r>
          </a:p>
          <a:p>
            <a:pPr lvl="1"/>
            <a:r>
              <a:rPr lang="en-GB" dirty="0"/>
              <a:t>as time passes and agent acquires knowledge</a:t>
            </a:r>
          </a:p>
          <a:p>
            <a:pPr lvl="1"/>
            <a:r>
              <a:rPr lang="en-GB" dirty="0"/>
              <a:t>it obtains better estimates of the value functions</a:t>
            </a:r>
          </a:p>
          <a:p>
            <a:pPr lvl="1"/>
            <a:r>
              <a:rPr lang="en-GB" dirty="0"/>
              <a:t>the likelihood that value estimates are close to the actual values increases, which is when we should explore less frequently and exploit the knowledge acquired</a:t>
            </a:r>
          </a:p>
          <a:p>
            <a:pPr marL="590550" lvl="1" indent="0">
              <a:buNone/>
            </a:pPr>
            <a:endParaRPr lang="en-GB" sz="100" dirty="0"/>
          </a:p>
          <a:p>
            <a:r>
              <a:rPr lang="en-GB" dirty="0"/>
              <a:t>This strategy can take many forms </a:t>
            </a:r>
            <a:r>
              <a:rPr lang="en-GB" b="1" dirty="0"/>
              <a:t>depending on how we change the value of epsilon</a:t>
            </a:r>
          </a:p>
          <a:p>
            <a:pPr lvl="1"/>
            <a:r>
              <a:rPr lang="en-GB" dirty="0"/>
              <a:t>e.g. linearly, exponentially</a:t>
            </a:r>
          </a:p>
          <a:p>
            <a:pPr lvl="1"/>
            <a:r>
              <a:rPr lang="en-GB" dirty="0"/>
              <a:t>the bottom line is that the agent should explore with a higher chance early and exploit with a higher chance later</a:t>
            </a:r>
          </a:p>
          <a:p>
            <a:pPr lvl="1"/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823020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Decaying epsilon-greedy (2)</a:t>
            </a:r>
            <a:endParaRPr sz="4000" dirty="0"/>
          </a:p>
        </p:txBody>
      </p:sp>
      <p:pic>
        <p:nvPicPr>
          <p:cNvPr id="4" name="Immagine 3" descr="Immagine che contiene schermata, linea, Diagramma, diagramma&#10;&#10;Descrizione generata automaticamente">
            <a:extLst>
              <a:ext uri="{FF2B5EF4-FFF2-40B4-BE49-F238E27FC236}">
                <a16:creationId xmlns:a16="http://schemas.microsoft.com/office/drawing/2014/main" id="{F28A6F1A-7DDD-954C-920F-566F5706B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97" y="1319934"/>
            <a:ext cx="7772400" cy="4903019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E0F600EC-F0B8-D2D6-00A8-4B7A43A61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338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Decaying epsilon-greedy (3)</a:t>
            </a:r>
            <a:endParaRPr sz="40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A70E96F-6382-FCF0-712C-3CDDAD36D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824" y="1209984"/>
            <a:ext cx="8903735" cy="5393034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0CA2D5D6-CFA8-1528-52CC-FAA3472B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436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5B489F9-8A57-1BEC-A9AF-6120FC871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F3D2528-AAC2-F681-F83B-53DA1DA196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Decaying epsilon-greedy (4)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BE661922-474A-0022-B084-742B916F6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653212"/>
            <a:ext cx="8818500" cy="42848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decaying approach </a:t>
            </a:r>
            <a:r>
              <a:rPr lang="en-GB" b="1" dirty="0"/>
              <a:t>quickly finds optimal actions and stabilizes at a higher average reward </a:t>
            </a:r>
            <a:r>
              <a:rPr lang="en-GB" dirty="0"/>
              <a:t>than fixed </a:t>
            </a:r>
            <a:r>
              <a:rPr lang="it-IT" dirty="0"/>
              <a:t>epsilon</a:t>
            </a:r>
            <a:r>
              <a:rPr lang="el-GR" dirty="0"/>
              <a:t> </a:t>
            </a:r>
            <a:r>
              <a:rPr lang="en-GB" dirty="0"/>
              <a:t>strategies.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Its reward curve is </a:t>
            </a:r>
            <a:r>
              <a:rPr lang="en-GB" b="1" dirty="0"/>
              <a:t>smoother</a:t>
            </a:r>
            <a:r>
              <a:rPr lang="en-GB" dirty="0"/>
              <a:t> and </a:t>
            </a:r>
            <a:r>
              <a:rPr lang="en-GB" b="1" dirty="0"/>
              <a:t>consistently higher</a:t>
            </a:r>
            <a:r>
              <a:rPr lang="en-GB" dirty="0"/>
              <a:t>, showing a better balance between exploration and exploitation.</a:t>
            </a:r>
          </a:p>
          <a:p>
            <a:endParaRPr lang="en-GB" dirty="0"/>
          </a:p>
          <a:p>
            <a:r>
              <a:rPr lang="en-GB" dirty="0"/>
              <a:t>The key idea: </a:t>
            </a:r>
            <a:r>
              <a:rPr lang="en-GB" b="1" dirty="0"/>
              <a:t>explore earlier</a:t>
            </a:r>
            <a:r>
              <a:rPr lang="en-GB" dirty="0"/>
              <a:t>, </a:t>
            </a:r>
            <a:r>
              <a:rPr lang="en-GB" b="1" dirty="0"/>
              <a:t>exploit later</a:t>
            </a:r>
            <a:endParaRPr lang="en-GB" dirty="0"/>
          </a:p>
          <a:p>
            <a:pPr lvl="1"/>
            <a:r>
              <a:rPr lang="en-GB" dirty="0"/>
              <a:t>Early stage → high exploration to correct uncertain value estimates</a:t>
            </a:r>
          </a:p>
          <a:p>
            <a:pPr lvl="1"/>
            <a:r>
              <a:rPr lang="en-GB" dirty="0"/>
              <a:t>Later stage → reduced exploration as the agent’s knowledge becomes more accurate.</a:t>
            </a:r>
          </a:p>
          <a:p>
            <a:endParaRPr lang="en-GB" dirty="0"/>
          </a:p>
          <a:p>
            <a:r>
              <a:rPr lang="en-GB" dirty="0"/>
              <a:t>Many methods exist to control </a:t>
            </a:r>
            <a:r>
              <a:rPr lang="it-IT" dirty="0"/>
              <a:t>epsilon</a:t>
            </a:r>
            <a:r>
              <a:rPr lang="el-GR" dirty="0"/>
              <a:t> </a:t>
            </a:r>
            <a:r>
              <a:rPr lang="en-GB" dirty="0"/>
              <a:t>decay, but the goal remains to shift gradually from exploration to exploitation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3721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Optimistic initial values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Initial action values can be used as a simple way to </a:t>
            </a:r>
            <a:r>
              <a:rPr lang="en-GB" b="1" dirty="0"/>
              <a:t>encourage exploration</a:t>
            </a:r>
          </a:p>
          <a:p>
            <a:pPr lvl="0"/>
            <a:endParaRPr lang="en-GB" b="1" dirty="0"/>
          </a:p>
          <a:p>
            <a:pPr lvl="0"/>
            <a:r>
              <a:rPr lang="en-GB" dirty="0"/>
              <a:t>Suppose to set an initial estimate in a </a:t>
            </a:r>
            <a:r>
              <a:rPr lang="en-GB" b="1" dirty="0"/>
              <a:t>really optimistic way</a:t>
            </a:r>
          </a:p>
          <a:p>
            <a:pPr lvl="1"/>
            <a:r>
              <a:rPr lang="en-GB" dirty="0"/>
              <a:t>whichever actions are initially selected, the reward is less than the starting estimates </a:t>
            </a:r>
          </a:p>
          <a:p>
            <a:pPr lvl="1"/>
            <a:r>
              <a:rPr lang="en-GB" dirty="0"/>
              <a:t>the learner switches to other actions, being "disappointed" with the rewards it is receiving</a:t>
            </a:r>
          </a:p>
          <a:p>
            <a:pPr lvl="1"/>
            <a:r>
              <a:rPr lang="en-GB" dirty="0"/>
              <a:t>the result is that all actions are tried several times before the value estimates converge 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It as a simple </a:t>
            </a:r>
            <a:r>
              <a:rPr lang="en-GB" b="1" dirty="0"/>
              <a:t>trick</a:t>
            </a:r>
            <a:r>
              <a:rPr lang="en-GB" dirty="0"/>
              <a:t> that can be quite </a:t>
            </a:r>
            <a:r>
              <a:rPr lang="en-GB" b="1" dirty="0"/>
              <a:t>effective on stationary problems</a:t>
            </a:r>
            <a:r>
              <a:rPr lang="en-GB" dirty="0"/>
              <a:t>, but it is not well suited to non-stationary problems </a:t>
            </a:r>
          </a:p>
          <a:p>
            <a:pPr lvl="1"/>
            <a:r>
              <a:rPr lang="en-GB" dirty="0"/>
              <a:t>its drive for exploration is inherently </a:t>
            </a:r>
            <a:r>
              <a:rPr lang="en-GB" b="1" dirty="0"/>
              <a:t>temporary</a:t>
            </a:r>
          </a:p>
          <a:p>
            <a:pPr marL="12065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2363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Optimistic initial values (2)</a:t>
            </a:r>
            <a:endParaRPr sz="40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E70973B-B854-6D0A-B960-3AD76E05F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2" y="1067724"/>
            <a:ext cx="8974183" cy="5499331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5C082735-4F46-977F-9CDE-30C38AFCC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3824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Optimistic initial values (3)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Initially the optimistic method performs worse because it explores more</a:t>
            </a:r>
          </a:p>
          <a:p>
            <a:endParaRPr lang="en-GB" dirty="0"/>
          </a:p>
          <a:p>
            <a:r>
              <a:rPr lang="en-GB" dirty="0"/>
              <a:t>In the early part of the curve we can see oscillations and spikes</a:t>
            </a:r>
          </a:p>
          <a:p>
            <a:pPr lvl="1"/>
            <a:r>
              <a:rPr lang="en-GB" dirty="0"/>
              <a:t>if the initial action selected is by chance ones of the better choices, then the estimate will be magnified resulting in an emphasis to continue playing this action</a:t>
            </a:r>
          </a:p>
          <a:p>
            <a:pPr lvl="1"/>
            <a:r>
              <a:rPr lang="en-GB" dirty="0"/>
              <a:t>this results in large values being received on the initial draws and consequently very good initial play</a:t>
            </a:r>
          </a:p>
          <a:p>
            <a:pPr lvl="1"/>
            <a:r>
              <a:rPr lang="en-GB" dirty="0"/>
              <a:t>if the algorithm initially selects poor actions, then initially it will perform poorly resulting in very poor initial play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686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Strategic Exploration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While humans explore, they </a:t>
            </a:r>
            <a:r>
              <a:rPr lang="en-GB" b="1" dirty="0"/>
              <a:t>don’t explore randomly</a:t>
            </a:r>
          </a:p>
          <a:p>
            <a:pPr lvl="1"/>
            <a:r>
              <a:rPr lang="en-GB" dirty="0"/>
              <a:t>imprecision is the source of randomness</a:t>
            </a:r>
          </a:p>
          <a:p>
            <a:pPr lvl="1"/>
            <a:r>
              <a:rPr lang="en-GB" dirty="0"/>
              <a:t>but humans have a </a:t>
            </a:r>
            <a:r>
              <a:rPr lang="en-GB" b="1" dirty="0"/>
              <a:t>strategic way of exploring</a:t>
            </a:r>
          </a:p>
          <a:p>
            <a:pPr lvl="2"/>
            <a:r>
              <a:rPr lang="en-GB" dirty="0"/>
              <a:t>we know that we’re sacrificing short-term for long-term satisfaction</a:t>
            </a:r>
          </a:p>
          <a:p>
            <a:pPr lvl="2"/>
            <a:r>
              <a:rPr lang="en-GB" dirty="0"/>
              <a:t>we know we want to acquire information </a:t>
            </a:r>
          </a:p>
          <a:p>
            <a:pPr lvl="2"/>
            <a:r>
              <a:rPr lang="en-GB" dirty="0"/>
              <a:t>we explore by trying things we haven’t sufficiently tried but </a:t>
            </a:r>
            <a:r>
              <a:rPr lang="en-GB" b="1" dirty="0"/>
              <a:t>have the potential </a:t>
            </a:r>
            <a:r>
              <a:rPr lang="en-GB" dirty="0"/>
              <a:t>to get better results </a:t>
            </a:r>
          </a:p>
          <a:p>
            <a:r>
              <a:rPr lang="en-GB" dirty="0"/>
              <a:t>Human exploration strategies are a </a:t>
            </a:r>
            <a:r>
              <a:rPr lang="en-GB" b="1" dirty="0"/>
              <a:t>combination of estimates and their uncertainty</a:t>
            </a:r>
            <a:endParaRPr lang="en-GB" dirty="0"/>
          </a:p>
          <a:p>
            <a:pPr lvl="1"/>
            <a:r>
              <a:rPr lang="en-GB" dirty="0"/>
              <a:t>we might prefer a dish that we’re likely to enjoy, and we haven’t tried, over a dish that we like okay, but we get every weekend</a:t>
            </a:r>
          </a:p>
          <a:p>
            <a:r>
              <a:rPr lang="en-GB" dirty="0"/>
              <a:t>The </a:t>
            </a:r>
            <a:r>
              <a:rPr lang="en-GB" b="1" dirty="0"/>
              <a:t>prediction error</a:t>
            </a:r>
            <a:r>
              <a:rPr lang="en-GB" dirty="0"/>
              <a:t> and </a:t>
            </a:r>
            <a:r>
              <a:rPr lang="en-GB" b="1" dirty="0"/>
              <a:t>curiosity</a:t>
            </a:r>
            <a:r>
              <a:rPr lang="en-GB" dirty="0"/>
              <a:t> could be our metric for exploration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can consider </a:t>
            </a:r>
            <a:r>
              <a:rPr lang="en-GB" b="1" dirty="0"/>
              <a:t>more advanced exploration strategies </a:t>
            </a:r>
          </a:p>
          <a:p>
            <a:pPr lvl="1"/>
            <a:r>
              <a:rPr lang="en-GB" dirty="0"/>
              <a:t>apply randomness in proportion to the current estimates of the actions </a:t>
            </a:r>
          </a:p>
          <a:p>
            <a:pPr lvl="1"/>
            <a:r>
              <a:rPr lang="en-GB" dirty="0"/>
              <a:t>take into account the confidence and uncertainty levels of the estimates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27788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 err="1"/>
              <a:t>Softmax</a:t>
            </a:r>
            <a:r>
              <a:rPr lang="en-GB" sz="4000" dirty="0"/>
              <a:t> method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5472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can sample actions from a probability distribution over the estimates</a:t>
            </a:r>
          </a:p>
          <a:p>
            <a:pPr lvl="1"/>
            <a:r>
              <a:rPr lang="en-GB" dirty="0"/>
              <a:t>if there is an action that has a really low estimate, we’re less likely to try it</a:t>
            </a:r>
          </a:p>
          <a:p>
            <a:pPr lvl="1"/>
            <a:r>
              <a:rPr lang="en-GB" dirty="0"/>
              <a:t>the probability of selecting an action is </a:t>
            </a:r>
            <a:r>
              <a:rPr lang="en-GB" b="1" dirty="0"/>
              <a:t>proportional to its current </a:t>
            </a:r>
            <a:r>
              <a:rPr lang="en-GB" dirty="0"/>
              <a:t>estimate</a:t>
            </a:r>
          </a:p>
          <a:p>
            <a:pPr lvl="1"/>
            <a:r>
              <a:rPr lang="en-GB" dirty="0"/>
              <a:t>difference between estimates create a </a:t>
            </a:r>
            <a:r>
              <a:rPr lang="en-GB" b="1" dirty="0"/>
              <a:t>tendency to select actions with the highest estimates more often</a:t>
            </a:r>
            <a:r>
              <a:rPr lang="en-GB" dirty="0"/>
              <a:t>, and actions with the lowest estimates less frequently</a:t>
            </a:r>
          </a:p>
          <a:p>
            <a:r>
              <a:rPr lang="en-GB" dirty="0"/>
              <a:t>Suppose to have B possible actions, then the probability to select action a is:</a:t>
            </a:r>
          </a:p>
          <a:p>
            <a:pPr marL="120650" indent="0">
              <a:buNone/>
            </a:pPr>
            <a:br>
              <a:rPr lang="en-GB" dirty="0"/>
            </a:br>
            <a:endParaRPr lang="en-GB" dirty="0"/>
          </a:p>
          <a:p>
            <a:pPr marL="120650" indent="0">
              <a:buNone/>
            </a:pPr>
            <a:br>
              <a:rPr lang="en-GB" dirty="0"/>
            </a:br>
            <a:br>
              <a:rPr lang="en-GB" dirty="0"/>
            </a:br>
            <a:endParaRPr lang="en-GB" dirty="0"/>
          </a:p>
          <a:p>
            <a:pPr lvl="0"/>
            <a:r>
              <a:rPr lang="en-GB" dirty="0"/>
              <a:t>The </a:t>
            </a:r>
            <a:r>
              <a:rPr lang="en-GB" b="1" dirty="0"/>
              <a:t>temperature</a:t>
            </a:r>
            <a:r>
              <a:rPr lang="en-GB" dirty="0"/>
              <a:t> hyperparameter </a:t>
            </a:r>
            <a:r>
              <a:rPr lang="en-GB" b="1" dirty="0"/>
              <a:t>controls the sensitivity </a:t>
            </a:r>
            <a:r>
              <a:rPr lang="en-GB" dirty="0"/>
              <a:t>to the differences</a:t>
            </a:r>
          </a:p>
          <a:p>
            <a:pPr lvl="1"/>
            <a:r>
              <a:rPr lang="en-GB" dirty="0"/>
              <a:t>as it approaches infinity, the preferences over the values are equal</a:t>
            </a:r>
          </a:p>
          <a:p>
            <a:pPr lvl="1"/>
            <a:r>
              <a:rPr lang="en-GB" dirty="0"/>
              <a:t>as temperature value approaches zero, the action with the highest estimated will be sampled with probability of one</a:t>
            </a:r>
          </a:p>
          <a:p>
            <a:pPr lvl="1"/>
            <a:r>
              <a:rPr lang="en-GB" dirty="0"/>
              <a:t>we can decay temperature (linearly, exponentially)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6" name="Immagine 5" descr="Immagine che contiene Carattere, bianco, diagramma, design&#10;&#10;Descrizione generata automaticamente">
            <a:extLst>
              <a:ext uri="{FF2B5EF4-FFF2-40B4-BE49-F238E27FC236}">
                <a16:creationId xmlns:a16="http://schemas.microsoft.com/office/drawing/2014/main" id="{3F92F947-AC4E-6317-BDAD-D5C1526B7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28" y="3195618"/>
            <a:ext cx="1894915" cy="125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018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B2CC257-02A7-DA6C-FCF0-714631C8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278F7F6-7738-F925-B51C-FC97F52818E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 err="1"/>
              <a:t>Softmax</a:t>
            </a:r>
            <a:r>
              <a:rPr lang="en-GB" sz="4000" dirty="0"/>
              <a:t> method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7506212-CEDE-C16C-8835-99B32CD6EE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5472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can sample actions from a probability distribution over the estimates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25B804E9-734C-FDE8-5922-CD4E7CBEC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  <p:pic>
        <p:nvPicPr>
          <p:cNvPr id="4" name="Immagine 3" descr="Immagine che contiene testo, linea, Diagramma, schermata&#10;&#10;Descrizione generata automaticamente">
            <a:extLst>
              <a:ext uri="{FF2B5EF4-FFF2-40B4-BE49-F238E27FC236}">
                <a16:creationId xmlns:a16="http://schemas.microsoft.com/office/drawing/2014/main" id="{96CFC571-C551-3F00-98AC-BBB19DCC4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696" y="1500314"/>
            <a:ext cx="6753935" cy="51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500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Upper Confidence Bound method (1)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Optimistic initialization is a clever and efficient approach; however </a:t>
            </a:r>
            <a:r>
              <a:rPr lang="en-GB" b="1" dirty="0"/>
              <a:t>we don’t know the maximum reward </a:t>
            </a:r>
            <a:r>
              <a:rPr lang="en-GB" dirty="0"/>
              <a:t>the agent can obtain </a:t>
            </a:r>
          </a:p>
          <a:p>
            <a:pPr lvl="1"/>
            <a:r>
              <a:rPr lang="en-GB" dirty="0"/>
              <a:t>if we set it to a value much higher than its actual value, the algorithm will perform sub-optimally for a long time (many episodes to bring the estimates near the actual values)</a:t>
            </a:r>
          </a:p>
          <a:p>
            <a:pPr lvl="1"/>
            <a:r>
              <a:rPr lang="en-GB" dirty="0"/>
              <a:t>if we set the initial values lower than the maximum, the algorithm will no longer be optimistic, and it will no longer work </a:t>
            </a:r>
          </a:p>
          <a:p>
            <a:r>
              <a:rPr lang="en-GB" dirty="0"/>
              <a:t>A better strategy is to use statistical techniques to calculate the </a:t>
            </a:r>
            <a:r>
              <a:rPr lang="en-GB" b="1" dirty="0"/>
              <a:t>value estimate uncertainty </a:t>
            </a:r>
            <a:r>
              <a:rPr lang="en-GB" dirty="0"/>
              <a:t>and uses it as a </a:t>
            </a:r>
            <a:r>
              <a:rPr lang="en-GB" b="1" dirty="0"/>
              <a:t>bonus for exploration</a:t>
            </a:r>
          </a:p>
          <a:p>
            <a:pPr lvl="1"/>
            <a:r>
              <a:rPr lang="en-GB" dirty="0"/>
              <a:t>we’re still optimistic, but it’s a more a realistic optimism</a:t>
            </a:r>
          </a:p>
          <a:p>
            <a:pPr lvl="1"/>
            <a:r>
              <a:rPr lang="en-GB" dirty="0"/>
              <a:t>instead of blindly hoping for the best, we look at the uncertainty of value estimates </a:t>
            </a:r>
          </a:p>
          <a:p>
            <a:pPr lvl="1"/>
            <a:r>
              <a:rPr lang="en-GB" b="1" dirty="0"/>
              <a:t>the more uncertain an estimate, the more critical it is to explore it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 u(a) here is a </a:t>
            </a:r>
            <a:r>
              <a:rPr lang="en-GB" b="1" dirty="0"/>
              <a:t>measure of</a:t>
            </a:r>
            <a:r>
              <a:rPr lang="en-GB" dirty="0"/>
              <a:t> </a:t>
            </a:r>
            <a:r>
              <a:rPr lang="en-GB" b="1" dirty="0"/>
              <a:t>uncertainty</a:t>
            </a:r>
          </a:p>
          <a:p>
            <a:pPr lvl="1"/>
            <a:r>
              <a:rPr lang="en-GB" dirty="0"/>
              <a:t>we want to give actions </a:t>
            </a:r>
            <a:r>
              <a:rPr lang="en-GB" b="1" dirty="0"/>
              <a:t>the benefit of the doubt</a:t>
            </a:r>
          </a:p>
          <a:p>
            <a:pPr lvl="1"/>
            <a:endParaRPr lang="en-GB" dirty="0"/>
          </a:p>
        </p:txBody>
      </p:sp>
      <p:pic>
        <p:nvPicPr>
          <p:cNvPr id="3" name="Immagine 2" descr="Immagine che contiene Carattere, testo, bianco, calligrafia&#10;&#10;Descrizione generata automaticamente">
            <a:extLst>
              <a:ext uri="{FF2B5EF4-FFF2-40B4-BE49-F238E27FC236}">
                <a16:creationId xmlns:a16="http://schemas.microsoft.com/office/drawing/2014/main" id="{274DB77E-DDC4-0BB9-3BBF-DE59F155F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44" y="4857420"/>
            <a:ext cx="25908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800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Upper Confidence Bound method (2)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To select the action </a:t>
            </a:r>
            <a:r>
              <a:rPr lang="en-GB" i="1" dirty="0"/>
              <a:t>A </a:t>
            </a:r>
            <a:r>
              <a:rPr lang="en-GB" dirty="0"/>
              <a:t>we add the value estimates and an uncertainty bonus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r>
              <a:rPr lang="en-GB" dirty="0"/>
              <a:t>The square-root term is a </a:t>
            </a:r>
            <a:r>
              <a:rPr lang="en-GB" b="1" dirty="0"/>
              <a:t>measure of the uncertainty </a:t>
            </a:r>
            <a:r>
              <a:rPr lang="en-GB" dirty="0"/>
              <a:t>in the estimate</a:t>
            </a:r>
          </a:p>
          <a:p>
            <a:pPr lvl="1"/>
            <a:r>
              <a:rPr lang="en-GB" dirty="0"/>
              <a:t>each time </a:t>
            </a:r>
            <a:r>
              <a:rPr lang="en-GB" i="1" dirty="0"/>
              <a:t>a</a:t>
            </a:r>
            <a:r>
              <a:rPr lang="en-GB" dirty="0"/>
              <a:t> is selected, the uncertainty is presumably reduced:  </a:t>
            </a:r>
            <a:r>
              <a:rPr lang="en-GB" i="1" dirty="0" err="1"/>
              <a:t>N</a:t>
            </a:r>
            <a:r>
              <a:rPr lang="en-GB" i="1" baseline="-25000" dirty="0" err="1"/>
              <a:t>t</a:t>
            </a:r>
            <a:r>
              <a:rPr lang="en-GB" i="1" dirty="0"/>
              <a:t>(a)</a:t>
            </a:r>
            <a:r>
              <a:rPr lang="en-GB" dirty="0"/>
              <a:t> increments and the uncertainty term decreases</a:t>
            </a:r>
          </a:p>
          <a:p>
            <a:pPr lvl="1"/>
            <a:r>
              <a:rPr lang="en-GB" dirty="0"/>
              <a:t>each time an action other than </a:t>
            </a:r>
            <a:r>
              <a:rPr lang="en-GB" i="1" dirty="0"/>
              <a:t>a</a:t>
            </a:r>
            <a:r>
              <a:rPr lang="en-GB" dirty="0"/>
              <a:t> is selected, </a:t>
            </a:r>
            <a:r>
              <a:rPr lang="en-GB" i="1" dirty="0"/>
              <a:t>t</a:t>
            </a:r>
            <a:r>
              <a:rPr lang="en-GB" dirty="0"/>
              <a:t> increases and the uncertainty estimate increases</a:t>
            </a:r>
          </a:p>
          <a:p>
            <a:pPr lvl="1"/>
            <a:r>
              <a:rPr lang="en-GB" dirty="0"/>
              <a:t>logarithm means that the increases get smaller over time, but are unbounded</a:t>
            </a:r>
          </a:p>
          <a:p>
            <a:endParaRPr lang="en-GB" sz="1000" dirty="0"/>
          </a:p>
          <a:p>
            <a:r>
              <a:rPr lang="en-GB" dirty="0"/>
              <a:t>All actions will </a:t>
            </a:r>
            <a:r>
              <a:rPr lang="en-GB" b="1" dirty="0"/>
              <a:t>eventually be selected</a:t>
            </a:r>
            <a:r>
              <a:rPr lang="en-GB" dirty="0"/>
              <a:t>, but actions with </a:t>
            </a:r>
            <a:r>
              <a:rPr lang="en-GB" b="1" dirty="0"/>
              <a:t>lower value estimates</a:t>
            </a:r>
            <a:r>
              <a:rPr lang="en-GB" dirty="0"/>
              <a:t>, or that </a:t>
            </a:r>
            <a:r>
              <a:rPr lang="en-GB" b="1" dirty="0"/>
              <a:t>have already been selected frequently</a:t>
            </a:r>
            <a:r>
              <a:rPr lang="en-GB" dirty="0"/>
              <a:t>, will be selected with decreasing frequency over time</a:t>
            </a:r>
          </a:p>
          <a:p>
            <a:pPr marL="120650" indent="0">
              <a:buNone/>
            </a:pPr>
            <a:endParaRPr lang="en-GB" sz="1100" dirty="0"/>
          </a:p>
        </p:txBody>
      </p:sp>
      <p:pic>
        <p:nvPicPr>
          <p:cNvPr id="3" name="Immagine 2" descr="Immagine che contiene Carattere, testo, bianco, linea&#10;&#10;Descrizione generata automaticamente">
            <a:extLst>
              <a:ext uri="{FF2B5EF4-FFF2-40B4-BE49-F238E27FC236}">
                <a16:creationId xmlns:a16="http://schemas.microsoft.com/office/drawing/2014/main" id="{A15637CC-4CEF-45E6-E77F-F034C5A17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1" y="1578859"/>
            <a:ext cx="4034605" cy="1044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135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 err="1"/>
              <a:t>Softmax</a:t>
            </a:r>
            <a:r>
              <a:rPr lang="en-GB" sz="4000" dirty="0"/>
              <a:t> method vs Upper Confidence Bound (1)</a:t>
            </a:r>
            <a:endParaRPr sz="40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9CA36AE-E18C-03BC-DABF-16CC58B23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" y="1163550"/>
            <a:ext cx="8918235" cy="5453380"/>
          </a:xfrm>
          <a:prstGeom prst="rect">
            <a:avLst/>
          </a:prstGeom>
        </p:spPr>
      </p:pic>
      <p:pic>
        <p:nvPicPr>
          <p:cNvPr id="5" name="Immagine 4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DCE156B9-D835-B421-1A28-A1C74CBEE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698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4C573F7-624A-9579-E152-D3ACD859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869AEC0-1ED9-D84C-A4F2-418944D7A4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 err="1"/>
              <a:t>Softmax</a:t>
            </a:r>
            <a:r>
              <a:rPr lang="en-GB" sz="4000" dirty="0"/>
              <a:t> method vs Upper Confidence Bound (2)</a:t>
            </a:r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8B55FFB-6CA9-F6C5-938F-67A3E986DE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Both methods reach high rewards quickly and maintain strong long-term performance</a:t>
            </a:r>
          </a:p>
          <a:p>
            <a:pPr lvl="0"/>
            <a:r>
              <a:rPr lang="en-GB" dirty="0"/>
              <a:t>Outperform </a:t>
            </a:r>
            <a:r>
              <a:rPr lang="it-IT" dirty="0"/>
              <a:t>epsilon</a:t>
            </a:r>
            <a:r>
              <a:rPr lang="el-GR" dirty="0"/>
              <a:t>-</a:t>
            </a:r>
            <a:r>
              <a:rPr lang="en-GB" dirty="0"/>
              <a:t>greedy decay but are </a:t>
            </a:r>
            <a:r>
              <a:rPr lang="en-GB" b="1" dirty="0"/>
              <a:t>more complex</a:t>
            </a:r>
            <a:r>
              <a:rPr lang="en-GB" dirty="0"/>
              <a:t> and require </a:t>
            </a:r>
            <a:r>
              <a:rPr lang="en-GB" b="1" dirty="0"/>
              <a:t>careful parameter tuning</a:t>
            </a: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indent="0">
              <a:buNone/>
            </a:pP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13818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82701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Comparison (1)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5665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We can run simulations for all methods to compare their performances</a:t>
            </a:r>
          </a:p>
          <a:p>
            <a:endParaRPr lang="en-GB" dirty="0"/>
          </a:p>
          <a:p>
            <a:r>
              <a:rPr lang="en-GB" dirty="0"/>
              <a:t>They all have </a:t>
            </a:r>
            <a:r>
              <a:rPr lang="en-GB" b="1" dirty="0"/>
              <a:t>parameters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we must consider their performance as </a:t>
            </a:r>
            <a:r>
              <a:rPr lang="en-GB" b="1" dirty="0"/>
              <a:t>a function of their parameter</a:t>
            </a:r>
          </a:p>
          <a:p>
            <a:endParaRPr lang="en-GB" b="1" dirty="0"/>
          </a:p>
          <a:p>
            <a:r>
              <a:rPr lang="en-GB" b="1" dirty="0"/>
              <a:t>Parameter study</a:t>
            </a:r>
          </a:p>
          <a:p>
            <a:pPr lvl="1"/>
            <a:r>
              <a:rPr lang="en-GB" dirty="0"/>
              <a:t>summarize a complete learning curve by its average value over the 1000 steps </a:t>
            </a:r>
          </a:p>
          <a:p>
            <a:pPr lvl="1"/>
            <a:r>
              <a:rPr lang="en-GB" dirty="0"/>
              <a:t>shows the value as a function of the parameter, on a single scale on the x-axis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1014358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Comparison (2)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A4A71F5-DCBD-AD46-3494-93F36D793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4" y="1121524"/>
            <a:ext cx="9007959" cy="5578533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53D24FAC-0788-802A-D2CB-44BA5A0AF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536" y="91573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816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3A0EB91-A631-78D2-B483-6ADE86AE8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5F726C9B-E321-DF8A-5F2A-EBC30796F00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82701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Comparison (3)</a:t>
            </a:r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B541899-D08F-BA7C-F95B-763878594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665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UCB seems to perform best</a:t>
            </a:r>
          </a:p>
          <a:p>
            <a:pPr lvl="1"/>
            <a:r>
              <a:rPr lang="en-GB" dirty="0"/>
              <a:t>notice the </a:t>
            </a:r>
            <a:r>
              <a:rPr lang="en-GB" b="1" dirty="0"/>
              <a:t>inverted-U shapes</a:t>
            </a:r>
            <a:r>
              <a:rPr lang="en-GB" dirty="0"/>
              <a:t> of each algorithm’s performance</a:t>
            </a:r>
          </a:p>
          <a:p>
            <a:pPr lvl="1"/>
            <a:r>
              <a:rPr lang="en-GB" dirty="0"/>
              <a:t>all the algorithms perform best at an intermediate value of their parameter, neither too large nor too small</a:t>
            </a:r>
          </a:p>
          <a:p>
            <a:pPr lvl="1"/>
            <a:endParaRPr lang="en-GB" dirty="0"/>
          </a:p>
          <a:p>
            <a:r>
              <a:rPr lang="en-GB" dirty="0"/>
              <a:t>In assessing a method, we should attend not just to how well it does at its best parameter setting, but also to </a:t>
            </a:r>
            <a:r>
              <a:rPr lang="en-GB" b="1" dirty="0"/>
              <a:t>how sensitive it is to its parameter</a:t>
            </a:r>
            <a:r>
              <a:rPr lang="en-GB" dirty="0"/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1981684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Conclusion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 have presented several ways of </a:t>
            </a:r>
            <a:r>
              <a:rPr lang="en-GB" b="1" dirty="0"/>
              <a:t>balancing exploration and exploitation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epsilon-greedy methods choose randomly a small fraction of the time</a:t>
            </a:r>
          </a:p>
          <a:p>
            <a:pPr lvl="1"/>
            <a:r>
              <a:rPr lang="en-GB" dirty="0"/>
              <a:t>UCB methods choose deterministically, but achieve exploration by favouring actions that have so far received fewer samples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The </a:t>
            </a:r>
            <a:r>
              <a:rPr lang="en-GB" b="1" dirty="0"/>
              <a:t>epsilon-greedy strategy </a:t>
            </a:r>
            <a:r>
              <a:rPr lang="en-GB" dirty="0"/>
              <a:t>(and its decaying versions) is still the </a:t>
            </a:r>
            <a:r>
              <a:rPr lang="en-GB" b="1" dirty="0"/>
              <a:t>most popular exploration strategy</a:t>
            </a:r>
            <a:r>
              <a:rPr lang="en-GB" dirty="0"/>
              <a:t> in use today</a:t>
            </a:r>
          </a:p>
          <a:p>
            <a:pPr lvl="1"/>
            <a:r>
              <a:rPr lang="en-GB" dirty="0"/>
              <a:t>because it performs well</a:t>
            </a:r>
          </a:p>
          <a:p>
            <a:pPr lvl="1"/>
            <a:r>
              <a:rPr lang="en-GB" dirty="0"/>
              <a:t>because of its simplicity</a:t>
            </a:r>
            <a:endParaRPr lang="en-GB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33318716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3" ma:contentTypeDescription="Creare un nuovo documento." ma:contentTypeScope="" ma:versionID="5c5a1a1f66437ceed8e2102d49525b77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79bbaae61552c66980d55f32a6cab4b6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DA61F2-61C4-4051-99D2-6EEBD09B43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707AE4-51BE-4B32-AF0C-8EA8529E9338}">
  <ds:schemaRefs>
    <ds:schemaRef ds:uri="3bd0d43f-5e5b-43cd-b6fc-691bd77672c6"/>
    <ds:schemaRef ds:uri="e9b5433c-2372-4cb7-8bab-09518096b29b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4049D2A-26D3-4CA9-9D0B-A28722B90C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14561</TotalTime>
  <Words>2366</Words>
  <Application>Microsoft Macintosh PowerPoint</Application>
  <PresentationFormat>Presentazione su schermo (4:3)</PresentationFormat>
  <Paragraphs>290</Paragraphs>
  <Slides>34</Slides>
  <Notes>34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38" baseType="lpstr">
      <vt:lpstr>Arial</vt:lpstr>
      <vt:lpstr>Economica</vt:lpstr>
      <vt:lpstr>Open Sans</vt:lpstr>
      <vt:lpstr>Luxe</vt:lpstr>
      <vt:lpstr>Exploitation  vs Exploration</vt:lpstr>
      <vt:lpstr>Objectives</vt:lpstr>
      <vt:lpstr>Dilemma</vt:lpstr>
      <vt:lpstr>Multi-armed bandit problem (1)</vt:lpstr>
      <vt:lpstr>Multi-armed bandit problem (2)</vt:lpstr>
      <vt:lpstr>Multi-Armed Bandit (MAB) problem (3)</vt:lpstr>
      <vt:lpstr>Estimation of the action value (1)</vt:lpstr>
      <vt:lpstr>Estimation of the action value (2)</vt:lpstr>
      <vt:lpstr>Estimation of the action value (3)</vt:lpstr>
      <vt:lpstr>Estimation of the action value (4)</vt:lpstr>
      <vt:lpstr>Estimation of the action value (5)</vt:lpstr>
      <vt:lpstr>Exploiting or Exploring?</vt:lpstr>
      <vt:lpstr>Epsilon greedy (1)</vt:lpstr>
      <vt:lpstr>Epsilon greedy (2)</vt:lpstr>
      <vt:lpstr>Comparison (1)</vt:lpstr>
      <vt:lpstr>Comparison (2)</vt:lpstr>
      <vt:lpstr>Decaying epsilon-greedy (1)</vt:lpstr>
      <vt:lpstr>Decaying epsilon-greedy (2)</vt:lpstr>
      <vt:lpstr>Decaying epsilon-greedy (3)</vt:lpstr>
      <vt:lpstr>Decaying epsilon-greedy (4)</vt:lpstr>
      <vt:lpstr>Optimistic initial values (1)</vt:lpstr>
      <vt:lpstr>Optimistic initial values (2)</vt:lpstr>
      <vt:lpstr>Optimistic initial values (3)</vt:lpstr>
      <vt:lpstr>Strategic Exploration</vt:lpstr>
      <vt:lpstr>Softmax method (1)</vt:lpstr>
      <vt:lpstr>Softmax method (2)</vt:lpstr>
      <vt:lpstr>Upper Confidence Bound method (1)</vt:lpstr>
      <vt:lpstr>Upper Confidence Bound method (2)</vt:lpstr>
      <vt:lpstr>Softmax method vs Upper Confidence Bound (1)</vt:lpstr>
      <vt:lpstr>Softmax method vs Upper Confidence Bound (2)</vt:lpstr>
      <vt:lpstr>Comparison (1)</vt:lpstr>
      <vt:lpstr>Comparison (2)</vt:lpstr>
      <vt:lpstr>Comparison (3)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45</cp:revision>
  <dcterms:modified xsi:type="dcterms:W3CDTF">2025-12-12T13:24:51Z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