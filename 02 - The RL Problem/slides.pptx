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5"/>
  </p:notesMasterIdLst>
  <p:handoutMasterIdLst>
    <p:handoutMasterId r:id="rId4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8" r:id="rId37"/>
    <p:sldId id="291" r:id="rId38"/>
    <p:sldId id="292" r:id="rId39"/>
    <p:sldId id="293" r:id="rId40"/>
    <p:sldId id="294" r:id="rId41"/>
    <p:sldId id="295" r:id="rId42"/>
    <p:sldId id="296" r:id="rId43"/>
    <p:sldId id="297" r:id="rId44"/>
  </p:sldIdLst>
  <p:sldSz cx="12192000" cy="6858000"/>
  <p:notesSz cx="6858000" cy="9144000"/>
  <p:embeddedFontLst>
    <p:embeddedFont>
      <p:font typeface="Consolas" panose="020B0609020204030204" pitchFamily="49" charset="0"/>
      <p:regular r:id="rId47"/>
      <p:bold r:id="rId48"/>
      <p:italic r:id="rId49"/>
      <p:boldItalic r:id="rId50"/>
    </p:embeddedFont>
    <p:embeddedFont>
      <p:font typeface="Fira Sans" panose="020B0503050000020004" pitchFamily="34" charset="0"/>
      <p:regular r:id="rId51"/>
      <p:bold r:id="rId52"/>
      <p:italic r:id="rId53"/>
      <p:boldItalic r:id="rId54"/>
    </p:embeddedFont>
    <p:embeddedFont>
      <p:font typeface="Fira Sans Medium" panose="020B0603050000020004" pitchFamily="34" charset="0"/>
      <p:regular r:id="rId55"/>
      <p:italic r:id="rId56"/>
    </p:embeddedFont>
    <p:embeddedFont>
      <p:font typeface="Roboto Slab" pitchFamily="2" charset="0"/>
      <p:regular r:id="rId57"/>
      <p:bold r:id="rId58"/>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2C6438-E37B-6142-BFEF-92379FC9AF2F}" v="1" dt="2026-10-06T12:42:34.92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2" autoAdjust="0"/>
    <p:restoredTop sz="86441"/>
  </p:normalViewPr>
  <p:slideViewPr>
    <p:cSldViewPr snapToGrid="0" snapToObjects="1" showGuides="1">
      <p:cViewPr varScale="1">
        <p:scale>
          <a:sx n="127" d="100"/>
          <a:sy n="127" d="100"/>
        </p:scale>
        <p:origin x="520"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custSel modSld">
      <pc:chgData name="Riccardo Berta" userId="c8694f89-bba4-4576-b0a8-456619ca5a8c" providerId="ADAL" clId="{FDDBFC5A-5EA9-5330-BEB8-433D7E3B4C4E}" dt="2026-10-13T11:08:26.888" v="266" actId="20577"/>
      <pc:docMkLst>
        <pc:docMk/>
      </pc:docMkLst>
      <pc:sldChg chg="modSp mod">
        <pc:chgData name="Riccardo Berta" userId="c8694f89-bba4-4576-b0a8-456619ca5a8c" providerId="ADAL" clId="{FDDBFC5A-5EA9-5330-BEB8-433D7E3B4C4E}" dt="2026-10-06T11:48:59.320" v="103" actId="20577"/>
        <pc:sldMkLst>
          <pc:docMk/>
          <pc:sldMk cId="0" sldId="256"/>
        </pc:sldMkLst>
        <pc:spChg chg="mod">
          <ac:chgData name="Riccardo Berta" userId="c8694f89-bba4-4576-b0a8-456619ca5a8c" providerId="ADAL" clId="{FDDBFC5A-5EA9-5330-BEB8-433D7E3B4C4E}" dt="2026-10-06T11:48:59.320" v="103" actId="20577"/>
          <ac:spMkLst>
            <pc:docMk/>
            <pc:sldMk cId="0" sldId="256"/>
            <ac:spMk id="7" creationId="{00000000-0000-0000-0000-000000000000}"/>
          </ac:spMkLst>
        </pc:spChg>
      </pc:sldChg>
      <pc:sldChg chg="modSp mod">
        <pc:chgData name="Riccardo Berta" userId="c8694f89-bba4-4576-b0a8-456619ca5a8c" providerId="ADAL" clId="{FDDBFC5A-5EA9-5330-BEB8-433D7E3B4C4E}" dt="2026-10-06T11:49:47.995" v="110" actId="20577"/>
        <pc:sldMkLst>
          <pc:docMk/>
          <pc:sldMk cId="0" sldId="258"/>
        </pc:sldMkLst>
        <pc:spChg chg="mod">
          <ac:chgData name="Riccardo Berta" userId="c8694f89-bba4-4576-b0a8-456619ca5a8c" providerId="ADAL" clId="{FDDBFC5A-5EA9-5330-BEB8-433D7E3B4C4E}" dt="2026-10-06T11:49:30.964" v="105" actId="14100"/>
          <ac:spMkLst>
            <pc:docMk/>
            <pc:sldMk cId="0" sldId="258"/>
            <ac:spMk id="8" creationId="{00000000-0000-0000-0000-000000000000}"/>
          </ac:spMkLst>
        </pc:spChg>
        <pc:spChg chg="mod">
          <ac:chgData name="Riccardo Berta" userId="c8694f89-bba4-4576-b0a8-456619ca5a8c" providerId="ADAL" clId="{FDDBFC5A-5EA9-5330-BEB8-433D7E3B4C4E}" dt="2026-10-06T11:49:47.995" v="110" actId="20577"/>
          <ac:spMkLst>
            <pc:docMk/>
            <pc:sldMk cId="0" sldId="258"/>
            <ac:spMk id="14" creationId="{00000000-0000-0000-0000-000000000000}"/>
          </ac:spMkLst>
        </pc:spChg>
      </pc:sldChg>
      <pc:sldChg chg="addSp delSp modSp mod">
        <pc:chgData name="Riccardo Berta" userId="c8694f89-bba4-4576-b0a8-456619ca5a8c" providerId="ADAL" clId="{FDDBFC5A-5EA9-5330-BEB8-433D7E3B4C4E}" dt="2026-10-06T12:42:41.421" v="153" actId="1076"/>
        <pc:sldMkLst>
          <pc:docMk/>
          <pc:sldMk cId="0" sldId="263"/>
        </pc:sldMkLst>
        <pc:spChg chg="mod">
          <ac:chgData name="Riccardo Berta" userId="c8694f89-bba4-4576-b0a8-456619ca5a8c" providerId="ADAL" clId="{FDDBFC5A-5EA9-5330-BEB8-433D7E3B4C4E}" dt="2026-10-06T11:50:30.067" v="116" actId="1076"/>
          <ac:spMkLst>
            <pc:docMk/>
            <pc:sldMk cId="0" sldId="263"/>
            <ac:spMk id="10" creationId="{00000000-0000-0000-0000-000000000000}"/>
          </ac:spMkLst>
        </pc:spChg>
        <pc:spChg chg="mod">
          <ac:chgData name="Riccardo Berta" userId="c8694f89-bba4-4576-b0a8-456619ca5a8c" providerId="ADAL" clId="{FDDBFC5A-5EA9-5330-BEB8-433D7E3B4C4E}" dt="2026-10-06T11:50:38.898" v="118" actId="1076"/>
          <ac:spMkLst>
            <pc:docMk/>
            <pc:sldMk cId="0" sldId="263"/>
            <ac:spMk id="11" creationId="{00000000-0000-0000-0000-000000000000}"/>
          </ac:spMkLst>
        </pc:spChg>
        <pc:picChg chg="add mod">
          <ac:chgData name="Riccardo Berta" userId="c8694f89-bba4-4576-b0a8-456619ca5a8c" providerId="ADAL" clId="{FDDBFC5A-5EA9-5330-BEB8-433D7E3B4C4E}" dt="2026-10-06T12:42:41.421" v="153" actId="1076"/>
          <ac:picMkLst>
            <pc:docMk/>
            <pc:sldMk cId="0" sldId="263"/>
            <ac:picMk id="20" creationId="{EEE893AD-14DF-498C-2FF3-879478813887}"/>
          </ac:picMkLst>
        </pc:picChg>
      </pc:sldChg>
      <pc:sldChg chg="modSp mod">
        <pc:chgData name="Riccardo Berta" userId="c8694f89-bba4-4576-b0a8-456619ca5a8c" providerId="ADAL" clId="{FDDBFC5A-5EA9-5330-BEB8-433D7E3B4C4E}" dt="2026-10-06T11:50:55.566" v="121" actId="1076"/>
        <pc:sldMkLst>
          <pc:docMk/>
          <pc:sldMk cId="0" sldId="265"/>
        </pc:sldMkLst>
        <pc:spChg chg="mod">
          <ac:chgData name="Riccardo Berta" userId="c8694f89-bba4-4576-b0a8-456619ca5a8c" providerId="ADAL" clId="{FDDBFC5A-5EA9-5330-BEB8-433D7E3B4C4E}" dt="2026-10-06T11:50:55.566" v="121" actId="1076"/>
          <ac:spMkLst>
            <pc:docMk/>
            <pc:sldMk cId="0" sldId="265"/>
            <ac:spMk id="8"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9"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0"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1"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2"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3"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4"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17"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20"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21" creationId="{00000000-0000-0000-0000-000000000000}"/>
          </ac:spMkLst>
        </pc:spChg>
        <pc:spChg chg="mod">
          <ac:chgData name="Riccardo Berta" userId="c8694f89-bba4-4576-b0a8-456619ca5a8c" providerId="ADAL" clId="{FDDBFC5A-5EA9-5330-BEB8-433D7E3B4C4E}" dt="2026-10-06T11:50:52.718" v="120" actId="1076"/>
          <ac:spMkLst>
            <pc:docMk/>
            <pc:sldMk cId="0" sldId="265"/>
            <ac:spMk id="22" creationId="{00000000-0000-0000-0000-000000000000}"/>
          </ac:spMkLst>
        </pc:spChg>
        <pc:spChg chg="mod">
          <ac:chgData name="Riccardo Berta" userId="c8694f89-bba4-4576-b0a8-456619ca5a8c" providerId="ADAL" clId="{FDDBFC5A-5EA9-5330-BEB8-433D7E3B4C4E}" dt="2026-10-06T11:50:47.643" v="119" actId="1076"/>
          <ac:spMkLst>
            <pc:docMk/>
            <pc:sldMk cId="0" sldId="265"/>
            <ac:spMk id="24" creationId="{00000000-0000-0000-0000-000000000000}"/>
          </ac:spMkLst>
        </pc:spChg>
        <pc:spChg chg="mod">
          <ac:chgData name="Riccardo Berta" userId="c8694f89-bba4-4576-b0a8-456619ca5a8c" providerId="ADAL" clId="{FDDBFC5A-5EA9-5330-BEB8-433D7E3B4C4E}" dt="2026-10-06T11:50:47.643" v="119" actId="1076"/>
          <ac:spMkLst>
            <pc:docMk/>
            <pc:sldMk cId="0" sldId="265"/>
            <ac:spMk id="25" creationId="{00000000-0000-0000-0000-000000000000}"/>
          </ac:spMkLst>
        </pc:spChg>
        <pc:spChg chg="mod">
          <ac:chgData name="Riccardo Berta" userId="c8694f89-bba4-4576-b0a8-456619ca5a8c" providerId="ADAL" clId="{FDDBFC5A-5EA9-5330-BEB8-433D7E3B4C4E}" dt="2026-10-06T11:50:47.643" v="119" actId="1076"/>
          <ac:spMkLst>
            <pc:docMk/>
            <pc:sldMk cId="0" sldId="265"/>
            <ac:spMk id="26" creationId="{00000000-0000-0000-0000-000000000000}"/>
          </ac:spMkLst>
        </pc:spChg>
      </pc:sldChg>
      <pc:sldChg chg="modSp mod">
        <pc:chgData name="Riccardo Berta" userId="c8694f89-bba4-4576-b0a8-456619ca5a8c" providerId="ADAL" clId="{FDDBFC5A-5EA9-5330-BEB8-433D7E3B4C4E}" dt="2026-10-06T11:51:23.739" v="129" actId="1076"/>
        <pc:sldMkLst>
          <pc:docMk/>
          <pc:sldMk cId="0" sldId="266"/>
        </pc:sldMkLst>
        <pc:spChg chg="mod">
          <ac:chgData name="Riccardo Berta" userId="c8694f89-bba4-4576-b0a8-456619ca5a8c" providerId="ADAL" clId="{FDDBFC5A-5EA9-5330-BEB8-433D7E3B4C4E}" dt="2026-10-06T11:51:17.527" v="126" actId="1076"/>
          <ac:spMkLst>
            <pc:docMk/>
            <pc:sldMk cId="0" sldId="266"/>
            <ac:spMk id="10" creationId="{00000000-0000-0000-0000-000000000000}"/>
          </ac:spMkLst>
        </pc:spChg>
        <pc:picChg chg="mod">
          <ac:chgData name="Riccardo Berta" userId="c8694f89-bba4-4576-b0a8-456619ca5a8c" providerId="ADAL" clId="{FDDBFC5A-5EA9-5330-BEB8-433D7E3B4C4E}" dt="2026-10-06T11:51:23.739" v="129" actId="1076"/>
          <ac:picMkLst>
            <pc:docMk/>
            <pc:sldMk cId="0" sldId="266"/>
            <ac:picMk id="9" creationId="{00000000-0000-0000-0000-000000000000}"/>
          </ac:picMkLst>
        </pc:picChg>
      </pc:sldChg>
      <pc:sldChg chg="modSp mod">
        <pc:chgData name="Riccardo Berta" userId="c8694f89-bba4-4576-b0a8-456619ca5a8c" providerId="ADAL" clId="{FDDBFC5A-5EA9-5330-BEB8-433D7E3B4C4E}" dt="2026-10-06T11:51:31.923" v="132" actId="14100"/>
        <pc:sldMkLst>
          <pc:docMk/>
          <pc:sldMk cId="0" sldId="267"/>
        </pc:sldMkLst>
        <pc:spChg chg="mod">
          <ac:chgData name="Riccardo Berta" userId="c8694f89-bba4-4576-b0a8-456619ca5a8c" providerId="ADAL" clId="{FDDBFC5A-5EA9-5330-BEB8-433D7E3B4C4E}" dt="2026-10-06T11:51:29.012" v="131" actId="1076"/>
          <ac:spMkLst>
            <pc:docMk/>
            <pc:sldMk cId="0" sldId="267"/>
            <ac:spMk id="10" creationId="{00000000-0000-0000-0000-000000000000}"/>
          </ac:spMkLst>
        </pc:spChg>
        <pc:picChg chg="mod">
          <ac:chgData name="Riccardo Berta" userId="c8694f89-bba4-4576-b0a8-456619ca5a8c" providerId="ADAL" clId="{FDDBFC5A-5EA9-5330-BEB8-433D7E3B4C4E}" dt="2026-10-06T11:51:31.923" v="132" actId="14100"/>
          <ac:picMkLst>
            <pc:docMk/>
            <pc:sldMk cId="0" sldId="267"/>
            <ac:picMk id="9" creationId="{00000000-0000-0000-0000-000000000000}"/>
          </ac:picMkLst>
        </pc:picChg>
      </pc:sldChg>
      <pc:sldChg chg="modSp mod">
        <pc:chgData name="Riccardo Berta" userId="c8694f89-bba4-4576-b0a8-456619ca5a8c" providerId="ADAL" clId="{FDDBFC5A-5EA9-5330-BEB8-433D7E3B4C4E}" dt="2026-10-06T11:51:43.238" v="135" actId="313"/>
        <pc:sldMkLst>
          <pc:docMk/>
          <pc:sldMk cId="0" sldId="268"/>
        </pc:sldMkLst>
        <pc:spChg chg="mod">
          <ac:chgData name="Riccardo Berta" userId="c8694f89-bba4-4576-b0a8-456619ca5a8c" providerId="ADAL" clId="{FDDBFC5A-5EA9-5330-BEB8-433D7E3B4C4E}" dt="2026-10-06T11:51:43.238" v="135" actId="313"/>
          <ac:spMkLst>
            <pc:docMk/>
            <pc:sldMk cId="0" sldId="268"/>
            <ac:spMk id="10" creationId="{00000000-0000-0000-0000-000000000000}"/>
          </ac:spMkLst>
        </pc:spChg>
        <pc:picChg chg="mod">
          <ac:chgData name="Riccardo Berta" userId="c8694f89-bba4-4576-b0a8-456619ca5a8c" providerId="ADAL" clId="{FDDBFC5A-5EA9-5330-BEB8-433D7E3B4C4E}" dt="2026-10-06T11:51:40.222" v="134" actId="14100"/>
          <ac:picMkLst>
            <pc:docMk/>
            <pc:sldMk cId="0" sldId="268"/>
            <ac:picMk id="9" creationId="{00000000-0000-0000-0000-000000000000}"/>
          </ac:picMkLst>
        </pc:picChg>
      </pc:sldChg>
      <pc:sldChg chg="modSp mod">
        <pc:chgData name="Riccardo Berta" userId="c8694f89-bba4-4576-b0a8-456619ca5a8c" providerId="ADAL" clId="{FDDBFC5A-5EA9-5330-BEB8-433D7E3B4C4E}" dt="2026-10-06T11:52:03.826" v="138" actId="1076"/>
        <pc:sldMkLst>
          <pc:docMk/>
          <pc:sldMk cId="0" sldId="272"/>
        </pc:sldMkLst>
        <pc:spChg chg="mod">
          <ac:chgData name="Riccardo Berta" userId="c8694f89-bba4-4576-b0a8-456619ca5a8c" providerId="ADAL" clId="{FDDBFC5A-5EA9-5330-BEB8-433D7E3B4C4E}" dt="2026-10-06T11:51:58.792" v="136" actId="1076"/>
          <ac:spMkLst>
            <pc:docMk/>
            <pc:sldMk cId="0" sldId="272"/>
            <ac:spMk id="11" creationId="{00000000-0000-0000-0000-000000000000}"/>
          </ac:spMkLst>
        </pc:spChg>
        <pc:picChg chg="mod">
          <ac:chgData name="Riccardo Berta" userId="c8694f89-bba4-4576-b0a8-456619ca5a8c" providerId="ADAL" clId="{FDDBFC5A-5EA9-5330-BEB8-433D7E3B4C4E}" dt="2026-10-06T11:52:03.826" v="138" actId="1076"/>
          <ac:picMkLst>
            <pc:docMk/>
            <pc:sldMk cId="0" sldId="272"/>
            <ac:picMk id="9" creationId="{00000000-0000-0000-0000-000000000000}"/>
          </ac:picMkLst>
        </pc:picChg>
        <pc:picChg chg="mod">
          <ac:chgData name="Riccardo Berta" userId="c8694f89-bba4-4576-b0a8-456619ca5a8c" providerId="ADAL" clId="{FDDBFC5A-5EA9-5330-BEB8-433D7E3B4C4E}" dt="2026-10-06T11:52:00.937" v="137" actId="1076"/>
          <ac:picMkLst>
            <pc:docMk/>
            <pc:sldMk cId="0" sldId="272"/>
            <ac:picMk id="10" creationId="{00000000-0000-0000-0000-000000000000}"/>
          </ac:picMkLst>
        </pc:picChg>
      </pc:sldChg>
      <pc:sldChg chg="modSp mod">
        <pc:chgData name="Riccardo Berta" userId="c8694f89-bba4-4576-b0a8-456619ca5a8c" providerId="ADAL" clId="{FDDBFC5A-5EA9-5330-BEB8-433D7E3B4C4E}" dt="2026-10-06T11:52:29.350" v="143" actId="1076"/>
        <pc:sldMkLst>
          <pc:docMk/>
          <pc:sldMk cId="0" sldId="275"/>
        </pc:sldMkLst>
        <pc:spChg chg="mod">
          <ac:chgData name="Riccardo Berta" userId="c8694f89-bba4-4576-b0a8-456619ca5a8c" providerId="ADAL" clId="{FDDBFC5A-5EA9-5330-BEB8-433D7E3B4C4E}" dt="2026-10-06T11:52:29.350" v="143" actId="1076"/>
          <ac:spMkLst>
            <pc:docMk/>
            <pc:sldMk cId="0" sldId="275"/>
            <ac:spMk id="10" creationId="{00000000-0000-0000-0000-000000000000}"/>
          </ac:spMkLst>
        </pc:spChg>
        <pc:spChg chg="mod">
          <ac:chgData name="Riccardo Berta" userId="c8694f89-bba4-4576-b0a8-456619ca5a8c" providerId="ADAL" clId="{FDDBFC5A-5EA9-5330-BEB8-433D7E3B4C4E}" dt="2026-10-06T11:52:19.913" v="139" actId="1076"/>
          <ac:spMkLst>
            <pc:docMk/>
            <pc:sldMk cId="0" sldId="275"/>
            <ac:spMk id="11" creationId="{00000000-0000-0000-0000-000000000000}"/>
          </ac:spMkLst>
        </pc:spChg>
        <pc:spChg chg="mod">
          <ac:chgData name="Riccardo Berta" userId="c8694f89-bba4-4576-b0a8-456619ca5a8c" providerId="ADAL" clId="{FDDBFC5A-5EA9-5330-BEB8-433D7E3B4C4E}" dt="2026-10-06T11:52:19.913" v="139" actId="1076"/>
          <ac:spMkLst>
            <pc:docMk/>
            <pc:sldMk cId="0" sldId="275"/>
            <ac:spMk id="12" creationId="{00000000-0000-0000-0000-000000000000}"/>
          </ac:spMkLst>
        </pc:spChg>
        <pc:spChg chg="mod">
          <ac:chgData name="Riccardo Berta" userId="c8694f89-bba4-4576-b0a8-456619ca5a8c" providerId="ADAL" clId="{FDDBFC5A-5EA9-5330-BEB8-433D7E3B4C4E}" dt="2026-10-06T11:52:19.913" v="139" actId="1076"/>
          <ac:spMkLst>
            <pc:docMk/>
            <pc:sldMk cId="0" sldId="275"/>
            <ac:spMk id="13" creationId="{00000000-0000-0000-0000-000000000000}"/>
          </ac:spMkLst>
        </pc:spChg>
        <pc:spChg chg="mod">
          <ac:chgData name="Riccardo Berta" userId="c8694f89-bba4-4576-b0a8-456619ca5a8c" providerId="ADAL" clId="{FDDBFC5A-5EA9-5330-BEB8-433D7E3B4C4E}" dt="2026-10-06T11:52:19.913" v="139" actId="1076"/>
          <ac:spMkLst>
            <pc:docMk/>
            <pc:sldMk cId="0" sldId="275"/>
            <ac:spMk id="14" creationId="{00000000-0000-0000-0000-000000000000}"/>
          </ac:spMkLst>
        </pc:spChg>
        <pc:spChg chg="mod">
          <ac:chgData name="Riccardo Berta" userId="c8694f89-bba4-4576-b0a8-456619ca5a8c" providerId="ADAL" clId="{FDDBFC5A-5EA9-5330-BEB8-433D7E3B4C4E}" dt="2026-10-06T11:52:19.913" v="139" actId="1076"/>
          <ac:spMkLst>
            <pc:docMk/>
            <pc:sldMk cId="0" sldId="275"/>
            <ac:spMk id="15" creationId="{00000000-0000-0000-0000-000000000000}"/>
          </ac:spMkLst>
        </pc:spChg>
        <pc:picChg chg="mod">
          <ac:chgData name="Riccardo Berta" userId="c8694f89-bba4-4576-b0a8-456619ca5a8c" providerId="ADAL" clId="{FDDBFC5A-5EA9-5330-BEB8-433D7E3B4C4E}" dt="2026-10-06T11:52:26.661" v="142" actId="1076"/>
          <ac:picMkLst>
            <pc:docMk/>
            <pc:sldMk cId="0" sldId="275"/>
            <ac:picMk id="9" creationId="{00000000-0000-0000-0000-000000000000}"/>
          </ac:picMkLst>
        </pc:picChg>
      </pc:sldChg>
      <pc:sldChg chg="modSp mod">
        <pc:chgData name="Riccardo Berta" userId="c8694f89-bba4-4576-b0a8-456619ca5a8c" providerId="ADAL" clId="{FDDBFC5A-5EA9-5330-BEB8-433D7E3B4C4E}" dt="2026-10-06T11:52:59.036" v="148" actId="313"/>
        <pc:sldMkLst>
          <pc:docMk/>
          <pc:sldMk cId="0" sldId="279"/>
        </pc:sldMkLst>
        <pc:spChg chg="mod">
          <ac:chgData name="Riccardo Berta" userId="c8694f89-bba4-4576-b0a8-456619ca5a8c" providerId="ADAL" clId="{FDDBFC5A-5EA9-5330-BEB8-433D7E3B4C4E}" dt="2026-10-06T11:52:59.036" v="148" actId="313"/>
          <ac:spMkLst>
            <pc:docMk/>
            <pc:sldMk cId="0" sldId="279"/>
            <ac:spMk id="6" creationId="{00000000-0000-0000-0000-000000000000}"/>
          </ac:spMkLst>
        </pc:spChg>
      </pc:sldChg>
      <pc:sldChg chg="modSp mod">
        <pc:chgData name="Riccardo Berta" userId="c8694f89-bba4-4576-b0a8-456619ca5a8c" providerId="ADAL" clId="{FDDBFC5A-5EA9-5330-BEB8-433D7E3B4C4E}" dt="2026-10-13T10:54:38.435" v="220" actId="20577"/>
        <pc:sldMkLst>
          <pc:docMk/>
          <pc:sldMk cId="0" sldId="292"/>
        </pc:sldMkLst>
        <pc:spChg chg="mod">
          <ac:chgData name="Riccardo Berta" userId="c8694f89-bba4-4576-b0a8-456619ca5a8c" providerId="ADAL" clId="{FDDBFC5A-5EA9-5330-BEB8-433D7E3B4C4E}" dt="2026-10-13T10:54:38.435" v="220" actId="20577"/>
          <ac:spMkLst>
            <pc:docMk/>
            <pc:sldMk cId="0" sldId="292"/>
            <ac:spMk id="3" creationId="{00000000-0000-0000-0000-000000000000}"/>
          </ac:spMkLst>
        </pc:spChg>
      </pc:sldChg>
      <pc:sldChg chg="modSp mod">
        <pc:chgData name="Riccardo Berta" userId="c8694f89-bba4-4576-b0a8-456619ca5a8c" providerId="ADAL" clId="{FDDBFC5A-5EA9-5330-BEB8-433D7E3B4C4E}" dt="2026-10-13T10:53:06.572" v="200" actId="20577"/>
        <pc:sldMkLst>
          <pc:docMk/>
          <pc:sldMk cId="0" sldId="293"/>
        </pc:sldMkLst>
        <pc:spChg chg="mod">
          <ac:chgData name="Riccardo Berta" userId="c8694f89-bba4-4576-b0a8-456619ca5a8c" providerId="ADAL" clId="{FDDBFC5A-5EA9-5330-BEB8-433D7E3B4C4E}" dt="2026-10-13T10:52:21.399" v="159" actId="113"/>
          <ac:spMkLst>
            <pc:docMk/>
            <pc:sldMk cId="0" sldId="293"/>
            <ac:spMk id="8" creationId="{00000000-0000-0000-0000-000000000000}"/>
          </ac:spMkLst>
        </pc:spChg>
        <pc:spChg chg="mod">
          <ac:chgData name="Riccardo Berta" userId="c8694f89-bba4-4576-b0a8-456619ca5a8c" providerId="ADAL" clId="{FDDBFC5A-5EA9-5330-BEB8-433D7E3B4C4E}" dt="2026-10-13T10:52:46.260" v="190" actId="20577"/>
          <ac:spMkLst>
            <pc:docMk/>
            <pc:sldMk cId="0" sldId="293"/>
            <ac:spMk id="14" creationId="{00000000-0000-0000-0000-000000000000}"/>
          </ac:spMkLst>
        </pc:spChg>
        <pc:spChg chg="mod">
          <ac:chgData name="Riccardo Berta" userId="c8694f89-bba4-4576-b0a8-456619ca5a8c" providerId="ADAL" clId="{FDDBFC5A-5EA9-5330-BEB8-433D7E3B4C4E}" dt="2026-09-30T12:36:25.610" v="48" actId="1076"/>
          <ac:spMkLst>
            <pc:docMk/>
            <pc:sldMk cId="0" sldId="293"/>
            <ac:spMk id="15" creationId="{00000000-0000-0000-0000-000000000000}"/>
          </ac:spMkLst>
        </pc:spChg>
        <pc:spChg chg="mod">
          <ac:chgData name="Riccardo Berta" userId="c8694f89-bba4-4576-b0a8-456619ca5a8c" providerId="ADAL" clId="{FDDBFC5A-5EA9-5330-BEB8-433D7E3B4C4E}" dt="2026-10-13T10:53:06.572" v="200" actId="20577"/>
          <ac:spMkLst>
            <pc:docMk/>
            <pc:sldMk cId="0" sldId="293"/>
            <ac:spMk id="16" creationId="{00000000-0000-0000-0000-000000000000}"/>
          </ac:spMkLst>
        </pc:spChg>
      </pc:sldChg>
      <pc:sldChg chg="addSp delSp modSp mod">
        <pc:chgData name="Riccardo Berta" userId="c8694f89-bba4-4576-b0a8-456619ca5a8c" providerId="ADAL" clId="{FDDBFC5A-5EA9-5330-BEB8-433D7E3B4C4E}" dt="2026-10-13T10:58:40.114" v="240" actId="20577"/>
        <pc:sldMkLst>
          <pc:docMk/>
          <pc:sldMk cId="0" sldId="294"/>
        </pc:sldMkLst>
        <pc:spChg chg="mod">
          <ac:chgData name="Riccardo Berta" userId="c8694f89-bba4-4576-b0a8-456619ca5a8c" providerId="ADAL" clId="{FDDBFC5A-5EA9-5330-BEB8-433D7E3B4C4E}" dt="2026-10-13T10:58:40.114" v="240" actId="20577"/>
          <ac:spMkLst>
            <pc:docMk/>
            <pc:sldMk cId="0" sldId="294"/>
            <ac:spMk id="3" creationId="{00000000-0000-0000-0000-000000000000}"/>
          </ac:spMkLst>
        </pc:spChg>
        <pc:spChg chg="mod">
          <ac:chgData name="Riccardo Berta" userId="c8694f89-bba4-4576-b0a8-456619ca5a8c" providerId="ADAL" clId="{FDDBFC5A-5EA9-5330-BEB8-433D7E3B4C4E}" dt="2026-10-13T10:54:14.071" v="207" actId="20577"/>
          <ac:spMkLst>
            <pc:docMk/>
            <pc:sldMk cId="0" sldId="294"/>
            <ac:spMk id="8" creationId="{00000000-0000-0000-0000-000000000000}"/>
          </ac:spMkLst>
        </pc:spChg>
        <pc:spChg chg="mod">
          <ac:chgData name="Riccardo Berta" userId="c8694f89-bba4-4576-b0a8-456619ca5a8c" providerId="ADAL" clId="{FDDBFC5A-5EA9-5330-BEB8-433D7E3B4C4E}" dt="2026-09-30T12:37:24.036" v="69" actId="1076"/>
          <ac:spMkLst>
            <pc:docMk/>
            <pc:sldMk cId="0" sldId="294"/>
            <ac:spMk id="10" creationId="{00000000-0000-0000-0000-000000000000}"/>
          </ac:spMkLst>
        </pc:spChg>
        <pc:spChg chg="mod">
          <ac:chgData name="Riccardo Berta" userId="c8694f89-bba4-4576-b0a8-456619ca5a8c" providerId="ADAL" clId="{FDDBFC5A-5EA9-5330-BEB8-433D7E3B4C4E}" dt="2026-10-13T10:55:32.777" v="224" actId="1076"/>
          <ac:spMkLst>
            <pc:docMk/>
            <pc:sldMk cId="0" sldId="294"/>
            <ac:spMk id="14" creationId="{00000000-0000-0000-0000-000000000000}"/>
          </ac:spMkLst>
        </pc:spChg>
        <pc:spChg chg="mod">
          <ac:chgData name="Riccardo Berta" userId="c8694f89-bba4-4576-b0a8-456619ca5a8c" providerId="ADAL" clId="{FDDBFC5A-5EA9-5330-BEB8-433D7E3B4C4E}" dt="2026-10-13T10:55:32.777" v="224" actId="1076"/>
          <ac:spMkLst>
            <pc:docMk/>
            <pc:sldMk cId="0" sldId="294"/>
            <ac:spMk id="15" creationId="{00000000-0000-0000-0000-000000000000}"/>
          </ac:spMkLst>
        </pc:spChg>
        <pc:spChg chg="mod">
          <ac:chgData name="Riccardo Berta" userId="c8694f89-bba4-4576-b0a8-456619ca5a8c" providerId="ADAL" clId="{FDDBFC5A-5EA9-5330-BEB8-433D7E3B4C4E}" dt="2026-10-13T10:55:32.777" v="224" actId="1076"/>
          <ac:spMkLst>
            <pc:docMk/>
            <pc:sldMk cId="0" sldId="294"/>
            <ac:spMk id="16" creationId="{00000000-0000-0000-0000-000000000000}"/>
          </ac:spMkLst>
        </pc:spChg>
        <pc:spChg chg="add del mod">
          <ac:chgData name="Riccardo Berta" userId="c8694f89-bba4-4576-b0a8-456619ca5a8c" providerId="ADAL" clId="{FDDBFC5A-5EA9-5330-BEB8-433D7E3B4C4E}" dt="2026-10-13T10:55:28.585" v="223" actId="478"/>
          <ac:spMkLst>
            <pc:docMk/>
            <pc:sldMk cId="0" sldId="294"/>
            <ac:spMk id="17" creationId="{FF45F6FE-B49D-5B69-9CDD-DFC2789D778E}"/>
          </ac:spMkLst>
        </pc:spChg>
        <pc:picChg chg="mod">
          <ac:chgData name="Riccardo Berta" userId="c8694f89-bba4-4576-b0a8-456619ca5a8c" providerId="ADAL" clId="{FDDBFC5A-5EA9-5330-BEB8-433D7E3B4C4E}" dt="2026-09-30T12:37:19.583" v="68" actId="14100"/>
          <ac:picMkLst>
            <pc:docMk/>
            <pc:sldMk cId="0" sldId="294"/>
            <ac:picMk id="9" creationId="{00000000-0000-0000-0000-000000000000}"/>
          </ac:picMkLst>
        </pc:picChg>
        <pc:picChg chg="mod modCrop">
          <ac:chgData name="Riccardo Berta" userId="c8694f89-bba4-4576-b0a8-456619ca5a8c" providerId="ADAL" clId="{FDDBFC5A-5EA9-5330-BEB8-433D7E3B4C4E}" dt="2026-10-13T10:56:28.630" v="235" actId="14100"/>
          <ac:picMkLst>
            <pc:docMk/>
            <pc:sldMk cId="0" sldId="294"/>
            <ac:picMk id="13" creationId="{00000000-0000-0000-0000-000000000000}"/>
          </ac:picMkLst>
        </pc:picChg>
        <pc:picChg chg="add mod modCrop">
          <ac:chgData name="Riccardo Berta" userId="c8694f89-bba4-4576-b0a8-456619ca5a8c" providerId="ADAL" clId="{FDDBFC5A-5EA9-5330-BEB8-433D7E3B4C4E}" dt="2026-10-13T10:56:34.214" v="237" actId="1076"/>
          <ac:picMkLst>
            <pc:docMk/>
            <pc:sldMk cId="0" sldId="294"/>
            <ac:picMk id="18" creationId="{C202DBCE-0192-7C04-AABA-619C1A19F249}"/>
          </ac:picMkLst>
        </pc:picChg>
      </pc:sldChg>
      <pc:sldChg chg="delSp modSp mod">
        <pc:chgData name="Riccardo Berta" userId="c8694f89-bba4-4576-b0a8-456619ca5a8c" providerId="ADAL" clId="{FDDBFC5A-5EA9-5330-BEB8-433D7E3B4C4E}" dt="2026-10-13T11:00:02.331" v="249" actId="1076"/>
        <pc:sldMkLst>
          <pc:docMk/>
          <pc:sldMk cId="0" sldId="295"/>
        </pc:sldMkLst>
        <pc:spChg chg="mod">
          <ac:chgData name="Riccardo Berta" userId="c8694f89-bba4-4576-b0a8-456619ca5a8c" providerId="ADAL" clId="{FDDBFC5A-5EA9-5330-BEB8-433D7E3B4C4E}" dt="2026-10-13T10:59:31.320" v="244" actId="20577"/>
          <ac:spMkLst>
            <pc:docMk/>
            <pc:sldMk cId="0" sldId="295"/>
            <ac:spMk id="8" creationId="{00000000-0000-0000-0000-000000000000}"/>
          </ac:spMkLst>
        </pc:spChg>
        <pc:spChg chg="del mod">
          <ac:chgData name="Riccardo Berta" userId="c8694f89-bba4-4576-b0a8-456619ca5a8c" providerId="ADAL" clId="{FDDBFC5A-5EA9-5330-BEB8-433D7E3B4C4E}" dt="2026-10-13T10:59:43.453" v="245" actId="478"/>
          <ac:spMkLst>
            <pc:docMk/>
            <pc:sldMk cId="0" sldId="295"/>
            <ac:spMk id="10" creationId="{00000000-0000-0000-0000-000000000000}"/>
          </ac:spMkLst>
        </pc:spChg>
        <pc:picChg chg="mod">
          <ac:chgData name="Riccardo Berta" userId="c8694f89-bba4-4576-b0a8-456619ca5a8c" providerId="ADAL" clId="{FDDBFC5A-5EA9-5330-BEB8-433D7E3B4C4E}" dt="2026-10-13T10:59:57.361" v="248" actId="14100"/>
          <ac:picMkLst>
            <pc:docMk/>
            <pc:sldMk cId="0" sldId="295"/>
            <ac:picMk id="9" creationId="{00000000-0000-0000-0000-000000000000}"/>
          </ac:picMkLst>
        </pc:picChg>
        <pc:picChg chg="mod">
          <ac:chgData name="Riccardo Berta" userId="c8694f89-bba4-4576-b0a8-456619ca5a8c" providerId="ADAL" clId="{FDDBFC5A-5EA9-5330-BEB8-433D7E3B4C4E}" dt="2026-10-13T11:00:02.331" v="249" actId="1076"/>
          <ac:picMkLst>
            <pc:docMk/>
            <pc:sldMk cId="0" sldId="295"/>
            <ac:picMk id="11" creationId="{00000000-0000-0000-0000-000000000000}"/>
          </ac:picMkLst>
        </pc:picChg>
      </pc:sldChg>
      <pc:sldChg chg="modSp mod">
        <pc:chgData name="Riccardo Berta" userId="c8694f89-bba4-4576-b0a8-456619ca5a8c" providerId="ADAL" clId="{FDDBFC5A-5EA9-5330-BEB8-433D7E3B4C4E}" dt="2026-10-13T11:08:26.888" v="266" actId="20577"/>
        <pc:sldMkLst>
          <pc:docMk/>
          <pc:sldMk cId="0" sldId="296"/>
        </pc:sldMkLst>
        <pc:spChg chg="mod">
          <ac:chgData name="Riccardo Berta" userId="c8694f89-bba4-4576-b0a8-456619ca5a8c" providerId="ADAL" clId="{FDDBFC5A-5EA9-5330-BEB8-433D7E3B4C4E}" dt="2026-10-13T11:02:08.815" v="254" actId="20577"/>
          <ac:spMkLst>
            <pc:docMk/>
            <pc:sldMk cId="0" sldId="296"/>
            <ac:spMk id="8" creationId="{00000000-0000-0000-0000-000000000000}"/>
          </ac:spMkLst>
        </pc:spChg>
        <pc:spChg chg="mod">
          <ac:chgData name="Riccardo Berta" userId="c8694f89-bba4-4576-b0a8-456619ca5a8c" providerId="ADAL" clId="{FDDBFC5A-5EA9-5330-BEB8-433D7E3B4C4E}" dt="2026-10-13T11:07:57.275" v="259" actId="20577"/>
          <ac:spMkLst>
            <pc:docMk/>
            <pc:sldMk cId="0" sldId="296"/>
            <ac:spMk id="18" creationId="{00000000-0000-0000-0000-000000000000}"/>
          </ac:spMkLst>
        </pc:spChg>
        <pc:spChg chg="mod">
          <ac:chgData name="Riccardo Berta" userId="c8694f89-bba4-4576-b0a8-456619ca5a8c" providerId="ADAL" clId="{FDDBFC5A-5EA9-5330-BEB8-433D7E3B4C4E}" dt="2026-10-13T11:08:12.256" v="264" actId="20577"/>
          <ac:spMkLst>
            <pc:docMk/>
            <pc:sldMk cId="0" sldId="296"/>
            <ac:spMk id="23" creationId="{00000000-0000-0000-0000-000000000000}"/>
          </ac:spMkLst>
        </pc:spChg>
        <pc:spChg chg="mod">
          <ac:chgData name="Riccardo Berta" userId="c8694f89-bba4-4576-b0a8-456619ca5a8c" providerId="ADAL" clId="{FDDBFC5A-5EA9-5330-BEB8-433D7E3B4C4E}" dt="2026-10-13T11:08:26.888" v="266" actId="20577"/>
          <ac:spMkLst>
            <pc:docMk/>
            <pc:sldMk cId="0" sldId="296"/>
            <ac:spMk id="27" creationId="{00000000-0000-0000-0000-000000000000}"/>
          </ac:spMkLst>
        </pc:spChg>
      </pc:sldChg>
      <pc:sldChg chg="modSp mod">
        <pc:chgData name="Riccardo Berta" userId="c8694f89-bba4-4576-b0a8-456619ca5a8c" providerId="ADAL" clId="{FDDBFC5A-5EA9-5330-BEB8-433D7E3B4C4E}" dt="2026-10-06T11:50:08.174" v="115" actId="20577"/>
        <pc:sldMkLst>
          <pc:docMk/>
          <pc:sldMk cId="0" sldId="297"/>
        </pc:sldMkLst>
        <pc:spChg chg="mod">
          <ac:chgData name="Riccardo Berta" userId="c8694f89-bba4-4576-b0a8-456619ca5a8c" providerId="ADAL" clId="{FDDBFC5A-5EA9-5330-BEB8-433D7E3B4C4E}" dt="2026-10-06T11:50:08.174" v="115" actId="20577"/>
          <ac:spMkLst>
            <pc:docMk/>
            <pc:sldMk cId="0" sldId="297"/>
            <ac:spMk id="5" creationId="{00000000-0000-0000-0000-000000000000}"/>
          </ac:spMkLst>
        </pc:spChg>
      </pc:sldChg>
      <pc:sldChg chg="delSp modSp mod">
        <pc:chgData name="Riccardo Berta" userId="c8694f89-bba4-4576-b0a8-456619ca5a8c" providerId="ADAL" clId="{FDDBFC5A-5EA9-5330-BEB8-433D7E3B4C4E}" dt="2026-10-01T07:16:50.840" v="98" actId="1076"/>
        <pc:sldMkLst>
          <pc:docMk/>
          <pc:sldMk cId="0" sldId="298"/>
        </pc:sldMkLst>
        <pc:spChg chg="mod">
          <ac:chgData name="Riccardo Berta" userId="c8694f89-bba4-4576-b0a8-456619ca5a8c" providerId="ADAL" clId="{FDDBFC5A-5EA9-5330-BEB8-433D7E3B4C4E}" dt="2026-10-01T07:16:01.206" v="74" actId="113"/>
          <ac:spMkLst>
            <pc:docMk/>
            <pc:sldMk cId="0" sldId="298"/>
            <ac:spMk id="101" creationId="{00000000-0000-0000-0000-000000000000}"/>
          </ac:spMkLst>
        </pc:spChg>
        <pc:spChg chg="mod">
          <ac:chgData name="Riccardo Berta" userId="c8694f89-bba4-4576-b0a8-456619ca5a8c" providerId="ADAL" clId="{FDDBFC5A-5EA9-5330-BEB8-433D7E3B4C4E}" dt="2026-10-01T07:16:50.840" v="98" actId="1076"/>
          <ac:spMkLst>
            <pc:docMk/>
            <pc:sldMk cId="0" sldId="298"/>
            <ac:spMk id="107" creationId="{00000000-0000-0000-0000-000000000000}"/>
          </ac:spMkLst>
        </pc:spChg>
        <pc:spChg chg="mod">
          <ac:chgData name="Riccardo Berta" userId="c8694f89-bba4-4576-b0a8-456619ca5a8c" providerId="ADAL" clId="{FDDBFC5A-5EA9-5330-BEB8-433D7E3B4C4E}" dt="2026-10-01T07:16:11.693" v="82" actId="20577"/>
          <ac:spMkLst>
            <pc:docMk/>
            <pc:sldMk cId="0" sldId="298"/>
            <ac:spMk id="109" creationId="{00000000-0000-0000-0000-000000000000}"/>
          </ac:spMkLst>
        </pc:spChg>
        <pc:spChg chg="mod">
          <ac:chgData name="Riccardo Berta" userId="c8694f89-bba4-4576-b0a8-456619ca5a8c" providerId="ADAL" clId="{FDDBFC5A-5EA9-5330-BEB8-433D7E3B4C4E}" dt="2026-10-01T07:16:34.660" v="95" actId="20577"/>
          <ac:spMkLst>
            <pc:docMk/>
            <pc:sldMk cId="0" sldId="298"/>
            <ac:spMk id="12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20/10/26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7.xml"/><Relationship Id="rId4" Type="http://schemas.openxmlformats.org/officeDocument/2006/relationships/image" Target="../media/image33.sv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sv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02</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The Reinforcement</a:t>
            </a:r>
          </a:p>
          <a:p>
            <a:pPr marL="0" indent="0" algn="l">
              <a:lnSpc>
                <a:spcPts val="3587"/>
              </a:lnSpc>
              <a:spcBef>
                <a:spcPts val="0"/>
              </a:spcBef>
              <a:spcAft>
                <a:spcPts val="0"/>
              </a:spcAft>
              <a:buNone/>
            </a:pPr>
            <a:r>
              <a:rPr sz="3384" b="1" i="0">
                <a:solidFill>
                  <a:srgbClr val="FFFFFF"/>
                </a:solidFill>
                <a:latin typeface="Roboto Slab"/>
              </a:rPr>
              <a:t>Learning Problem</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dirty="0">
                <a:solidFill>
                  <a:srgbClr val="D6D0E0"/>
                </a:solidFill>
                <a:latin typeface="Fira Sans"/>
              </a:rPr>
              <a:t>From the interaction loop to the Markov Decision Process: states, actions, rewards, dynamics, return and discount</a:t>
            </a:r>
            <a:r>
              <a:rPr lang="it-IT" sz="1363" b="0" i="0" dirty="0">
                <a:solidFill>
                  <a:srgbClr val="D6D0E0"/>
                </a:solidFill>
                <a:latin typeface="Fira Sans"/>
              </a:rPr>
              <a:t>; </a:t>
            </a:r>
            <a:r>
              <a:rPr sz="1363" b="0" i="0" dirty="0">
                <a:solidFill>
                  <a:srgbClr val="D6D0E0"/>
                </a:solidFill>
                <a:latin typeface="Fira Sans"/>
              </a:rPr>
              <a:t>and why the solution is a policy rather than a plan.</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02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Agent and environment</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Why the problem is hard</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The Markov Decision Process</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Return and discount</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Plan and policy</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Case study: Frozen Lake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Agent and environment</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interaction loop that defines the reinforcement learning problem: what the agent is, where it ends, and what crosses the boundary at every step.</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is the boundary drawn at the decision, and not at the robot’s skin?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Reward, and why it drives behaviour</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agent–environment boundary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State versus observation</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One time step, move by move</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Experience, steps and episodes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WHERE THE PROBLEM COMES FROM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Behaviour is shaped by what we find rewarding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5"/>
            <a:ext cx="5689320" cy="716065"/>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Humans naturally seek experiences and outcomes that feel rewarding. Sometimes that means immediate gratification; at other times we give up an immediate reward in exchange for a potentially greater one later. What we value need not be selfish.</a:t>
            </a:r>
          </a:p>
        </p:txBody>
      </p:sp>
      <p:pic>
        <p:nvPicPr>
          <p:cNvPr id="9" name="Picture 8" descr="intro_reward.png"/>
          <p:cNvPicPr>
            <a:picLocks noChangeAspect="1"/>
          </p:cNvPicPr>
          <p:nvPr/>
        </p:nvPicPr>
        <p:blipFill>
          <a:blip r:embed="rId2"/>
          <a:stretch>
            <a:fillRect/>
          </a:stretch>
        </p:blipFill>
        <p:spPr>
          <a:xfrm>
            <a:off x="841248" y="2106686"/>
            <a:ext cx="5370029" cy="2148840"/>
          </a:xfrm>
          <a:prstGeom prst="rect">
            <a:avLst/>
          </a:prstGeom>
        </p:spPr>
      </p:pic>
      <p:sp>
        <p:nvSpPr>
          <p:cNvPr id="10" name="Rectangle 9"/>
          <p:cNvSpPr/>
          <p:nvPr/>
        </p:nvSpPr>
        <p:spPr>
          <a:xfrm>
            <a:off x="841248" y="452984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767590"/>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Medium"/>
              </a:rPr>
              <a:t>LOOK BEYOND THE IMMEDIATE</a:t>
            </a:r>
          </a:p>
          <a:p>
            <a:pPr marL="0" indent="0" algn="l">
              <a:lnSpc>
                <a:spcPts val="1300"/>
              </a:lnSpc>
              <a:spcBef>
                <a:spcPts val="500"/>
              </a:spcBef>
              <a:spcAft>
                <a:spcPts val="0"/>
              </a:spcAft>
              <a:buNone/>
            </a:pPr>
            <a:r>
              <a:rPr sz="1140" b="1" i="0">
                <a:solidFill>
                  <a:srgbClr val="25282A"/>
                </a:solidFill>
                <a:latin typeface="Fira Sans"/>
              </a:rPr>
              <a:t>Intelligent behaviour is future-directed</a:t>
            </a:r>
          </a:p>
          <a:p>
            <a:pPr marL="0" indent="0" algn="l">
              <a:lnSpc>
                <a:spcPts val="1254"/>
              </a:lnSpc>
              <a:spcBef>
                <a:spcPts val="500"/>
              </a:spcBef>
              <a:spcAft>
                <a:spcPts val="0"/>
              </a:spcAft>
              <a:buNone/>
            </a:pPr>
            <a:r>
              <a:rPr sz="1045" b="0" i="0">
                <a:solidFill>
                  <a:srgbClr val="626669"/>
                </a:solidFill>
                <a:latin typeface="Fira Sans"/>
              </a:rPr>
              <a:t>Acting well requires anticipating the long-term consequences of an action, not only the reward it produces now.</a:t>
            </a:r>
          </a:p>
        </p:txBody>
      </p:sp>
      <p:sp>
        <p:nvSpPr>
          <p:cNvPr id="13" name="Rectangle 12"/>
          <p:cNvSpPr/>
          <p:nvPr/>
        </p:nvSpPr>
        <p:spPr>
          <a:xfrm>
            <a:off x="4450080" y="476759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0080"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dirty="0">
                <a:solidFill>
                  <a:srgbClr val="574676"/>
                </a:solidFill>
                <a:latin typeface="Fira Sans Medium"/>
              </a:rPr>
              <a:t>ACCEPT UNCERTAINTY</a:t>
            </a:r>
          </a:p>
          <a:p>
            <a:pPr marL="0" indent="0" algn="l">
              <a:lnSpc>
                <a:spcPts val="1300"/>
              </a:lnSpc>
              <a:spcBef>
                <a:spcPts val="500"/>
              </a:spcBef>
              <a:spcAft>
                <a:spcPts val="0"/>
              </a:spcAft>
              <a:buNone/>
            </a:pPr>
            <a:r>
              <a:rPr sz="1140" b="1" i="0" dirty="0">
                <a:solidFill>
                  <a:srgbClr val="25282A"/>
                </a:solidFill>
                <a:latin typeface="Fira Sans"/>
              </a:rPr>
              <a:t>A worse expectation now for a better one later</a:t>
            </a:r>
          </a:p>
          <a:p>
            <a:pPr marL="0" indent="0" algn="l">
              <a:lnSpc>
                <a:spcPts val="1254"/>
              </a:lnSpc>
              <a:spcBef>
                <a:spcPts val="500"/>
              </a:spcBef>
              <a:spcAft>
                <a:spcPts val="0"/>
              </a:spcAft>
              <a:buNone/>
            </a:pPr>
            <a:r>
              <a:rPr sz="1045" b="0" i="0" dirty="0">
                <a:solidFill>
                  <a:srgbClr val="626669"/>
                </a:solidFill>
                <a:latin typeface="Fira Sans"/>
              </a:rPr>
              <a:t>Sometimes the rational choice is the one whose outcome is not guaranteed</a:t>
            </a:r>
            <a:r>
              <a:rPr lang="it-IT" sz="1045" b="0" i="0" dirty="0">
                <a:solidFill>
                  <a:srgbClr val="626669"/>
                </a:solidFill>
                <a:latin typeface="Fira Sans"/>
              </a:rPr>
              <a:t>, </a:t>
            </a:r>
            <a:r>
              <a:rPr sz="1045" b="0" i="0" dirty="0">
                <a:solidFill>
                  <a:srgbClr val="626669"/>
                </a:solidFill>
                <a:latin typeface="Fira Sans"/>
              </a:rPr>
              <a:t>a trade the agent has to be able to represent.</a:t>
            </a:r>
          </a:p>
        </p:txBody>
      </p:sp>
      <p:sp>
        <p:nvSpPr>
          <p:cNvPr id="15" name="Rectangle 14"/>
          <p:cNvSpPr/>
          <p:nvPr/>
        </p:nvSpPr>
        <p:spPr>
          <a:xfrm>
            <a:off x="8058912" y="476759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58912"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LEARN FROM EXPERIENCE</a:t>
            </a:r>
          </a:p>
          <a:p>
            <a:pPr marL="0" indent="0" algn="l">
              <a:lnSpc>
                <a:spcPts val="1300"/>
              </a:lnSpc>
              <a:spcBef>
                <a:spcPts val="500"/>
              </a:spcBef>
              <a:spcAft>
                <a:spcPts val="0"/>
              </a:spcAft>
              <a:buNone/>
            </a:pPr>
            <a:r>
              <a:rPr sz="1140" b="1" i="0">
                <a:solidFill>
                  <a:srgbClr val="25282A"/>
                </a:solidFill>
                <a:latin typeface="Fira Sans"/>
              </a:rPr>
              <a:t>Intelligence is knowledge acquired and applied</a:t>
            </a:r>
          </a:p>
          <a:p>
            <a:pPr marL="0" indent="0" algn="l">
              <a:lnSpc>
                <a:spcPts val="1254"/>
              </a:lnSpc>
              <a:spcBef>
                <a:spcPts val="500"/>
              </a:spcBef>
              <a:spcAft>
                <a:spcPts val="0"/>
              </a:spcAft>
              <a:buNone/>
            </a:pPr>
            <a:r>
              <a:rPr sz="1045" b="0" i="0">
                <a:solidFill>
                  <a:srgbClr val="626669"/>
                </a:solidFill>
                <a:latin typeface="Fira Sans"/>
              </a:rPr>
              <a:t>Nothing here is given in advance. The behaviour has to be discovered by acting and observing what follows.</a:t>
            </a:r>
          </a:p>
        </p:txBody>
      </p:sp>
      <p:sp>
        <p:nvSpPr>
          <p:cNvPr id="17" name="Rectangle 16"/>
          <p:cNvSpPr/>
          <p:nvPr/>
        </p:nvSpPr>
        <p:spPr>
          <a:xfrm>
            <a:off x="6812280" y="1335024"/>
            <a:ext cx="4538441"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812280" y="1335024"/>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031736" y="1481328"/>
            <a:ext cx="4245833"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SUBJECT OF THIS CHAPTER</a:t>
            </a:r>
          </a:p>
        </p:txBody>
      </p:sp>
      <p:sp>
        <p:nvSpPr>
          <p:cNvPr id="20" name="TextBox 19"/>
          <p:cNvSpPr txBox="1"/>
          <p:nvPr/>
        </p:nvSpPr>
        <p:spPr>
          <a:xfrm>
            <a:off x="7031736" y="1719072"/>
            <a:ext cx="4154393"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Reinforcement learning captures this idea </a:t>
            </a:r>
            <a:r>
              <a:rPr sz="1140" b="1" i="0">
                <a:solidFill>
                  <a:srgbClr val="333639"/>
                </a:solidFill>
                <a:latin typeface="Fira Sans"/>
              </a:rPr>
              <a:t>computationally</a:t>
            </a:r>
            <a:r>
              <a:rPr sz="1140" b="0" i="0">
                <a:solidFill>
                  <a:srgbClr val="333639"/>
                </a:solidFill>
                <a:latin typeface="Fira Sans"/>
              </a:rPr>
              <a:t>: it is the problem of learning what to do through interaction and trial and error.</a:t>
            </a:r>
          </a:p>
        </p:txBody>
      </p:sp>
      <p:sp>
        <p:nvSpPr>
          <p:cNvPr id="21" name="TextBox 20"/>
          <p:cNvSpPr txBox="1"/>
          <p:nvPr/>
        </p:nvSpPr>
        <p:spPr>
          <a:xfrm>
            <a:off x="6812280" y="2642615"/>
            <a:ext cx="453844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HOW IT DIFFERS FROM SUPERVISED LEARNING</a:t>
            </a:r>
          </a:p>
        </p:txBody>
      </p:sp>
      <p:sp>
        <p:nvSpPr>
          <p:cNvPr id="22" name="TextBox 21"/>
          <p:cNvSpPr txBox="1"/>
          <p:nvPr/>
        </p:nvSpPr>
        <p:spPr>
          <a:xfrm>
            <a:off x="6812280" y="2898648"/>
            <a:ext cx="4538441" cy="1334505"/>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There is no teacher.</a:t>
            </a:r>
            <a:r>
              <a:rPr sz="1092" b="0" i="0">
                <a:solidFill>
                  <a:srgbClr val="333639"/>
                </a:solidFill>
                <a:latin typeface="Fira Sans"/>
              </a:rPr>
              <a:t> Nobody supplies the correct action for a situation; there is no labelled dataset of state–action pairs to imitate.</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Feedback is evaluative, not instructive.</a:t>
            </a:r>
            <a:r>
              <a:rPr sz="1092" b="0" i="0">
                <a:solidFill>
                  <a:srgbClr val="333639"/>
                </a:solidFill>
                <a:latin typeface="Fira Sans"/>
              </a:rPr>
              <a:t> The reward says how good the outcome was, not what should have been done instead.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The goal is to act, not to predict.</a:t>
            </a:r>
            <a:r>
              <a:rPr sz="1092" b="0" i="0">
                <a:solidFill>
                  <a:srgbClr val="333639"/>
                </a:solidFill>
                <a:latin typeface="Fira Sans"/>
              </a:rPr>
              <a:t> The output of learning is a behaviour that maximises reward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AGENT AND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Learning from interaction, with a reward signal as the only feedback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6126480" cy="772850"/>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Reinforcement learning is a computational approach to </a:t>
            </a:r>
            <a:r>
              <a:rPr sz="1188" b="1" i="0">
                <a:solidFill>
                  <a:srgbClr val="25282A"/>
                </a:solidFill>
                <a:latin typeface="Fira Sans"/>
              </a:rPr>
              <a:t>learning from interaction</a:t>
            </a:r>
            <a:r>
              <a:rPr sz="1188" b="0" i="0">
                <a:solidFill>
                  <a:srgbClr val="333639"/>
                </a:solidFill>
                <a:latin typeface="Fira Sans"/>
              </a:rPr>
              <a:t>: the problem of learning how to map situations to actions so as to maximise a numerical reward signal. The learner — the </a:t>
            </a:r>
            <a:r>
              <a:rPr sz="1188" b="1" i="0">
                <a:solidFill>
                  <a:srgbClr val="C8102E"/>
                </a:solidFill>
                <a:latin typeface="Fira Sans"/>
              </a:rPr>
              <a:t>agent</a:t>
            </a:r>
            <a:r>
              <a:rPr sz="1188" b="0" i="0">
                <a:solidFill>
                  <a:srgbClr val="333639"/>
                </a:solidFill>
                <a:latin typeface="Fira Sans"/>
              </a:rPr>
              <a:t> — is not told which actions to take. It must discover which actions pay by trying them.</a:t>
            </a:r>
          </a:p>
        </p:txBody>
      </p:sp>
      <p:pic>
        <p:nvPicPr>
          <p:cNvPr id="9" name="Picture 8" descr="loop_basic.png"/>
          <p:cNvPicPr>
            <a:picLocks noChangeAspect="1"/>
          </p:cNvPicPr>
          <p:nvPr/>
        </p:nvPicPr>
        <p:blipFill>
          <a:blip r:embed="rId2"/>
          <a:stretch>
            <a:fillRect/>
          </a:stretch>
        </p:blipFill>
        <p:spPr>
          <a:xfrm>
            <a:off x="1848656" y="2290754"/>
            <a:ext cx="4111663" cy="1627632"/>
          </a:xfrm>
          <a:prstGeom prst="rect">
            <a:avLst/>
          </a:prstGeom>
        </p:spPr>
      </p:pic>
      <p:sp>
        <p:nvSpPr>
          <p:cNvPr id="10" name="TextBox 9"/>
          <p:cNvSpPr txBox="1"/>
          <p:nvPr/>
        </p:nvSpPr>
        <p:spPr>
          <a:xfrm>
            <a:off x="841248" y="4156130"/>
            <a:ext cx="612648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two flows that define the problem: actions out, rewards in. Everything in this chapter is an elaboration of this picture.</a:t>
            </a:r>
          </a:p>
        </p:txBody>
      </p:sp>
      <p:sp>
        <p:nvSpPr>
          <p:cNvPr id="11" name="Rectangle 10"/>
          <p:cNvSpPr/>
          <p:nvPr/>
        </p:nvSpPr>
        <p:spPr>
          <a:xfrm>
            <a:off x="841248" y="4710866"/>
            <a:ext cx="612648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85717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SAME LOOP, NAMED THREE WAYS</a:t>
            </a:r>
          </a:p>
        </p:txBody>
      </p:sp>
      <p:sp>
        <p:nvSpPr>
          <p:cNvPr id="13" name="Rectangle 12"/>
          <p:cNvSpPr/>
          <p:nvPr/>
        </p:nvSpPr>
        <p:spPr>
          <a:xfrm>
            <a:off x="841248" y="5094914"/>
            <a:ext cx="1871472"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5222930"/>
            <a:ext cx="1871472" cy="69925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Control theory</a:t>
            </a:r>
          </a:p>
          <a:p>
            <a:pPr marL="0" indent="0" algn="l">
              <a:lnSpc>
                <a:spcPts val="1176"/>
              </a:lnSpc>
              <a:spcBef>
                <a:spcPts val="400"/>
              </a:spcBef>
              <a:spcAft>
                <a:spcPts val="0"/>
              </a:spcAft>
              <a:buNone/>
            </a:pPr>
            <a:r>
              <a:rPr sz="997" b="0" i="0">
                <a:solidFill>
                  <a:srgbClr val="626669"/>
                </a:solidFill>
                <a:latin typeface="Fira Sans"/>
              </a:rPr>
              <a:t>controller, plant, cost — the same objects, minimising rather than maximising.</a:t>
            </a:r>
          </a:p>
        </p:txBody>
      </p:sp>
      <p:sp>
        <p:nvSpPr>
          <p:cNvPr id="15" name="Rectangle 14"/>
          <p:cNvSpPr/>
          <p:nvPr/>
        </p:nvSpPr>
        <p:spPr>
          <a:xfrm>
            <a:off x="2968752" y="5094914"/>
            <a:ext cx="18714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968752" y="5222930"/>
            <a:ext cx="1871472" cy="69925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Operations research</a:t>
            </a:r>
          </a:p>
          <a:p>
            <a:pPr marL="0" indent="0" algn="l">
              <a:lnSpc>
                <a:spcPts val="1176"/>
              </a:lnSpc>
              <a:spcBef>
                <a:spcPts val="400"/>
              </a:spcBef>
              <a:spcAft>
                <a:spcPts val="0"/>
              </a:spcAft>
              <a:buNone/>
            </a:pPr>
            <a:r>
              <a:rPr sz="997" b="0" i="0">
                <a:solidFill>
                  <a:srgbClr val="626669"/>
                </a:solidFill>
                <a:latin typeface="Fira Sans"/>
              </a:rPr>
              <a:t>decision maker, system, value — Bellman’s own setting when he introduced the MDP.</a:t>
            </a:r>
          </a:p>
        </p:txBody>
      </p:sp>
      <p:sp>
        <p:nvSpPr>
          <p:cNvPr id="17" name="Rectangle 16"/>
          <p:cNvSpPr/>
          <p:nvPr/>
        </p:nvSpPr>
        <p:spPr>
          <a:xfrm>
            <a:off x="5096256" y="5094914"/>
            <a:ext cx="1871472"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096256" y="5222930"/>
            <a:ext cx="1871472" cy="84866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Psychology</a:t>
            </a:r>
          </a:p>
          <a:p>
            <a:pPr marL="0" indent="0" algn="l">
              <a:lnSpc>
                <a:spcPts val="1176"/>
              </a:lnSpc>
              <a:spcBef>
                <a:spcPts val="400"/>
              </a:spcBef>
              <a:spcAft>
                <a:spcPts val="0"/>
              </a:spcAft>
              <a:buNone/>
            </a:pPr>
            <a:r>
              <a:rPr sz="997" b="0" i="0">
                <a:solidFill>
                  <a:srgbClr val="626669"/>
                </a:solidFill>
                <a:latin typeface="Fira Sans"/>
              </a:rPr>
              <a:t>organism, environment, reinforcement — where the name and much of the early theory come from.</a:t>
            </a:r>
          </a:p>
        </p:txBody>
      </p:sp>
      <p:sp>
        <p:nvSpPr>
          <p:cNvPr id="19" name="TextBox 18"/>
          <p:cNvSpPr txBox="1"/>
          <p:nvPr/>
        </p:nvSpPr>
        <p:spPr>
          <a:xfrm>
            <a:off x="7379208" y="1335024"/>
            <a:ext cx="3971513" cy="60667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2B7A3E"/>
                </a:solidFill>
                <a:latin typeface="Fira Sans Medium"/>
              </a:rPr>
              <a:t>THE ENVIRONMENT</a:t>
            </a:r>
          </a:p>
          <a:p>
            <a:pPr marL="0" indent="0" algn="l">
              <a:lnSpc>
                <a:spcPts val="1345"/>
              </a:lnSpc>
              <a:spcBef>
                <a:spcPts val="0"/>
              </a:spcBef>
              <a:spcAft>
                <a:spcPts val="0"/>
              </a:spcAft>
              <a:buNone/>
            </a:pPr>
            <a:r>
              <a:rPr sz="1140" b="0" i="0">
                <a:solidFill>
                  <a:srgbClr val="333639"/>
                </a:solidFill>
                <a:latin typeface="Fira Sans"/>
              </a:rPr>
              <a:t>Everything outside the agent that the agent can </a:t>
            </a:r>
            <a:r>
              <a:rPr sz="1140" b="1" i="0">
                <a:solidFill>
                  <a:srgbClr val="25282A"/>
                </a:solidFill>
                <a:latin typeface="Fira Sans"/>
              </a:rPr>
              <a:t>influence through its actions</a:t>
            </a:r>
            <a:r>
              <a:rPr sz="1140" b="0" i="0">
                <a:solidFill>
                  <a:srgbClr val="333639"/>
                </a:solidFill>
                <a:latin typeface="Fira Sans"/>
              </a:rPr>
              <a:t> but does </a:t>
            </a:r>
            <a:r>
              <a:rPr sz="1140" b="1" i="0">
                <a:solidFill>
                  <a:srgbClr val="25282A"/>
                </a:solidFill>
                <a:latin typeface="Fira Sans"/>
              </a:rPr>
              <a:t>not fully control</a:t>
            </a:r>
            <a:r>
              <a:rPr sz="1140" b="0" i="0">
                <a:solidFill>
                  <a:srgbClr val="333639"/>
                </a:solidFill>
                <a:latin typeface="Fira Sans"/>
              </a:rPr>
              <a:t>.</a:t>
            </a:r>
          </a:p>
        </p:txBody>
      </p:sp>
      <p:sp>
        <p:nvSpPr>
          <p:cNvPr id="20" name="Rectangle 19"/>
          <p:cNvSpPr/>
          <p:nvPr/>
        </p:nvSpPr>
        <p:spPr>
          <a:xfrm>
            <a:off x="7379208" y="2161156"/>
            <a:ext cx="3971513"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379208" y="2161156"/>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98664" y="2307460"/>
            <a:ext cx="3678905"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CONSEQUENCE THAT MAKES IT HARD</a:t>
            </a:r>
          </a:p>
        </p:txBody>
      </p:sp>
      <p:sp>
        <p:nvSpPr>
          <p:cNvPr id="23" name="TextBox 22"/>
          <p:cNvSpPr txBox="1"/>
          <p:nvPr/>
        </p:nvSpPr>
        <p:spPr>
          <a:xfrm>
            <a:off x="7598664" y="2545204"/>
            <a:ext cx="3587465"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An action may affect not only the immediate reward, but </a:t>
            </a:r>
            <a:r>
              <a:rPr sz="1092" b="1" i="0">
                <a:solidFill>
                  <a:srgbClr val="333639"/>
                </a:solidFill>
                <a:latin typeface="Fira Sans"/>
              </a:rPr>
              <a:t>what happens next</a:t>
            </a:r>
            <a:r>
              <a:rPr sz="1092" b="0" i="0">
                <a:solidFill>
                  <a:srgbClr val="333639"/>
                </a:solidFill>
                <a:latin typeface="Fira Sans"/>
              </a:rPr>
              <a:t> and, through that, the rewards available later. An action that looks beneficial now may be harmful in the long run; an action with no immediate benefit may lead somewhere much better.</a:t>
            </a:r>
          </a:p>
        </p:txBody>
      </p:sp>
      <p:sp>
        <p:nvSpPr>
          <p:cNvPr id="24" name="TextBox 23"/>
          <p:cNvSpPr txBox="1"/>
          <p:nvPr/>
        </p:nvSpPr>
        <p:spPr>
          <a:xfrm>
            <a:off x="7379208" y="3761356"/>
            <a:ext cx="39715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THREE THINGS THAT CROSS THE BOUNDARY</a:t>
            </a:r>
          </a:p>
        </p:txBody>
      </p:sp>
      <p:sp>
        <p:nvSpPr>
          <p:cNvPr id="25" name="TextBox 24"/>
          <p:cNvSpPr txBox="1"/>
          <p:nvPr/>
        </p:nvSpPr>
        <p:spPr>
          <a:xfrm>
            <a:off x="7379208" y="4017388"/>
            <a:ext cx="3971513" cy="679917"/>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574676"/>
                </a:solidFill>
                <a:latin typeface="Fira Sans"/>
              </a:rPr>
              <a:t>Observation</a:t>
            </a:r>
            <a:r>
              <a:rPr sz="1092" b="0" i="0">
                <a:solidFill>
                  <a:srgbClr val="8E9295"/>
                </a:solidFill>
                <a:latin typeface="Fira Sans"/>
              </a:rPr>
              <a:t>  —  </a:t>
            </a:r>
            <a:r>
              <a:rPr sz="1092" b="0" i="0">
                <a:solidFill>
                  <a:srgbClr val="333639"/>
                </a:solidFill>
                <a:latin typeface="Fira Sans"/>
              </a:rPr>
              <a:t>what the agent gets to see of the state</a:t>
            </a:r>
          </a:p>
          <a:p>
            <a:pPr marL="173736" indent="-173736" algn="l">
              <a:lnSpc>
                <a:spcPts val="1289"/>
              </a:lnSpc>
              <a:spcBef>
                <a:spcPts val="600"/>
              </a:spcBef>
              <a:spcAft>
                <a:spcPts val="0"/>
              </a:spcAft>
              <a:buClr>
                <a:srgbClr val="1971C2"/>
              </a:buClr>
              <a:buFont typeface="Fira Sans"/>
              <a:buChar char="–"/>
            </a:pPr>
            <a:r>
              <a:rPr sz="1092" b="1" i="0">
                <a:solidFill>
                  <a:srgbClr val="C8102E"/>
                </a:solidFill>
                <a:latin typeface="Fira Sans"/>
              </a:rPr>
              <a:t>Action</a:t>
            </a:r>
            <a:r>
              <a:rPr sz="1092" b="0" i="0">
                <a:solidFill>
                  <a:srgbClr val="8E9295"/>
                </a:solidFill>
                <a:latin typeface="Fira Sans"/>
              </a:rPr>
              <a:t>  —  </a:t>
            </a:r>
            <a:r>
              <a:rPr sz="1092" b="0" i="0">
                <a:solidFill>
                  <a:srgbClr val="333639"/>
                </a:solidFill>
                <a:latin typeface="Fira Sans"/>
              </a:rPr>
              <a:t>the agent’s only means of influence</a:t>
            </a:r>
          </a:p>
          <a:p>
            <a:pPr marL="173736" indent="-173736" algn="l">
              <a:lnSpc>
                <a:spcPts val="1289"/>
              </a:lnSpc>
              <a:spcBef>
                <a:spcPts val="600"/>
              </a:spcBef>
              <a:spcAft>
                <a:spcPts val="0"/>
              </a:spcAft>
              <a:buClr>
                <a:srgbClr val="1971C2"/>
              </a:buClr>
              <a:buFont typeface="Fira Sans"/>
              <a:buChar char="–"/>
            </a:pPr>
            <a:r>
              <a:rPr sz="1092" b="1" i="0">
                <a:solidFill>
                  <a:srgbClr val="2B7A3E"/>
                </a:solidFill>
                <a:latin typeface="Fira Sans"/>
              </a:rPr>
              <a:t>Reward</a:t>
            </a:r>
            <a:r>
              <a:rPr sz="1092" b="0" i="0">
                <a:solidFill>
                  <a:srgbClr val="8E9295"/>
                </a:solidFill>
                <a:latin typeface="Fira Sans"/>
              </a:rPr>
              <a:t>  —  </a:t>
            </a:r>
            <a:r>
              <a:rPr sz="1092" b="0" i="0">
                <a:solidFill>
                  <a:srgbClr val="333639"/>
                </a:solidFill>
                <a:latin typeface="Fira Sans"/>
              </a:rPr>
              <a:t>a single number saying how good that was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THE BOUNDARY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ends where the decision ends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Consider a robot learning to pick up objects and place them in a container. The agent is the robot’s decision-making system. Everything outside it is the environment — including the objects, the table, and the robot’s own arm and gripper.</a:t>
            </a:r>
          </a:p>
        </p:txBody>
      </p:sp>
      <p:pic>
        <p:nvPicPr>
          <p:cNvPr id="9" name="Picture 8" descr="boundary.png"/>
          <p:cNvPicPr>
            <a:picLocks noChangeAspect="1"/>
          </p:cNvPicPr>
          <p:nvPr/>
        </p:nvPicPr>
        <p:blipFill>
          <a:blip r:embed="rId2"/>
          <a:stretch>
            <a:fillRect/>
          </a:stretch>
        </p:blipFill>
        <p:spPr>
          <a:xfrm>
            <a:off x="2919767" y="1900605"/>
            <a:ext cx="6358561" cy="1920240"/>
          </a:xfrm>
          <a:prstGeom prst="rect">
            <a:avLst/>
          </a:prstGeom>
        </p:spPr>
      </p:pic>
      <p:sp>
        <p:nvSpPr>
          <p:cNvPr id="10" name="Rectangle 9"/>
          <p:cNvSpPr/>
          <p:nvPr/>
        </p:nvSpPr>
        <p:spPr>
          <a:xfrm>
            <a:off x="841248" y="407687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14621"/>
            <a:ext cx="41148" cy="104241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8992" y="4332909"/>
            <a:ext cx="4791456" cy="94379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the arm is not part of the agent</a:t>
            </a:r>
          </a:p>
          <a:p>
            <a:pPr marL="0" indent="0" algn="l">
              <a:lnSpc>
                <a:spcPts val="1310"/>
              </a:lnSpc>
              <a:spcBef>
                <a:spcPts val="500"/>
              </a:spcBef>
              <a:spcAft>
                <a:spcPts val="0"/>
              </a:spcAft>
              <a:buNone/>
            </a:pPr>
            <a:r>
              <a:rPr sz="1092" b="0" i="0">
                <a:solidFill>
                  <a:srgbClr val="626669"/>
                </a:solidFill>
                <a:latin typeface="Fira Sans"/>
              </a:rPr>
              <a:t>The agent commands the arm, but the movement is determined by the physical system and is affected by motor inaccuracy, sensor noise and friction. The agent chooses the action; the environment determines its consequences.</a:t>
            </a:r>
          </a:p>
        </p:txBody>
      </p:sp>
      <p:sp>
        <p:nvSpPr>
          <p:cNvPr id="13" name="Rectangle 12"/>
          <p:cNvSpPr/>
          <p:nvPr/>
        </p:nvSpPr>
        <p:spPr>
          <a:xfrm>
            <a:off x="6327648" y="4314621"/>
            <a:ext cx="41148" cy="104241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65392" y="4332909"/>
            <a:ext cx="4791456" cy="77737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the boundary is useful</a:t>
            </a:r>
          </a:p>
          <a:p>
            <a:pPr marL="0" indent="0" algn="l">
              <a:lnSpc>
                <a:spcPts val="1310"/>
              </a:lnSpc>
              <a:spcBef>
                <a:spcPts val="500"/>
              </a:spcBef>
              <a:spcAft>
                <a:spcPts val="0"/>
              </a:spcAft>
              <a:buNone/>
            </a:pPr>
            <a:r>
              <a:rPr sz="1092" b="0" i="0">
                <a:solidFill>
                  <a:srgbClr val="626669"/>
                </a:solidFill>
                <a:latin typeface="Fira Sans"/>
              </a:rPr>
              <a:t>It makes the problem well posed. Whatever the agent cannot control with certainty is, by definition, something it must learn to cope with, so the uncertainty lives in one place.</a:t>
            </a:r>
          </a:p>
        </p:txBody>
      </p:sp>
      <p:sp>
        <p:nvSpPr>
          <p:cNvPr id="15" name="Rectangle 14"/>
          <p:cNvSpPr/>
          <p:nvPr/>
        </p:nvSpPr>
        <p:spPr>
          <a:xfrm>
            <a:off x="841248" y="5521629"/>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521629"/>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667933"/>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useful rule of thumb: </a:t>
            </a:r>
            <a:r>
              <a:rPr sz="1140" b="1" i="0">
                <a:solidFill>
                  <a:srgbClr val="333639"/>
                </a:solidFill>
                <a:latin typeface="Fira Sans"/>
              </a:rPr>
              <a:t>the agent’s role ends when it chooses an action</a:t>
            </a:r>
            <a:r>
              <a:rPr sz="1140" b="0" i="0">
                <a:solidFill>
                  <a:srgbClr val="333639"/>
                </a:solidFill>
                <a:latin typeface="Fira Sans"/>
              </a:rPr>
              <a:t>. Everything that determines what actually happens as a consequence belongs to the environment — which is why a robot’s own body is usually part of its environment.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STATE AND OBSERVATION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What the environment is, and what the agent gets to see of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environment is described by a set of variables relevant to the problem — for the robot arm, joint positions and velocities, object poses, whether the gripper holds something. Together they are the state; the set of all of them is the state space.</a:t>
            </a:r>
          </a:p>
        </p:txBody>
      </p:sp>
      <p:pic>
        <p:nvPicPr>
          <p:cNvPr id="9" name="Picture 8" descr="state_obs.png"/>
          <p:cNvPicPr>
            <a:picLocks noChangeAspect="1"/>
          </p:cNvPicPr>
          <p:nvPr/>
        </p:nvPicPr>
        <p:blipFill>
          <a:blip r:embed="rId2"/>
          <a:stretch>
            <a:fillRect/>
          </a:stretch>
        </p:blipFill>
        <p:spPr>
          <a:xfrm>
            <a:off x="1273260" y="1918893"/>
            <a:ext cx="9651575" cy="1874519"/>
          </a:xfrm>
          <a:prstGeom prst="rect">
            <a:avLst/>
          </a:prstGeom>
        </p:spPr>
      </p:pic>
      <p:sp>
        <p:nvSpPr>
          <p:cNvPr id="10" name="Rectangle 9"/>
          <p:cNvSpPr/>
          <p:nvPr/>
        </p:nvSpPr>
        <p:spPr>
          <a:xfrm>
            <a:off x="841248" y="40677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0547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451781"/>
            <a:ext cx="5029200" cy="809254"/>
          </a:xfrm>
          <a:prstGeom prst="rect">
            <a:avLst/>
          </a:prstGeom>
          <a:noFill/>
        </p:spPr>
        <p:txBody>
          <a:bodyPr wrap="square" lIns="0" tIns="0" rIns="0" bIns="0" anchor="t">
            <a:noAutofit/>
          </a:bodyPr>
          <a:lstStyle/>
          <a:p>
            <a:pPr marL="0" indent="0" algn="l">
              <a:lnSpc>
                <a:spcPts val="1553"/>
              </a:lnSpc>
              <a:spcBef>
                <a:spcPts val="0"/>
              </a:spcBef>
              <a:spcAft>
                <a:spcPts val="0"/>
              </a:spcAft>
              <a:buNone/>
            </a:pPr>
            <a:r>
              <a:rPr sz="1316" b="1" i="0">
                <a:solidFill>
                  <a:srgbClr val="C8102E"/>
                </a:solidFill>
                <a:latin typeface="Fira Sans"/>
              </a:rPr>
              <a:t>State</a:t>
            </a:r>
            <a:r>
              <a:rPr sz="1316" b="0" i="0">
                <a:solidFill>
                  <a:srgbClr val="333639"/>
                </a:solidFill>
                <a:latin typeface="Fira Sans"/>
              </a:rPr>
              <a:t>   </a:t>
            </a:r>
            <a:r>
              <a:rPr sz="1092" b="0" i="1">
                <a:solidFill>
                  <a:srgbClr val="626669"/>
                </a:solidFill>
                <a:latin typeface="Fira Sans"/>
              </a:rPr>
              <a:t>describes the environment</a:t>
            </a:r>
          </a:p>
          <a:p>
            <a:pPr marL="0" indent="0" algn="l">
              <a:lnSpc>
                <a:spcPts val="1310"/>
              </a:lnSpc>
              <a:spcBef>
                <a:spcPts val="600"/>
              </a:spcBef>
              <a:spcAft>
                <a:spcPts val="0"/>
              </a:spcAft>
              <a:buNone/>
            </a:pPr>
            <a:r>
              <a:rPr sz="1092" b="0" i="0">
                <a:solidFill>
                  <a:srgbClr val="333639"/>
                </a:solidFill>
                <a:latin typeface="Fira Sans"/>
              </a:rPr>
              <a:t>The complete, exact description of the situation — the true three-dimensional position and orientation of every object. The objects have these positions whether or not the agent knows them.</a:t>
            </a:r>
          </a:p>
        </p:txBody>
      </p:sp>
      <p:sp>
        <p:nvSpPr>
          <p:cNvPr id="13" name="Rectangle 12"/>
          <p:cNvSpPr/>
          <p:nvPr/>
        </p:nvSpPr>
        <p:spPr>
          <a:xfrm>
            <a:off x="6327648" y="4305477"/>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451781"/>
            <a:ext cx="5029200" cy="642833"/>
          </a:xfrm>
          <a:prstGeom prst="rect">
            <a:avLst/>
          </a:prstGeom>
          <a:noFill/>
        </p:spPr>
        <p:txBody>
          <a:bodyPr wrap="square" lIns="0" tIns="0" rIns="0" bIns="0" anchor="t">
            <a:noAutofit/>
          </a:bodyPr>
          <a:lstStyle/>
          <a:p>
            <a:pPr marL="0" indent="0" algn="l">
              <a:lnSpc>
                <a:spcPts val="1553"/>
              </a:lnSpc>
              <a:spcBef>
                <a:spcPts val="0"/>
              </a:spcBef>
              <a:spcAft>
                <a:spcPts val="0"/>
              </a:spcAft>
              <a:buNone/>
            </a:pPr>
            <a:r>
              <a:rPr sz="1316" b="1" i="0">
                <a:solidFill>
                  <a:srgbClr val="2B7A3E"/>
                </a:solidFill>
                <a:latin typeface="Fira Sans"/>
              </a:rPr>
              <a:t>Observation</a:t>
            </a:r>
            <a:r>
              <a:rPr sz="1316" b="0" i="0">
                <a:solidFill>
                  <a:srgbClr val="333639"/>
                </a:solidFill>
                <a:latin typeface="Fira Sans"/>
              </a:rPr>
              <a:t>   </a:t>
            </a:r>
            <a:r>
              <a:rPr sz="1092" b="0" i="1">
                <a:solidFill>
                  <a:srgbClr val="626669"/>
                </a:solidFill>
                <a:latin typeface="Fira Sans"/>
              </a:rPr>
              <a:t>describes what the agent perceives</a:t>
            </a:r>
          </a:p>
          <a:p>
            <a:pPr marL="0" indent="0" algn="l">
              <a:lnSpc>
                <a:spcPts val="1310"/>
              </a:lnSpc>
              <a:spcBef>
                <a:spcPts val="600"/>
              </a:spcBef>
              <a:spcAft>
                <a:spcPts val="0"/>
              </a:spcAft>
              <a:buNone/>
            </a:pPr>
            <a:r>
              <a:rPr sz="1092" b="0" i="0">
                <a:solidFill>
                  <a:srgbClr val="333639"/>
                </a:solidFill>
                <a:latin typeface="Fira Sans"/>
              </a:rPr>
              <a:t>The information actually available to the agent: an image from a camera, a set of sensor readings. It may be noisy, incomplete, or both.</a:t>
            </a:r>
          </a:p>
        </p:txBody>
      </p:sp>
      <p:sp>
        <p:nvSpPr>
          <p:cNvPr id="15" name="Rectangle 14"/>
          <p:cNvSpPr/>
          <p:nvPr/>
        </p:nvSpPr>
        <p:spPr>
          <a:xfrm>
            <a:off x="841248" y="5350647"/>
            <a:ext cx="10515600" cy="81381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350647"/>
            <a:ext cx="41148" cy="81381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496951"/>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When the agent has access to the complete state, the two coincide, and the terms are then used interchangeably in the literature. </a:t>
            </a:r>
            <a:r>
              <a:rPr sz="1140" b="1" i="0">
                <a:solidFill>
                  <a:srgbClr val="333639"/>
                </a:solidFill>
                <a:latin typeface="Fira Sans"/>
              </a:rPr>
              <a:t>Conceptually they are not the same</a:t>
            </a:r>
            <a:r>
              <a:rPr sz="1140" b="0" i="0">
                <a:solidFill>
                  <a:srgbClr val="333639"/>
                </a:solidFill>
                <a:latin typeface="Fira Sans"/>
              </a:rPr>
              <a:t> — and Chapter 01 already showed what changes when they differ: the agent needs an internal state to represent what it cannot currently see.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1.5  ONE TIME STEP, MOVE BY MOVE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Five things happen between one state and the next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7</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same picture, built up one element at a time. Each panel adds exactly one arrow to the previous one; together they are a single time step of the interaction.</a:t>
            </a:r>
          </a:p>
        </p:txBody>
      </p:sp>
      <p:sp>
        <p:nvSpPr>
          <p:cNvPr id="9" name="Rectangle 8"/>
          <p:cNvSpPr/>
          <p:nvPr/>
        </p:nvSpPr>
        <p:spPr>
          <a:xfrm>
            <a:off x="841248" y="1904329"/>
            <a:ext cx="332232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574676"/>
                </a:solidFill>
                <a:latin typeface="Fira Sans"/>
              </a:rPr>
              <a:t>STEP 1   </a:t>
            </a:r>
            <a:r>
              <a:rPr sz="1188" b="1" i="0">
                <a:solidFill>
                  <a:srgbClr val="25282A"/>
                </a:solidFill>
                <a:latin typeface="Fira Sans"/>
              </a:rPr>
              <a:t>Observe</a:t>
            </a:r>
          </a:p>
        </p:txBody>
      </p:sp>
      <p:pic>
        <p:nvPicPr>
          <p:cNvPr id="11" name="Picture 10" descr="step_observe.png"/>
          <p:cNvPicPr>
            <a:picLocks noChangeAspect="1"/>
          </p:cNvPicPr>
          <p:nvPr/>
        </p:nvPicPr>
        <p:blipFill>
          <a:blip r:embed="rId2"/>
          <a:stretch>
            <a:fillRect/>
          </a:stretch>
        </p:blipFill>
        <p:spPr>
          <a:xfrm>
            <a:off x="841248" y="2428649"/>
            <a:ext cx="3322320" cy="1319656"/>
          </a:xfrm>
          <a:prstGeom prst="rect">
            <a:avLst/>
          </a:prstGeom>
        </p:spPr>
      </p:pic>
      <p:sp>
        <p:nvSpPr>
          <p:cNvPr id="12" name="TextBox 11"/>
          <p:cNvSpPr txBox="1"/>
          <p:nvPr/>
        </p:nvSpPr>
        <p:spPr>
          <a:xfrm>
            <a:off x="841248" y="3925153"/>
            <a:ext cx="332232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agent receives an observation: a camera image, and readings of the arm’s position and velocity.</a:t>
            </a:r>
          </a:p>
        </p:txBody>
      </p:sp>
      <p:sp>
        <p:nvSpPr>
          <p:cNvPr id="13" name="Rectangle 12"/>
          <p:cNvSpPr/>
          <p:nvPr/>
        </p:nvSpPr>
        <p:spPr>
          <a:xfrm>
            <a:off x="4437888" y="1904329"/>
            <a:ext cx="332232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3788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C8102E"/>
                </a:solidFill>
                <a:latin typeface="Fira Sans"/>
              </a:rPr>
              <a:t>STEP 2   </a:t>
            </a:r>
            <a:r>
              <a:rPr sz="1188" b="1" i="0">
                <a:solidFill>
                  <a:srgbClr val="25282A"/>
                </a:solidFill>
                <a:latin typeface="Fira Sans"/>
              </a:rPr>
              <a:t>Act</a:t>
            </a:r>
          </a:p>
        </p:txBody>
      </p:sp>
      <p:pic>
        <p:nvPicPr>
          <p:cNvPr id="15" name="Picture 14" descr="step_action.png"/>
          <p:cNvPicPr>
            <a:picLocks noChangeAspect="1"/>
          </p:cNvPicPr>
          <p:nvPr/>
        </p:nvPicPr>
        <p:blipFill>
          <a:blip r:embed="rId3"/>
          <a:stretch>
            <a:fillRect/>
          </a:stretch>
        </p:blipFill>
        <p:spPr>
          <a:xfrm>
            <a:off x="4437888" y="2418906"/>
            <a:ext cx="3322320" cy="1339141"/>
          </a:xfrm>
          <a:prstGeom prst="rect">
            <a:avLst/>
          </a:prstGeom>
        </p:spPr>
      </p:pic>
      <p:sp>
        <p:nvSpPr>
          <p:cNvPr id="16" name="TextBox 15"/>
          <p:cNvSpPr txBox="1"/>
          <p:nvPr/>
        </p:nvSpPr>
        <p:spPr>
          <a:xfrm>
            <a:off x="4437888" y="3925153"/>
            <a:ext cx="332232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Each state offers a set of available actions — move left, move right, move down, close the gripper.</a:t>
            </a:r>
          </a:p>
        </p:txBody>
      </p:sp>
      <p:sp>
        <p:nvSpPr>
          <p:cNvPr id="17" name="Rectangle 16"/>
          <p:cNvSpPr/>
          <p:nvPr/>
        </p:nvSpPr>
        <p:spPr>
          <a:xfrm>
            <a:off x="8034528" y="1904329"/>
            <a:ext cx="332232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3452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8A5100"/>
                </a:solidFill>
                <a:latin typeface="Fira Sans"/>
              </a:rPr>
              <a:t>STEP 3   </a:t>
            </a:r>
            <a:r>
              <a:rPr sz="1188" b="1" i="0">
                <a:solidFill>
                  <a:srgbClr val="25282A"/>
                </a:solidFill>
                <a:latin typeface="Fira Sans"/>
              </a:rPr>
              <a:t>Transition</a:t>
            </a:r>
          </a:p>
        </p:txBody>
      </p:sp>
      <p:pic>
        <p:nvPicPr>
          <p:cNvPr id="19" name="Picture 18" descr="step_transition.png"/>
          <p:cNvPicPr>
            <a:picLocks noChangeAspect="1"/>
          </p:cNvPicPr>
          <p:nvPr/>
        </p:nvPicPr>
        <p:blipFill>
          <a:blip r:embed="rId4"/>
          <a:stretch>
            <a:fillRect/>
          </a:stretch>
        </p:blipFill>
        <p:spPr>
          <a:xfrm>
            <a:off x="8034528" y="2626976"/>
            <a:ext cx="3322320" cy="923000"/>
          </a:xfrm>
          <a:prstGeom prst="rect">
            <a:avLst/>
          </a:prstGeom>
        </p:spPr>
      </p:pic>
      <p:sp>
        <p:nvSpPr>
          <p:cNvPr id="20" name="TextBox 19"/>
          <p:cNvSpPr txBox="1"/>
          <p:nvPr/>
        </p:nvSpPr>
        <p:spPr>
          <a:xfrm>
            <a:off x="8034528" y="3925153"/>
            <a:ext cx="3322320"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transition function determines the next state. It may be deterministic, or stochastic because of motor noise.</a:t>
            </a:r>
          </a:p>
        </p:txBody>
      </p:sp>
      <p:sp>
        <p:nvSpPr>
          <p:cNvPr id="21" name="Rectangle 20"/>
          <p:cNvSpPr/>
          <p:nvPr/>
        </p:nvSpPr>
        <p:spPr>
          <a:xfrm>
            <a:off x="841248" y="470586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78992" y="4925316"/>
            <a:ext cx="2326050" cy="1061128"/>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2B7A3E"/>
                </a:solidFill>
                <a:latin typeface="Fira Sans"/>
              </a:rPr>
              <a:t>STEP 4   </a:t>
            </a:r>
            <a:r>
              <a:rPr sz="1188" b="1" i="0">
                <a:solidFill>
                  <a:srgbClr val="25282A"/>
                </a:solidFill>
                <a:latin typeface="Fira Sans"/>
              </a:rPr>
              <a:t>Reward</a:t>
            </a:r>
          </a:p>
          <a:p>
            <a:pPr marL="0" indent="0" algn="l">
              <a:lnSpc>
                <a:spcPts val="1233"/>
              </a:lnSpc>
              <a:spcBef>
                <a:spcPts val="500"/>
              </a:spcBef>
              <a:spcAft>
                <a:spcPts val="0"/>
              </a:spcAft>
              <a:buNone/>
            </a:pPr>
            <a:r>
              <a:rPr sz="1045" b="0" i="0">
                <a:solidFill>
                  <a:srgbClr val="626669"/>
                </a:solidFill>
                <a:latin typeface="Fira Sans"/>
              </a:rPr>
              <a:t>The environment returns a numerical reward — positive for grasping or placing an object, zero otherwise. The mechanism producing it is the reward function.</a:t>
            </a:r>
          </a:p>
        </p:txBody>
      </p:sp>
      <p:sp>
        <p:nvSpPr>
          <p:cNvPr id="23" name="Rectangle 22"/>
          <p:cNvSpPr/>
          <p:nvPr/>
        </p:nvSpPr>
        <p:spPr>
          <a:xfrm>
            <a:off x="841248" y="4925316"/>
            <a:ext cx="41148" cy="102455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step_reward.png"/>
          <p:cNvPicPr>
            <a:picLocks noChangeAspect="1"/>
          </p:cNvPicPr>
          <p:nvPr/>
        </p:nvPicPr>
        <p:blipFill>
          <a:blip r:embed="rId5"/>
          <a:stretch>
            <a:fillRect/>
          </a:stretch>
        </p:blipFill>
        <p:spPr>
          <a:xfrm>
            <a:off x="3417500" y="4870452"/>
            <a:ext cx="2432443" cy="987552"/>
          </a:xfrm>
          <a:prstGeom prst="rect">
            <a:avLst/>
          </a:prstGeom>
        </p:spPr>
      </p:pic>
      <p:sp>
        <p:nvSpPr>
          <p:cNvPr id="25" name="TextBox 24"/>
          <p:cNvSpPr txBox="1"/>
          <p:nvPr/>
        </p:nvSpPr>
        <p:spPr>
          <a:xfrm>
            <a:off x="6537960" y="4925316"/>
            <a:ext cx="2326050" cy="90452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574676"/>
                </a:solidFill>
                <a:latin typeface="Fira Sans"/>
              </a:rPr>
              <a:t>STEP 5   </a:t>
            </a:r>
            <a:r>
              <a:rPr sz="1188" b="1" i="0">
                <a:solidFill>
                  <a:srgbClr val="25282A"/>
                </a:solidFill>
                <a:latin typeface="Fira Sans"/>
              </a:rPr>
              <a:t>Improve</a:t>
            </a:r>
          </a:p>
          <a:p>
            <a:pPr marL="0" indent="0" algn="l">
              <a:lnSpc>
                <a:spcPts val="1233"/>
              </a:lnSpc>
              <a:spcBef>
                <a:spcPts val="500"/>
              </a:spcBef>
              <a:spcAft>
                <a:spcPts val="0"/>
              </a:spcAft>
              <a:buNone/>
            </a:pPr>
            <a:r>
              <a:rPr sz="1045" b="0" i="0">
                <a:solidFill>
                  <a:srgbClr val="626669"/>
                </a:solidFill>
                <a:latin typeface="Fira Sans"/>
              </a:rPr>
              <a:t>The agent uses the reward and what it observed to evaluate the decision and adjust its future behaviour. Then the cycle repeats.</a:t>
            </a:r>
          </a:p>
        </p:txBody>
      </p:sp>
      <p:sp>
        <p:nvSpPr>
          <p:cNvPr id="26" name="Rectangle 25"/>
          <p:cNvSpPr/>
          <p:nvPr/>
        </p:nvSpPr>
        <p:spPr>
          <a:xfrm>
            <a:off x="6300216" y="4925316"/>
            <a:ext cx="41148" cy="86794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step_improve.png"/>
          <p:cNvPicPr>
            <a:picLocks noChangeAspect="1"/>
          </p:cNvPicPr>
          <p:nvPr/>
        </p:nvPicPr>
        <p:blipFill>
          <a:blip r:embed="rId6"/>
          <a:stretch>
            <a:fillRect/>
          </a:stretch>
        </p:blipFill>
        <p:spPr>
          <a:xfrm>
            <a:off x="8828532" y="4870452"/>
            <a:ext cx="2528316" cy="8830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1.6  EXPERIENCE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unit the agent actually learns from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Each interaction cycle is a </a:t>
            </a:r>
            <a:r>
              <a:rPr sz="1188" b="1" i="0">
                <a:solidFill>
                  <a:srgbClr val="25282A"/>
                </a:solidFill>
                <a:latin typeface="Fira Sans"/>
              </a:rPr>
              <a:t>time step</a:t>
            </a:r>
            <a:r>
              <a:rPr sz="1188" b="0" i="0">
                <a:solidFill>
                  <a:srgbClr val="333639"/>
                </a:solidFill>
                <a:latin typeface="Fira Sans"/>
              </a:rPr>
              <a:t>. The resulting tuple — current state, action, reward, next state — is one </a:t>
            </a:r>
            <a:r>
              <a:rPr sz="1188" b="1" i="0">
                <a:solidFill>
                  <a:srgbClr val="25282A"/>
                </a:solidFill>
                <a:latin typeface="Fira Sans"/>
              </a:rPr>
              <a:t>experience</a:t>
            </a:r>
            <a:r>
              <a:rPr sz="1188" b="0" i="0">
                <a:solidFill>
                  <a:srgbClr val="333639"/>
                </a:solidFill>
                <a:latin typeface="Fira Sans"/>
              </a:rPr>
              <a:t>, and it is the only raw material learning ever has.</a:t>
            </a:r>
          </a:p>
        </p:txBody>
      </p:sp>
      <p:sp>
        <p:nvSpPr>
          <p:cNvPr id="10" name="TextBox 9"/>
          <p:cNvSpPr txBox="1"/>
          <p:nvPr/>
        </p:nvSpPr>
        <p:spPr>
          <a:xfrm>
            <a:off x="841248" y="5757293"/>
            <a:ext cx="67208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Three time steps. The critic column is the reward channel; the right-hand column is what the agent stores.</a:t>
            </a:r>
          </a:p>
        </p:txBody>
      </p:sp>
      <p:sp>
        <p:nvSpPr>
          <p:cNvPr id="11" name="TextBox 10"/>
          <p:cNvSpPr txBox="1"/>
          <p:nvPr/>
        </p:nvSpPr>
        <p:spPr>
          <a:xfrm>
            <a:off x="7946136" y="1359981"/>
            <a:ext cx="3404585" cy="42313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dirty="0">
                <a:solidFill>
                  <a:srgbClr val="574676"/>
                </a:solidFill>
                <a:latin typeface="Fira Sans Medium"/>
              </a:rPr>
              <a:t>ONE EXPERIENCE</a:t>
            </a:r>
          </a:p>
          <a:p>
            <a:pPr marL="0" indent="0" algn="l">
              <a:lnSpc>
                <a:spcPts val="1345"/>
              </a:lnSpc>
              <a:spcBef>
                <a:spcPts val="0"/>
              </a:spcBef>
              <a:spcAft>
                <a:spcPts val="0"/>
              </a:spcAft>
              <a:buNone/>
            </a:pPr>
            <a:r>
              <a:rPr sz="1140" b="0" i="0" dirty="0">
                <a:solidFill>
                  <a:srgbClr val="25282A"/>
                </a:solidFill>
                <a:latin typeface="Consolas"/>
              </a:rPr>
              <a:t>( s</a:t>
            </a:r>
            <a:r>
              <a:rPr sz="882" b="0" i="0" dirty="0">
                <a:solidFill>
                  <a:srgbClr val="25282A"/>
                </a:solidFill>
                <a:latin typeface="Consolas"/>
              </a:rPr>
              <a:t>t</a:t>
            </a:r>
            <a:r>
              <a:rPr sz="1140" b="0" i="0" dirty="0">
                <a:solidFill>
                  <a:srgbClr val="25282A"/>
                </a:solidFill>
                <a:latin typeface="Consolas"/>
              </a:rPr>
              <a:t> ,  a</a:t>
            </a:r>
            <a:r>
              <a:rPr sz="882" b="0" i="0" dirty="0">
                <a:solidFill>
                  <a:srgbClr val="25282A"/>
                </a:solidFill>
                <a:latin typeface="Consolas"/>
              </a:rPr>
              <a:t>t</a:t>
            </a:r>
            <a:r>
              <a:rPr sz="1140" b="0" i="0" dirty="0">
                <a:solidFill>
                  <a:srgbClr val="25282A"/>
                </a:solidFill>
                <a:latin typeface="Consolas"/>
              </a:rPr>
              <a:t> ,  r</a:t>
            </a:r>
            <a:r>
              <a:rPr sz="882" b="0" i="0" dirty="0">
                <a:solidFill>
                  <a:srgbClr val="25282A"/>
                </a:solidFill>
                <a:latin typeface="Consolas"/>
              </a:rPr>
              <a:t>t+1</a:t>
            </a:r>
            <a:r>
              <a:rPr sz="1140" b="0" i="0" dirty="0">
                <a:solidFill>
                  <a:srgbClr val="25282A"/>
                </a:solidFill>
                <a:latin typeface="Consolas"/>
              </a:rPr>
              <a:t> ,  s</a:t>
            </a:r>
            <a:r>
              <a:rPr sz="882" b="0" i="0" dirty="0">
                <a:solidFill>
                  <a:srgbClr val="25282A"/>
                </a:solidFill>
                <a:latin typeface="Consolas"/>
              </a:rPr>
              <a:t>t+1</a:t>
            </a:r>
            <a:r>
              <a:rPr sz="1140" b="0" i="0" dirty="0">
                <a:solidFill>
                  <a:srgbClr val="25282A"/>
                </a:solidFill>
                <a:latin typeface="Consolas"/>
              </a:rPr>
              <a:t> )</a:t>
            </a:r>
          </a:p>
        </p:txBody>
      </p:sp>
      <p:sp>
        <p:nvSpPr>
          <p:cNvPr id="12" name="TextBox 11"/>
          <p:cNvSpPr txBox="1"/>
          <p:nvPr/>
        </p:nvSpPr>
        <p:spPr>
          <a:xfrm>
            <a:off x="7946136" y="1995904"/>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TWO KINDS OF TASK</a:t>
            </a:r>
          </a:p>
        </p:txBody>
      </p:sp>
      <p:sp>
        <p:nvSpPr>
          <p:cNvPr id="13" name="TextBox 12"/>
          <p:cNvSpPr txBox="1"/>
          <p:nvPr/>
        </p:nvSpPr>
        <p:spPr>
          <a:xfrm>
            <a:off x="8183879" y="2251936"/>
            <a:ext cx="3166841" cy="90452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Episodic tasks</a:t>
            </a:r>
          </a:p>
          <a:p>
            <a:pPr marL="0" indent="0" algn="l">
              <a:lnSpc>
                <a:spcPts val="1233"/>
              </a:lnSpc>
              <a:spcBef>
                <a:spcPts val="500"/>
              </a:spcBef>
              <a:spcAft>
                <a:spcPts val="0"/>
              </a:spcAft>
              <a:buNone/>
            </a:pPr>
            <a:r>
              <a:rPr sz="1045" b="0" i="0">
                <a:solidFill>
                  <a:srgbClr val="626669"/>
                </a:solidFill>
                <a:latin typeface="Fira Sans"/>
              </a:rPr>
              <a:t>The interaction has a natural end — a game played until a win or a loss. The complete sequence from start to termination is an episode, and the agent typically runs many of them.</a:t>
            </a:r>
          </a:p>
        </p:txBody>
      </p:sp>
      <p:sp>
        <p:nvSpPr>
          <p:cNvPr id="14" name="Rectangle 13"/>
          <p:cNvSpPr/>
          <p:nvPr/>
        </p:nvSpPr>
        <p:spPr>
          <a:xfrm>
            <a:off x="7946136" y="2251936"/>
            <a:ext cx="41148" cy="867948"/>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183879" y="3394204"/>
            <a:ext cx="3166841" cy="747920"/>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Continuing tasks</a:t>
            </a:r>
          </a:p>
          <a:p>
            <a:pPr marL="0" indent="0" algn="l">
              <a:lnSpc>
                <a:spcPts val="1233"/>
              </a:lnSpc>
              <a:spcBef>
                <a:spcPts val="500"/>
              </a:spcBef>
              <a:spcAft>
                <a:spcPts val="0"/>
              </a:spcAft>
              <a:buNone/>
            </a:pPr>
            <a:r>
              <a:rPr sz="1045" b="0" i="0">
                <a:solidFill>
                  <a:srgbClr val="626669"/>
                </a:solidFill>
                <a:latin typeface="Fira Sans"/>
              </a:rPr>
              <a:t>There is no natural endpoint: a robot maintaining forward motion can simply keep going. This is the case that will force the discount factor in Part IV.</a:t>
            </a:r>
          </a:p>
        </p:txBody>
      </p:sp>
      <p:sp>
        <p:nvSpPr>
          <p:cNvPr id="16" name="Rectangle 15"/>
          <p:cNvSpPr/>
          <p:nvPr/>
        </p:nvSpPr>
        <p:spPr>
          <a:xfrm>
            <a:off x="7946136" y="3394204"/>
            <a:ext cx="41148" cy="71134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946136" y="4398157"/>
            <a:ext cx="3404585" cy="79187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946136" y="4398157"/>
            <a:ext cx="41148" cy="79187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65592" y="4544461"/>
            <a:ext cx="3020537"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Learning is the three-step cycle: interact, evaluate the consequences with the reward, use the feedback to decide better next time.</a:t>
            </a:r>
          </a:p>
        </p:txBody>
      </p:sp>
      <p:pic>
        <p:nvPicPr>
          <p:cNvPr id="20" name="Immagine 19">
            <a:extLst>
              <a:ext uri="{FF2B5EF4-FFF2-40B4-BE49-F238E27FC236}">
                <a16:creationId xmlns:a16="http://schemas.microsoft.com/office/drawing/2014/main" id="{EEE893AD-14DF-498C-2FF3-879478813887}"/>
              </a:ext>
            </a:extLst>
          </p:cNvPr>
          <p:cNvPicPr>
            <a:picLocks noChangeAspect="1"/>
          </p:cNvPicPr>
          <p:nvPr/>
        </p:nvPicPr>
        <p:blipFill>
          <a:blip r:embed="rId2"/>
          <a:stretch>
            <a:fillRect/>
          </a:stretch>
        </p:blipFill>
        <p:spPr>
          <a:xfrm>
            <a:off x="415995" y="2184605"/>
            <a:ext cx="7184254" cy="31254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Why the problem is hard</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Three properties of the feedback the agent receives, each of which rules out a method that would otherwise work.</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can the agent not learn from a single reward, however large?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Delayed and sparse rewards</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credit assignment problem</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Exploration versus exploitation</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Sampled and weak feedback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THREE PROPERTIES OF THE FEEDBACK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learns from interaction alone, and the feedback is poor in three ways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483660"/>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Nothing tells the agent which action was correct. What it gets instead is a stream of rewards that arrive late, say only how good the outcome was, and cover only what was actually tried. Each of these rules out a method that would otherwise work.</a:t>
            </a:r>
          </a:p>
        </p:txBody>
      </p:sp>
      <p:sp>
        <p:nvSpPr>
          <p:cNvPr id="9" name="Rectangle 8"/>
          <p:cNvSpPr/>
          <p:nvPr/>
        </p:nvSpPr>
        <p:spPr>
          <a:xfrm>
            <a:off x="841248" y="2240280"/>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240280"/>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423160"/>
            <a:ext cx="2919984" cy="100143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Medium"/>
              </a:rPr>
              <a:t>SEQUENTIAL</a:t>
            </a:r>
          </a:p>
          <a:p>
            <a:pPr marL="0" indent="0" algn="l">
              <a:lnSpc>
                <a:spcPts val="1383"/>
              </a:lnSpc>
              <a:spcBef>
                <a:spcPts val="600"/>
              </a:spcBef>
              <a:spcAft>
                <a:spcPts val="0"/>
              </a:spcAft>
              <a:buNone/>
            </a:pPr>
            <a:r>
              <a:rPr sz="1235" b="1" i="0">
                <a:solidFill>
                  <a:srgbClr val="25282A"/>
                </a:solidFill>
                <a:latin typeface="Fira Sans"/>
              </a:rPr>
              <a:t>Delayed and sparse</a:t>
            </a:r>
          </a:p>
          <a:p>
            <a:pPr marL="0" indent="0" algn="l">
              <a:lnSpc>
                <a:spcPts val="1310"/>
              </a:lnSpc>
              <a:spcBef>
                <a:spcPts val="700"/>
              </a:spcBef>
              <a:spcAft>
                <a:spcPts val="0"/>
              </a:spcAft>
              <a:buNone/>
            </a:pPr>
            <a:r>
              <a:rPr sz="1092" b="0" i="0">
                <a:solidFill>
                  <a:srgbClr val="333639"/>
                </a:solidFill>
                <a:latin typeface="Fira Sans"/>
              </a:rPr>
              <a:t>A reward may arrive many steps after the action that caused it, and most steps produce no reward at all.</a:t>
            </a:r>
          </a:p>
        </p:txBody>
      </p:sp>
      <p:sp>
        <p:nvSpPr>
          <p:cNvPr id="12" name="Rectangle 11"/>
          <p:cNvSpPr/>
          <p:nvPr/>
        </p:nvSpPr>
        <p:spPr>
          <a:xfrm>
            <a:off x="1024128" y="4123944"/>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24128" y="4251960"/>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C8102E"/>
                </a:solidFill>
                <a:latin typeface="Fira Sans"/>
              </a:rPr>
              <a:t>Rules out: treating each step as an independent supervised example.</a:t>
            </a:r>
          </a:p>
        </p:txBody>
      </p:sp>
      <p:sp>
        <p:nvSpPr>
          <p:cNvPr id="14" name="Rectangle 13"/>
          <p:cNvSpPr/>
          <p:nvPr/>
        </p:nvSpPr>
        <p:spPr>
          <a:xfrm>
            <a:off x="4456176" y="2240280"/>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56176" y="2240280"/>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39056" y="2423160"/>
            <a:ext cx="2919984" cy="116785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EVALUATIVE</a:t>
            </a:r>
          </a:p>
          <a:p>
            <a:pPr marL="0" indent="0" algn="l">
              <a:lnSpc>
                <a:spcPts val="1383"/>
              </a:lnSpc>
              <a:spcBef>
                <a:spcPts val="600"/>
              </a:spcBef>
              <a:spcAft>
                <a:spcPts val="0"/>
              </a:spcAft>
              <a:buNone/>
            </a:pPr>
            <a:r>
              <a:rPr sz="1235" b="1" i="0">
                <a:solidFill>
                  <a:srgbClr val="25282A"/>
                </a:solidFill>
                <a:latin typeface="Fira Sans"/>
              </a:rPr>
              <a:t>Evaluative, not instructive</a:t>
            </a:r>
          </a:p>
          <a:p>
            <a:pPr marL="0" indent="0" algn="l">
              <a:lnSpc>
                <a:spcPts val="1310"/>
              </a:lnSpc>
              <a:spcBef>
                <a:spcPts val="700"/>
              </a:spcBef>
              <a:spcAft>
                <a:spcPts val="0"/>
              </a:spcAft>
              <a:buNone/>
            </a:pPr>
            <a:r>
              <a:rPr sz="1092" b="0" i="0">
                <a:solidFill>
                  <a:srgbClr val="333639"/>
                </a:solidFill>
                <a:latin typeface="Fira Sans"/>
              </a:rPr>
              <a:t>The reward says how good the outcome was. It never says which action would have been better, or what the alternatives would have produced.</a:t>
            </a:r>
          </a:p>
        </p:txBody>
      </p:sp>
      <p:sp>
        <p:nvSpPr>
          <p:cNvPr id="17" name="Rectangle 16"/>
          <p:cNvSpPr/>
          <p:nvPr/>
        </p:nvSpPr>
        <p:spPr>
          <a:xfrm>
            <a:off x="4639056" y="4123944"/>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39056" y="4251960"/>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8A5100"/>
                </a:solidFill>
                <a:latin typeface="Fira Sans"/>
              </a:rPr>
              <a:t>Rules out: computing a gradient towards the correct answer.</a:t>
            </a:r>
          </a:p>
        </p:txBody>
      </p:sp>
      <p:sp>
        <p:nvSpPr>
          <p:cNvPr id="19" name="Rectangle 18"/>
          <p:cNvSpPr/>
          <p:nvPr/>
        </p:nvSpPr>
        <p:spPr>
          <a:xfrm>
            <a:off x="8071104" y="2240280"/>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71104" y="2240280"/>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253983" y="2423160"/>
            <a:ext cx="2919984" cy="100143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Medium"/>
              </a:rPr>
              <a:t>SAMPLED</a:t>
            </a:r>
          </a:p>
          <a:p>
            <a:pPr marL="0" indent="0" algn="l">
              <a:lnSpc>
                <a:spcPts val="1383"/>
              </a:lnSpc>
              <a:spcBef>
                <a:spcPts val="600"/>
              </a:spcBef>
              <a:spcAft>
                <a:spcPts val="0"/>
              </a:spcAft>
              <a:buNone/>
            </a:pPr>
            <a:r>
              <a:rPr sz="1235" b="1" i="0">
                <a:solidFill>
                  <a:srgbClr val="25282A"/>
                </a:solidFill>
                <a:latin typeface="Fira Sans"/>
              </a:rPr>
              <a:t>Sampled, not exhaustive</a:t>
            </a:r>
          </a:p>
          <a:p>
            <a:pPr marL="0" indent="0" algn="l">
              <a:lnSpc>
                <a:spcPts val="1310"/>
              </a:lnSpc>
              <a:spcBef>
                <a:spcPts val="700"/>
              </a:spcBef>
              <a:spcAft>
                <a:spcPts val="0"/>
              </a:spcAft>
              <a:buNone/>
            </a:pPr>
            <a:r>
              <a:rPr sz="1092" b="0" i="0">
                <a:solidFill>
                  <a:srgbClr val="333639"/>
                </a:solidFill>
                <a:latin typeface="Fira Sans"/>
              </a:rPr>
              <a:t>The agent sees rewards only for the states and actions it actually visits — a vanishing fraction of a large or continuous space.</a:t>
            </a:r>
          </a:p>
        </p:txBody>
      </p:sp>
      <p:sp>
        <p:nvSpPr>
          <p:cNvPr id="22" name="Rectangle 21"/>
          <p:cNvSpPr/>
          <p:nvPr/>
        </p:nvSpPr>
        <p:spPr>
          <a:xfrm>
            <a:off x="8253983" y="4123944"/>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53983" y="4251960"/>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574676"/>
                </a:solidFill>
                <a:latin typeface="Fira Sans"/>
              </a:rPr>
              <a:t>Rules out: tabulating every case; forces generalisation.</a:t>
            </a:r>
          </a:p>
        </p:txBody>
      </p:sp>
      <p:sp>
        <p:nvSpPr>
          <p:cNvPr id="24" name="Rectangle 23"/>
          <p:cNvSpPr/>
          <p:nvPr/>
        </p:nvSpPr>
        <p:spPr>
          <a:xfrm>
            <a:off x="841248" y="5221224"/>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5221224"/>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536752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These are properties of the </a:t>
            </a:r>
            <a:r>
              <a:rPr sz="1140" b="1" i="0">
                <a:solidFill>
                  <a:srgbClr val="333639"/>
                </a:solidFill>
                <a:latin typeface="Fira Sans"/>
              </a:rPr>
              <a:t>problem</a:t>
            </a:r>
            <a:r>
              <a:rPr sz="1140" b="0" i="0">
                <a:solidFill>
                  <a:srgbClr val="333639"/>
                </a:solidFill>
                <a:latin typeface="Fira Sans"/>
              </a:rPr>
              <a:t>, not of any particular algorithm. Everything in the rest of the course — value functions, temporal-difference learning, exploration strategies, function approximation — exists because of one of these three.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THE CREDIT ASSIGNMENT PROBLEM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When the reward finally arrives, which decision earned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robot arm may move toward an object, position the gripper, close it, lift the object and move toward the container before receiving any reward at all. The reward is therefore delayed, and most of the intermediate steps produce nothing.</a:t>
            </a:r>
          </a:p>
        </p:txBody>
      </p:sp>
      <p:pic>
        <p:nvPicPr>
          <p:cNvPr id="9" name="Picture 8" descr="credit.png"/>
          <p:cNvPicPr>
            <a:picLocks noChangeAspect="1"/>
          </p:cNvPicPr>
          <p:nvPr/>
        </p:nvPicPr>
        <p:blipFill>
          <a:blip r:embed="rId2"/>
          <a:stretch>
            <a:fillRect/>
          </a:stretch>
        </p:blipFill>
        <p:spPr>
          <a:xfrm>
            <a:off x="841248" y="2159814"/>
            <a:ext cx="6563633" cy="3602918"/>
          </a:xfrm>
          <a:prstGeom prst="rect">
            <a:avLst/>
          </a:prstGeom>
        </p:spPr>
      </p:pic>
      <p:sp>
        <p:nvSpPr>
          <p:cNvPr id="10" name="TextBox 9"/>
          <p:cNvSpPr txBox="1"/>
          <p:nvPr/>
        </p:nvSpPr>
        <p:spPr>
          <a:xfrm>
            <a:off x="841248" y="6046013"/>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Action A pays +23 immediately and then leads to a state worth −100. The agent has to decide what to blame.</a:t>
            </a:r>
          </a:p>
        </p:txBody>
      </p:sp>
      <p:sp>
        <p:nvSpPr>
          <p:cNvPr id="11" name="TextBox 10"/>
          <p:cNvSpPr txBox="1"/>
          <p:nvPr/>
        </p:nvSpPr>
        <p:spPr>
          <a:xfrm>
            <a:off x="7717536" y="1335024"/>
            <a:ext cx="3633185" cy="1006561"/>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MINSKY, 1961</a:t>
            </a:r>
          </a:p>
          <a:p>
            <a:pPr marL="0" indent="0" algn="l">
              <a:lnSpc>
                <a:spcPts val="1408"/>
              </a:lnSpc>
              <a:spcBef>
                <a:spcPts val="600"/>
              </a:spcBef>
              <a:spcAft>
                <a:spcPts val="0"/>
              </a:spcAft>
              <a:buNone/>
            </a:pPr>
            <a:r>
              <a:rPr sz="1235" b="1" i="0">
                <a:solidFill>
                  <a:srgbClr val="25282A"/>
                </a:solidFill>
                <a:latin typeface="Fira Sans"/>
              </a:rPr>
              <a:t>The temporal credit assignment problem</a:t>
            </a:r>
          </a:p>
          <a:p>
            <a:pPr marL="0" indent="0" algn="l">
              <a:lnSpc>
                <a:spcPts val="1310"/>
              </a:lnSpc>
              <a:spcBef>
                <a:spcPts val="600"/>
              </a:spcBef>
              <a:spcAft>
                <a:spcPts val="0"/>
              </a:spcAft>
              <a:buNone/>
            </a:pPr>
            <a:r>
              <a:rPr sz="1092" b="0" i="0">
                <a:solidFill>
                  <a:srgbClr val="333639"/>
                </a:solidFill>
                <a:latin typeface="Fira Sans"/>
              </a:rPr>
              <a:t>When a reward is finally received, which of the states visited and actions taken along the way should receive credit — or blame — for that outcome?</a:t>
            </a:r>
          </a:p>
        </p:txBody>
      </p:sp>
      <p:sp>
        <p:nvSpPr>
          <p:cNvPr id="12" name="TextBox 11"/>
          <p:cNvSpPr txBox="1"/>
          <p:nvPr/>
        </p:nvSpPr>
        <p:spPr>
          <a:xfrm>
            <a:off x="7717536" y="2579329"/>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SEPARATE DIFFICULTIES</a:t>
            </a:r>
          </a:p>
        </p:txBody>
      </p:sp>
      <p:sp>
        <p:nvSpPr>
          <p:cNvPr id="13" name="TextBox 12"/>
          <p:cNvSpPr txBox="1"/>
          <p:nvPr/>
        </p:nvSpPr>
        <p:spPr>
          <a:xfrm>
            <a:off x="7717536" y="2835361"/>
            <a:ext cx="3633185" cy="931011"/>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Delay</a:t>
            </a:r>
            <a:r>
              <a:rPr sz="1092" b="0" i="0">
                <a:solidFill>
                  <a:srgbClr val="333639"/>
                </a:solidFill>
                <a:latin typeface="Fira Sans"/>
              </a:rPr>
              <a:t> — the informative reward is separated in time from the decision that caused it.</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Sparsity</a:t>
            </a:r>
            <a:r>
              <a:rPr sz="1092" b="0" i="0">
                <a:solidFill>
                  <a:srgbClr val="333639"/>
                </a:solidFill>
                <a:latin typeface="Fira Sans"/>
              </a:rPr>
              <a:t> — many essential intermediate actions produce no reward whatsoever, so they carry no signal of their own.</a:t>
            </a:r>
          </a:p>
        </p:txBody>
      </p:sp>
      <p:sp>
        <p:nvSpPr>
          <p:cNvPr id="14" name="Rectangle 13"/>
          <p:cNvSpPr/>
          <p:nvPr/>
        </p:nvSpPr>
        <p:spPr>
          <a:xfrm>
            <a:off x="7717536" y="4004116"/>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4004116"/>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36992" y="4150420"/>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agent must therefore </a:t>
            </a:r>
            <a:r>
              <a:rPr sz="1092" b="1" i="0">
                <a:solidFill>
                  <a:srgbClr val="333639"/>
                </a:solidFill>
                <a:latin typeface="Fira Sans"/>
              </a:rPr>
              <a:t>learn from sequential feedback</a:t>
            </a:r>
            <a:r>
              <a:rPr sz="1092" b="0" i="0">
                <a:solidFill>
                  <a:srgbClr val="333639"/>
                </a:solidFill>
                <a:latin typeface="Fira Sans"/>
              </a:rPr>
              <a:t>, relating rewards received now to decisions made earlier. The return, defined in Part IV, is the first step towards doing this properly.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EXPLORATION VERSUS EXPLOITATION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Evaluative feedback says how good, never what would have been better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A failed grasp produces a low reward, but it does not tell the robot whether it should have moved the gripper left, right, or closer. To find out, the agent has to try something other than what it currently believes is best.</a:t>
            </a:r>
          </a:p>
        </p:txBody>
      </p:sp>
      <p:pic>
        <p:nvPicPr>
          <p:cNvPr id="9" name="Picture 8" descr="explore.png"/>
          <p:cNvPicPr>
            <a:picLocks noChangeAspect="1"/>
          </p:cNvPicPr>
          <p:nvPr/>
        </p:nvPicPr>
        <p:blipFill>
          <a:blip r:embed="rId2"/>
          <a:stretch>
            <a:fillRect/>
          </a:stretch>
        </p:blipFill>
        <p:spPr>
          <a:xfrm>
            <a:off x="841248" y="2033783"/>
            <a:ext cx="6578574" cy="3814439"/>
          </a:xfrm>
          <a:prstGeom prst="rect">
            <a:avLst/>
          </a:prstGeom>
        </p:spPr>
      </p:pic>
      <p:sp>
        <p:nvSpPr>
          <p:cNvPr id="10" name="TextBox 9"/>
          <p:cNvSpPr txBox="1"/>
          <p:nvPr/>
        </p:nvSpPr>
        <p:spPr>
          <a:xfrm>
            <a:off x="841248" y="6055053"/>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Action A pays +50, then +20, then +20 … and the agent never discovers that action B pays +1000.</a:t>
            </a:r>
          </a:p>
        </p:txBody>
      </p:sp>
      <p:sp>
        <p:nvSpPr>
          <p:cNvPr id="11" name="TextBox 10"/>
          <p:cNvSpPr txBox="1"/>
          <p:nvPr/>
        </p:nvSpPr>
        <p:spPr>
          <a:xfrm>
            <a:off x="7955279" y="1335024"/>
            <a:ext cx="3395441" cy="784415"/>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Exploit</a:t>
            </a:r>
          </a:p>
          <a:p>
            <a:pPr marL="0" indent="0" algn="l">
              <a:lnSpc>
                <a:spcPts val="1310"/>
              </a:lnSpc>
              <a:spcBef>
                <a:spcPts val="500"/>
              </a:spcBef>
              <a:spcAft>
                <a:spcPts val="0"/>
              </a:spcAft>
              <a:buNone/>
            </a:pPr>
            <a:r>
              <a:rPr sz="1092" b="0" i="0">
                <a:solidFill>
                  <a:srgbClr val="626669"/>
                </a:solidFill>
                <a:latin typeface="Fira Sans"/>
              </a:rPr>
              <a:t>Take the action that currently looks best — maximising reward now, using everything already learned.</a:t>
            </a:r>
          </a:p>
        </p:txBody>
      </p:sp>
      <p:sp>
        <p:nvSpPr>
          <p:cNvPr id="12" name="Rectangle 11"/>
          <p:cNvSpPr/>
          <p:nvPr/>
        </p:nvSpPr>
        <p:spPr>
          <a:xfrm>
            <a:off x="7717536" y="1335024"/>
            <a:ext cx="41148" cy="74783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955279" y="2338895"/>
            <a:ext cx="3395441" cy="784415"/>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Explore</a:t>
            </a:r>
          </a:p>
          <a:p>
            <a:pPr marL="0" indent="0" algn="l">
              <a:lnSpc>
                <a:spcPts val="1310"/>
              </a:lnSpc>
              <a:spcBef>
                <a:spcPts val="500"/>
              </a:spcBef>
              <a:spcAft>
                <a:spcPts val="0"/>
              </a:spcAft>
              <a:buNone/>
            </a:pPr>
            <a:r>
              <a:rPr sz="1092" b="0" i="0">
                <a:solidFill>
                  <a:srgbClr val="626669"/>
                </a:solidFill>
                <a:latin typeface="Fira Sans"/>
              </a:rPr>
              <a:t>Take a different action to find out what it does — costing reward now, and possibly paying much more later.</a:t>
            </a:r>
          </a:p>
        </p:txBody>
      </p:sp>
      <p:sp>
        <p:nvSpPr>
          <p:cNvPr id="14" name="Rectangle 13"/>
          <p:cNvSpPr/>
          <p:nvPr/>
        </p:nvSpPr>
        <p:spPr>
          <a:xfrm>
            <a:off x="7717536" y="2338895"/>
            <a:ext cx="41148" cy="74783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3379343"/>
            <a:ext cx="3633185"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717536" y="3379343"/>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36992" y="3525647"/>
            <a:ext cx="33405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TRADE-OFF</a:t>
            </a:r>
          </a:p>
        </p:txBody>
      </p:sp>
      <p:sp>
        <p:nvSpPr>
          <p:cNvPr id="18" name="TextBox 17"/>
          <p:cNvSpPr txBox="1"/>
          <p:nvPr/>
        </p:nvSpPr>
        <p:spPr>
          <a:xfrm>
            <a:off x="7936992" y="3763391"/>
            <a:ext cx="324913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Neither extreme works. </a:t>
            </a:r>
            <a:r>
              <a:rPr sz="1092" b="1" i="0">
                <a:solidFill>
                  <a:srgbClr val="333639"/>
                </a:solidFill>
                <a:latin typeface="Fira Sans"/>
              </a:rPr>
              <a:t>Pure exploitation</a:t>
            </a:r>
            <a:r>
              <a:rPr sz="1092" b="0" i="0">
                <a:solidFill>
                  <a:srgbClr val="333639"/>
                </a:solidFill>
                <a:latin typeface="Fira Sans"/>
              </a:rPr>
              <a:t> locks the agent into the first tolerable behaviour it finds; </a:t>
            </a:r>
            <a:r>
              <a:rPr sz="1092" b="1" i="0">
                <a:solidFill>
                  <a:srgbClr val="333639"/>
                </a:solidFill>
                <a:latin typeface="Fira Sans"/>
              </a:rPr>
              <a:t>pure exploration</a:t>
            </a:r>
            <a:r>
              <a:rPr sz="1092" b="0" i="0">
                <a:solidFill>
                  <a:srgbClr val="333639"/>
                </a:solidFill>
                <a:latin typeface="Fira Sans"/>
              </a:rPr>
              <a:t> never uses what it has learned. The balance between them is the exploration–exploitation trade-off.</a:t>
            </a:r>
          </a:p>
        </p:txBody>
      </p:sp>
      <p:sp>
        <p:nvSpPr>
          <p:cNvPr id="19" name="TextBox 18"/>
          <p:cNvSpPr txBox="1"/>
          <p:nvPr/>
        </p:nvSpPr>
        <p:spPr>
          <a:xfrm>
            <a:off x="7717536" y="4979543"/>
            <a:ext cx="3633185"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the asymmetry with supervised learning: there, the correct label is given for every example. Here the agent sees only the consequence of the one action it took, and never what the others would have produced — the </a:t>
            </a:r>
            <a:r>
              <a:rPr sz="1092" b="1" i="0">
                <a:solidFill>
                  <a:srgbClr val="25282A"/>
                </a:solidFill>
                <a:latin typeface="Fira Sans"/>
              </a:rPr>
              <a:t>counterfactual is unavailable</a:t>
            </a:r>
            <a:r>
              <a:rPr sz="1092" b="0" i="0">
                <a:solidFill>
                  <a:srgbClr val="333639"/>
                </a:solidFill>
                <a:latin typeface="Fira San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SAMPLED AND WEAK FEEDBACK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learns from what it happened to visit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robot cannot try every arm position and every movement; it learns from the subset it encounters during training. Because state and action spaces can be enormous — or continuous — the agent must generalise from that subset to situations it has never seen.</a:t>
            </a:r>
          </a:p>
        </p:txBody>
      </p:sp>
      <p:pic>
        <p:nvPicPr>
          <p:cNvPr id="9" name="Picture 8" descr="sampled.png"/>
          <p:cNvPicPr>
            <a:picLocks noChangeAspect="1"/>
          </p:cNvPicPr>
          <p:nvPr/>
        </p:nvPicPr>
        <p:blipFill>
          <a:blip r:embed="rId2"/>
          <a:stretch>
            <a:fillRect/>
          </a:stretch>
        </p:blipFill>
        <p:spPr>
          <a:xfrm>
            <a:off x="795955" y="1975622"/>
            <a:ext cx="6393889" cy="3689294"/>
          </a:xfrm>
          <a:prstGeom prst="rect">
            <a:avLst/>
          </a:prstGeom>
        </p:spPr>
      </p:pic>
      <p:sp>
        <p:nvSpPr>
          <p:cNvPr id="10" name="TextBox 9"/>
          <p:cNvSpPr txBox="1"/>
          <p:nvPr/>
        </p:nvSpPr>
        <p:spPr>
          <a:xfrm>
            <a:off x="841248" y="5831421"/>
            <a:ext cx="64922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With a continuous state, the agent never visits the same state twice. Without generalization no experience is ever reusable.</a:t>
            </a:r>
          </a:p>
        </p:txBody>
      </p:sp>
      <p:sp>
        <p:nvSpPr>
          <p:cNvPr id="11" name="TextBox 10"/>
          <p:cNvSpPr txBox="1"/>
          <p:nvPr/>
        </p:nvSpPr>
        <p:spPr>
          <a:xfrm>
            <a:off x="7717536" y="1335024"/>
            <a:ext cx="36331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WHAT “SAMPLED” COSTS</a:t>
            </a:r>
          </a:p>
          <a:p>
            <a:pPr marL="0" indent="0" algn="l">
              <a:lnSpc>
                <a:spcPts val="1345"/>
              </a:lnSpc>
              <a:spcBef>
                <a:spcPts val="0"/>
              </a:spcBef>
              <a:spcAft>
                <a:spcPts val="0"/>
              </a:spcAft>
              <a:buNone/>
            </a:pPr>
            <a:r>
              <a:rPr sz="1140" b="0" i="0">
                <a:solidFill>
                  <a:srgbClr val="333639"/>
                </a:solidFill>
                <a:latin typeface="Fira Sans"/>
              </a:rPr>
              <a:t>The agent observes rewards only for the state–action pairs it </a:t>
            </a:r>
            <a:r>
              <a:rPr sz="1140" b="1" i="0">
                <a:solidFill>
                  <a:srgbClr val="25282A"/>
                </a:solidFill>
                <a:latin typeface="Fira Sans"/>
              </a:rPr>
              <a:t>actually experiences</a:t>
            </a:r>
            <a:r>
              <a:rPr sz="1140" b="0" i="0">
                <a:solidFill>
                  <a:srgbClr val="333639"/>
                </a:solidFill>
                <a:latin typeface="Fira Sans"/>
              </a:rPr>
              <a:t>, not for every possible one. Everything it concludes about the rest of the space is an extrapolation.</a:t>
            </a:r>
          </a:p>
        </p:txBody>
      </p:sp>
      <p:sp>
        <p:nvSpPr>
          <p:cNvPr id="12" name="TextBox 11"/>
          <p:cNvSpPr txBox="1"/>
          <p:nvPr/>
        </p:nvSpPr>
        <p:spPr>
          <a:xfrm>
            <a:off x="7717536" y="2508425"/>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CONSEQUENCE</a:t>
            </a:r>
          </a:p>
        </p:txBody>
      </p:sp>
      <p:sp>
        <p:nvSpPr>
          <p:cNvPr id="13" name="TextBox 12"/>
          <p:cNvSpPr txBox="1"/>
          <p:nvPr/>
        </p:nvSpPr>
        <p:spPr>
          <a:xfrm>
            <a:off x="7717536" y="2764457"/>
            <a:ext cx="36331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Generalisation becomes compulsory</a:t>
            </a:r>
            <a:r>
              <a:rPr sz="1092" b="0" i="0">
                <a:solidFill>
                  <a:srgbClr val="333639"/>
                </a:solidFill>
                <a:latin typeface="Fira Sans"/>
              </a:rPr>
              <a:t>, not an optimisation. A table indexed by state is unusable the moment states are continuous.</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Function approximation</a:t>
            </a:r>
            <a:r>
              <a:rPr sz="1092" b="0" i="0">
                <a:solidFill>
                  <a:srgbClr val="333639"/>
                </a:solidFill>
                <a:latin typeface="Fira Sans"/>
              </a:rPr>
              <a:t> — later in the course — is the machinery for it, and is where deep networks enter reinforcement learning.</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Estimates are noisy</a:t>
            </a:r>
            <a:r>
              <a:rPr sz="1092" b="0" i="0">
                <a:solidFill>
                  <a:srgbClr val="333639"/>
                </a:solidFill>
                <a:latin typeface="Fira Sans"/>
              </a:rPr>
              <a:t>: a value inferred from a handful of visits carries the variance of those samples.</a:t>
            </a:r>
          </a:p>
        </p:txBody>
      </p:sp>
      <p:sp>
        <p:nvSpPr>
          <p:cNvPr id="14" name="Rectangle 13"/>
          <p:cNvSpPr/>
          <p:nvPr/>
        </p:nvSpPr>
        <p:spPr>
          <a:xfrm>
            <a:off x="7717536" y="4500354"/>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4500354"/>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36992" y="4646658"/>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Taken together with delay and evaluative feedback, this is what separates reinforcement learning from every other learning problem in the curriculum.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The Markov Decision Process</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formal model: a state that summarises the past, dynamics that do not change with time, and one function from which everything else follows.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single function specifies the whole environment?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Time, state, action, reward</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Markov property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Stationarity</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dynamics function and its marginals</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The reward hypothesis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TIME, STATE, ACTION, REWARD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loop, now written as random variables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Markov Decision Process is a mathematical framework for representing sequential decision-making problems, introduced by </a:t>
            </a:r>
            <a:r>
              <a:rPr sz="1235" b="1" i="0">
                <a:solidFill>
                  <a:srgbClr val="25282A"/>
                </a:solidFill>
                <a:latin typeface="Fira Sans"/>
              </a:rPr>
              <a:t>Bellman (1957)</a:t>
            </a:r>
            <a:r>
              <a:rPr sz="1235" b="0" i="0">
                <a:solidFill>
                  <a:srgbClr val="333639"/>
                </a:solidFill>
                <a:latin typeface="Fira Sans"/>
              </a:rPr>
              <a:t>. The interaction proceeds through a sequence of discrete time steps.</a:t>
            </a:r>
          </a:p>
        </p:txBody>
      </p:sp>
      <p:pic>
        <p:nvPicPr>
          <p:cNvPr id="9" name="Picture 8" descr="eq_tim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1973757"/>
            <a:ext cx="2026920" cy="276860"/>
          </a:xfrm>
          <a:prstGeom prst="rect">
            <a:avLst/>
          </a:prstGeom>
        </p:spPr>
      </p:pic>
      <p:sp>
        <p:nvSpPr>
          <p:cNvPr id="10" name="Rectangle 9"/>
          <p:cNvSpPr/>
          <p:nvPr/>
        </p:nvSpPr>
        <p:spPr>
          <a:xfrm>
            <a:off x="841248" y="2524937"/>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eq_stat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2689529"/>
            <a:ext cx="774700" cy="274320"/>
          </a:xfrm>
          <a:prstGeom prst="rect">
            <a:avLst/>
          </a:prstGeom>
        </p:spPr>
      </p:pic>
      <p:sp>
        <p:nvSpPr>
          <p:cNvPr id="12" name="TextBox 11"/>
          <p:cNvSpPr txBox="1"/>
          <p:nvPr/>
        </p:nvSpPr>
        <p:spPr>
          <a:xfrm>
            <a:off x="841248" y="3146729"/>
            <a:ext cx="2423160" cy="73204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state at step t</a:t>
            </a:r>
          </a:p>
          <a:p>
            <a:pPr marL="0" indent="0" algn="l">
              <a:lnSpc>
                <a:spcPts val="1233"/>
              </a:lnSpc>
              <a:spcBef>
                <a:spcPts val="500"/>
              </a:spcBef>
              <a:spcAft>
                <a:spcPts val="0"/>
              </a:spcAft>
              <a:buNone/>
            </a:pPr>
            <a:r>
              <a:rPr sz="1045" b="0" i="0">
                <a:solidFill>
                  <a:srgbClr val="626669"/>
                </a:solidFill>
                <a:latin typeface="Fira Sans"/>
              </a:rPr>
              <a:t>The relevant information about the environment, drawn from the state space 𝒮.</a:t>
            </a:r>
          </a:p>
        </p:txBody>
      </p:sp>
      <p:sp>
        <p:nvSpPr>
          <p:cNvPr id="13" name="Rectangle 12"/>
          <p:cNvSpPr/>
          <p:nvPr/>
        </p:nvSpPr>
        <p:spPr>
          <a:xfrm>
            <a:off x="3538727" y="2524937"/>
            <a:ext cx="24231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actio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8727" y="2689529"/>
            <a:ext cx="1257300" cy="317500"/>
          </a:xfrm>
          <a:prstGeom prst="rect">
            <a:avLst/>
          </a:prstGeom>
        </p:spPr>
      </p:pic>
      <p:sp>
        <p:nvSpPr>
          <p:cNvPr id="15" name="TextBox 14"/>
          <p:cNvSpPr txBox="1"/>
          <p:nvPr/>
        </p:nvSpPr>
        <p:spPr>
          <a:xfrm>
            <a:off x="3538727" y="3189909"/>
            <a:ext cx="2423160" cy="575437"/>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action chosen at step t</a:t>
            </a:r>
          </a:p>
          <a:p>
            <a:pPr marL="0" indent="0" algn="l">
              <a:lnSpc>
                <a:spcPts val="1233"/>
              </a:lnSpc>
              <a:spcBef>
                <a:spcPts val="500"/>
              </a:spcBef>
              <a:spcAft>
                <a:spcPts val="0"/>
              </a:spcAft>
              <a:buNone/>
            </a:pPr>
            <a:r>
              <a:rPr sz="1045" b="0" i="0">
                <a:solidFill>
                  <a:srgbClr val="626669"/>
                </a:solidFill>
                <a:latin typeface="Fira Sans"/>
              </a:rPr>
              <a:t>Selected from the actions available in that state. The agent’s only output.</a:t>
            </a:r>
          </a:p>
        </p:txBody>
      </p:sp>
      <p:sp>
        <p:nvSpPr>
          <p:cNvPr id="16" name="Rectangle 15"/>
          <p:cNvSpPr/>
          <p:nvPr/>
        </p:nvSpPr>
        <p:spPr>
          <a:xfrm>
            <a:off x="6236207" y="2524937"/>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eq_rewar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6207" y="2689529"/>
            <a:ext cx="1049020" cy="294640"/>
          </a:xfrm>
          <a:prstGeom prst="rect">
            <a:avLst/>
          </a:prstGeom>
        </p:spPr>
      </p:pic>
      <p:sp>
        <p:nvSpPr>
          <p:cNvPr id="18" name="TextBox 17"/>
          <p:cNvSpPr txBox="1"/>
          <p:nvPr/>
        </p:nvSpPr>
        <p:spPr>
          <a:xfrm>
            <a:off x="6236207" y="3167049"/>
            <a:ext cx="2423160" cy="73204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reward that follows</a:t>
            </a:r>
          </a:p>
          <a:p>
            <a:pPr marL="0" indent="0" algn="l">
              <a:lnSpc>
                <a:spcPts val="1233"/>
              </a:lnSpc>
              <a:spcBef>
                <a:spcPts val="500"/>
              </a:spcBef>
              <a:spcAft>
                <a:spcPts val="0"/>
              </a:spcAft>
              <a:buNone/>
            </a:pPr>
            <a:r>
              <a:rPr sz="1045" b="0" i="0">
                <a:solidFill>
                  <a:srgbClr val="626669"/>
                </a:solidFill>
                <a:latin typeface="Fira Sans"/>
              </a:rPr>
              <a:t>Generated by the environment as a consequence of the action. Note the index: it arrives at t+1.</a:t>
            </a:r>
          </a:p>
        </p:txBody>
      </p:sp>
      <p:sp>
        <p:nvSpPr>
          <p:cNvPr id="19" name="Rectangle 18"/>
          <p:cNvSpPr/>
          <p:nvPr/>
        </p:nvSpPr>
        <p:spPr>
          <a:xfrm>
            <a:off x="8933688" y="2524937"/>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nextstat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33688" y="2689529"/>
            <a:ext cx="1003299" cy="292100"/>
          </a:xfrm>
          <a:prstGeom prst="rect">
            <a:avLst/>
          </a:prstGeom>
        </p:spPr>
      </p:pic>
      <p:sp>
        <p:nvSpPr>
          <p:cNvPr id="21" name="TextBox 20"/>
          <p:cNvSpPr txBox="1"/>
          <p:nvPr/>
        </p:nvSpPr>
        <p:spPr>
          <a:xfrm>
            <a:off x="8933688" y="3164509"/>
            <a:ext cx="2423160" cy="575437"/>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state that follows</a:t>
            </a:r>
          </a:p>
          <a:p>
            <a:pPr marL="0" indent="0" algn="l">
              <a:lnSpc>
                <a:spcPts val="1233"/>
              </a:lnSpc>
              <a:spcBef>
                <a:spcPts val="500"/>
              </a:spcBef>
              <a:spcAft>
                <a:spcPts val="0"/>
              </a:spcAft>
              <a:buNone/>
            </a:pPr>
            <a:r>
              <a:rPr sz="1045" b="0" i="0">
                <a:solidFill>
                  <a:srgbClr val="626669"/>
                </a:solidFill>
                <a:latin typeface="Fira Sans"/>
              </a:rPr>
              <a:t>Where the environment moves. The cycle then repeats from there.</a:t>
            </a:r>
          </a:p>
        </p:txBody>
      </p:sp>
      <p:sp>
        <p:nvSpPr>
          <p:cNvPr id="22" name="Rectangle 21"/>
          <p:cNvSpPr/>
          <p:nvPr/>
        </p:nvSpPr>
        <p:spPr>
          <a:xfrm>
            <a:off x="841248" y="40325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 y="427029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REPEATING THE INTERACTION PRODUCES A TRAJECTORY</a:t>
            </a:r>
          </a:p>
        </p:txBody>
      </p:sp>
      <p:pic>
        <p:nvPicPr>
          <p:cNvPr id="24" name="Picture 23" descr="eq_trajectory.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52860" y="4544618"/>
            <a:ext cx="5286248" cy="438657"/>
          </a:xfrm>
          <a:prstGeom prst="rect">
            <a:avLst/>
          </a:prstGeom>
        </p:spPr>
      </p:pic>
      <p:sp>
        <p:nvSpPr>
          <p:cNvPr id="25" name="TextBox 24"/>
          <p:cNvSpPr txBox="1"/>
          <p:nvPr/>
        </p:nvSpPr>
        <p:spPr>
          <a:xfrm>
            <a:off x="841248" y="5257596"/>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a:solidFill>
                  <a:srgbClr val="25282A"/>
                </a:solidFill>
                <a:latin typeface="Fira Sans"/>
              </a:rPr>
              <a:t>S</a:t>
            </a:r>
            <a:r>
              <a:rPr sz="833" b="1" i="0">
                <a:solidFill>
                  <a:srgbClr val="25282A"/>
                </a:solidFill>
                <a:latin typeface="Fira Sans"/>
              </a:rPr>
              <a:t>t</a:t>
            </a:r>
            <a:r>
              <a:rPr sz="1092" b="0" i="0">
                <a:solidFill>
                  <a:srgbClr val="333639"/>
                </a:solidFill>
                <a:latin typeface="Fira Sans"/>
              </a:rPr>
              <a:t> and </a:t>
            </a:r>
            <a:r>
              <a:rPr sz="1092" b="1" i="0">
                <a:solidFill>
                  <a:srgbClr val="25282A"/>
                </a:solidFill>
                <a:latin typeface="Fira Sans"/>
              </a:rPr>
              <a:t>A</a:t>
            </a:r>
            <a:r>
              <a:rPr sz="833" b="1" i="0">
                <a:solidFill>
                  <a:srgbClr val="25282A"/>
                </a:solidFill>
                <a:latin typeface="Fira Sans"/>
              </a:rPr>
              <a:t>t</a:t>
            </a:r>
            <a:r>
              <a:rPr sz="1092" b="0" i="0">
                <a:solidFill>
                  <a:srgbClr val="333639"/>
                </a:solidFill>
                <a:latin typeface="Fira Sans"/>
              </a:rPr>
              <a:t> are </a:t>
            </a:r>
            <a:r>
              <a:rPr sz="1092" b="1" i="0">
                <a:solidFill>
                  <a:srgbClr val="25282A"/>
                </a:solidFill>
                <a:latin typeface="Fira Sans"/>
              </a:rPr>
              <a:t>random variables</a:t>
            </a:r>
            <a:r>
              <a:rPr sz="1092" b="0" i="0">
                <a:solidFill>
                  <a:srgbClr val="333639"/>
                </a:solidFill>
                <a:latin typeface="Fira Sans"/>
              </a:rPr>
              <a:t>: before the interaction takes place their particular values are not known. Lower-case letters denote particular values they may take.</a:t>
            </a:r>
          </a:p>
        </p:txBody>
      </p:sp>
      <p:sp>
        <p:nvSpPr>
          <p:cNvPr id="26" name="TextBox 25"/>
          <p:cNvSpPr txBox="1"/>
          <p:nvPr/>
        </p:nvSpPr>
        <p:spPr>
          <a:xfrm>
            <a:off x="6327648" y="5257596"/>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An episode begins from an </a:t>
            </a:r>
            <a:r>
              <a:rPr sz="1092" b="1" i="0">
                <a:solidFill>
                  <a:srgbClr val="25282A"/>
                </a:solidFill>
                <a:latin typeface="Fira Sans"/>
              </a:rPr>
              <a:t>initial state</a:t>
            </a:r>
            <a:r>
              <a:rPr sz="1092" b="0" i="0">
                <a:solidFill>
                  <a:srgbClr val="333639"/>
                </a:solidFill>
                <a:latin typeface="Fira Sans"/>
              </a:rPr>
              <a:t>, typically sampled from an initial-state distribution, and ends at a </a:t>
            </a:r>
            <a:r>
              <a:rPr sz="1092" b="1" i="0">
                <a:solidFill>
                  <a:srgbClr val="25282A"/>
                </a:solidFill>
                <a:latin typeface="Fira Sans"/>
              </a:rPr>
              <a:t>terminal state</a:t>
            </a:r>
            <a:r>
              <a:rPr sz="1092" b="0" i="0">
                <a:solidFill>
                  <a:srgbClr val="333639"/>
                </a:solidFill>
                <a:latin typeface="Fira Sans"/>
              </a:rPr>
              <a:t>. In continuing tasks there is none, and the interaction can proceed indefinitely.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THE MARKOV PROPERTY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state must make the history irrelevant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state is assumed to contain everything needed to predict the future evolution of the environment. Once the current state and action are known, the past interaction history adds nothing to the prediction of the next state and reward.</a:t>
            </a:r>
          </a:p>
        </p:txBody>
      </p:sp>
      <p:pic>
        <p:nvPicPr>
          <p:cNvPr id="9" name="Picture 8" descr="eq_markov_long.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184" y="1992045"/>
            <a:ext cx="10515600" cy="653128"/>
          </a:xfrm>
          <a:prstGeom prst="rect">
            <a:avLst/>
          </a:prstGeom>
        </p:spPr>
      </p:pic>
      <p:sp>
        <p:nvSpPr>
          <p:cNvPr id="10" name="TextBox 9"/>
          <p:cNvSpPr txBox="1"/>
          <p:nvPr/>
        </p:nvSpPr>
        <p:spPr>
          <a:xfrm>
            <a:off x="841248" y="290120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MORE COMPACTLY, LEAVING THE PARTICULAR VALUES IMPLICIT</a:t>
            </a:r>
          </a:p>
        </p:txBody>
      </p:sp>
      <p:pic>
        <p:nvPicPr>
          <p:cNvPr id="11" name="Picture 10" descr="eq_markov_shor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44454" y="3157238"/>
            <a:ext cx="6703060" cy="368300"/>
          </a:xfrm>
          <a:prstGeom prst="rect">
            <a:avLst/>
          </a:prstGeom>
        </p:spPr>
      </p:pic>
      <p:pic>
        <p:nvPicPr>
          <p:cNvPr id="12" name="Picture 11" descr="markov.png"/>
          <p:cNvPicPr>
            <a:picLocks noChangeAspect="1"/>
          </p:cNvPicPr>
          <p:nvPr/>
        </p:nvPicPr>
        <p:blipFill>
          <a:blip r:embed="rId4"/>
          <a:stretch>
            <a:fillRect/>
          </a:stretch>
        </p:blipFill>
        <p:spPr>
          <a:xfrm>
            <a:off x="3508683" y="3781570"/>
            <a:ext cx="5180729" cy="1042415"/>
          </a:xfrm>
          <a:prstGeom prst="rect">
            <a:avLst/>
          </a:prstGeom>
        </p:spPr>
      </p:pic>
      <p:sp>
        <p:nvSpPr>
          <p:cNvPr id="13" name="Rectangle 12"/>
          <p:cNvSpPr/>
          <p:nvPr/>
        </p:nvSpPr>
        <p:spPr>
          <a:xfrm>
            <a:off x="841248" y="50251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524461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says</a:t>
            </a:r>
          </a:p>
          <a:p>
            <a:pPr marL="0" indent="0" algn="l">
              <a:lnSpc>
                <a:spcPts val="1233"/>
              </a:lnSpc>
              <a:spcBef>
                <a:spcPts val="500"/>
              </a:spcBef>
              <a:spcAft>
                <a:spcPts val="0"/>
              </a:spcAft>
              <a:buNone/>
            </a:pPr>
            <a:r>
              <a:rPr sz="1045" b="0" i="0">
                <a:solidFill>
                  <a:srgbClr val="626669"/>
                </a:solidFill>
                <a:latin typeface="Fira Sans"/>
              </a:rPr>
              <a:t>The future is independent of the past given the present. The state must describe where the agent is now well enough that predicting what happens next does not require remembering how it got there.</a:t>
            </a:r>
          </a:p>
        </p:txBody>
      </p:sp>
      <p:sp>
        <p:nvSpPr>
          <p:cNvPr id="16" name="Rectangle 15"/>
          <p:cNvSpPr/>
          <p:nvPr/>
        </p:nvSpPr>
        <p:spPr>
          <a:xfrm>
            <a:off x="4450080" y="524461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50080"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demands of the designer</a:t>
            </a:r>
          </a:p>
          <a:p>
            <a:pPr marL="0" indent="0" algn="l">
              <a:lnSpc>
                <a:spcPts val="1233"/>
              </a:lnSpc>
              <a:spcBef>
                <a:spcPts val="500"/>
              </a:spcBef>
              <a:spcAft>
                <a:spcPts val="0"/>
              </a:spcAft>
              <a:buNone/>
            </a:pPr>
            <a:r>
              <a:rPr sz="1045" b="0" i="0">
                <a:solidFill>
                  <a:srgbClr val="626669"/>
                </a:solidFill>
                <a:latin typeface="Fira Sans"/>
              </a:rPr>
              <a:t>Give the agent enough information to make the environment as close to Markov as possible. If an important variable is omitted, two apparently identical states will have different futures.</a:t>
            </a:r>
          </a:p>
        </p:txBody>
      </p:sp>
      <p:sp>
        <p:nvSpPr>
          <p:cNvPr id="18" name="Rectangle 17"/>
          <p:cNvSpPr/>
          <p:nvPr/>
        </p:nvSpPr>
        <p:spPr>
          <a:xfrm>
            <a:off x="8058912" y="5244610"/>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58912"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costs</a:t>
            </a:r>
          </a:p>
          <a:p>
            <a:pPr marL="0" indent="0" algn="l">
              <a:lnSpc>
                <a:spcPts val="1233"/>
              </a:lnSpc>
              <a:spcBef>
                <a:spcPts val="500"/>
              </a:spcBef>
              <a:spcAft>
                <a:spcPts val="0"/>
              </a:spcAft>
              <a:buNone/>
            </a:pPr>
            <a:r>
              <a:rPr sz="1045" b="0" i="0">
                <a:solidFill>
                  <a:srgbClr val="626669"/>
                </a:solidFill>
                <a:latin typeface="Fira Sans"/>
              </a:rPr>
              <a:t>Adding state variables fixes that, but raises the dimensionality of the state space and makes learning harder. The state representation is a real design trade-off.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STATIONARITY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Stochastic is fine; changing the odds is not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64922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A standard assumption is that the environment’s dynamics are stationary: the probability of a given next state and reward, for a given state–action pair, is the same at every time step.</a:t>
            </a:r>
          </a:p>
        </p:txBody>
      </p:sp>
      <p:pic>
        <p:nvPicPr>
          <p:cNvPr id="9" name="Picture 8" descr="eq_stationar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271475"/>
            <a:ext cx="6492240" cy="338380"/>
          </a:xfrm>
          <a:prstGeom prst="rect">
            <a:avLst/>
          </a:prstGeom>
        </p:spPr>
      </p:pic>
      <p:pic>
        <p:nvPicPr>
          <p:cNvPr id="10" name="Picture 9" descr="stationarity.png"/>
          <p:cNvPicPr>
            <a:picLocks noChangeAspect="1"/>
          </p:cNvPicPr>
          <p:nvPr/>
        </p:nvPicPr>
        <p:blipFill>
          <a:blip r:embed="rId3"/>
          <a:stretch>
            <a:fillRect/>
          </a:stretch>
        </p:blipFill>
        <p:spPr>
          <a:xfrm>
            <a:off x="841248" y="3047865"/>
            <a:ext cx="6492240" cy="2084785"/>
          </a:xfrm>
          <a:prstGeom prst="rect">
            <a:avLst/>
          </a:prstGeom>
        </p:spPr>
      </p:pic>
      <p:sp>
        <p:nvSpPr>
          <p:cNvPr id="11" name="TextBox 10"/>
          <p:cNvSpPr txBox="1"/>
          <p:nvPr/>
        </p:nvSpPr>
        <p:spPr>
          <a:xfrm>
            <a:off x="841248" y="5657759"/>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Both decks are stochastic. Only the right one changes the probabilities as time passes.</a:t>
            </a:r>
          </a:p>
        </p:txBody>
      </p:sp>
      <p:sp>
        <p:nvSpPr>
          <p:cNvPr id="12" name="TextBox 11"/>
          <p:cNvSpPr txBox="1"/>
          <p:nvPr/>
        </p:nvSpPr>
        <p:spPr>
          <a:xfrm>
            <a:off x="7717536" y="1335024"/>
            <a:ext cx="36331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THE DISTINCTION</a:t>
            </a:r>
          </a:p>
          <a:p>
            <a:pPr marL="0" indent="0" algn="l">
              <a:lnSpc>
                <a:spcPts val="1345"/>
              </a:lnSpc>
              <a:spcBef>
                <a:spcPts val="0"/>
              </a:spcBef>
              <a:spcAft>
                <a:spcPts val="0"/>
              </a:spcAft>
              <a:buNone/>
            </a:pPr>
            <a:r>
              <a:rPr sz="1140" b="0" i="0">
                <a:solidFill>
                  <a:srgbClr val="333639"/>
                </a:solidFill>
                <a:latin typeface="Fira Sans"/>
              </a:rPr>
              <a:t>The environment may be highly stochastic — the same action in the same state can produce different outcomes — but the </a:t>
            </a:r>
            <a:r>
              <a:rPr sz="1140" b="1" i="0">
                <a:solidFill>
                  <a:srgbClr val="25282A"/>
                </a:solidFill>
                <a:latin typeface="Fira Sans"/>
              </a:rPr>
              <a:t>probabilities of those outcomes do not themselves change</a:t>
            </a:r>
            <a:r>
              <a:rPr sz="1140" b="0" i="0">
                <a:solidFill>
                  <a:srgbClr val="333639"/>
                </a:solidFill>
                <a:latin typeface="Fira Sans"/>
              </a:rPr>
              <a:t> over time.</a:t>
            </a:r>
          </a:p>
        </p:txBody>
      </p:sp>
      <p:sp>
        <p:nvSpPr>
          <p:cNvPr id="13" name="Rectangle 12"/>
          <p:cNvSpPr/>
          <p:nvPr/>
        </p:nvSpPr>
        <p:spPr>
          <a:xfrm>
            <a:off x="7717536" y="2490137"/>
            <a:ext cx="3633185" cy="958291"/>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717536" y="2490137"/>
            <a:ext cx="41148" cy="958291"/>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36992" y="2636441"/>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Perfect stationarity is rarely guaranteed in practice. Most methods assume the environment is stationary, or at least </a:t>
            </a:r>
            <a:r>
              <a:rPr sz="1092" b="1" i="0">
                <a:solidFill>
                  <a:srgbClr val="333639"/>
                </a:solidFill>
                <a:latin typeface="Fira Sans"/>
              </a:rPr>
              <a:t>sufficiently close to stationary over the timescale of learning</a:t>
            </a:r>
            <a:r>
              <a:rPr sz="1092" b="0" i="0">
                <a:solidFill>
                  <a:srgbClr val="333639"/>
                </a:solidFill>
                <a:latin typeface="Fira Sans"/>
              </a:rPr>
              <a:t>.</a:t>
            </a:r>
          </a:p>
        </p:txBody>
      </p:sp>
      <p:sp>
        <p:nvSpPr>
          <p:cNvPr id="16" name="TextBox 15"/>
          <p:cNvSpPr txBox="1"/>
          <p:nvPr/>
        </p:nvSpPr>
        <p:spPr>
          <a:xfrm>
            <a:off x="7717536" y="3686172"/>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IT MATTERS RIGHT NOW</a:t>
            </a:r>
          </a:p>
        </p:txBody>
      </p:sp>
      <p:sp>
        <p:nvSpPr>
          <p:cNvPr id="17" name="TextBox 16"/>
          <p:cNvSpPr txBox="1"/>
          <p:nvPr/>
        </p:nvSpPr>
        <p:spPr>
          <a:xfrm>
            <a:off x="7717536" y="3942204"/>
            <a:ext cx="36331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the one-step probability is the same whichever t we pick, </a:t>
            </a:r>
            <a:r>
              <a:rPr sz="1092" b="1" i="0">
                <a:solidFill>
                  <a:srgbClr val="25282A"/>
                </a:solidFill>
                <a:latin typeface="Fira Sans"/>
              </a:rPr>
              <a:t>the time index can be dropped altogether</a:t>
            </a:r>
            <a:r>
              <a:rPr sz="1092" b="0" i="0">
                <a:solidFill>
                  <a:srgbClr val="333639"/>
                </a:solidFill>
                <a:latin typeface="Fira Sans"/>
              </a:rPr>
              <a:t> and the probability treated as a function of the state–action pair alone. That is exactly what the next slide does.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THE DYNAMICS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function specifies the entire environment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So far the interaction has carried explicit time subscripts. Thanks to stationarity we can drop them: (s, a) denote the current state and action, and (s′, r) the resulting next state and reward. The dynamics gives the joint probability of every possible next-state–reward pair.</a:t>
            </a:r>
          </a:p>
        </p:txBody>
      </p:sp>
      <p:pic>
        <p:nvPicPr>
          <p:cNvPr id="9" name="Picture 8" descr="eq_dynamic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92297" y="2010333"/>
            <a:ext cx="8207375" cy="895350"/>
          </a:xfrm>
          <a:prstGeom prst="rect">
            <a:avLst/>
          </a:prstGeom>
        </p:spPr>
      </p:pic>
      <p:sp>
        <p:nvSpPr>
          <p:cNvPr id="10" name="Rectangle 9"/>
          <p:cNvSpPr/>
          <p:nvPr/>
        </p:nvSpPr>
        <p:spPr>
          <a:xfrm>
            <a:off x="841248" y="325315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50918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IT IS A PROBABILITY DISTRIBUTION, SO IT NORMALISES</a:t>
            </a:r>
          </a:p>
        </p:txBody>
      </p:sp>
      <p:pic>
        <p:nvPicPr>
          <p:cNvPr id="12" name="Picture 11" descr="eq_dynamics_norm.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783507"/>
            <a:ext cx="5526024" cy="698754"/>
          </a:xfrm>
          <a:prstGeom prst="rect">
            <a:avLst/>
          </a:prstGeom>
        </p:spPr>
      </p:pic>
      <p:sp>
        <p:nvSpPr>
          <p:cNvPr id="13" name="TextBox 12"/>
          <p:cNvSpPr txBox="1"/>
          <p:nvPr/>
        </p:nvSpPr>
        <p:spPr>
          <a:xfrm>
            <a:off x="841248" y="4774869"/>
            <a:ext cx="5943600"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dynamics answers one question: </a:t>
            </a:r>
            <a:r>
              <a:rPr sz="1092" b="0" i="1">
                <a:solidFill>
                  <a:srgbClr val="25282A"/>
                </a:solidFill>
                <a:latin typeface="Fira Sans"/>
              </a:rPr>
              <a:t>if the agent takes an action in a state, what can happen next, and with what probability?</a:t>
            </a:r>
            <a:r>
              <a:rPr sz="1092" b="0" i="0">
                <a:solidFill>
                  <a:srgbClr val="333639"/>
                </a:solidFill>
                <a:latin typeface="Fira Sans"/>
              </a:rPr>
              <a:t> Here 𝒮, 𝒜 and ℛ are assumed finite or countable, so p is a well-defined distribution and the sums make sense. For continuous spaces p becomes a density and the sums become integrals.</a:t>
            </a:r>
          </a:p>
        </p:txBody>
      </p:sp>
      <p:sp>
        <p:nvSpPr>
          <p:cNvPr id="14" name="Rectangle 13"/>
          <p:cNvSpPr/>
          <p:nvPr/>
        </p:nvSpPr>
        <p:spPr>
          <a:xfrm>
            <a:off x="7223760" y="3509187"/>
            <a:ext cx="4126961"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223760" y="3673779"/>
            <a:ext cx="4126961" cy="2978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Everything else follows from it</a:t>
            </a:r>
          </a:p>
        </p:txBody>
      </p:sp>
      <p:sp>
        <p:nvSpPr>
          <p:cNvPr id="16" name="TextBox 15"/>
          <p:cNvSpPr txBox="1"/>
          <p:nvPr/>
        </p:nvSpPr>
        <p:spPr>
          <a:xfrm>
            <a:off x="7424928" y="4057827"/>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B7A3E"/>
                </a:solidFill>
                <a:latin typeface="Fira Sans"/>
              </a:rPr>
              <a:t>p(s′ | s, a)</a:t>
            </a:r>
          </a:p>
          <a:p>
            <a:pPr marL="0" indent="0" algn="l">
              <a:lnSpc>
                <a:spcPts val="1157"/>
              </a:lnSpc>
              <a:spcBef>
                <a:spcPts val="300"/>
              </a:spcBef>
              <a:spcAft>
                <a:spcPts val="0"/>
              </a:spcAft>
              <a:buNone/>
            </a:pPr>
            <a:r>
              <a:rPr sz="997" b="0" i="0">
                <a:solidFill>
                  <a:srgbClr val="626669"/>
                </a:solidFill>
                <a:latin typeface="Fira Sans"/>
              </a:rPr>
              <a:t>the transition function — marginalise over rewards</a:t>
            </a:r>
          </a:p>
        </p:txBody>
      </p:sp>
      <p:sp>
        <p:nvSpPr>
          <p:cNvPr id="17" name="Rectangle 16"/>
          <p:cNvSpPr/>
          <p:nvPr/>
        </p:nvSpPr>
        <p:spPr>
          <a:xfrm>
            <a:off x="7223760" y="4057827"/>
            <a:ext cx="34747" cy="34862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424928" y="4589332"/>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8A5100"/>
                </a:solidFill>
                <a:latin typeface="Fira Sans"/>
              </a:rPr>
              <a:t>p(r | s, a)</a:t>
            </a:r>
          </a:p>
          <a:p>
            <a:pPr marL="0" indent="0" algn="l">
              <a:lnSpc>
                <a:spcPts val="1157"/>
              </a:lnSpc>
              <a:spcBef>
                <a:spcPts val="300"/>
              </a:spcBef>
              <a:spcAft>
                <a:spcPts val="0"/>
              </a:spcAft>
              <a:buNone/>
            </a:pPr>
            <a:r>
              <a:rPr sz="997" b="0" i="0">
                <a:solidFill>
                  <a:srgbClr val="626669"/>
                </a:solidFill>
                <a:latin typeface="Fira Sans"/>
              </a:rPr>
              <a:t>the reward distribution — marginalise over next states</a:t>
            </a:r>
          </a:p>
        </p:txBody>
      </p:sp>
      <p:sp>
        <p:nvSpPr>
          <p:cNvPr id="19" name="Rectangle 18"/>
          <p:cNvSpPr/>
          <p:nvPr/>
        </p:nvSpPr>
        <p:spPr>
          <a:xfrm>
            <a:off x="7223760" y="4589332"/>
            <a:ext cx="34747" cy="34862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24928" y="5120838"/>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574676"/>
                </a:solidFill>
                <a:latin typeface="Fira Sans"/>
              </a:rPr>
              <a:t>r(s, a)</a:t>
            </a:r>
          </a:p>
          <a:p>
            <a:pPr marL="0" indent="0" algn="l">
              <a:lnSpc>
                <a:spcPts val="1157"/>
              </a:lnSpc>
              <a:spcBef>
                <a:spcPts val="300"/>
              </a:spcBef>
              <a:spcAft>
                <a:spcPts val="0"/>
              </a:spcAft>
              <a:buNone/>
            </a:pPr>
            <a:r>
              <a:rPr sz="997" b="0" i="0">
                <a:solidFill>
                  <a:srgbClr val="626669"/>
                </a:solidFill>
                <a:latin typeface="Fira Sans"/>
              </a:rPr>
              <a:t>the expected reward — take the mean of that distribution</a:t>
            </a:r>
          </a:p>
        </p:txBody>
      </p:sp>
      <p:sp>
        <p:nvSpPr>
          <p:cNvPr id="21" name="Rectangle 20"/>
          <p:cNvSpPr/>
          <p:nvPr/>
        </p:nvSpPr>
        <p:spPr>
          <a:xfrm>
            <a:off x="7223760" y="5120838"/>
            <a:ext cx="34747" cy="34862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424928" y="5652343"/>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C8102E"/>
                </a:solidFill>
                <a:latin typeface="Fira Sans"/>
              </a:rPr>
              <a:t>r(s, a, s′)</a:t>
            </a:r>
          </a:p>
          <a:p>
            <a:pPr marL="0" indent="0" algn="l">
              <a:lnSpc>
                <a:spcPts val="1157"/>
              </a:lnSpc>
              <a:spcBef>
                <a:spcPts val="300"/>
              </a:spcBef>
              <a:spcAft>
                <a:spcPts val="0"/>
              </a:spcAft>
              <a:buNone/>
            </a:pPr>
            <a:r>
              <a:rPr sz="997" b="0" i="0">
                <a:solidFill>
                  <a:srgbClr val="626669"/>
                </a:solidFill>
                <a:latin typeface="Fira Sans"/>
              </a:rPr>
              <a:t>the expected reward of a specific transition — condition on s′</a:t>
            </a:r>
          </a:p>
        </p:txBody>
      </p:sp>
      <p:sp>
        <p:nvSpPr>
          <p:cNvPr id="23" name="Rectangle 22"/>
          <p:cNvSpPr/>
          <p:nvPr/>
        </p:nvSpPr>
        <p:spPr>
          <a:xfrm>
            <a:off x="7223760" y="5652343"/>
            <a:ext cx="34747" cy="34862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MARGINALISING THE DYNAMICS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Sum out the variable you do not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If we care only about where the environment moves next, regardless of the reward, we sum over all possible rewards. If we care only about the reward, regardless of the next state reached, we sum over all possible next states.</a:t>
            </a:r>
          </a:p>
        </p:txBody>
      </p:sp>
      <p:sp>
        <p:nvSpPr>
          <p:cNvPr id="9" name="Rectangle 8"/>
          <p:cNvSpPr/>
          <p:nvPr/>
        </p:nvSpPr>
        <p:spPr>
          <a:xfrm>
            <a:off x="841248" y="2010333"/>
            <a:ext cx="498348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56637"/>
            <a:ext cx="498348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Sum out the reward</a:t>
            </a:r>
          </a:p>
        </p:txBody>
      </p:sp>
      <p:pic>
        <p:nvPicPr>
          <p:cNvPr id="11" name="Picture 10" descr="eq_marg_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542882"/>
            <a:ext cx="4065269" cy="807466"/>
          </a:xfrm>
          <a:prstGeom prst="rect">
            <a:avLst/>
          </a:prstGeom>
        </p:spPr>
      </p:pic>
      <p:sp>
        <p:nvSpPr>
          <p:cNvPr id="12" name="TextBox 11"/>
          <p:cNvSpPr txBox="1"/>
          <p:nvPr/>
        </p:nvSpPr>
        <p:spPr>
          <a:xfrm>
            <a:off x="841248" y="3588092"/>
            <a:ext cx="498348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What remains is a distribution over possible next states — the transition function, the object most people mean by “the model”.</a:t>
            </a:r>
          </a:p>
        </p:txBody>
      </p:sp>
      <p:sp>
        <p:nvSpPr>
          <p:cNvPr id="13" name="Rectangle 12"/>
          <p:cNvSpPr/>
          <p:nvPr/>
        </p:nvSpPr>
        <p:spPr>
          <a:xfrm>
            <a:off x="6373368" y="2010333"/>
            <a:ext cx="498348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73368" y="2156637"/>
            <a:ext cx="498348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Sum out the next state</a:t>
            </a:r>
          </a:p>
        </p:txBody>
      </p:sp>
      <p:pic>
        <p:nvPicPr>
          <p:cNvPr id="15" name="Picture 14" descr="eq_marg_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73368" y="2542882"/>
            <a:ext cx="4137914" cy="807466"/>
          </a:xfrm>
          <a:prstGeom prst="rect">
            <a:avLst/>
          </a:prstGeom>
        </p:spPr>
      </p:pic>
      <p:sp>
        <p:nvSpPr>
          <p:cNvPr id="16" name="TextBox 15"/>
          <p:cNvSpPr txBox="1"/>
          <p:nvPr/>
        </p:nvSpPr>
        <p:spPr>
          <a:xfrm>
            <a:off x="6373368" y="3588092"/>
            <a:ext cx="498348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What remains is a distribution over possible rewards, telling us how likely each reward value is after taking an action in a state.</a:t>
            </a:r>
          </a:p>
        </p:txBody>
      </p:sp>
      <p:sp>
        <p:nvSpPr>
          <p:cNvPr id="17" name="Rectangle 16"/>
          <p:cNvSpPr/>
          <p:nvPr/>
        </p:nvSpPr>
        <p:spPr>
          <a:xfrm>
            <a:off x="841248" y="421354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443299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BOTH MARGINALS ARE THEMSELVES NORMALISED</a:t>
            </a:r>
          </a:p>
        </p:txBody>
      </p:sp>
      <p:pic>
        <p:nvPicPr>
          <p:cNvPr id="19" name="Picture 18" descr="eq_marg_norm.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9662" y="4689030"/>
            <a:ext cx="5152644" cy="698754"/>
          </a:xfrm>
          <a:prstGeom prst="rect">
            <a:avLst/>
          </a:prstGeom>
        </p:spPr>
      </p:pic>
      <p:sp>
        <p:nvSpPr>
          <p:cNvPr id="20" name="Rectangle 19"/>
          <p:cNvSpPr/>
          <p:nvPr/>
        </p:nvSpPr>
        <p:spPr>
          <a:xfrm>
            <a:off x="841248" y="5643816"/>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643816"/>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790120"/>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joint dynamics is the fundamental object. </a:t>
            </a:r>
            <a:r>
              <a:rPr sz="1140" b="1" i="0">
                <a:solidFill>
                  <a:srgbClr val="333639"/>
                </a:solidFill>
                <a:latin typeface="Fira Sans"/>
              </a:rPr>
              <a:t>The transition probabilities, the reward distribution and every expected reward are obtained from it</a:t>
            </a:r>
            <a:r>
              <a:rPr sz="1140" b="0" i="0">
                <a:solidFill>
                  <a:srgbClr val="333639"/>
                </a:solidFill>
                <a:latin typeface="Fira Sans"/>
              </a:rPr>
              <a:t> by marginalisation or conditioning — which is why specifying p is the same as specifying the environment.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3.6  THE REWARD HYPOTHESIS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goal is a number the agent is asked to maximise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Using a reward signal to formalise a goal is the most distinctive feature of reinforcement learning. The </a:t>
            </a:r>
            <a:r>
              <a:rPr sz="1188" b="1" i="0">
                <a:solidFill>
                  <a:srgbClr val="25282A"/>
                </a:solidFill>
                <a:latin typeface="Fira Sans"/>
              </a:rPr>
              <a:t>reward hypothesis</a:t>
            </a:r>
            <a:r>
              <a:rPr sz="1188" b="0" i="0">
                <a:solidFill>
                  <a:srgbClr val="333639"/>
                </a:solidFill>
                <a:latin typeface="Fira Sans"/>
              </a:rPr>
              <a:t> states that all goals can be described as the maximisation of the expected cumulative reward.</a:t>
            </a:r>
          </a:p>
        </p:txBody>
      </p:sp>
      <p:pic>
        <p:nvPicPr>
          <p:cNvPr id="9" name="Picture 8" descr="reward_fn.png"/>
          <p:cNvPicPr>
            <a:picLocks noChangeAspect="1"/>
          </p:cNvPicPr>
          <p:nvPr/>
        </p:nvPicPr>
        <p:blipFill>
          <a:blip r:embed="rId2"/>
          <a:stretch>
            <a:fillRect/>
          </a:stretch>
        </p:blipFill>
        <p:spPr>
          <a:xfrm>
            <a:off x="841248" y="2239178"/>
            <a:ext cx="6492240" cy="2031495"/>
          </a:xfrm>
          <a:prstGeom prst="rect">
            <a:avLst/>
          </a:prstGeom>
        </p:spPr>
      </p:pic>
      <p:sp>
        <p:nvSpPr>
          <p:cNvPr id="10" name="TextBox 9"/>
          <p:cNvSpPr txBox="1"/>
          <p:nvPr/>
        </p:nvSpPr>
        <p:spPr>
          <a:xfrm>
            <a:off x="841248" y="4481900"/>
            <a:ext cx="64922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One action, four possible outcomes, each with its own probability and its own reward. The reward function is what turns the outcome into a number.</a:t>
            </a:r>
          </a:p>
        </p:txBody>
      </p:sp>
      <p:sp>
        <p:nvSpPr>
          <p:cNvPr id="11" name="Rectangle 10"/>
          <p:cNvSpPr/>
          <p:nvPr/>
        </p:nvSpPr>
        <p:spPr>
          <a:xfrm>
            <a:off x="841248" y="5091875"/>
            <a:ext cx="64922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311331"/>
            <a:ext cx="30906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5439347"/>
            <a:ext cx="3090672"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Positive rewards</a:t>
            </a:r>
          </a:p>
          <a:p>
            <a:pPr marL="0" indent="0" algn="l">
              <a:lnSpc>
                <a:spcPts val="1233"/>
              </a:lnSpc>
              <a:spcBef>
                <a:spcPts val="400"/>
              </a:spcBef>
              <a:spcAft>
                <a:spcPts val="0"/>
              </a:spcAft>
              <a:buNone/>
            </a:pPr>
            <a:r>
              <a:rPr sz="1045" b="0" i="0">
                <a:solidFill>
                  <a:srgbClr val="626669"/>
                </a:solidFill>
                <a:latin typeface="Fira Sans"/>
              </a:rPr>
              <a:t>A desirable outcome: winning a game, reaching a destination, placing the object in the container.</a:t>
            </a:r>
          </a:p>
        </p:txBody>
      </p:sp>
      <p:sp>
        <p:nvSpPr>
          <p:cNvPr id="14" name="Rectangle 13"/>
          <p:cNvSpPr/>
          <p:nvPr/>
        </p:nvSpPr>
        <p:spPr>
          <a:xfrm>
            <a:off x="4242816" y="5311331"/>
            <a:ext cx="3090672"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242816" y="5439347"/>
            <a:ext cx="3090672"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Negative rewards</a:t>
            </a:r>
          </a:p>
          <a:p>
            <a:pPr marL="0" indent="0" algn="l">
              <a:lnSpc>
                <a:spcPts val="1233"/>
              </a:lnSpc>
              <a:spcBef>
                <a:spcPts val="400"/>
              </a:spcBef>
              <a:spcAft>
                <a:spcPts val="0"/>
              </a:spcAft>
              <a:buNone/>
            </a:pPr>
            <a:r>
              <a:rPr sz="1045" b="0" i="0">
                <a:solidFill>
                  <a:srgbClr val="626669"/>
                </a:solidFill>
                <a:latin typeface="Fira Sans"/>
              </a:rPr>
              <a:t>A cost or penalty: losing the game, consuming energy, colliding with an obstacle.</a:t>
            </a:r>
          </a:p>
        </p:txBody>
      </p:sp>
      <p:sp>
        <p:nvSpPr>
          <p:cNvPr id="16" name="Rectangle 15"/>
          <p:cNvSpPr/>
          <p:nvPr/>
        </p:nvSpPr>
        <p:spPr>
          <a:xfrm>
            <a:off x="7717536" y="1335024"/>
            <a:ext cx="36331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717536" y="1335024"/>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36992" y="1481328"/>
            <a:ext cx="33405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RULE THAT IS EASY TO BREAK</a:t>
            </a:r>
          </a:p>
        </p:txBody>
      </p:sp>
      <p:sp>
        <p:nvSpPr>
          <p:cNvPr id="19" name="TextBox 18"/>
          <p:cNvSpPr txBox="1"/>
          <p:nvPr/>
        </p:nvSpPr>
        <p:spPr>
          <a:xfrm>
            <a:off x="7936992" y="1719072"/>
            <a:ext cx="3249137"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reward should specify </a:t>
            </a:r>
            <a:r>
              <a:rPr sz="1092" b="1" i="0">
                <a:solidFill>
                  <a:srgbClr val="333639"/>
                </a:solidFill>
                <a:latin typeface="Fira Sans"/>
              </a:rPr>
              <a:t>what</a:t>
            </a:r>
            <a:r>
              <a:rPr sz="1092" b="0" i="0">
                <a:solidFill>
                  <a:srgbClr val="333639"/>
                </a:solidFill>
                <a:latin typeface="Fira Sans"/>
              </a:rPr>
              <a:t> we want the agent to achieve, not </a:t>
            </a:r>
            <a:r>
              <a:rPr sz="1092" b="1" i="0">
                <a:solidFill>
                  <a:srgbClr val="333639"/>
                </a:solidFill>
                <a:latin typeface="Fira Sans"/>
              </a:rPr>
              <a:t>how</a:t>
            </a:r>
            <a:r>
              <a:rPr sz="1092" b="0" i="0">
                <a:solidFill>
                  <a:srgbClr val="333639"/>
                </a:solidFill>
                <a:latin typeface="Fira Sans"/>
              </a:rPr>
              <a:t> we want it achieved. Prior knowledge about how to solve the task should not be encoded by rewarding particular actions simply because we believe they are useful.</a:t>
            </a:r>
          </a:p>
        </p:txBody>
      </p:sp>
      <p:sp>
        <p:nvSpPr>
          <p:cNvPr id="20" name="TextBox 19"/>
          <p:cNvSpPr txBox="1"/>
          <p:nvPr/>
        </p:nvSpPr>
        <p:spPr>
          <a:xfrm>
            <a:off x="7717536" y="3119932"/>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THAT RULE EXISTS</a:t>
            </a:r>
          </a:p>
        </p:txBody>
      </p:sp>
      <p:sp>
        <p:nvSpPr>
          <p:cNvPr id="21" name="TextBox 20"/>
          <p:cNvSpPr txBox="1"/>
          <p:nvPr/>
        </p:nvSpPr>
        <p:spPr>
          <a:xfrm>
            <a:off x="7717536" y="3375964"/>
            <a:ext cx="36331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Rewarding actions fixes the solution.</a:t>
            </a:r>
            <a:r>
              <a:rPr sz="1092" b="0" i="0">
                <a:solidFill>
                  <a:srgbClr val="333639"/>
                </a:solidFill>
                <a:latin typeface="Fira Sans"/>
              </a:rPr>
              <a:t> The agent can then never discover a better route than the one the designer imagined.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Rewarding outcomes leaves the method open.</a:t>
            </a:r>
            <a:r>
              <a:rPr sz="1092" b="0" i="0">
                <a:solidFill>
                  <a:srgbClr val="333639"/>
                </a:solidFill>
                <a:latin typeface="Fira Sans"/>
              </a:rPr>
              <a:t> Any behaviour that produces the outcome scores well, including ones nobody anticipated.</a:t>
            </a:r>
          </a:p>
          <a:p>
            <a:pPr marL="173736" indent="-173736" algn="l">
              <a:lnSpc>
                <a:spcPts val="1289"/>
              </a:lnSpc>
              <a:spcBef>
                <a:spcPts val="600"/>
              </a:spcBef>
              <a:spcAft>
                <a:spcPts val="0"/>
              </a:spcAft>
              <a:buClr>
                <a:srgbClr val="1971C2"/>
              </a:buClr>
              <a:buFont typeface="Fira Sans"/>
              <a:buChar char="–"/>
            </a:pPr>
            <a:r>
              <a:rPr sz="1092" b="1" i="0">
                <a:solidFill>
                  <a:srgbClr val="574676"/>
                </a:solidFill>
                <a:latin typeface="Fira Sans"/>
              </a:rPr>
              <a:t>This is Chapter 01 §4.2 again</a:t>
            </a:r>
            <a:r>
              <a:rPr sz="1092" b="0" i="0">
                <a:solidFill>
                  <a:srgbClr val="333639"/>
                </a:solidFill>
                <a:latin typeface="Fira Sans"/>
              </a:rPr>
              <a:t>, now as the central design decision rather than a cautionary note.</a:t>
            </a:r>
          </a:p>
        </p:txBody>
      </p:sp>
      <p:sp>
        <p:nvSpPr>
          <p:cNvPr id="22" name="Rectangle 21"/>
          <p:cNvSpPr/>
          <p:nvPr/>
        </p:nvSpPr>
        <p:spPr>
          <a:xfrm>
            <a:off x="7717536" y="5111861"/>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717536" y="5111861"/>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36992" y="5258165"/>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reward is random in general: the same state–action pair may produce different rewards on different transitions. The next slide makes that precise.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3.7  EXPECTED REWARD OF A STATE–ACTION PAIR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reward is random, so what the agent plans against is its mean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21</a:t>
            </a:r>
          </a:p>
        </p:txBody>
      </p:sp>
      <p:sp>
        <p:nvSpPr>
          <p:cNvPr id="8" name="TextBox 7"/>
          <p:cNvSpPr txBox="1"/>
          <p:nvPr/>
        </p:nvSpPr>
        <p:spPr>
          <a:xfrm>
            <a:off x="841248" y="1316736"/>
            <a:ext cx="67208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same state–action pair may produce different rewards on different transitions. The marginal p(r | s, a) tells us how likely each reward value is; the expected reward is simply the mean of that distribution.</a:t>
            </a:r>
          </a:p>
        </p:txBody>
      </p:sp>
      <p:sp>
        <p:nvSpPr>
          <p:cNvPr id="9" name="TextBox 8"/>
          <p:cNvSpPr txBox="1"/>
          <p:nvPr/>
        </p:nvSpPr>
        <p:spPr>
          <a:xfrm>
            <a:off x="841248" y="2143262"/>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AS THE MEAN OF THE REWARD MARGINAL</a:t>
            </a:r>
          </a:p>
        </p:txBody>
      </p:sp>
      <p:pic>
        <p:nvPicPr>
          <p:cNvPr id="10" name="Picture 9" descr="eq_r_s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417582"/>
            <a:ext cx="6456807" cy="696087"/>
          </a:xfrm>
          <a:prstGeom prst="rect">
            <a:avLst/>
          </a:prstGeom>
        </p:spPr>
      </p:pic>
      <p:sp>
        <p:nvSpPr>
          <p:cNvPr id="11" name="Rectangle 10"/>
          <p:cNvSpPr/>
          <p:nvPr/>
        </p:nvSpPr>
        <p:spPr>
          <a:xfrm>
            <a:off x="841248" y="3424565"/>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66230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OR STRAIGHT FROM THE JOINT DYNAMICS</a:t>
            </a:r>
          </a:p>
        </p:txBody>
      </p:sp>
      <p:pic>
        <p:nvPicPr>
          <p:cNvPr id="13" name="Picture 12" descr="eq_r_sa_join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936629"/>
            <a:ext cx="3664458" cy="698754"/>
          </a:xfrm>
          <a:prstGeom prst="rect">
            <a:avLst/>
          </a:prstGeom>
        </p:spPr>
      </p:pic>
      <p:sp>
        <p:nvSpPr>
          <p:cNvPr id="14" name="TextBox 13"/>
          <p:cNvSpPr txBox="1"/>
          <p:nvPr/>
        </p:nvSpPr>
        <p:spPr>
          <a:xfrm>
            <a:off x="841248" y="4909703"/>
            <a:ext cx="672084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two are the same calculation. The inner sum over s′ rebuilds the reward marginal; the outer sum takes its mean. Writing it the second way avoids naming the marginal at all — useful once we start </a:t>
            </a:r>
            <a:r>
              <a:rPr sz="1092" b="1" i="0">
                <a:solidFill>
                  <a:srgbClr val="25282A"/>
                </a:solidFill>
                <a:latin typeface="Fira Sans"/>
              </a:rPr>
              <a:t>substituting the dynamics into the Bellman equations</a:t>
            </a:r>
            <a:r>
              <a:rPr sz="1092" b="0" i="0">
                <a:solidFill>
                  <a:srgbClr val="333639"/>
                </a:solidFill>
                <a:latin typeface="Fira Sans"/>
              </a:rPr>
              <a:t> in Chapter 03.</a:t>
            </a:r>
          </a:p>
        </p:txBody>
      </p:sp>
      <p:sp>
        <p:nvSpPr>
          <p:cNvPr id="15" name="TextBox 14"/>
          <p:cNvSpPr txBox="1"/>
          <p:nvPr/>
        </p:nvSpPr>
        <p:spPr>
          <a:xfrm>
            <a:off x="7946136" y="1335024"/>
            <a:ext cx="3404585" cy="110649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8A5100"/>
                </a:solidFill>
                <a:latin typeface="Fira Sans Medium"/>
              </a:rPr>
              <a:t>READING THE EXPECTATION</a:t>
            </a:r>
          </a:p>
          <a:p>
            <a:pPr marL="0" indent="0" algn="l">
              <a:lnSpc>
                <a:spcPts val="1345"/>
              </a:lnSpc>
              <a:spcBef>
                <a:spcPts val="0"/>
              </a:spcBef>
              <a:spcAft>
                <a:spcPts val="0"/>
              </a:spcAft>
              <a:buNone/>
            </a:pPr>
            <a:r>
              <a:rPr sz="1140" b="0" i="0">
                <a:solidFill>
                  <a:srgbClr val="333639"/>
                </a:solidFill>
                <a:latin typeface="Fira Sans"/>
              </a:rPr>
              <a:t>The conditioning bar carries the whole meaning: </a:t>
            </a:r>
            <a:r>
              <a:rPr sz="1140" b="1" i="0">
                <a:solidFill>
                  <a:srgbClr val="25282A"/>
                </a:solidFill>
                <a:latin typeface="Fira Sans"/>
              </a:rPr>
              <a:t>average over the randomness of the environment</a:t>
            </a:r>
            <a:r>
              <a:rPr sz="1140" b="0" i="0">
                <a:solidFill>
                  <a:srgbClr val="333639"/>
                </a:solidFill>
                <a:latin typeface="Fira Sans"/>
              </a:rPr>
              <a:t>, holding the state and the action fixed. The agent chooses s and a; everything to the right of the bar is what it cannot control.</a:t>
            </a:r>
          </a:p>
        </p:txBody>
      </p:sp>
      <p:sp>
        <p:nvSpPr>
          <p:cNvPr id="16" name="Rectangle 15"/>
          <p:cNvSpPr/>
          <p:nvPr/>
        </p:nvSpPr>
        <p:spPr>
          <a:xfrm>
            <a:off x="7946136" y="2679265"/>
            <a:ext cx="34045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946136" y="2679265"/>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65592" y="2825569"/>
            <a:ext cx="31119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A CONVENTION TO FIX</a:t>
            </a:r>
          </a:p>
        </p:txBody>
      </p:sp>
      <p:sp>
        <p:nvSpPr>
          <p:cNvPr id="19" name="TextBox 18"/>
          <p:cNvSpPr txBox="1"/>
          <p:nvPr/>
        </p:nvSpPr>
        <p:spPr>
          <a:xfrm>
            <a:off x="8165592" y="3063313"/>
            <a:ext cx="3020537"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the index. </a:t>
            </a:r>
            <a:r>
              <a:rPr sz="1092" b="1" i="0">
                <a:solidFill>
                  <a:srgbClr val="333639"/>
                </a:solidFill>
                <a:latin typeface="Fira Sans"/>
              </a:rPr>
              <a:t>R_t</a:t>
            </a:r>
            <a:r>
              <a:rPr sz="1092" b="0" i="0">
                <a:solidFill>
                  <a:srgbClr val="333639"/>
                </a:solidFill>
                <a:latin typeface="Fira Sans"/>
              </a:rPr>
              <a:t> is the reward produced by the action taken in state S_{t−1}. The reward for a decision always arrives at the following time step — a convention worth fixing now, because every equation in the course depends on it.</a:t>
            </a:r>
          </a:p>
        </p:txBody>
      </p:sp>
      <p:sp>
        <p:nvSpPr>
          <p:cNvPr id="20" name="TextBox 19"/>
          <p:cNvSpPr txBox="1"/>
          <p:nvPr/>
        </p:nvSpPr>
        <p:spPr>
          <a:xfrm>
            <a:off x="7946136" y="4445886"/>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THIS IS FOR</a:t>
            </a:r>
          </a:p>
        </p:txBody>
      </p:sp>
      <p:sp>
        <p:nvSpPr>
          <p:cNvPr id="21" name="TextBox 20"/>
          <p:cNvSpPr txBox="1"/>
          <p:nvPr/>
        </p:nvSpPr>
        <p:spPr>
          <a:xfrm>
            <a:off x="7946136" y="4701918"/>
            <a:ext cx="34045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the quantity that will appear inside the Bellman equations. Everything the agent needs to know about the reward, for planning purposes, is contained in this one number per state–action pair.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3.8  EXPECTED REWARD OF A SPECIFIC TRANSITION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Conditioning also on where the environment actually moved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Sometimes we want the expected reward of a particular transition, conditioning not only on the starting state and action but also on the next state. The reward distribution is then obtained by conditioning the joint dynamics on that next state — hence the ratio.</a:t>
            </a:r>
          </a:p>
        </p:txBody>
      </p:sp>
      <p:pic>
        <p:nvPicPr>
          <p:cNvPr id="9" name="Picture 8" descr="eq_r_sa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87483" y="1940905"/>
            <a:ext cx="8017002" cy="794766"/>
          </a:xfrm>
          <a:prstGeom prst="rect">
            <a:avLst/>
          </a:prstGeom>
        </p:spPr>
      </p:pic>
      <p:sp>
        <p:nvSpPr>
          <p:cNvPr id="10" name="Rectangle 9"/>
          <p:cNvSpPr/>
          <p:nvPr/>
        </p:nvSpPr>
        <p:spPr>
          <a:xfrm>
            <a:off x="841248" y="302827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4773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AVERAGING BACK OVER THE NEXT STATES RECOVERS R(S, A)</a:t>
            </a:r>
          </a:p>
        </p:txBody>
      </p:sp>
      <p:pic>
        <p:nvPicPr>
          <p:cNvPr id="12" name="Picture 11" descr="eq_r_recove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522055"/>
            <a:ext cx="4059682" cy="732027"/>
          </a:xfrm>
          <a:prstGeom prst="rect">
            <a:avLst/>
          </a:prstGeom>
        </p:spPr>
      </p:pic>
      <p:sp>
        <p:nvSpPr>
          <p:cNvPr id="13" name="TextBox 12"/>
          <p:cNvSpPr txBox="1"/>
          <p:nvPr/>
        </p:nvSpPr>
        <p:spPr>
          <a:xfrm>
            <a:off x="841248" y="4491827"/>
            <a:ext cx="576072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law of total expectation, written for this case: average the transition rewards, weighted by how likely each transition is.</a:t>
            </a:r>
          </a:p>
        </p:txBody>
      </p:sp>
      <p:sp>
        <p:nvSpPr>
          <p:cNvPr id="14" name="Rectangle 13"/>
          <p:cNvSpPr/>
          <p:nvPr/>
        </p:nvSpPr>
        <p:spPr>
          <a:xfrm>
            <a:off x="841248" y="5080701"/>
            <a:ext cx="576072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22700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WHEN EACH FORM IS THE USEFUL ONE</a:t>
            </a:r>
          </a:p>
        </p:txBody>
      </p:sp>
      <p:sp>
        <p:nvSpPr>
          <p:cNvPr id="16" name="TextBox 15"/>
          <p:cNvSpPr txBox="1"/>
          <p:nvPr/>
        </p:nvSpPr>
        <p:spPr>
          <a:xfrm>
            <a:off x="841248" y="5464749"/>
            <a:ext cx="5760720" cy="603717"/>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574676"/>
                </a:solidFill>
                <a:latin typeface="Fira Sans"/>
              </a:rPr>
              <a:t>r(s, a)</a:t>
            </a:r>
            <a:r>
              <a:rPr sz="1092" b="0" i="0">
                <a:solidFill>
                  <a:srgbClr val="333639"/>
                </a:solidFill>
                <a:latin typeface="Fira Sans"/>
              </a:rPr>
              <a:t> appears in the Bellman equations: the agent chooses s and a, not s′.</a:t>
            </a:r>
          </a:p>
          <a:p>
            <a:pPr marL="173736" indent="-173736" algn="l">
              <a:lnSpc>
                <a:spcPts val="1289"/>
              </a:lnSpc>
              <a:spcBef>
                <a:spcPts val="600"/>
              </a:spcBef>
              <a:spcAft>
                <a:spcPts val="0"/>
              </a:spcAft>
              <a:buClr>
                <a:srgbClr val="1971C2"/>
              </a:buClr>
              <a:buFont typeface="Fira Sans"/>
              <a:buChar char="–"/>
            </a:pPr>
            <a:r>
              <a:rPr sz="1092" b="1" i="0">
                <a:solidFill>
                  <a:srgbClr val="C8102E"/>
                </a:solidFill>
                <a:latin typeface="Fira Sans"/>
              </a:rPr>
              <a:t>r(s, a, s′)</a:t>
            </a:r>
            <a:r>
              <a:rPr sz="1092" b="0" i="0">
                <a:solidFill>
                  <a:srgbClr val="333639"/>
                </a:solidFill>
                <a:latin typeface="Fira Sans"/>
              </a:rPr>
              <a:t> is what an environment implementation returns: the reward observed on the transition that actually occurred.</a:t>
            </a:r>
          </a:p>
        </p:txBody>
      </p:sp>
      <p:sp>
        <p:nvSpPr>
          <p:cNvPr id="17" name="Rectangle 16"/>
          <p:cNvSpPr/>
          <p:nvPr/>
        </p:nvSpPr>
        <p:spPr>
          <a:xfrm>
            <a:off x="7059168" y="3247735"/>
            <a:ext cx="4291553"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059168" y="3412327"/>
            <a:ext cx="4291553" cy="1017079"/>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The joint dynamics is the fundamental object</a:t>
            </a:r>
          </a:p>
          <a:p>
            <a:pPr marL="0" indent="0" algn="l">
              <a:lnSpc>
                <a:spcPts val="1391"/>
              </a:lnSpc>
              <a:spcBef>
                <a:spcPts val="700"/>
              </a:spcBef>
              <a:spcAft>
                <a:spcPts val="0"/>
              </a:spcAft>
              <a:buNone/>
            </a:pPr>
            <a:r>
              <a:rPr sz="1140" b="0" i="0">
                <a:solidFill>
                  <a:srgbClr val="333639"/>
                </a:solidFill>
                <a:latin typeface="Fira Sans"/>
              </a:rPr>
              <a:t>The transition probabilities, the reward distribution and both expected rewards are all obtained from p(s′, r | s, a) by marginalisation or conditioning. </a:t>
            </a:r>
            <a:r>
              <a:rPr sz="1140" b="1" i="0">
                <a:solidFill>
                  <a:srgbClr val="25282A"/>
                </a:solidFill>
                <a:latin typeface="Fira Sans"/>
              </a:rPr>
              <a:t>Specifying p is specifying the environment</a:t>
            </a:r>
            <a:r>
              <a:rPr sz="1140" b="0" i="0">
                <a:solidFill>
                  <a:srgbClr val="333639"/>
                </a:solidFill>
                <a:latin typeface="Fira Sans"/>
              </a:rPr>
              <a:t> — there is nothing else left to say about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3.9  EXTENSIONS OF THE FRAMEWORK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three objects, in harder settings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MDP framework is abstract and flexible: the meaning of states and actions depends entirely on the problem. Actions may be voltages applied to a motor or the decision to attend graduate school; states may be raw sensor readings or symbolic descriptions of a room.</a:t>
            </a:r>
          </a:p>
        </p:txBody>
      </p:sp>
      <p:sp>
        <p:nvSpPr>
          <p:cNvPr id="9" name="Rectangle 8"/>
          <p:cNvSpPr/>
          <p:nvPr/>
        </p:nvSpPr>
        <p:spPr>
          <a:xfrm>
            <a:off x="841248"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10333"/>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193213"/>
            <a:ext cx="2919984" cy="129178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Medium"/>
              </a:rPr>
              <a:t>POMDP</a:t>
            </a:r>
          </a:p>
          <a:p>
            <a:pPr marL="0" indent="0" algn="l">
              <a:lnSpc>
                <a:spcPts val="1331"/>
              </a:lnSpc>
              <a:spcBef>
                <a:spcPts val="600"/>
              </a:spcBef>
              <a:spcAft>
                <a:spcPts val="0"/>
              </a:spcAft>
              <a:buNone/>
            </a:pPr>
            <a:r>
              <a:rPr sz="1188" b="1" i="0">
                <a:solidFill>
                  <a:srgbClr val="25282A"/>
                </a:solidFill>
                <a:latin typeface="Fira Sans"/>
              </a:rPr>
              <a:t>Partially Observable MDP</a:t>
            </a:r>
          </a:p>
          <a:p>
            <a:pPr marL="0" indent="0" algn="l">
              <a:lnSpc>
                <a:spcPts val="1254"/>
              </a:lnSpc>
              <a:spcBef>
                <a:spcPts val="700"/>
              </a:spcBef>
              <a:spcAft>
                <a:spcPts val="0"/>
              </a:spcAft>
              <a:buNone/>
            </a:pPr>
            <a:r>
              <a:rPr sz="1045" b="0" i="0">
                <a:solidFill>
                  <a:srgbClr val="333639"/>
                </a:solidFill>
                <a:latin typeface="Fira Sans"/>
              </a:rPr>
              <a:t>The agent cannot directly observe the complete state and must act on partial observations. This is the state-versus-observation distinction of §1.4, taken seriously: the agent maintains a belief over states rather than a state.</a:t>
            </a:r>
          </a:p>
        </p:txBody>
      </p:sp>
      <p:sp>
        <p:nvSpPr>
          <p:cNvPr id="12" name="Rectangle 11"/>
          <p:cNvSpPr/>
          <p:nvPr/>
        </p:nvSpPr>
        <p:spPr>
          <a:xfrm>
            <a:off x="4456176"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456176" y="2010333"/>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639056" y="2193213"/>
            <a:ext cx="2919984" cy="113252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Medium"/>
              </a:rPr>
              <a:t>CONTINUOUS</a:t>
            </a:r>
          </a:p>
          <a:p>
            <a:pPr marL="0" indent="0" algn="l">
              <a:lnSpc>
                <a:spcPts val="1331"/>
              </a:lnSpc>
              <a:spcBef>
                <a:spcPts val="600"/>
              </a:spcBef>
              <a:spcAft>
                <a:spcPts val="0"/>
              </a:spcAft>
              <a:buNone/>
            </a:pPr>
            <a:r>
              <a:rPr sz="1188" b="1" i="0">
                <a:solidFill>
                  <a:srgbClr val="25282A"/>
                </a:solidFill>
                <a:latin typeface="Fira Sans"/>
              </a:rPr>
              <a:t>Continuous states, actions or time</a:t>
            </a:r>
          </a:p>
          <a:p>
            <a:pPr marL="0" indent="0" algn="l">
              <a:lnSpc>
                <a:spcPts val="1254"/>
              </a:lnSpc>
              <a:spcBef>
                <a:spcPts val="700"/>
              </a:spcBef>
              <a:spcAft>
                <a:spcPts val="0"/>
              </a:spcAft>
              <a:buNone/>
            </a:pPr>
            <a:r>
              <a:rPr sz="1045" b="0" i="0">
                <a:solidFill>
                  <a:srgbClr val="333639"/>
                </a:solidFill>
                <a:latin typeface="Fira Sans"/>
              </a:rPr>
              <a:t>States, actions, or both take values in continuous spaces; p becomes a density and the sums become integrals. The framework also extends from discrete to continuous time.</a:t>
            </a:r>
          </a:p>
        </p:txBody>
      </p:sp>
      <p:sp>
        <p:nvSpPr>
          <p:cNvPr id="15" name="Rectangle 14"/>
          <p:cNvSpPr/>
          <p:nvPr/>
        </p:nvSpPr>
        <p:spPr>
          <a:xfrm>
            <a:off x="8071104"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071104" y="2010333"/>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53983" y="2193213"/>
            <a:ext cx="2919984" cy="129178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MULTI-AGENT</a:t>
            </a:r>
          </a:p>
          <a:p>
            <a:pPr marL="0" indent="0" algn="l">
              <a:lnSpc>
                <a:spcPts val="1331"/>
              </a:lnSpc>
              <a:spcBef>
                <a:spcPts val="600"/>
              </a:spcBef>
              <a:spcAft>
                <a:spcPts val="0"/>
              </a:spcAft>
              <a:buNone/>
            </a:pPr>
            <a:r>
              <a:rPr sz="1188" b="1" i="0">
                <a:solidFill>
                  <a:srgbClr val="25282A"/>
                </a:solidFill>
                <a:latin typeface="Fira Sans"/>
              </a:rPr>
              <a:t>Several decision makers</a:t>
            </a:r>
          </a:p>
          <a:p>
            <a:pPr marL="0" indent="0" algn="l">
              <a:lnSpc>
                <a:spcPts val="1254"/>
              </a:lnSpc>
              <a:spcBef>
                <a:spcPts val="700"/>
              </a:spcBef>
              <a:spcAft>
                <a:spcPts val="0"/>
              </a:spcAft>
              <a:buNone/>
            </a:pPr>
            <a:r>
              <a:rPr sz="1045" b="0" i="0">
                <a:solidFill>
                  <a:srgbClr val="333639"/>
                </a:solidFill>
                <a:latin typeface="Fira Sans"/>
              </a:rPr>
              <a:t>Multiple agents interact within the same environment, so its evolution depends on more than one decision maker — and each agent’s environment is non-stationary from its own point of view.</a:t>
            </a:r>
          </a:p>
        </p:txBody>
      </p:sp>
      <p:sp>
        <p:nvSpPr>
          <p:cNvPr id="18" name="Rectangle 17"/>
          <p:cNvSpPr/>
          <p:nvPr/>
        </p:nvSpPr>
        <p:spPr>
          <a:xfrm>
            <a:off x="841248" y="4662093"/>
            <a:ext cx="1051560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4844973"/>
            <a:ext cx="10515600" cy="425551"/>
          </a:xfrm>
          <a:prstGeom prst="rect">
            <a:avLst/>
          </a:prstGeom>
          <a:noFill/>
        </p:spPr>
        <p:txBody>
          <a:bodyPr wrap="square" lIns="0" tIns="0" rIns="0" bIns="0" anchor="t">
            <a:noAutofit/>
          </a:bodyPr>
          <a:lstStyle/>
          <a:p>
            <a:pPr marL="0" indent="0" algn="l">
              <a:lnSpc>
                <a:spcPts val="1531"/>
              </a:lnSpc>
              <a:spcBef>
                <a:spcPts val="0"/>
              </a:spcBef>
              <a:spcAft>
                <a:spcPts val="0"/>
              </a:spcAft>
              <a:buNone/>
            </a:pPr>
            <a:r>
              <a:rPr sz="1235" b="0" i="0">
                <a:solidFill>
                  <a:srgbClr val="333639"/>
                </a:solidFill>
                <a:latin typeface="Fira Sans"/>
              </a:rPr>
              <a:t>Despite the variations the central idea does not change: </a:t>
            </a:r>
            <a:r>
              <a:rPr sz="1235" b="1" i="0">
                <a:solidFill>
                  <a:srgbClr val="25282A"/>
                </a:solidFill>
                <a:latin typeface="Fira Sans"/>
              </a:rPr>
              <a:t>agents interact with an environment over time, take actions, observe the consequences, and seek to maximise reward</a:t>
            </a:r>
            <a:r>
              <a:rPr sz="1235" b="0" i="0">
                <a:solidFill>
                  <a:srgbClr val="333639"/>
                </a:solidFill>
                <a:latin typeface="Fira Sans"/>
              </a:rPr>
              <a:t>. The rest of this chapter defines precisely what “maximise reward” means.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Return and discount</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Turning “act well” into a number the agent can maximize</a:t>
            </a:r>
            <a:r>
              <a:rPr lang="it-IT" sz="1282" dirty="0">
                <a:solidFill>
                  <a:srgbClr val="D6D0E0"/>
                </a:solidFill>
                <a:latin typeface="Fira Sans"/>
              </a:rPr>
              <a:t> </a:t>
            </a:r>
            <a:r>
              <a:rPr sz="1282" b="0" i="0" dirty="0">
                <a:solidFill>
                  <a:srgbClr val="D6D0E0"/>
                </a:solidFill>
                <a:latin typeface="Fira Sans"/>
              </a:rPr>
              <a:t>and making that number finite when the interaction never ends.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does one recursive line make the rest of the course possible?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return</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discount factor</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Why the return stays bounded</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recursion that starts everything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THE RETURN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action is judged by everything that follows it, not by the next reward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good action may produce little or no immediate reward but lead to a desirable sequence of future rewards. Conversely, an action that pays immediately may have undesirable long-term consequences. Evaluating an action by R_{t+1} alone is therefore wrong.</a:t>
            </a:r>
          </a:p>
        </p:txBody>
      </p:sp>
      <p:pic>
        <p:nvPicPr>
          <p:cNvPr id="9" name="Picture 8" descr="return_tree.png"/>
          <p:cNvPicPr>
            <a:picLocks noChangeAspect="1"/>
          </p:cNvPicPr>
          <p:nvPr/>
        </p:nvPicPr>
        <p:blipFill>
          <a:blip r:embed="rId2"/>
          <a:stretch>
            <a:fillRect/>
          </a:stretch>
        </p:blipFill>
        <p:spPr>
          <a:xfrm>
            <a:off x="2739043" y="1900605"/>
            <a:ext cx="6720008" cy="1572768"/>
          </a:xfrm>
          <a:prstGeom prst="rect">
            <a:avLst/>
          </a:prstGeom>
        </p:spPr>
      </p:pic>
      <p:sp>
        <p:nvSpPr>
          <p:cNvPr id="10" name="Rectangle 9"/>
          <p:cNvSpPr/>
          <p:nvPr/>
        </p:nvSpPr>
        <p:spPr>
          <a:xfrm>
            <a:off x="841248" y="371111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94886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OBJECTIVE IS THE CUMULATIVE REWARD FROM T ONWARDS</a:t>
            </a:r>
          </a:p>
        </p:txBody>
      </p:sp>
      <p:pic>
        <p:nvPicPr>
          <p:cNvPr id="12" name="Picture 11" descr="eq_return_plai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9696" y="4223181"/>
            <a:ext cx="6132576" cy="963167"/>
          </a:xfrm>
          <a:prstGeom prst="rect">
            <a:avLst/>
          </a:prstGeom>
        </p:spPr>
      </p:pic>
      <p:sp>
        <p:nvSpPr>
          <p:cNvPr id="13" name="TextBox 12"/>
          <p:cNvSpPr txBox="1"/>
          <p:nvPr/>
        </p:nvSpPr>
        <p:spPr>
          <a:xfrm>
            <a:off x="841248" y="5460669"/>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a:solidFill>
                  <a:srgbClr val="25282A"/>
                </a:solidFill>
                <a:latin typeface="Fira Sans"/>
              </a:rPr>
              <a:t>G</a:t>
            </a:r>
            <a:r>
              <a:rPr sz="882" b="1" i="0">
                <a:solidFill>
                  <a:srgbClr val="25282A"/>
                </a:solidFill>
                <a:latin typeface="Fira Sans"/>
              </a:rPr>
              <a:t>t</a:t>
            </a:r>
            <a:r>
              <a:rPr sz="1092" b="0" i="0">
                <a:solidFill>
                  <a:srgbClr val="333639"/>
                </a:solidFill>
                <a:latin typeface="Fira Sans"/>
              </a:rPr>
              <a:t> is the </a:t>
            </a:r>
            <a:r>
              <a:rPr sz="1092" b="1" i="0">
                <a:solidFill>
                  <a:srgbClr val="25282A"/>
                </a:solidFill>
                <a:latin typeface="Fira Sans"/>
              </a:rPr>
              <a:t>return</a:t>
            </a:r>
            <a:r>
              <a:rPr sz="1092" b="0" i="0">
                <a:solidFill>
                  <a:srgbClr val="333639"/>
                </a:solidFill>
                <a:latin typeface="Fira Sans"/>
              </a:rPr>
              <a:t>: the total reward the agent will receive from time t onwards. It is a random variable — it depends on the environment’s randomness and on the agent’s own choices.</a:t>
            </a:r>
          </a:p>
        </p:txBody>
      </p:sp>
      <p:sp>
        <p:nvSpPr>
          <p:cNvPr id="14" name="TextBox 13"/>
          <p:cNvSpPr txBox="1"/>
          <p:nvPr/>
        </p:nvSpPr>
        <p:spPr>
          <a:xfrm>
            <a:off x="6327648" y="5460669"/>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what has changed. The agent no longer maximises a reward; it maximises a </a:t>
            </a:r>
            <a:r>
              <a:rPr sz="1092" b="1" i="0">
                <a:solidFill>
                  <a:srgbClr val="25282A"/>
                </a:solidFill>
                <a:latin typeface="Fira Sans"/>
              </a:rPr>
              <a:t>sum of rewards over an entire future</a:t>
            </a:r>
            <a:r>
              <a:rPr sz="1092" b="0" i="0">
                <a:solidFill>
                  <a:srgbClr val="333639"/>
                </a:solidFill>
                <a:latin typeface="Fira Sans"/>
              </a:rPr>
              <a:t>. Two problems follow immediately, and the next slide addresses both.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THE DISCOUNT FACTOR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Two problems, one parameter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For an episodic task the interaction reaches a terminal state, so the return is a finite sum. For a continuing task it may proceed indefinitely and the sum need not converge. A second, independent question is how much distant rewards should matter at all.</a:t>
            </a:r>
          </a:p>
        </p:txBody>
      </p:sp>
      <p:sp>
        <p:nvSpPr>
          <p:cNvPr id="9" name="Rectangle 8"/>
          <p:cNvSpPr/>
          <p:nvPr/>
        </p:nvSpPr>
        <p:spPr>
          <a:xfrm>
            <a:off x="841248" y="197375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20061"/>
            <a:ext cx="5029200" cy="601898"/>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Problem 1 — the sum may not be finite</a:t>
            </a:r>
          </a:p>
          <a:p>
            <a:pPr marL="0" indent="0" algn="l">
              <a:lnSpc>
                <a:spcPts val="1310"/>
              </a:lnSpc>
              <a:spcBef>
                <a:spcPts val="500"/>
              </a:spcBef>
              <a:spcAft>
                <a:spcPts val="0"/>
              </a:spcAft>
              <a:buNone/>
            </a:pPr>
            <a:r>
              <a:rPr sz="1092" b="0" i="0">
                <a:solidFill>
                  <a:srgbClr val="626669"/>
                </a:solidFill>
                <a:latin typeface="Fira Sans"/>
              </a:rPr>
              <a:t>A continuing task has no terminal state. Adding rewards for ever can diverge, and a divergent objective cannot be maximised.</a:t>
            </a:r>
          </a:p>
        </p:txBody>
      </p:sp>
      <p:sp>
        <p:nvSpPr>
          <p:cNvPr id="11" name="Rectangle 10"/>
          <p:cNvSpPr/>
          <p:nvPr/>
        </p:nvSpPr>
        <p:spPr>
          <a:xfrm>
            <a:off x="6327648" y="1973757"/>
            <a:ext cx="502920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27648" y="2120061"/>
            <a:ext cx="5029200" cy="601898"/>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Problem 2 — how far ahead should the agent look?</a:t>
            </a:r>
          </a:p>
          <a:p>
            <a:pPr marL="0" indent="0" algn="l">
              <a:lnSpc>
                <a:spcPts val="1310"/>
              </a:lnSpc>
              <a:spcBef>
                <a:spcPts val="500"/>
              </a:spcBef>
              <a:spcAft>
                <a:spcPts val="0"/>
              </a:spcAft>
              <a:buNone/>
            </a:pPr>
            <a:r>
              <a:rPr sz="1092" b="0" i="0">
                <a:solidFill>
                  <a:srgbClr val="626669"/>
                </a:solidFill>
                <a:latin typeface="Fira Sans"/>
              </a:rPr>
              <a:t>Even when the sum converges, we may want to express that a reward now is worth more than the same reward in a thousand steps.</a:t>
            </a:r>
          </a:p>
        </p:txBody>
      </p:sp>
      <p:sp>
        <p:nvSpPr>
          <p:cNvPr id="13" name="TextBox 12"/>
          <p:cNvSpPr txBox="1"/>
          <p:nvPr/>
        </p:nvSpPr>
        <p:spPr>
          <a:xfrm>
            <a:off x="841248" y="295970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BOTH ARE SOLVED BY ONE PARAMETER</a:t>
            </a:r>
          </a:p>
        </p:txBody>
      </p:sp>
      <p:pic>
        <p:nvPicPr>
          <p:cNvPr id="14" name="Picture 13" descr="eq_gamm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3234024"/>
            <a:ext cx="1216152" cy="381000"/>
          </a:xfrm>
          <a:prstGeom prst="rect">
            <a:avLst/>
          </a:prstGeom>
        </p:spPr>
      </p:pic>
      <p:sp>
        <p:nvSpPr>
          <p:cNvPr id="15" name="TextBox 14"/>
          <p:cNvSpPr txBox="1"/>
          <p:nvPr/>
        </p:nvSpPr>
        <p:spPr>
          <a:xfrm>
            <a:off x="2441448" y="3270600"/>
            <a:ext cx="5120640" cy="207416"/>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a:solidFill>
                  <a:srgbClr val="626669"/>
                </a:solidFill>
                <a:latin typeface="Fira Sans"/>
              </a:rPr>
              <a:t>the discount factor — a weight applied once per step of delay</a:t>
            </a:r>
          </a:p>
        </p:txBody>
      </p:sp>
      <p:pic>
        <p:nvPicPr>
          <p:cNvPr id="16" name="Picture 15" descr="eq_return_disc.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564" y="3852768"/>
            <a:ext cx="4434840" cy="1091184"/>
          </a:xfrm>
          <a:prstGeom prst="rect">
            <a:avLst/>
          </a:prstGeom>
        </p:spPr>
      </p:pic>
      <p:sp>
        <p:nvSpPr>
          <p:cNvPr id="17" name="Rectangle 16"/>
          <p:cNvSpPr/>
          <p:nvPr/>
        </p:nvSpPr>
        <p:spPr>
          <a:xfrm>
            <a:off x="841248" y="519998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419440"/>
            <a:ext cx="3297936"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close to 0</a:t>
            </a:r>
          </a:p>
          <a:p>
            <a:pPr marL="0" indent="0" algn="l">
              <a:lnSpc>
                <a:spcPts val="1233"/>
              </a:lnSpc>
              <a:spcBef>
                <a:spcPts val="400"/>
              </a:spcBef>
              <a:spcAft>
                <a:spcPts val="0"/>
              </a:spcAft>
              <a:buNone/>
            </a:pPr>
            <a:r>
              <a:rPr sz="1045" b="0" i="0">
                <a:solidFill>
                  <a:srgbClr val="626669"/>
                </a:solidFill>
                <a:latin typeface="Fira Sans"/>
              </a:rPr>
              <a:t>The agent is myopic: it is concerned almost entirely with the immediate reward and ignores what follows.</a:t>
            </a:r>
          </a:p>
        </p:txBody>
      </p:sp>
      <p:sp>
        <p:nvSpPr>
          <p:cNvPr id="20" name="Rectangle 19"/>
          <p:cNvSpPr/>
          <p:nvPr/>
        </p:nvSpPr>
        <p:spPr>
          <a:xfrm>
            <a:off x="4450080" y="5419440"/>
            <a:ext cx="3297936"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50080"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close to 1</a:t>
            </a:r>
          </a:p>
          <a:p>
            <a:pPr marL="0" indent="0" algn="l">
              <a:lnSpc>
                <a:spcPts val="1233"/>
              </a:lnSpc>
              <a:spcBef>
                <a:spcPts val="400"/>
              </a:spcBef>
              <a:spcAft>
                <a:spcPts val="0"/>
              </a:spcAft>
              <a:buNone/>
            </a:pPr>
            <a:r>
              <a:rPr sz="1045" b="0" i="0">
                <a:solidFill>
                  <a:srgbClr val="626669"/>
                </a:solidFill>
                <a:latin typeface="Fira Sans"/>
              </a:rPr>
              <a:t>Rewards far into the future matter almost as much as immediate ones; the agent becomes far-sighted.</a:t>
            </a:r>
          </a:p>
        </p:txBody>
      </p:sp>
      <p:sp>
        <p:nvSpPr>
          <p:cNvPr id="22" name="Rectangle 21"/>
          <p:cNvSpPr/>
          <p:nvPr/>
        </p:nvSpPr>
        <p:spPr>
          <a:xfrm>
            <a:off x="8058912" y="5419440"/>
            <a:ext cx="3297936"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058912"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&lt; 1</a:t>
            </a:r>
          </a:p>
          <a:p>
            <a:pPr marL="0" indent="0" algn="l">
              <a:lnSpc>
                <a:spcPts val="1233"/>
              </a:lnSpc>
              <a:spcBef>
                <a:spcPts val="400"/>
              </a:spcBef>
              <a:spcAft>
                <a:spcPts val="0"/>
              </a:spcAft>
              <a:buNone/>
            </a:pPr>
            <a:r>
              <a:rPr sz="1045" b="0" i="0">
                <a:solidFill>
                  <a:srgbClr val="626669"/>
                </a:solidFill>
                <a:latin typeface="Fira Sans"/>
              </a:rPr>
              <a:t>Distant rewards receive exponentially smaller weights — which is what makes the sum behave.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WHY THE DISCOUNTED RETURN STAYS BOUNDED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geometric series is all that stands between us and an infinite objective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argument is short, and worth doing once explicitly: if the rewards are bounded, the discounted return is bounded too, however long the interaction continues.</a:t>
            </a:r>
          </a:p>
        </p:txBody>
      </p:sp>
      <p:sp>
        <p:nvSpPr>
          <p:cNvPr id="9" name="TextBox 8"/>
          <p:cNvSpPr txBox="1"/>
          <p:nvPr/>
        </p:nvSpPr>
        <p:spPr>
          <a:xfrm>
            <a:off x="841248" y="195919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STEP 1 — ASSUME THE REWARDS ARE BOUNDED</a:t>
            </a:r>
          </a:p>
        </p:txBody>
      </p:sp>
      <p:pic>
        <p:nvPicPr>
          <p:cNvPr id="10" name="Picture 9" descr="eq_bounded_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233513"/>
            <a:ext cx="1472438" cy="349250"/>
          </a:xfrm>
          <a:prstGeom prst="rect">
            <a:avLst/>
          </a:prstGeom>
        </p:spPr>
      </p:pic>
      <p:sp>
        <p:nvSpPr>
          <p:cNvPr id="11" name="Rectangle 10"/>
          <p:cNvSpPr/>
          <p:nvPr/>
        </p:nvSpPr>
        <p:spPr>
          <a:xfrm>
            <a:off x="841248" y="2893659"/>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13140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STEP 2 — BOUND THE SUM TERM BY TERM</a:t>
            </a:r>
          </a:p>
        </p:txBody>
      </p:sp>
      <p:pic>
        <p:nvPicPr>
          <p:cNvPr id="13" name="Picture 12" descr="eq_bounded_g.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405723"/>
            <a:ext cx="6484873" cy="1290828"/>
          </a:xfrm>
          <a:prstGeom prst="rect">
            <a:avLst/>
          </a:prstGeom>
        </p:spPr>
      </p:pic>
      <p:sp>
        <p:nvSpPr>
          <p:cNvPr id="14" name="TextBox 13"/>
          <p:cNvSpPr txBox="1"/>
          <p:nvPr/>
        </p:nvSpPr>
        <p:spPr>
          <a:xfrm>
            <a:off x="841248" y="4970871"/>
            <a:ext cx="672084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Every term is at most R_max in magnitude, so the whole sum is at most R_max times the geometric series. That series converges for γ &lt; 1, and the bound follows. </a:t>
            </a:r>
            <a:r>
              <a:rPr sz="1092" b="1" i="0">
                <a:solidFill>
                  <a:srgbClr val="25282A"/>
                </a:solidFill>
                <a:latin typeface="Fira Sans"/>
              </a:rPr>
              <a:t>The objective is finite, so maximising it is a well-posed problem.</a:t>
            </a:r>
          </a:p>
        </p:txBody>
      </p:sp>
      <p:sp>
        <p:nvSpPr>
          <p:cNvPr id="15" name="TextBox 14"/>
          <p:cNvSpPr txBox="1"/>
          <p:nvPr/>
        </p:nvSpPr>
        <p:spPr>
          <a:xfrm>
            <a:off x="7946136" y="1335024"/>
            <a:ext cx="34045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WHAT γ = 1 MEANS</a:t>
            </a:r>
          </a:p>
          <a:p>
            <a:pPr marL="0" indent="0" algn="l">
              <a:lnSpc>
                <a:spcPts val="1345"/>
              </a:lnSpc>
              <a:spcBef>
                <a:spcPts val="0"/>
              </a:spcBef>
              <a:spcAft>
                <a:spcPts val="0"/>
              </a:spcAft>
              <a:buNone/>
            </a:pPr>
            <a:r>
              <a:rPr sz="1140" b="0" i="0">
                <a:solidFill>
                  <a:srgbClr val="333639"/>
                </a:solidFill>
                <a:latin typeface="Fira Sans"/>
              </a:rPr>
              <a:t>At γ = 1 the bound disappears: the series no longer converges. That is acceptable for an episodic task, where the sum terminates on its own, and </a:t>
            </a:r>
            <a:r>
              <a:rPr sz="1140" b="1" i="0">
                <a:solidFill>
                  <a:srgbClr val="25282A"/>
                </a:solidFill>
                <a:latin typeface="Fira Sans"/>
              </a:rPr>
              <a:t>not acceptable for a continuing one</a:t>
            </a:r>
            <a:r>
              <a:rPr sz="1140" b="0" i="0">
                <a:solidFill>
                  <a:srgbClr val="333639"/>
                </a:solidFill>
                <a:latin typeface="Fira Sans"/>
              </a:rPr>
              <a:t>.</a:t>
            </a:r>
          </a:p>
        </p:txBody>
      </p:sp>
      <p:sp>
        <p:nvSpPr>
          <p:cNvPr id="16" name="TextBox 15"/>
          <p:cNvSpPr txBox="1"/>
          <p:nvPr/>
        </p:nvSpPr>
        <p:spPr>
          <a:xfrm>
            <a:off x="7946136" y="2508425"/>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USEFUL WAY TO READ Γ</a:t>
            </a:r>
          </a:p>
        </p:txBody>
      </p:sp>
      <p:sp>
        <p:nvSpPr>
          <p:cNvPr id="17" name="TextBox 16"/>
          <p:cNvSpPr txBox="1"/>
          <p:nvPr/>
        </p:nvSpPr>
        <p:spPr>
          <a:xfrm>
            <a:off x="7946136" y="2764457"/>
            <a:ext cx="34045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As a horizon.</a:t>
            </a:r>
            <a:r>
              <a:rPr sz="1092" b="0" i="0">
                <a:solidFill>
                  <a:srgbClr val="333639"/>
                </a:solidFill>
                <a:latin typeface="Fira Sans"/>
              </a:rPr>
              <a:t> 1/(1−γ) is roughly the number of steps the agent effectively looks ahead: γ = 0.9 gives about ten steps, γ = 0.99 about a hundred.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As a probability of continuing.</a:t>
            </a:r>
            <a:r>
              <a:rPr sz="1092" b="0" i="0">
                <a:solidFill>
                  <a:srgbClr val="333639"/>
                </a:solidFill>
                <a:latin typeface="Fira Sans"/>
              </a:rPr>
              <a:t> Discounting by γ is equivalent to an interaction that terminates at each step with probability 1 − γ.</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As a modelling choice.</a:t>
            </a:r>
            <a:r>
              <a:rPr sz="1092" b="0" i="0">
                <a:solidFill>
                  <a:srgbClr val="333639"/>
                </a:solidFill>
                <a:latin typeface="Fira Sans"/>
              </a:rPr>
              <a:t> γ is part of the problem specification, not something the agent learns.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4.4  THE RECURSION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line that the rest of the course is built 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10515600" cy="227926"/>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Writing out the discounted return and factoring γ from every term after the first reveals a structure that is more important than the definition itself.</a:t>
            </a:r>
          </a:p>
        </p:txBody>
      </p:sp>
      <p:sp>
        <p:nvSpPr>
          <p:cNvPr id="9" name="TextBox 8"/>
          <p:cNvSpPr txBox="1"/>
          <p:nvPr/>
        </p:nvSpPr>
        <p:spPr>
          <a:xfrm>
            <a:off x="841248" y="180069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WRITE IT OUT</a:t>
            </a:r>
          </a:p>
        </p:txBody>
      </p:sp>
      <p:pic>
        <p:nvPicPr>
          <p:cNvPr id="10" name="Picture 9" descr="eq_return_expan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075014"/>
            <a:ext cx="5958840" cy="399288"/>
          </a:xfrm>
          <a:prstGeom prst="rect">
            <a:avLst/>
          </a:prstGeom>
        </p:spPr>
      </p:pic>
      <p:sp>
        <p:nvSpPr>
          <p:cNvPr id="11" name="TextBox 10"/>
          <p:cNvSpPr txBox="1"/>
          <p:nvPr/>
        </p:nvSpPr>
        <p:spPr>
          <a:xfrm>
            <a:off x="841248" y="280348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COLLECT EVERYTHING AFTER THE FIRST REWARD</a:t>
            </a:r>
          </a:p>
        </p:txBody>
      </p:sp>
      <p:pic>
        <p:nvPicPr>
          <p:cNvPr id="12" name="Picture 11" descr="eq_recursiv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0149" y="3096094"/>
            <a:ext cx="6511671" cy="898397"/>
          </a:xfrm>
          <a:prstGeom prst="rect">
            <a:avLst/>
          </a:prstGeom>
        </p:spPr>
      </p:pic>
      <p:sp>
        <p:nvSpPr>
          <p:cNvPr id="13" name="Rectangle 12"/>
          <p:cNvSpPr/>
          <p:nvPr/>
        </p:nvSpPr>
        <p:spPr>
          <a:xfrm>
            <a:off x="841248" y="436025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4616284"/>
            <a:ext cx="3285744"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4762588"/>
            <a:ext cx="3285744" cy="91514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What it says</a:t>
            </a:r>
          </a:p>
          <a:p>
            <a:pPr marL="0" indent="0" algn="l">
              <a:lnSpc>
                <a:spcPts val="1254"/>
              </a:lnSpc>
              <a:spcBef>
                <a:spcPts val="500"/>
              </a:spcBef>
              <a:spcAft>
                <a:spcPts val="0"/>
              </a:spcAft>
              <a:buNone/>
            </a:pPr>
            <a:r>
              <a:rPr sz="1045" b="0" i="0">
                <a:solidFill>
                  <a:srgbClr val="626669"/>
                </a:solidFill>
                <a:latin typeface="Fira Sans"/>
              </a:rPr>
              <a:t>The return from the current step is the immediate reward plus the discounted return from the next step. The whole infinite future has been reduced to one reward and one number.</a:t>
            </a:r>
          </a:p>
        </p:txBody>
      </p:sp>
      <p:sp>
        <p:nvSpPr>
          <p:cNvPr id="16" name="Rectangle 15"/>
          <p:cNvSpPr/>
          <p:nvPr/>
        </p:nvSpPr>
        <p:spPr>
          <a:xfrm>
            <a:off x="4456176" y="4616284"/>
            <a:ext cx="3285744"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56176" y="4762588"/>
            <a:ext cx="3285744" cy="75588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it matters</a:t>
            </a:r>
          </a:p>
          <a:p>
            <a:pPr marL="0" indent="0" algn="l">
              <a:lnSpc>
                <a:spcPts val="1254"/>
              </a:lnSpc>
              <a:spcBef>
                <a:spcPts val="500"/>
              </a:spcBef>
              <a:spcAft>
                <a:spcPts val="0"/>
              </a:spcAft>
              <a:buNone/>
            </a:pPr>
            <a:r>
              <a:rPr sz="1045" b="0" i="0">
                <a:solidFill>
                  <a:srgbClr val="626669"/>
                </a:solidFill>
                <a:latin typeface="Fira Sans"/>
              </a:rPr>
              <a:t>It turns an infinite sum into a relation between two adjacent time steps — something an algorithm can actually evaluate, one step at a time.</a:t>
            </a:r>
          </a:p>
        </p:txBody>
      </p:sp>
      <p:sp>
        <p:nvSpPr>
          <p:cNvPr id="18" name="Rectangle 17"/>
          <p:cNvSpPr/>
          <p:nvPr/>
        </p:nvSpPr>
        <p:spPr>
          <a:xfrm>
            <a:off x="8071104" y="4616284"/>
            <a:ext cx="3285744"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71104" y="4762588"/>
            <a:ext cx="3285744" cy="91514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Where it goes next</a:t>
            </a:r>
          </a:p>
          <a:p>
            <a:pPr marL="0" indent="0" algn="l">
              <a:lnSpc>
                <a:spcPts val="1254"/>
              </a:lnSpc>
              <a:spcBef>
                <a:spcPts val="500"/>
              </a:spcBef>
              <a:spcAft>
                <a:spcPts val="0"/>
              </a:spcAft>
              <a:buNone/>
            </a:pPr>
            <a:r>
              <a:rPr sz="1045" b="0" i="0">
                <a:solidFill>
                  <a:srgbClr val="626669"/>
                </a:solidFill>
                <a:latin typeface="Fira Sans"/>
              </a:rPr>
              <a:t>Substituting this recursion into the definition of a value function produces the Bellman equations, and with them dynamic programming, Monte Carlo and temporal-difference learning.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Plan and policy</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In a stochastic world a sequence of actions is not a solution. What replaces it, and what the learning problem then becomes.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does the agent do when the world does not follow the plan?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Where a plan breaks down</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From plan to policy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Deterministic and stochastic policies</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reinforcement learning objective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WHY A PLAN IS NOT A SOLUTION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sequence of actions stops applying the moment the world deviates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At first it might seem that the agent’s goal is simply to find a plan: a sequence of actions leading from the initial state toward the desired outcome while maximising the return. In a deterministic environment such a sequence may be sufficient.</a:t>
            </a:r>
          </a:p>
        </p:txBody>
      </p:sp>
      <p:pic>
        <p:nvPicPr>
          <p:cNvPr id="9" name="Picture 8" descr="plan_policy.png"/>
          <p:cNvPicPr>
            <a:picLocks noChangeAspect="1"/>
          </p:cNvPicPr>
          <p:nvPr/>
        </p:nvPicPr>
        <p:blipFill>
          <a:blip r:embed="rId2"/>
          <a:stretch>
            <a:fillRect/>
          </a:stretch>
        </p:blipFill>
        <p:spPr>
          <a:xfrm>
            <a:off x="2176005" y="1937181"/>
            <a:ext cx="7846084" cy="2057400"/>
          </a:xfrm>
          <a:prstGeom prst="rect">
            <a:avLst/>
          </a:prstGeom>
        </p:spPr>
      </p:pic>
      <p:sp>
        <p:nvSpPr>
          <p:cNvPr id="10" name="Rectangle 9"/>
          <p:cNvSpPr/>
          <p:nvPr/>
        </p:nvSpPr>
        <p:spPr>
          <a:xfrm>
            <a:off x="841248" y="426890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506645"/>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652949"/>
            <a:ext cx="5029200"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Deterministic environment</a:t>
            </a:r>
          </a:p>
          <a:p>
            <a:pPr marL="0" indent="0" algn="l">
              <a:lnSpc>
                <a:spcPts val="1310"/>
              </a:lnSpc>
              <a:spcBef>
                <a:spcPts val="500"/>
              </a:spcBef>
              <a:spcAft>
                <a:spcPts val="0"/>
              </a:spcAft>
              <a:buNone/>
            </a:pPr>
            <a:r>
              <a:rPr sz="1092" b="0" i="0">
                <a:solidFill>
                  <a:srgbClr val="626669"/>
                </a:solidFill>
                <a:latin typeface="Fira Sans"/>
              </a:rPr>
              <a:t>Every action has a predictable consequence, so a fixed sequence of actions is enough: the agent will be exactly where the plan expects it to be at every step.</a:t>
            </a:r>
          </a:p>
        </p:txBody>
      </p:sp>
      <p:sp>
        <p:nvSpPr>
          <p:cNvPr id="13" name="Rectangle 12"/>
          <p:cNvSpPr/>
          <p:nvPr/>
        </p:nvSpPr>
        <p:spPr>
          <a:xfrm>
            <a:off x="6327648" y="4506645"/>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652949"/>
            <a:ext cx="5029200"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Stochastic environment</a:t>
            </a:r>
          </a:p>
          <a:p>
            <a:pPr marL="0" indent="0" algn="l">
              <a:lnSpc>
                <a:spcPts val="1310"/>
              </a:lnSpc>
              <a:spcBef>
                <a:spcPts val="500"/>
              </a:spcBef>
              <a:spcAft>
                <a:spcPts val="0"/>
              </a:spcAft>
              <a:buNone/>
            </a:pPr>
            <a:r>
              <a:rPr sz="1092" b="0" i="0">
                <a:solidFill>
                  <a:srgbClr val="626669"/>
                </a:solidFill>
                <a:latin typeface="Fira Sans"/>
              </a:rPr>
              <a:t>An action may not produce the intended outcome. The agent reaches a state the plan never anticipated, and from there the plan simply has nothing to say.</a:t>
            </a:r>
          </a:p>
        </p:txBody>
      </p:sp>
      <p:sp>
        <p:nvSpPr>
          <p:cNvPr id="15" name="Rectangle 14"/>
          <p:cNvSpPr/>
          <p:nvPr/>
        </p:nvSpPr>
        <p:spPr>
          <a:xfrm>
            <a:off x="841248" y="5519933"/>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519933"/>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666237"/>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This is the same failure as the reflex agent of Chapter 01 §5.5, one level up: there, a rule had nothing to say about a percept it could not distinguish; here, a plan has nothing to say about a state it did not predict. </a:t>
            </a:r>
            <a:r>
              <a:rPr sz="1140" b="1" i="0">
                <a:solidFill>
                  <a:srgbClr val="333639"/>
                </a:solidFill>
                <a:latin typeface="Fira Sans"/>
              </a:rPr>
              <a:t>In both cases the fix is to answer for every case, not just the expected 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THE POLICY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decision rule for every state the agent may encounter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What is needed instead is a policy: a rule that specifies what the agent should do in every state it may reach, not only along one anticipated path.</a:t>
            </a:r>
          </a:p>
        </p:txBody>
      </p:sp>
      <p:sp>
        <p:nvSpPr>
          <p:cNvPr id="9" name="TextBox 8"/>
          <p:cNvSpPr txBox="1"/>
          <p:nvPr/>
        </p:nvSpPr>
        <p:spPr>
          <a:xfrm>
            <a:off x="841248" y="195919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STOCHASTIC POLICY ASSIGNS A PROBABILITY TO EACH ACTION</a:t>
            </a:r>
          </a:p>
        </p:txBody>
      </p:sp>
      <p:pic>
        <p:nvPicPr>
          <p:cNvPr id="10" name="Picture 9" descr="eq_polic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233513"/>
            <a:ext cx="4222750" cy="460375"/>
          </a:xfrm>
          <a:prstGeom prst="rect">
            <a:avLst/>
          </a:prstGeom>
        </p:spPr>
      </p:pic>
      <p:sp>
        <p:nvSpPr>
          <p:cNvPr id="11" name="Rectangle 10"/>
          <p:cNvSpPr/>
          <p:nvPr/>
        </p:nvSpPr>
        <p:spPr>
          <a:xfrm>
            <a:off x="841248" y="3004784"/>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3242528"/>
            <a:ext cx="3177539"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3370544"/>
            <a:ext cx="317753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Deterministic</a:t>
            </a:r>
          </a:p>
          <a:p>
            <a:pPr marL="0" indent="0" algn="l">
              <a:lnSpc>
                <a:spcPts val="1233"/>
              </a:lnSpc>
              <a:spcBef>
                <a:spcPts val="400"/>
              </a:spcBef>
              <a:spcAft>
                <a:spcPts val="0"/>
              </a:spcAft>
              <a:buNone/>
            </a:pPr>
            <a:r>
              <a:rPr sz="1045" b="0" i="0">
                <a:solidFill>
                  <a:srgbClr val="626669"/>
                </a:solidFill>
                <a:latin typeface="Fira Sans"/>
              </a:rPr>
              <a:t>A single action is selected in each state. Written π(s) = a, or as a mapping from states to actions.</a:t>
            </a:r>
          </a:p>
        </p:txBody>
      </p:sp>
      <p:sp>
        <p:nvSpPr>
          <p:cNvPr id="14" name="Rectangle 13"/>
          <p:cNvSpPr/>
          <p:nvPr/>
        </p:nvSpPr>
        <p:spPr>
          <a:xfrm>
            <a:off x="4384548" y="3242528"/>
            <a:ext cx="3177539"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84548" y="3370544"/>
            <a:ext cx="3177539" cy="72802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Stochastic</a:t>
            </a:r>
          </a:p>
          <a:p>
            <a:pPr marL="0" indent="0" algn="l">
              <a:lnSpc>
                <a:spcPts val="1233"/>
              </a:lnSpc>
              <a:spcBef>
                <a:spcPts val="400"/>
              </a:spcBef>
              <a:spcAft>
                <a:spcPts val="0"/>
              </a:spcAft>
              <a:buNone/>
            </a:pPr>
            <a:r>
              <a:rPr sz="1045" b="0" i="0">
                <a:solidFill>
                  <a:srgbClr val="626669"/>
                </a:solidFill>
                <a:latin typeface="Fira Sans"/>
              </a:rPr>
              <a:t>A probability is assigned to each available action. Necessary for exploration, and sometimes optimal in its own right.</a:t>
            </a:r>
          </a:p>
        </p:txBody>
      </p:sp>
      <p:sp>
        <p:nvSpPr>
          <p:cNvPr id="16" name="TextBox 15"/>
          <p:cNvSpPr txBox="1"/>
          <p:nvPr/>
        </p:nvSpPr>
        <p:spPr>
          <a:xfrm>
            <a:off x="841248" y="437289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THE REINFORCEMENT LEARNING PROBLEM BECOMES</a:t>
            </a:r>
          </a:p>
        </p:txBody>
      </p:sp>
      <p:pic>
        <p:nvPicPr>
          <p:cNvPr id="17" name="Picture 16" descr="eq_objectiv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4647211"/>
            <a:ext cx="3165475" cy="539750"/>
          </a:xfrm>
          <a:prstGeom prst="rect">
            <a:avLst/>
          </a:prstGeom>
        </p:spPr>
      </p:pic>
      <p:sp>
        <p:nvSpPr>
          <p:cNvPr id="18" name="TextBox 17"/>
          <p:cNvSpPr txBox="1"/>
          <p:nvPr/>
        </p:nvSpPr>
        <p:spPr>
          <a:xfrm>
            <a:off x="4453128" y="4702075"/>
            <a:ext cx="3108959" cy="378256"/>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a:solidFill>
                  <a:srgbClr val="626669"/>
                </a:solidFill>
                <a:latin typeface="Fira Sans"/>
              </a:rPr>
              <a:t>find a policy that maximises the expected return</a:t>
            </a:r>
          </a:p>
        </p:txBody>
      </p:sp>
      <p:sp>
        <p:nvSpPr>
          <p:cNvPr id="19" name="TextBox 18"/>
          <p:cNvSpPr txBox="1"/>
          <p:nvPr/>
        </p:nvSpPr>
        <p:spPr>
          <a:xfrm>
            <a:off x="7946136" y="1335024"/>
            <a:ext cx="3404585" cy="77751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PLAN VERSUS POLICY</a:t>
            </a:r>
          </a:p>
          <a:p>
            <a:pPr marL="0" indent="0" algn="l">
              <a:lnSpc>
                <a:spcPts val="1345"/>
              </a:lnSpc>
              <a:spcBef>
                <a:spcPts val="0"/>
              </a:spcBef>
              <a:spcAft>
                <a:spcPts val="0"/>
              </a:spcAft>
              <a:buNone/>
            </a:pPr>
            <a:r>
              <a:rPr sz="1140" b="0" i="0">
                <a:solidFill>
                  <a:srgbClr val="333639"/>
                </a:solidFill>
                <a:latin typeface="Fira Sans"/>
              </a:rPr>
              <a:t>A plan is indexed by </a:t>
            </a:r>
            <a:r>
              <a:rPr sz="1140" b="1" i="0">
                <a:solidFill>
                  <a:srgbClr val="C8102E"/>
                </a:solidFill>
                <a:latin typeface="Fira Sans"/>
              </a:rPr>
              <a:t>time</a:t>
            </a:r>
            <a:r>
              <a:rPr sz="1140" b="0" i="0">
                <a:solidFill>
                  <a:srgbClr val="333639"/>
                </a:solidFill>
                <a:latin typeface="Fira Sans"/>
              </a:rPr>
              <a:t>: do this, then this, then this. A policy is indexed by </a:t>
            </a:r>
            <a:r>
              <a:rPr sz="1140" b="1" i="0">
                <a:solidFill>
                  <a:srgbClr val="2B7A3E"/>
                </a:solidFill>
                <a:latin typeface="Fira Sans"/>
              </a:rPr>
              <a:t>state</a:t>
            </a:r>
            <a:r>
              <a:rPr sz="1140" b="0" i="0">
                <a:solidFill>
                  <a:srgbClr val="333639"/>
                </a:solidFill>
                <a:latin typeface="Fira Sans"/>
              </a:rPr>
              <a:t>: whatever happens, here is what to do from where you are.</a:t>
            </a:r>
          </a:p>
        </p:txBody>
      </p:sp>
      <p:sp>
        <p:nvSpPr>
          <p:cNvPr id="20" name="Rectangle 19"/>
          <p:cNvSpPr/>
          <p:nvPr/>
        </p:nvSpPr>
        <p:spPr>
          <a:xfrm>
            <a:off x="7946136" y="2350284"/>
            <a:ext cx="3404585"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946136" y="2350284"/>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165592" y="2496588"/>
            <a:ext cx="31119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STATE-INDEXED IS ENOUGH</a:t>
            </a:r>
          </a:p>
        </p:txBody>
      </p:sp>
      <p:sp>
        <p:nvSpPr>
          <p:cNvPr id="23" name="TextBox 22"/>
          <p:cNvSpPr txBox="1"/>
          <p:nvPr/>
        </p:nvSpPr>
        <p:spPr>
          <a:xfrm>
            <a:off x="8165592" y="2734332"/>
            <a:ext cx="302053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the Markov property makes the state a sufficient summary of the past, a policy that depends only on the current state loses nothing. </a:t>
            </a:r>
            <a:r>
              <a:rPr sz="1092" b="1" i="0">
                <a:solidFill>
                  <a:srgbClr val="333639"/>
                </a:solidFill>
                <a:latin typeface="Fira Sans"/>
              </a:rPr>
              <a:t>That is what the assumption of §3.2 buys.</a:t>
            </a:r>
          </a:p>
        </p:txBody>
      </p:sp>
      <p:sp>
        <p:nvSpPr>
          <p:cNvPr id="24" name="TextBox 23"/>
          <p:cNvSpPr txBox="1"/>
          <p:nvPr/>
        </p:nvSpPr>
        <p:spPr>
          <a:xfrm>
            <a:off x="7946136" y="3950484"/>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QUESTION THAT FOLLOWS IMMEDIATELY</a:t>
            </a:r>
          </a:p>
        </p:txBody>
      </p:sp>
      <p:sp>
        <p:nvSpPr>
          <p:cNvPr id="25" name="TextBox 24"/>
          <p:cNvSpPr txBox="1"/>
          <p:nvPr/>
        </p:nvSpPr>
        <p:spPr>
          <a:xfrm>
            <a:off x="7946136" y="4206516"/>
            <a:ext cx="3404585"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Given two policies, </a:t>
            </a:r>
            <a:r>
              <a:rPr sz="1092" b="1" i="0">
                <a:solidFill>
                  <a:srgbClr val="25282A"/>
                </a:solidFill>
                <a:latin typeface="Fira Sans"/>
              </a:rPr>
              <a:t>how good is each one?</a:t>
            </a:r>
            <a:r>
              <a:rPr sz="1092" b="0" i="0">
                <a:solidFill>
                  <a:srgbClr val="333639"/>
                </a:solidFill>
                <a:latin typeface="Fira Sans"/>
              </a:rPr>
              <a:t> The expected return must be evaluated, and because the environment is stochastic it cannot simply be read off the policy. Part VI measures it by brute force — and shows why that is not good enough.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Case study: Frozen Lake</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Every object defined in this chapter, written out for one small stochastic grid world — and two policies compared by brute force.</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How good is a policy, and how expensive is it to find out?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environment</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dynamics as a table</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Gymnasium</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A plan that fails</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Comparing two policies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THE FROZEN LAKE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Every object defined in this chapter, on one 4 × 4 grid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21792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Frozen Lake is a grid-world environment: the agent must move from a starting cell to a goal cell while avoiding four holes. The surface is slippery, so actions do not always have their intended effect.</a:t>
            </a:r>
          </a:p>
        </p:txBody>
      </p:sp>
      <p:pic>
        <p:nvPicPr>
          <p:cNvPr id="9" name="Picture 8" descr="frozen_lake.png"/>
          <p:cNvPicPr>
            <a:picLocks noChangeAspect="1"/>
          </p:cNvPicPr>
          <p:nvPr/>
        </p:nvPicPr>
        <p:blipFill>
          <a:blip r:embed="rId2"/>
          <a:stretch>
            <a:fillRect/>
          </a:stretch>
        </p:blipFill>
        <p:spPr>
          <a:xfrm>
            <a:off x="841248" y="2070110"/>
            <a:ext cx="6217920" cy="2833165"/>
          </a:xfrm>
          <a:prstGeom prst="rect">
            <a:avLst/>
          </a:prstGeom>
        </p:spPr>
      </p:pic>
      <p:sp>
        <p:nvSpPr>
          <p:cNvPr id="10" name="TextBox 9"/>
          <p:cNvSpPr txBox="1"/>
          <p:nvPr/>
        </p:nvSpPr>
        <p:spPr>
          <a:xfrm>
            <a:off x="7662672" y="1335024"/>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State space</a:t>
            </a:r>
          </a:p>
          <a:p>
            <a:pPr marL="0" indent="0" algn="l">
              <a:lnSpc>
                <a:spcPts val="1233"/>
              </a:lnSpc>
              <a:spcBef>
                <a:spcPts val="400"/>
              </a:spcBef>
              <a:spcAft>
                <a:spcPts val="0"/>
              </a:spcAft>
              <a:buNone/>
            </a:pPr>
            <a:r>
              <a:rPr sz="1045" b="0" i="0">
                <a:solidFill>
                  <a:srgbClr val="626669"/>
                </a:solidFill>
                <a:latin typeface="Fira Sans"/>
              </a:rPr>
              <a:t>16 cells, numbered 0–15 left to right and top to bottom. The state is one discrete variable: which cell the agent occupies.</a:t>
            </a:r>
          </a:p>
        </p:txBody>
      </p:sp>
      <p:sp>
        <p:nvSpPr>
          <p:cNvPr id="11" name="Rectangle 10"/>
          <p:cNvSpPr/>
          <p:nvPr/>
        </p:nvSpPr>
        <p:spPr>
          <a:xfrm>
            <a:off x="7443216" y="1335024"/>
            <a:ext cx="36576" cy="5348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662672" y="2043607"/>
            <a:ext cx="3688049" cy="414820"/>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Action space</a:t>
            </a:r>
          </a:p>
          <a:p>
            <a:pPr marL="0" indent="0" algn="l">
              <a:lnSpc>
                <a:spcPts val="1233"/>
              </a:lnSpc>
              <a:spcBef>
                <a:spcPts val="400"/>
              </a:spcBef>
              <a:spcAft>
                <a:spcPts val="0"/>
              </a:spcAft>
              <a:buNone/>
            </a:pPr>
            <a:r>
              <a:rPr sz="1045" b="0" i="0">
                <a:solidFill>
                  <a:srgbClr val="626669"/>
                </a:solidFill>
                <a:latin typeface="Fira Sans"/>
              </a:rPr>
              <a:t>Four actions in every state: Left, Down, Right, Up.</a:t>
            </a:r>
          </a:p>
        </p:txBody>
      </p:sp>
      <p:sp>
        <p:nvSpPr>
          <p:cNvPr id="13" name="Rectangle 12"/>
          <p:cNvSpPr/>
          <p:nvPr/>
        </p:nvSpPr>
        <p:spPr>
          <a:xfrm>
            <a:off x="7443216" y="2043607"/>
            <a:ext cx="36576" cy="3782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662672" y="2595587"/>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Initial state</a:t>
            </a:r>
          </a:p>
          <a:p>
            <a:pPr marL="0" indent="0" algn="l">
              <a:lnSpc>
                <a:spcPts val="1233"/>
              </a:lnSpc>
              <a:spcBef>
                <a:spcPts val="400"/>
              </a:spcBef>
              <a:spcAft>
                <a:spcPts val="0"/>
              </a:spcAft>
              <a:buNone/>
            </a:pPr>
            <a:r>
              <a:rPr sz="1045" b="0" i="0">
                <a:solidFill>
                  <a:srgbClr val="626669"/>
                </a:solidFill>
                <a:latin typeface="Fira Sans"/>
              </a:rPr>
              <a:t>A single one — state 0, the top-left cell. Every episode starts there.</a:t>
            </a:r>
          </a:p>
        </p:txBody>
      </p:sp>
      <p:sp>
        <p:nvSpPr>
          <p:cNvPr id="15" name="Rectangle 14"/>
          <p:cNvSpPr/>
          <p:nvPr/>
        </p:nvSpPr>
        <p:spPr>
          <a:xfrm>
            <a:off x="7443216" y="2595587"/>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662672" y="3304171"/>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Terminal states</a:t>
            </a:r>
          </a:p>
          <a:p>
            <a:pPr marL="0" indent="0" algn="l">
              <a:lnSpc>
                <a:spcPts val="1233"/>
              </a:lnSpc>
              <a:spcBef>
                <a:spcPts val="400"/>
              </a:spcBef>
              <a:spcAft>
                <a:spcPts val="0"/>
              </a:spcAft>
              <a:buNone/>
            </a:pPr>
            <a:r>
              <a:rPr sz="1045" b="0" i="0">
                <a:solidFill>
                  <a:srgbClr val="626669"/>
                </a:solidFill>
                <a:latin typeface="Fira Sans"/>
              </a:rPr>
              <a:t>Five: the four holes (5, 7, 11, 12) and the goal (15). Entering one ends the episode immediately.</a:t>
            </a:r>
          </a:p>
        </p:txBody>
      </p:sp>
      <p:sp>
        <p:nvSpPr>
          <p:cNvPr id="17" name="Rectangle 16"/>
          <p:cNvSpPr/>
          <p:nvPr/>
        </p:nvSpPr>
        <p:spPr>
          <a:xfrm>
            <a:off x="7443216" y="3304171"/>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662672" y="4012755"/>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Boundary</a:t>
            </a:r>
          </a:p>
          <a:p>
            <a:pPr marL="0" indent="0" algn="l">
              <a:lnSpc>
                <a:spcPts val="1233"/>
              </a:lnSpc>
              <a:spcBef>
                <a:spcPts val="400"/>
              </a:spcBef>
              <a:spcAft>
                <a:spcPts val="0"/>
              </a:spcAft>
              <a:buNone/>
            </a:pPr>
            <a:r>
              <a:rPr sz="1045" b="0" i="0">
                <a:solidFill>
                  <a:srgbClr val="626669"/>
                </a:solidFill>
                <a:latin typeface="Fira Sans"/>
              </a:rPr>
              <a:t>A movement that would leave the grid leaves the agent where it is.</a:t>
            </a:r>
          </a:p>
        </p:txBody>
      </p:sp>
      <p:sp>
        <p:nvSpPr>
          <p:cNvPr id="19" name="Rectangle 18"/>
          <p:cNvSpPr/>
          <p:nvPr/>
        </p:nvSpPr>
        <p:spPr>
          <a:xfrm>
            <a:off x="7443216" y="4012755"/>
            <a:ext cx="36576" cy="534847"/>
          </a:xfrm>
          <a:prstGeom prst="rect">
            <a:avLst/>
          </a:prstGeom>
          <a:solidFill>
            <a:srgbClr val="626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fl_space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216" y="4757915"/>
            <a:ext cx="2246503" cy="301625"/>
          </a:xfrm>
          <a:prstGeom prst="rect">
            <a:avLst/>
          </a:prstGeom>
        </p:spPr>
      </p:pic>
      <p:pic>
        <p:nvPicPr>
          <p:cNvPr id="21" name="Picture 20" descr="eq_fl_rewar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3216" y="5242420"/>
            <a:ext cx="3426460" cy="79870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SLIPPERY ICE IS A STOCHASTIC TRANSITION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action leads to three different states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544068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When the agent selects a direction it moves that way with probability 1/3, and with probability 1/3 in each of the two orthogonal directions. The probability of the intended next state is therefore never 1.</a:t>
            </a:r>
          </a:p>
        </p:txBody>
      </p:sp>
      <p:pic>
        <p:nvPicPr>
          <p:cNvPr id="9" name="Picture 8" descr="eq_fl_slip.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088398"/>
            <a:ext cx="5440680" cy="229865"/>
          </a:xfrm>
          <a:prstGeom prst="rect">
            <a:avLst/>
          </a:prstGeom>
        </p:spPr>
      </p:pic>
      <p:pic>
        <p:nvPicPr>
          <p:cNvPr id="10" name="Picture 9" descr="fl_graph.png"/>
          <p:cNvPicPr>
            <a:picLocks noChangeAspect="1"/>
          </p:cNvPicPr>
          <p:nvPr/>
        </p:nvPicPr>
        <p:blipFill>
          <a:blip r:embed="rId3"/>
          <a:stretch>
            <a:fillRect/>
          </a:stretch>
        </p:blipFill>
        <p:spPr>
          <a:xfrm>
            <a:off x="6665976" y="1335024"/>
            <a:ext cx="4684745" cy="3681538"/>
          </a:xfrm>
          <a:prstGeom prst="rect">
            <a:avLst/>
          </a:prstGeom>
        </p:spPr>
      </p:pic>
      <p:sp>
        <p:nvSpPr>
          <p:cNvPr id="11" name="TextBox 10"/>
          <p:cNvSpPr txBox="1"/>
          <p:nvPr/>
        </p:nvSpPr>
        <p:spPr>
          <a:xfrm>
            <a:off x="841248" y="2556007"/>
            <a:ext cx="5440680" cy="6306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Read the graph as the MDP itself</a:t>
            </a:r>
          </a:p>
          <a:p>
            <a:pPr marL="0" indent="0" algn="l">
              <a:lnSpc>
                <a:spcPts val="1310"/>
              </a:lnSpc>
              <a:spcBef>
                <a:spcPts val="600"/>
              </a:spcBef>
              <a:spcAft>
                <a:spcPts val="0"/>
              </a:spcAft>
              <a:buNone/>
            </a:pPr>
            <a:r>
              <a:rPr sz="1092" b="0" i="0">
                <a:solidFill>
                  <a:srgbClr val="333639"/>
                </a:solidFill>
                <a:latin typeface="Fira Sans"/>
              </a:rPr>
              <a:t>Each circle is a state, each arrow a possible transition, each label a probability. This is the dynamics function p(s′ | s, a) drawn out — for the states where it fits on a slide.</a:t>
            </a:r>
          </a:p>
        </p:txBody>
      </p:sp>
      <p:sp>
        <p:nvSpPr>
          <p:cNvPr id="12" name="TextBox 11"/>
          <p:cNvSpPr txBox="1"/>
          <p:nvPr/>
        </p:nvSpPr>
        <p:spPr>
          <a:xfrm>
            <a:off x="1060704" y="3424445"/>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Corners are special</a:t>
            </a:r>
          </a:p>
          <a:p>
            <a:pPr marL="0" indent="0" algn="l">
              <a:lnSpc>
                <a:spcPts val="1233"/>
              </a:lnSpc>
              <a:spcBef>
                <a:spcPts val="400"/>
              </a:spcBef>
              <a:spcAft>
                <a:spcPts val="0"/>
              </a:spcAft>
              <a:buNone/>
            </a:pPr>
            <a:r>
              <a:rPr sz="1045" b="0" i="0">
                <a:solidFill>
                  <a:srgbClr val="626669"/>
                </a:solidFill>
                <a:latin typeface="Fira Sans"/>
              </a:rPr>
              <a:t>A movement into a wall returns the agent to its own cell, so two of the three outcomes can coincide and the probability becomes 2/3.</a:t>
            </a:r>
          </a:p>
        </p:txBody>
      </p:sp>
      <p:sp>
        <p:nvSpPr>
          <p:cNvPr id="13" name="Rectangle 12"/>
          <p:cNvSpPr/>
          <p:nvPr/>
        </p:nvSpPr>
        <p:spPr>
          <a:xfrm>
            <a:off x="841248" y="3424445"/>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4160461"/>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Terminal states self-loop</a:t>
            </a:r>
          </a:p>
          <a:p>
            <a:pPr marL="0" indent="0" algn="l">
              <a:lnSpc>
                <a:spcPts val="1233"/>
              </a:lnSpc>
              <a:spcBef>
                <a:spcPts val="400"/>
              </a:spcBef>
              <a:spcAft>
                <a:spcPts val="0"/>
              </a:spcAft>
              <a:buNone/>
            </a:pPr>
            <a:r>
              <a:rPr sz="1045" b="0" i="0">
                <a:solidFill>
                  <a:srgbClr val="626669"/>
                </a:solidFill>
                <a:latin typeface="Fira Sans"/>
              </a:rPr>
              <a:t>Every action from a hole or the goal transitions back to itself with probability 1 — the standard way to make a terminal state absorbing.</a:t>
            </a:r>
          </a:p>
        </p:txBody>
      </p:sp>
      <p:sp>
        <p:nvSpPr>
          <p:cNvPr id="15" name="Rectangle 14"/>
          <p:cNvSpPr/>
          <p:nvPr/>
        </p:nvSpPr>
        <p:spPr>
          <a:xfrm>
            <a:off x="841248" y="4160461"/>
            <a:ext cx="36576" cy="5348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60704" y="4896477"/>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The environment is highly stochastic</a:t>
            </a:r>
          </a:p>
          <a:p>
            <a:pPr marL="0" indent="0" algn="l">
              <a:lnSpc>
                <a:spcPts val="1233"/>
              </a:lnSpc>
              <a:spcBef>
                <a:spcPts val="400"/>
              </a:spcBef>
              <a:spcAft>
                <a:spcPts val="0"/>
              </a:spcAft>
              <a:buNone/>
            </a:pPr>
            <a:r>
              <a:rPr sz="1045" b="0" i="0">
                <a:solidFill>
                  <a:srgbClr val="626669"/>
                </a:solidFill>
                <a:latin typeface="Fira Sans"/>
              </a:rPr>
              <a:t>With two thirds of the probability mass going somewhere unintended, a plan has almost no chance of surviving four steps.</a:t>
            </a:r>
          </a:p>
        </p:txBody>
      </p:sp>
      <p:sp>
        <p:nvSpPr>
          <p:cNvPr id="17" name="Rectangle 16"/>
          <p:cNvSpPr/>
          <p:nvPr/>
        </p:nvSpPr>
        <p:spPr>
          <a:xfrm>
            <a:off x="841248" y="4896477"/>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THE DYNAMICS, WRITTEN OUT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p(s′, r | s, a) as a Python dictionary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630936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Because the state and action spaces are small and discrete, the whole dynamics function can simply be tabulated. Gymnasium exposes it as a nested dictionary.</a:t>
            </a:r>
          </a:p>
        </p:txBody>
      </p:sp>
      <p:sp>
        <p:nvSpPr>
          <p:cNvPr id="9" name="Rectangle 8"/>
          <p:cNvSpPr/>
          <p:nvPr/>
        </p:nvSpPr>
        <p:spPr>
          <a:xfrm>
            <a:off x="841248" y="1904329"/>
            <a:ext cx="6309360" cy="345666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04329"/>
            <a:ext cx="41148" cy="345666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1986625"/>
            <a:ext cx="59436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COMPLETE ENVIRONMENT MODEL</a:t>
            </a:r>
          </a:p>
        </p:txBody>
      </p:sp>
      <p:sp>
        <p:nvSpPr>
          <p:cNvPr id="12" name="TextBox 11"/>
          <p:cNvSpPr txBox="1"/>
          <p:nvPr/>
        </p:nvSpPr>
        <p:spPr>
          <a:xfrm>
            <a:off x="1024128" y="2288377"/>
            <a:ext cx="5998464" cy="2999460"/>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a:solidFill>
                  <a:srgbClr val="1F2A37"/>
                </a:solidFill>
                <a:latin typeface="Consolas"/>
              </a:rPr>
              <a:t>P = {</a:t>
            </a:r>
          </a:p>
          <a:p>
            <a:pPr marL="0" indent="0" algn="l">
              <a:lnSpc>
                <a:spcPts val="1296"/>
              </a:lnSpc>
              <a:spcBef>
                <a:spcPts val="0"/>
              </a:spcBef>
              <a:spcAft>
                <a:spcPts val="0"/>
              </a:spcAft>
              <a:buNone/>
            </a:pPr>
            <a:r>
              <a:rPr sz="997" b="0" i="0">
                <a:solidFill>
                  <a:srgbClr val="1F2A37"/>
                </a:solidFill>
                <a:latin typeface="Consolas"/>
              </a:rPr>
              <a:t>  0: {                     </a:t>
            </a:r>
            <a:r>
              <a:rPr sz="997" b="0" i="1">
                <a:solidFill>
                  <a:srgbClr val="768896"/>
                </a:solidFill>
                <a:latin typeface="Consolas"/>
              </a:rPr>
              <a:t># state 0</a:t>
            </a:r>
          </a:p>
          <a:p>
            <a:pPr marL="0" indent="0" algn="l">
              <a:lnSpc>
                <a:spcPts val="1296"/>
              </a:lnSpc>
              <a:spcBef>
                <a:spcPts val="0"/>
              </a:spcBef>
              <a:spcAft>
                <a:spcPts val="0"/>
              </a:spcAft>
              <a:buNone/>
            </a:pPr>
            <a:r>
              <a:rPr sz="997" b="1" i="0">
                <a:solidFill>
                  <a:srgbClr val="574676"/>
                </a:solidFill>
                <a:latin typeface="Consolas"/>
              </a:rPr>
              <a:t>     0: [(0.667, 0, 0.0, False),      </a:t>
            </a:r>
            <a:r>
              <a:rPr sz="997" b="0" i="1">
                <a:solidFill>
                  <a:srgbClr val="768896"/>
                </a:solidFill>
                <a:latin typeface="Consolas"/>
              </a:rPr>
              <a:t># action LEFT</a:t>
            </a:r>
          </a:p>
          <a:p>
            <a:pPr marL="0" indent="0" algn="l">
              <a:lnSpc>
                <a:spcPts val="1296"/>
              </a:lnSpc>
              <a:spcBef>
                <a:spcPts val="0"/>
              </a:spcBef>
              <a:spcAft>
                <a:spcPts val="0"/>
              </a:spcAft>
              <a:buNone/>
            </a:pPr>
            <a:r>
              <a:rPr sz="997" b="0" i="0">
                <a:solidFill>
                  <a:srgbClr val="1F2A37"/>
                </a:solidFill>
                <a:latin typeface="Consolas"/>
              </a:rPr>
              <a:t>         (0.333, 4, 0.0, False)],</a:t>
            </a:r>
          </a:p>
          <a:p>
            <a:pPr marL="0" indent="0" algn="l">
              <a:lnSpc>
                <a:spcPts val="1296"/>
              </a:lnSpc>
              <a:spcBef>
                <a:spcPts val="0"/>
              </a:spcBef>
              <a:spcAft>
                <a:spcPts val="0"/>
              </a:spcAft>
              <a:buNone/>
            </a:pPr>
            <a:r>
              <a:rPr sz="997" b="0" i="0">
                <a:solidFill>
                  <a:srgbClr val="333639"/>
                </a:solidFill>
                <a:latin typeface="Consolas"/>
              </a:rPr>
              <a:t> </a:t>
            </a:r>
          </a:p>
          <a:p>
            <a:pPr marL="0" indent="0" algn="l">
              <a:lnSpc>
                <a:spcPts val="1296"/>
              </a:lnSpc>
              <a:spcBef>
                <a:spcPts val="0"/>
              </a:spcBef>
              <a:spcAft>
                <a:spcPts val="0"/>
              </a:spcAft>
              <a:buNone/>
            </a:pPr>
            <a:r>
              <a:rPr sz="997" b="1" i="0">
                <a:solidFill>
                  <a:srgbClr val="574676"/>
                </a:solidFill>
                <a:latin typeface="Consolas"/>
              </a:rPr>
              <a:t>     1: [(0.333, 0, 0.0, False),      </a:t>
            </a:r>
            <a:r>
              <a:rPr sz="997" b="0" i="1">
                <a:solidFill>
                  <a:srgbClr val="768896"/>
                </a:solidFill>
                <a:latin typeface="Consolas"/>
              </a:rPr>
              <a:t># action DOWN</a:t>
            </a:r>
          </a:p>
          <a:p>
            <a:pPr marL="0" indent="0" algn="l">
              <a:lnSpc>
                <a:spcPts val="1296"/>
              </a:lnSpc>
              <a:spcBef>
                <a:spcPts val="0"/>
              </a:spcBef>
              <a:spcAft>
                <a:spcPts val="0"/>
              </a:spcAft>
              <a:buNone/>
            </a:pPr>
            <a:r>
              <a:rPr sz="997" b="0" i="0">
                <a:solidFill>
                  <a:srgbClr val="1F2A37"/>
                </a:solidFill>
                <a:latin typeface="Consolas"/>
              </a:rPr>
              <a:t>         (0.333, 4, 0.0, False),</a:t>
            </a:r>
          </a:p>
          <a:p>
            <a:pPr marL="0" indent="0" algn="l">
              <a:lnSpc>
                <a:spcPts val="1296"/>
              </a:lnSpc>
              <a:spcBef>
                <a:spcPts val="0"/>
              </a:spcBef>
              <a:spcAft>
                <a:spcPts val="0"/>
              </a:spcAft>
              <a:buNone/>
            </a:pPr>
            <a:r>
              <a:rPr sz="997" b="0" i="0">
                <a:solidFill>
                  <a:srgbClr val="1F2A37"/>
                </a:solidFill>
                <a:latin typeface="Consolas"/>
              </a:rPr>
              <a:t>         (0.333, 1, 0.0, False)],</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1: {</a:t>
            </a:r>
          </a:p>
          <a:p>
            <a:pPr marL="0" indent="0" algn="l">
              <a:lnSpc>
                <a:spcPts val="1296"/>
              </a:lnSpc>
              <a:spcBef>
                <a:spcPts val="0"/>
              </a:spcBef>
              <a:spcAft>
                <a:spcPts val="0"/>
              </a:spcAft>
              <a:buNone/>
            </a:pPr>
            <a:r>
              <a:rPr sz="997" b="0" i="0">
                <a:solidFill>
                  <a:srgbClr val="1F2A37"/>
                </a:solidFill>
                <a:latin typeface="Consolas"/>
              </a:rPr>
              <a:t>     0: [(0.333, 1, 0.0, False),</a:t>
            </a:r>
          </a:p>
          <a:p>
            <a:pPr marL="0" indent="0" algn="l">
              <a:lnSpc>
                <a:spcPts val="1296"/>
              </a:lnSpc>
              <a:spcBef>
                <a:spcPts val="0"/>
              </a:spcBef>
              <a:spcAft>
                <a:spcPts val="0"/>
              </a:spcAft>
              <a:buNone/>
            </a:pPr>
            <a:r>
              <a:rPr sz="997" b="1" i="0">
                <a:solidFill>
                  <a:srgbClr val="574676"/>
                </a:solidFill>
                <a:latin typeface="Consolas"/>
              </a:rPr>
              <a:t>         (0.333, 0, 0.0, False),</a:t>
            </a:r>
          </a:p>
          <a:p>
            <a:pPr marL="0" indent="0" algn="l">
              <a:lnSpc>
                <a:spcPts val="1296"/>
              </a:lnSpc>
              <a:spcBef>
                <a:spcPts val="0"/>
              </a:spcBef>
              <a:spcAft>
                <a:spcPts val="0"/>
              </a:spcAft>
              <a:buNone/>
            </a:pPr>
            <a:r>
              <a:rPr sz="997" b="0" i="0">
                <a:solidFill>
                  <a:srgbClr val="1F2A37"/>
                </a:solidFill>
                <a:latin typeface="Consolas"/>
              </a:rPr>
              <a:t>         (0.333, 5, 0.0, True)],      </a:t>
            </a:r>
            <a:r>
              <a:rPr sz="997" b="0" i="1">
                <a:solidFill>
                  <a:srgbClr val="768896"/>
                </a:solidFill>
                <a:latin typeface="Consolas"/>
              </a:rPr>
              <a:t># 5 is a hole</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                      </a:t>
            </a:r>
            <a:r>
              <a:rPr sz="997" b="0" i="1">
                <a:solidFill>
                  <a:srgbClr val="768896"/>
                </a:solidFill>
                <a:latin typeface="Consolas"/>
              </a:rPr>
              <a:t># states 2 to 15</a:t>
            </a:r>
          </a:p>
          <a:p>
            <a:pPr marL="0" indent="0" algn="l">
              <a:lnSpc>
                <a:spcPts val="1296"/>
              </a:lnSpc>
              <a:spcBef>
                <a:spcPts val="0"/>
              </a:spcBef>
              <a:spcAft>
                <a:spcPts val="0"/>
              </a:spcAft>
              <a:buNone/>
            </a:pPr>
            <a:r>
              <a:rPr sz="997" b="0" i="0">
                <a:solidFill>
                  <a:srgbClr val="1F2A37"/>
                </a:solidFill>
                <a:latin typeface="Consolas"/>
              </a:rPr>
              <a:t>}</a:t>
            </a:r>
          </a:p>
        </p:txBody>
      </p:sp>
      <p:sp>
        <p:nvSpPr>
          <p:cNvPr id="13" name="TextBox 12"/>
          <p:cNvSpPr txBox="1"/>
          <p:nvPr/>
        </p:nvSpPr>
        <p:spPr>
          <a:xfrm>
            <a:off x="7534656" y="1335024"/>
            <a:ext cx="3816065" cy="264995"/>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READING THE STRUCTURE</a:t>
            </a:r>
          </a:p>
        </p:txBody>
      </p:sp>
      <p:sp>
        <p:nvSpPr>
          <p:cNvPr id="14" name="TextBox 13"/>
          <p:cNvSpPr txBox="1"/>
          <p:nvPr/>
        </p:nvSpPr>
        <p:spPr>
          <a:xfrm>
            <a:off x="7754112" y="1627632"/>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Outer key</a:t>
            </a:r>
            <a:r>
              <a:rPr sz="1092" b="0" i="0">
                <a:solidFill>
                  <a:srgbClr val="8E9295"/>
                </a:solidFill>
                <a:latin typeface="Fira Sans"/>
              </a:rPr>
              <a:t>  —  </a:t>
            </a:r>
            <a:r>
              <a:rPr sz="1092" b="0" i="0">
                <a:solidFill>
                  <a:srgbClr val="626669"/>
                </a:solidFill>
                <a:latin typeface="Fira Sans"/>
              </a:rPr>
              <a:t>the state s</a:t>
            </a:r>
          </a:p>
        </p:txBody>
      </p:sp>
      <p:sp>
        <p:nvSpPr>
          <p:cNvPr id="15" name="Rectangle 14"/>
          <p:cNvSpPr/>
          <p:nvPr/>
        </p:nvSpPr>
        <p:spPr>
          <a:xfrm>
            <a:off x="7534656" y="1627632"/>
            <a:ext cx="36576" cy="1636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54112" y="1974159"/>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Inner key</a:t>
            </a:r>
            <a:r>
              <a:rPr sz="1092" b="0" i="0">
                <a:solidFill>
                  <a:srgbClr val="8E9295"/>
                </a:solidFill>
                <a:latin typeface="Fira Sans"/>
              </a:rPr>
              <a:t>  —  </a:t>
            </a:r>
            <a:r>
              <a:rPr sz="1092" b="0" i="0">
                <a:solidFill>
                  <a:srgbClr val="626669"/>
                </a:solidFill>
                <a:latin typeface="Fira Sans"/>
              </a:rPr>
              <a:t>the action a</a:t>
            </a:r>
          </a:p>
        </p:txBody>
      </p:sp>
      <p:sp>
        <p:nvSpPr>
          <p:cNvPr id="17" name="Rectangle 16"/>
          <p:cNvSpPr/>
          <p:nvPr/>
        </p:nvSpPr>
        <p:spPr>
          <a:xfrm>
            <a:off x="7534656" y="1974159"/>
            <a:ext cx="36576" cy="1636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54112" y="2320686"/>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Value</a:t>
            </a:r>
            <a:r>
              <a:rPr sz="1092" b="0" i="0">
                <a:solidFill>
                  <a:srgbClr val="8E9295"/>
                </a:solidFill>
                <a:latin typeface="Fira Sans"/>
              </a:rPr>
              <a:t>  —  </a:t>
            </a:r>
            <a:r>
              <a:rPr sz="1092" b="0" i="0">
                <a:solidFill>
                  <a:srgbClr val="626669"/>
                </a:solidFill>
                <a:latin typeface="Fira Sans"/>
              </a:rPr>
              <a:t>the list of all possible transitions for that pair</a:t>
            </a:r>
          </a:p>
        </p:txBody>
      </p:sp>
      <p:sp>
        <p:nvSpPr>
          <p:cNvPr id="19" name="Rectangle 18"/>
          <p:cNvSpPr/>
          <p:nvPr/>
        </p:nvSpPr>
        <p:spPr>
          <a:xfrm>
            <a:off x="7534656" y="2320686"/>
            <a:ext cx="36576" cy="1636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54112" y="2667213"/>
            <a:ext cx="3596609" cy="36387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Each tuple</a:t>
            </a:r>
            <a:r>
              <a:rPr sz="1092" b="0" i="0">
                <a:solidFill>
                  <a:srgbClr val="8E9295"/>
                </a:solidFill>
                <a:latin typeface="Fira Sans"/>
              </a:rPr>
              <a:t>  —  </a:t>
            </a:r>
            <a:r>
              <a:rPr sz="1092" b="0" i="0">
                <a:solidFill>
                  <a:srgbClr val="626669"/>
                </a:solidFill>
                <a:latin typeface="Fira Sans"/>
              </a:rPr>
              <a:t>( probability,  next state s′,  reward r,  terminal flag )</a:t>
            </a:r>
          </a:p>
        </p:txBody>
      </p:sp>
      <p:sp>
        <p:nvSpPr>
          <p:cNvPr id="21" name="Rectangle 20"/>
          <p:cNvSpPr/>
          <p:nvPr/>
        </p:nvSpPr>
        <p:spPr>
          <a:xfrm>
            <a:off x="7534656" y="2667213"/>
            <a:ext cx="36576" cy="32729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534656" y="3305403"/>
            <a:ext cx="3816065" cy="112471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534656" y="3305403"/>
            <a:ext cx="41148" cy="112471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54112" y="3451707"/>
            <a:ext cx="343201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four entries of a tuple are exactly the arguments of </a:t>
            </a:r>
            <a:r>
              <a:rPr sz="1092" b="1" i="0">
                <a:solidFill>
                  <a:srgbClr val="333639"/>
                </a:solidFill>
                <a:latin typeface="Fira Sans"/>
              </a:rPr>
              <a:t>p(s′, r | s, a)</a:t>
            </a:r>
            <a:r>
              <a:rPr sz="1092" b="0" i="0">
                <a:solidFill>
                  <a:srgbClr val="333639"/>
                </a:solidFill>
                <a:latin typeface="Fira Sans"/>
              </a:rPr>
              <a:t>: the probability, the next state, the reward, and whether the episode ends there. The abstraction of §3.4 and this dictionary are the same object.</a:t>
            </a:r>
          </a:p>
        </p:txBody>
      </p:sp>
      <p:sp>
        <p:nvSpPr>
          <p:cNvPr id="25" name="TextBox 24"/>
          <p:cNvSpPr txBox="1"/>
          <p:nvPr/>
        </p:nvSpPr>
        <p:spPr>
          <a:xfrm>
            <a:off x="7534656" y="4667859"/>
            <a:ext cx="381606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only possible because the environment is tiny. For 16 states and 4 actions the table has 64 rows. </a:t>
            </a:r>
            <a:r>
              <a:rPr sz="1092" b="1" i="0">
                <a:solidFill>
                  <a:srgbClr val="C8102E"/>
                </a:solidFill>
                <a:latin typeface="Fira Sans"/>
              </a:rPr>
              <a:t>Nothing of this kind exists for a real problem</a:t>
            </a:r>
            <a:r>
              <a:rPr sz="1092" b="0" i="0">
                <a:solidFill>
                  <a:srgbClr val="333639"/>
                </a:solidFill>
                <a:latin typeface="Fira Sans"/>
              </a:rPr>
              <a:t> — which is why most of the course assumes p is unavailable.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THE GYMNASIUM LIBRARY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standard interface, so the same code runs on any environment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36</a:t>
            </a:r>
          </a:p>
        </p:txBody>
      </p:sp>
      <p:sp>
        <p:nvSpPr>
          <p:cNvPr id="101" name="TextBox"/>
          <p:cNvSpPr txBox="1"/>
          <p:nvPr/>
        </p:nvSpPr>
        <p:spPr>
          <a:xfrm>
            <a:off x="841248" y="1316736"/>
            <a:ext cx="6309360" cy="585216"/>
          </a:xfrm>
          <a:prstGeom prst="rect">
            <a:avLst/>
          </a:prstGeom>
          <a:noFill/>
        </p:spPr>
        <p:txBody>
          <a:bodyPr wrap="square" lIns="0" tIns="0" rIns="0" bIns="0" anchor="t">
            <a:noAutofit/>
          </a:bodyPr>
          <a:lstStyle/>
          <a:p>
            <a:pPr marL="0" indent="0" algn="l">
              <a:lnSpc>
                <a:spcPts val="1440"/>
              </a:lnSpc>
              <a:spcBef>
                <a:spcPts val="0"/>
              </a:spcBef>
              <a:spcAft>
                <a:spcPts val="0"/>
              </a:spcAft>
              <a:buNone/>
            </a:pPr>
            <a:r>
              <a:rPr sz="1188" b="0" i="0" dirty="0">
                <a:solidFill>
                  <a:srgbClr val="333639"/>
                </a:solidFill>
                <a:latin typeface="Fira Sans"/>
              </a:rPr>
              <a:t>Frozen Lake need not be built by hand: </a:t>
            </a:r>
            <a:r>
              <a:rPr sz="1188" b="1" i="0" dirty="0">
                <a:solidFill>
                  <a:srgbClr val="333639"/>
                </a:solidFill>
                <a:latin typeface="Fira Sans"/>
              </a:rPr>
              <a:t>Gymnasium</a:t>
            </a:r>
            <a:r>
              <a:rPr sz="1188" b="0" i="0" dirty="0">
                <a:solidFill>
                  <a:srgbClr val="333639"/>
                </a:solidFill>
                <a:latin typeface="Fira Sans"/>
              </a:rPr>
              <a:t>, a Python library, provides a collection of standardized environments behind one common interface. Code written against that interface is environment-agnostic: the same algorithm runs on different tasks unchanged.</a:t>
            </a:r>
          </a:p>
        </p:txBody>
      </p:sp>
      <p:sp>
        <p:nvSpPr>
          <p:cNvPr id="102" name="Rectangle"/>
          <p:cNvSpPr/>
          <p:nvPr/>
        </p:nvSpPr>
        <p:spPr>
          <a:xfrm>
            <a:off x="841248" y="2103120"/>
            <a:ext cx="6309360" cy="248716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Rectangle"/>
          <p:cNvSpPr/>
          <p:nvPr/>
        </p:nvSpPr>
        <p:spPr>
          <a:xfrm>
            <a:off x="841248" y="2103120"/>
            <a:ext cx="36576" cy="248716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p:cNvSpPr txBox="1"/>
          <p:nvPr/>
        </p:nvSpPr>
        <p:spPr>
          <a:xfrm>
            <a:off x="1024128" y="2185416"/>
            <a:ext cx="59436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CREATING THE ENVIRONMENT AND TAKING ONE STEP</a:t>
            </a:r>
          </a:p>
        </p:txBody>
      </p:sp>
      <p:sp>
        <p:nvSpPr>
          <p:cNvPr id="105" name="TextBox"/>
          <p:cNvSpPr txBox="1"/>
          <p:nvPr/>
        </p:nvSpPr>
        <p:spPr>
          <a:xfrm>
            <a:off x="1024128" y="2487168"/>
            <a:ext cx="5998464" cy="2038985"/>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a:solidFill>
                  <a:srgbClr val="1F2A37"/>
                </a:solidFill>
                <a:latin typeface="Consolas"/>
              </a:rPr>
              <a:t>import gymnasium as gym</a:t>
            </a:r>
          </a:p>
          <a:p>
            <a:pPr marL="0" indent="0" algn="l">
              <a:lnSpc>
                <a:spcPts val="1235"/>
              </a:lnSpc>
              <a:spcBef>
                <a:spcPts val="0"/>
              </a:spcBef>
              <a:spcAft>
                <a:spcPts val="0"/>
              </a:spcAft>
              <a:buNone/>
            </a:pPr>
            <a:r>
              <a:rPr sz="950" b="0" i="0">
                <a:solidFill>
                  <a:srgbClr val="1F2A37"/>
                </a:solidFill>
                <a:latin typeface="Consolas"/>
              </a:rPr>
              <a:t> </a:t>
            </a:r>
          </a:p>
          <a:p>
            <a:pPr marL="0" indent="0" algn="l">
              <a:lnSpc>
                <a:spcPts val="1235"/>
              </a:lnSpc>
              <a:spcBef>
                <a:spcPts val="0"/>
              </a:spcBef>
              <a:spcAft>
                <a:spcPts val="0"/>
              </a:spcAft>
              <a:buNone/>
            </a:pPr>
            <a:r>
              <a:rPr sz="950" b="1" i="0">
                <a:solidFill>
                  <a:srgbClr val="574676"/>
                </a:solidFill>
                <a:latin typeface="Consolas"/>
              </a:rPr>
              <a:t>env = gym.make("FrozenLake-v1", render_mode="rgb_array")</a:t>
            </a:r>
          </a:p>
          <a:p>
            <a:pPr marL="0" indent="0" algn="l">
              <a:lnSpc>
                <a:spcPts val="1235"/>
              </a:lnSpc>
              <a:spcBef>
                <a:spcPts val="0"/>
              </a:spcBef>
              <a:spcAft>
                <a:spcPts val="0"/>
              </a:spcAft>
              <a:buNone/>
            </a:pPr>
            <a:r>
              <a:rPr sz="950" b="1" i="0">
                <a:solidFill>
                  <a:srgbClr val="574676"/>
                </a:solidFill>
                <a:latin typeface="Consolas"/>
              </a:rPr>
              <a:t>state, info = env.reset(seed=0)      </a:t>
            </a:r>
            <a:r>
              <a:rPr sz="950" b="0" i="1">
                <a:solidFill>
                  <a:srgbClr val="768896"/>
                </a:solidFill>
                <a:latin typeface="Consolas"/>
              </a:rPr>
              <a:t># a new episode starts in state 0</a:t>
            </a:r>
          </a:p>
          <a:p>
            <a:pPr marL="0" indent="0" algn="l">
              <a:lnSpc>
                <a:spcPts val="1235"/>
              </a:lnSpc>
              <a:spcBef>
                <a:spcPts val="0"/>
              </a:spcBef>
              <a:spcAft>
                <a:spcPts val="0"/>
              </a:spcAft>
              <a:buNone/>
            </a:pPr>
            <a:r>
              <a:rPr sz="950" b="0" i="0">
                <a:solidFill>
                  <a:srgbClr val="1F2A37"/>
                </a:solidFill>
                <a:latin typeface="Consolas"/>
              </a:rPr>
              <a:t> </a:t>
            </a:r>
          </a:p>
          <a:p>
            <a:pPr marL="0" indent="0" algn="l">
              <a:lnSpc>
                <a:spcPts val="1235"/>
              </a:lnSpc>
              <a:spcBef>
                <a:spcPts val="0"/>
              </a:spcBef>
              <a:spcAft>
                <a:spcPts val="0"/>
              </a:spcAft>
              <a:buNone/>
            </a:pPr>
            <a:r>
              <a:rPr sz="950" b="0" i="0">
                <a:solidFill>
                  <a:srgbClr val="1F2A37"/>
                </a:solidFill>
                <a:latin typeface="Consolas"/>
              </a:rPr>
              <a:t>env.observation_space                </a:t>
            </a:r>
            <a:r>
              <a:rPr sz="950" b="0" i="1">
                <a:solidFill>
                  <a:srgbClr val="768896"/>
                </a:solidFill>
                <a:latin typeface="Consolas"/>
              </a:rPr>
              <a:t># Discrete(16)   the 16 states</a:t>
            </a:r>
          </a:p>
          <a:p>
            <a:pPr marL="0" indent="0" algn="l">
              <a:lnSpc>
                <a:spcPts val="1235"/>
              </a:lnSpc>
              <a:spcBef>
                <a:spcPts val="0"/>
              </a:spcBef>
              <a:spcAft>
                <a:spcPts val="0"/>
              </a:spcAft>
              <a:buNone/>
            </a:pPr>
            <a:r>
              <a:rPr sz="950" b="0" i="0">
                <a:solidFill>
                  <a:srgbClr val="1F2A37"/>
                </a:solidFill>
                <a:latin typeface="Consolas"/>
              </a:rPr>
              <a:t>env.action_space                     </a:t>
            </a:r>
            <a:r>
              <a:rPr sz="950" b="0" i="1">
                <a:solidFill>
                  <a:srgbClr val="768896"/>
                </a:solidFill>
                <a:latin typeface="Consolas"/>
              </a:rPr>
              <a:t># Discrete(4)    LEFT, DOWN, RIGHT, UP</a:t>
            </a:r>
          </a:p>
          <a:p>
            <a:pPr marL="0" indent="0" algn="l">
              <a:lnSpc>
                <a:spcPts val="1235"/>
              </a:lnSpc>
              <a:spcBef>
                <a:spcPts val="0"/>
              </a:spcBef>
              <a:spcAft>
                <a:spcPts val="0"/>
              </a:spcAft>
              <a:buNone/>
            </a:pPr>
            <a:r>
              <a:rPr sz="950" b="0" i="0">
                <a:solidFill>
                  <a:srgbClr val="1F2A37"/>
                </a:solidFill>
                <a:latin typeface="Consolas"/>
              </a:rPr>
              <a:t> </a:t>
            </a:r>
          </a:p>
          <a:p>
            <a:pPr marL="0" indent="0" algn="l">
              <a:lnSpc>
                <a:spcPts val="1235"/>
              </a:lnSpc>
              <a:spcBef>
                <a:spcPts val="0"/>
              </a:spcBef>
              <a:spcAft>
                <a:spcPts val="0"/>
              </a:spcAft>
              <a:buNone/>
            </a:pPr>
            <a:r>
              <a:rPr sz="950" b="0" i="0">
                <a:solidFill>
                  <a:srgbClr val="1F2A37"/>
                </a:solidFill>
                <a:latin typeface="Consolas"/>
              </a:rPr>
              <a:t>action = env.action_space.sample()   </a:t>
            </a:r>
            <a:r>
              <a:rPr sz="950" b="0" i="1">
                <a:solidFill>
                  <a:srgbClr val="768896"/>
                </a:solidFill>
                <a:latin typeface="Consolas"/>
              </a:rPr>
              <a:t># here the policy chooses the action</a:t>
            </a:r>
          </a:p>
          <a:p>
            <a:pPr marL="0" indent="0" algn="l">
              <a:lnSpc>
                <a:spcPts val="1235"/>
              </a:lnSpc>
              <a:spcBef>
                <a:spcPts val="0"/>
              </a:spcBef>
              <a:spcAft>
                <a:spcPts val="0"/>
              </a:spcAft>
              <a:buNone/>
            </a:pPr>
            <a:r>
              <a:rPr sz="950" b="1" i="0">
                <a:solidFill>
                  <a:srgbClr val="574676"/>
                </a:solidFill>
                <a:latin typeface="Consolas"/>
              </a:rPr>
              <a:t>state, reward, terminated, truncated, info = env.step(action)</a:t>
            </a:r>
          </a:p>
          <a:p>
            <a:pPr marL="0" indent="0" algn="l">
              <a:lnSpc>
                <a:spcPts val="1235"/>
              </a:lnSpc>
              <a:spcBef>
                <a:spcPts val="0"/>
              </a:spcBef>
              <a:spcAft>
                <a:spcPts val="0"/>
              </a:spcAft>
              <a:buNone/>
            </a:pPr>
            <a:r>
              <a:rPr sz="950" b="0" i="0">
                <a:solidFill>
                  <a:srgbClr val="1F2A37"/>
                </a:solidFill>
                <a:latin typeface="Consolas"/>
              </a:rPr>
              <a:t> </a:t>
            </a:r>
          </a:p>
          <a:p>
            <a:pPr marL="0" indent="0" algn="l">
              <a:lnSpc>
                <a:spcPts val="1235"/>
              </a:lnSpc>
              <a:spcBef>
                <a:spcPts val="0"/>
              </a:spcBef>
              <a:spcAft>
                <a:spcPts val="0"/>
              </a:spcAft>
              <a:buNone/>
            </a:pPr>
            <a:r>
              <a:rPr sz="950" b="0" i="0">
                <a:solidFill>
                  <a:srgbClr val="1F2A37"/>
                </a:solidFill>
                <a:latin typeface="Consolas"/>
              </a:rPr>
              <a:t>env.unwrapped.P[0][2]                </a:t>
            </a:r>
            <a:r>
              <a:rPr sz="950" b="0" i="1">
                <a:solidFill>
                  <a:srgbClr val="768896"/>
                </a:solidFill>
                <a:latin typeface="Consolas"/>
              </a:rPr>
              <a:t># the table of 6.3, for s = 0, a = RIGHT</a:t>
            </a:r>
          </a:p>
          <a:p>
            <a:pPr marL="0" indent="0" algn="l">
              <a:lnSpc>
                <a:spcPts val="1235"/>
              </a:lnSpc>
              <a:spcBef>
                <a:spcPts val="0"/>
              </a:spcBef>
              <a:spcAft>
                <a:spcPts val="0"/>
              </a:spcAft>
              <a:buNone/>
            </a:pPr>
            <a:r>
              <a:rPr sz="950" b="0" i="1">
                <a:solidFill>
                  <a:srgbClr val="768896"/>
                </a:solidFill>
                <a:latin typeface="Consolas"/>
              </a:rPr>
              <a:t># [(0.333, 4, 0.0, False), (0.333, 1, 0.0, False), (0.333, 0, 0.0, False)]</a:t>
            </a:r>
          </a:p>
        </p:txBody>
      </p:sp>
      <p:pic>
        <p:nvPicPr>
          <p:cNvPr id="106" name="Picture" descr="frozen_lake_render.png"/>
          <p:cNvPicPr>
            <a:picLocks noChangeAspect="1"/>
          </p:cNvPicPr>
          <p:nvPr/>
        </p:nvPicPr>
        <p:blipFill>
          <a:blip r:embed="rId2"/>
          <a:stretch>
            <a:fillRect/>
          </a:stretch>
        </p:blipFill>
        <p:spPr>
          <a:xfrm>
            <a:off x="841248" y="4700016"/>
            <a:ext cx="1444752" cy="1444752"/>
          </a:xfrm>
          <a:prstGeom prst="rect">
            <a:avLst/>
          </a:prstGeom>
        </p:spPr>
      </p:pic>
      <p:sp>
        <p:nvSpPr>
          <p:cNvPr id="107" name="TextBox"/>
          <p:cNvSpPr txBox="1"/>
          <p:nvPr/>
        </p:nvSpPr>
        <p:spPr>
          <a:xfrm>
            <a:off x="2464308" y="4744821"/>
            <a:ext cx="4663440" cy="868680"/>
          </a:xfrm>
          <a:prstGeom prst="rect">
            <a:avLst/>
          </a:prstGeom>
          <a:noFill/>
        </p:spPr>
        <p:txBody>
          <a:bodyPr wrap="square" lIns="0" tIns="0" rIns="0" bIns="0" anchor="t">
            <a:noAutofit/>
          </a:bodyPr>
          <a:lstStyle/>
          <a:p>
            <a:pPr marL="0" indent="0" algn="l">
              <a:lnSpc>
                <a:spcPts val="1180"/>
              </a:lnSpc>
              <a:spcBef>
                <a:spcPts val="0"/>
              </a:spcBef>
              <a:spcAft>
                <a:spcPts val="0"/>
              </a:spcAft>
              <a:buNone/>
            </a:pPr>
            <a:r>
              <a:rPr sz="950" b="0" i="0" dirty="0" err="1">
                <a:solidFill>
                  <a:srgbClr val="626669"/>
                </a:solidFill>
                <a:latin typeface="Fira Sans"/>
              </a:rPr>
              <a:t>env.render</a:t>
            </a:r>
            <a:r>
              <a:rPr sz="950" b="0" i="0" dirty="0">
                <a:solidFill>
                  <a:srgbClr val="626669"/>
                </a:solidFill>
                <a:latin typeface="Fira Sans"/>
              </a:rPr>
              <a:t>() straight after reset(): the grid of §6.1 as Gymnasium draws it — the agent in state 0, the four holes, the goal in state 15. Rendering is a convenience for us; the agent only ever sees the integer state.</a:t>
            </a:r>
          </a:p>
        </p:txBody>
      </p:sp>
      <p:sp>
        <p:nvSpPr>
          <p:cNvPr id="109" name="TextBox"/>
          <p:cNvSpPr txBox="1"/>
          <p:nvPr/>
        </p:nvSpPr>
        <p:spPr>
          <a:xfrm>
            <a:off x="7534656" y="1335024"/>
            <a:ext cx="3813048" cy="26517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THE INTERFACE IS THE INTERACTION LOOP</a:t>
            </a:r>
          </a:p>
        </p:txBody>
      </p:sp>
      <p:sp>
        <p:nvSpPr>
          <p:cNvPr id="110" name="Rectangle"/>
          <p:cNvSpPr/>
          <p:nvPr/>
        </p:nvSpPr>
        <p:spPr>
          <a:xfrm>
            <a:off x="7534656" y="1682496"/>
            <a:ext cx="36576" cy="3291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p:cNvSpPr txBox="1"/>
          <p:nvPr/>
        </p:nvSpPr>
        <p:spPr>
          <a:xfrm>
            <a:off x="7754112" y="1664208"/>
            <a:ext cx="3593592" cy="38404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00" b="1" i="0">
                <a:solidFill>
                  <a:srgbClr val="25282A"/>
                </a:solidFill>
                <a:latin typeface="Consolas"/>
              </a:rPr>
              <a:t>reset()</a:t>
            </a:r>
            <a:r>
              <a:rPr sz="1092" b="0" i="0">
                <a:solidFill>
                  <a:srgbClr val="333639"/>
                </a:solidFill>
                <a:latin typeface="Fira Sans"/>
              </a:rPr>
              <a:t> — starts a new episode and returns the initial state (here always 0) plus an info dictionary.</a:t>
            </a:r>
          </a:p>
        </p:txBody>
      </p:sp>
      <p:sp>
        <p:nvSpPr>
          <p:cNvPr id="112" name="Rectangle"/>
          <p:cNvSpPr/>
          <p:nvPr/>
        </p:nvSpPr>
        <p:spPr>
          <a:xfrm>
            <a:off x="7534656" y="2194560"/>
            <a:ext cx="3657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TextBox"/>
          <p:cNvSpPr txBox="1"/>
          <p:nvPr/>
        </p:nvSpPr>
        <p:spPr>
          <a:xfrm>
            <a:off x="7754112" y="2176272"/>
            <a:ext cx="3593592" cy="38404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00" b="1" i="0">
                <a:solidFill>
                  <a:srgbClr val="25282A"/>
                </a:solidFill>
                <a:latin typeface="Consolas"/>
              </a:rPr>
              <a:t>step(a)</a:t>
            </a:r>
            <a:r>
              <a:rPr sz="1092" b="0" i="0">
                <a:solidFill>
                  <a:srgbClr val="333639"/>
                </a:solidFill>
                <a:latin typeface="Fira Sans"/>
              </a:rPr>
              <a:t> — applies action a and returns the next state s′ and the reward r: one sample from p(s′, r | s, a).</a:t>
            </a:r>
          </a:p>
        </p:txBody>
      </p:sp>
      <p:sp>
        <p:nvSpPr>
          <p:cNvPr id="114" name="Rectangle"/>
          <p:cNvSpPr/>
          <p:nvPr/>
        </p:nvSpPr>
        <p:spPr>
          <a:xfrm>
            <a:off x="7534656" y="2706624"/>
            <a:ext cx="36576" cy="3291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p:cNvSpPr txBox="1"/>
          <p:nvPr/>
        </p:nvSpPr>
        <p:spPr>
          <a:xfrm>
            <a:off x="7754112" y="2688336"/>
            <a:ext cx="3593592" cy="38404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00" b="1" i="0">
                <a:solidFill>
                  <a:srgbClr val="25282A"/>
                </a:solidFill>
                <a:latin typeface="Consolas"/>
              </a:rPr>
              <a:t>terminated</a:t>
            </a:r>
            <a:r>
              <a:rPr sz="1092" b="0" i="0">
                <a:solidFill>
                  <a:srgbClr val="333639"/>
                </a:solidFill>
                <a:latin typeface="Fira Sans"/>
              </a:rPr>
              <a:t> — s′ is a terminal state, a hole or the goal. The episode is over and the return is complete.</a:t>
            </a:r>
          </a:p>
        </p:txBody>
      </p:sp>
      <p:sp>
        <p:nvSpPr>
          <p:cNvPr id="116" name="Rectangle"/>
          <p:cNvSpPr/>
          <p:nvPr/>
        </p:nvSpPr>
        <p:spPr>
          <a:xfrm>
            <a:off x="7534656" y="3218688"/>
            <a:ext cx="36576" cy="3291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Box"/>
          <p:cNvSpPr txBox="1"/>
          <p:nvPr/>
        </p:nvSpPr>
        <p:spPr>
          <a:xfrm>
            <a:off x="7754112" y="3200400"/>
            <a:ext cx="3593592" cy="38404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00" b="1" i="0">
                <a:solidFill>
                  <a:srgbClr val="25282A"/>
                </a:solidFill>
                <a:latin typeface="Consolas"/>
              </a:rPr>
              <a:t>truncated</a:t>
            </a:r>
            <a:r>
              <a:rPr sz="1092" b="0" i="0">
                <a:solidFill>
                  <a:srgbClr val="333639"/>
                </a:solidFill>
                <a:latin typeface="Fira Sans"/>
              </a:rPr>
              <a:t> — the 100-step time limit of FrozenLake-v1 fired: a property of the simulator, not of the MDP.</a:t>
            </a:r>
          </a:p>
        </p:txBody>
      </p:sp>
      <p:sp>
        <p:nvSpPr>
          <p:cNvPr id="118" name="Rectangle"/>
          <p:cNvSpPr/>
          <p:nvPr/>
        </p:nvSpPr>
        <p:spPr>
          <a:xfrm>
            <a:off x="7534656" y="3785616"/>
            <a:ext cx="3813048" cy="89611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Rectangle"/>
          <p:cNvSpPr/>
          <p:nvPr/>
        </p:nvSpPr>
        <p:spPr>
          <a:xfrm>
            <a:off x="7534656" y="3785616"/>
            <a:ext cx="36576" cy="89611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Box"/>
          <p:cNvSpPr txBox="1"/>
          <p:nvPr/>
        </p:nvSpPr>
        <p:spPr>
          <a:xfrm>
            <a:off x="7754112" y="3913632"/>
            <a:ext cx="3429000" cy="67665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agent only ever calls reset() and step(). The table  still exists, as </a:t>
            </a:r>
            <a:r>
              <a:rPr sz="1092" b="1" i="0" dirty="0" err="1">
                <a:solidFill>
                  <a:srgbClr val="333639"/>
                </a:solidFill>
                <a:latin typeface="Fira Sans"/>
              </a:rPr>
              <a:t>env.unwrapped.P</a:t>
            </a:r>
            <a:r>
              <a:rPr sz="1092" b="0" i="0" dirty="0">
                <a:solidFill>
                  <a:srgbClr val="333639"/>
                </a:solidFill>
                <a:latin typeface="Fira Sans"/>
              </a:rPr>
              <a:t>, but a learning agent never looks at it</a:t>
            </a:r>
            <a:r>
              <a:rPr lang="it-IT" sz="1092" b="0" i="0" dirty="0">
                <a:solidFill>
                  <a:srgbClr val="333639"/>
                </a:solidFill>
                <a:latin typeface="Fira Sans"/>
              </a:rPr>
              <a:t>, </a:t>
            </a:r>
            <a:r>
              <a:rPr sz="1092" b="0" i="0" dirty="0">
                <a:solidFill>
                  <a:srgbClr val="333639"/>
                </a:solidFill>
                <a:latin typeface="Fira Sans"/>
              </a:rPr>
              <a:t>and for most environments no such table exists.</a:t>
            </a:r>
          </a:p>
        </p:txBody>
      </p:sp>
      <p:sp>
        <p:nvSpPr>
          <p:cNvPr id="121" name="TextBox"/>
          <p:cNvSpPr txBox="1"/>
          <p:nvPr/>
        </p:nvSpPr>
        <p:spPr>
          <a:xfrm>
            <a:off x="7534656" y="4846320"/>
            <a:ext cx="3813048"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A TIME LIMIT IS NEEDED</a:t>
            </a:r>
          </a:p>
        </p:txBody>
      </p:sp>
      <p:sp>
        <p:nvSpPr>
          <p:cNvPr id="122" name="Rectangle"/>
          <p:cNvSpPr/>
          <p:nvPr/>
        </p:nvSpPr>
        <p:spPr>
          <a:xfrm>
            <a:off x="7534656" y="5102352"/>
            <a:ext cx="3813048" cy="1024128"/>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Rectangle"/>
          <p:cNvSpPr/>
          <p:nvPr/>
        </p:nvSpPr>
        <p:spPr>
          <a:xfrm>
            <a:off x="7534656" y="5102352"/>
            <a:ext cx="36576" cy="102412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Box"/>
          <p:cNvSpPr txBox="1"/>
          <p:nvPr/>
        </p:nvSpPr>
        <p:spPr>
          <a:xfrm>
            <a:off x="7754112" y="5230368"/>
            <a:ext cx="3429000" cy="80467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With stochastic transitions an episode could wander for ever without reaching a terminal state. Gymnasium wraps the environment in a TimeLimit and raises truncated when it fires; a simulation loop must stop on either flag.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A PLAN DOES NOT SURVIVE THE ICE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unintended outcome and the sequence is worthless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67208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Here is a plan: a sequence of actions leading from state 0 to the goal. It shows the intended effect of each action — but there is more than a 66% chance at every step that something else happens instead.</a:t>
            </a:r>
          </a:p>
        </p:txBody>
      </p:sp>
      <p:pic>
        <p:nvPicPr>
          <p:cNvPr id="9" name="Picture 8" descr="fl_plan.png"/>
          <p:cNvPicPr>
            <a:picLocks noChangeAspect="1"/>
          </p:cNvPicPr>
          <p:nvPr/>
        </p:nvPicPr>
        <p:blipFill>
          <a:blip r:embed="rId2"/>
          <a:stretch>
            <a:fillRect/>
          </a:stretch>
        </p:blipFill>
        <p:spPr>
          <a:xfrm>
            <a:off x="841248" y="2088398"/>
            <a:ext cx="6720840" cy="2753938"/>
          </a:xfrm>
          <a:prstGeom prst="rect">
            <a:avLst/>
          </a:prstGeom>
        </p:spPr>
      </p:pic>
      <p:sp>
        <p:nvSpPr>
          <p:cNvPr id="10" name="TextBox 9"/>
          <p:cNvSpPr txBox="1"/>
          <p:nvPr/>
        </p:nvSpPr>
        <p:spPr>
          <a:xfrm>
            <a:off x="841248" y="4970352"/>
            <a:ext cx="67208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agent slips into state 9, which the plan never mentions. From there it has no instruction at all.</a:t>
            </a:r>
          </a:p>
        </p:txBody>
      </p:sp>
      <p:sp>
        <p:nvSpPr>
          <p:cNvPr id="11" name="TextBox 10"/>
          <p:cNvSpPr txBox="1"/>
          <p:nvPr/>
        </p:nvSpPr>
        <p:spPr>
          <a:xfrm>
            <a:off x="7946136" y="1335024"/>
            <a:ext cx="34045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WHAT GOES WRONG</a:t>
            </a:r>
          </a:p>
          <a:p>
            <a:pPr marL="0" indent="0" algn="l">
              <a:lnSpc>
                <a:spcPts val="1345"/>
              </a:lnSpc>
              <a:spcBef>
                <a:spcPts val="0"/>
              </a:spcBef>
              <a:spcAft>
                <a:spcPts val="0"/>
              </a:spcAft>
              <a:buNone/>
            </a:pPr>
            <a:r>
              <a:rPr sz="1140" b="0" i="0">
                <a:solidFill>
                  <a:srgbClr val="333639"/>
                </a:solidFill>
                <a:latin typeface="Fira Sans"/>
              </a:rPr>
              <a:t>The plan is indexed by step number. The moment the agent is somewhere the plan did not predict, </a:t>
            </a:r>
            <a:r>
              <a:rPr sz="1140" b="1" i="0">
                <a:solidFill>
                  <a:srgbClr val="25282A"/>
                </a:solidFill>
                <a:latin typeface="Fira Sans"/>
              </a:rPr>
              <a:t>the index is meaningless</a:t>
            </a:r>
            <a:r>
              <a:rPr sz="1140" b="0" i="0">
                <a:solidFill>
                  <a:srgbClr val="333639"/>
                </a:solidFill>
                <a:latin typeface="Fira Sans"/>
              </a:rPr>
              <a:t> and the remaining actions refer to a situation that no longer exists.</a:t>
            </a:r>
          </a:p>
        </p:txBody>
      </p:sp>
      <p:sp>
        <p:nvSpPr>
          <p:cNvPr id="12" name="TextBox 11"/>
          <p:cNvSpPr txBox="1"/>
          <p:nvPr/>
        </p:nvSpPr>
        <p:spPr>
          <a:xfrm>
            <a:off x="7946136" y="2508425"/>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COMPOUNDING THE ODDS</a:t>
            </a:r>
          </a:p>
        </p:txBody>
      </p:sp>
      <p:sp>
        <p:nvSpPr>
          <p:cNvPr id="13" name="TextBox 12"/>
          <p:cNvSpPr txBox="1"/>
          <p:nvPr/>
        </p:nvSpPr>
        <p:spPr>
          <a:xfrm>
            <a:off x="7946136" y="2764457"/>
            <a:ext cx="34045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Each step follows the plan with probability 1/3. A six-step plan therefore executes as intended with probability (1/3)⁶ ≈ </a:t>
            </a:r>
            <a:r>
              <a:rPr sz="1092" b="1" i="0">
                <a:solidFill>
                  <a:srgbClr val="C8102E"/>
                </a:solidFill>
                <a:latin typeface="Fira Sans"/>
              </a:rPr>
              <a:t>0.14%</a:t>
            </a:r>
            <a:r>
              <a:rPr sz="1092" b="0" i="0">
                <a:solidFill>
                  <a:srgbClr val="333639"/>
                </a:solidFill>
                <a:latin typeface="Fira Sans"/>
              </a:rPr>
              <a:t>. The plan is not merely fragile; it is essentially never followed.</a:t>
            </a:r>
          </a:p>
        </p:txBody>
      </p:sp>
      <p:sp>
        <p:nvSpPr>
          <p:cNvPr id="14" name="Rectangle 13"/>
          <p:cNvSpPr/>
          <p:nvPr/>
        </p:nvSpPr>
        <p:spPr>
          <a:xfrm>
            <a:off x="7946136" y="3704460"/>
            <a:ext cx="3404585"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946136" y="3704460"/>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65592" y="3850764"/>
            <a:ext cx="3020537"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What is needed is a plan for </a:t>
            </a:r>
            <a:r>
              <a:rPr sz="1092" b="1" i="0">
                <a:solidFill>
                  <a:srgbClr val="333639"/>
                </a:solidFill>
                <a:latin typeface="Fira Sans"/>
              </a:rPr>
              <a:t>every possible state</a:t>
            </a:r>
            <a:r>
              <a:rPr sz="1092" b="0" i="0">
                <a:solidFill>
                  <a:srgbClr val="333639"/>
                </a:solidFill>
                <a:latin typeface="Fira Sans"/>
              </a:rPr>
              <a:t> — a universal plan. That is a policy, and the next slide compares two of them.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TWO POLICIES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Both reach the goal</a:t>
            </a:r>
            <a:r>
              <a:rPr lang="it-IT" sz="2162" b="1" i="0" dirty="0">
                <a:solidFill>
                  <a:srgbClr val="25282A"/>
                </a:solidFill>
                <a:latin typeface="Roboto Slab"/>
              </a:rPr>
              <a:t>, </a:t>
            </a:r>
            <a:r>
              <a:rPr sz="2162" b="1" i="0" dirty="0">
                <a:solidFill>
                  <a:srgbClr val="25282A"/>
                </a:solidFill>
                <a:latin typeface="Roboto Slab"/>
              </a:rPr>
              <a:t>only one of them works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 cell now carries an action, so the agent always knows what to do wherever it ends up. The obvious question follows immediately: which of these two is better, and by how much?</a:t>
            </a:r>
          </a:p>
        </p:txBody>
      </p:sp>
      <p:pic>
        <p:nvPicPr>
          <p:cNvPr id="9" name="Picture 8" descr="fl_policies.png"/>
          <p:cNvPicPr>
            <a:picLocks noChangeAspect="1"/>
          </p:cNvPicPr>
          <p:nvPr/>
        </p:nvPicPr>
        <p:blipFill>
          <a:blip r:embed="rId2"/>
          <a:stretch>
            <a:fillRect/>
          </a:stretch>
        </p:blipFill>
        <p:spPr>
          <a:xfrm>
            <a:off x="2509824" y="1900605"/>
            <a:ext cx="7178446" cy="2011680"/>
          </a:xfrm>
          <a:prstGeom prst="rect">
            <a:avLst/>
          </a:prstGeom>
        </p:spPr>
      </p:pic>
      <p:sp>
        <p:nvSpPr>
          <p:cNvPr id="10" name="Rectangle 9"/>
          <p:cNvSpPr/>
          <p:nvPr/>
        </p:nvSpPr>
        <p:spPr>
          <a:xfrm>
            <a:off x="841248" y="415002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87773"/>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534077"/>
            <a:ext cx="5029200" cy="6179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Go-get-it</a:t>
            </a:r>
          </a:p>
          <a:p>
            <a:pPr marL="0" indent="0" algn="l">
              <a:lnSpc>
                <a:spcPts val="1310"/>
              </a:lnSpc>
              <a:spcBef>
                <a:spcPts val="500"/>
              </a:spcBef>
              <a:spcAft>
                <a:spcPts val="0"/>
              </a:spcAft>
              <a:buNone/>
            </a:pPr>
            <a:r>
              <a:rPr sz="1092" b="0" i="0">
                <a:solidFill>
                  <a:srgbClr val="626669"/>
                </a:solidFill>
                <a:latin typeface="Fira Sans"/>
              </a:rPr>
              <a:t>Head straight for the goal: right, right, down, and so on. The shortest route on a grid where nothing slipped.</a:t>
            </a:r>
          </a:p>
        </p:txBody>
      </p:sp>
      <p:sp>
        <p:nvSpPr>
          <p:cNvPr id="13" name="Rectangle 12"/>
          <p:cNvSpPr/>
          <p:nvPr/>
        </p:nvSpPr>
        <p:spPr>
          <a:xfrm>
            <a:off x="6327648" y="4387773"/>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534077"/>
            <a:ext cx="5029200" cy="6179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Careful</a:t>
            </a:r>
          </a:p>
          <a:p>
            <a:pPr marL="0" indent="0" algn="l">
              <a:lnSpc>
                <a:spcPts val="1310"/>
              </a:lnSpc>
              <a:spcBef>
                <a:spcPts val="500"/>
              </a:spcBef>
              <a:spcAft>
                <a:spcPts val="0"/>
              </a:spcAft>
              <a:buNone/>
            </a:pPr>
            <a:r>
              <a:rPr sz="1092" b="0" i="0">
                <a:solidFill>
                  <a:srgbClr val="626669"/>
                </a:solidFill>
                <a:latin typeface="Fira Sans"/>
              </a:rPr>
              <a:t>Press against the walls and edge round the holes. Longer on paper, but the slips are much more likely to be harmless.</a:t>
            </a:r>
          </a:p>
        </p:txBody>
      </p:sp>
      <p:sp>
        <p:nvSpPr>
          <p:cNvPr id="15" name="Rectangle 14"/>
          <p:cNvSpPr/>
          <p:nvPr/>
        </p:nvSpPr>
        <p:spPr>
          <a:xfrm>
            <a:off x="841248" y="5408104"/>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408104"/>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55440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Answering “how good is this policy?” requires the </a:t>
            </a:r>
            <a:r>
              <a:rPr sz="1140" b="1" i="0">
                <a:solidFill>
                  <a:srgbClr val="333639"/>
                </a:solidFill>
                <a:latin typeface="Fira Sans"/>
              </a:rPr>
              <a:t>expected return</a:t>
            </a:r>
            <a:r>
              <a:rPr sz="1140" b="0" i="0">
                <a:solidFill>
                  <a:srgbClr val="333639"/>
                </a:solidFill>
                <a:latin typeface="Fira Sans"/>
              </a:rPr>
              <a:t>, because the environment is stochastic: even an agent that knows how to act well may be sent somewhere it did not intend. A single episode tells us almost nothing.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6.7  EVALUATING A POLICY BY BRUTE FORCE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Run many episodes and average their discounted returns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630936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The most direct way to compare the policies is to run them. For each episode we accumulate the discounted return, and estimate the performance of the policy by averaging over many episodes</a:t>
            </a:r>
            <a:r>
              <a:rPr lang="it-IT" sz="1188" b="1" i="0" dirty="0">
                <a:solidFill>
                  <a:srgbClr val="333639"/>
                </a:solidFill>
                <a:latin typeface="Fira Sans"/>
              </a:rPr>
              <a:t>: </a:t>
            </a:r>
            <a:r>
              <a:rPr sz="1188" b="1" i="0" dirty="0">
                <a:solidFill>
                  <a:srgbClr val="333639"/>
                </a:solidFill>
                <a:latin typeface="Fira Sans"/>
              </a:rPr>
              <a:t>a Monte Carlo estimate of the expected return</a:t>
            </a:r>
            <a:r>
              <a:rPr sz="1188" b="0" i="0" dirty="0">
                <a:solidFill>
                  <a:srgbClr val="333639"/>
                </a:solidFill>
                <a:latin typeface="Fira Sans"/>
              </a:rPr>
              <a:t>.</a:t>
            </a:r>
          </a:p>
        </p:txBody>
      </p:sp>
      <p:pic>
        <p:nvPicPr>
          <p:cNvPr id="9" name="Picture 8" descr="eq_g_zero.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070110"/>
            <a:ext cx="3170682" cy="311277"/>
          </a:xfrm>
          <a:prstGeom prst="rect">
            <a:avLst/>
          </a:prstGeom>
        </p:spPr>
      </p:pic>
      <p:sp>
        <p:nvSpPr>
          <p:cNvPr id="10" name="Rectangle 9"/>
          <p:cNvSpPr/>
          <p:nvPr/>
        </p:nvSpPr>
        <p:spPr>
          <a:xfrm>
            <a:off x="841248" y="2600843"/>
            <a:ext cx="6309360" cy="363067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600843"/>
            <a:ext cx="41148" cy="363067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24128" y="2683139"/>
            <a:ext cx="59436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BRUTE-FORCE EVALUATION</a:t>
            </a:r>
          </a:p>
        </p:txBody>
      </p:sp>
      <p:sp>
        <p:nvSpPr>
          <p:cNvPr id="13" name="TextBox 12"/>
          <p:cNvSpPr txBox="1"/>
          <p:nvPr/>
        </p:nvSpPr>
        <p:spPr>
          <a:xfrm>
            <a:off x="1024128" y="2984891"/>
            <a:ext cx="5998464" cy="3173476"/>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a:solidFill>
                  <a:srgbClr val="1F2A37"/>
                </a:solidFill>
                <a:latin typeface="Consolas"/>
              </a:rPr>
              <a:t>def evaluate(env, pi, gamma=1.0, n_episodes=10000):</a:t>
            </a:r>
          </a:p>
          <a:p>
            <a:pPr marL="0" indent="0" algn="l">
              <a:lnSpc>
                <a:spcPts val="1235"/>
              </a:lnSpc>
              <a:spcBef>
                <a:spcPts val="0"/>
              </a:spcBef>
              <a:spcAft>
                <a:spcPts val="0"/>
              </a:spcAft>
              <a:buNone/>
            </a:pPr>
            <a:r>
              <a:rPr sz="950" b="0" i="0">
                <a:solidFill>
                  <a:srgbClr val="1F2A37"/>
                </a:solidFill>
                <a:latin typeface="Consolas"/>
              </a:rPr>
              <a:t>    returns = np.zeros(n_episodes)</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for episode in range(n_episodes):</a:t>
            </a:r>
          </a:p>
          <a:p>
            <a:pPr marL="0" indent="0" algn="l">
              <a:lnSpc>
                <a:spcPts val="1235"/>
              </a:lnSpc>
              <a:spcBef>
                <a:spcPts val="0"/>
              </a:spcBef>
              <a:spcAft>
                <a:spcPts val="0"/>
              </a:spcAft>
              <a:buNone/>
            </a:pPr>
            <a:r>
              <a:rPr sz="950" b="0" i="0">
                <a:solidFill>
                  <a:srgbClr val="1F2A37"/>
                </a:solidFill>
                <a:latin typeface="Consolas"/>
              </a:rPr>
              <a:t>        state, info = env.reset()</a:t>
            </a:r>
          </a:p>
          <a:p>
            <a:pPr marL="0" indent="0" algn="l">
              <a:lnSpc>
                <a:spcPts val="1235"/>
              </a:lnSpc>
              <a:spcBef>
                <a:spcPts val="0"/>
              </a:spcBef>
              <a:spcAft>
                <a:spcPts val="0"/>
              </a:spcAft>
              <a:buNone/>
            </a:pPr>
            <a:r>
              <a:rPr sz="950" b="0" i="0">
                <a:solidFill>
                  <a:srgbClr val="1F2A37"/>
                </a:solidFill>
                <a:latin typeface="Consolas"/>
              </a:rPr>
              <a:t>        G, discount = 0.0, 1.0</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done = False</a:t>
            </a:r>
          </a:p>
          <a:p>
            <a:pPr marL="0" indent="0" algn="l">
              <a:lnSpc>
                <a:spcPts val="1235"/>
              </a:lnSpc>
              <a:spcBef>
                <a:spcPts val="0"/>
              </a:spcBef>
              <a:spcAft>
                <a:spcPts val="0"/>
              </a:spcAft>
              <a:buNone/>
            </a:pPr>
            <a:r>
              <a:rPr sz="950" b="0" i="0">
                <a:solidFill>
                  <a:srgbClr val="1F2A37"/>
                </a:solidFill>
                <a:latin typeface="Consolas"/>
              </a:rPr>
              <a:t>        while not done:</a:t>
            </a:r>
          </a:p>
          <a:p>
            <a:pPr marL="0" indent="0" algn="l">
              <a:lnSpc>
                <a:spcPts val="1235"/>
              </a:lnSpc>
              <a:spcBef>
                <a:spcPts val="0"/>
              </a:spcBef>
              <a:spcAft>
                <a:spcPts val="0"/>
              </a:spcAft>
              <a:buNone/>
            </a:pPr>
            <a:r>
              <a:rPr sz="950" b="0" i="0">
                <a:solidFill>
                  <a:srgbClr val="1F2A37"/>
                </a:solidFill>
                <a:latin typeface="Consolas"/>
              </a:rPr>
              <a:t>            state, reward, terminated, truncated, info = \</a:t>
            </a:r>
          </a:p>
          <a:p>
            <a:pPr marL="0" indent="0" algn="l">
              <a:lnSpc>
                <a:spcPts val="1235"/>
              </a:lnSpc>
              <a:spcBef>
                <a:spcPts val="0"/>
              </a:spcBef>
              <a:spcAft>
                <a:spcPts val="0"/>
              </a:spcAft>
              <a:buNone/>
            </a:pPr>
            <a:r>
              <a:rPr sz="950" b="0" i="0">
                <a:solidFill>
                  <a:srgbClr val="1F2A37"/>
                </a:solidFill>
                <a:latin typeface="Consolas"/>
              </a:rPr>
              <a:t>                env.step(pi(state))</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1" i="0">
                <a:solidFill>
                  <a:srgbClr val="574676"/>
                </a:solidFill>
                <a:latin typeface="Consolas"/>
              </a:rPr>
              <a:t>            G += discount * reward      </a:t>
            </a:r>
            <a:r>
              <a:rPr sz="950" b="0" i="1">
                <a:solidFill>
                  <a:srgbClr val="768896"/>
                </a:solidFill>
                <a:latin typeface="Consolas"/>
              </a:rPr>
              <a:t># accumulate</a:t>
            </a:r>
          </a:p>
          <a:p>
            <a:pPr marL="0" indent="0" algn="l">
              <a:lnSpc>
                <a:spcPts val="1235"/>
              </a:lnSpc>
              <a:spcBef>
                <a:spcPts val="0"/>
              </a:spcBef>
              <a:spcAft>
                <a:spcPts val="0"/>
              </a:spcAft>
              <a:buNone/>
            </a:pPr>
            <a:r>
              <a:rPr sz="950" b="1" i="0">
                <a:solidFill>
                  <a:srgbClr val="574676"/>
                </a:solidFill>
                <a:latin typeface="Consolas"/>
              </a:rPr>
              <a:t>            discount *= gamma           </a:t>
            </a:r>
            <a:r>
              <a:rPr sz="950" b="0" i="1">
                <a:solidFill>
                  <a:srgbClr val="768896"/>
                </a:solidFill>
                <a:latin typeface="Consolas"/>
              </a:rPr>
              <a:t># then discount</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done = terminated or truncated</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returns[episode] = G</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1" i="0">
                <a:solidFill>
                  <a:srgbClr val="574676"/>
                </a:solidFill>
                <a:latin typeface="Consolas"/>
              </a:rPr>
              <a:t>    return returns.mean(), returns</a:t>
            </a:r>
          </a:p>
        </p:txBody>
      </p:sp>
      <p:sp>
        <p:nvSpPr>
          <p:cNvPr id="14" name="TextBox 13"/>
          <p:cNvSpPr txBox="1"/>
          <p:nvPr/>
        </p:nvSpPr>
        <p:spPr>
          <a:xfrm>
            <a:off x="7534655" y="1340503"/>
            <a:ext cx="3816065" cy="1006715"/>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lang="en-GB" sz="931" b="1" i="0" spc="110" noProof="0" dirty="0">
                <a:solidFill>
                  <a:srgbClr val="574676"/>
                </a:solidFill>
                <a:latin typeface="Fira Sans Medium"/>
              </a:rPr>
              <a:t>ONLY TWO CALLS INTO THE ENVIRONMENT</a:t>
            </a:r>
            <a:endParaRPr lang="en-GB" sz="100" b="1" i="0" spc="110" noProof="0" dirty="0">
              <a:solidFill>
                <a:srgbClr val="574676"/>
              </a:solidFill>
              <a:latin typeface="Fira Sans Medium"/>
            </a:endParaRPr>
          </a:p>
          <a:p>
            <a:pPr marL="0" indent="0" algn="l">
              <a:lnSpc>
                <a:spcPts val="1310"/>
              </a:lnSpc>
              <a:spcBef>
                <a:spcPts val="0"/>
              </a:spcBef>
              <a:spcAft>
                <a:spcPts val="0"/>
              </a:spcAft>
              <a:buNone/>
            </a:pPr>
            <a:r>
              <a:rPr sz="1092" b="0" i="0" dirty="0">
                <a:solidFill>
                  <a:srgbClr val="333639"/>
                </a:solidFill>
                <a:latin typeface="Fira Sans"/>
              </a:rPr>
              <a:t>evaluate() touches the environment only through </a:t>
            </a:r>
            <a:r>
              <a:rPr sz="1092" b="1" i="0" dirty="0">
                <a:solidFill>
                  <a:srgbClr val="333639"/>
                </a:solidFill>
                <a:latin typeface="Fira Sans"/>
              </a:rPr>
              <a:t>reset() and step()</a:t>
            </a:r>
            <a:r>
              <a:rPr sz="1092" b="0" i="0" dirty="0">
                <a:solidFill>
                  <a:srgbClr val="333639"/>
                </a:solidFill>
                <a:latin typeface="Fira Sans"/>
              </a:rPr>
              <a:t>. Nothing in it is specific to Frozen Lake: it evaluates any Gymnasium environment, given a policy over its states.</a:t>
            </a:r>
          </a:p>
        </p:txBody>
      </p:sp>
      <p:sp>
        <p:nvSpPr>
          <p:cNvPr id="15" name="TextBox 14"/>
          <p:cNvSpPr txBox="1"/>
          <p:nvPr/>
        </p:nvSpPr>
        <p:spPr>
          <a:xfrm>
            <a:off x="7534655" y="2545610"/>
            <a:ext cx="381606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WHY TRUNCATED IS THERE</a:t>
            </a:r>
          </a:p>
        </p:txBody>
      </p:sp>
      <p:sp>
        <p:nvSpPr>
          <p:cNvPr id="16" name="TextBox 15"/>
          <p:cNvSpPr txBox="1"/>
          <p:nvPr/>
        </p:nvSpPr>
        <p:spPr>
          <a:xfrm>
            <a:off x="7534656" y="2710202"/>
            <a:ext cx="381606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On slippery ice an episode may in principle never end, so </a:t>
            </a:r>
            <a:r>
              <a:rPr sz="1092" b="0" i="0" dirty="0" err="1">
                <a:solidFill>
                  <a:srgbClr val="333639"/>
                </a:solidFill>
                <a:latin typeface="Fira Sans"/>
              </a:rPr>
              <a:t>FrozenLake</a:t>
            </a:r>
            <a:r>
              <a:rPr sz="1092" b="0" i="0" dirty="0">
                <a:solidFill>
                  <a:srgbClr val="333639"/>
                </a:solidFill>
                <a:latin typeface="Fira Sans"/>
              </a:rPr>
              <a:t> is wrapped in a 100-step time limit. When it fires, </a:t>
            </a:r>
            <a:r>
              <a:rPr sz="1092" b="1" i="0" dirty="0">
                <a:solidFill>
                  <a:srgbClr val="333639"/>
                </a:solidFill>
                <a:latin typeface="Fira Sans"/>
              </a:rPr>
              <a:t>truncated</a:t>
            </a:r>
            <a:r>
              <a:rPr sz="1092" b="0" i="0" dirty="0">
                <a:solidFill>
                  <a:srgbClr val="333639"/>
                </a:solidFill>
                <a:latin typeface="Fira Sans"/>
              </a:rPr>
              <a:t> is True and the loop must stop even though no terminal state was reached.</a:t>
            </a:r>
          </a:p>
        </p:txBody>
      </p:sp>
      <p:sp>
        <p:nvSpPr>
          <p:cNvPr id="17" name="TextBox 16"/>
          <p:cNvSpPr txBox="1"/>
          <p:nvPr/>
        </p:nvSpPr>
        <p:spPr>
          <a:xfrm>
            <a:off x="7534656" y="3631918"/>
            <a:ext cx="381606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POLICIES, IN CODE</a:t>
            </a:r>
          </a:p>
        </p:txBody>
      </p:sp>
      <p:sp>
        <p:nvSpPr>
          <p:cNvPr id="18" name="Rectangle 17"/>
          <p:cNvSpPr/>
          <p:nvPr/>
        </p:nvSpPr>
        <p:spPr>
          <a:xfrm>
            <a:off x="7534656" y="3887950"/>
            <a:ext cx="3816065" cy="220272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34656" y="3887950"/>
            <a:ext cx="41148" cy="220272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17536" y="3970246"/>
            <a:ext cx="3450305"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A POLICY IS A FUNCTION FROM STATE TO ACTION</a:t>
            </a:r>
          </a:p>
        </p:txBody>
      </p:sp>
      <p:sp>
        <p:nvSpPr>
          <p:cNvPr id="21" name="TextBox 20"/>
          <p:cNvSpPr txBox="1"/>
          <p:nvPr/>
        </p:nvSpPr>
        <p:spPr>
          <a:xfrm>
            <a:off x="7717536" y="4271998"/>
            <a:ext cx="3505169" cy="1745526"/>
          </a:xfrm>
          <a:prstGeom prst="rect">
            <a:avLst/>
          </a:prstGeom>
          <a:noFill/>
        </p:spPr>
        <p:txBody>
          <a:bodyPr wrap="none" lIns="0" tIns="0" rIns="0" bIns="0" anchor="t">
            <a:noAutofit/>
          </a:bodyPr>
          <a:lstStyle/>
          <a:p>
            <a:pPr marL="0" indent="0" algn="l">
              <a:lnSpc>
                <a:spcPts val="1223"/>
              </a:lnSpc>
              <a:spcBef>
                <a:spcPts val="0"/>
              </a:spcBef>
              <a:spcAft>
                <a:spcPts val="0"/>
              </a:spcAft>
              <a:buNone/>
            </a:pPr>
            <a:r>
              <a:rPr sz="941" b="0" i="0">
                <a:solidFill>
                  <a:srgbClr val="1F2A37"/>
                </a:solidFill>
                <a:latin typeface="Consolas"/>
              </a:rPr>
              <a:t>LEFT, DOWN, RIGHT, UP = range(4)</a:t>
            </a:r>
          </a:p>
          <a:p>
            <a:pPr marL="0" indent="0" algn="l">
              <a:lnSpc>
                <a:spcPts val="1223"/>
              </a:lnSpc>
              <a:spcBef>
                <a:spcPts val="0"/>
              </a:spcBef>
              <a:spcAft>
                <a:spcPts val="0"/>
              </a:spcAft>
              <a:buNone/>
            </a:pPr>
            <a:r>
              <a:rPr sz="941" b="0" i="0">
                <a:solidFill>
                  <a:srgbClr val="333639"/>
                </a:solidFill>
                <a:latin typeface="Consolas"/>
              </a:rPr>
              <a:t> </a:t>
            </a:r>
          </a:p>
          <a:p>
            <a:pPr marL="0" indent="0" algn="l">
              <a:lnSpc>
                <a:spcPts val="1223"/>
              </a:lnSpc>
              <a:spcBef>
                <a:spcPts val="0"/>
              </a:spcBef>
              <a:spcAft>
                <a:spcPts val="0"/>
              </a:spcAft>
              <a:buNone/>
            </a:pPr>
            <a:r>
              <a:rPr sz="941" b="0" i="0">
                <a:solidFill>
                  <a:srgbClr val="1F2A37"/>
                </a:solidFill>
                <a:latin typeface="Consolas"/>
              </a:rPr>
              <a:t>def go_get_pi(s):</a:t>
            </a:r>
          </a:p>
          <a:p>
            <a:pPr marL="0" indent="0" algn="l">
              <a:lnSpc>
                <a:spcPts val="1223"/>
              </a:lnSpc>
              <a:spcBef>
                <a:spcPts val="0"/>
              </a:spcBef>
              <a:spcAft>
                <a:spcPts val="0"/>
              </a:spcAft>
              <a:buNone/>
            </a:pPr>
            <a:r>
              <a:rPr sz="941" b="0" i="0">
                <a:solidFill>
                  <a:srgbClr val="1F2A37"/>
                </a:solidFill>
                <a:latin typeface="Consolas"/>
              </a:rPr>
              <a:t>    return {0: RIGHT, 1: RIGHT, 2: DOWN, 3: LEFT,</a:t>
            </a:r>
          </a:p>
          <a:p>
            <a:pPr marL="0" indent="0" algn="l">
              <a:lnSpc>
                <a:spcPts val="1223"/>
              </a:lnSpc>
              <a:spcBef>
                <a:spcPts val="0"/>
              </a:spcBef>
              <a:spcAft>
                <a:spcPts val="0"/>
              </a:spcAft>
              <a:buNone/>
            </a:pPr>
            <a:r>
              <a:rPr sz="941" b="0" i="0">
                <a:solidFill>
                  <a:srgbClr val="1F2A37"/>
                </a:solidFill>
                <a:latin typeface="Consolas"/>
              </a:rPr>
              <a:t>            4: DOWN, 5: LEFT, 6: DOWN, 7: LEFT,</a:t>
            </a:r>
          </a:p>
          <a:p>
            <a:pPr marL="0" indent="0" algn="l">
              <a:lnSpc>
                <a:spcPts val="1223"/>
              </a:lnSpc>
              <a:spcBef>
                <a:spcPts val="0"/>
              </a:spcBef>
              <a:spcAft>
                <a:spcPts val="0"/>
              </a:spcAft>
              <a:buNone/>
            </a:pPr>
            <a:r>
              <a:rPr sz="941" b="0" i="0">
                <a:solidFill>
                  <a:srgbClr val="1F2A37"/>
                </a:solidFill>
                <a:latin typeface="Consolas"/>
              </a:rPr>
              <a:t>            ... }[s]</a:t>
            </a:r>
          </a:p>
          <a:p>
            <a:pPr marL="0" indent="0" algn="l">
              <a:lnSpc>
                <a:spcPts val="1223"/>
              </a:lnSpc>
              <a:spcBef>
                <a:spcPts val="0"/>
              </a:spcBef>
              <a:spcAft>
                <a:spcPts val="0"/>
              </a:spcAft>
              <a:buNone/>
            </a:pPr>
            <a:r>
              <a:rPr sz="941" b="0" i="0">
                <a:solidFill>
                  <a:srgbClr val="333639"/>
                </a:solidFill>
                <a:latin typeface="Consolas"/>
              </a:rPr>
              <a:t> </a:t>
            </a:r>
          </a:p>
          <a:p>
            <a:pPr marL="0" indent="0" algn="l">
              <a:lnSpc>
                <a:spcPts val="1223"/>
              </a:lnSpc>
              <a:spcBef>
                <a:spcPts val="0"/>
              </a:spcBef>
              <a:spcAft>
                <a:spcPts val="0"/>
              </a:spcAft>
              <a:buNone/>
            </a:pPr>
            <a:r>
              <a:rPr sz="941" b="0" i="0">
                <a:solidFill>
                  <a:srgbClr val="1F2A37"/>
                </a:solidFill>
                <a:latin typeface="Consolas"/>
              </a:rPr>
              <a:t>def careful_pi(s):</a:t>
            </a:r>
          </a:p>
          <a:p>
            <a:pPr marL="0" indent="0" algn="l">
              <a:lnSpc>
                <a:spcPts val="1223"/>
              </a:lnSpc>
              <a:spcBef>
                <a:spcPts val="0"/>
              </a:spcBef>
              <a:spcAft>
                <a:spcPts val="0"/>
              </a:spcAft>
              <a:buNone/>
            </a:pPr>
            <a:r>
              <a:rPr sz="941" b="0" i="0">
                <a:solidFill>
                  <a:srgbClr val="1F2A37"/>
                </a:solidFill>
                <a:latin typeface="Consolas"/>
              </a:rPr>
              <a:t>    return {0: LEFT, 1: UP, 2: UP, 3: UP,</a:t>
            </a:r>
          </a:p>
          <a:p>
            <a:pPr marL="0" indent="0" algn="l">
              <a:lnSpc>
                <a:spcPts val="1223"/>
              </a:lnSpc>
              <a:spcBef>
                <a:spcPts val="0"/>
              </a:spcBef>
              <a:spcAft>
                <a:spcPts val="0"/>
              </a:spcAft>
              <a:buNone/>
            </a:pPr>
            <a:r>
              <a:rPr sz="941" b="0" i="0">
                <a:solidFill>
                  <a:srgbClr val="1F2A37"/>
                </a:solidFill>
                <a:latin typeface="Consolas"/>
              </a:rPr>
              <a:t>            4: LEFT, 5: LEFT, 6: UP, 7: LEFT,</a:t>
            </a:r>
          </a:p>
          <a:p>
            <a:pPr marL="0" indent="0" algn="l">
              <a:lnSpc>
                <a:spcPts val="1223"/>
              </a:lnSpc>
              <a:spcBef>
                <a:spcPts val="0"/>
              </a:spcBef>
              <a:spcAft>
                <a:spcPts val="0"/>
              </a:spcAft>
              <a:buNone/>
            </a:pPr>
            <a:r>
              <a:rPr sz="941" b="0" i="0">
                <a:solidFill>
                  <a:srgbClr val="1F2A37"/>
                </a:solidFill>
                <a:latin typeface="Consolas"/>
              </a:rPr>
              <a:t>            ... }[s]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6.8  THE RESULT, AND HOW EXPENSIVE IT IS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Ten thousand episodes per policy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75438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With </a:t>
            </a:r>
            <a:r>
              <a:rPr sz="1188" b="0" i="0" dirty="0" err="1">
                <a:solidFill>
                  <a:srgbClr val="333639"/>
                </a:solidFill>
                <a:latin typeface="Fira Sans"/>
              </a:rPr>
              <a:t>γ</a:t>
            </a:r>
            <a:r>
              <a:rPr sz="1188" b="0" i="0" dirty="0">
                <a:solidFill>
                  <a:srgbClr val="333639"/>
                </a:solidFill>
                <a:latin typeface="Fira Sans"/>
              </a:rPr>
              <a:t> = 0.99, the direct route is worth an average discounted return of </a:t>
            </a:r>
            <a:r>
              <a:rPr sz="1188" b="1" i="0" dirty="0">
                <a:solidFill>
                  <a:srgbClr val="C8102E"/>
                </a:solidFill>
                <a:latin typeface="Fira Sans"/>
              </a:rPr>
              <a:t>0.035</a:t>
            </a:r>
            <a:r>
              <a:rPr sz="1188" b="0" i="0" dirty="0">
                <a:solidFill>
                  <a:srgbClr val="333639"/>
                </a:solidFill>
                <a:latin typeface="Fira Sans"/>
              </a:rPr>
              <a:t> and the wall-hugging policy </a:t>
            </a:r>
            <a:r>
              <a:rPr sz="1188" b="1" i="0" dirty="0">
                <a:solidFill>
                  <a:srgbClr val="2B7A3E"/>
                </a:solidFill>
                <a:latin typeface="Fira Sans"/>
              </a:rPr>
              <a:t>0.393</a:t>
            </a:r>
            <a:r>
              <a:rPr lang="it-IT" sz="1188" dirty="0">
                <a:solidFill>
                  <a:srgbClr val="333639"/>
                </a:solidFill>
                <a:latin typeface="Fira Sans"/>
              </a:rPr>
              <a:t>. O</a:t>
            </a:r>
            <a:r>
              <a:rPr sz="1188" b="0" i="0" dirty="0">
                <a:solidFill>
                  <a:srgbClr val="333639"/>
                </a:solidFill>
                <a:latin typeface="Fira Sans"/>
              </a:rPr>
              <a:t>n slippery ice, pressing against the boundary is worth more than ten times as much as heading straight for the goal.</a:t>
            </a:r>
          </a:p>
        </p:txBody>
      </p:sp>
      <p:pic>
        <p:nvPicPr>
          <p:cNvPr id="9" name="Picture 8" descr="eval_convergence.png"/>
          <p:cNvPicPr>
            <a:picLocks noChangeAspect="1"/>
          </p:cNvPicPr>
          <p:nvPr/>
        </p:nvPicPr>
        <p:blipFill>
          <a:blip r:embed="rId2"/>
          <a:stretch>
            <a:fillRect/>
          </a:stretch>
        </p:blipFill>
        <p:spPr>
          <a:xfrm>
            <a:off x="676656" y="1896270"/>
            <a:ext cx="7894276" cy="3793125"/>
          </a:xfrm>
          <a:prstGeom prst="rect">
            <a:avLst/>
          </a:prstGeom>
        </p:spPr>
      </p:pic>
      <p:sp>
        <p:nvSpPr>
          <p:cNvPr id="10" name="TextBox 9"/>
          <p:cNvSpPr txBox="1"/>
          <p:nvPr/>
        </p:nvSpPr>
        <p:spPr>
          <a:xfrm>
            <a:off x="851894" y="5689395"/>
            <a:ext cx="754380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Running estimate of the expected discounted return against episodes simulated, over 20 independent repetitions.</a:t>
            </a:r>
          </a:p>
        </p:txBody>
      </p:sp>
      <p:sp>
        <p:nvSpPr>
          <p:cNvPr id="11" name="TextBox 10"/>
          <p:cNvSpPr txBox="1"/>
          <p:nvPr/>
        </p:nvSpPr>
        <p:spPr>
          <a:xfrm>
            <a:off x="8750808" y="1335024"/>
            <a:ext cx="2599913" cy="1417241"/>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WHAT THE PICTURE SHOWS</a:t>
            </a:r>
          </a:p>
          <a:p>
            <a:pPr marL="0" indent="0" algn="l">
              <a:lnSpc>
                <a:spcPts val="1310"/>
              </a:lnSpc>
              <a:spcBef>
                <a:spcPts val="0"/>
              </a:spcBef>
              <a:spcAft>
                <a:spcPts val="0"/>
              </a:spcAft>
              <a:buNone/>
            </a:pPr>
            <a:r>
              <a:rPr sz="1092" b="0" i="0">
                <a:solidFill>
                  <a:srgbClr val="333639"/>
                </a:solidFill>
                <a:latin typeface="Fira Sans"/>
              </a:rPr>
              <a:t>The two policies become distinguishable after a few dozen episodes, but the estimates keep fluctuating for much longer. After 100 episodes the Careful estimate still lies anywhere between </a:t>
            </a:r>
            <a:r>
              <a:rPr sz="1092" b="1" i="0">
                <a:solidFill>
                  <a:srgbClr val="25282A"/>
                </a:solidFill>
                <a:latin typeface="Fira Sans"/>
              </a:rPr>
              <a:t>0.34 and 0.46</a:t>
            </a:r>
            <a:r>
              <a:rPr sz="1092" b="0" i="0">
                <a:solidFill>
                  <a:srgbClr val="333639"/>
                </a:solidFill>
                <a:latin typeface="Fira Sans"/>
              </a:rPr>
              <a:t> across repetitions; after 1000 it has only narrowed to </a:t>
            </a:r>
            <a:r>
              <a:rPr sz="1092" b="1" i="0">
                <a:solidFill>
                  <a:srgbClr val="25282A"/>
                </a:solidFill>
                <a:latin typeface="Fira Sans"/>
              </a:rPr>
              <a:t>0.37–0.41</a:t>
            </a:r>
            <a:r>
              <a:rPr sz="1092" b="0" i="0">
                <a:solidFill>
                  <a:srgbClr val="333639"/>
                </a:solidFill>
                <a:latin typeface="Fira Sans"/>
              </a:rPr>
              <a:t>.</a:t>
            </a:r>
          </a:p>
        </p:txBody>
      </p:sp>
      <p:sp>
        <p:nvSpPr>
          <p:cNvPr id="12" name="TextBox 11"/>
          <p:cNvSpPr txBox="1"/>
          <p:nvPr/>
        </p:nvSpPr>
        <p:spPr>
          <a:xfrm>
            <a:off x="8750808" y="2953433"/>
            <a:ext cx="25999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COST OF AN EXTRA DIGIT</a:t>
            </a:r>
          </a:p>
        </p:txBody>
      </p:sp>
      <p:pic>
        <p:nvPicPr>
          <p:cNvPr id="13" name="Picture 12" descr="eq_mc_est.png"/>
          <p:cNvPicPr>
            <a:picLocks noChangeAspect="1"/>
          </p:cNvPicPr>
          <p:nvPr/>
        </p:nvPicPr>
        <p:blipFill>
          <a:blip>
            <a:extLst>
              <a:ext uri="{96DAC541-7B7A-43D3-8B79-37D633B846F1}">
                <asvg:svgBlip xmlns:asvg="http://schemas.microsoft.com/office/drawing/2016/SVG/main" r:embed="rId3"/>
              </a:ext>
            </a:extLst>
          </a:blip>
          <a:srcRect r="46784"/>
          <a:stretch>
            <a:fillRect/>
          </a:stretch>
        </p:blipFill>
        <p:spPr>
          <a:xfrm>
            <a:off x="8842249" y="3191177"/>
            <a:ext cx="2219330" cy="646676"/>
          </a:xfrm>
          <a:prstGeom prst="rect">
            <a:avLst/>
          </a:prstGeom>
        </p:spPr>
      </p:pic>
      <p:sp>
        <p:nvSpPr>
          <p:cNvPr id="14" name="Rectangle 13"/>
          <p:cNvSpPr/>
          <p:nvPr/>
        </p:nvSpPr>
        <p:spPr>
          <a:xfrm>
            <a:off x="8746170" y="4467874"/>
            <a:ext cx="2599913" cy="145755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746170" y="4467874"/>
            <a:ext cx="41148" cy="145755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965626" y="4614178"/>
            <a:ext cx="2215865" cy="1164945"/>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estimate is an average of samples, so its standard error falls only as 1/√n: halving the uncertainty costs </a:t>
            </a:r>
            <a:r>
              <a:rPr sz="1092" b="1" i="0">
                <a:solidFill>
                  <a:srgbClr val="333639"/>
                </a:solidFill>
                <a:latin typeface="Fira Sans"/>
              </a:rPr>
              <a:t>four times as many episodes</a:t>
            </a:r>
            <a:r>
              <a:rPr sz="1092" b="0" i="0">
                <a:solidFill>
                  <a:srgbClr val="333639"/>
                </a:solidFill>
                <a:latin typeface="Fira Sans"/>
              </a:rPr>
              <a:t>. Many episodes are needed before the answer is stable.</a:t>
            </a:r>
          </a:p>
        </p:txBody>
      </p:sp>
      <p:pic>
        <p:nvPicPr>
          <p:cNvPr id="18" name="Picture 12" descr="eq_mc_est.png">
            <a:extLst>
              <a:ext uri="{FF2B5EF4-FFF2-40B4-BE49-F238E27FC236}">
                <a16:creationId xmlns:a16="http://schemas.microsoft.com/office/drawing/2014/main" id="{C202DBCE-0192-7C04-AABA-619C1A19F249}"/>
              </a:ext>
            </a:extLst>
          </p:cNvPr>
          <p:cNvPicPr>
            <a:picLocks noChangeAspect="1"/>
          </p:cNvPicPr>
          <p:nvPr/>
        </p:nvPicPr>
        <p:blipFill>
          <a:blip>
            <a:extLst>
              <a:ext uri="{96DAC541-7B7A-43D3-8B79-37D633B846F1}">
                <asvg:svgBlip xmlns:asvg="http://schemas.microsoft.com/office/drawing/2016/SVG/main" r:embed="rId3"/>
              </a:ext>
            </a:extLst>
          </a:blip>
          <a:srcRect l="53216"/>
          <a:stretch>
            <a:fillRect/>
          </a:stretch>
        </p:blipFill>
        <p:spPr>
          <a:xfrm>
            <a:off x="8842249" y="3878198"/>
            <a:ext cx="1779135" cy="58967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6.9  THE DISCOUNT FACTOR CHANGES WHAT “GOOD” MEANS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Sweep </a:t>
            </a:r>
            <a:r>
              <a:rPr sz="2162" b="1" i="0" dirty="0" err="1">
                <a:solidFill>
                  <a:srgbClr val="25282A"/>
                </a:solidFill>
                <a:latin typeface="Roboto Slab"/>
              </a:rPr>
              <a:t>γ</a:t>
            </a:r>
            <a:r>
              <a:rPr sz="2162" b="1" i="0" dirty="0">
                <a:solidFill>
                  <a:srgbClr val="25282A"/>
                </a:solidFill>
                <a:latin typeface="Roboto Slab"/>
              </a:rPr>
              <a:t> and the ranking of the two policies sharpens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75438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dirty="0">
                <a:solidFill>
                  <a:srgbClr val="333639"/>
                </a:solidFill>
                <a:latin typeface="Fira Sans"/>
              </a:rPr>
              <a:t>Evaluate both policies again for </a:t>
            </a:r>
            <a:r>
              <a:rPr sz="1188" b="0" i="0" dirty="0" err="1">
                <a:solidFill>
                  <a:srgbClr val="333639"/>
                </a:solidFill>
                <a:latin typeface="Fira Sans"/>
              </a:rPr>
              <a:t>γ</a:t>
            </a:r>
            <a:r>
              <a:rPr sz="1188" b="0" i="0" dirty="0">
                <a:solidFill>
                  <a:srgbClr val="333639"/>
                </a:solidFill>
                <a:latin typeface="Fira Sans"/>
              </a:rPr>
              <a:t> from 0.3 to 0.9, 5000 episodes each. Frozen Lake pays +1 only on reaching the goal, so a successful episode contributes only the discount factor raised to the number of steps it took</a:t>
            </a:r>
            <a:r>
              <a:rPr lang="it-IT" sz="1188" b="0" i="0" dirty="0">
                <a:solidFill>
                  <a:srgbClr val="333639"/>
                </a:solidFill>
                <a:latin typeface="Fira Sans"/>
              </a:rPr>
              <a:t>,</a:t>
            </a:r>
            <a:r>
              <a:rPr sz="1188" b="0" i="0" dirty="0">
                <a:solidFill>
                  <a:srgbClr val="333639"/>
                </a:solidFill>
                <a:latin typeface="Fira Sans"/>
              </a:rPr>
              <a:t> and that one fact explains the whole picture.</a:t>
            </a:r>
          </a:p>
        </p:txBody>
      </p:sp>
      <p:pic>
        <p:nvPicPr>
          <p:cNvPr id="9" name="Picture 8" descr="gamma_sweep.png"/>
          <p:cNvPicPr>
            <a:picLocks noChangeAspect="1"/>
          </p:cNvPicPr>
          <p:nvPr/>
        </p:nvPicPr>
        <p:blipFill>
          <a:blip r:embed="rId2"/>
          <a:stretch>
            <a:fillRect/>
          </a:stretch>
        </p:blipFill>
        <p:spPr>
          <a:xfrm>
            <a:off x="768096" y="1834718"/>
            <a:ext cx="7477287" cy="3592766"/>
          </a:xfrm>
          <a:prstGeom prst="rect">
            <a:avLst/>
          </a:prstGeom>
        </p:spPr>
      </p:pic>
      <p:pic>
        <p:nvPicPr>
          <p:cNvPr id="11" name="Picture 10" descr="eq_g_goal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0624" y="5618633"/>
            <a:ext cx="4944110" cy="600202"/>
          </a:xfrm>
          <a:prstGeom prst="rect">
            <a:avLst/>
          </a:prstGeom>
        </p:spPr>
      </p:pic>
      <p:sp>
        <p:nvSpPr>
          <p:cNvPr id="12" name="TextBox 11"/>
          <p:cNvSpPr txBox="1"/>
          <p:nvPr/>
        </p:nvSpPr>
        <p:spPr>
          <a:xfrm>
            <a:off x="8750808" y="1335024"/>
            <a:ext cx="25999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READING THE TWO CURVES</a:t>
            </a:r>
          </a:p>
        </p:txBody>
      </p:sp>
      <p:sp>
        <p:nvSpPr>
          <p:cNvPr id="13" name="TextBox 12"/>
          <p:cNvSpPr txBox="1"/>
          <p:nvPr/>
        </p:nvSpPr>
        <p:spPr>
          <a:xfrm>
            <a:off x="8750808" y="1572768"/>
            <a:ext cx="2599913" cy="1911616"/>
          </a:xfrm>
          <a:prstGeom prst="rect">
            <a:avLst/>
          </a:prstGeom>
          <a:noFill/>
        </p:spPr>
        <p:txBody>
          <a:bodyPr wrap="square" lIns="0" tIns="0" rIns="0" bIns="0" anchor="t">
            <a:noAutofit/>
          </a:bodyPr>
          <a:lstStyle/>
          <a:p>
            <a:pPr marL="173736" indent="-173736" algn="l">
              <a:lnSpc>
                <a:spcPts val="1233"/>
              </a:lnSpc>
              <a:spcBef>
                <a:spcPts val="0"/>
              </a:spcBef>
              <a:spcAft>
                <a:spcPts val="0"/>
              </a:spcAft>
              <a:buClr>
                <a:srgbClr val="1971C2"/>
              </a:buClr>
              <a:buFont typeface="Fira Sans"/>
              <a:buChar char="–"/>
            </a:pPr>
            <a:r>
              <a:rPr sz="1045" b="1" i="0">
                <a:solidFill>
                  <a:srgbClr val="25282A"/>
                </a:solidFill>
                <a:latin typeface="Fira Sans"/>
              </a:rPr>
              <a:t>Small γ: both near zero.</a:t>
            </a:r>
            <a:r>
              <a:rPr sz="1045" b="0" i="0">
                <a:solidFill>
                  <a:srgbClr val="333639"/>
                </a:solidFill>
                <a:latin typeface="Fira Sans"/>
              </a:rPr>
              <a:t> Not because the policies never reach the goal, but because a success that takes several steps is worth almost nothing once it is discounted.</a:t>
            </a:r>
          </a:p>
          <a:p>
            <a:pPr marL="173736" indent="-173736" algn="l">
              <a:lnSpc>
                <a:spcPts val="1233"/>
              </a:lnSpc>
              <a:spcBef>
                <a:spcPts val="600"/>
              </a:spcBef>
              <a:spcAft>
                <a:spcPts val="0"/>
              </a:spcAft>
              <a:buClr>
                <a:srgbClr val="1971C2"/>
              </a:buClr>
              <a:buFont typeface="Fira Sans"/>
              <a:buChar char="–"/>
            </a:pPr>
            <a:r>
              <a:rPr sz="1045" b="1" i="0">
                <a:solidFill>
                  <a:srgbClr val="25282A"/>
                </a:solidFill>
                <a:latin typeface="Fira Sans"/>
              </a:rPr>
              <a:t>Large γ: both grow rapidly.</a:t>
            </a:r>
            <a:r>
              <a:rPr sz="1045" b="0" i="0">
                <a:solidFill>
                  <a:srgbClr val="333639"/>
                </a:solidFill>
                <a:latin typeface="Fira Sans"/>
              </a:rPr>
              <a:t> Delayed success is penalised less severely, so the returns rise steeply.</a:t>
            </a:r>
          </a:p>
          <a:p>
            <a:pPr marL="173736" indent="-173736" algn="l">
              <a:lnSpc>
                <a:spcPts val="1233"/>
              </a:lnSpc>
              <a:spcBef>
                <a:spcPts val="600"/>
              </a:spcBef>
              <a:spcAft>
                <a:spcPts val="0"/>
              </a:spcAft>
              <a:buClr>
                <a:srgbClr val="1971C2"/>
              </a:buClr>
              <a:buFont typeface="Fira Sans"/>
              <a:buChar char="–"/>
            </a:pPr>
            <a:r>
              <a:rPr sz="1045" b="1" i="0">
                <a:solidFill>
                  <a:srgbClr val="2B7A3E"/>
                </a:solidFill>
                <a:latin typeface="Fira Sans"/>
              </a:rPr>
              <a:t>Careful grows faster.</a:t>
            </a:r>
            <a:r>
              <a:rPr sz="1045" b="0" i="0">
                <a:solidFill>
                  <a:srgbClr val="333639"/>
                </a:solidFill>
                <a:latin typeface="Fira Sans"/>
              </a:rPr>
              <a:t> At γ = 0.9 its estimate is about 4 times that of Go-get-it.</a:t>
            </a:r>
          </a:p>
        </p:txBody>
      </p:sp>
      <p:sp>
        <p:nvSpPr>
          <p:cNvPr id="14" name="Rectangle 13"/>
          <p:cNvSpPr/>
          <p:nvPr/>
        </p:nvSpPr>
        <p:spPr>
          <a:xfrm>
            <a:off x="8750808" y="3667264"/>
            <a:ext cx="2599913" cy="12481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750808" y="3667264"/>
            <a:ext cx="41148" cy="12481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970264" y="3813568"/>
            <a:ext cx="2215865" cy="955547"/>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Careful’s advantage is that it </a:t>
            </a:r>
            <a:r>
              <a:rPr sz="1045" b="1" i="0">
                <a:solidFill>
                  <a:srgbClr val="333639"/>
                </a:solidFill>
                <a:latin typeface="Fira Sans"/>
              </a:rPr>
              <a:t>eventually reaches the goal more often</a:t>
            </a:r>
            <a:r>
              <a:rPr sz="1045" b="0" i="0">
                <a:solidFill>
                  <a:srgbClr val="333639"/>
                </a:solidFill>
                <a:latin typeface="Fira Sans"/>
              </a:rPr>
              <a:t>; its successful trajectories are long enough that a small γ suppresses that advantage almost entirely.</a:t>
            </a:r>
          </a:p>
        </p:txBody>
      </p:sp>
      <p:sp>
        <p:nvSpPr>
          <p:cNvPr id="17" name="Rectangle 16"/>
          <p:cNvSpPr/>
          <p:nvPr/>
        </p:nvSpPr>
        <p:spPr>
          <a:xfrm>
            <a:off x="8750808" y="5098300"/>
            <a:ext cx="2599913"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750808" y="5098300"/>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970264" y="5244604"/>
            <a:ext cx="2307305"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POINT</a:t>
            </a:r>
          </a:p>
        </p:txBody>
      </p:sp>
      <p:sp>
        <p:nvSpPr>
          <p:cNvPr id="20" name="TextBox 19"/>
          <p:cNvSpPr txBox="1"/>
          <p:nvPr/>
        </p:nvSpPr>
        <p:spPr>
          <a:xfrm>
            <a:off x="8970264" y="5482348"/>
            <a:ext cx="2215865"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So γ is not a technicality for making sums converge. A small γ rewards getting there </a:t>
            </a:r>
            <a:r>
              <a:rPr sz="1045" b="1" i="0">
                <a:solidFill>
                  <a:srgbClr val="333639"/>
                </a:solidFill>
                <a:latin typeface="Fira Sans"/>
              </a:rPr>
              <a:t>fast</a:t>
            </a:r>
            <a:r>
              <a:rPr sz="1045" b="0" i="0">
                <a:solidFill>
                  <a:srgbClr val="333639"/>
                </a:solidFill>
                <a:latin typeface="Fira Sans"/>
              </a:rPr>
              <a:t>; a γ near 1 rewards getting there </a:t>
            </a:r>
            <a:r>
              <a:rPr sz="1045" b="1" i="0">
                <a:solidFill>
                  <a:srgbClr val="333639"/>
                </a:solidFill>
                <a:latin typeface="Fira Sans"/>
              </a:rPr>
              <a:t>at all</a:t>
            </a:r>
            <a:r>
              <a:rPr sz="1045" b="0" i="0">
                <a:solidFill>
                  <a:srgbClr val="333639"/>
                </a:solidFill>
                <a:latin typeface="Fira Sans"/>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574676"/>
                </a:solidFill>
                <a:latin typeface="Fira Sans Medium"/>
              </a:rPr>
              <a:t>6.10  WHY BRUTE FORCE IS NOT ENOUGH</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It answers the question we asked, but not the question we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We now know that Careful is better than Go-get-it, and by how much, and how that judgement depends on </a:t>
            </a:r>
            <a:r>
              <a:rPr sz="1282" b="0" i="0" dirty="0" err="1">
                <a:solidFill>
                  <a:srgbClr val="333639"/>
                </a:solidFill>
                <a:latin typeface="Fira Sans"/>
              </a:rPr>
              <a:t>γ</a:t>
            </a:r>
            <a:r>
              <a:rPr sz="1282" b="0" i="0" dirty="0">
                <a:solidFill>
                  <a:srgbClr val="333639"/>
                </a:solidFill>
                <a:latin typeface="Fira Sans"/>
              </a:rPr>
              <a:t>. But the method that told us so has three separate problems</a:t>
            </a:r>
            <a:r>
              <a:rPr lang="it-IT" sz="1282" b="0" i="0" dirty="0">
                <a:solidFill>
                  <a:srgbClr val="333639"/>
                </a:solidFill>
                <a:latin typeface="Fira Sans"/>
              </a:rPr>
              <a:t>, </a:t>
            </a:r>
            <a:r>
              <a:rPr sz="1282" b="0" i="0" dirty="0">
                <a:solidFill>
                  <a:srgbClr val="333639"/>
                </a:solidFill>
                <a:latin typeface="Fira Sans"/>
              </a:rPr>
              <a:t>and the third is the one that shapes the rest of the course.</a:t>
            </a:r>
          </a:p>
        </p:txBody>
      </p:sp>
      <p:sp>
        <p:nvSpPr>
          <p:cNvPr id="9" name="Rectangle 8"/>
          <p:cNvSpPr/>
          <p:nvPr/>
        </p:nvSpPr>
        <p:spPr>
          <a:xfrm>
            <a:off x="841248"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24898"/>
            <a:ext cx="3346704"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C8102E"/>
                </a:solidFill>
                <a:latin typeface="Roboto Slab"/>
              </a:rPr>
              <a:t>01</a:t>
            </a:r>
          </a:p>
        </p:txBody>
      </p:sp>
      <p:sp>
        <p:nvSpPr>
          <p:cNvPr id="12" name="TextBox 11"/>
          <p:cNvSpPr txBox="1"/>
          <p:nvPr/>
        </p:nvSpPr>
        <p:spPr>
          <a:xfrm>
            <a:off x="1024128"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is inefficient</a:t>
            </a:r>
          </a:p>
        </p:txBody>
      </p:sp>
      <p:sp>
        <p:nvSpPr>
          <p:cNvPr id="13" name="TextBox 12"/>
          <p:cNvSpPr txBox="1"/>
          <p:nvPr/>
        </p:nvSpPr>
        <p:spPr>
          <a:xfrm>
            <a:off x="1024128" y="3323346"/>
            <a:ext cx="2980944" cy="882548"/>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dirty="0">
                <a:solidFill>
                  <a:srgbClr val="626669"/>
                </a:solidFill>
                <a:latin typeface="Fira Sans"/>
              </a:rPr>
              <a:t>The standard error of a sample mean falls only as 1/√n, so every extra digit of precision costs a hundredfold increase in episodes. Estimating one number for one policy took ten thousand simulated episodes.</a:t>
            </a:r>
          </a:p>
        </p:txBody>
      </p:sp>
      <p:sp>
        <p:nvSpPr>
          <p:cNvPr id="14" name="Rectangle 13"/>
          <p:cNvSpPr/>
          <p:nvPr/>
        </p:nvSpPr>
        <p:spPr>
          <a:xfrm>
            <a:off x="4425696"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25696" y="2024898"/>
            <a:ext cx="3346704"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08576"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8A5100"/>
                </a:solidFill>
                <a:latin typeface="Roboto Slab"/>
              </a:rPr>
              <a:t>02</a:t>
            </a:r>
          </a:p>
        </p:txBody>
      </p:sp>
      <p:sp>
        <p:nvSpPr>
          <p:cNvPr id="17" name="TextBox 16"/>
          <p:cNvSpPr txBox="1"/>
          <p:nvPr/>
        </p:nvSpPr>
        <p:spPr>
          <a:xfrm>
            <a:off x="4608576"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ignores the structure of the MDP</a:t>
            </a:r>
          </a:p>
        </p:txBody>
      </p:sp>
      <p:sp>
        <p:nvSpPr>
          <p:cNvPr id="18" name="TextBox 17"/>
          <p:cNvSpPr txBox="1"/>
          <p:nvPr/>
        </p:nvSpPr>
        <p:spPr>
          <a:xfrm>
            <a:off x="4608576" y="3323346"/>
            <a:ext cx="2980944" cy="713353"/>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dirty="0">
                <a:solidFill>
                  <a:srgbClr val="626669"/>
                </a:solidFill>
                <a:latin typeface="Fira Sans"/>
              </a:rPr>
              <a:t>We know p(s′, r | s, a) exactly</a:t>
            </a:r>
            <a:r>
              <a:rPr lang="it-IT" sz="1092" b="0" i="0" dirty="0">
                <a:solidFill>
                  <a:srgbClr val="626669"/>
                </a:solidFill>
                <a:latin typeface="Fira Sans"/>
              </a:rPr>
              <a:t> </a:t>
            </a:r>
            <a:r>
              <a:rPr sz="1092" b="0" i="0" dirty="0">
                <a:solidFill>
                  <a:srgbClr val="626669"/>
                </a:solidFill>
                <a:latin typeface="Fira Sans"/>
              </a:rPr>
              <a:t>and the evaluation never once looks at it. It learns by sampling what it could have computed.</a:t>
            </a:r>
          </a:p>
        </p:txBody>
      </p:sp>
      <p:sp>
        <p:nvSpPr>
          <p:cNvPr id="19" name="Rectangle 18"/>
          <p:cNvSpPr/>
          <p:nvPr/>
        </p:nvSpPr>
        <p:spPr>
          <a:xfrm>
            <a:off x="8010144"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10144" y="2024898"/>
            <a:ext cx="3346704"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93023"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574676"/>
                </a:solidFill>
                <a:latin typeface="Roboto Slab"/>
              </a:rPr>
              <a:t>03</a:t>
            </a:r>
          </a:p>
        </p:txBody>
      </p:sp>
      <p:sp>
        <p:nvSpPr>
          <p:cNvPr id="22" name="TextBox 21"/>
          <p:cNvSpPr txBox="1"/>
          <p:nvPr/>
        </p:nvSpPr>
        <p:spPr>
          <a:xfrm>
            <a:off x="8193023"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answers the wrong question</a:t>
            </a:r>
          </a:p>
        </p:txBody>
      </p:sp>
      <p:sp>
        <p:nvSpPr>
          <p:cNvPr id="23" name="TextBox 22"/>
          <p:cNvSpPr txBox="1"/>
          <p:nvPr/>
        </p:nvSpPr>
        <p:spPr>
          <a:xfrm>
            <a:off x="8193023" y="3323346"/>
            <a:ext cx="2980944" cy="882548"/>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dirty="0">
                <a:solidFill>
                  <a:srgbClr val="626669"/>
                </a:solidFill>
                <a:latin typeface="Fira Sans"/>
              </a:rPr>
              <a:t>It reports how good the policy is overall. It says nothing about how valuable it is to be in a particular state, or to take a particular action there</a:t>
            </a:r>
            <a:r>
              <a:rPr lang="it-IT" sz="1092" b="0" i="0" dirty="0">
                <a:solidFill>
                  <a:srgbClr val="626669"/>
                </a:solidFill>
                <a:latin typeface="Fira Sans"/>
              </a:rPr>
              <a:t>, </a:t>
            </a:r>
            <a:r>
              <a:rPr sz="1092" b="0" i="0" dirty="0">
                <a:solidFill>
                  <a:srgbClr val="626669"/>
                </a:solidFill>
                <a:latin typeface="Fira Sans"/>
              </a:rPr>
              <a:t>and that is exactly what is needed to make the policy better.</a:t>
            </a:r>
          </a:p>
        </p:txBody>
      </p:sp>
      <p:sp>
        <p:nvSpPr>
          <p:cNvPr id="24" name="Rectangle 23"/>
          <p:cNvSpPr/>
          <p:nvPr/>
        </p:nvSpPr>
        <p:spPr>
          <a:xfrm>
            <a:off x="841248" y="5078994"/>
            <a:ext cx="10515600" cy="105156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5078994"/>
            <a:ext cx="41148" cy="10515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5225298"/>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WHERE THIS LEADS</a:t>
            </a:r>
          </a:p>
        </p:txBody>
      </p:sp>
      <p:sp>
        <p:nvSpPr>
          <p:cNvPr id="27" name="TextBox 26"/>
          <p:cNvSpPr txBox="1"/>
          <p:nvPr/>
        </p:nvSpPr>
        <p:spPr>
          <a:xfrm>
            <a:off x="1060704" y="5463042"/>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dirty="0">
                <a:solidFill>
                  <a:srgbClr val="333639"/>
                </a:solidFill>
                <a:latin typeface="Fira Sans"/>
              </a:rPr>
              <a:t>The third objection is decisive. To improve a policy we need more than a single measure of its overall performance: we need to know which states and which actions lead to higher future return. </a:t>
            </a:r>
            <a:r>
              <a:rPr sz="1140" b="1" i="0" dirty="0">
                <a:solidFill>
                  <a:srgbClr val="333639"/>
                </a:solidFill>
                <a:latin typeface="Fira Sans"/>
              </a:rPr>
              <a:t>That is precisely what a value function is</a:t>
            </a:r>
            <a:r>
              <a:rPr sz="1140" b="0" i="0" dirty="0">
                <a:solidFill>
                  <a:srgbClr val="333639"/>
                </a:solidFill>
                <a:latin typeface="Fira Sans"/>
              </a:rPr>
              <a:t> and computing one from the model we already have is the whole of Chapter 03.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it-IT" sz="2632" b="1" i="0" dirty="0">
                <a:solidFill>
                  <a:srgbClr val="FFFFFF"/>
                </a:solidFill>
                <a:latin typeface="Roboto Slab"/>
              </a:rPr>
              <a:t>Key Takeaways</a:t>
            </a:r>
            <a:endParaRPr sz="2632" b="1" i="0" dirty="0">
              <a:solidFill>
                <a:srgbClr val="FFFFFF"/>
              </a:solidFill>
              <a:latin typeface="Roboto Slab"/>
            </a:endParaRPr>
          </a:p>
        </p:txBody>
      </p:sp>
      <p:sp>
        <p:nvSpPr>
          <p:cNvPr id="5" name="TextBox 4"/>
          <p:cNvSpPr txBox="1"/>
          <p:nvPr/>
        </p:nvSpPr>
        <p:spPr>
          <a:xfrm>
            <a:off x="859536" y="2212848"/>
            <a:ext cx="6400800" cy="365760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B2A7C4"/>
                </a:solidFill>
                <a:latin typeface="Fira Sans"/>
              </a:rPr>
              <a:t>01   </a:t>
            </a:r>
            <a:r>
              <a:rPr sz="1188" b="1" i="0" dirty="0">
                <a:solidFill>
                  <a:srgbClr val="FFFFFF"/>
                </a:solidFill>
                <a:latin typeface="Fira Sans"/>
              </a:rPr>
              <a:t>The agent is defined by a boundary, not by hardware.</a:t>
            </a:r>
          </a:p>
          <a:p>
            <a:pPr marL="384048" indent="0" algn="l">
              <a:lnSpc>
                <a:spcPts val="1233"/>
              </a:lnSpc>
              <a:spcBef>
                <a:spcPts val="300"/>
              </a:spcBef>
              <a:spcAft>
                <a:spcPts val="0"/>
              </a:spcAft>
              <a:buNone/>
            </a:pPr>
            <a:r>
              <a:rPr sz="1045" b="0" i="0" dirty="0">
                <a:solidFill>
                  <a:srgbClr val="D6D0E0"/>
                </a:solidFill>
                <a:latin typeface="Fira Sans"/>
              </a:rPr>
              <a:t>Everything that determines the consequence of an action belongs to the environment</a:t>
            </a:r>
            <a:r>
              <a:rPr lang="it-IT" sz="1045" b="0" i="0" dirty="0">
                <a:solidFill>
                  <a:srgbClr val="D6D0E0"/>
                </a:solidFill>
                <a:latin typeface="Fira Sans"/>
              </a:rPr>
              <a:t>, </a:t>
            </a:r>
            <a:r>
              <a:rPr sz="1045" b="0" i="0" dirty="0">
                <a:solidFill>
                  <a:srgbClr val="D6D0E0"/>
                </a:solidFill>
                <a:latin typeface="Fira Sans"/>
              </a:rPr>
              <a:t>including the robot arm. The agent ends where the decision ends.</a:t>
            </a:r>
          </a:p>
          <a:p>
            <a:pPr marL="0" indent="0" algn="l">
              <a:lnSpc>
                <a:spcPts val="1331"/>
              </a:lnSpc>
              <a:spcBef>
                <a:spcPts val="1400"/>
              </a:spcBef>
              <a:spcAft>
                <a:spcPts val="0"/>
              </a:spcAft>
              <a:buNone/>
            </a:pPr>
            <a:r>
              <a:rPr sz="1188" b="1" i="0" dirty="0">
                <a:solidFill>
                  <a:srgbClr val="B2A7C4"/>
                </a:solidFill>
                <a:latin typeface="Fira Sans"/>
              </a:rPr>
              <a:t>02   </a:t>
            </a:r>
            <a:r>
              <a:rPr sz="1188" b="1" i="0" dirty="0">
                <a:solidFill>
                  <a:srgbClr val="FFFFFF"/>
                </a:solidFill>
                <a:latin typeface="Fira Sans"/>
              </a:rPr>
              <a:t>One function specifies the environment.</a:t>
            </a:r>
          </a:p>
          <a:p>
            <a:pPr marL="384048" indent="0" algn="l">
              <a:lnSpc>
                <a:spcPts val="1233"/>
              </a:lnSpc>
              <a:spcBef>
                <a:spcPts val="300"/>
              </a:spcBef>
              <a:spcAft>
                <a:spcPts val="0"/>
              </a:spcAft>
              <a:buNone/>
            </a:pPr>
            <a:r>
              <a:rPr sz="1045" b="0" i="0" dirty="0">
                <a:solidFill>
                  <a:srgbClr val="D6D0E0"/>
                </a:solidFill>
                <a:latin typeface="Fira Sans"/>
              </a:rPr>
              <a:t>p(s′, r | s, a) is the whole model. The transition function, the reward distribution and every expected reward are marginals or conditionals of it.</a:t>
            </a:r>
          </a:p>
          <a:p>
            <a:pPr marL="0" indent="0" algn="l">
              <a:lnSpc>
                <a:spcPts val="1331"/>
              </a:lnSpc>
              <a:spcBef>
                <a:spcPts val="1400"/>
              </a:spcBef>
              <a:spcAft>
                <a:spcPts val="0"/>
              </a:spcAft>
              <a:buNone/>
            </a:pPr>
            <a:r>
              <a:rPr sz="1188" b="1" i="0" dirty="0">
                <a:solidFill>
                  <a:srgbClr val="B2A7C4"/>
                </a:solidFill>
                <a:latin typeface="Fira Sans"/>
              </a:rPr>
              <a:t>03   </a:t>
            </a:r>
            <a:r>
              <a:rPr sz="1188" b="1" i="0" dirty="0">
                <a:solidFill>
                  <a:srgbClr val="FFFFFF"/>
                </a:solidFill>
                <a:latin typeface="Fira Sans"/>
              </a:rPr>
              <a:t>Two assumptions make it tractable.</a:t>
            </a:r>
          </a:p>
          <a:p>
            <a:pPr marL="384048" indent="0" algn="l">
              <a:lnSpc>
                <a:spcPts val="1233"/>
              </a:lnSpc>
              <a:spcBef>
                <a:spcPts val="300"/>
              </a:spcBef>
              <a:spcAft>
                <a:spcPts val="0"/>
              </a:spcAft>
              <a:buNone/>
            </a:pPr>
            <a:r>
              <a:rPr sz="1045" b="0" i="0" dirty="0">
                <a:solidFill>
                  <a:srgbClr val="D6D0E0"/>
                </a:solidFill>
                <a:latin typeface="Fira Sans"/>
              </a:rPr>
              <a:t>The Markov property lets the state replace the history; stationarity lets the time index be dropped. Both are modelling choices, and both can fail.</a:t>
            </a:r>
          </a:p>
          <a:p>
            <a:pPr marL="0" indent="0" algn="l">
              <a:lnSpc>
                <a:spcPts val="1331"/>
              </a:lnSpc>
              <a:spcBef>
                <a:spcPts val="1400"/>
              </a:spcBef>
              <a:spcAft>
                <a:spcPts val="0"/>
              </a:spcAft>
              <a:buNone/>
            </a:pPr>
            <a:r>
              <a:rPr sz="1188" b="1" i="0" dirty="0">
                <a:solidFill>
                  <a:srgbClr val="B2A7C4"/>
                </a:solidFill>
                <a:latin typeface="Fira Sans"/>
              </a:rPr>
              <a:t>04   </a:t>
            </a:r>
            <a:r>
              <a:rPr sz="1188" b="1" i="0" dirty="0">
                <a:solidFill>
                  <a:srgbClr val="FFFFFF"/>
                </a:solidFill>
                <a:latin typeface="Fira Sans"/>
              </a:rPr>
              <a:t>The goal is a number: the expected discounted return.</a:t>
            </a:r>
          </a:p>
          <a:p>
            <a:pPr marL="384048" indent="0" algn="l">
              <a:lnSpc>
                <a:spcPts val="1233"/>
              </a:lnSpc>
              <a:spcBef>
                <a:spcPts val="300"/>
              </a:spcBef>
              <a:spcAft>
                <a:spcPts val="0"/>
              </a:spcAft>
              <a:buNone/>
            </a:pPr>
            <a:r>
              <a:rPr sz="1045" b="0" i="0" dirty="0" err="1">
                <a:solidFill>
                  <a:srgbClr val="D6D0E0"/>
                </a:solidFill>
                <a:latin typeface="Fira Sans"/>
              </a:rPr>
              <a:t>γ</a:t>
            </a:r>
            <a:r>
              <a:rPr sz="1045" b="0" i="0" dirty="0">
                <a:solidFill>
                  <a:srgbClr val="D6D0E0"/>
                </a:solidFill>
                <a:latin typeface="Fira Sans"/>
              </a:rPr>
              <a:t> makes the sum finite for continuing tasks and sets how far ahead the agent looks. The reward hypothesis is the claim that this is enough.</a:t>
            </a:r>
          </a:p>
          <a:p>
            <a:pPr marL="0" indent="0" algn="l">
              <a:lnSpc>
                <a:spcPts val="1331"/>
              </a:lnSpc>
              <a:spcBef>
                <a:spcPts val="1400"/>
              </a:spcBef>
              <a:spcAft>
                <a:spcPts val="0"/>
              </a:spcAft>
              <a:buNone/>
            </a:pPr>
            <a:r>
              <a:rPr sz="1188" b="1" i="0" dirty="0">
                <a:solidFill>
                  <a:srgbClr val="B2A7C4"/>
                </a:solidFill>
                <a:latin typeface="Fira Sans"/>
              </a:rPr>
              <a:t>05   </a:t>
            </a:r>
            <a:r>
              <a:rPr sz="1188" b="1" i="0" dirty="0">
                <a:solidFill>
                  <a:srgbClr val="FFFFFF"/>
                </a:solidFill>
                <a:latin typeface="Fira Sans"/>
              </a:rPr>
              <a:t>The solution is a policy, not a plan.</a:t>
            </a:r>
          </a:p>
          <a:p>
            <a:pPr marL="384048" indent="0" algn="l">
              <a:lnSpc>
                <a:spcPts val="1233"/>
              </a:lnSpc>
              <a:spcBef>
                <a:spcPts val="300"/>
              </a:spcBef>
              <a:spcAft>
                <a:spcPts val="0"/>
              </a:spcAft>
              <a:buNone/>
            </a:pPr>
            <a:r>
              <a:rPr sz="1045" b="0" i="0" dirty="0">
                <a:solidFill>
                  <a:srgbClr val="D6D0E0"/>
                </a:solidFill>
                <a:latin typeface="Fira Sans"/>
              </a:rPr>
              <a:t>Under stochastic dynamics a fixed sequence of actions stops applying the moment the world deviates. A policy answers for every state the agent can reach.</a:t>
            </a:r>
          </a:p>
          <a:p>
            <a:pPr marL="0" indent="0" algn="l">
              <a:lnSpc>
                <a:spcPts val="1331"/>
              </a:lnSpc>
              <a:spcBef>
                <a:spcPts val="1400"/>
              </a:spcBef>
              <a:spcAft>
                <a:spcPts val="0"/>
              </a:spcAft>
              <a:buNone/>
            </a:pPr>
            <a:r>
              <a:rPr sz="1188" b="1" i="0" dirty="0">
                <a:solidFill>
                  <a:srgbClr val="B2A7C4"/>
                </a:solidFill>
                <a:latin typeface="Fira Sans"/>
              </a:rPr>
              <a:t>06   </a:t>
            </a:r>
            <a:r>
              <a:rPr sz="1188" b="1" i="0" dirty="0">
                <a:solidFill>
                  <a:srgbClr val="FFFFFF"/>
                </a:solidFill>
                <a:latin typeface="Fira Sans"/>
              </a:rPr>
              <a:t>Chapter 03 replaces brute force.</a:t>
            </a:r>
          </a:p>
          <a:p>
            <a:pPr marL="384048" indent="0" algn="l">
              <a:lnSpc>
                <a:spcPts val="1233"/>
              </a:lnSpc>
              <a:spcBef>
                <a:spcPts val="300"/>
              </a:spcBef>
              <a:spcAft>
                <a:spcPts val="0"/>
              </a:spcAft>
              <a:buNone/>
            </a:pPr>
            <a:r>
              <a:rPr sz="1045" b="0" i="0" dirty="0">
                <a:solidFill>
                  <a:srgbClr val="D6D0E0"/>
                </a:solidFill>
                <a:latin typeface="Fira Sans"/>
              </a:rPr>
              <a:t>Estimating a policy by simulating ten thousand episodes is wasteful and tells us nothing about individual states. Value functions and the Bellman equations do both properly.</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4023360"/>
          </a:xfrm>
          <a:prstGeom prst="rect">
            <a:avLst/>
          </a:prstGeom>
          <a:noFill/>
        </p:spPr>
        <p:txBody>
          <a:bodyPr wrap="square" lIns="0" tIns="0" rIns="0" bIns="0" anchor="t">
            <a:noAutofit/>
          </a:bodyPr>
          <a:lstStyle/>
          <a:p>
            <a:pPr marL="0" indent="0" algn="l">
              <a:lnSpc>
                <a:spcPts val="1129"/>
              </a:lnSpc>
              <a:spcBef>
                <a:spcPts val="0"/>
              </a:spcBef>
              <a:spcAft>
                <a:spcPts val="0"/>
              </a:spcAft>
              <a:buNone/>
            </a:pPr>
            <a:r>
              <a:rPr sz="1045" b="1" i="0">
                <a:solidFill>
                  <a:srgbClr val="FFFFFF"/>
                </a:solidFill>
                <a:latin typeface="Fira Sans"/>
              </a:rPr>
              <a:t>Bellman (1957)</a:t>
            </a:r>
          </a:p>
          <a:p>
            <a:pPr marL="0" indent="0" algn="l">
              <a:lnSpc>
                <a:spcPts val="1083"/>
              </a:lnSpc>
              <a:spcBef>
                <a:spcPts val="100"/>
              </a:spcBef>
              <a:spcAft>
                <a:spcPts val="0"/>
              </a:spcAft>
              <a:buNone/>
            </a:pPr>
            <a:r>
              <a:rPr sz="950" b="0" i="1">
                <a:solidFill>
                  <a:srgbClr val="B2A7C4"/>
                </a:solidFill>
                <a:latin typeface="Fira Sans"/>
              </a:rPr>
              <a:t>A Markovian Decision Process</a:t>
            </a:r>
          </a:p>
          <a:p>
            <a:pPr marL="0" indent="0" algn="l">
              <a:lnSpc>
                <a:spcPts val="1129"/>
              </a:lnSpc>
              <a:spcBef>
                <a:spcPts val="1200"/>
              </a:spcBef>
              <a:spcAft>
                <a:spcPts val="0"/>
              </a:spcAft>
              <a:buNone/>
            </a:pPr>
            <a:r>
              <a:rPr sz="1045" b="1" i="0">
                <a:solidFill>
                  <a:srgbClr val="FFFFFF"/>
                </a:solidFill>
                <a:latin typeface="Fira Sans"/>
              </a:rPr>
              <a:t>Minsky (1961)</a:t>
            </a:r>
          </a:p>
          <a:p>
            <a:pPr marL="0" indent="0" algn="l">
              <a:lnSpc>
                <a:spcPts val="1083"/>
              </a:lnSpc>
              <a:spcBef>
                <a:spcPts val="100"/>
              </a:spcBef>
              <a:spcAft>
                <a:spcPts val="0"/>
              </a:spcAft>
              <a:buNone/>
            </a:pPr>
            <a:r>
              <a:rPr sz="950" b="0" i="1">
                <a:solidFill>
                  <a:srgbClr val="B2A7C4"/>
                </a:solidFill>
                <a:latin typeface="Fira Sans"/>
              </a:rPr>
              <a:t>Steps Toward Artificial Intelligence</a:t>
            </a:r>
          </a:p>
          <a:p>
            <a:pPr marL="0" indent="0" algn="l">
              <a:lnSpc>
                <a:spcPts val="1129"/>
              </a:lnSpc>
              <a:spcBef>
                <a:spcPts val="1200"/>
              </a:spcBef>
              <a:spcAft>
                <a:spcPts val="0"/>
              </a:spcAft>
              <a:buNone/>
            </a:pPr>
            <a:r>
              <a:rPr sz="1045" b="1" i="0">
                <a:solidFill>
                  <a:srgbClr val="FFFFFF"/>
                </a:solidFill>
                <a:latin typeface="Fira Sans"/>
              </a:rPr>
              <a:t>Silver et al. (2021)</a:t>
            </a:r>
          </a:p>
          <a:p>
            <a:pPr marL="0" indent="0" algn="l">
              <a:lnSpc>
                <a:spcPts val="1083"/>
              </a:lnSpc>
              <a:spcBef>
                <a:spcPts val="100"/>
              </a:spcBef>
              <a:spcAft>
                <a:spcPts val="0"/>
              </a:spcAft>
              <a:buNone/>
            </a:pPr>
            <a:r>
              <a:rPr sz="950" b="0" i="1">
                <a:solidFill>
                  <a:srgbClr val="B2A7C4"/>
                </a:solidFill>
                <a:latin typeface="Fira Sans"/>
              </a:rPr>
              <a:t>Reward is Enough</a:t>
            </a:r>
          </a:p>
          <a:p>
            <a:pPr marL="0" indent="0" algn="l">
              <a:lnSpc>
                <a:spcPts val="1129"/>
              </a:lnSpc>
              <a:spcBef>
                <a:spcPts val="1200"/>
              </a:spcBef>
              <a:spcAft>
                <a:spcPts val="0"/>
              </a:spcAft>
              <a:buNone/>
            </a:pPr>
            <a:r>
              <a:rPr sz="1045" b="1" i="0">
                <a:solidFill>
                  <a:srgbClr val="FFFFFF"/>
                </a:solidFill>
                <a:latin typeface="Fira Sans"/>
              </a:rPr>
              <a:t>Towers et al. (2024)</a:t>
            </a:r>
          </a:p>
          <a:p>
            <a:pPr marL="0" indent="0" algn="l">
              <a:lnSpc>
                <a:spcPts val="1083"/>
              </a:lnSpc>
              <a:spcBef>
                <a:spcPts val="100"/>
              </a:spcBef>
              <a:spcAft>
                <a:spcPts val="0"/>
              </a:spcAft>
              <a:buNone/>
            </a:pPr>
            <a:r>
              <a:rPr sz="950" b="0" i="1">
                <a:solidFill>
                  <a:srgbClr val="B2A7C4"/>
                </a:solidFill>
                <a:latin typeface="Fira Sans"/>
              </a:rPr>
              <a:t>Gymnasium: A Standard Interface for Reinforcement Learning Environments</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TotalTime>
  <Words>9169</Words>
  <Application>Microsoft Macintosh PowerPoint</Application>
  <PresentationFormat>Widescreen</PresentationFormat>
  <Paragraphs>639</Paragraphs>
  <Slides>43</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43</vt:i4>
      </vt:variant>
    </vt:vector>
  </HeadingPairs>
  <TitlesOfParts>
    <vt:vector size="50" baseType="lpstr">
      <vt:lpstr>Arial</vt:lpstr>
      <vt:lpstr>Roboto Slab</vt:lpstr>
      <vt:lpstr>Calibri</vt:lpstr>
      <vt:lpstr>Consolas</vt:lpstr>
      <vt:lpstr>Fira Sans</vt:lpstr>
      <vt:lpstr>Fira Sans Medium</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Reinforcement Learning Problem — Chapter 02</dc:title>
  <dc:subject>Reinforcement Learning, Chapter 02: The Reinforcement Learning Problem</dc:subject>
  <dc:creator>Riccardo Berta</dc:creator>
  <cp:keywords/>
  <dc:description>Companion lecture slides generated from the Chapter 02 lecture notes (notes.ipynb), on the DITEN widescreen template. Figures reused from the notes; mathematics typeset in LaTeX as vector graphics.</dc:description>
  <cp:lastModifiedBy>Riccardo Berta</cp:lastModifiedBy>
  <cp:revision>2</cp:revision>
  <cp:lastPrinted>2019-04-15T13:03:12Z</cp:lastPrinted>
  <dcterms:created xsi:type="dcterms:W3CDTF">2020-06-03T21:02:46Z</dcterms:created>
  <dcterms:modified xsi:type="dcterms:W3CDTF">2026-10-20T19:32:43Z</dcterms:modified>
  <cp:category>University lecture slides</cp:category>
</cp:coreProperties>
</file>