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42"/>
  </p:notesMasterIdLst>
  <p:handoutMasterIdLst>
    <p:handoutMasterId r:id="rId43"/>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embeddedFontLst>
    <p:embeddedFont>
      <p:font typeface="Consolas" panose="020B0609020204030204" pitchFamily="49" charset="0"/>
      <p:regular r:id="rId44"/>
      <p:bold r:id="rId45"/>
      <p:italic r:id="rId46"/>
      <p:boldItalic r:id="rId47"/>
    </p:embeddedFont>
    <p:embeddedFont>
      <p:font typeface="Fira Sans" panose="020B0503050000020004" pitchFamily="34" charset="0"/>
      <p:regular r:id="rId48"/>
      <p:bold r:id="rId49"/>
      <p:italic r:id="rId50"/>
      <p:boldItalic r:id="rId51"/>
    </p:embeddedFont>
    <p:embeddedFont>
      <p:font typeface="Fira Sans Medium" panose="020B0603050000020004" pitchFamily="34" charset="0"/>
      <p:regular r:id="rId52"/>
      <p:italic r:id="rId53"/>
    </p:embeddedFont>
    <p:embeddedFont>
      <p:font typeface="Roboto Slab" pitchFamily="2" charset="0"/>
      <p:regular r:id="rId54"/>
      <p:bold r:id="rId55"/>
    </p:embeddedFont>
  </p:embeddedFontLst>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74676"/>
    <a:srgbClr val="EF3340"/>
    <a:srgbClr val="A4BCC2"/>
    <a:srgbClr val="727272"/>
    <a:srgbClr val="D6AC02"/>
    <a:srgbClr val="F1C400"/>
    <a:srgbClr val="DEB401"/>
    <a:srgbClr val="B08D3B"/>
    <a:srgbClr val="F4633A"/>
    <a:srgbClr val="0061A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C2C6438-E37B-6142-BFEF-92379FC9AF2F}" v="6" dt="2026-09-28T10:36:41.991"/>
  </p1510:revLst>
</p1510:revInfo>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095" autoAdjust="0"/>
    <p:restoredTop sz="86441"/>
  </p:normalViewPr>
  <p:slideViewPr>
    <p:cSldViewPr snapToGrid="0" snapToObjects="1" showGuides="1">
      <p:cViewPr varScale="1">
        <p:scale>
          <a:sx n="140" d="100"/>
          <a:sy n="140" d="100"/>
        </p:scale>
        <p:origin x="840" y="19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font" Target="fonts/font4.fntdata"/><Relationship Id="rId50" Type="http://schemas.openxmlformats.org/officeDocument/2006/relationships/font" Target="fonts/font7.fntdata"/><Relationship Id="rId55" Type="http://schemas.openxmlformats.org/officeDocument/2006/relationships/font" Target="fonts/font12.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2.fntdata"/><Relationship Id="rId53" Type="http://schemas.openxmlformats.org/officeDocument/2006/relationships/font" Target="fonts/font10.fntdata"/><Relationship Id="rId58" Type="http://schemas.openxmlformats.org/officeDocument/2006/relationships/theme" Target="theme/theme1.xml"/><Relationship Id="rId5" Type="http://schemas.openxmlformats.org/officeDocument/2006/relationships/slide" Target="slides/slide4.xml"/><Relationship Id="rId61" Type="http://schemas.microsoft.com/office/2015/10/relationships/revisionInfo" Target="revisionInfo.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handoutMaster" Target="handoutMasters/handoutMaster1.xml"/><Relationship Id="rId48" Type="http://schemas.openxmlformats.org/officeDocument/2006/relationships/font" Target="fonts/font5.fntdata"/><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font" Target="fonts/font8.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3.fntdata"/><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6.fntdata"/><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1.fntdata"/><Relationship Id="rId52" Type="http://schemas.openxmlformats.org/officeDocument/2006/relationships/font" Target="fonts/font9.fntdata"/><Relationship Id="rId60"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cardo Berta" userId="c8694f89-bba4-4576-b0a8-456619ca5a8c" providerId="ADAL" clId="{FDDBFC5A-5EA9-5330-BEB8-433D7E3B4C4E}"/>
    <pc:docChg chg="undo custSel modSld">
      <pc:chgData name="Riccardo Berta" userId="c8694f89-bba4-4576-b0a8-456619ca5a8c" providerId="ADAL" clId="{FDDBFC5A-5EA9-5330-BEB8-433D7E3B4C4E}" dt="2026-09-28T10:37:28.516" v="660" actId="14100"/>
      <pc:docMkLst>
        <pc:docMk/>
      </pc:docMkLst>
      <pc:sldChg chg="modSp mod">
        <pc:chgData name="Riccardo Berta" userId="c8694f89-bba4-4576-b0a8-456619ca5a8c" providerId="ADAL" clId="{FDDBFC5A-5EA9-5330-BEB8-433D7E3B4C4E}" dt="2026-09-28T09:38:08.251" v="441" actId="1036"/>
        <pc:sldMkLst>
          <pc:docMk/>
          <pc:sldMk cId="0" sldId="256"/>
        </pc:sldMkLst>
        <pc:spChg chg="mod">
          <ac:chgData name="Riccardo Berta" userId="c8694f89-bba4-4576-b0a8-456619ca5a8c" providerId="ADAL" clId="{FDDBFC5A-5EA9-5330-BEB8-433D7E3B4C4E}" dt="2026-09-28T09:38:08.251" v="441" actId="1036"/>
          <ac:spMkLst>
            <pc:docMk/>
            <pc:sldMk cId="0" sldId="256"/>
            <ac:spMk id="2" creationId="{00000000-0000-0000-0000-000000000000}"/>
          </ac:spMkLst>
        </pc:spChg>
        <pc:spChg chg="mod">
          <ac:chgData name="Riccardo Berta" userId="c8694f89-bba4-4576-b0a8-456619ca5a8c" providerId="ADAL" clId="{FDDBFC5A-5EA9-5330-BEB8-433D7E3B4C4E}" dt="2026-09-28T05:42:03.488" v="150" actId="20577"/>
          <ac:spMkLst>
            <pc:docMk/>
            <pc:sldMk cId="0" sldId="256"/>
            <ac:spMk id="7" creationId="{00000000-0000-0000-0000-000000000000}"/>
          </ac:spMkLst>
        </pc:spChg>
      </pc:sldChg>
      <pc:sldChg chg="modSp mod">
        <pc:chgData name="Riccardo Berta" userId="c8694f89-bba4-4576-b0a8-456619ca5a8c" providerId="ADAL" clId="{FDDBFC5A-5EA9-5330-BEB8-433D7E3B4C4E}" dt="2026-09-28T05:44:56.828" v="170" actId="313"/>
        <pc:sldMkLst>
          <pc:docMk/>
          <pc:sldMk cId="0" sldId="258"/>
        </pc:sldMkLst>
        <pc:spChg chg="mod">
          <ac:chgData name="Riccardo Berta" userId="c8694f89-bba4-4576-b0a8-456619ca5a8c" providerId="ADAL" clId="{FDDBFC5A-5EA9-5330-BEB8-433D7E3B4C4E}" dt="2026-09-28T05:43:32.113" v="153" actId="113"/>
          <ac:spMkLst>
            <pc:docMk/>
            <pc:sldMk cId="0" sldId="258"/>
            <ac:spMk id="8" creationId="{00000000-0000-0000-0000-000000000000}"/>
          </ac:spMkLst>
        </pc:spChg>
        <pc:spChg chg="mod">
          <ac:chgData name="Riccardo Berta" userId="c8694f89-bba4-4576-b0a8-456619ca5a8c" providerId="ADAL" clId="{FDDBFC5A-5EA9-5330-BEB8-433D7E3B4C4E}" dt="2026-09-28T05:43:55.294" v="158" actId="20577"/>
          <ac:spMkLst>
            <pc:docMk/>
            <pc:sldMk cId="0" sldId="258"/>
            <ac:spMk id="14" creationId="{00000000-0000-0000-0000-000000000000}"/>
          </ac:spMkLst>
        </pc:spChg>
        <pc:spChg chg="mod">
          <ac:chgData name="Riccardo Berta" userId="c8694f89-bba4-4576-b0a8-456619ca5a8c" providerId="ADAL" clId="{FDDBFC5A-5EA9-5330-BEB8-433D7E3B4C4E}" dt="2026-09-28T05:44:17.420" v="163" actId="313"/>
          <ac:spMkLst>
            <pc:docMk/>
            <pc:sldMk cId="0" sldId="258"/>
            <ac:spMk id="16" creationId="{00000000-0000-0000-0000-000000000000}"/>
          </ac:spMkLst>
        </pc:spChg>
        <pc:spChg chg="mod">
          <ac:chgData name="Riccardo Berta" userId="c8694f89-bba4-4576-b0a8-456619ca5a8c" providerId="ADAL" clId="{FDDBFC5A-5EA9-5330-BEB8-433D7E3B4C4E}" dt="2026-09-28T05:44:33.418" v="168" actId="1038"/>
          <ac:spMkLst>
            <pc:docMk/>
            <pc:sldMk cId="0" sldId="258"/>
            <ac:spMk id="21" creationId="{00000000-0000-0000-0000-000000000000}"/>
          </ac:spMkLst>
        </pc:spChg>
        <pc:spChg chg="mod">
          <ac:chgData name="Riccardo Berta" userId="c8694f89-bba4-4576-b0a8-456619ca5a8c" providerId="ADAL" clId="{FDDBFC5A-5EA9-5330-BEB8-433D7E3B4C4E}" dt="2026-09-28T05:44:56.828" v="170" actId="313"/>
          <ac:spMkLst>
            <pc:docMk/>
            <pc:sldMk cId="0" sldId="258"/>
            <ac:spMk id="22" creationId="{00000000-0000-0000-0000-000000000000}"/>
          </ac:spMkLst>
        </pc:spChg>
        <pc:picChg chg="mod">
          <ac:chgData name="Riccardo Berta" userId="c8694f89-bba4-4576-b0a8-456619ca5a8c" providerId="ADAL" clId="{FDDBFC5A-5EA9-5330-BEB8-433D7E3B4C4E}" dt="2026-09-28T05:44:25.326" v="164" actId="1076"/>
          <ac:picMkLst>
            <pc:docMk/>
            <pc:sldMk cId="0" sldId="258"/>
            <ac:picMk id="9" creationId="{00000000-0000-0000-0000-000000000000}"/>
          </ac:picMkLst>
        </pc:picChg>
      </pc:sldChg>
      <pc:sldChg chg="modSp mod">
        <pc:chgData name="Riccardo Berta" userId="c8694f89-bba4-4576-b0a8-456619ca5a8c" providerId="ADAL" clId="{FDDBFC5A-5EA9-5330-BEB8-433D7E3B4C4E}" dt="2026-09-28T05:47:09.325" v="192" actId="20577"/>
        <pc:sldMkLst>
          <pc:docMk/>
          <pc:sldMk cId="0" sldId="259"/>
        </pc:sldMkLst>
        <pc:spChg chg="mod">
          <ac:chgData name="Riccardo Berta" userId="c8694f89-bba4-4576-b0a8-456619ca5a8c" providerId="ADAL" clId="{FDDBFC5A-5EA9-5330-BEB8-433D7E3B4C4E}" dt="2026-09-28T05:45:36.158" v="180" actId="207"/>
          <ac:spMkLst>
            <pc:docMk/>
            <pc:sldMk cId="0" sldId="259"/>
            <ac:spMk id="8" creationId="{00000000-0000-0000-0000-000000000000}"/>
          </ac:spMkLst>
        </pc:spChg>
        <pc:spChg chg="mod">
          <ac:chgData name="Riccardo Berta" userId="c8694f89-bba4-4576-b0a8-456619ca5a8c" providerId="ADAL" clId="{FDDBFC5A-5EA9-5330-BEB8-433D7E3B4C4E}" dt="2026-09-28T05:45:51.993" v="181" actId="20577"/>
          <ac:spMkLst>
            <pc:docMk/>
            <pc:sldMk cId="0" sldId="259"/>
            <ac:spMk id="10" creationId="{00000000-0000-0000-0000-000000000000}"/>
          </ac:spMkLst>
        </pc:spChg>
        <pc:spChg chg="mod">
          <ac:chgData name="Riccardo Berta" userId="c8694f89-bba4-4576-b0a8-456619ca5a8c" providerId="ADAL" clId="{FDDBFC5A-5EA9-5330-BEB8-433D7E3B4C4E}" dt="2026-09-28T05:46:55.213" v="186" actId="313"/>
          <ac:spMkLst>
            <pc:docMk/>
            <pc:sldMk cId="0" sldId="259"/>
            <ac:spMk id="14" creationId="{00000000-0000-0000-0000-000000000000}"/>
          </ac:spMkLst>
        </pc:spChg>
        <pc:spChg chg="mod">
          <ac:chgData name="Riccardo Berta" userId="c8694f89-bba4-4576-b0a8-456619ca5a8c" providerId="ADAL" clId="{FDDBFC5A-5EA9-5330-BEB8-433D7E3B4C4E}" dt="2026-09-28T05:47:00.195" v="189" actId="20577"/>
          <ac:spMkLst>
            <pc:docMk/>
            <pc:sldMk cId="0" sldId="259"/>
            <ac:spMk id="16" creationId="{00000000-0000-0000-0000-000000000000}"/>
          </ac:spMkLst>
        </pc:spChg>
        <pc:spChg chg="mod">
          <ac:chgData name="Riccardo Berta" userId="c8694f89-bba4-4576-b0a8-456619ca5a8c" providerId="ADAL" clId="{FDDBFC5A-5EA9-5330-BEB8-433D7E3B4C4E}" dt="2026-09-28T05:47:09.325" v="192" actId="20577"/>
          <ac:spMkLst>
            <pc:docMk/>
            <pc:sldMk cId="0" sldId="259"/>
            <ac:spMk id="18" creationId="{00000000-0000-0000-0000-000000000000}"/>
          </ac:spMkLst>
        </pc:spChg>
        <pc:picChg chg="mod">
          <ac:chgData name="Riccardo Berta" userId="c8694f89-bba4-4576-b0a8-456619ca5a8c" providerId="ADAL" clId="{FDDBFC5A-5EA9-5330-BEB8-433D7E3B4C4E}" dt="2026-09-15T05:49:07.647" v="10" actId="14100"/>
          <ac:picMkLst>
            <pc:docMk/>
            <pc:sldMk cId="0" sldId="259"/>
            <ac:picMk id="9" creationId="{00000000-0000-0000-0000-000000000000}"/>
          </ac:picMkLst>
        </pc:picChg>
      </pc:sldChg>
      <pc:sldChg chg="modSp mod">
        <pc:chgData name="Riccardo Berta" userId="c8694f89-bba4-4576-b0a8-456619ca5a8c" providerId="ADAL" clId="{FDDBFC5A-5EA9-5330-BEB8-433D7E3B4C4E}" dt="2026-09-28T05:48:18.981" v="199" actId="20577"/>
        <pc:sldMkLst>
          <pc:docMk/>
          <pc:sldMk cId="0" sldId="260"/>
        </pc:sldMkLst>
        <pc:spChg chg="mod">
          <ac:chgData name="Riccardo Berta" userId="c8694f89-bba4-4576-b0a8-456619ca5a8c" providerId="ADAL" clId="{FDDBFC5A-5EA9-5330-BEB8-433D7E3B4C4E}" dt="2026-09-28T05:47:39.311" v="196" actId="20577"/>
          <ac:spMkLst>
            <pc:docMk/>
            <pc:sldMk cId="0" sldId="260"/>
            <ac:spMk id="8" creationId="{00000000-0000-0000-0000-000000000000}"/>
          </ac:spMkLst>
        </pc:spChg>
        <pc:spChg chg="mod">
          <ac:chgData name="Riccardo Berta" userId="c8694f89-bba4-4576-b0a8-456619ca5a8c" providerId="ADAL" clId="{FDDBFC5A-5EA9-5330-BEB8-433D7E3B4C4E}" dt="2026-09-28T05:48:18.981" v="199" actId="20577"/>
          <ac:spMkLst>
            <pc:docMk/>
            <pc:sldMk cId="0" sldId="260"/>
            <ac:spMk id="17" creationId="{00000000-0000-0000-0000-000000000000}"/>
          </ac:spMkLst>
        </pc:spChg>
        <pc:picChg chg="mod">
          <ac:chgData name="Riccardo Berta" userId="c8694f89-bba4-4576-b0a8-456619ca5a8c" providerId="ADAL" clId="{FDDBFC5A-5EA9-5330-BEB8-433D7E3B4C4E}" dt="2026-09-15T05:49:24.838" v="14" actId="14100"/>
          <ac:picMkLst>
            <pc:docMk/>
            <pc:sldMk cId="0" sldId="260"/>
            <ac:picMk id="9" creationId="{00000000-0000-0000-0000-000000000000}"/>
          </ac:picMkLst>
        </pc:picChg>
      </pc:sldChg>
      <pc:sldChg chg="modSp mod">
        <pc:chgData name="Riccardo Berta" userId="c8694f89-bba4-4576-b0a8-456619ca5a8c" providerId="ADAL" clId="{FDDBFC5A-5EA9-5330-BEB8-433D7E3B4C4E}" dt="2026-09-28T05:50:03.333" v="220" actId="20577"/>
        <pc:sldMkLst>
          <pc:docMk/>
          <pc:sldMk cId="0" sldId="261"/>
        </pc:sldMkLst>
        <pc:spChg chg="mod">
          <ac:chgData name="Riccardo Berta" userId="c8694f89-bba4-4576-b0a8-456619ca5a8c" providerId="ADAL" clId="{FDDBFC5A-5EA9-5330-BEB8-433D7E3B4C4E}" dt="2026-09-28T05:49:03.462" v="206" actId="20577"/>
          <ac:spMkLst>
            <pc:docMk/>
            <pc:sldMk cId="0" sldId="261"/>
            <ac:spMk id="8" creationId="{00000000-0000-0000-0000-000000000000}"/>
          </ac:spMkLst>
        </pc:spChg>
        <pc:spChg chg="mod">
          <ac:chgData name="Riccardo Berta" userId="c8694f89-bba4-4576-b0a8-456619ca5a8c" providerId="ADAL" clId="{FDDBFC5A-5EA9-5330-BEB8-433D7E3B4C4E}" dt="2026-09-28T05:49:16.502" v="211" actId="20577"/>
          <ac:spMkLst>
            <pc:docMk/>
            <pc:sldMk cId="0" sldId="261"/>
            <ac:spMk id="12" creationId="{00000000-0000-0000-0000-000000000000}"/>
          </ac:spMkLst>
        </pc:spChg>
        <pc:spChg chg="mod">
          <ac:chgData name="Riccardo Berta" userId="c8694f89-bba4-4576-b0a8-456619ca5a8c" providerId="ADAL" clId="{FDDBFC5A-5EA9-5330-BEB8-433D7E3B4C4E}" dt="2026-09-28T05:50:03.333" v="220" actId="20577"/>
          <ac:spMkLst>
            <pc:docMk/>
            <pc:sldMk cId="0" sldId="261"/>
            <ac:spMk id="17" creationId="{00000000-0000-0000-0000-000000000000}"/>
          </ac:spMkLst>
        </pc:spChg>
        <pc:picChg chg="mod">
          <ac:chgData name="Riccardo Berta" userId="c8694f89-bba4-4576-b0a8-456619ca5a8c" providerId="ADAL" clId="{FDDBFC5A-5EA9-5330-BEB8-433D7E3B4C4E}" dt="2026-09-15T05:49:45.492" v="20" actId="14100"/>
          <ac:picMkLst>
            <pc:docMk/>
            <pc:sldMk cId="0" sldId="261"/>
            <ac:picMk id="9" creationId="{00000000-0000-0000-0000-000000000000}"/>
          </ac:picMkLst>
        </pc:picChg>
      </pc:sldChg>
      <pc:sldChg chg="modSp mod">
        <pc:chgData name="Riccardo Berta" userId="c8694f89-bba4-4576-b0a8-456619ca5a8c" providerId="ADAL" clId="{FDDBFC5A-5EA9-5330-BEB8-433D7E3B4C4E}" dt="2026-09-28T05:57:02.382" v="268" actId="1076"/>
        <pc:sldMkLst>
          <pc:docMk/>
          <pc:sldMk cId="0" sldId="262"/>
        </pc:sldMkLst>
        <pc:spChg chg="mod">
          <ac:chgData name="Riccardo Berta" userId="c8694f89-bba4-4576-b0a8-456619ca5a8c" providerId="ADAL" clId="{FDDBFC5A-5EA9-5330-BEB8-433D7E3B4C4E}" dt="2026-09-28T05:51:26.647" v="250" actId="790"/>
          <ac:spMkLst>
            <pc:docMk/>
            <pc:sldMk cId="0" sldId="262"/>
            <ac:spMk id="8" creationId="{00000000-0000-0000-0000-000000000000}"/>
          </ac:spMkLst>
        </pc:spChg>
        <pc:spChg chg="mod">
          <ac:chgData name="Riccardo Berta" userId="c8694f89-bba4-4576-b0a8-456619ca5a8c" providerId="ADAL" clId="{FDDBFC5A-5EA9-5330-BEB8-433D7E3B4C4E}" dt="2026-09-28T05:52:17.518" v="257" actId="113"/>
          <ac:spMkLst>
            <pc:docMk/>
            <pc:sldMk cId="0" sldId="262"/>
            <ac:spMk id="16" creationId="{00000000-0000-0000-0000-000000000000}"/>
          </ac:spMkLst>
        </pc:spChg>
        <pc:spChg chg="mod">
          <ac:chgData name="Riccardo Berta" userId="c8694f89-bba4-4576-b0a8-456619ca5a8c" providerId="ADAL" clId="{FDDBFC5A-5EA9-5330-BEB8-433D7E3B4C4E}" dt="2026-09-28T05:52:10.566" v="256" actId="113"/>
          <ac:spMkLst>
            <pc:docMk/>
            <pc:sldMk cId="0" sldId="262"/>
            <ac:spMk id="20" creationId="{00000000-0000-0000-0000-000000000000}"/>
          </ac:spMkLst>
        </pc:spChg>
        <pc:spChg chg="mod">
          <ac:chgData name="Riccardo Berta" userId="c8694f89-bba4-4576-b0a8-456619ca5a8c" providerId="ADAL" clId="{FDDBFC5A-5EA9-5330-BEB8-433D7E3B4C4E}" dt="2026-09-28T05:56:41.434" v="267" actId="113"/>
          <ac:spMkLst>
            <pc:docMk/>
            <pc:sldMk cId="0" sldId="262"/>
            <ac:spMk id="22" creationId="{00000000-0000-0000-0000-000000000000}"/>
          </ac:spMkLst>
        </pc:spChg>
        <pc:picChg chg="mod">
          <ac:chgData name="Riccardo Berta" userId="c8694f89-bba4-4576-b0a8-456619ca5a8c" providerId="ADAL" clId="{FDDBFC5A-5EA9-5330-BEB8-433D7E3B4C4E}" dt="2026-09-28T05:56:24.439" v="264" actId="1076"/>
          <ac:picMkLst>
            <pc:docMk/>
            <pc:sldMk cId="0" sldId="262"/>
            <ac:picMk id="24" creationId="{00000000-0000-0000-0000-000000000000}"/>
          </ac:picMkLst>
        </pc:picChg>
        <pc:picChg chg="mod">
          <ac:chgData name="Riccardo Berta" userId="c8694f89-bba4-4576-b0a8-456619ca5a8c" providerId="ADAL" clId="{FDDBFC5A-5EA9-5330-BEB8-433D7E3B4C4E}" dt="2026-09-28T05:57:02.382" v="268" actId="1076"/>
          <ac:picMkLst>
            <pc:docMk/>
            <pc:sldMk cId="0" sldId="262"/>
            <ac:picMk id="27" creationId="{00000000-0000-0000-0000-000000000000}"/>
          </ac:picMkLst>
        </pc:picChg>
      </pc:sldChg>
      <pc:sldChg chg="modSp mod">
        <pc:chgData name="Riccardo Berta" userId="c8694f89-bba4-4576-b0a8-456619ca5a8c" providerId="ADAL" clId="{FDDBFC5A-5EA9-5330-BEB8-433D7E3B4C4E}" dt="2026-09-28T05:59:18.300" v="317" actId="1037"/>
        <pc:sldMkLst>
          <pc:docMk/>
          <pc:sldMk cId="0" sldId="263"/>
        </pc:sldMkLst>
        <pc:spChg chg="mod">
          <ac:chgData name="Riccardo Berta" userId="c8694f89-bba4-4576-b0a8-456619ca5a8c" providerId="ADAL" clId="{FDDBFC5A-5EA9-5330-BEB8-433D7E3B4C4E}" dt="2026-09-28T05:58:07.354" v="298" actId="790"/>
          <ac:spMkLst>
            <pc:docMk/>
            <pc:sldMk cId="0" sldId="263"/>
            <ac:spMk id="8" creationId="{00000000-0000-0000-0000-000000000000}"/>
          </ac:spMkLst>
        </pc:spChg>
        <pc:spChg chg="mod">
          <ac:chgData name="Riccardo Berta" userId="c8694f89-bba4-4576-b0a8-456619ca5a8c" providerId="ADAL" clId="{FDDBFC5A-5EA9-5330-BEB8-433D7E3B4C4E}" dt="2026-09-28T05:59:18.300" v="317" actId="1037"/>
          <ac:spMkLst>
            <pc:docMk/>
            <pc:sldMk cId="0" sldId="263"/>
            <ac:spMk id="10" creationId="{00000000-0000-0000-0000-000000000000}"/>
          </ac:spMkLst>
        </pc:spChg>
        <pc:spChg chg="mod">
          <ac:chgData name="Riccardo Berta" userId="c8694f89-bba4-4576-b0a8-456619ca5a8c" providerId="ADAL" clId="{FDDBFC5A-5EA9-5330-BEB8-433D7E3B4C4E}" dt="2026-09-15T05:50:17.310" v="39" actId="1038"/>
          <ac:spMkLst>
            <pc:docMk/>
            <pc:sldMk cId="0" sldId="263"/>
            <ac:spMk id="11" creationId="{00000000-0000-0000-0000-000000000000}"/>
          </ac:spMkLst>
        </pc:spChg>
        <pc:spChg chg="mod">
          <ac:chgData name="Riccardo Berta" userId="c8694f89-bba4-4576-b0a8-456619ca5a8c" providerId="ADAL" clId="{FDDBFC5A-5EA9-5330-BEB8-433D7E3B4C4E}" dt="2026-09-15T05:50:17.310" v="39" actId="1038"/>
          <ac:spMkLst>
            <pc:docMk/>
            <pc:sldMk cId="0" sldId="263"/>
            <ac:spMk id="12" creationId="{00000000-0000-0000-0000-000000000000}"/>
          </ac:spMkLst>
        </pc:spChg>
        <pc:spChg chg="mod">
          <ac:chgData name="Riccardo Berta" userId="c8694f89-bba4-4576-b0a8-456619ca5a8c" providerId="ADAL" clId="{FDDBFC5A-5EA9-5330-BEB8-433D7E3B4C4E}" dt="2026-09-28T05:58:46.075" v="303" actId="113"/>
          <ac:spMkLst>
            <pc:docMk/>
            <pc:sldMk cId="0" sldId="263"/>
            <ac:spMk id="13" creationId="{00000000-0000-0000-0000-000000000000}"/>
          </ac:spMkLst>
        </pc:spChg>
        <pc:spChg chg="mod">
          <ac:chgData name="Riccardo Berta" userId="c8694f89-bba4-4576-b0a8-456619ca5a8c" providerId="ADAL" clId="{FDDBFC5A-5EA9-5330-BEB8-433D7E3B4C4E}" dt="2026-09-15T05:50:17.310" v="39" actId="1038"/>
          <ac:spMkLst>
            <pc:docMk/>
            <pc:sldMk cId="0" sldId="263"/>
            <ac:spMk id="14" creationId="{00000000-0000-0000-0000-000000000000}"/>
          </ac:spMkLst>
        </pc:spChg>
        <pc:spChg chg="mod">
          <ac:chgData name="Riccardo Berta" userId="c8694f89-bba4-4576-b0a8-456619ca5a8c" providerId="ADAL" clId="{FDDBFC5A-5EA9-5330-BEB8-433D7E3B4C4E}" dt="2026-09-28T05:59:00.348" v="306" actId="20577"/>
          <ac:spMkLst>
            <pc:docMk/>
            <pc:sldMk cId="0" sldId="263"/>
            <ac:spMk id="15" creationId="{00000000-0000-0000-0000-000000000000}"/>
          </ac:spMkLst>
        </pc:spChg>
        <pc:spChg chg="mod">
          <ac:chgData name="Riccardo Berta" userId="c8694f89-bba4-4576-b0a8-456619ca5a8c" providerId="ADAL" clId="{FDDBFC5A-5EA9-5330-BEB8-433D7E3B4C4E}" dt="2026-09-15T05:50:17.310" v="39" actId="1038"/>
          <ac:spMkLst>
            <pc:docMk/>
            <pc:sldMk cId="0" sldId="263"/>
            <ac:spMk id="16" creationId="{00000000-0000-0000-0000-000000000000}"/>
          </ac:spMkLst>
        </pc:spChg>
        <pc:spChg chg="mod">
          <ac:chgData name="Riccardo Berta" userId="c8694f89-bba4-4576-b0a8-456619ca5a8c" providerId="ADAL" clId="{FDDBFC5A-5EA9-5330-BEB8-433D7E3B4C4E}" dt="2026-09-15T05:50:17.310" v="39" actId="1038"/>
          <ac:spMkLst>
            <pc:docMk/>
            <pc:sldMk cId="0" sldId="263"/>
            <ac:spMk id="17" creationId="{00000000-0000-0000-0000-000000000000}"/>
          </ac:spMkLst>
        </pc:spChg>
        <pc:spChg chg="mod">
          <ac:chgData name="Riccardo Berta" userId="c8694f89-bba4-4576-b0a8-456619ca5a8c" providerId="ADAL" clId="{FDDBFC5A-5EA9-5330-BEB8-433D7E3B4C4E}" dt="2026-09-15T05:50:17.310" v="39" actId="1038"/>
          <ac:spMkLst>
            <pc:docMk/>
            <pc:sldMk cId="0" sldId="263"/>
            <ac:spMk id="18" creationId="{00000000-0000-0000-0000-000000000000}"/>
          </ac:spMkLst>
        </pc:spChg>
        <pc:spChg chg="mod">
          <ac:chgData name="Riccardo Berta" userId="c8694f89-bba4-4576-b0a8-456619ca5a8c" providerId="ADAL" clId="{FDDBFC5A-5EA9-5330-BEB8-433D7E3B4C4E}" dt="2026-09-15T05:50:17.310" v="39" actId="1038"/>
          <ac:spMkLst>
            <pc:docMk/>
            <pc:sldMk cId="0" sldId="263"/>
            <ac:spMk id="19" creationId="{00000000-0000-0000-0000-000000000000}"/>
          </ac:spMkLst>
        </pc:spChg>
        <pc:picChg chg="mod">
          <ac:chgData name="Riccardo Berta" userId="c8694f89-bba4-4576-b0a8-456619ca5a8c" providerId="ADAL" clId="{FDDBFC5A-5EA9-5330-BEB8-433D7E3B4C4E}" dt="2026-09-28T05:57:43.553" v="278" actId="1076"/>
          <ac:picMkLst>
            <pc:docMk/>
            <pc:sldMk cId="0" sldId="263"/>
            <ac:picMk id="9" creationId="{00000000-0000-0000-0000-000000000000}"/>
          </ac:picMkLst>
        </pc:picChg>
      </pc:sldChg>
      <pc:sldChg chg="modSp mod">
        <pc:chgData name="Riccardo Berta" userId="c8694f89-bba4-4576-b0a8-456619ca5a8c" providerId="ADAL" clId="{FDDBFC5A-5EA9-5330-BEB8-433D7E3B4C4E}" dt="2026-09-28T06:01:38.261" v="343" actId="20577"/>
        <pc:sldMkLst>
          <pc:docMk/>
          <pc:sldMk cId="0" sldId="265"/>
        </pc:sldMkLst>
        <pc:spChg chg="mod">
          <ac:chgData name="Riccardo Berta" userId="c8694f89-bba4-4576-b0a8-456619ca5a8c" providerId="ADAL" clId="{FDDBFC5A-5EA9-5330-BEB8-433D7E3B4C4E}" dt="2026-09-28T06:00:18.587" v="320" actId="113"/>
          <ac:spMkLst>
            <pc:docMk/>
            <pc:sldMk cId="0" sldId="265"/>
            <ac:spMk id="8" creationId="{00000000-0000-0000-0000-000000000000}"/>
          </ac:spMkLst>
        </pc:spChg>
        <pc:spChg chg="mod">
          <ac:chgData name="Riccardo Berta" userId="c8694f89-bba4-4576-b0a8-456619ca5a8c" providerId="ADAL" clId="{FDDBFC5A-5EA9-5330-BEB8-433D7E3B4C4E}" dt="2026-09-28T06:01:07.791" v="325" actId="20577"/>
          <ac:spMkLst>
            <pc:docMk/>
            <pc:sldMk cId="0" sldId="265"/>
            <ac:spMk id="21" creationId="{00000000-0000-0000-0000-000000000000}"/>
          </ac:spMkLst>
        </pc:spChg>
        <pc:spChg chg="mod">
          <ac:chgData name="Riccardo Berta" userId="c8694f89-bba4-4576-b0a8-456619ca5a8c" providerId="ADAL" clId="{FDDBFC5A-5EA9-5330-BEB8-433D7E3B4C4E}" dt="2026-09-28T06:01:38.261" v="343" actId="20577"/>
          <ac:spMkLst>
            <pc:docMk/>
            <pc:sldMk cId="0" sldId="265"/>
            <ac:spMk id="26" creationId="{00000000-0000-0000-0000-000000000000}"/>
          </ac:spMkLst>
        </pc:spChg>
      </pc:sldChg>
      <pc:sldChg chg="modSp mod">
        <pc:chgData name="Riccardo Berta" userId="c8694f89-bba4-4576-b0a8-456619ca5a8c" providerId="ADAL" clId="{FDDBFC5A-5EA9-5330-BEB8-433D7E3B4C4E}" dt="2026-09-28T06:03:40.193" v="355" actId="20577"/>
        <pc:sldMkLst>
          <pc:docMk/>
          <pc:sldMk cId="0" sldId="266"/>
        </pc:sldMkLst>
        <pc:spChg chg="mod">
          <ac:chgData name="Riccardo Berta" userId="c8694f89-bba4-4576-b0a8-456619ca5a8c" providerId="ADAL" clId="{FDDBFC5A-5EA9-5330-BEB8-433D7E3B4C4E}" dt="2026-09-15T05:51:11.662" v="57" actId="1035"/>
          <ac:spMkLst>
            <pc:docMk/>
            <pc:sldMk cId="0" sldId="266"/>
            <ac:spMk id="10" creationId="{00000000-0000-0000-0000-000000000000}"/>
          </ac:spMkLst>
        </pc:spChg>
        <pc:spChg chg="mod">
          <ac:chgData name="Riccardo Berta" userId="c8694f89-bba4-4576-b0a8-456619ca5a8c" providerId="ADAL" clId="{FDDBFC5A-5EA9-5330-BEB8-433D7E3B4C4E}" dt="2026-09-28T06:03:24.709" v="347" actId="20577"/>
          <ac:spMkLst>
            <pc:docMk/>
            <pc:sldMk cId="0" sldId="266"/>
            <ac:spMk id="11" creationId="{00000000-0000-0000-0000-000000000000}"/>
          </ac:spMkLst>
        </pc:spChg>
        <pc:spChg chg="mod">
          <ac:chgData name="Riccardo Berta" userId="c8694f89-bba4-4576-b0a8-456619ca5a8c" providerId="ADAL" clId="{FDDBFC5A-5EA9-5330-BEB8-433D7E3B4C4E}" dt="2026-09-28T06:03:40.193" v="355" actId="20577"/>
          <ac:spMkLst>
            <pc:docMk/>
            <pc:sldMk cId="0" sldId="266"/>
            <ac:spMk id="13" creationId="{00000000-0000-0000-0000-000000000000}"/>
          </ac:spMkLst>
        </pc:spChg>
        <pc:picChg chg="mod">
          <ac:chgData name="Riccardo Berta" userId="c8694f89-bba4-4576-b0a8-456619ca5a8c" providerId="ADAL" clId="{FDDBFC5A-5EA9-5330-BEB8-433D7E3B4C4E}" dt="2026-09-15T05:51:08.565" v="46" actId="14100"/>
          <ac:picMkLst>
            <pc:docMk/>
            <pc:sldMk cId="0" sldId="266"/>
            <ac:picMk id="9" creationId="{00000000-0000-0000-0000-000000000000}"/>
          </ac:picMkLst>
        </pc:picChg>
      </pc:sldChg>
      <pc:sldChg chg="modSp mod">
        <pc:chgData name="Riccardo Berta" userId="c8694f89-bba4-4576-b0a8-456619ca5a8c" providerId="ADAL" clId="{FDDBFC5A-5EA9-5330-BEB8-433D7E3B4C4E}" dt="2026-09-28T06:06:28.874" v="368" actId="20577"/>
        <pc:sldMkLst>
          <pc:docMk/>
          <pc:sldMk cId="0" sldId="267"/>
        </pc:sldMkLst>
        <pc:spChg chg="mod">
          <ac:chgData name="Riccardo Berta" userId="c8694f89-bba4-4576-b0a8-456619ca5a8c" providerId="ADAL" clId="{FDDBFC5A-5EA9-5330-BEB8-433D7E3B4C4E}" dt="2026-09-15T05:51:28.155" v="68" actId="1036"/>
          <ac:spMkLst>
            <pc:docMk/>
            <pc:sldMk cId="0" sldId="267"/>
            <ac:spMk id="10" creationId="{00000000-0000-0000-0000-000000000000}"/>
          </ac:spMkLst>
        </pc:spChg>
        <pc:spChg chg="mod">
          <ac:chgData name="Riccardo Berta" userId="c8694f89-bba4-4576-b0a8-456619ca5a8c" providerId="ADAL" clId="{FDDBFC5A-5EA9-5330-BEB8-433D7E3B4C4E}" dt="2026-09-28T06:05:39.757" v="359" actId="313"/>
          <ac:spMkLst>
            <pc:docMk/>
            <pc:sldMk cId="0" sldId="267"/>
            <ac:spMk id="11" creationId="{00000000-0000-0000-0000-000000000000}"/>
          </ac:spMkLst>
        </pc:spChg>
        <pc:spChg chg="mod">
          <ac:chgData name="Riccardo Berta" userId="c8694f89-bba4-4576-b0a8-456619ca5a8c" providerId="ADAL" clId="{FDDBFC5A-5EA9-5330-BEB8-433D7E3B4C4E}" dt="2026-09-28T06:05:48.043" v="362" actId="20577"/>
          <ac:spMkLst>
            <pc:docMk/>
            <pc:sldMk cId="0" sldId="267"/>
            <ac:spMk id="13" creationId="{00000000-0000-0000-0000-000000000000}"/>
          </ac:spMkLst>
        </pc:spChg>
        <pc:spChg chg="mod">
          <ac:chgData name="Riccardo Berta" userId="c8694f89-bba4-4576-b0a8-456619ca5a8c" providerId="ADAL" clId="{FDDBFC5A-5EA9-5330-BEB8-433D7E3B4C4E}" dt="2026-09-28T06:06:07.729" v="363" actId="113"/>
          <ac:spMkLst>
            <pc:docMk/>
            <pc:sldMk cId="0" sldId="267"/>
            <ac:spMk id="18" creationId="{00000000-0000-0000-0000-000000000000}"/>
          </ac:spMkLst>
        </pc:spChg>
        <pc:spChg chg="mod">
          <ac:chgData name="Riccardo Berta" userId="c8694f89-bba4-4576-b0a8-456619ca5a8c" providerId="ADAL" clId="{FDDBFC5A-5EA9-5330-BEB8-433D7E3B4C4E}" dt="2026-09-28T06:06:28.874" v="368" actId="20577"/>
          <ac:spMkLst>
            <pc:docMk/>
            <pc:sldMk cId="0" sldId="267"/>
            <ac:spMk id="19" creationId="{00000000-0000-0000-0000-000000000000}"/>
          </ac:spMkLst>
        </pc:spChg>
        <pc:picChg chg="mod">
          <ac:chgData name="Riccardo Berta" userId="c8694f89-bba4-4576-b0a8-456619ca5a8c" providerId="ADAL" clId="{FDDBFC5A-5EA9-5330-BEB8-433D7E3B4C4E}" dt="2026-09-15T05:51:23.535" v="60" actId="14100"/>
          <ac:picMkLst>
            <pc:docMk/>
            <pc:sldMk cId="0" sldId="267"/>
            <ac:picMk id="9" creationId="{00000000-0000-0000-0000-000000000000}"/>
          </ac:picMkLst>
        </pc:picChg>
      </pc:sldChg>
      <pc:sldChg chg="modSp mod">
        <pc:chgData name="Riccardo Berta" userId="c8694f89-bba4-4576-b0a8-456619ca5a8c" providerId="ADAL" clId="{FDDBFC5A-5EA9-5330-BEB8-433D7E3B4C4E}" dt="2026-09-28T06:08:09.115" v="399" actId="20577"/>
        <pc:sldMkLst>
          <pc:docMk/>
          <pc:sldMk cId="0" sldId="268"/>
        </pc:sldMkLst>
        <pc:spChg chg="mod">
          <ac:chgData name="Riccardo Berta" userId="c8694f89-bba4-4576-b0a8-456619ca5a8c" providerId="ADAL" clId="{FDDBFC5A-5EA9-5330-BEB8-433D7E3B4C4E}" dt="2026-09-28T06:07:03.868" v="376" actId="113"/>
          <ac:spMkLst>
            <pc:docMk/>
            <pc:sldMk cId="0" sldId="268"/>
            <ac:spMk id="8" creationId="{00000000-0000-0000-0000-000000000000}"/>
          </ac:spMkLst>
        </pc:spChg>
        <pc:spChg chg="mod">
          <ac:chgData name="Riccardo Berta" userId="c8694f89-bba4-4576-b0a8-456619ca5a8c" providerId="ADAL" clId="{FDDBFC5A-5EA9-5330-BEB8-433D7E3B4C4E}" dt="2026-09-15T05:51:35.085" v="70" actId="1076"/>
          <ac:spMkLst>
            <pc:docMk/>
            <pc:sldMk cId="0" sldId="268"/>
            <ac:spMk id="10" creationId="{00000000-0000-0000-0000-000000000000}"/>
          </ac:spMkLst>
        </pc:spChg>
        <pc:spChg chg="mod">
          <ac:chgData name="Riccardo Berta" userId="c8694f89-bba4-4576-b0a8-456619ca5a8c" providerId="ADAL" clId="{FDDBFC5A-5EA9-5330-BEB8-433D7E3B4C4E}" dt="2026-09-28T06:07:55.325" v="391" actId="1036"/>
          <ac:spMkLst>
            <pc:docMk/>
            <pc:sldMk cId="0" sldId="268"/>
            <ac:spMk id="12" creationId="{00000000-0000-0000-0000-000000000000}"/>
          </ac:spMkLst>
        </pc:spChg>
        <pc:spChg chg="mod">
          <ac:chgData name="Riccardo Berta" userId="c8694f89-bba4-4576-b0a8-456619ca5a8c" providerId="ADAL" clId="{FDDBFC5A-5EA9-5330-BEB8-433D7E3B4C4E}" dt="2026-09-28T06:07:55.325" v="391" actId="1036"/>
          <ac:spMkLst>
            <pc:docMk/>
            <pc:sldMk cId="0" sldId="268"/>
            <ac:spMk id="13" creationId="{00000000-0000-0000-0000-000000000000}"/>
          </ac:spMkLst>
        </pc:spChg>
        <pc:spChg chg="mod">
          <ac:chgData name="Riccardo Berta" userId="c8694f89-bba4-4576-b0a8-456619ca5a8c" providerId="ADAL" clId="{FDDBFC5A-5EA9-5330-BEB8-433D7E3B4C4E}" dt="2026-09-28T06:08:09.115" v="399" actId="20577"/>
          <ac:spMkLst>
            <pc:docMk/>
            <pc:sldMk cId="0" sldId="268"/>
            <ac:spMk id="16" creationId="{00000000-0000-0000-0000-000000000000}"/>
          </ac:spMkLst>
        </pc:spChg>
        <pc:picChg chg="mod">
          <ac:chgData name="Riccardo Berta" userId="c8694f89-bba4-4576-b0a8-456619ca5a8c" providerId="ADAL" clId="{FDDBFC5A-5EA9-5330-BEB8-433D7E3B4C4E}" dt="2026-09-15T05:51:41.234" v="71" actId="14100"/>
          <ac:picMkLst>
            <pc:docMk/>
            <pc:sldMk cId="0" sldId="268"/>
            <ac:picMk id="9" creationId="{00000000-0000-0000-0000-000000000000}"/>
          </ac:picMkLst>
        </pc:picChg>
      </pc:sldChg>
      <pc:sldChg chg="modSp mod">
        <pc:chgData name="Riccardo Berta" userId="c8694f89-bba4-4576-b0a8-456619ca5a8c" providerId="ADAL" clId="{FDDBFC5A-5EA9-5330-BEB8-433D7E3B4C4E}" dt="2026-09-28T06:08:50.561" v="402" actId="113"/>
        <pc:sldMkLst>
          <pc:docMk/>
          <pc:sldMk cId="0" sldId="270"/>
        </pc:sldMkLst>
        <pc:spChg chg="mod">
          <ac:chgData name="Riccardo Berta" userId="c8694f89-bba4-4576-b0a8-456619ca5a8c" providerId="ADAL" clId="{FDDBFC5A-5EA9-5330-BEB8-433D7E3B4C4E}" dt="2026-09-28T06:08:50.561" v="402" actId="113"/>
          <ac:spMkLst>
            <pc:docMk/>
            <pc:sldMk cId="0" sldId="270"/>
            <ac:spMk id="8" creationId="{00000000-0000-0000-0000-000000000000}"/>
          </ac:spMkLst>
        </pc:spChg>
      </pc:sldChg>
      <pc:sldChg chg="modSp mod">
        <pc:chgData name="Riccardo Berta" userId="c8694f89-bba4-4576-b0a8-456619ca5a8c" providerId="ADAL" clId="{FDDBFC5A-5EA9-5330-BEB8-433D7E3B4C4E}" dt="2026-09-28T06:11:37.317" v="405" actId="113"/>
        <pc:sldMkLst>
          <pc:docMk/>
          <pc:sldMk cId="0" sldId="271"/>
        </pc:sldMkLst>
        <pc:spChg chg="mod">
          <ac:chgData name="Riccardo Berta" userId="c8694f89-bba4-4576-b0a8-456619ca5a8c" providerId="ADAL" clId="{FDDBFC5A-5EA9-5330-BEB8-433D7E3B4C4E}" dt="2026-09-28T06:11:04.074" v="403" actId="113"/>
          <ac:spMkLst>
            <pc:docMk/>
            <pc:sldMk cId="0" sldId="271"/>
            <ac:spMk id="15" creationId="{00000000-0000-0000-0000-000000000000}"/>
          </ac:spMkLst>
        </pc:spChg>
        <pc:spChg chg="mod">
          <ac:chgData name="Riccardo Berta" userId="c8694f89-bba4-4576-b0a8-456619ca5a8c" providerId="ADAL" clId="{FDDBFC5A-5EA9-5330-BEB8-433D7E3B4C4E}" dt="2026-09-28T06:11:25.972" v="404" actId="113"/>
          <ac:spMkLst>
            <pc:docMk/>
            <pc:sldMk cId="0" sldId="271"/>
            <ac:spMk id="17" creationId="{00000000-0000-0000-0000-000000000000}"/>
          </ac:spMkLst>
        </pc:spChg>
        <pc:spChg chg="mod">
          <ac:chgData name="Riccardo Berta" userId="c8694f89-bba4-4576-b0a8-456619ca5a8c" providerId="ADAL" clId="{FDDBFC5A-5EA9-5330-BEB8-433D7E3B4C4E}" dt="2026-09-28T06:11:37.317" v="405" actId="113"/>
          <ac:spMkLst>
            <pc:docMk/>
            <pc:sldMk cId="0" sldId="271"/>
            <ac:spMk id="19" creationId="{00000000-0000-0000-0000-000000000000}"/>
          </ac:spMkLst>
        </pc:spChg>
        <pc:picChg chg="mod">
          <ac:chgData name="Riccardo Berta" userId="c8694f89-bba4-4576-b0a8-456619ca5a8c" providerId="ADAL" clId="{FDDBFC5A-5EA9-5330-BEB8-433D7E3B4C4E}" dt="2026-09-15T05:51:59.543" v="75" actId="1076"/>
          <ac:picMkLst>
            <pc:docMk/>
            <pc:sldMk cId="0" sldId="271"/>
            <ac:picMk id="12" creationId="{00000000-0000-0000-0000-000000000000}"/>
          </ac:picMkLst>
        </pc:picChg>
      </pc:sldChg>
      <pc:sldChg chg="addSp modSp mod">
        <pc:chgData name="Riccardo Berta" userId="c8694f89-bba4-4576-b0a8-456619ca5a8c" providerId="ADAL" clId="{FDDBFC5A-5EA9-5330-BEB8-433D7E3B4C4E}" dt="2026-09-28T06:13:05.248" v="420" actId="20577"/>
        <pc:sldMkLst>
          <pc:docMk/>
          <pc:sldMk cId="0" sldId="272"/>
        </pc:sldMkLst>
        <pc:spChg chg="mod">
          <ac:chgData name="Riccardo Berta" userId="c8694f89-bba4-4576-b0a8-456619ca5a8c" providerId="ADAL" clId="{FDDBFC5A-5EA9-5330-BEB8-433D7E3B4C4E}" dt="2026-09-15T05:52:30.379" v="84" actId="1076"/>
          <ac:spMkLst>
            <pc:docMk/>
            <pc:sldMk cId="0" sldId="272"/>
            <ac:spMk id="2" creationId="{00000000-0000-0000-0000-000000000000}"/>
          </ac:spMkLst>
        </pc:spChg>
        <pc:spChg chg="mod">
          <ac:chgData name="Riccardo Berta" userId="c8694f89-bba4-4576-b0a8-456619ca5a8c" providerId="ADAL" clId="{FDDBFC5A-5EA9-5330-BEB8-433D7E3B4C4E}" dt="2026-09-28T06:11:54.078" v="406" actId="113"/>
          <ac:spMkLst>
            <pc:docMk/>
            <pc:sldMk cId="0" sldId="272"/>
            <ac:spMk id="8" creationId="{00000000-0000-0000-0000-000000000000}"/>
          </ac:spMkLst>
        </pc:spChg>
        <pc:spChg chg="mod">
          <ac:chgData name="Riccardo Berta" userId="c8694f89-bba4-4576-b0a8-456619ca5a8c" providerId="ADAL" clId="{FDDBFC5A-5EA9-5330-BEB8-433D7E3B4C4E}" dt="2026-09-15T05:52:48.008" v="103" actId="1076"/>
          <ac:spMkLst>
            <pc:docMk/>
            <pc:sldMk cId="0" sldId="272"/>
            <ac:spMk id="11" creationId="{00000000-0000-0000-0000-000000000000}"/>
          </ac:spMkLst>
        </pc:spChg>
        <pc:spChg chg="mod">
          <ac:chgData name="Riccardo Berta" userId="c8694f89-bba4-4576-b0a8-456619ca5a8c" providerId="ADAL" clId="{FDDBFC5A-5EA9-5330-BEB8-433D7E3B4C4E}" dt="2026-09-28T06:12:27.889" v="418" actId="20577"/>
          <ac:spMkLst>
            <pc:docMk/>
            <pc:sldMk cId="0" sldId="272"/>
            <ac:spMk id="12" creationId="{00000000-0000-0000-0000-000000000000}"/>
          </ac:spMkLst>
        </pc:spChg>
        <pc:spChg chg="mod">
          <ac:chgData name="Riccardo Berta" userId="c8694f89-bba4-4576-b0a8-456619ca5a8c" providerId="ADAL" clId="{FDDBFC5A-5EA9-5330-BEB8-433D7E3B4C4E}" dt="2026-09-15T05:52:37.749" v="99" actId="1038"/>
          <ac:spMkLst>
            <pc:docMk/>
            <pc:sldMk cId="0" sldId="272"/>
            <ac:spMk id="13" creationId="{00000000-0000-0000-0000-000000000000}"/>
          </ac:spMkLst>
        </pc:spChg>
        <pc:spChg chg="mod">
          <ac:chgData name="Riccardo Berta" userId="c8694f89-bba4-4576-b0a8-456619ca5a8c" providerId="ADAL" clId="{FDDBFC5A-5EA9-5330-BEB8-433D7E3B4C4E}" dt="2026-09-15T05:52:37.749" v="99" actId="1038"/>
          <ac:spMkLst>
            <pc:docMk/>
            <pc:sldMk cId="0" sldId="272"/>
            <ac:spMk id="14" creationId="{00000000-0000-0000-0000-000000000000}"/>
          </ac:spMkLst>
        </pc:spChg>
        <pc:spChg chg="mod">
          <ac:chgData name="Riccardo Berta" userId="c8694f89-bba4-4576-b0a8-456619ca5a8c" providerId="ADAL" clId="{FDDBFC5A-5EA9-5330-BEB8-433D7E3B4C4E}" dt="2026-09-15T05:52:37.749" v="99" actId="1038"/>
          <ac:spMkLst>
            <pc:docMk/>
            <pc:sldMk cId="0" sldId="272"/>
            <ac:spMk id="15" creationId="{00000000-0000-0000-0000-000000000000}"/>
          </ac:spMkLst>
        </pc:spChg>
        <pc:spChg chg="mod">
          <ac:chgData name="Riccardo Berta" userId="c8694f89-bba4-4576-b0a8-456619ca5a8c" providerId="ADAL" clId="{FDDBFC5A-5EA9-5330-BEB8-433D7E3B4C4E}" dt="2026-09-15T05:52:37.749" v="99" actId="1038"/>
          <ac:spMkLst>
            <pc:docMk/>
            <pc:sldMk cId="0" sldId="272"/>
            <ac:spMk id="16" creationId="{00000000-0000-0000-0000-000000000000}"/>
          </ac:spMkLst>
        </pc:spChg>
        <pc:spChg chg="mod">
          <ac:chgData name="Riccardo Berta" userId="c8694f89-bba4-4576-b0a8-456619ca5a8c" providerId="ADAL" clId="{FDDBFC5A-5EA9-5330-BEB8-433D7E3B4C4E}" dt="2026-09-28T06:13:05.248" v="420" actId="20577"/>
          <ac:spMkLst>
            <pc:docMk/>
            <pc:sldMk cId="0" sldId="272"/>
            <ac:spMk id="17" creationId="{00000000-0000-0000-0000-000000000000}"/>
          </ac:spMkLst>
        </pc:spChg>
        <pc:spChg chg="add mod">
          <ac:chgData name="Riccardo Berta" userId="c8694f89-bba4-4576-b0a8-456619ca5a8c" providerId="ADAL" clId="{FDDBFC5A-5EA9-5330-BEB8-433D7E3B4C4E}" dt="2026-09-15T05:52:23.748" v="80" actId="27636"/>
          <ac:spMkLst>
            <pc:docMk/>
            <pc:sldMk cId="0" sldId="272"/>
            <ac:spMk id="18" creationId="{922F2D7C-9C6E-2C39-514E-BEEF0AC17472}"/>
          </ac:spMkLst>
        </pc:spChg>
        <pc:spChg chg="add mod">
          <ac:chgData name="Riccardo Berta" userId="c8694f89-bba4-4576-b0a8-456619ca5a8c" providerId="ADAL" clId="{FDDBFC5A-5EA9-5330-BEB8-433D7E3B4C4E}" dt="2026-09-15T05:52:25.616" v="82" actId="27636"/>
          <ac:spMkLst>
            <pc:docMk/>
            <pc:sldMk cId="0" sldId="272"/>
            <ac:spMk id="19" creationId="{56A34E63-33BF-ED45-06B8-C0A33A781958}"/>
          </ac:spMkLst>
        </pc:spChg>
        <pc:picChg chg="mod">
          <ac:chgData name="Riccardo Berta" userId="c8694f89-bba4-4576-b0a8-456619ca5a8c" providerId="ADAL" clId="{FDDBFC5A-5EA9-5330-BEB8-433D7E3B4C4E}" dt="2026-09-15T05:52:44.621" v="102" actId="1076"/>
          <ac:picMkLst>
            <pc:docMk/>
            <pc:sldMk cId="0" sldId="272"/>
            <ac:picMk id="10" creationId="{00000000-0000-0000-0000-000000000000}"/>
          </ac:picMkLst>
        </pc:picChg>
      </pc:sldChg>
      <pc:sldChg chg="modSp mod">
        <pc:chgData name="Riccardo Berta" userId="c8694f89-bba4-4576-b0a8-456619ca5a8c" providerId="ADAL" clId="{FDDBFC5A-5EA9-5330-BEB8-433D7E3B4C4E}" dt="2026-09-28T06:15:03.140" v="426" actId="113"/>
        <pc:sldMkLst>
          <pc:docMk/>
          <pc:sldMk cId="0" sldId="273"/>
        </pc:sldMkLst>
        <pc:spChg chg="mod">
          <ac:chgData name="Riccardo Berta" userId="c8694f89-bba4-4576-b0a8-456619ca5a8c" providerId="ADAL" clId="{FDDBFC5A-5EA9-5330-BEB8-433D7E3B4C4E}" dt="2026-09-28T06:15:03.140" v="426" actId="113"/>
          <ac:spMkLst>
            <pc:docMk/>
            <pc:sldMk cId="0" sldId="273"/>
            <ac:spMk id="13" creationId="{00000000-0000-0000-0000-000000000000}"/>
          </ac:spMkLst>
        </pc:spChg>
      </pc:sldChg>
      <pc:sldChg chg="modSp mod">
        <pc:chgData name="Riccardo Berta" userId="c8694f89-bba4-4576-b0a8-456619ca5a8c" providerId="ADAL" clId="{FDDBFC5A-5EA9-5330-BEB8-433D7E3B4C4E}" dt="2026-09-28T09:38:29.533" v="442" actId="313"/>
        <pc:sldMkLst>
          <pc:docMk/>
          <pc:sldMk cId="0" sldId="274"/>
        </pc:sldMkLst>
        <pc:spChg chg="mod">
          <ac:chgData name="Riccardo Berta" userId="c8694f89-bba4-4576-b0a8-456619ca5a8c" providerId="ADAL" clId="{FDDBFC5A-5EA9-5330-BEB8-433D7E3B4C4E}" dt="2026-09-28T06:16:12.160" v="432" actId="113"/>
          <ac:spMkLst>
            <pc:docMk/>
            <pc:sldMk cId="0" sldId="274"/>
            <ac:spMk id="12" creationId="{00000000-0000-0000-0000-000000000000}"/>
          </ac:spMkLst>
        </pc:spChg>
        <pc:spChg chg="mod">
          <ac:chgData name="Riccardo Berta" userId="c8694f89-bba4-4576-b0a8-456619ca5a8c" providerId="ADAL" clId="{FDDBFC5A-5EA9-5330-BEB8-433D7E3B4C4E}" dt="2026-09-28T09:38:29.533" v="442" actId="313"/>
          <ac:spMkLst>
            <pc:docMk/>
            <pc:sldMk cId="0" sldId="274"/>
            <ac:spMk id="22" creationId="{00000000-0000-0000-0000-000000000000}"/>
          </ac:spMkLst>
        </pc:spChg>
      </pc:sldChg>
      <pc:sldChg chg="addSp modSp mod">
        <pc:chgData name="Riccardo Berta" userId="c8694f89-bba4-4576-b0a8-456619ca5a8c" providerId="ADAL" clId="{FDDBFC5A-5EA9-5330-BEB8-433D7E3B4C4E}" dt="2026-09-28T09:52:12.627" v="447" actId="20577"/>
        <pc:sldMkLst>
          <pc:docMk/>
          <pc:sldMk cId="0" sldId="275"/>
        </pc:sldMkLst>
        <pc:spChg chg="mod">
          <ac:chgData name="Riccardo Berta" userId="c8694f89-bba4-4576-b0a8-456619ca5a8c" providerId="ADAL" clId="{FDDBFC5A-5EA9-5330-BEB8-433D7E3B4C4E}" dt="2026-09-15T05:53:21.974" v="123" actId="1076"/>
          <ac:spMkLst>
            <pc:docMk/>
            <pc:sldMk cId="0" sldId="275"/>
            <ac:spMk id="10" creationId="{00000000-0000-0000-0000-000000000000}"/>
          </ac:spMkLst>
        </pc:spChg>
        <pc:spChg chg="mod">
          <ac:chgData name="Riccardo Berta" userId="c8694f89-bba4-4576-b0a8-456619ca5a8c" providerId="ADAL" clId="{FDDBFC5A-5EA9-5330-BEB8-433D7E3B4C4E}" dt="2026-09-15T05:53:18.978" v="122" actId="1076"/>
          <ac:spMkLst>
            <pc:docMk/>
            <pc:sldMk cId="0" sldId="275"/>
            <ac:spMk id="11" creationId="{00000000-0000-0000-0000-000000000000}"/>
          </ac:spMkLst>
        </pc:spChg>
        <pc:spChg chg="mod">
          <ac:chgData name="Riccardo Berta" userId="c8694f89-bba4-4576-b0a8-456619ca5a8c" providerId="ADAL" clId="{FDDBFC5A-5EA9-5330-BEB8-433D7E3B4C4E}" dt="2026-09-15T05:53:18.978" v="122" actId="1076"/>
          <ac:spMkLst>
            <pc:docMk/>
            <pc:sldMk cId="0" sldId="275"/>
            <ac:spMk id="12" creationId="{00000000-0000-0000-0000-000000000000}"/>
          </ac:spMkLst>
        </pc:spChg>
        <pc:spChg chg="mod">
          <ac:chgData name="Riccardo Berta" userId="c8694f89-bba4-4576-b0a8-456619ca5a8c" providerId="ADAL" clId="{FDDBFC5A-5EA9-5330-BEB8-433D7E3B4C4E}" dt="2026-09-15T05:53:18.978" v="122" actId="1076"/>
          <ac:spMkLst>
            <pc:docMk/>
            <pc:sldMk cId="0" sldId="275"/>
            <ac:spMk id="13" creationId="{00000000-0000-0000-0000-000000000000}"/>
          </ac:spMkLst>
        </pc:spChg>
        <pc:spChg chg="mod">
          <ac:chgData name="Riccardo Berta" userId="c8694f89-bba4-4576-b0a8-456619ca5a8c" providerId="ADAL" clId="{FDDBFC5A-5EA9-5330-BEB8-433D7E3B4C4E}" dt="2026-09-15T05:53:18.978" v="122" actId="1076"/>
          <ac:spMkLst>
            <pc:docMk/>
            <pc:sldMk cId="0" sldId="275"/>
            <ac:spMk id="14" creationId="{00000000-0000-0000-0000-000000000000}"/>
          </ac:spMkLst>
        </pc:spChg>
        <pc:spChg chg="mod">
          <ac:chgData name="Riccardo Berta" userId="c8694f89-bba4-4576-b0a8-456619ca5a8c" providerId="ADAL" clId="{FDDBFC5A-5EA9-5330-BEB8-433D7E3B4C4E}" dt="2026-09-15T05:53:18.978" v="122" actId="1076"/>
          <ac:spMkLst>
            <pc:docMk/>
            <pc:sldMk cId="0" sldId="275"/>
            <ac:spMk id="15" creationId="{00000000-0000-0000-0000-000000000000}"/>
          </ac:spMkLst>
        </pc:spChg>
        <pc:spChg chg="mod">
          <ac:chgData name="Riccardo Berta" userId="c8694f89-bba4-4576-b0a8-456619ca5a8c" providerId="ADAL" clId="{FDDBFC5A-5EA9-5330-BEB8-433D7E3B4C4E}" dt="2026-09-15T05:53:04.603" v="119" actId="1038"/>
          <ac:spMkLst>
            <pc:docMk/>
            <pc:sldMk cId="0" sldId="275"/>
            <ac:spMk id="16" creationId="{00000000-0000-0000-0000-000000000000}"/>
          </ac:spMkLst>
        </pc:spChg>
        <pc:spChg chg="mod">
          <ac:chgData name="Riccardo Berta" userId="c8694f89-bba4-4576-b0a8-456619ca5a8c" providerId="ADAL" clId="{FDDBFC5A-5EA9-5330-BEB8-433D7E3B4C4E}" dt="2026-09-15T05:53:04.603" v="119" actId="1038"/>
          <ac:spMkLst>
            <pc:docMk/>
            <pc:sldMk cId="0" sldId="275"/>
            <ac:spMk id="17" creationId="{00000000-0000-0000-0000-000000000000}"/>
          </ac:spMkLst>
        </pc:spChg>
        <pc:spChg chg="mod">
          <ac:chgData name="Riccardo Berta" userId="c8694f89-bba4-4576-b0a8-456619ca5a8c" providerId="ADAL" clId="{FDDBFC5A-5EA9-5330-BEB8-433D7E3B4C4E}" dt="2026-09-15T05:53:04.603" v="119" actId="1038"/>
          <ac:spMkLst>
            <pc:docMk/>
            <pc:sldMk cId="0" sldId="275"/>
            <ac:spMk id="18" creationId="{00000000-0000-0000-0000-000000000000}"/>
          </ac:spMkLst>
        </pc:spChg>
        <pc:spChg chg="mod">
          <ac:chgData name="Riccardo Berta" userId="c8694f89-bba4-4576-b0a8-456619ca5a8c" providerId="ADAL" clId="{FDDBFC5A-5EA9-5330-BEB8-433D7E3B4C4E}" dt="2026-09-15T05:53:04.603" v="119" actId="1038"/>
          <ac:spMkLst>
            <pc:docMk/>
            <pc:sldMk cId="0" sldId="275"/>
            <ac:spMk id="19" creationId="{00000000-0000-0000-0000-000000000000}"/>
          </ac:spMkLst>
        </pc:spChg>
        <pc:spChg chg="mod">
          <ac:chgData name="Riccardo Berta" userId="c8694f89-bba4-4576-b0a8-456619ca5a8c" providerId="ADAL" clId="{FDDBFC5A-5EA9-5330-BEB8-433D7E3B4C4E}" dt="2026-09-15T05:53:04.603" v="119" actId="1038"/>
          <ac:spMkLst>
            <pc:docMk/>
            <pc:sldMk cId="0" sldId="275"/>
            <ac:spMk id="20" creationId="{00000000-0000-0000-0000-000000000000}"/>
          </ac:spMkLst>
        </pc:spChg>
        <pc:spChg chg="mod">
          <ac:chgData name="Riccardo Berta" userId="c8694f89-bba4-4576-b0a8-456619ca5a8c" providerId="ADAL" clId="{FDDBFC5A-5EA9-5330-BEB8-433D7E3B4C4E}" dt="2026-09-28T09:51:51.998" v="444" actId="20577"/>
          <ac:spMkLst>
            <pc:docMk/>
            <pc:sldMk cId="0" sldId="275"/>
            <ac:spMk id="21" creationId="{00000000-0000-0000-0000-000000000000}"/>
          </ac:spMkLst>
        </pc:spChg>
        <pc:spChg chg="mod">
          <ac:chgData name="Riccardo Berta" userId="c8694f89-bba4-4576-b0a8-456619ca5a8c" providerId="ADAL" clId="{FDDBFC5A-5EA9-5330-BEB8-433D7E3B4C4E}" dt="2026-09-15T05:53:04.603" v="119" actId="1038"/>
          <ac:spMkLst>
            <pc:docMk/>
            <pc:sldMk cId="0" sldId="275"/>
            <ac:spMk id="22" creationId="{00000000-0000-0000-0000-000000000000}"/>
          </ac:spMkLst>
        </pc:spChg>
        <pc:spChg chg="mod">
          <ac:chgData name="Riccardo Berta" userId="c8694f89-bba4-4576-b0a8-456619ca5a8c" providerId="ADAL" clId="{FDDBFC5A-5EA9-5330-BEB8-433D7E3B4C4E}" dt="2026-09-28T09:51:59.872" v="445" actId="1076"/>
          <ac:spMkLst>
            <pc:docMk/>
            <pc:sldMk cId="0" sldId="275"/>
            <ac:spMk id="23" creationId="{00000000-0000-0000-0000-000000000000}"/>
          </ac:spMkLst>
        </pc:spChg>
        <pc:spChg chg="mod">
          <ac:chgData name="Riccardo Berta" userId="c8694f89-bba4-4576-b0a8-456619ca5a8c" providerId="ADAL" clId="{FDDBFC5A-5EA9-5330-BEB8-433D7E3B4C4E}" dt="2026-09-28T09:52:12.627" v="447" actId="20577"/>
          <ac:spMkLst>
            <pc:docMk/>
            <pc:sldMk cId="0" sldId="275"/>
            <ac:spMk id="24" creationId="{00000000-0000-0000-0000-000000000000}"/>
          </ac:spMkLst>
        </pc:spChg>
        <pc:spChg chg="add mod">
          <ac:chgData name="Riccardo Berta" userId="c8694f89-bba4-4576-b0a8-456619ca5a8c" providerId="ADAL" clId="{FDDBFC5A-5EA9-5330-BEB8-433D7E3B4C4E}" dt="2026-09-15T05:53:18.978" v="122" actId="1076"/>
          <ac:spMkLst>
            <pc:docMk/>
            <pc:sldMk cId="0" sldId="275"/>
            <ac:spMk id="25" creationId="{8349ABEF-D75B-3548-3D0E-2039DB7EF88E}"/>
          </ac:spMkLst>
        </pc:spChg>
        <pc:picChg chg="mod">
          <ac:chgData name="Riccardo Berta" userId="c8694f89-bba4-4576-b0a8-456619ca5a8c" providerId="ADAL" clId="{FDDBFC5A-5EA9-5330-BEB8-433D7E3B4C4E}" dt="2026-09-15T05:53:28.499" v="125" actId="1076"/>
          <ac:picMkLst>
            <pc:docMk/>
            <pc:sldMk cId="0" sldId="275"/>
            <ac:picMk id="9" creationId="{00000000-0000-0000-0000-000000000000}"/>
          </ac:picMkLst>
        </pc:picChg>
      </pc:sldChg>
      <pc:sldChg chg="modSp mod">
        <pc:chgData name="Riccardo Berta" userId="c8694f89-bba4-4576-b0a8-456619ca5a8c" providerId="ADAL" clId="{FDDBFC5A-5EA9-5330-BEB8-433D7E3B4C4E}" dt="2026-09-28T09:54:41.463" v="468" actId="1036"/>
        <pc:sldMkLst>
          <pc:docMk/>
          <pc:sldMk cId="0" sldId="276"/>
        </pc:sldMkLst>
        <pc:spChg chg="mod">
          <ac:chgData name="Riccardo Berta" userId="c8694f89-bba4-4576-b0a8-456619ca5a8c" providerId="ADAL" clId="{FDDBFC5A-5EA9-5330-BEB8-433D7E3B4C4E}" dt="2026-09-28T09:52:25.817" v="448" actId="113"/>
          <ac:spMkLst>
            <pc:docMk/>
            <pc:sldMk cId="0" sldId="276"/>
            <ac:spMk id="8" creationId="{00000000-0000-0000-0000-000000000000}"/>
          </ac:spMkLst>
        </pc:spChg>
        <pc:spChg chg="mod">
          <ac:chgData name="Riccardo Berta" userId="c8694f89-bba4-4576-b0a8-456619ca5a8c" providerId="ADAL" clId="{FDDBFC5A-5EA9-5330-BEB8-433D7E3B4C4E}" dt="2026-09-28T09:54:12.883" v="458" actId="20577"/>
          <ac:spMkLst>
            <pc:docMk/>
            <pc:sldMk cId="0" sldId="276"/>
            <ac:spMk id="14" creationId="{00000000-0000-0000-0000-000000000000}"/>
          </ac:spMkLst>
        </pc:spChg>
        <pc:spChg chg="mod">
          <ac:chgData name="Riccardo Berta" userId="c8694f89-bba4-4576-b0a8-456619ca5a8c" providerId="ADAL" clId="{FDDBFC5A-5EA9-5330-BEB8-433D7E3B4C4E}" dt="2026-09-28T09:53:37.230" v="457" actId="20577"/>
          <ac:spMkLst>
            <pc:docMk/>
            <pc:sldMk cId="0" sldId="276"/>
            <ac:spMk id="19" creationId="{00000000-0000-0000-0000-000000000000}"/>
          </ac:spMkLst>
        </pc:spChg>
        <pc:spChg chg="mod">
          <ac:chgData name="Riccardo Berta" userId="c8694f89-bba4-4576-b0a8-456619ca5a8c" providerId="ADAL" clId="{FDDBFC5A-5EA9-5330-BEB8-433D7E3B4C4E}" dt="2026-09-28T09:54:41.463" v="468" actId="1036"/>
          <ac:spMkLst>
            <pc:docMk/>
            <pc:sldMk cId="0" sldId="276"/>
            <ac:spMk id="20" creationId="{00000000-0000-0000-0000-000000000000}"/>
          </ac:spMkLst>
        </pc:spChg>
        <pc:spChg chg="mod">
          <ac:chgData name="Riccardo Berta" userId="c8694f89-bba4-4576-b0a8-456619ca5a8c" providerId="ADAL" clId="{FDDBFC5A-5EA9-5330-BEB8-433D7E3B4C4E}" dt="2026-09-28T09:54:41.463" v="468" actId="1036"/>
          <ac:spMkLst>
            <pc:docMk/>
            <pc:sldMk cId="0" sldId="276"/>
            <ac:spMk id="21" creationId="{00000000-0000-0000-0000-000000000000}"/>
          </ac:spMkLst>
        </pc:spChg>
      </pc:sldChg>
      <pc:sldChg chg="modSp mod">
        <pc:chgData name="Riccardo Berta" userId="c8694f89-bba4-4576-b0a8-456619ca5a8c" providerId="ADAL" clId="{FDDBFC5A-5EA9-5330-BEB8-433D7E3B4C4E}" dt="2026-09-28T09:56:59.764" v="487" actId="313"/>
        <pc:sldMkLst>
          <pc:docMk/>
          <pc:sldMk cId="0" sldId="277"/>
        </pc:sldMkLst>
        <pc:spChg chg="mod">
          <ac:chgData name="Riccardo Berta" userId="c8694f89-bba4-4576-b0a8-456619ca5a8c" providerId="ADAL" clId="{FDDBFC5A-5EA9-5330-BEB8-433D7E3B4C4E}" dt="2026-09-28T09:55:35.192" v="478" actId="20577"/>
          <ac:spMkLst>
            <pc:docMk/>
            <pc:sldMk cId="0" sldId="277"/>
            <ac:spMk id="8" creationId="{00000000-0000-0000-0000-000000000000}"/>
          </ac:spMkLst>
        </pc:spChg>
        <pc:spChg chg="mod">
          <ac:chgData name="Riccardo Berta" userId="c8694f89-bba4-4576-b0a8-456619ca5a8c" providerId="ADAL" clId="{FDDBFC5A-5EA9-5330-BEB8-433D7E3B4C4E}" dt="2026-09-28T09:56:47.699" v="486" actId="20577"/>
          <ac:spMkLst>
            <pc:docMk/>
            <pc:sldMk cId="0" sldId="277"/>
            <ac:spMk id="16" creationId="{00000000-0000-0000-0000-000000000000}"/>
          </ac:spMkLst>
        </pc:spChg>
        <pc:spChg chg="mod">
          <ac:chgData name="Riccardo Berta" userId="c8694f89-bba4-4576-b0a8-456619ca5a8c" providerId="ADAL" clId="{FDDBFC5A-5EA9-5330-BEB8-433D7E3B4C4E}" dt="2026-09-28T09:56:59.764" v="487" actId="313"/>
          <ac:spMkLst>
            <pc:docMk/>
            <pc:sldMk cId="0" sldId="277"/>
            <ac:spMk id="18" creationId="{00000000-0000-0000-0000-000000000000}"/>
          </ac:spMkLst>
        </pc:spChg>
      </pc:sldChg>
      <pc:sldChg chg="modSp mod">
        <pc:chgData name="Riccardo Berta" userId="c8694f89-bba4-4576-b0a8-456619ca5a8c" providerId="ADAL" clId="{FDDBFC5A-5EA9-5330-BEB8-433D7E3B4C4E}" dt="2026-09-28T09:59:42.284" v="506" actId="20577"/>
        <pc:sldMkLst>
          <pc:docMk/>
          <pc:sldMk cId="0" sldId="278"/>
        </pc:sldMkLst>
        <pc:spChg chg="mod">
          <ac:chgData name="Riccardo Berta" userId="c8694f89-bba4-4576-b0a8-456619ca5a8c" providerId="ADAL" clId="{FDDBFC5A-5EA9-5330-BEB8-433D7E3B4C4E}" dt="2026-09-28T09:58:06.991" v="489" actId="113"/>
          <ac:spMkLst>
            <pc:docMk/>
            <pc:sldMk cId="0" sldId="278"/>
            <ac:spMk id="8" creationId="{00000000-0000-0000-0000-000000000000}"/>
          </ac:spMkLst>
        </pc:spChg>
        <pc:spChg chg="mod">
          <ac:chgData name="Riccardo Berta" userId="c8694f89-bba4-4576-b0a8-456619ca5a8c" providerId="ADAL" clId="{FDDBFC5A-5EA9-5330-BEB8-433D7E3B4C4E}" dt="2026-09-28T09:58:48.853" v="501" actId="20577"/>
          <ac:spMkLst>
            <pc:docMk/>
            <pc:sldMk cId="0" sldId="278"/>
            <ac:spMk id="11" creationId="{00000000-0000-0000-0000-000000000000}"/>
          </ac:spMkLst>
        </pc:spChg>
        <pc:spChg chg="mod">
          <ac:chgData name="Riccardo Berta" userId="c8694f89-bba4-4576-b0a8-456619ca5a8c" providerId="ADAL" clId="{FDDBFC5A-5EA9-5330-BEB8-433D7E3B4C4E}" dt="2026-09-28T09:59:23.670" v="502" actId="113"/>
          <ac:spMkLst>
            <pc:docMk/>
            <pc:sldMk cId="0" sldId="278"/>
            <ac:spMk id="14" creationId="{00000000-0000-0000-0000-000000000000}"/>
          </ac:spMkLst>
        </pc:spChg>
        <pc:spChg chg="mod">
          <ac:chgData name="Riccardo Berta" userId="c8694f89-bba4-4576-b0a8-456619ca5a8c" providerId="ADAL" clId="{FDDBFC5A-5EA9-5330-BEB8-433D7E3B4C4E}" dt="2026-09-28T09:59:42.284" v="506" actId="20577"/>
          <ac:spMkLst>
            <pc:docMk/>
            <pc:sldMk cId="0" sldId="278"/>
            <ac:spMk id="17" creationId="{00000000-0000-0000-0000-000000000000}"/>
          </ac:spMkLst>
        </pc:spChg>
      </pc:sldChg>
      <pc:sldChg chg="modSp mod">
        <pc:chgData name="Riccardo Berta" userId="c8694f89-bba4-4576-b0a8-456619ca5a8c" providerId="ADAL" clId="{FDDBFC5A-5EA9-5330-BEB8-433D7E3B4C4E}" dt="2026-09-28T10:00:13.940" v="512" actId="313"/>
        <pc:sldMkLst>
          <pc:docMk/>
          <pc:sldMk cId="0" sldId="279"/>
        </pc:sldMkLst>
        <pc:spChg chg="mod">
          <ac:chgData name="Riccardo Berta" userId="c8694f89-bba4-4576-b0a8-456619ca5a8c" providerId="ADAL" clId="{FDDBFC5A-5EA9-5330-BEB8-433D7E3B4C4E}" dt="2026-09-28T10:00:13.940" v="512" actId="313"/>
          <ac:spMkLst>
            <pc:docMk/>
            <pc:sldMk cId="0" sldId="279"/>
            <ac:spMk id="6" creationId="{00000000-0000-0000-0000-000000000000}"/>
          </ac:spMkLst>
        </pc:spChg>
      </pc:sldChg>
      <pc:sldChg chg="modSp mod">
        <pc:chgData name="Riccardo Berta" userId="c8694f89-bba4-4576-b0a8-456619ca5a8c" providerId="ADAL" clId="{FDDBFC5A-5EA9-5330-BEB8-433D7E3B4C4E}" dt="2026-09-28T10:01:57.429" v="527" actId="313"/>
        <pc:sldMkLst>
          <pc:docMk/>
          <pc:sldMk cId="0" sldId="280"/>
        </pc:sldMkLst>
        <pc:spChg chg="mod">
          <ac:chgData name="Riccardo Berta" userId="c8694f89-bba4-4576-b0a8-456619ca5a8c" providerId="ADAL" clId="{FDDBFC5A-5EA9-5330-BEB8-433D7E3B4C4E}" dt="2026-09-28T10:01:07.319" v="518" actId="20577"/>
          <ac:spMkLst>
            <pc:docMk/>
            <pc:sldMk cId="0" sldId="280"/>
            <ac:spMk id="8" creationId="{00000000-0000-0000-0000-000000000000}"/>
          </ac:spMkLst>
        </pc:spChg>
        <pc:spChg chg="mod">
          <ac:chgData name="Riccardo Berta" userId="c8694f89-bba4-4576-b0a8-456619ca5a8c" providerId="ADAL" clId="{FDDBFC5A-5EA9-5330-BEB8-433D7E3B4C4E}" dt="2026-09-28T10:01:36.891" v="525" actId="113"/>
          <ac:spMkLst>
            <pc:docMk/>
            <pc:sldMk cId="0" sldId="280"/>
            <ac:spMk id="13" creationId="{00000000-0000-0000-0000-000000000000}"/>
          </ac:spMkLst>
        </pc:spChg>
        <pc:spChg chg="mod">
          <ac:chgData name="Riccardo Berta" userId="c8694f89-bba4-4576-b0a8-456619ca5a8c" providerId="ADAL" clId="{FDDBFC5A-5EA9-5330-BEB8-433D7E3B4C4E}" dt="2026-09-28T10:01:57.429" v="527" actId="313"/>
          <ac:spMkLst>
            <pc:docMk/>
            <pc:sldMk cId="0" sldId="280"/>
            <ac:spMk id="14" creationId="{00000000-0000-0000-0000-000000000000}"/>
          </ac:spMkLst>
        </pc:spChg>
        <pc:picChg chg="mod">
          <ac:chgData name="Riccardo Berta" userId="c8694f89-bba4-4576-b0a8-456619ca5a8c" providerId="ADAL" clId="{FDDBFC5A-5EA9-5330-BEB8-433D7E3B4C4E}" dt="2026-09-15T05:53:42.652" v="128" actId="1076"/>
          <ac:picMkLst>
            <pc:docMk/>
            <pc:sldMk cId="0" sldId="280"/>
            <ac:picMk id="9" creationId="{00000000-0000-0000-0000-000000000000}"/>
          </ac:picMkLst>
        </pc:picChg>
      </pc:sldChg>
      <pc:sldChg chg="modSp mod">
        <pc:chgData name="Riccardo Berta" userId="c8694f89-bba4-4576-b0a8-456619ca5a8c" providerId="ADAL" clId="{FDDBFC5A-5EA9-5330-BEB8-433D7E3B4C4E}" dt="2026-09-28T10:04:23.321" v="545" actId="20577"/>
        <pc:sldMkLst>
          <pc:docMk/>
          <pc:sldMk cId="0" sldId="281"/>
        </pc:sldMkLst>
        <pc:spChg chg="mod">
          <ac:chgData name="Riccardo Berta" userId="c8694f89-bba4-4576-b0a8-456619ca5a8c" providerId="ADAL" clId="{FDDBFC5A-5EA9-5330-BEB8-433D7E3B4C4E}" dt="2026-09-28T10:02:23.671" v="529" actId="113"/>
          <ac:spMkLst>
            <pc:docMk/>
            <pc:sldMk cId="0" sldId="281"/>
            <ac:spMk id="8" creationId="{00000000-0000-0000-0000-000000000000}"/>
          </ac:spMkLst>
        </pc:spChg>
        <pc:spChg chg="mod">
          <ac:chgData name="Riccardo Berta" userId="c8694f89-bba4-4576-b0a8-456619ca5a8c" providerId="ADAL" clId="{FDDBFC5A-5EA9-5330-BEB8-433D7E3B4C4E}" dt="2026-09-28T10:02:58.067" v="537" actId="1076"/>
          <ac:spMkLst>
            <pc:docMk/>
            <pc:sldMk cId="0" sldId="281"/>
            <ac:spMk id="15" creationId="{00000000-0000-0000-0000-000000000000}"/>
          </ac:spMkLst>
        </pc:spChg>
        <pc:spChg chg="mod">
          <ac:chgData name="Riccardo Berta" userId="c8694f89-bba4-4576-b0a8-456619ca5a8c" providerId="ADAL" clId="{FDDBFC5A-5EA9-5330-BEB8-433D7E3B4C4E}" dt="2026-09-28T10:03:44.231" v="539" actId="113"/>
          <ac:spMkLst>
            <pc:docMk/>
            <pc:sldMk cId="0" sldId="281"/>
            <ac:spMk id="19" creationId="{00000000-0000-0000-0000-000000000000}"/>
          </ac:spMkLst>
        </pc:spChg>
        <pc:spChg chg="mod">
          <ac:chgData name="Riccardo Berta" userId="c8694f89-bba4-4576-b0a8-456619ca5a8c" providerId="ADAL" clId="{FDDBFC5A-5EA9-5330-BEB8-433D7E3B4C4E}" dt="2026-09-28T10:04:12.143" v="540" actId="113"/>
          <ac:spMkLst>
            <pc:docMk/>
            <pc:sldMk cId="0" sldId="281"/>
            <ac:spMk id="21" creationId="{00000000-0000-0000-0000-000000000000}"/>
          </ac:spMkLst>
        </pc:spChg>
        <pc:spChg chg="mod">
          <ac:chgData name="Riccardo Berta" userId="c8694f89-bba4-4576-b0a8-456619ca5a8c" providerId="ADAL" clId="{FDDBFC5A-5EA9-5330-BEB8-433D7E3B4C4E}" dt="2026-09-28T10:04:23.321" v="545" actId="20577"/>
          <ac:spMkLst>
            <pc:docMk/>
            <pc:sldMk cId="0" sldId="281"/>
            <ac:spMk id="23" creationId="{00000000-0000-0000-0000-000000000000}"/>
          </ac:spMkLst>
        </pc:spChg>
        <pc:picChg chg="mod">
          <ac:chgData name="Riccardo Berta" userId="c8694f89-bba4-4576-b0a8-456619ca5a8c" providerId="ADAL" clId="{FDDBFC5A-5EA9-5330-BEB8-433D7E3B4C4E}" dt="2026-09-28T10:03:00.865" v="538" actId="1076"/>
          <ac:picMkLst>
            <pc:docMk/>
            <pc:sldMk cId="0" sldId="281"/>
            <ac:picMk id="16" creationId="{00000000-0000-0000-0000-000000000000}"/>
          </ac:picMkLst>
        </pc:picChg>
      </pc:sldChg>
      <pc:sldChg chg="modSp mod">
        <pc:chgData name="Riccardo Berta" userId="c8694f89-bba4-4576-b0a8-456619ca5a8c" providerId="ADAL" clId="{FDDBFC5A-5EA9-5330-BEB8-433D7E3B4C4E}" dt="2026-09-28T10:06:28.022" v="548"/>
        <pc:sldMkLst>
          <pc:docMk/>
          <pc:sldMk cId="0" sldId="282"/>
        </pc:sldMkLst>
        <pc:spChg chg="mod">
          <ac:chgData name="Riccardo Berta" userId="c8694f89-bba4-4576-b0a8-456619ca5a8c" providerId="ADAL" clId="{FDDBFC5A-5EA9-5330-BEB8-433D7E3B4C4E}" dt="2026-09-28T10:05:08.027" v="546" actId="113"/>
          <ac:spMkLst>
            <pc:docMk/>
            <pc:sldMk cId="0" sldId="282"/>
            <ac:spMk id="8" creationId="{00000000-0000-0000-0000-000000000000}"/>
          </ac:spMkLst>
        </pc:spChg>
        <pc:spChg chg="mod">
          <ac:chgData name="Riccardo Berta" userId="c8694f89-bba4-4576-b0a8-456619ca5a8c" providerId="ADAL" clId="{FDDBFC5A-5EA9-5330-BEB8-433D7E3B4C4E}" dt="2026-09-28T10:06:28.022" v="548"/>
          <ac:spMkLst>
            <pc:docMk/>
            <pc:sldMk cId="0" sldId="282"/>
            <ac:spMk id="16" creationId="{00000000-0000-0000-0000-000000000000}"/>
          </ac:spMkLst>
        </pc:spChg>
      </pc:sldChg>
      <pc:sldChg chg="modSp mod">
        <pc:chgData name="Riccardo Berta" userId="c8694f89-bba4-4576-b0a8-456619ca5a8c" providerId="ADAL" clId="{FDDBFC5A-5EA9-5330-BEB8-433D7E3B4C4E}" dt="2026-09-28T10:23:56.836" v="557" actId="20577"/>
        <pc:sldMkLst>
          <pc:docMk/>
          <pc:sldMk cId="0" sldId="283"/>
        </pc:sldMkLst>
        <pc:spChg chg="mod">
          <ac:chgData name="Riccardo Berta" userId="c8694f89-bba4-4576-b0a8-456619ca5a8c" providerId="ADAL" clId="{FDDBFC5A-5EA9-5330-BEB8-433D7E3B4C4E}" dt="2026-09-28T10:23:24.839" v="549" actId="113"/>
          <ac:spMkLst>
            <pc:docMk/>
            <pc:sldMk cId="0" sldId="283"/>
            <ac:spMk id="8" creationId="{00000000-0000-0000-0000-000000000000}"/>
          </ac:spMkLst>
        </pc:spChg>
        <pc:spChg chg="mod">
          <ac:chgData name="Riccardo Berta" userId="c8694f89-bba4-4576-b0a8-456619ca5a8c" providerId="ADAL" clId="{FDDBFC5A-5EA9-5330-BEB8-433D7E3B4C4E}" dt="2026-09-28T10:23:43.624" v="551" actId="113"/>
          <ac:spMkLst>
            <pc:docMk/>
            <pc:sldMk cId="0" sldId="283"/>
            <ac:spMk id="15" creationId="{00000000-0000-0000-0000-000000000000}"/>
          </ac:spMkLst>
        </pc:spChg>
        <pc:spChg chg="mod">
          <ac:chgData name="Riccardo Berta" userId="c8694f89-bba4-4576-b0a8-456619ca5a8c" providerId="ADAL" clId="{FDDBFC5A-5EA9-5330-BEB8-433D7E3B4C4E}" dt="2026-09-28T10:23:56.836" v="557" actId="20577"/>
          <ac:spMkLst>
            <pc:docMk/>
            <pc:sldMk cId="0" sldId="283"/>
            <ac:spMk id="17" creationId="{00000000-0000-0000-0000-000000000000}"/>
          </ac:spMkLst>
        </pc:spChg>
      </pc:sldChg>
      <pc:sldChg chg="modSp mod">
        <pc:chgData name="Riccardo Berta" userId="c8694f89-bba4-4576-b0a8-456619ca5a8c" providerId="ADAL" clId="{FDDBFC5A-5EA9-5330-BEB8-433D7E3B4C4E}" dt="2026-09-28T10:25:07.410" v="560" actId="20577"/>
        <pc:sldMkLst>
          <pc:docMk/>
          <pc:sldMk cId="0" sldId="285"/>
        </pc:sldMkLst>
        <pc:spChg chg="mod">
          <ac:chgData name="Riccardo Berta" userId="c8694f89-bba4-4576-b0a8-456619ca5a8c" providerId="ADAL" clId="{FDDBFC5A-5EA9-5330-BEB8-433D7E3B4C4E}" dt="2026-09-28T10:24:33.985" v="559" actId="313"/>
          <ac:spMkLst>
            <pc:docMk/>
            <pc:sldMk cId="0" sldId="285"/>
            <ac:spMk id="8" creationId="{00000000-0000-0000-0000-000000000000}"/>
          </ac:spMkLst>
        </pc:spChg>
        <pc:spChg chg="mod">
          <ac:chgData name="Riccardo Berta" userId="c8694f89-bba4-4576-b0a8-456619ca5a8c" providerId="ADAL" clId="{FDDBFC5A-5EA9-5330-BEB8-433D7E3B4C4E}" dt="2026-09-28T10:25:07.410" v="560" actId="20577"/>
          <ac:spMkLst>
            <pc:docMk/>
            <pc:sldMk cId="0" sldId="285"/>
            <ac:spMk id="17" creationId="{00000000-0000-0000-0000-000000000000}"/>
          </ac:spMkLst>
        </pc:spChg>
        <pc:picChg chg="mod">
          <ac:chgData name="Riccardo Berta" userId="c8694f89-bba4-4576-b0a8-456619ca5a8c" providerId="ADAL" clId="{FDDBFC5A-5EA9-5330-BEB8-433D7E3B4C4E}" dt="2026-09-15T05:53:58.786" v="131" actId="1076"/>
          <ac:picMkLst>
            <pc:docMk/>
            <pc:sldMk cId="0" sldId="285"/>
            <ac:picMk id="9" creationId="{00000000-0000-0000-0000-000000000000}"/>
          </ac:picMkLst>
        </pc:picChg>
      </pc:sldChg>
      <pc:sldChg chg="modSp mod">
        <pc:chgData name="Riccardo Berta" userId="c8694f89-bba4-4576-b0a8-456619ca5a8c" providerId="ADAL" clId="{FDDBFC5A-5EA9-5330-BEB8-433D7E3B4C4E}" dt="2026-09-28T10:26:41.808" v="572" actId="20577"/>
        <pc:sldMkLst>
          <pc:docMk/>
          <pc:sldMk cId="0" sldId="286"/>
        </pc:sldMkLst>
        <pc:spChg chg="mod">
          <ac:chgData name="Riccardo Berta" userId="c8694f89-bba4-4576-b0a8-456619ca5a8c" providerId="ADAL" clId="{FDDBFC5A-5EA9-5330-BEB8-433D7E3B4C4E}" dt="2026-09-28T10:25:31.425" v="562" actId="113"/>
          <ac:spMkLst>
            <pc:docMk/>
            <pc:sldMk cId="0" sldId="286"/>
            <ac:spMk id="8" creationId="{00000000-0000-0000-0000-000000000000}"/>
          </ac:spMkLst>
        </pc:spChg>
        <pc:spChg chg="mod">
          <ac:chgData name="Riccardo Berta" userId="c8694f89-bba4-4576-b0a8-456619ca5a8c" providerId="ADAL" clId="{FDDBFC5A-5EA9-5330-BEB8-433D7E3B4C4E}" dt="2026-09-28T10:26:25.739" v="570" actId="20577"/>
          <ac:spMkLst>
            <pc:docMk/>
            <pc:sldMk cId="0" sldId="286"/>
            <ac:spMk id="23" creationId="{00000000-0000-0000-0000-000000000000}"/>
          </ac:spMkLst>
        </pc:spChg>
        <pc:spChg chg="mod">
          <ac:chgData name="Riccardo Berta" userId="c8694f89-bba4-4576-b0a8-456619ca5a8c" providerId="ADAL" clId="{FDDBFC5A-5EA9-5330-BEB8-433D7E3B4C4E}" dt="2026-09-28T10:26:41.808" v="572" actId="20577"/>
          <ac:spMkLst>
            <pc:docMk/>
            <pc:sldMk cId="0" sldId="286"/>
            <ac:spMk id="25" creationId="{00000000-0000-0000-0000-000000000000}"/>
          </ac:spMkLst>
        </pc:spChg>
      </pc:sldChg>
      <pc:sldChg chg="modSp mod">
        <pc:chgData name="Riccardo Berta" userId="c8694f89-bba4-4576-b0a8-456619ca5a8c" providerId="ADAL" clId="{FDDBFC5A-5EA9-5330-BEB8-433D7E3B4C4E}" dt="2026-09-28T10:26:56.183" v="574" actId="20577"/>
        <pc:sldMkLst>
          <pc:docMk/>
          <pc:sldMk cId="0" sldId="287"/>
        </pc:sldMkLst>
        <pc:spChg chg="mod">
          <ac:chgData name="Riccardo Berta" userId="c8694f89-bba4-4576-b0a8-456619ca5a8c" providerId="ADAL" clId="{FDDBFC5A-5EA9-5330-BEB8-433D7E3B4C4E}" dt="2026-09-28T10:26:56.183" v="574" actId="20577"/>
          <ac:spMkLst>
            <pc:docMk/>
            <pc:sldMk cId="0" sldId="287"/>
            <ac:spMk id="6" creationId="{00000000-0000-0000-0000-000000000000}"/>
          </ac:spMkLst>
        </pc:spChg>
      </pc:sldChg>
      <pc:sldChg chg="modSp mod">
        <pc:chgData name="Riccardo Berta" userId="c8694f89-bba4-4576-b0a8-456619ca5a8c" providerId="ADAL" clId="{FDDBFC5A-5EA9-5330-BEB8-433D7E3B4C4E}" dt="2026-09-28T10:27:20.713" v="577" actId="20577"/>
        <pc:sldMkLst>
          <pc:docMk/>
          <pc:sldMk cId="0" sldId="288"/>
        </pc:sldMkLst>
        <pc:spChg chg="mod">
          <ac:chgData name="Riccardo Berta" userId="c8694f89-bba4-4576-b0a8-456619ca5a8c" providerId="ADAL" clId="{FDDBFC5A-5EA9-5330-BEB8-433D7E3B4C4E}" dt="2026-09-28T10:27:20.713" v="577" actId="20577"/>
          <ac:spMkLst>
            <pc:docMk/>
            <pc:sldMk cId="0" sldId="288"/>
            <ac:spMk id="14" creationId="{00000000-0000-0000-0000-000000000000}"/>
          </ac:spMkLst>
        </pc:spChg>
        <pc:picChg chg="mod">
          <ac:chgData name="Riccardo Berta" userId="c8694f89-bba4-4576-b0a8-456619ca5a8c" providerId="ADAL" clId="{FDDBFC5A-5EA9-5330-BEB8-433D7E3B4C4E}" dt="2026-09-15T05:54:11.460" v="134" actId="1076"/>
          <ac:picMkLst>
            <pc:docMk/>
            <pc:sldMk cId="0" sldId="288"/>
            <ac:picMk id="9" creationId="{00000000-0000-0000-0000-000000000000}"/>
          </ac:picMkLst>
        </pc:picChg>
      </pc:sldChg>
      <pc:sldChg chg="modSp mod">
        <pc:chgData name="Riccardo Berta" userId="c8694f89-bba4-4576-b0a8-456619ca5a8c" providerId="ADAL" clId="{FDDBFC5A-5EA9-5330-BEB8-433D7E3B4C4E}" dt="2026-09-28T10:28:22.012" v="584" actId="20577"/>
        <pc:sldMkLst>
          <pc:docMk/>
          <pc:sldMk cId="0" sldId="289"/>
        </pc:sldMkLst>
        <pc:spChg chg="mod">
          <ac:chgData name="Riccardo Berta" userId="c8694f89-bba4-4576-b0a8-456619ca5a8c" providerId="ADAL" clId="{FDDBFC5A-5EA9-5330-BEB8-433D7E3B4C4E}" dt="2026-09-28T10:28:03.305" v="579" actId="20577"/>
          <ac:spMkLst>
            <pc:docMk/>
            <pc:sldMk cId="0" sldId="289"/>
            <ac:spMk id="11" creationId="{00000000-0000-0000-0000-000000000000}"/>
          </ac:spMkLst>
        </pc:spChg>
        <pc:spChg chg="mod">
          <ac:chgData name="Riccardo Berta" userId="c8694f89-bba4-4576-b0a8-456619ca5a8c" providerId="ADAL" clId="{FDDBFC5A-5EA9-5330-BEB8-433D7E3B4C4E}" dt="2026-09-28T10:28:22.012" v="584" actId="20577"/>
          <ac:spMkLst>
            <pc:docMk/>
            <pc:sldMk cId="0" sldId="289"/>
            <ac:spMk id="14" creationId="{00000000-0000-0000-0000-000000000000}"/>
          </ac:spMkLst>
        </pc:spChg>
        <pc:picChg chg="mod">
          <ac:chgData name="Riccardo Berta" userId="c8694f89-bba4-4576-b0a8-456619ca5a8c" providerId="ADAL" clId="{FDDBFC5A-5EA9-5330-BEB8-433D7E3B4C4E}" dt="2026-09-15T05:54:26.139" v="138" actId="1076"/>
          <ac:picMkLst>
            <pc:docMk/>
            <pc:sldMk cId="0" sldId="289"/>
            <ac:picMk id="10" creationId="{00000000-0000-0000-0000-000000000000}"/>
          </ac:picMkLst>
        </pc:picChg>
      </pc:sldChg>
      <pc:sldChg chg="modSp mod">
        <pc:chgData name="Riccardo Berta" userId="c8694f89-bba4-4576-b0a8-456619ca5a8c" providerId="ADAL" clId="{FDDBFC5A-5EA9-5330-BEB8-433D7E3B4C4E}" dt="2026-09-28T10:29:11.030" v="594" actId="20577"/>
        <pc:sldMkLst>
          <pc:docMk/>
          <pc:sldMk cId="0" sldId="290"/>
        </pc:sldMkLst>
        <pc:spChg chg="mod">
          <ac:chgData name="Riccardo Berta" userId="c8694f89-bba4-4576-b0a8-456619ca5a8c" providerId="ADAL" clId="{FDDBFC5A-5EA9-5330-BEB8-433D7E3B4C4E}" dt="2026-09-28T10:29:01.950" v="592" actId="20577"/>
          <ac:spMkLst>
            <pc:docMk/>
            <pc:sldMk cId="0" sldId="290"/>
            <ac:spMk id="24" creationId="{00000000-0000-0000-0000-000000000000}"/>
          </ac:spMkLst>
        </pc:spChg>
        <pc:spChg chg="mod">
          <ac:chgData name="Riccardo Berta" userId="c8694f89-bba4-4576-b0a8-456619ca5a8c" providerId="ADAL" clId="{FDDBFC5A-5EA9-5330-BEB8-433D7E3B4C4E}" dt="2026-09-28T10:29:11.030" v="594" actId="20577"/>
          <ac:spMkLst>
            <pc:docMk/>
            <pc:sldMk cId="0" sldId="290"/>
            <ac:spMk id="25" creationId="{00000000-0000-0000-0000-000000000000}"/>
          </ac:spMkLst>
        </pc:spChg>
      </pc:sldChg>
      <pc:sldChg chg="modSp mod">
        <pc:chgData name="Riccardo Berta" userId="c8694f89-bba4-4576-b0a8-456619ca5a8c" providerId="ADAL" clId="{FDDBFC5A-5EA9-5330-BEB8-433D7E3B4C4E}" dt="2026-09-28T10:30:07.912" v="603" actId="20577"/>
        <pc:sldMkLst>
          <pc:docMk/>
          <pc:sldMk cId="0" sldId="291"/>
        </pc:sldMkLst>
        <pc:spChg chg="mod">
          <ac:chgData name="Riccardo Berta" userId="c8694f89-bba4-4576-b0a8-456619ca5a8c" providerId="ADAL" clId="{FDDBFC5A-5EA9-5330-BEB8-433D7E3B4C4E}" dt="2026-09-28T10:29:26.979" v="597" actId="20577"/>
          <ac:spMkLst>
            <pc:docMk/>
            <pc:sldMk cId="0" sldId="291"/>
            <ac:spMk id="8" creationId="{00000000-0000-0000-0000-000000000000}"/>
          </ac:spMkLst>
        </pc:spChg>
        <pc:spChg chg="mod">
          <ac:chgData name="Riccardo Berta" userId="c8694f89-bba4-4576-b0a8-456619ca5a8c" providerId="ADAL" clId="{FDDBFC5A-5EA9-5330-BEB8-433D7E3B4C4E}" dt="2026-09-15T05:54:41.880" v="142" actId="1076"/>
          <ac:spMkLst>
            <pc:docMk/>
            <pc:sldMk cId="0" sldId="291"/>
            <ac:spMk id="10" creationId="{00000000-0000-0000-0000-000000000000}"/>
          </ac:spMkLst>
        </pc:spChg>
        <pc:spChg chg="mod">
          <ac:chgData name="Riccardo Berta" userId="c8694f89-bba4-4576-b0a8-456619ca5a8c" providerId="ADAL" clId="{FDDBFC5A-5EA9-5330-BEB8-433D7E3B4C4E}" dt="2026-09-28T10:29:44.584" v="598" actId="1076"/>
          <ac:spMkLst>
            <pc:docMk/>
            <pc:sldMk cId="0" sldId="291"/>
            <ac:spMk id="13" creationId="{00000000-0000-0000-0000-000000000000}"/>
          </ac:spMkLst>
        </pc:spChg>
        <pc:spChg chg="mod">
          <ac:chgData name="Riccardo Berta" userId="c8694f89-bba4-4576-b0a8-456619ca5a8c" providerId="ADAL" clId="{FDDBFC5A-5EA9-5330-BEB8-433D7E3B4C4E}" dt="2026-09-28T10:30:07.912" v="603" actId="20577"/>
          <ac:spMkLst>
            <pc:docMk/>
            <pc:sldMk cId="0" sldId="291"/>
            <ac:spMk id="16" creationId="{00000000-0000-0000-0000-000000000000}"/>
          </ac:spMkLst>
        </pc:spChg>
        <pc:picChg chg="mod">
          <ac:chgData name="Riccardo Berta" userId="c8694f89-bba4-4576-b0a8-456619ca5a8c" providerId="ADAL" clId="{FDDBFC5A-5EA9-5330-BEB8-433D7E3B4C4E}" dt="2026-09-15T05:54:37.559" v="141" actId="1076"/>
          <ac:picMkLst>
            <pc:docMk/>
            <pc:sldMk cId="0" sldId="291"/>
            <ac:picMk id="9" creationId="{00000000-0000-0000-0000-000000000000}"/>
          </ac:picMkLst>
        </pc:picChg>
      </pc:sldChg>
      <pc:sldChg chg="modSp mod">
        <pc:chgData name="Riccardo Berta" userId="c8694f89-bba4-4576-b0a8-456619ca5a8c" providerId="ADAL" clId="{FDDBFC5A-5EA9-5330-BEB8-433D7E3B4C4E}" dt="2026-09-15T05:54:52.038" v="145" actId="1076"/>
        <pc:sldMkLst>
          <pc:docMk/>
          <pc:sldMk cId="0" sldId="292"/>
        </pc:sldMkLst>
        <pc:picChg chg="mod">
          <ac:chgData name="Riccardo Berta" userId="c8694f89-bba4-4576-b0a8-456619ca5a8c" providerId="ADAL" clId="{FDDBFC5A-5EA9-5330-BEB8-433D7E3B4C4E}" dt="2026-09-15T05:54:52.038" v="145" actId="1076"/>
          <ac:picMkLst>
            <pc:docMk/>
            <pc:sldMk cId="0" sldId="292"/>
            <ac:picMk id="9" creationId="{00000000-0000-0000-0000-000000000000}"/>
          </ac:picMkLst>
        </pc:picChg>
      </pc:sldChg>
      <pc:sldChg chg="modSp mod">
        <pc:chgData name="Riccardo Berta" userId="c8694f89-bba4-4576-b0a8-456619ca5a8c" providerId="ADAL" clId="{FDDBFC5A-5EA9-5330-BEB8-433D7E3B4C4E}" dt="2026-09-28T10:32:06.146" v="631" actId="20577"/>
        <pc:sldMkLst>
          <pc:docMk/>
          <pc:sldMk cId="0" sldId="293"/>
        </pc:sldMkLst>
        <pc:spChg chg="mod">
          <ac:chgData name="Riccardo Berta" userId="c8694f89-bba4-4576-b0a8-456619ca5a8c" providerId="ADAL" clId="{FDDBFC5A-5EA9-5330-BEB8-433D7E3B4C4E}" dt="2026-09-28T10:31:30.948" v="624" actId="20577"/>
          <ac:spMkLst>
            <pc:docMk/>
            <pc:sldMk cId="0" sldId="293"/>
            <ac:spMk id="12" creationId="{00000000-0000-0000-0000-000000000000}"/>
          </ac:spMkLst>
        </pc:spChg>
        <pc:spChg chg="mod">
          <ac:chgData name="Riccardo Berta" userId="c8694f89-bba4-4576-b0a8-456619ca5a8c" providerId="ADAL" clId="{FDDBFC5A-5EA9-5330-BEB8-433D7E3B4C4E}" dt="2026-09-28T10:32:06.146" v="631" actId="20577"/>
          <ac:spMkLst>
            <pc:docMk/>
            <pc:sldMk cId="0" sldId="293"/>
            <ac:spMk id="13" creationId="{00000000-0000-0000-0000-000000000000}"/>
          </ac:spMkLst>
        </pc:spChg>
      </pc:sldChg>
      <pc:sldChg chg="addSp delSp modSp mod">
        <pc:chgData name="Riccardo Berta" userId="c8694f89-bba4-4576-b0a8-456619ca5a8c" providerId="ADAL" clId="{FDDBFC5A-5EA9-5330-BEB8-433D7E3B4C4E}" dt="2026-09-28T10:37:05.057" v="656" actId="20577"/>
        <pc:sldMkLst>
          <pc:docMk/>
          <pc:sldMk cId="0" sldId="294"/>
        </pc:sldMkLst>
        <pc:spChg chg="mod">
          <ac:chgData name="Riccardo Berta" userId="c8694f89-bba4-4576-b0a8-456619ca5a8c" providerId="ADAL" clId="{FDDBFC5A-5EA9-5330-BEB8-433D7E3B4C4E}" dt="2026-09-28T10:32:57.930" v="638" actId="20577"/>
          <ac:spMkLst>
            <pc:docMk/>
            <pc:sldMk cId="0" sldId="294"/>
            <ac:spMk id="8" creationId="{00000000-0000-0000-0000-000000000000}"/>
          </ac:spMkLst>
        </pc:spChg>
        <pc:spChg chg="mod">
          <ac:chgData name="Riccardo Berta" userId="c8694f89-bba4-4576-b0a8-456619ca5a8c" providerId="ADAL" clId="{FDDBFC5A-5EA9-5330-BEB8-433D7E3B4C4E}" dt="2026-09-15T05:47:53.449" v="1" actId="1076"/>
          <ac:spMkLst>
            <pc:docMk/>
            <pc:sldMk cId="0" sldId="294"/>
            <ac:spMk id="10" creationId="{00000000-0000-0000-0000-000000000000}"/>
          </ac:spMkLst>
        </pc:spChg>
        <pc:spChg chg="mod">
          <ac:chgData name="Riccardo Berta" userId="c8694f89-bba4-4576-b0a8-456619ca5a8c" providerId="ADAL" clId="{FDDBFC5A-5EA9-5330-BEB8-433D7E3B4C4E}" dt="2026-09-28T10:37:05.057" v="656" actId="20577"/>
          <ac:spMkLst>
            <pc:docMk/>
            <pc:sldMk cId="0" sldId="294"/>
            <ac:spMk id="13" creationId="{00000000-0000-0000-0000-000000000000}"/>
          </ac:spMkLst>
        </pc:spChg>
        <pc:spChg chg="mod">
          <ac:chgData name="Riccardo Berta" userId="c8694f89-bba4-4576-b0a8-456619ca5a8c" providerId="ADAL" clId="{FDDBFC5A-5EA9-5330-BEB8-433D7E3B4C4E}" dt="2026-09-28T10:34:23.361" v="651" actId="20577"/>
          <ac:spMkLst>
            <pc:docMk/>
            <pc:sldMk cId="0" sldId="294"/>
            <ac:spMk id="16" creationId="{00000000-0000-0000-0000-000000000000}"/>
          </ac:spMkLst>
        </pc:spChg>
        <pc:picChg chg="mod">
          <ac:chgData name="Riccardo Berta" userId="c8694f89-bba4-4576-b0a8-456619ca5a8c" providerId="ADAL" clId="{FDDBFC5A-5EA9-5330-BEB8-433D7E3B4C4E}" dt="2026-09-15T05:47:58.568" v="2" actId="14100"/>
          <ac:picMkLst>
            <pc:docMk/>
            <pc:sldMk cId="0" sldId="294"/>
            <ac:picMk id="9" creationId="{00000000-0000-0000-0000-000000000000}"/>
          </ac:picMkLst>
        </pc:picChg>
      </pc:sldChg>
      <pc:sldChg chg="modSp mod">
        <pc:chgData name="Riccardo Berta" userId="c8694f89-bba4-4576-b0a8-456619ca5a8c" providerId="ADAL" clId="{FDDBFC5A-5EA9-5330-BEB8-433D7E3B4C4E}" dt="2026-09-28T10:37:28.516" v="660" actId="14100"/>
        <pc:sldMkLst>
          <pc:docMk/>
          <pc:sldMk cId="0" sldId="295"/>
        </pc:sldMkLst>
        <pc:spChg chg="mod">
          <ac:chgData name="Riccardo Berta" userId="c8694f89-bba4-4576-b0a8-456619ca5a8c" providerId="ADAL" clId="{FDDBFC5A-5EA9-5330-BEB8-433D7E3B4C4E}" dt="2026-09-28T10:37:28.516" v="660" actId="14100"/>
          <ac:spMkLst>
            <pc:docMk/>
            <pc:sldMk cId="0" sldId="295"/>
            <ac:spMk id="5"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C66AF1DC-7F49-A24C-8A1B-166E2ED7903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8AA33C56-A2D5-4E4E-827E-71DE8DB5A9F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C9A2103-E3E1-6C47-9C03-3A4330A63ED2}" type="datetime1">
              <a:rPr lang="it-IT" smtClean="0"/>
              <a:t>28/09/26</a:t>
            </a:fld>
            <a:endParaRPr lang="it-IT"/>
          </a:p>
        </p:txBody>
      </p:sp>
      <p:sp>
        <p:nvSpPr>
          <p:cNvPr id="4" name="Segnaposto piè di pagina 3">
            <a:extLst>
              <a:ext uri="{FF2B5EF4-FFF2-40B4-BE49-F238E27FC236}">
                <a16:creationId xmlns:a16="http://schemas.microsoft.com/office/drawing/2014/main" id="{79AEF9E9-A1D0-864D-B9C9-A16B8798115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C8CA1F14-2160-8D4F-920A-A24F059F8B0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0801598-FC98-3F4F-AF67-3E41A8697326}" type="slidenum">
              <a:rPr lang="it-IT" smtClean="0"/>
              <a:t>‹N›</a:t>
            </a:fld>
            <a:endParaRPr lang="it-IT"/>
          </a:p>
        </p:txBody>
      </p:sp>
    </p:spTree>
    <p:extLst>
      <p:ext uri="{BB962C8B-B14F-4D97-AF65-F5344CB8AC3E}">
        <p14:creationId xmlns:p14="http://schemas.microsoft.com/office/powerpoint/2010/main" val="2328583051"/>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4812A7-C7D6-7542-9495-86D2A5F89521}" type="datetime1">
              <a:rPr lang="it-IT" smtClean="0"/>
              <a:t>28/09/26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it-IT"/>
              <a:t>Fare clic per modificare gli stili del testo dello schema
Secondo livello
Terzo livello
Quarto livello
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B8D42F-EEB8-D844-BCC2-FD2609102831}" type="slidenum">
              <a:rPr lang="it-IT" smtClean="0"/>
              <a:t>‹N›</a:t>
            </a:fld>
            <a:endParaRPr lang="it-IT"/>
          </a:p>
        </p:txBody>
      </p:sp>
    </p:spTree>
    <p:extLst>
      <p:ext uri="{BB962C8B-B14F-4D97-AF65-F5344CB8AC3E}">
        <p14:creationId xmlns:p14="http://schemas.microsoft.com/office/powerpoint/2010/main" val="365054473"/>
      </p:ext>
    </p:extLst>
  </p:cSld>
  <p:clrMap bg1="lt1" tx1="dk1" bg2="lt2" tx2="dk2" accent1="accent1" accent2="accent2" accent3="accent3" accent4="accent4" accent5="accent5" accent6="accent6" hlink="hlink" folHlink="folHlink"/>
  <p:hf hd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titolo">
    <p:bg>
      <p:bgPr>
        <a:solidFill>
          <a:srgbClr val="574676"/>
        </a:solidFill>
        <a:effectLst/>
      </p:bgPr>
    </p:bg>
    <p:spTree>
      <p:nvGrpSpPr>
        <p:cNvPr id="1" name=""/>
        <p:cNvGrpSpPr/>
        <p:nvPr/>
      </p:nvGrpSpPr>
      <p:grpSpPr>
        <a:xfrm>
          <a:off x="0" y="0"/>
          <a:ext cx="0" cy="0"/>
          <a:chOff x="0" y="0"/>
          <a:chExt cx="0" cy="0"/>
        </a:xfrm>
      </p:grpSpPr>
      <p:sp>
        <p:nvSpPr>
          <p:cNvPr id="3" name="Sottotitolo 2">
            <a:extLst>
              <a:ext uri="{FF2B5EF4-FFF2-40B4-BE49-F238E27FC236}">
                <a16:creationId xmlns:a16="http://schemas.microsoft.com/office/drawing/2014/main" id="{075F0702-5A13-1349-A296-951553656DE8}"/>
              </a:ext>
            </a:extLst>
          </p:cNvPr>
          <p:cNvSpPr>
            <a:spLocks noGrp="1"/>
          </p:cNvSpPr>
          <p:nvPr>
            <p:ph type="subTitle" idx="1" hasCustomPrompt="1"/>
          </p:nvPr>
        </p:nvSpPr>
        <p:spPr>
          <a:xfrm>
            <a:off x="858839" y="5244663"/>
            <a:ext cx="10434596" cy="916652"/>
          </a:xfrm>
        </p:spPr>
        <p:txBody>
          <a:bodyPr>
            <a:normAutofit/>
          </a:bodyPr>
          <a:lstStyle>
            <a:lvl1pPr marL="0" indent="0" algn="l">
              <a:buNone/>
              <a:defRPr sz="1600" b="0" i="0">
                <a:solidFill>
                  <a:schemeClr val="bg1"/>
                </a:solidFill>
                <a:latin typeface="Fira Sans Medium" panose="020B0503050000020004" pitchFamily="34" charset="0"/>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it-IT" dirty="0"/>
              <a:t>Fare clic per modificare l’autore delle slide</a:t>
            </a:r>
          </a:p>
        </p:txBody>
      </p:sp>
      <p:sp>
        <p:nvSpPr>
          <p:cNvPr id="7" name="Google Shape;10;p2">
            <a:extLst>
              <a:ext uri="{FF2B5EF4-FFF2-40B4-BE49-F238E27FC236}">
                <a16:creationId xmlns:a16="http://schemas.microsoft.com/office/drawing/2014/main" id="{BACD2019-637B-3D4C-A8D4-30C84AABC935}"/>
              </a:ext>
            </a:extLst>
          </p:cNvPr>
          <p:cNvSpPr txBox="1">
            <a:spLocks noGrp="1"/>
          </p:cNvSpPr>
          <p:nvPr>
            <p:ph type="ctrTitle" hasCustomPrompt="1"/>
          </p:nvPr>
        </p:nvSpPr>
        <p:spPr>
          <a:xfrm>
            <a:off x="858983" y="1613338"/>
            <a:ext cx="10434596" cy="2099606"/>
          </a:xfrm>
          <a:prstGeom prst="rect">
            <a:avLst/>
          </a:prstGeom>
        </p:spPr>
        <p:txBody>
          <a:bodyPr spcFirstLastPara="1" wrap="square" lIns="91425" tIns="91425" rIns="91425" bIns="91425" anchor="b"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bg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sp>
        <p:nvSpPr>
          <p:cNvPr id="4" name="Content Placeholder 3">
            <a:extLst>
              <a:ext uri="{FF2B5EF4-FFF2-40B4-BE49-F238E27FC236}">
                <a16:creationId xmlns:a16="http://schemas.microsoft.com/office/drawing/2014/main" id="{510CC95D-4677-2D48-8044-4BC81EDFDD62}"/>
              </a:ext>
            </a:extLst>
          </p:cNvPr>
          <p:cNvSpPr>
            <a:spLocks noGrp="1"/>
          </p:cNvSpPr>
          <p:nvPr>
            <p:ph sz="quarter" idx="10" hasCustomPrompt="1"/>
          </p:nvPr>
        </p:nvSpPr>
        <p:spPr>
          <a:xfrm>
            <a:off x="858839" y="4091493"/>
            <a:ext cx="10434596" cy="749279"/>
          </a:xfrm>
        </p:spPr>
        <p:txBody>
          <a:bodyPr>
            <a:normAutofit/>
          </a:bodyPr>
          <a:lstStyle>
            <a:lvl1pPr marL="0" indent="0">
              <a:buNone/>
              <a:defRPr sz="2400" b="0">
                <a:solidFill>
                  <a:schemeClr val="bg1"/>
                </a:solidFill>
                <a:latin typeface="Roboto Slab" pitchFamily="2" charset="0"/>
                <a:ea typeface="Roboto Slab" pitchFamily="2" charset="0"/>
              </a:defRPr>
            </a:lvl1pPr>
          </a:lstStyle>
          <a:p>
            <a:pPr lvl="0"/>
            <a:r>
              <a:rPr lang="it-IT" dirty="0"/>
              <a:t>Fare clic per modificare il sottotitolo delle slide</a:t>
            </a:r>
          </a:p>
        </p:txBody>
      </p:sp>
      <p:pic>
        <p:nvPicPr>
          <p:cNvPr id="6" name="Immagine 15">
            <a:extLst>
              <a:ext uri="{FF2B5EF4-FFF2-40B4-BE49-F238E27FC236}">
                <a16:creationId xmlns:a16="http://schemas.microsoft.com/office/drawing/2014/main" id="{FCD93EB7-DA4C-43A4-867F-0F0E0F89B1A8}"/>
              </a:ext>
            </a:extLst>
          </p:cNvPr>
          <p:cNvPicPr>
            <a:picLocks noChangeAspect="1"/>
          </p:cNvPicPr>
          <p:nvPr userDrawn="1"/>
        </p:nvPicPr>
        <p:blipFill>
          <a:blip r:embed="rId2"/>
          <a:stretch>
            <a:fillRect/>
          </a:stretch>
        </p:blipFill>
        <p:spPr>
          <a:xfrm>
            <a:off x="859536" y="754796"/>
            <a:ext cx="3975273" cy="524080"/>
          </a:xfrm>
          <a:prstGeom prst="rect">
            <a:avLst/>
          </a:prstGeom>
        </p:spPr>
      </p:pic>
    </p:spTree>
    <p:extLst>
      <p:ext uri="{BB962C8B-B14F-4D97-AF65-F5344CB8AC3E}">
        <p14:creationId xmlns:p14="http://schemas.microsoft.com/office/powerpoint/2010/main" val="123377940"/>
      </p:ext>
    </p:extLst>
  </p:cSld>
  <p:clrMapOvr>
    <a:masterClrMapping/>
  </p:clrMapOvr>
  <p:extLst>
    <p:ext uri="{DCECCB84-F9BA-43D5-87BE-67443E8EF086}">
      <p15:sldGuideLst xmlns:p15="http://schemas.microsoft.com/office/powerpoint/2012/main">
        <p15:guide id="1" orient="horz" pos="459" userDrawn="1">
          <p15:clr>
            <a:srgbClr val="FBAE40"/>
          </p15:clr>
        </p15:guide>
        <p15:guide id="2" orient="horz" pos="22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testazione sezione">
    <p:bg>
      <p:bgPr>
        <a:solidFill>
          <a:srgbClr val="D9D9D9"/>
        </a:solidFill>
        <a:effectLst/>
      </p:bgPr>
    </p:bg>
    <p:spTree>
      <p:nvGrpSpPr>
        <p:cNvPr id="1" name=""/>
        <p:cNvGrpSpPr/>
        <p:nvPr/>
      </p:nvGrpSpPr>
      <p:grpSpPr>
        <a:xfrm>
          <a:off x="0" y="0"/>
          <a:ext cx="0" cy="0"/>
          <a:chOff x="0" y="0"/>
          <a:chExt cx="0" cy="0"/>
        </a:xfrm>
      </p:grpSpPr>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50670"/>
            <a:ext cx="10434596" cy="4510644"/>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4" name="Immagine 16">
            <a:extLst>
              <a:ext uri="{FF2B5EF4-FFF2-40B4-BE49-F238E27FC236}">
                <a16:creationId xmlns:a16="http://schemas.microsoft.com/office/drawing/2014/main" id="{61F1857B-A475-499C-9FD1-C11356497F1A}"/>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760773657"/>
      </p:ext>
    </p:extLst>
  </p:cSld>
  <p:clrMapOvr>
    <a:masterClrMapping/>
  </p:clrMapOvr>
  <p:extLst>
    <p:ext uri="{DCECCB84-F9BA-43D5-87BE-67443E8EF086}">
      <p15:sldGuideLst xmlns:p15="http://schemas.microsoft.com/office/powerpoint/2012/main">
        <p15:guide id="1" orient="horz" pos="45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estazione sezione + sottotitolo">
    <p:bg>
      <p:bgPr>
        <a:solidFill>
          <a:srgbClr val="D9D9D9"/>
        </a:solidFill>
        <a:effectLst/>
      </p:bgPr>
    </p:bg>
    <p:spTree>
      <p:nvGrpSpPr>
        <p:cNvPr id="1" name=""/>
        <p:cNvGrpSpPr/>
        <p:nvPr/>
      </p:nvGrpSpPr>
      <p:grpSpPr>
        <a:xfrm>
          <a:off x="0" y="0"/>
          <a:ext cx="0" cy="0"/>
          <a:chOff x="0" y="0"/>
          <a:chExt cx="0" cy="0"/>
        </a:xfrm>
      </p:grpSpPr>
      <p:sp>
        <p:nvSpPr>
          <p:cNvPr id="9" name="Content Placeholder 3">
            <a:extLst>
              <a:ext uri="{FF2B5EF4-FFF2-40B4-BE49-F238E27FC236}">
                <a16:creationId xmlns:a16="http://schemas.microsoft.com/office/drawing/2014/main" id="{DD39042D-E5F6-354C-AE48-85CA368F3EEB}"/>
              </a:ext>
            </a:extLst>
          </p:cNvPr>
          <p:cNvSpPr>
            <a:spLocks noGrp="1"/>
          </p:cNvSpPr>
          <p:nvPr>
            <p:ph sz="quarter" idx="10" hasCustomPrompt="1"/>
          </p:nvPr>
        </p:nvSpPr>
        <p:spPr>
          <a:xfrm>
            <a:off x="858840" y="4512248"/>
            <a:ext cx="10434453" cy="906143"/>
          </a:xfrm>
        </p:spPr>
        <p:txBody>
          <a:bodyPr anchor="ctr">
            <a:normAutofit/>
          </a:bodyPr>
          <a:lstStyle>
            <a:lvl1pPr marL="0" indent="0">
              <a:buNone/>
              <a:defRPr sz="2400" b="0">
                <a:solidFill>
                  <a:schemeClr val="tx1">
                    <a:lumMod val="85000"/>
                    <a:lumOff val="15000"/>
                  </a:schemeClr>
                </a:solidFill>
                <a:latin typeface="Roboto Slab" pitchFamily="2" charset="0"/>
                <a:ea typeface="Roboto Slab" pitchFamily="2" charset="0"/>
              </a:defRPr>
            </a:lvl1pPr>
          </a:lstStyle>
          <a:p>
            <a:pPr lvl="0"/>
            <a:r>
              <a:rPr lang="it-IT" dirty="0"/>
              <a:t>Fare clic per modificare il sottotitolo della sezione</a:t>
            </a:r>
          </a:p>
        </p:txBody>
      </p:sp>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02829"/>
            <a:ext cx="10434596" cy="2422906"/>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5" name="Immagine 16">
            <a:extLst>
              <a:ext uri="{FF2B5EF4-FFF2-40B4-BE49-F238E27FC236}">
                <a16:creationId xmlns:a16="http://schemas.microsoft.com/office/drawing/2014/main" id="{7F0F2A94-25FB-444E-B3D1-70F29C0D4BE6}"/>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39362251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olo, sottotitolo e testo">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83A57FB5-7025-8A46-A2C8-9AC199CBFA66}"/>
              </a:ext>
            </a:extLst>
          </p:cNvPr>
          <p:cNvSpPr>
            <a:spLocks noGrp="1"/>
          </p:cNvSpPr>
          <p:nvPr>
            <p:ph idx="1"/>
          </p:nvPr>
        </p:nvSpPr>
        <p:spPr>
          <a:xfrm>
            <a:off x="838200" y="2511382"/>
            <a:ext cx="10515600" cy="3057565"/>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8" name="Text Placeholder 7">
            <a:extLst>
              <a:ext uri="{FF2B5EF4-FFF2-40B4-BE49-F238E27FC236}">
                <a16:creationId xmlns:a16="http://schemas.microsoft.com/office/drawing/2014/main" id="{A765F876-3350-441E-BD36-BE705EBA2058}"/>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1" name="Segnaposto titolo 1">
            <a:extLst>
              <a:ext uri="{FF2B5EF4-FFF2-40B4-BE49-F238E27FC236}">
                <a16:creationId xmlns:a16="http://schemas.microsoft.com/office/drawing/2014/main" id="{04C02021-F048-EF46-A427-824414E03CAC}"/>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5" name="Segnaposto numero diapositiva 4">
            <a:extLst>
              <a:ext uri="{FF2B5EF4-FFF2-40B4-BE49-F238E27FC236}">
                <a16:creationId xmlns:a16="http://schemas.microsoft.com/office/drawing/2014/main" id="{0C11EF75-678E-9E47-B9E3-622B2E130D2E}"/>
              </a:ext>
            </a:extLst>
          </p:cNvPr>
          <p:cNvSpPr>
            <a:spLocks noGrp="1"/>
          </p:cNvSpPr>
          <p:nvPr>
            <p:ph type="sldNum" sz="quarter" idx="16"/>
          </p:nvPr>
        </p:nvSpPr>
        <p:spPr/>
        <p:txBody>
          <a:bodyPr/>
          <a:lstStyle/>
          <a:p>
            <a:fld id="{FEC4A954-C260-E84D-8B85-4D54550A05DF}" type="slidenum">
              <a:rPr lang="it-IT" smtClean="0"/>
              <a:pPr/>
              <a:t>‹N›</a:t>
            </a:fld>
            <a:endParaRPr lang="it-IT"/>
          </a:p>
        </p:txBody>
      </p:sp>
      <p:sp>
        <p:nvSpPr>
          <p:cNvPr id="4" name="Segnaposto testo 3">
            <a:extLst>
              <a:ext uri="{FF2B5EF4-FFF2-40B4-BE49-F238E27FC236}">
                <a16:creationId xmlns:a16="http://schemas.microsoft.com/office/drawing/2014/main" id="{E8A205F8-F97E-E14B-B440-BBC8D0D15D5C}"/>
              </a:ext>
            </a:extLst>
          </p:cNvPr>
          <p:cNvSpPr>
            <a:spLocks noGrp="1"/>
          </p:cNvSpPr>
          <p:nvPr>
            <p:ph type="body" sz="quarter" idx="17" hasCustomPrompt="1"/>
          </p:nvPr>
        </p:nvSpPr>
        <p:spPr>
          <a:xfrm>
            <a:off x="838200" y="5748339"/>
            <a:ext cx="10515600" cy="428625"/>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10" name="Immagine 8">
            <a:extLst>
              <a:ext uri="{FF2B5EF4-FFF2-40B4-BE49-F238E27FC236}">
                <a16:creationId xmlns:a16="http://schemas.microsoft.com/office/drawing/2014/main" id="{50BE5A66-3047-413E-BA14-3135DDA75C76}"/>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603779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olo e testo">
    <p:spTree>
      <p:nvGrpSpPr>
        <p:cNvPr id="1" name=""/>
        <p:cNvGrpSpPr/>
        <p:nvPr/>
      </p:nvGrpSpPr>
      <p:grpSpPr>
        <a:xfrm>
          <a:off x="0" y="0"/>
          <a:ext cx="0" cy="0"/>
          <a:chOff x="0" y="0"/>
          <a:chExt cx="0" cy="0"/>
        </a:xfrm>
      </p:grpSpPr>
      <p:sp>
        <p:nvSpPr>
          <p:cNvPr id="15" name="Segnaposto titolo 1">
            <a:extLst>
              <a:ext uri="{FF2B5EF4-FFF2-40B4-BE49-F238E27FC236}">
                <a16:creationId xmlns:a16="http://schemas.microsoft.com/office/drawing/2014/main" id="{4A68EDD3-8B24-5E4A-A507-BC4297B68394}"/>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4" name="Segnaposto numero diapositiva 3">
            <a:extLst>
              <a:ext uri="{FF2B5EF4-FFF2-40B4-BE49-F238E27FC236}">
                <a16:creationId xmlns:a16="http://schemas.microsoft.com/office/drawing/2014/main" id="{97747EE5-0480-854D-A548-B2B40F2E638A}"/>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10" name="Segnaposto contenuto 2">
            <a:extLst>
              <a:ext uri="{FF2B5EF4-FFF2-40B4-BE49-F238E27FC236}">
                <a16:creationId xmlns:a16="http://schemas.microsoft.com/office/drawing/2014/main" id="{1AB9F965-5489-F944-AC9B-8A7ABDD5E406}"/>
              </a:ext>
            </a:extLst>
          </p:cNvPr>
          <p:cNvSpPr>
            <a:spLocks noGrp="1"/>
          </p:cNvSpPr>
          <p:nvPr>
            <p:ph idx="12"/>
          </p:nvPr>
        </p:nvSpPr>
        <p:spPr>
          <a:xfrm>
            <a:off x="838200" y="1531917"/>
            <a:ext cx="10515600" cy="4037029"/>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11" name="Segnaposto testo 3">
            <a:extLst>
              <a:ext uri="{FF2B5EF4-FFF2-40B4-BE49-F238E27FC236}">
                <a16:creationId xmlns:a16="http://schemas.microsoft.com/office/drawing/2014/main" id="{57B3B9C0-6AEB-E343-9620-C69E8840A95D}"/>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9" name="Immagine 8">
            <a:extLst>
              <a:ext uri="{FF2B5EF4-FFF2-40B4-BE49-F238E27FC236}">
                <a16:creationId xmlns:a16="http://schemas.microsoft.com/office/drawing/2014/main" id="{4F3023F1-1844-4375-B72E-DDB714D5CCA0}"/>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318560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olo e immagine">
    <p:spTree>
      <p:nvGrpSpPr>
        <p:cNvPr id="1" name=""/>
        <p:cNvGrpSpPr/>
        <p:nvPr/>
      </p:nvGrpSpPr>
      <p:grpSpPr>
        <a:xfrm>
          <a:off x="0" y="0"/>
          <a:ext cx="0" cy="0"/>
          <a:chOff x="0" y="0"/>
          <a:chExt cx="0" cy="0"/>
        </a:xfrm>
      </p:grpSpPr>
      <p:sp>
        <p:nvSpPr>
          <p:cNvPr id="11" name="Segnaposto immagine 2">
            <a:extLst>
              <a:ext uri="{FF2B5EF4-FFF2-40B4-BE49-F238E27FC236}">
                <a16:creationId xmlns:a16="http://schemas.microsoft.com/office/drawing/2014/main" id="{D4F9B8F1-23BB-DE44-B117-C81D61DBD6A5}"/>
              </a:ext>
            </a:extLst>
          </p:cNvPr>
          <p:cNvSpPr>
            <a:spLocks noGrp="1"/>
          </p:cNvSpPr>
          <p:nvPr>
            <p:ph type="pic" sz="quarter" idx="10"/>
          </p:nvPr>
        </p:nvSpPr>
        <p:spPr>
          <a:xfrm>
            <a:off x="0" y="1543054"/>
            <a:ext cx="12192000" cy="4024630"/>
          </a:xfrm>
        </p:spPr>
        <p:txBody>
          <a:bodyPr anchor="ctr"/>
          <a:lstStyle>
            <a:lvl1pPr marL="0" marR="0" indent="0" algn="ctr" defTabSz="685766" rtl="0" eaLnBrk="1" fontAlgn="auto" latinLnBrk="0" hangingPunct="1">
              <a:lnSpc>
                <a:spcPct val="90000"/>
              </a:lnSpc>
              <a:spcBef>
                <a:spcPts val="750"/>
              </a:spcBef>
              <a:spcAft>
                <a:spcPts val="0"/>
              </a:spcAft>
              <a:buClrTx/>
              <a:buSzTx/>
              <a:buFont typeface="Fira Sans" panose="020B0503050000020004" pitchFamily="34" charset="0"/>
              <a:buNone/>
              <a:tabLst/>
              <a:defRPr b="0" i="1">
                <a:latin typeface="Fira Sans" panose="020B0503050000020004" pitchFamily="34" charset="0"/>
              </a:defRPr>
            </a:lvl1pPr>
          </a:lstStyle>
          <a:p>
            <a:pPr marL="0" marR="0" lvl="0" indent="0" algn="l" defTabSz="685766" rtl="0" eaLnBrk="1" fontAlgn="auto" latinLnBrk="0" hangingPunct="1">
              <a:lnSpc>
                <a:spcPct val="90000"/>
              </a:lnSpc>
              <a:spcBef>
                <a:spcPts val="750"/>
              </a:spcBef>
              <a:spcAft>
                <a:spcPts val="0"/>
              </a:spcAft>
              <a:buClrTx/>
              <a:buSzTx/>
              <a:buFont typeface="Fira Sans" panose="020B0503050000020004" pitchFamily="34" charset="0"/>
              <a:buNone/>
              <a:tabLst/>
              <a:defRPr/>
            </a:pPr>
            <a:r>
              <a:rPr lang="en-US"/>
              <a:t>Click icon to add picture</a:t>
            </a:r>
            <a:endParaRPr lang="it-IT" dirty="0"/>
          </a:p>
        </p:txBody>
      </p:sp>
      <p:sp>
        <p:nvSpPr>
          <p:cNvPr id="3" name="Segnaposto numero diapositiva 2">
            <a:extLst>
              <a:ext uri="{FF2B5EF4-FFF2-40B4-BE49-F238E27FC236}">
                <a16:creationId xmlns:a16="http://schemas.microsoft.com/office/drawing/2014/main" id="{2A5C4FFC-D4BE-BB4F-92DA-D862EC4EB343}"/>
              </a:ext>
            </a:extLst>
          </p:cNvPr>
          <p:cNvSpPr>
            <a:spLocks noGrp="1"/>
          </p:cNvSpPr>
          <p:nvPr>
            <p:ph type="sldNum" sz="quarter" idx="12"/>
          </p:nvPr>
        </p:nvSpPr>
        <p:spPr/>
        <p:txBody>
          <a:bodyPr/>
          <a:lstStyle/>
          <a:p>
            <a:fld id="{FEC4A954-C260-E84D-8B85-4D54550A05DF}" type="slidenum">
              <a:rPr lang="it-IT" smtClean="0"/>
              <a:pPr/>
              <a:t>‹N›</a:t>
            </a:fld>
            <a:endParaRPr lang="it-IT"/>
          </a:p>
        </p:txBody>
      </p:sp>
      <p:sp>
        <p:nvSpPr>
          <p:cNvPr id="8" name="Segnaposto testo 3">
            <a:extLst>
              <a:ext uri="{FF2B5EF4-FFF2-40B4-BE49-F238E27FC236}">
                <a16:creationId xmlns:a16="http://schemas.microsoft.com/office/drawing/2014/main" id="{897D9E1E-9C0A-0D41-B11A-9921E9353E70}"/>
              </a:ext>
            </a:extLst>
          </p:cNvPr>
          <p:cNvSpPr>
            <a:spLocks noGrp="1"/>
          </p:cNvSpPr>
          <p:nvPr>
            <p:ph type="body" sz="quarter" idx="17" hasCustomPrompt="1"/>
          </p:nvPr>
        </p:nvSpPr>
        <p:spPr>
          <a:xfrm>
            <a:off x="838200" y="5747075"/>
            <a:ext cx="10515600" cy="429888"/>
          </a:xfrm>
        </p:spPr>
        <p:txBody>
          <a:bodyPr lIns="0">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0" name="Segnaposto titolo 1">
            <a:extLst>
              <a:ext uri="{FF2B5EF4-FFF2-40B4-BE49-F238E27FC236}">
                <a16:creationId xmlns:a16="http://schemas.microsoft.com/office/drawing/2014/main" id="{E6275BA2-C88F-D442-BB44-16AD120A3F6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19A73C7C-F021-46C2-A59B-8FF7976F4BB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106832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olo titolo">
    <p:spTree>
      <p:nvGrpSpPr>
        <p:cNvPr id="1" name=""/>
        <p:cNvGrpSpPr/>
        <p:nvPr/>
      </p:nvGrpSpPr>
      <p:grpSpPr>
        <a:xfrm>
          <a:off x="0" y="0"/>
          <a:ext cx="0" cy="0"/>
          <a:chOff x="0" y="0"/>
          <a:chExt cx="0" cy="0"/>
        </a:xfrm>
      </p:grpSpPr>
      <p:sp>
        <p:nvSpPr>
          <p:cNvPr id="3" name="Segnaposto numero diapositiva 2">
            <a:extLst>
              <a:ext uri="{FF2B5EF4-FFF2-40B4-BE49-F238E27FC236}">
                <a16:creationId xmlns:a16="http://schemas.microsoft.com/office/drawing/2014/main" id="{9D72F9B8-ABA2-4C42-A181-607DBB3A26ED}"/>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8" name="Text Placeholder 7">
            <a:extLst>
              <a:ext uri="{FF2B5EF4-FFF2-40B4-BE49-F238E27FC236}">
                <a16:creationId xmlns:a16="http://schemas.microsoft.com/office/drawing/2014/main" id="{D2BB8059-381A-704A-886C-F6DD9F44F1BC}"/>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Segnaposto testo 3">
            <a:extLst>
              <a:ext uri="{FF2B5EF4-FFF2-40B4-BE49-F238E27FC236}">
                <a16:creationId xmlns:a16="http://schemas.microsoft.com/office/drawing/2014/main" id="{C08E708D-0E00-AB46-8AF7-AAC94AA38AB2}"/>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1" name="Segnaposto titolo 1">
            <a:extLst>
              <a:ext uri="{FF2B5EF4-FFF2-40B4-BE49-F238E27FC236}">
                <a16:creationId xmlns:a16="http://schemas.microsoft.com/office/drawing/2014/main" id="{80C56B0F-86D4-8640-B1D0-FEBA0E0A02D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A82B40A8-C866-4C16-8C00-EAE5EF75AB4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4495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609600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8A1CF13A-9AC3-41FE-A6E0-1943517FC7D9}"/>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9337664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83661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6327178"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CF2C13BF-445B-4BE4-AD3F-23117EA32D2E}"/>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6172355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olo, testo e immagine">
    <p:bg>
      <p:bgRef idx="1001">
        <a:schemeClr val="bg1"/>
      </p:bgRef>
    </p:bg>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89"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6293921"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1" y="1551582"/>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6293921" y="1551581"/>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3" name="Segnaposto numero diapositiva 2">
            <a:extLst>
              <a:ext uri="{FF2B5EF4-FFF2-40B4-BE49-F238E27FC236}">
                <a16:creationId xmlns:a16="http://schemas.microsoft.com/office/drawing/2014/main" id="{ED2AEED0-49D4-3E47-AC3F-270F49F4CC39}"/>
              </a:ext>
            </a:extLst>
          </p:cNvPr>
          <p:cNvSpPr>
            <a:spLocks noGrp="1"/>
          </p:cNvSpPr>
          <p:nvPr>
            <p:ph type="sldNum" sz="quarter" idx="16"/>
          </p:nvPr>
        </p:nvSpPr>
        <p:spPr/>
        <p:txBody>
          <a:bodyPr/>
          <a:lstStyle/>
          <a:p>
            <a:fld id="{FEC4A954-C260-E84D-8B85-4D54550A05DF}" type="slidenum">
              <a:rPr lang="it-IT" smtClean="0"/>
              <a:pPr/>
              <a:t>‹N›</a:t>
            </a:fld>
            <a:endParaRPr lang="it-IT"/>
          </a:p>
        </p:txBody>
      </p:sp>
      <p:cxnSp>
        <p:nvCxnSpPr>
          <p:cNvPr id="12" name="Connettore 1 11">
            <a:extLst>
              <a:ext uri="{FF2B5EF4-FFF2-40B4-BE49-F238E27FC236}">
                <a16:creationId xmlns:a16="http://schemas.microsoft.com/office/drawing/2014/main" id="{1D055194-F38E-BC41-A98D-1177A0272C8D}"/>
              </a:ext>
            </a:extLst>
          </p:cNvPr>
          <p:cNvCxnSpPr>
            <a:cxnSpLocks/>
          </p:cNvCxnSpPr>
          <p:nvPr userDrawn="1"/>
        </p:nvCxnSpPr>
        <p:spPr>
          <a:xfrm>
            <a:off x="6096000"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Segnaposto titolo 1">
            <a:extLst>
              <a:ext uri="{FF2B5EF4-FFF2-40B4-BE49-F238E27FC236}">
                <a16:creationId xmlns:a16="http://schemas.microsoft.com/office/drawing/2014/main" id="{35850251-896E-B041-8180-ED90B1047B2B}"/>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solidFill>
                  <a:srgbClr val="262626"/>
                </a:solidFill>
              </a:defRPr>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D3254F67-721F-4A44-8033-F90ED32CB3D8}"/>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1603309577"/>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olo, testo e immagine">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45445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7" name="Segnaposto testo 3">
            <a:extLst>
              <a:ext uri="{FF2B5EF4-FFF2-40B4-BE49-F238E27FC236}">
                <a16:creationId xmlns:a16="http://schemas.microsoft.com/office/drawing/2014/main" id="{798A6822-7DA7-2E4D-B441-3AC1A45F600B}"/>
              </a:ext>
            </a:extLst>
          </p:cNvPr>
          <p:cNvSpPr>
            <a:spLocks noGrp="1"/>
          </p:cNvSpPr>
          <p:nvPr>
            <p:ph type="body" sz="half" idx="11"/>
          </p:nvPr>
        </p:nvSpPr>
        <p:spPr>
          <a:xfrm>
            <a:off x="8249395"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3" y="1551582"/>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4544591"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Text Placeholder 7">
            <a:extLst>
              <a:ext uri="{FF2B5EF4-FFF2-40B4-BE49-F238E27FC236}">
                <a16:creationId xmlns:a16="http://schemas.microsoft.com/office/drawing/2014/main" id="{49EA2753-54CC-C644-8DA9-3ED0F1CF2418}"/>
              </a:ext>
            </a:extLst>
          </p:cNvPr>
          <p:cNvSpPr>
            <a:spLocks noGrp="1"/>
          </p:cNvSpPr>
          <p:nvPr>
            <p:ph type="body" sz="quarter" idx="15" hasCustomPrompt="1"/>
          </p:nvPr>
        </p:nvSpPr>
        <p:spPr>
          <a:xfrm>
            <a:off x="8249395"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5" name="Segnaposto numero diapositiva 4">
            <a:extLst>
              <a:ext uri="{FF2B5EF4-FFF2-40B4-BE49-F238E27FC236}">
                <a16:creationId xmlns:a16="http://schemas.microsoft.com/office/drawing/2014/main" id="{9E5D853E-0A41-7F40-8291-86C503BFACFA}"/>
              </a:ext>
            </a:extLst>
          </p:cNvPr>
          <p:cNvSpPr>
            <a:spLocks noGrp="1"/>
          </p:cNvSpPr>
          <p:nvPr>
            <p:ph type="sldNum" sz="quarter" idx="17"/>
          </p:nvPr>
        </p:nvSpPr>
        <p:spPr/>
        <p:txBody>
          <a:bodyPr/>
          <a:lstStyle/>
          <a:p>
            <a:fld id="{FEC4A954-C260-E84D-8B85-4D54550A05DF}" type="slidenum">
              <a:rPr lang="it-IT" smtClean="0"/>
              <a:pPr/>
              <a:t>‹N›</a:t>
            </a:fld>
            <a:endParaRPr lang="it-IT"/>
          </a:p>
        </p:txBody>
      </p:sp>
      <p:cxnSp>
        <p:nvCxnSpPr>
          <p:cNvPr id="3" name="Connettore 1 2">
            <a:extLst>
              <a:ext uri="{FF2B5EF4-FFF2-40B4-BE49-F238E27FC236}">
                <a16:creationId xmlns:a16="http://schemas.microsoft.com/office/drawing/2014/main" id="{07389034-36FE-D04B-97E1-02A924367620}"/>
              </a:ext>
            </a:extLst>
          </p:cNvPr>
          <p:cNvCxnSpPr>
            <a:cxnSpLocks/>
          </p:cNvCxnSpPr>
          <p:nvPr userDrawn="1"/>
        </p:nvCxnSpPr>
        <p:spPr>
          <a:xfrm>
            <a:off x="4251367"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Connettore 1 13">
            <a:extLst>
              <a:ext uri="{FF2B5EF4-FFF2-40B4-BE49-F238E27FC236}">
                <a16:creationId xmlns:a16="http://schemas.microsoft.com/office/drawing/2014/main" id="{8B042105-974D-A945-82DA-C0EE98AFE88E}"/>
              </a:ext>
            </a:extLst>
          </p:cNvPr>
          <p:cNvCxnSpPr>
            <a:cxnSpLocks/>
          </p:cNvCxnSpPr>
          <p:nvPr userDrawn="1"/>
        </p:nvCxnSpPr>
        <p:spPr>
          <a:xfrm>
            <a:off x="7942613"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Segnaposto titolo 1">
            <a:extLst>
              <a:ext uri="{FF2B5EF4-FFF2-40B4-BE49-F238E27FC236}">
                <a16:creationId xmlns:a16="http://schemas.microsoft.com/office/drawing/2014/main" id="{8B77CED5-B561-3846-9AB3-80FAFE67AF7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612398E9-A9A8-42A3-AEFD-D1738CFB7F8C}"/>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0247866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apositiva fine">
    <p:bg>
      <p:bgPr>
        <a:solidFill>
          <a:srgbClr val="574676"/>
        </a:solidFill>
        <a:effectLst/>
      </p:bgPr>
    </p:bg>
    <p:spTree>
      <p:nvGrpSpPr>
        <p:cNvPr id="1" name=""/>
        <p:cNvGrpSpPr/>
        <p:nvPr/>
      </p:nvGrpSpPr>
      <p:grpSpPr>
        <a:xfrm>
          <a:off x="0" y="0"/>
          <a:ext cx="0" cy="0"/>
          <a:chOff x="0" y="0"/>
          <a:chExt cx="0" cy="0"/>
        </a:xfrm>
      </p:grpSpPr>
      <p:pic>
        <p:nvPicPr>
          <p:cNvPr id="3" name="Immagine 4">
            <a:extLst>
              <a:ext uri="{FF2B5EF4-FFF2-40B4-BE49-F238E27FC236}">
                <a16:creationId xmlns:a16="http://schemas.microsoft.com/office/drawing/2014/main" id="{4D955C49-DB2F-4B88-946E-C73C83E5ED75}"/>
              </a:ext>
            </a:extLst>
          </p:cNvPr>
          <p:cNvPicPr>
            <a:picLocks noChangeAspect="1"/>
          </p:cNvPicPr>
          <p:nvPr userDrawn="1"/>
        </p:nvPicPr>
        <p:blipFill>
          <a:blip r:embed="rId2"/>
          <a:stretch>
            <a:fillRect/>
          </a:stretch>
        </p:blipFill>
        <p:spPr>
          <a:xfrm>
            <a:off x="5254100" y="2860057"/>
            <a:ext cx="1730693" cy="1161160"/>
          </a:xfrm>
          <a:prstGeom prst="rect">
            <a:avLst/>
          </a:prstGeom>
        </p:spPr>
      </p:pic>
    </p:spTree>
    <p:extLst>
      <p:ext uri="{BB962C8B-B14F-4D97-AF65-F5344CB8AC3E}">
        <p14:creationId xmlns:p14="http://schemas.microsoft.com/office/powerpoint/2010/main" val="26012139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EB895A96-2866-484D-98AF-108A2B672A5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p>
            <a:r>
              <a:rPr lang="it-IT" dirty="0"/>
              <a:t>Fare clic per modificare lo stile del titolo dello schema</a:t>
            </a:r>
          </a:p>
        </p:txBody>
      </p:sp>
      <p:sp>
        <p:nvSpPr>
          <p:cNvPr id="3" name="Segnaposto testo 2">
            <a:extLst>
              <a:ext uri="{FF2B5EF4-FFF2-40B4-BE49-F238E27FC236}">
                <a16:creationId xmlns:a16="http://schemas.microsoft.com/office/drawing/2014/main" id="{FEADDCE6-9BC9-1045-9A9B-B7DA4ECE9695}"/>
              </a:ext>
            </a:extLst>
          </p:cNvPr>
          <p:cNvSpPr>
            <a:spLocks noGrp="1"/>
          </p:cNvSpPr>
          <p:nvPr>
            <p:ph type="body" idx="1"/>
          </p:nvPr>
        </p:nvSpPr>
        <p:spPr>
          <a:xfrm>
            <a:off x="838200" y="1531918"/>
            <a:ext cx="10515600" cy="4645045"/>
          </a:xfrm>
          <a:prstGeom prst="rect">
            <a:avLst/>
          </a:prstGeom>
        </p:spPr>
        <p:txBody>
          <a:bodyPr vert="horz" lIns="91440" tIns="45720" rIns="91440" bIns="45720" rtlCol="0" anchor="ctr">
            <a:normAutofit/>
          </a:bodyPr>
          <a:lstStyle/>
          <a:p>
            <a:r>
              <a:rPr lang="it-IT" dirty="0"/>
              <a:t>Fare clic per modificare gli stili del testo dello schema</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Secondo livello</a:t>
            </a:r>
          </a:p>
          <a:p>
            <a:pPr marL="814348" marR="0" lvl="2"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Terzo livello</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endParaRPr lang="it-IT" dirty="0"/>
          </a:p>
        </p:txBody>
      </p:sp>
      <p:sp>
        <p:nvSpPr>
          <p:cNvPr id="6" name="Segnaposto numero diapositiva 5">
            <a:extLst>
              <a:ext uri="{FF2B5EF4-FFF2-40B4-BE49-F238E27FC236}">
                <a16:creationId xmlns:a16="http://schemas.microsoft.com/office/drawing/2014/main" id="{CB3E5275-AA79-C14E-8281-AC408BAAE8DA}"/>
              </a:ext>
            </a:extLst>
          </p:cNvPr>
          <p:cNvSpPr>
            <a:spLocks noGrp="1"/>
          </p:cNvSpPr>
          <p:nvPr>
            <p:ph type="sldNum" sz="quarter" idx="4"/>
          </p:nvPr>
        </p:nvSpPr>
        <p:spPr>
          <a:xfrm>
            <a:off x="8610600" y="6356356"/>
            <a:ext cx="2743200" cy="365125"/>
          </a:xfrm>
          <a:prstGeom prst="rect">
            <a:avLst/>
          </a:prstGeom>
        </p:spPr>
        <p:txBody>
          <a:bodyPr vert="horz" lIns="91440" tIns="45720" rIns="91440" bIns="45720" rtlCol="0" anchor="ctr"/>
          <a:lstStyle>
            <a:lvl1pPr algn="r">
              <a:defRPr sz="825" b="0" i="0">
                <a:solidFill>
                  <a:schemeClr val="bg1">
                    <a:lumMod val="75000"/>
                  </a:schemeClr>
                </a:solidFill>
                <a:latin typeface="Fira Sans Medium" panose="020B0503050000020004" pitchFamily="34" charset="0"/>
              </a:defRPr>
            </a:lvl1pPr>
          </a:lstStyle>
          <a:p>
            <a:fld id="{FEC4A954-C260-E84D-8B85-4D54550A05DF}" type="slidenum">
              <a:rPr lang="it-IT" smtClean="0"/>
              <a:pPr/>
              <a:t>‹N›</a:t>
            </a:fld>
            <a:endParaRPr lang="it-IT"/>
          </a:p>
        </p:txBody>
      </p:sp>
    </p:spTree>
    <p:extLst>
      <p:ext uri="{BB962C8B-B14F-4D97-AF65-F5344CB8AC3E}">
        <p14:creationId xmlns:p14="http://schemas.microsoft.com/office/powerpoint/2010/main" val="4155003289"/>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1" r:id="rId3"/>
    <p:sldLayoutId id="2147483659" r:id="rId4"/>
    <p:sldLayoutId id="2147483650" r:id="rId5"/>
    <p:sldLayoutId id="2147483663" r:id="rId6"/>
    <p:sldLayoutId id="2147483654" r:id="rId7"/>
    <p:sldLayoutId id="2147483657" r:id="rId8"/>
    <p:sldLayoutId id="2147483667" r:id="rId9"/>
    <p:sldLayoutId id="2147483666" r:id="rId10"/>
    <p:sldLayoutId id="2147483665" r:id="rId11"/>
    <p:sldLayoutId id="2147483658" r:id="rId12"/>
  </p:sldLayoutIdLst>
  <p:hf hdr="0" ftr="0" dt="0"/>
  <p:txStyles>
    <p:titleStyle>
      <a:lvl1pPr algn="l" defTabSz="685766" rtl="0" eaLnBrk="1" latinLnBrk="0" hangingPunct="1">
        <a:lnSpc>
          <a:spcPct val="90000"/>
        </a:lnSpc>
        <a:spcBef>
          <a:spcPct val="0"/>
        </a:spcBef>
        <a:buNone/>
        <a:defRPr sz="2700" b="1" kern="1200">
          <a:solidFill>
            <a:schemeClr val="tx1">
              <a:lumMod val="85000"/>
              <a:lumOff val="15000"/>
            </a:schemeClr>
          </a:solidFill>
          <a:latin typeface="Roboto Slab" pitchFamily="2" charset="0"/>
          <a:ea typeface="Roboto Slab" pitchFamily="2" charset="0"/>
          <a:cs typeface="+mj-cs"/>
        </a:defRPr>
      </a:lvl1pPr>
    </p:titleStyle>
    <p:bodyStyle>
      <a:lvl1pPr marL="171442" indent="-171442" algn="l" defTabSz="685766" rtl="0" eaLnBrk="1" latinLnBrk="0" hangingPunct="1">
        <a:lnSpc>
          <a:spcPct val="90000"/>
        </a:lnSpc>
        <a:spcBef>
          <a:spcPts val="750"/>
        </a:spcBef>
        <a:buFont typeface="Fira Sans" panose="020B0503050000020004" pitchFamily="34" charset="0"/>
        <a:buChar char="―"/>
        <a:defRPr sz="1800" b="0" i="0" kern="1200">
          <a:solidFill>
            <a:schemeClr val="tx1">
              <a:lumMod val="65000"/>
              <a:lumOff val="35000"/>
            </a:schemeClr>
          </a:solidFill>
          <a:latin typeface="Fira Sans Medium" panose="020B0503050000020004" pitchFamily="34" charset="0"/>
          <a:ea typeface="+mn-ea"/>
          <a:cs typeface="+mn-cs"/>
        </a:defRPr>
      </a:lvl1pPr>
      <a:lvl2pPr marL="557185" marR="0" indent="-214303" algn="l" defTabSz="685766" rtl="0" eaLnBrk="1" fontAlgn="auto" latinLnBrk="0" hangingPunct="1">
        <a:lnSpc>
          <a:spcPct val="90000"/>
        </a:lnSpc>
        <a:spcBef>
          <a:spcPts val="375"/>
        </a:spcBef>
        <a:spcAft>
          <a:spcPts val="0"/>
        </a:spcAft>
        <a:buClrTx/>
        <a:buSzTx/>
        <a:buFont typeface="Fira Sans" panose="020B0503050000020004" pitchFamily="34" charset="0"/>
        <a:buChar char="–"/>
        <a:tabLst/>
        <a:defRPr sz="1650" b="0" i="0" kern="1200">
          <a:solidFill>
            <a:schemeClr val="tx1">
              <a:lumMod val="65000"/>
              <a:lumOff val="35000"/>
            </a:schemeClr>
          </a:solidFill>
          <a:latin typeface="Fira Sans" panose="020B0503050000020004" pitchFamily="34" charset="0"/>
          <a:ea typeface="+mn-ea"/>
          <a:cs typeface="+mn-cs"/>
        </a:defRPr>
      </a:lvl2pPr>
      <a:lvl3pPr marL="857207" indent="-171442" algn="l" defTabSz="685766" rtl="0" eaLnBrk="1" latinLnBrk="0" hangingPunct="1">
        <a:lnSpc>
          <a:spcPct val="90000"/>
        </a:lnSpc>
        <a:spcBef>
          <a:spcPts val="375"/>
        </a:spcBef>
        <a:buFont typeface="Arial" panose="020B0604020202020204" pitchFamily="34" charset="0"/>
        <a:buChar char="•"/>
        <a:defRPr sz="1500" kern="1200">
          <a:solidFill>
            <a:schemeClr val="tx1">
              <a:lumMod val="65000"/>
              <a:lumOff val="35000"/>
            </a:schemeClr>
          </a:solidFill>
          <a:latin typeface="Fira Sans" panose="020B0503050000020004" pitchFamily="34" charset="0"/>
          <a:ea typeface="+mn-ea"/>
          <a:cs typeface="+mn-cs"/>
        </a:defRPr>
      </a:lvl3pPr>
      <a:lvl4pPr marL="1200090"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2974"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856"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it-IT"/>
      </a:defPPr>
      <a:lvl1pPr marL="0" algn="l" defTabSz="685766" rtl="0" eaLnBrk="1" latinLnBrk="0" hangingPunct="1">
        <a:defRPr sz="1350" kern="1200">
          <a:solidFill>
            <a:schemeClr val="tx1"/>
          </a:solidFill>
          <a:latin typeface="+mn-lt"/>
          <a:ea typeface="+mn-ea"/>
          <a:cs typeface="+mn-cs"/>
        </a:defRPr>
      </a:lvl1pPr>
      <a:lvl2pPr marL="342884" algn="l" defTabSz="685766" rtl="0" eaLnBrk="1" latinLnBrk="0" hangingPunct="1">
        <a:defRPr sz="1350" kern="1200">
          <a:solidFill>
            <a:schemeClr val="tx1"/>
          </a:solidFill>
          <a:latin typeface="+mn-lt"/>
          <a:ea typeface="+mn-ea"/>
          <a:cs typeface="+mn-cs"/>
        </a:defRPr>
      </a:lvl2pPr>
      <a:lvl3pPr marL="685766" algn="l" defTabSz="685766" rtl="0" eaLnBrk="1" latinLnBrk="0" hangingPunct="1">
        <a:defRPr sz="1350" kern="1200">
          <a:solidFill>
            <a:schemeClr val="tx1"/>
          </a:solidFill>
          <a:latin typeface="+mn-lt"/>
          <a:ea typeface="+mn-ea"/>
          <a:cs typeface="+mn-cs"/>
        </a:defRPr>
      </a:lvl3pPr>
      <a:lvl4pPr marL="1028649" algn="l" defTabSz="685766" rtl="0" eaLnBrk="1" latinLnBrk="0" hangingPunct="1">
        <a:defRPr sz="1350" kern="1200">
          <a:solidFill>
            <a:schemeClr val="tx1"/>
          </a:solidFill>
          <a:latin typeface="+mn-lt"/>
          <a:ea typeface="+mn-ea"/>
          <a:cs typeface="+mn-cs"/>
        </a:defRPr>
      </a:lvl4pPr>
      <a:lvl5pPr marL="1371532" algn="l" defTabSz="685766" rtl="0" eaLnBrk="1" latinLnBrk="0" hangingPunct="1">
        <a:defRPr sz="1350" kern="1200">
          <a:solidFill>
            <a:schemeClr val="tx1"/>
          </a:solidFill>
          <a:latin typeface="+mn-lt"/>
          <a:ea typeface="+mn-ea"/>
          <a:cs typeface="+mn-cs"/>
        </a:defRPr>
      </a:lvl5pPr>
      <a:lvl6pPr marL="1714415" algn="l" defTabSz="685766" rtl="0" eaLnBrk="1" latinLnBrk="0" hangingPunct="1">
        <a:defRPr sz="1350" kern="1200">
          <a:solidFill>
            <a:schemeClr val="tx1"/>
          </a:solidFill>
          <a:latin typeface="+mn-lt"/>
          <a:ea typeface="+mn-ea"/>
          <a:cs typeface="+mn-cs"/>
        </a:defRPr>
      </a:lvl6pPr>
      <a:lvl7pPr marL="2057297" algn="l" defTabSz="685766" rtl="0" eaLnBrk="1" latinLnBrk="0" hangingPunct="1">
        <a:defRPr sz="1350" kern="1200">
          <a:solidFill>
            <a:schemeClr val="tx1"/>
          </a:solidFill>
          <a:latin typeface="+mn-lt"/>
          <a:ea typeface="+mn-ea"/>
          <a:cs typeface="+mn-cs"/>
        </a:defRPr>
      </a:lvl7pPr>
      <a:lvl8pPr marL="2400180" algn="l" defTabSz="685766" rtl="0" eaLnBrk="1" latinLnBrk="0" hangingPunct="1">
        <a:defRPr sz="1350" kern="1200">
          <a:solidFill>
            <a:schemeClr val="tx1"/>
          </a:solidFill>
          <a:latin typeface="+mn-lt"/>
          <a:ea typeface="+mn-ea"/>
          <a:cs typeface="+mn-cs"/>
        </a:defRPr>
      </a:lvl8pPr>
      <a:lvl9pPr marL="2743064" algn="l" defTabSz="685766"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9.svg"/><Relationship Id="rId7" Type="http://schemas.openxmlformats.org/officeDocument/2006/relationships/image" Target="../media/image23.svg"/><Relationship Id="rId2" Type="http://schemas.openxmlformats.org/officeDocument/2006/relationships/image" Target="../media/image18.svg"/><Relationship Id="rId1" Type="http://schemas.openxmlformats.org/officeDocument/2006/relationships/slideLayout" Target="../slideLayouts/slideLayout7.xml"/><Relationship Id="rId6" Type="http://schemas.openxmlformats.org/officeDocument/2006/relationships/image" Target="../media/image22.svg"/><Relationship Id="rId5" Type="http://schemas.openxmlformats.org/officeDocument/2006/relationships/image" Target="../media/image21.svg"/><Relationship Id="rId4" Type="http://schemas.openxmlformats.org/officeDocument/2006/relationships/image" Target="../media/image20.svg"/></Relationships>
</file>

<file path=ppt/slides/_rels/slide16.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24.svg"/><Relationship Id="rId1" Type="http://schemas.openxmlformats.org/officeDocument/2006/relationships/slideLayout" Target="../slideLayouts/slideLayout7.xml"/><Relationship Id="rId4" Type="http://schemas.openxmlformats.org/officeDocument/2006/relationships/image" Target="../media/image26.png"/></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sv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sv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image" Target="../media/image31.svg"/><Relationship Id="rId1" Type="http://schemas.openxmlformats.org/officeDocument/2006/relationships/slideLayout" Target="../slideLayouts/slideLayout7.xml"/><Relationship Id="rId4" Type="http://schemas.openxmlformats.org/officeDocument/2006/relationships/image" Target="../media/image33.svg"/></Relationships>
</file>

<file path=ppt/slides/_rels/slide2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image" Target="../media/image37.sv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image" Target="../media/image41.sv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image" Target="../media/image43.sv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46.svg"/><Relationship Id="rId2" Type="http://schemas.openxmlformats.org/officeDocument/2006/relationships/image" Target="../media/image45.sv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49.svg"/><Relationship Id="rId2" Type="http://schemas.openxmlformats.org/officeDocument/2006/relationships/image" Target="../media/image48.sv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51.svg"/><Relationship Id="rId2" Type="http://schemas.openxmlformats.org/officeDocument/2006/relationships/image" Target="../media/image50.png"/><Relationship Id="rId1" Type="http://schemas.openxmlformats.org/officeDocument/2006/relationships/slideLayout" Target="../slideLayouts/slideLayout7.xml"/><Relationship Id="rId4" Type="http://schemas.openxmlformats.org/officeDocument/2006/relationships/image" Target="../media/image52.svg"/></Relationships>
</file>

<file path=ppt/slides/_rels/slide3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sv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1773936"/>
            <a:ext cx="630936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REINFORCEMENT LEARNING   ·   CHAPTER 02</a:t>
            </a:r>
          </a:p>
        </p:txBody>
      </p:sp>
      <p:sp>
        <p:nvSpPr>
          <p:cNvPr id="5" name="TextBox 4"/>
          <p:cNvSpPr txBox="1"/>
          <p:nvPr/>
        </p:nvSpPr>
        <p:spPr>
          <a:xfrm>
            <a:off x="859536" y="2139696"/>
            <a:ext cx="6766560" cy="1005840"/>
          </a:xfrm>
          <a:prstGeom prst="rect">
            <a:avLst/>
          </a:prstGeom>
          <a:noFill/>
        </p:spPr>
        <p:txBody>
          <a:bodyPr wrap="square" lIns="0" tIns="0" rIns="0" bIns="0" anchor="t">
            <a:noAutofit/>
          </a:bodyPr>
          <a:lstStyle/>
          <a:p>
            <a:pPr marL="0" indent="0" algn="l">
              <a:lnSpc>
                <a:spcPts val="3587"/>
              </a:lnSpc>
              <a:spcBef>
                <a:spcPts val="0"/>
              </a:spcBef>
              <a:spcAft>
                <a:spcPts val="0"/>
              </a:spcAft>
              <a:buNone/>
            </a:pPr>
            <a:r>
              <a:rPr sz="3384" b="1" i="0">
                <a:solidFill>
                  <a:srgbClr val="FFFFFF"/>
                </a:solidFill>
                <a:latin typeface="Roboto Slab"/>
              </a:rPr>
              <a:t>The Reinforcement</a:t>
            </a:r>
          </a:p>
          <a:p>
            <a:pPr marL="0" indent="0" algn="l">
              <a:lnSpc>
                <a:spcPts val="3587"/>
              </a:lnSpc>
              <a:spcBef>
                <a:spcPts val="0"/>
              </a:spcBef>
              <a:spcAft>
                <a:spcPts val="0"/>
              </a:spcAft>
              <a:buNone/>
            </a:pPr>
            <a:r>
              <a:rPr sz="3384" b="1" i="0">
                <a:solidFill>
                  <a:srgbClr val="FFFFFF"/>
                </a:solidFill>
                <a:latin typeface="Roboto Slab"/>
              </a:rPr>
              <a:t>Learning Problem</a:t>
            </a:r>
          </a:p>
        </p:txBody>
      </p:sp>
      <p:sp>
        <p:nvSpPr>
          <p:cNvPr id="6" name="Rectangle 5"/>
          <p:cNvSpPr/>
          <p:nvPr/>
        </p:nvSpPr>
        <p:spPr>
          <a:xfrm>
            <a:off x="859536" y="3346704"/>
            <a:ext cx="1280160" cy="320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59536" y="3602736"/>
            <a:ext cx="6126480" cy="1371600"/>
          </a:xfrm>
          <a:prstGeom prst="rect">
            <a:avLst/>
          </a:prstGeom>
          <a:noFill/>
        </p:spPr>
        <p:txBody>
          <a:bodyPr wrap="square" lIns="0" tIns="0" rIns="0" bIns="0" anchor="t">
            <a:noAutofit/>
          </a:bodyPr>
          <a:lstStyle/>
          <a:p>
            <a:pPr marL="0" indent="0" algn="l">
              <a:lnSpc>
                <a:spcPts val="1799"/>
              </a:lnSpc>
              <a:spcBef>
                <a:spcPts val="0"/>
              </a:spcBef>
              <a:spcAft>
                <a:spcPts val="0"/>
              </a:spcAft>
              <a:buNone/>
            </a:pPr>
            <a:r>
              <a:rPr sz="1363" b="0" i="0" dirty="0">
                <a:solidFill>
                  <a:srgbClr val="D6D0E0"/>
                </a:solidFill>
                <a:latin typeface="Fira Sans"/>
              </a:rPr>
              <a:t>From the interaction loop to the Markov Decision Process: states, actions, rewards, dynamics, return and discount</a:t>
            </a:r>
            <a:r>
              <a:rPr lang="it-IT" sz="1363" b="0" i="0" dirty="0">
                <a:solidFill>
                  <a:srgbClr val="D6D0E0"/>
                </a:solidFill>
                <a:latin typeface="Fira Sans"/>
              </a:rPr>
              <a:t>, </a:t>
            </a:r>
            <a:r>
              <a:rPr sz="1363" b="0" i="0" dirty="0">
                <a:solidFill>
                  <a:srgbClr val="D6D0E0"/>
                </a:solidFill>
                <a:latin typeface="Fira Sans"/>
              </a:rPr>
              <a:t>and why the solution is a policy rather than a plan.</a:t>
            </a:r>
          </a:p>
        </p:txBody>
      </p:sp>
      <p:sp>
        <p:nvSpPr>
          <p:cNvPr id="8" name="TextBox 7"/>
          <p:cNvSpPr txBox="1"/>
          <p:nvPr/>
        </p:nvSpPr>
        <p:spPr>
          <a:xfrm>
            <a:off x="859536" y="5522976"/>
            <a:ext cx="6309360" cy="566928"/>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0" i="0">
                <a:solidFill>
                  <a:srgbClr val="B2A7C4"/>
                </a:solidFill>
                <a:latin typeface="Fira Sans"/>
              </a:rPr>
              <a:t>Università degli Studi di Genova  ·  DITEN — ELIOS Lab</a:t>
            </a:r>
          </a:p>
          <a:p>
            <a:pPr marL="0" indent="0" algn="l">
              <a:lnSpc>
                <a:spcPts val="1092"/>
              </a:lnSpc>
              <a:spcBef>
                <a:spcPts val="300"/>
              </a:spcBef>
              <a:spcAft>
                <a:spcPts val="0"/>
              </a:spcAft>
              <a:buNone/>
            </a:pPr>
            <a:r>
              <a:rPr sz="1092" b="0" i="0">
                <a:solidFill>
                  <a:srgbClr val="9486AC"/>
                </a:solidFill>
                <a:latin typeface="Fira Sans"/>
              </a:rPr>
              <a:t>Lecture notes, Chapter 02 — companion slides</a:t>
            </a:r>
          </a:p>
        </p:txBody>
      </p:sp>
      <p:sp>
        <p:nvSpPr>
          <p:cNvPr id="9" name="Rectangle 8"/>
          <p:cNvSpPr/>
          <p:nvPr/>
        </p:nvSpPr>
        <p:spPr>
          <a:xfrm>
            <a:off x="7424928" y="1773936"/>
            <a:ext cx="10972" cy="39319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1773936"/>
            <a:ext cx="338328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50">
                <a:solidFill>
                  <a:srgbClr val="B2A7C4"/>
                </a:solidFill>
                <a:latin typeface="Fira Sans Medium"/>
              </a:rPr>
              <a:t>CONTENTS</a:t>
            </a:r>
          </a:p>
        </p:txBody>
      </p:sp>
      <p:sp>
        <p:nvSpPr>
          <p:cNvPr id="11" name="TextBox 10"/>
          <p:cNvSpPr txBox="1"/>
          <p:nvPr/>
        </p:nvSpPr>
        <p:spPr>
          <a:xfrm>
            <a:off x="7973568" y="2157984"/>
            <a:ext cx="3383280" cy="365760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80">
                <a:solidFill>
                  <a:srgbClr val="9486AC"/>
                </a:solidFill>
                <a:latin typeface="Fira Sans"/>
              </a:rPr>
              <a:t>PART I   </a:t>
            </a:r>
          </a:p>
          <a:p>
            <a:pPr marL="0" indent="0" algn="l">
              <a:lnSpc>
                <a:spcPts val="1283"/>
              </a:lnSpc>
              <a:spcBef>
                <a:spcPts val="200"/>
              </a:spcBef>
              <a:spcAft>
                <a:spcPts val="0"/>
              </a:spcAft>
              <a:buNone/>
            </a:pPr>
            <a:r>
              <a:rPr sz="1188" b="0" i="0">
                <a:solidFill>
                  <a:srgbClr val="FFFFFF"/>
                </a:solidFill>
                <a:latin typeface="Fira Sans Medium"/>
              </a:rPr>
              <a:t>Agent and environment</a:t>
            </a:r>
          </a:p>
          <a:p>
            <a:pPr marL="0" indent="0" algn="l">
              <a:lnSpc>
                <a:spcPts val="882"/>
              </a:lnSpc>
              <a:spcBef>
                <a:spcPts val="1200"/>
              </a:spcBef>
              <a:spcAft>
                <a:spcPts val="0"/>
              </a:spcAft>
              <a:buNone/>
            </a:pPr>
            <a:r>
              <a:rPr sz="882" b="1" i="0" spc="80">
                <a:solidFill>
                  <a:srgbClr val="9486AC"/>
                </a:solidFill>
                <a:latin typeface="Fira Sans"/>
              </a:rPr>
              <a:t>PART II  </a:t>
            </a:r>
          </a:p>
          <a:p>
            <a:pPr marL="0" indent="0" algn="l">
              <a:lnSpc>
                <a:spcPts val="1283"/>
              </a:lnSpc>
              <a:spcBef>
                <a:spcPts val="200"/>
              </a:spcBef>
              <a:spcAft>
                <a:spcPts val="0"/>
              </a:spcAft>
              <a:buNone/>
            </a:pPr>
            <a:r>
              <a:rPr sz="1188" b="0" i="0">
                <a:solidFill>
                  <a:srgbClr val="FFFFFF"/>
                </a:solidFill>
                <a:latin typeface="Fira Sans Medium"/>
              </a:rPr>
              <a:t>Why the problem is hard</a:t>
            </a:r>
          </a:p>
          <a:p>
            <a:pPr marL="0" indent="0" algn="l">
              <a:lnSpc>
                <a:spcPts val="882"/>
              </a:lnSpc>
              <a:spcBef>
                <a:spcPts val="1200"/>
              </a:spcBef>
              <a:spcAft>
                <a:spcPts val="0"/>
              </a:spcAft>
              <a:buNone/>
            </a:pPr>
            <a:r>
              <a:rPr sz="882" b="1" i="0" spc="80">
                <a:solidFill>
                  <a:srgbClr val="9486AC"/>
                </a:solidFill>
                <a:latin typeface="Fira Sans"/>
              </a:rPr>
              <a:t>PART III </a:t>
            </a:r>
          </a:p>
          <a:p>
            <a:pPr marL="0" indent="0" algn="l">
              <a:lnSpc>
                <a:spcPts val="1283"/>
              </a:lnSpc>
              <a:spcBef>
                <a:spcPts val="200"/>
              </a:spcBef>
              <a:spcAft>
                <a:spcPts val="0"/>
              </a:spcAft>
              <a:buNone/>
            </a:pPr>
            <a:r>
              <a:rPr sz="1188" b="0" i="0">
                <a:solidFill>
                  <a:srgbClr val="FFFFFF"/>
                </a:solidFill>
                <a:latin typeface="Fira Sans Medium"/>
              </a:rPr>
              <a:t>The Markov Decision Process</a:t>
            </a:r>
          </a:p>
          <a:p>
            <a:pPr marL="0" indent="0" algn="l">
              <a:lnSpc>
                <a:spcPts val="882"/>
              </a:lnSpc>
              <a:spcBef>
                <a:spcPts val="1200"/>
              </a:spcBef>
              <a:spcAft>
                <a:spcPts val="0"/>
              </a:spcAft>
              <a:buNone/>
            </a:pPr>
            <a:r>
              <a:rPr sz="882" b="1" i="0" spc="80">
                <a:solidFill>
                  <a:srgbClr val="9486AC"/>
                </a:solidFill>
                <a:latin typeface="Fira Sans"/>
              </a:rPr>
              <a:t>PART IV  </a:t>
            </a:r>
          </a:p>
          <a:p>
            <a:pPr marL="0" indent="0" algn="l">
              <a:lnSpc>
                <a:spcPts val="1283"/>
              </a:lnSpc>
              <a:spcBef>
                <a:spcPts val="200"/>
              </a:spcBef>
              <a:spcAft>
                <a:spcPts val="0"/>
              </a:spcAft>
              <a:buNone/>
            </a:pPr>
            <a:r>
              <a:rPr sz="1188" b="0" i="0">
                <a:solidFill>
                  <a:srgbClr val="FFFFFF"/>
                </a:solidFill>
                <a:latin typeface="Fira Sans Medium"/>
              </a:rPr>
              <a:t>Return and discount</a:t>
            </a:r>
          </a:p>
          <a:p>
            <a:pPr marL="0" indent="0" algn="l">
              <a:lnSpc>
                <a:spcPts val="882"/>
              </a:lnSpc>
              <a:spcBef>
                <a:spcPts val="1200"/>
              </a:spcBef>
              <a:spcAft>
                <a:spcPts val="0"/>
              </a:spcAft>
              <a:buNone/>
            </a:pPr>
            <a:r>
              <a:rPr sz="882" b="1" i="0" spc="80">
                <a:solidFill>
                  <a:srgbClr val="9486AC"/>
                </a:solidFill>
                <a:latin typeface="Fira Sans"/>
              </a:rPr>
              <a:t>PART V   </a:t>
            </a:r>
          </a:p>
          <a:p>
            <a:pPr marL="0" indent="0" algn="l">
              <a:lnSpc>
                <a:spcPts val="1283"/>
              </a:lnSpc>
              <a:spcBef>
                <a:spcPts val="200"/>
              </a:spcBef>
              <a:spcAft>
                <a:spcPts val="0"/>
              </a:spcAft>
              <a:buNone/>
            </a:pPr>
            <a:r>
              <a:rPr sz="1188" b="0" i="0">
                <a:solidFill>
                  <a:srgbClr val="FFFFFF"/>
                </a:solidFill>
                <a:latin typeface="Fira Sans Medium"/>
              </a:rPr>
              <a:t>Plan and policy</a:t>
            </a:r>
          </a:p>
          <a:p>
            <a:pPr marL="0" indent="0" algn="l">
              <a:lnSpc>
                <a:spcPts val="882"/>
              </a:lnSpc>
              <a:spcBef>
                <a:spcPts val="1200"/>
              </a:spcBef>
              <a:spcAft>
                <a:spcPts val="0"/>
              </a:spcAft>
              <a:buNone/>
            </a:pPr>
            <a:r>
              <a:rPr sz="882" b="1" i="0" spc="80">
                <a:solidFill>
                  <a:srgbClr val="9486AC"/>
                </a:solidFill>
                <a:latin typeface="Fira Sans"/>
              </a:rPr>
              <a:t>PART VI  </a:t>
            </a:r>
          </a:p>
          <a:p>
            <a:pPr marL="0" indent="0" algn="l">
              <a:lnSpc>
                <a:spcPts val="1283"/>
              </a:lnSpc>
              <a:spcBef>
                <a:spcPts val="200"/>
              </a:spcBef>
              <a:spcAft>
                <a:spcPts val="0"/>
              </a:spcAft>
              <a:buNone/>
            </a:pPr>
            <a:r>
              <a:rPr sz="1188" b="0" i="0">
                <a:solidFill>
                  <a:srgbClr val="FFFFFF"/>
                </a:solidFill>
                <a:latin typeface="Fira Sans Medium"/>
              </a:rPr>
              <a:t>Case study: Frozen Lake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Agent and environment</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The interaction loop that defines the reinforcement learning problem: what the agent is, where it ends, and what crosses the boundary at every step.</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is the boundary drawn at the decision, and not at the robot’s skin?</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Reward, and why it drives behaviour</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The agent–environment boundary</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State versus observation</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One time step, move by move</a:t>
            </a:r>
          </a:p>
          <a:p>
            <a:pPr marL="0" indent="0" algn="l">
              <a:lnSpc>
                <a:spcPts val="1378"/>
              </a:lnSpc>
              <a:spcBef>
                <a:spcPts val="1400"/>
              </a:spcBef>
              <a:spcAft>
                <a:spcPts val="0"/>
              </a:spcAft>
              <a:buNone/>
            </a:pPr>
            <a:r>
              <a:rPr sz="1188" b="1" i="0">
                <a:solidFill>
                  <a:srgbClr val="B2A7C4"/>
                </a:solidFill>
                <a:latin typeface="Fira Sans"/>
              </a:rPr>
              <a:t>05   </a:t>
            </a:r>
            <a:r>
              <a:rPr sz="1188" b="0" i="0">
                <a:solidFill>
                  <a:srgbClr val="FFFFFF"/>
                </a:solidFill>
                <a:latin typeface="Fira Sans"/>
              </a:rPr>
              <a:t>Experience, steps and episodes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1.1  WHERE THE PROBLEM COMES FROM</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Behaviour is shaped by what we find rewarding</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 — Agent and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a:t>
            </a:r>
          </a:p>
        </p:txBody>
      </p:sp>
      <p:sp>
        <p:nvSpPr>
          <p:cNvPr id="8" name="TextBox 7"/>
          <p:cNvSpPr txBox="1"/>
          <p:nvPr/>
        </p:nvSpPr>
        <p:spPr>
          <a:xfrm>
            <a:off x="841248" y="1316736"/>
            <a:ext cx="589788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Humans naturally seek experiences and outcomes that feel rewarding. Sometimes that means </a:t>
            </a:r>
            <a:r>
              <a:rPr sz="1188" b="1" i="0" dirty="0">
                <a:solidFill>
                  <a:srgbClr val="333639"/>
                </a:solidFill>
                <a:latin typeface="Fira Sans"/>
              </a:rPr>
              <a:t>immediate gratification</a:t>
            </a:r>
            <a:r>
              <a:rPr sz="1188" b="0" i="0" dirty="0">
                <a:solidFill>
                  <a:srgbClr val="333639"/>
                </a:solidFill>
                <a:latin typeface="Fira Sans"/>
              </a:rPr>
              <a:t>; at other times we give up an immediate reward in exchange for a </a:t>
            </a:r>
            <a:r>
              <a:rPr sz="1188" b="1" i="0" dirty="0">
                <a:solidFill>
                  <a:srgbClr val="333639"/>
                </a:solidFill>
                <a:latin typeface="Fira Sans"/>
              </a:rPr>
              <a:t>potentially greater one later</a:t>
            </a:r>
            <a:r>
              <a:rPr sz="1188" b="0" i="0" dirty="0">
                <a:solidFill>
                  <a:srgbClr val="333639"/>
                </a:solidFill>
                <a:latin typeface="Fira Sans"/>
              </a:rPr>
              <a:t>. What we value need not be selfish.</a:t>
            </a:r>
          </a:p>
        </p:txBody>
      </p:sp>
      <p:pic>
        <p:nvPicPr>
          <p:cNvPr id="9" name="Picture 8" descr="intro_reward.png"/>
          <p:cNvPicPr>
            <a:picLocks noChangeAspect="1"/>
          </p:cNvPicPr>
          <p:nvPr/>
        </p:nvPicPr>
        <p:blipFill>
          <a:blip r:embed="rId2"/>
          <a:stretch>
            <a:fillRect/>
          </a:stretch>
        </p:blipFill>
        <p:spPr>
          <a:xfrm>
            <a:off x="841248" y="2160177"/>
            <a:ext cx="5715083" cy="2286915"/>
          </a:xfrm>
          <a:prstGeom prst="rect">
            <a:avLst/>
          </a:prstGeom>
        </p:spPr>
      </p:pic>
      <p:sp>
        <p:nvSpPr>
          <p:cNvPr id="10" name="Rectangle 9"/>
          <p:cNvSpPr/>
          <p:nvPr/>
        </p:nvSpPr>
        <p:spPr>
          <a:xfrm>
            <a:off x="841248" y="452984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4767590"/>
            <a:ext cx="3297936"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913894"/>
            <a:ext cx="3297936" cy="931232"/>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2B7A3E"/>
                </a:solidFill>
                <a:latin typeface="Fira Sans Medium"/>
              </a:rPr>
              <a:t>LOOK BEYOND THE IMMEDIATE</a:t>
            </a:r>
          </a:p>
          <a:p>
            <a:pPr marL="0" indent="0" algn="l">
              <a:lnSpc>
                <a:spcPts val="1300"/>
              </a:lnSpc>
              <a:spcBef>
                <a:spcPts val="500"/>
              </a:spcBef>
              <a:spcAft>
                <a:spcPts val="0"/>
              </a:spcAft>
              <a:buNone/>
            </a:pPr>
            <a:r>
              <a:rPr sz="1140" b="1" i="0">
                <a:solidFill>
                  <a:srgbClr val="25282A"/>
                </a:solidFill>
                <a:latin typeface="Fira Sans"/>
              </a:rPr>
              <a:t>Intelligent behaviour is future-directed</a:t>
            </a:r>
          </a:p>
          <a:p>
            <a:pPr marL="0" indent="0" algn="l">
              <a:lnSpc>
                <a:spcPts val="1254"/>
              </a:lnSpc>
              <a:spcBef>
                <a:spcPts val="500"/>
              </a:spcBef>
              <a:spcAft>
                <a:spcPts val="0"/>
              </a:spcAft>
              <a:buNone/>
            </a:pPr>
            <a:r>
              <a:rPr sz="1045" b="0" i="0">
                <a:solidFill>
                  <a:srgbClr val="626669"/>
                </a:solidFill>
                <a:latin typeface="Fira Sans"/>
              </a:rPr>
              <a:t>Acting well requires anticipating the long-term consequences of an action, not only the reward it produces now.</a:t>
            </a:r>
          </a:p>
        </p:txBody>
      </p:sp>
      <p:sp>
        <p:nvSpPr>
          <p:cNvPr id="13" name="Rectangle 12"/>
          <p:cNvSpPr/>
          <p:nvPr/>
        </p:nvSpPr>
        <p:spPr>
          <a:xfrm>
            <a:off x="4450080" y="4767590"/>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450080" y="4913894"/>
            <a:ext cx="3297936" cy="931232"/>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574676"/>
                </a:solidFill>
                <a:latin typeface="Fira Sans Medium"/>
              </a:rPr>
              <a:t>ACCEPT UNCERTAINTY</a:t>
            </a:r>
          </a:p>
          <a:p>
            <a:pPr marL="0" indent="0" algn="l">
              <a:lnSpc>
                <a:spcPts val="1300"/>
              </a:lnSpc>
              <a:spcBef>
                <a:spcPts val="500"/>
              </a:spcBef>
              <a:spcAft>
                <a:spcPts val="0"/>
              </a:spcAft>
              <a:buNone/>
            </a:pPr>
            <a:r>
              <a:rPr sz="1140" b="1" i="0" dirty="0">
                <a:solidFill>
                  <a:srgbClr val="25282A"/>
                </a:solidFill>
                <a:latin typeface="Fira Sans"/>
              </a:rPr>
              <a:t>A worse expectation now for a better one later</a:t>
            </a:r>
          </a:p>
          <a:p>
            <a:pPr marL="0" indent="0" algn="l">
              <a:lnSpc>
                <a:spcPts val="1254"/>
              </a:lnSpc>
              <a:spcBef>
                <a:spcPts val="500"/>
              </a:spcBef>
              <a:spcAft>
                <a:spcPts val="0"/>
              </a:spcAft>
              <a:buNone/>
            </a:pPr>
            <a:r>
              <a:rPr sz="1045" b="0" i="0" dirty="0">
                <a:solidFill>
                  <a:srgbClr val="626669"/>
                </a:solidFill>
                <a:latin typeface="Fira Sans"/>
              </a:rPr>
              <a:t>Sometimes the rational choice is the one whose outcome is not guaranteed</a:t>
            </a:r>
            <a:r>
              <a:rPr lang="it-IT" sz="1045" b="0" i="0" dirty="0">
                <a:solidFill>
                  <a:srgbClr val="626669"/>
                </a:solidFill>
                <a:latin typeface="Fira Sans"/>
              </a:rPr>
              <a:t>, </a:t>
            </a:r>
            <a:r>
              <a:rPr sz="1045" b="0" i="0" dirty="0">
                <a:solidFill>
                  <a:srgbClr val="626669"/>
                </a:solidFill>
                <a:latin typeface="Fira Sans"/>
              </a:rPr>
              <a:t>a trade the agent has to be able to represent.</a:t>
            </a:r>
          </a:p>
        </p:txBody>
      </p:sp>
      <p:sp>
        <p:nvSpPr>
          <p:cNvPr id="15" name="Rectangle 14"/>
          <p:cNvSpPr/>
          <p:nvPr/>
        </p:nvSpPr>
        <p:spPr>
          <a:xfrm>
            <a:off x="8058912" y="4767590"/>
            <a:ext cx="3297936"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058912" y="4913894"/>
            <a:ext cx="3297936" cy="931232"/>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8A5100"/>
                </a:solidFill>
                <a:latin typeface="Fira Sans Medium"/>
              </a:rPr>
              <a:t>LEARN FROM EXPERIENCE</a:t>
            </a:r>
          </a:p>
          <a:p>
            <a:pPr marL="0" indent="0" algn="l">
              <a:lnSpc>
                <a:spcPts val="1300"/>
              </a:lnSpc>
              <a:spcBef>
                <a:spcPts val="500"/>
              </a:spcBef>
              <a:spcAft>
                <a:spcPts val="0"/>
              </a:spcAft>
              <a:buNone/>
            </a:pPr>
            <a:r>
              <a:rPr sz="1140" b="1" i="0" dirty="0">
                <a:solidFill>
                  <a:srgbClr val="25282A"/>
                </a:solidFill>
                <a:latin typeface="Fira Sans"/>
              </a:rPr>
              <a:t>Intelligence is knowledge acquired and applied</a:t>
            </a:r>
          </a:p>
          <a:p>
            <a:pPr marL="0" indent="0" algn="l">
              <a:lnSpc>
                <a:spcPts val="1254"/>
              </a:lnSpc>
              <a:spcBef>
                <a:spcPts val="500"/>
              </a:spcBef>
              <a:spcAft>
                <a:spcPts val="0"/>
              </a:spcAft>
              <a:buNone/>
            </a:pPr>
            <a:r>
              <a:rPr sz="1045" b="0" i="0" dirty="0">
                <a:solidFill>
                  <a:srgbClr val="626669"/>
                </a:solidFill>
                <a:latin typeface="Fira Sans"/>
              </a:rPr>
              <a:t>Nothing here is given in advance. The </a:t>
            </a:r>
            <a:r>
              <a:rPr lang="it-IT" sz="1045" b="0" i="0" dirty="0" err="1">
                <a:solidFill>
                  <a:srgbClr val="626669"/>
                </a:solidFill>
                <a:latin typeface="Fira Sans"/>
              </a:rPr>
              <a:t>behaviour</a:t>
            </a:r>
            <a:r>
              <a:rPr sz="1045" b="0" i="0" dirty="0">
                <a:solidFill>
                  <a:srgbClr val="626669"/>
                </a:solidFill>
                <a:latin typeface="Fira Sans"/>
              </a:rPr>
              <a:t> has to be discovered by </a:t>
            </a:r>
            <a:r>
              <a:rPr sz="1045" b="1" i="0" dirty="0">
                <a:solidFill>
                  <a:srgbClr val="626669"/>
                </a:solidFill>
                <a:latin typeface="Fira Sans"/>
              </a:rPr>
              <a:t>acting</a:t>
            </a:r>
            <a:r>
              <a:rPr sz="1045" b="0" i="0" dirty="0">
                <a:solidFill>
                  <a:srgbClr val="626669"/>
                </a:solidFill>
                <a:latin typeface="Fira Sans"/>
              </a:rPr>
              <a:t> and observing what follows.</a:t>
            </a:r>
          </a:p>
        </p:txBody>
      </p:sp>
      <p:sp>
        <p:nvSpPr>
          <p:cNvPr id="17" name="Rectangle 16"/>
          <p:cNvSpPr/>
          <p:nvPr/>
        </p:nvSpPr>
        <p:spPr>
          <a:xfrm>
            <a:off x="6812280" y="1335024"/>
            <a:ext cx="4538441" cy="105156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6812280" y="1335024"/>
            <a:ext cx="41148" cy="10515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031736" y="1481328"/>
            <a:ext cx="4245833"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SUBJECT OF THIS CHAPTER</a:t>
            </a:r>
          </a:p>
        </p:txBody>
      </p:sp>
      <p:sp>
        <p:nvSpPr>
          <p:cNvPr id="20" name="TextBox 19"/>
          <p:cNvSpPr txBox="1"/>
          <p:nvPr/>
        </p:nvSpPr>
        <p:spPr>
          <a:xfrm>
            <a:off x="7031736" y="1719072"/>
            <a:ext cx="4154393" cy="521207"/>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Reinforcement learning captures this idea </a:t>
            </a:r>
            <a:r>
              <a:rPr sz="1140" b="1" i="0">
                <a:solidFill>
                  <a:srgbClr val="333639"/>
                </a:solidFill>
                <a:latin typeface="Fira Sans"/>
              </a:rPr>
              <a:t>computationally</a:t>
            </a:r>
            <a:r>
              <a:rPr sz="1140" b="0" i="0">
                <a:solidFill>
                  <a:srgbClr val="333639"/>
                </a:solidFill>
                <a:latin typeface="Fira Sans"/>
              </a:rPr>
              <a:t>: it is the problem of learning what to do through interaction and trial and error.</a:t>
            </a:r>
          </a:p>
        </p:txBody>
      </p:sp>
      <p:sp>
        <p:nvSpPr>
          <p:cNvPr id="21" name="TextBox 20"/>
          <p:cNvSpPr txBox="1"/>
          <p:nvPr/>
        </p:nvSpPr>
        <p:spPr>
          <a:xfrm>
            <a:off x="6848856" y="2642615"/>
            <a:ext cx="4538441"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HOW IT DIFFERS FROM SUPERVISED LEARNING</a:t>
            </a:r>
          </a:p>
        </p:txBody>
      </p:sp>
      <p:sp>
        <p:nvSpPr>
          <p:cNvPr id="22" name="TextBox 21"/>
          <p:cNvSpPr txBox="1"/>
          <p:nvPr/>
        </p:nvSpPr>
        <p:spPr>
          <a:xfrm>
            <a:off x="6848856" y="2898648"/>
            <a:ext cx="4538441" cy="1334505"/>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dirty="0">
                <a:solidFill>
                  <a:srgbClr val="25282A"/>
                </a:solidFill>
                <a:latin typeface="Fira Sans"/>
              </a:rPr>
              <a:t>There is no teacher.</a:t>
            </a:r>
            <a:r>
              <a:rPr sz="1092" b="0" i="0" dirty="0">
                <a:solidFill>
                  <a:srgbClr val="333639"/>
                </a:solidFill>
                <a:latin typeface="Fira Sans"/>
              </a:rPr>
              <a:t> Nobody supplies the correct action for a situation; there is no labelled dataset of state–action pairs to imitate.</a:t>
            </a:r>
          </a:p>
          <a:p>
            <a:pPr marL="173736" indent="-173736" algn="l">
              <a:lnSpc>
                <a:spcPts val="1289"/>
              </a:lnSpc>
              <a:spcBef>
                <a:spcPts val="600"/>
              </a:spcBef>
              <a:spcAft>
                <a:spcPts val="0"/>
              </a:spcAft>
              <a:buClr>
                <a:srgbClr val="1971C2"/>
              </a:buClr>
              <a:buFont typeface="Fira Sans"/>
              <a:buChar char="–"/>
            </a:pPr>
            <a:r>
              <a:rPr sz="1092" b="1" i="0" dirty="0">
                <a:solidFill>
                  <a:srgbClr val="25282A"/>
                </a:solidFill>
                <a:latin typeface="Fira Sans"/>
              </a:rPr>
              <a:t>Feedback is evaluative, not instructive.</a:t>
            </a:r>
            <a:r>
              <a:rPr sz="1092" b="0" i="0" dirty="0">
                <a:solidFill>
                  <a:srgbClr val="333639"/>
                </a:solidFill>
                <a:latin typeface="Fira Sans"/>
              </a:rPr>
              <a:t> The reward says how good the outcome was, not what should have been done instead.</a:t>
            </a:r>
          </a:p>
          <a:p>
            <a:pPr marL="173736" indent="-173736" algn="l">
              <a:lnSpc>
                <a:spcPts val="1289"/>
              </a:lnSpc>
              <a:spcBef>
                <a:spcPts val="600"/>
              </a:spcBef>
              <a:spcAft>
                <a:spcPts val="0"/>
              </a:spcAft>
              <a:buClr>
                <a:srgbClr val="1971C2"/>
              </a:buClr>
              <a:buFont typeface="Fira Sans"/>
              <a:buChar char="–"/>
            </a:pPr>
            <a:r>
              <a:rPr sz="1092" b="1" i="0" dirty="0">
                <a:solidFill>
                  <a:srgbClr val="25282A"/>
                </a:solidFill>
                <a:latin typeface="Fira Sans"/>
              </a:rPr>
              <a:t>The goal is to act, not to predict.</a:t>
            </a:r>
            <a:r>
              <a:rPr sz="1092" b="0" i="0" dirty="0">
                <a:solidFill>
                  <a:srgbClr val="333639"/>
                </a:solidFill>
                <a:latin typeface="Fira Sans"/>
              </a:rPr>
              <a:t> The output of learning is a behavior that maximizes reward over time.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1.2  AGENT AND ENVIRONMENT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Learning from interaction, with a reward signal as the only feedback</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 — Agent and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a:t>
            </a:r>
          </a:p>
        </p:txBody>
      </p:sp>
      <p:sp>
        <p:nvSpPr>
          <p:cNvPr id="8" name="TextBox 7"/>
          <p:cNvSpPr txBox="1"/>
          <p:nvPr/>
        </p:nvSpPr>
        <p:spPr>
          <a:xfrm>
            <a:off x="841248" y="1316736"/>
            <a:ext cx="6126480" cy="772850"/>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Reinforcement learning is a computational approach to </a:t>
            </a:r>
            <a:r>
              <a:rPr sz="1188" b="1" i="0" dirty="0">
                <a:solidFill>
                  <a:srgbClr val="25282A"/>
                </a:solidFill>
                <a:latin typeface="Fira Sans"/>
              </a:rPr>
              <a:t>learning from interaction</a:t>
            </a:r>
            <a:r>
              <a:rPr sz="1188" b="0" i="0" dirty="0">
                <a:solidFill>
                  <a:srgbClr val="333639"/>
                </a:solidFill>
                <a:latin typeface="Fira Sans"/>
              </a:rPr>
              <a:t>: the problem of learning how to map situations to actions so as to </a:t>
            </a:r>
            <a:r>
              <a:rPr sz="1188" b="0" i="0" dirty="0" err="1">
                <a:solidFill>
                  <a:srgbClr val="333639"/>
                </a:solidFill>
                <a:latin typeface="Fira Sans"/>
              </a:rPr>
              <a:t>maximise</a:t>
            </a:r>
            <a:r>
              <a:rPr sz="1188" b="0" i="0" dirty="0">
                <a:solidFill>
                  <a:srgbClr val="333639"/>
                </a:solidFill>
                <a:latin typeface="Fira Sans"/>
              </a:rPr>
              <a:t> a numerical reward signal. The learner </a:t>
            </a:r>
            <a:r>
              <a:rPr lang="it-IT" sz="1188" dirty="0">
                <a:solidFill>
                  <a:srgbClr val="333639"/>
                </a:solidFill>
                <a:latin typeface="Fira Sans"/>
              </a:rPr>
              <a:t>(</a:t>
            </a:r>
            <a:r>
              <a:rPr sz="1188" b="0" i="0" dirty="0">
                <a:solidFill>
                  <a:srgbClr val="333639"/>
                </a:solidFill>
                <a:latin typeface="Fira Sans"/>
              </a:rPr>
              <a:t>the </a:t>
            </a:r>
            <a:r>
              <a:rPr sz="1188" b="1" i="0" dirty="0">
                <a:solidFill>
                  <a:srgbClr val="C8102E"/>
                </a:solidFill>
                <a:latin typeface="Fira Sans"/>
              </a:rPr>
              <a:t>agent</a:t>
            </a:r>
            <a:r>
              <a:rPr lang="it-IT" sz="1188" i="0" dirty="0">
                <a:latin typeface="Fira Sans"/>
              </a:rPr>
              <a:t>)</a:t>
            </a:r>
            <a:r>
              <a:rPr sz="1188" i="0" dirty="0">
                <a:latin typeface="Fira Sans"/>
              </a:rPr>
              <a:t> </a:t>
            </a:r>
            <a:r>
              <a:rPr sz="1188" b="0" i="0" dirty="0">
                <a:solidFill>
                  <a:srgbClr val="333639"/>
                </a:solidFill>
                <a:latin typeface="Fira Sans"/>
              </a:rPr>
              <a:t>is not told which actions to take. It must discover which actions pay by trying them.</a:t>
            </a:r>
          </a:p>
        </p:txBody>
      </p:sp>
      <p:pic>
        <p:nvPicPr>
          <p:cNvPr id="9" name="Picture 8" descr="loop_basic.png"/>
          <p:cNvPicPr>
            <a:picLocks noChangeAspect="1"/>
          </p:cNvPicPr>
          <p:nvPr/>
        </p:nvPicPr>
        <p:blipFill>
          <a:blip r:embed="rId2"/>
          <a:stretch>
            <a:fillRect/>
          </a:stretch>
        </p:blipFill>
        <p:spPr>
          <a:xfrm>
            <a:off x="1289438" y="2144450"/>
            <a:ext cx="4731346" cy="1872938"/>
          </a:xfrm>
          <a:prstGeom prst="rect">
            <a:avLst/>
          </a:prstGeom>
        </p:spPr>
      </p:pic>
      <p:sp>
        <p:nvSpPr>
          <p:cNvPr id="10" name="TextBox 9"/>
          <p:cNvSpPr txBox="1"/>
          <p:nvPr/>
        </p:nvSpPr>
        <p:spPr>
          <a:xfrm>
            <a:off x="841248" y="4156130"/>
            <a:ext cx="6126480"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The two flows that define the problem: actions out, rewards in. </a:t>
            </a:r>
          </a:p>
        </p:txBody>
      </p:sp>
      <p:sp>
        <p:nvSpPr>
          <p:cNvPr id="11" name="Rectangle 10"/>
          <p:cNvSpPr/>
          <p:nvPr/>
        </p:nvSpPr>
        <p:spPr>
          <a:xfrm>
            <a:off x="841248" y="4710866"/>
            <a:ext cx="612648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85717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SAME LOOP, NAMED THREE WAYS</a:t>
            </a:r>
          </a:p>
        </p:txBody>
      </p:sp>
      <p:sp>
        <p:nvSpPr>
          <p:cNvPr id="13" name="Rectangle 12"/>
          <p:cNvSpPr/>
          <p:nvPr/>
        </p:nvSpPr>
        <p:spPr>
          <a:xfrm>
            <a:off x="841248" y="5094914"/>
            <a:ext cx="1871472"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41248" y="5222930"/>
            <a:ext cx="1871472" cy="699254"/>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dirty="0">
                <a:solidFill>
                  <a:srgbClr val="25282A"/>
                </a:solidFill>
                <a:latin typeface="Fira Sans"/>
              </a:rPr>
              <a:t>Control theory</a:t>
            </a:r>
          </a:p>
          <a:p>
            <a:pPr marL="0" indent="0" algn="l">
              <a:lnSpc>
                <a:spcPts val="1176"/>
              </a:lnSpc>
              <a:spcBef>
                <a:spcPts val="400"/>
              </a:spcBef>
              <a:spcAft>
                <a:spcPts val="0"/>
              </a:spcAft>
              <a:buNone/>
            </a:pPr>
            <a:r>
              <a:rPr sz="997" b="0" i="0" dirty="0">
                <a:solidFill>
                  <a:srgbClr val="626669"/>
                </a:solidFill>
                <a:latin typeface="Fira Sans"/>
              </a:rPr>
              <a:t>controller, plant, cost</a:t>
            </a:r>
            <a:r>
              <a:rPr lang="it-IT" sz="997" b="0" i="0" dirty="0">
                <a:solidFill>
                  <a:srgbClr val="626669"/>
                </a:solidFill>
                <a:latin typeface="Fira Sans"/>
              </a:rPr>
              <a:t>:</a:t>
            </a:r>
            <a:r>
              <a:rPr sz="997" b="0" i="0" dirty="0">
                <a:solidFill>
                  <a:srgbClr val="626669"/>
                </a:solidFill>
                <a:latin typeface="Fira Sans"/>
              </a:rPr>
              <a:t> the same objects, minimizing rather than maximizing.</a:t>
            </a:r>
          </a:p>
        </p:txBody>
      </p:sp>
      <p:sp>
        <p:nvSpPr>
          <p:cNvPr id="15" name="Rectangle 14"/>
          <p:cNvSpPr/>
          <p:nvPr/>
        </p:nvSpPr>
        <p:spPr>
          <a:xfrm>
            <a:off x="2968752" y="5094914"/>
            <a:ext cx="1871472"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2968752" y="5222930"/>
            <a:ext cx="1871472" cy="699254"/>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dirty="0">
                <a:solidFill>
                  <a:srgbClr val="25282A"/>
                </a:solidFill>
                <a:latin typeface="Fira Sans"/>
              </a:rPr>
              <a:t>Operations research</a:t>
            </a:r>
          </a:p>
          <a:p>
            <a:pPr marL="0" indent="0" algn="l">
              <a:lnSpc>
                <a:spcPts val="1176"/>
              </a:lnSpc>
              <a:spcBef>
                <a:spcPts val="400"/>
              </a:spcBef>
              <a:spcAft>
                <a:spcPts val="0"/>
              </a:spcAft>
              <a:buNone/>
            </a:pPr>
            <a:r>
              <a:rPr sz="997" b="0" i="0" dirty="0">
                <a:solidFill>
                  <a:srgbClr val="626669"/>
                </a:solidFill>
                <a:latin typeface="Fira Sans"/>
              </a:rPr>
              <a:t>decision maker, system, value</a:t>
            </a:r>
            <a:r>
              <a:rPr lang="it-IT" sz="997" b="0" i="0" dirty="0">
                <a:solidFill>
                  <a:srgbClr val="626669"/>
                </a:solidFill>
                <a:latin typeface="Fira Sans"/>
              </a:rPr>
              <a:t>:</a:t>
            </a:r>
            <a:r>
              <a:rPr sz="997" b="0" i="0" dirty="0">
                <a:solidFill>
                  <a:srgbClr val="626669"/>
                </a:solidFill>
                <a:latin typeface="Fira Sans"/>
              </a:rPr>
              <a:t> Bellman’s own setting when he introduced the MDP.</a:t>
            </a:r>
          </a:p>
        </p:txBody>
      </p:sp>
      <p:sp>
        <p:nvSpPr>
          <p:cNvPr id="17" name="Rectangle 16"/>
          <p:cNvSpPr/>
          <p:nvPr/>
        </p:nvSpPr>
        <p:spPr>
          <a:xfrm>
            <a:off x="5096256" y="5094914"/>
            <a:ext cx="1871472" cy="2560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5096256" y="5222930"/>
            <a:ext cx="1871472" cy="848664"/>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dirty="0">
                <a:solidFill>
                  <a:srgbClr val="25282A"/>
                </a:solidFill>
                <a:latin typeface="Fira Sans"/>
              </a:rPr>
              <a:t>Psychology</a:t>
            </a:r>
          </a:p>
          <a:p>
            <a:pPr marL="0" indent="0" algn="l">
              <a:lnSpc>
                <a:spcPts val="1176"/>
              </a:lnSpc>
              <a:spcBef>
                <a:spcPts val="400"/>
              </a:spcBef>
              <a:spcAft>
                <a:spcPts val="0"/>
              </a:spcAft>
              <a:buNone/>
            </a:pPr>
            <a:r>
              <a:rPr sz="997" b="0" i="0" dirty="0">
                <a:solidFill>
                  <a:srgbClr val="626669"/>
                </a:solidFill>
                <a:latin typeface="Fira Sans"/>
              </a:rPr>
              <a:t>organism, environment, reinforcement</a:t>
            </a:r>
            <a:r>
              <a:rPr lang="it-IT" sz="997" b="0" i="0" dirty="0">
                <a:solidFill>
                  <a:srgbClr val="626669"/>
                </a:solidFill>
                <a:latin typeface="Fira Sans"/>
              </a:rPr>
              <a:t>:</a:t>
            </a:r>
            <a:r>
              <a:rPr sz="997" b="0" i="0" dirty="0">
                <a:solidFill>
                  <a:srgbClr val="626669"/>
                </a:solidFill>
                <a:latin typeface="Fira Sans"/>
              </a:rPr>
              <a:t> where the name and much of the early theory come from.</a:t>
            </a:r>
          </a:p>
        </p:txBody>
      </p:sp>
      <p:sp>
        <p:nvSpPr>
          <p:cNvPr id="19" name="TextBox 18"/>
          <p:cNvSpPr txBox="1"/>
          <p:nvPr/>
        </p:nvSpPr>
        <p:spPr>
          <a:xfrm>
            <a:off x="7379208" y="1335024"/>
            <a:ext cx="3971513" cy="606676"/>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2B7A3E"/>
                </a:solidFill>
                <a:latin typeface="Fira Sans Medium"/>
              </a:rPr>
              <a:t>THE ENVIRONMENT</a:t>
            </a:r>
          </a:p>
          <a:p>
            <a:pPr marL="0" indent="0" algn="l">
              <a:lnSpc>
                <a:spcPts val="1345"/>
              </a:lnSpc>
              <a:spcBef>
                <a:spcPts val="0"/>
              </a:spcBef>
              <a:spcAft>
                <a:spcPts val="0"/>
              </a:spcAft>
              <a:buNone/>
            </a:pPr>
            <a:r>
              <a:rPr sz="1140" b="0" i="0">
                <a:solidFill>
                  <a:srgbClr val="333639"/>
                </a:solidFill>
                <a:latin typeface="Fira Sans"/>
              </a:rPr>
              <a:t>Everything outside the agent that the agent can </a:t>
            </a:r>
            <a:r>
              <a:rPr sz="1140" b="1" i="0">
                <a:solidFill>
                  <a:srgbClr val="25282A"/>
                </a:solidFill>
                <a:latin typeface="Fira Sans"/>
              </a:rPr>
              <a:t>influence through its actions</a:t>
            </a:r>
            <a:r>
              <a:rPr sz="1140" b="0" i="0">
                <a:solidFill>
                  <a:srgbClr val="333639"/>
                </a:solidFill>
                <a:latin typeface="Fira Sans"/>
              </a:rPr>
              <a:t> but does </a:t>
            </a:r>
            <a:r>
              <a:rPr sz="1140" b="1" i="0">
                <a:solidFill>
                  <a:srgbClr val="25282A"/>
                </a:solidFill>
                <a:latin typeface="Fira Sans"/>
              </a:rPr>
              <a:t>not fully control</a:t>
            </a:r>
            <a:r>
              <a:rPr sz="1140" b="0" i="0">
                <a:solidFill>
                  <a:srgbClr val="333639"/>
                </a:solidFill>
                <a:latin typeface="Fira Sans"/>
              </a:rPr>
              <a:t>.</a:t>
            </a:r>
          </a:p>
        </p:txBody>
      </p:sp>
      <p:sp>
        <p:nvSpPr>
          <p:cNvPr id="20" name="Rectangle 19"/>
          <p:cNvSpPr/>
          <p:nvPr/>
        </p:nvSpPr>
        <p:spPr>
          <a:xfrm>
            <a:off x="7379208" y="2161156"/>
            <a:ext cx="3971513" cy="1362456"/>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379208" y="2161156"/>
            <a:ext cx="41148" cy="136245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598664" y="2307460"/>
            <a:ext cx="3678905"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CONSEQUENCE THAT MAKES IT HARD</a:t>
            </a:r>
          </a:p>
        </p:txBody>
      </p:sp>
      <p:sp>
        <p:nvSpPr>
          <p:cNvPr id="23" name="TextBox 22"/>
          <p:cNvSpPr txBox="1"/>
          <p:nvPr/>
        </p:nvSpPr>
        <p:spPr>
          <a:xfrm>
            <a:off x="7598664" y="2545204"/>
            <a:ext cx="3587465"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An action may affect not only the immediate reward, but </a:t>
            </a:r>
            <a:r>
              <a:rPr sz="1092" b="1" i="0">
                <a:solidFill>
                  <a:srgbClr val="333639"/>
                </a:solidFill>
                <a:latin typeface="Fira Sans"/>
              </a:rPr>
              <a:t>what happens next</a:t>
            </a:r>
            <a:r>
              <a:rPr sz="1092" b="0" i="0">
                <a:solidFill>
                  <a:srgbClr val="333639"/>
                </a:solidFill>
                <a:latin typeface="Fira Sans"/>
              </a:rPr>
              <a:t> and, through that, the rewards available later. An action that looks beneficial now may be harmful in the long run; an action with no immediate benefit may lead somewhere much better.</a:t>
            </a:r>
          </a:p>
        </p:txBody>
      </p:sp>
      <p:sp>
        <p:nvSpPr>
          <p:cNvPr id="24" name="TextBox 23"/>
          <p:cNvSpPr txBox="1"/>
          <p:nvPr/>
        </p:nvSpPr>
        <p:spPr>
          <a:xfrm>
            <a:off x="7379208" y="3761356"/>
            <a:ext cx="3971513"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THREE THINGS THAT CROSS THE BOUNDARY</a:t>
            </a:r>
          </a:p>
        </p:txBody>
      </p:sp>
      <p:sp>
        <p:nvSpPr>
          <p:cNvPr id="25" name="TextBox 24"/>
          <p:cNvSpPr txBox="1"/>
          <p:nvPr/>
        </p:nvSpPr>
        <p:spPr>
          <a:xfrm>
            <a:off x="7379208" y="4017388"/>
            <a:ext cx="3971513" cy="679917"/>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a:solidFill>
                  <a:srgbClr val="574676"/>
                </a:solidFill>
                <a:latin typeface="Fira Sans"/>
              </a:rPr>
              <a:t>Observation</a:t>
            </a:r>
            <a:r>
              <a:rPr sz="1092" b="0" i="0">
                <a:solidFill>
                  <a:srgbClr val="8E9295"/>
                </a:solidFill>
                <a:latin typeface="Fira Sans"/>
              </a:rPr>
              <a:t>  —  </a:t>
            </a:r>
            <a:r>
              <a:rPr sz="1092" b="0" i="0">
                <a:solidFill>
                  <a:srgbClr val="333639"/>
                </a:solidFill>
                <a:latin typeface="Fira Sans"/>
              </a:rPr>
              <a:t>what the agent gets to see of the state</a:t>
            </a:r>
          </a:p>
          <a:p>
            <a:pPr marL="173736" indent="-173736" algn="l">
              <a:lnSpc>
                <a:spcPts val="1289"/>
              </a:lnSpc>
              <a:spcBef>
                <a:spcPts val="600"/>
              </a:spcBef>
              <a:spcAft>
                <a:spcPts val="0"/>
              </a:spcAft>
              <a:buClr>
                <a:srgbClr val="1971C2"/>
              </a:buClr>
              <a:buFont typeface="Fira Sans"/>
              <a:buChar char="–"/>
            </a:pPr>
            <a:r>
              <a:rPr sz="1092" b="1" i="0">
                <a:solidFill>
                  <a:srgbClr val="C8102E"/>
                </a:solidFill>
                <a:latin typeface="Fira Sans"/>
              </a:rPr>
              <a:t>Action</a:t>
            </a:r>
            <a:r>
              <a:rPr sz="1092" b="0" i="0">
                <a:solidFill>
                  <a:srgbClr val="8E9295"/>
                </a:solidFill>
                <a:latin typeface="Fira Sans"/>
              </a:rPr>
              <a:t>  —  </a:t>
            </a:r>
            <a:r>
              <a:rPr sz="1092" b="0" i="0">
                <a:solidFill>
                  <a:srgbClr val="333639"/>
                </a:solidFill>
                <a:latin typeface="Fira Sans"/>
              </a:rPr>
              <a:t>the agent’s only means of influence</a:t>
            </a:r>
          </a:p>
          <a:p>
            <a:pPr marL="173736" indent="-173736" algn="l">
              <a:lnSpc>
                <a:spcPts val="1289"/>
              </a:lnSpc>
              <a:spcBef>
                <a:spcPts val="600"/>
              </a:spcBef>
              <a:spcAft>
                <a:spcPts val="0"/>
              </a:spcAft>
              <a:buClr>
                <a:srgbClr val="1971C2"/>
              </a:buClr>
              <a:buFont typeface="Fira Sans"/>
              <a:buChar char="–"/>
            </a:pPr>
            <a:r>
              <a:rPr sz="1092" b="1" i="0">
                <a:solidFill>
                  <a:srgbClr val="2B7A3E"/>
                </a:solidFill>
                <a:latin typeface="Fira Sans"/>
              </a:rPr>
              <a:t>Reward</a:t>
            </a:r>
            <a:r>
              <a:rPr sz="1092" b="0" i="0">
                <a:solidFill>
                  <a:srgbClr val="8E9295"/>
                </a:solidFill>
                <a:latin typeface="Fira Sans"/>
              </a:rPr>
              <a:t>  —  </a:t>
            </a:r>
            <a:r>
              <a:rPr sz="1092" b="0" i="0">
                <a:solidFill>
                  <a:srgbClr val="333639"/>
                </a:solidFill>
                <a:latin typeface="Fira Sans"/>
              </a:rPr>
              <a:t>a single number saying how good that was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1.3  THE BOUNDARY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agent ends where the decision ends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 — Agent and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Consider a robot learning to pick up objects and place them in a container. The agent is the robot’s decision-making system. Everything outside it is the environment </a:t>
            </a:r>
            <a:r>
              <a:rPr lang="it-IT" sz="1235" dirty="0">
                <a:solidFill>
                  <a:srgbClr val="333639"/>
                </a:solidFill>
                <a:latin typeface="Fira Sans"/>
              </a:rPr>
              <a:t>(</a:t>
            </a:r>
            <a:r>
              <a:rPr sz="1235" b="0" i="0" dirty="0">
                <a:solidFill>
                  <a:srgbClr val="333639"/>
                </a:solidFill>
                <a:latin typeface="Fira Sans"/>
              </a:rPr>
              <a:t>including the objects, the table, and the robot’s own arm and gripper</a:t>
            </a:r>
            <a:r>
              <a:rPr lang="it-IT" sz="1235" b="0" i="0" dirty="0">
                <a:solidFill>
                  <a:srgbClr val="333639"/>
                </a:solidFill>
                <a:latin typeface="Fira Sans"/>
              </a:rPr>
              <a:t>)</a:t>
            </a:r>
            <a:r>
              <a:rPr sz="1235" b="0" i="0" dirty="0">
                <a:solidFill>
                  <a:srgbClr val="333639"/>
                </a:solidFill>
                <a:latin typeface="Fira Sans"/>
              </a:rPr>
              <a:t>.</a:t>
            </a:r>
          </a:p>
        </p:txBody>
      </p:sp>
      <p:pic>
        <p:nvPicPr>
          <p:cNvPr id="9" name="Picture 8" descr="boundary.png"/>
          <p:cNvPicPr>
            <a:picLocks noChangeAspect="1"/>
          </p:cNvPicPr>
          <p:nvPr/>
        </p:nvPicPr>
        <p:blipFill>
          <a:blip r:embed="rId2"/>
          <a:stretch>
            <a:fillRect/>
          </a:stretch>
        </p:blipFill>
        <p:spPr>
          <a:xfrm>
            <a:off x="1813343" y="1690725"/>
            <a:ext cx="8213052" cy="2480283"/>
          </a:xfrm>
          <a:prstGeom prst="rect">
            <a:avLst/>
          </a:prstGeom>
        </p:spPr>
      </p:pic>
      <p:sp>
        <p:nvSpPr>
          <p:cNvPr id="10" name="Rectangle 9"/>
          <p:cNvSpPr/>
          <p:nvPr/>
        </p:nvSpPr>
        <p:spPr>
          <a:xfrm>
            <a:off x="841248" y="4076877"/>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4314621"/>
            <a:ext cx="41148" cy="1042415"/>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078992" y="4332909"/>
            <a:ext cx="4791456" cy="943792"/>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Why the arm is not part of the agent</a:t>
            </a:r>
          </a:p>
          <a:p>
            <a:pPr marL="0" indent="0" algn="l">
              <a:lnSpc>
                <a:spcPts val="1310"/>
              </a:lnSpc>
              <a:spcBef>
                <a:spcPts val="500"/>
              </a:spcBef>
              <a:spcAft>
                <a:spcPts val="0"/>
              </a:spcAft>
              <a:buNone/>
            </a:pPr>
            <a:r>
              <a:rPr sz="1092" b="0" i="0">
                <a:solidFill>
                  <a:srgbClr val="626669"/>
                </a:solidFill>
                <a:latin typeface="Fira Sans"/>
              </a:rPr>
              <a:t>The agent commands the arm, but the movement is determined by the physical system and is affected by motor inaccuracy, sensor noise and friction. The agent chooses the action; the environment determines its consequences.</a:t>
            </a:r>
          </a:p>
        </p:txBody>
      </p:sp>
      <p:sp>
        <p:nvSpPr>
          <p:cNvPr id="13" name="Rectangle 12"/>
          <p:cNvSpPr/>
          <p:nvPr/>
        </p:nvSpPr>
        <p:spPr>
          <a:xfrm>
            <a:off x="6327648" y="4314621"/>
            <a:ext cx="41148" cy="104241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565392" y="4332909"/>
            <a:ext cx="4791456" cy="777372"/>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Why the boundary is useful</a:t>
            </a:r>
          </a:p>
          <a:p>
            <a:pPr marL="0" indent="0" algn="l">
              <a:lnSpc>
                <a:spcPts val="1310"/>
              </a:lnSpc>
              <a:spcBef>
                <a:spcPts val="500"/>
              </a:spcBef>
              <a:spcAft>
                <a:spcPts val="0"/>
              </a:spcAft>
              <a:buNone/>
            </a:pPr>
            <a:r>
              <a:rPr sz="1092" b="0" i="0">
                <a:solidFill>
                  <a:srgbClr val="626669"/>
                </a:solidFill>
                <a:latin typeface="Fira Sans"/>
              </a:rPr>
              <a:t>It makes the problem well posed. Whatever the agent cannot control with certainty is, by definition, something it must learn to cope with, so the uncertainty lives in one place.</a:t>
            </a:r>
          </a:p>
        </p:txBody>
      </p:sp>
      <p:sp>
        <p:nvSpPr>
          <p:cNvPr id="15" name="Rectangle 14"/>
          <p:cNvSpPr/>
          <p:nvPr/>
        </p:nvSpPr>
        <p:spPr>
          <a:xfrm>
            <a:off x="841248" y="5521629"/>
            <a:ext cx="10515600" cy="64008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41248" y="5521629"/>
            <a:ext cx="41148" cy="640080"/>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060704" y="5667933"/>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The useful rule of thumb: </a:t>
            </a:r>
            <a:r>
              <a:rPr sz="1140" b="1" i="0" dirty="0">
                <a:solidFill>
                  <a:srgbClr val="333639"/>
                </a:solidFill>
                <a:latin typeface="Fira Sans"/>
              </a:rPr>
              <a:t>the agent’s role ends when it chooses an action</a:t>
            </a:r>
            <a:r>
              <a:rPr sz="1140" b="0" i="0" dirty="0">
                <a:solidFill>
                  <a:srgbClr val="333639"/>
                </a:solidFill>
                <a:latin typeface="Fira Sans"/>
              </a:rPr>
              <a:t>. Everything that determines what actually happens as a consequence belongs to the environment</a:t>
            </a:r>
            <a:r>
              <a:rPr lang="it-IT" sz="1140" b="0" i="0" dirty="0">
                <a:solidFill>
                  <a:srgbClr val="333639"/>
                </a:solidFill>
                <a:latin typeface="Fira Sans"/>
              </a:rPr>
              <a:t>,</a:t>
            </a:r>
            <a:r>
              <a:rPr sz="1140" b="0" i="0" dirty="0">
                <a:solidFill>
                  <a:srgbClr val="333639"/>
                </a:solidFill>
                <a:latin typeface="Fira Sans"/>
              </a:rPr>
              <a:t> which is why a robot’s own body is usually part of its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1.4  STATE AND OBSERVATION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What the environment is, and what the agent gets to see of 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 — Agent and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6</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The environment is described by a set of variables relevant to the problem</a:t>
            </a:r>
            <a:r>
              <a:rPr lang="it-IT" sz="1235" b="0" i="0" dirty="0">
                <a:solidFill>
                  <a:srgbClr val="333639"/>
                </a:solidFill>
                <a:latin typeface="Fira Sans"/>
              </a:rPr>
              <a:t>, </a:t>
            </a:r>
            <a:r>
              <a:rPr sz="1235" b="0" i="0" dirty="0">
                <a:solidFill>
                  <a:srgbClr val="333639"/>
                </a:solidFill>
                <a:latin typeface="Fira Sans"/>
              </a:rPr>
              <a:t>for the robot arm, joint positions and velocities, object poses, whether the gripper holds something. Together they are the state; the set of all of them is the state space.</a:t>
            </a:r>
          </a:p>
        </p:txBody>
      </p:sp>
      <p:pic>
        <p:nvPicPr>
          <p:cNvPr id="9" name="Picture 8" descr="state_obs.png"/>
          <p:cNvPicPr>
            <a:picLocks noChangeAspect="1"/>
          </p:cNvPicPr>
          <p:nvPr/>
        </p:nvPicPr>
        <p:blipFill>
          <a:blip r:embed="rId2"/>
          <a:stretch>
            <a:fillRect/>
          </a:stretch>
        </p:blipFill>
        <p:spPr>
          <a:xfrm>
            <a:off x="841248" y="1926631"/>
            <a:ext cx="10515600" cy="2042329"/>
          </a:xfrm>
          <a:prstGeom prst="rect">
            <a:avLst/>
          </a:prstGeom>
        </p:spPr>
      </p:pic>
      <p:sp>
        <p:nvSpPr>
          <p:cNvPr id="10" name="Rectangle 9"/>
          <p:cNvSpPr/>
          <p:nvPr/>
        </p:nvSpPr>
        <p:spPr>
          <a:xfrm>
            <a:off x="841248" y="406773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4305477"/>
            <a:ext cx="502920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451781"/>
            <a:ext cx="5029200" cy="809254"/>
          </a:xfrm>
          <a:prstGeom prst="rect">
            <a:avLst/>
          </a:prstGeom>
          <a:noFill/>
        </p:spPr>
        <p:txBody>
          <a:bodyPr wrap="square" lIns="0" tIns="0" rIns="0" bIns="0" anchor="t">
            <a:noAutofit/>
          </a:bodyPr>
          <a:lstStyle/>
          <a:p>
            <a:pPr marL="0" indent="0" algn="l">
              <a:lnSpc>
                <a:spcPts val="1553"/>
              </a:lnSpc>
              <a:spcBef>
                <a:spcPts val="0"/>
              </a:spcBef>
              <a:spcAft>
                <a:spcPts val="0"/>
              </a:spcAft>
              <a:buNone/>
            </a:pPr>
            <a:r>
              <a:rPr sz="1316" b="1" i="0" dirty="0">
                <a:solidFill>
                  <a:srgbClr val="C8102E"/>
                </a:solidFill>
                <a:latin typeface="Fira Sans"/>
              </a:rPr>
              <a:t>State</a:t>
            </a:r>
            <a:r>
              <a:rPr sz="1316" b="0" i="0" dirty="0">
                <a:solidFill>
                  <a:srgbClr val="333639"/>
                </a:solidFill>
                <a:latin typeface="Fira Sans"/>
              </a:rPr>
              <a:t>   </a:t>
            </a:r>
            <a:r>
              <a:rPr sz="1092" b="0" i="1" dirty="0">
                <a:solidFill>
                  <a:srgbClr val="626669"/>
                </a:solidFill>
                <a:latin typeface="Fira Sans"/>
              </a:rPr>
              <a:t>describes the environment</a:t>
            </a:r>
          </a:p>
          <a:p>
            <a:pPr marL="0" indent="0" algn="l">
              <a:lnSpc>
                <a:spcPts val="1310"/>
              </a:lnSpc>
              <a:spcBef>
                <a:spcPts val="600"/>
              </a:spcBef>
              <a:spcAft>
                <a:spcPts val="0"/>
              </a:spcAft>
              <a:buNone/>
            </a:pPr>
            <a:r>
              <a:rPr sz="1092" b="0" i="0" dirty="0">
                <a:solidFill>
                  <a:srgbClr val="333639"/>
                </a:solidFill>
                <a:latin typeface="Fira Sans"/>
              </a:rPr>
              <a:t>The complete, exact description of the situation</a:t>
            </a:r>
            <a:r>
              <a:rPr lang="it-IT" sz="1092" b="0" i="0" dirty="0">
                <a:solidFill>
                  <a:srgbClr val="333639"/>
                </a:solidFill>
                <a:latin typeface="Fira Sans"/>
              </a:rPr>
              <a:t>, </a:t>
            </a:r>
            <a:r>
              <a:rPr sz="1092" b="0" i="0" dirty="0">
                <a:solidFill>
                  <a:srgbClr val="333639"/>
                </a:solidFill>
                <a:latin typeface="Fira Sans"/>
              </a:rPr>
              <a:t>the true three-dimensional position and orientation of every object. The objects have these positions whether or not the agent knows them.</a:t>
            </a:r>
          </a:p>
        </p:txBody>
      </p:sp>
      <p:sp>
        <p:nvSpPr>
          <p:cNvPr id="13" name="Rectangle 12"/>
          <p:cNvSpPr/>
          <p:nvPr/>
        </p:nvSpPr>
        <p:spPr>
          <a:xfrm>
            <a:off x="6327648" y="4305477"/>
            <a:ext cx="502920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327648" y="4451781"/>
            <a:ext cx="5029200" cy="642833"/>
          </a:xfrm>
          <a:prstGeom prst="rect">
            <a:avLst/>
          </a:prstGeom>
          <a:noFill/>
        </p:spPr>
        <p:txBody>
          <a:bodyPr wrap="square" lIns="0" tIns="0" rIns="0" bIns="0" anchor="t">
            <a:noAutofit/>
          </a:bodyPr>
          <a:lstStyle/>
          <a:p>
            <a:pPr marL="0" indent="0" algn="l">
              <a:lnSpc>
                <a:spcPts val="1553"/>
              </a:lnSpc>
              <a:spcBef>
                <a:spcPts val="0"/>
              </a:spcBef>
              <a:spcAft>
                <a:spcPts val="0"/>
              </a:spcAft>
              <a:buNone/>
            </a:pPr>
            <a:r>
              <a:rPr sz="1316" b="1" i="0">
                <a:solidFill>
                  <a:srgbClr val="2B7A3E"/>
                </a:solidFill>
                <a:latin typeface="Fira Sans"/>
              </a:rPr>
              <a:t>Observation</a:t>
            </a:r>
            <a:r>
              <a:rPr sz="1316" b="0" i="0">
                <a:solidFill>
                  <a:srgbClr val="333639"/>
                </a:solidFill>
                <a:latin typeface="Fira Sans"/>
              </a:rPr>
              <a:t>   </a:t>
            </a:r>
            <a:r>
              <a:rPr sz="1092" b="0" i="1">
                <a:solidFill>
                  <a:srgbClr val="626669"/>
                </a:solidFill>
                <a:latin typeface="Fira Sans"/>
              </a:rPr>
              <a:t>describes what the agent perceives</a:t>
            </a:r>
          </a:p>
          <a:p>
            <a:pPr marL="0" indent="0" algn="l">
              <a:lnSpc>
                <a:spcPts val="1310"/>
              </a:lnSpc>
              <a:spcBef>
                <a:spcPts val="600"/>
              </a:spcBef>
              <a:spcAft>
                <a:spcPts val="0"/>
              </a:spcAft>
              <a:buNone/>
            </a:pPr>
            <a:r>
              <a:rPr sz="1092" b="0" i="0">
                <a:solidFill>
                  <a:srgbClr val="333639"/>
                </a:solidFill>
                <a:latin typeface="Fira Sans"/>
              </a:rPr>
              <a:t>The information actually available to the agent: an image from a camera, a set of sensor readings. It may be noisy, incomplete, or both.</a:t>
            </a:r>
          </a:p>
        </p:txBody>
      </p:sp>
      <p:sp>
        <p:nvSpPr>
          <p:cNvPr id="15" name="Rectangle 14"/>
          <p:cNvSpPr/>
          <p:nvPr/>
        </p:nvSpPr>
        <p:spPr>
          <a:xfrm>
            <a:off x="841248" y="5350647"/>
            <a:ext cx="10515600" cy="81381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41248" y="5350647"/>
            <a:ext cx="41148" cy="81381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060704" y="5496951"/>
            <a:ext cx="10131552" cy="521207"/>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When the agent has access to the complete state, the two coincide, and the terms are then used interchangeably. </a:t>
            </a:r>
            <a:r>
              <a:rPr sz="1140" b="1" i="0" dirty="0">
                <a:solidFill>
                  <a:srgbClr val="333639"/>
                </a:solidFill>
                <a:latin typeface="Fira Sans"/>
              </a:rPr>
              <a:t>Conceptually they are not the same</a:t>
            </a:r>
            <a:endParaRPr sz="1140" b="0" i="0" dirty="0">
              <a:solidFill>
                <a:srgbClr val="333639"/>
              </a:solidFill>
              <a:latin typeface="Fira San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1.5  ONE TIME STEP, MOVE BY MOVE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Five things happen between one state and the next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 — Agent and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7</a:t>
            </a:r>
          </a:p>
        </p:txBody>
      </p:sp>
      <p:sp>
        <p:nvSpPr>
          <p:cNvPr id="8" name="TextBox 7"/>
          <p:cNvSpPr txBox="1"/>
          <p:nvPr/>
        </p:nvSpPr>
        <p:spPr>
          <a:xfrm>
            <a:off x="841248" y="1316736"/>
            <a:ext cx="1051560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lang="en-GB" sz="1188" b="0" i="0" noProof="0" dirty="0">
                <a:solidFill>
                  <a:srgbClr val="333639"/>
                </a:solidFill>
                <a:latin typeface="Fira Sans"/>
              </a:rPr>
              <a:t>A single time step of the interaction is composed of 5 steps.</a:t>
            </a:r>
          </a:p>
        </p:txBody>
      </p:sp>
      <p:sp>
        <p:nvSpPr>
          <p:cNvPr id="9" name="Rectangle 8"/>
          <p:cNvSpPr/>
          <p:nvPr/>
        </p:nvSpPr>
        <p:spPr>
          <a:xfrm>
            <a:off x="841248" y="1904329"/>
            <a:ext cx="332232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1248" y="2032345"/>
            <a:ext cx="3322320" cy="214609"/>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833" b="1" i="0" spc="100">
                <a:solidFill>
                  <a:srgbClr val="574676"/>
                </a:solidFill>
                <a:latin typeface="Fira Sans"/>
              </a:rPr>
              <a:t>STEP 1   </a:t>
            </a:r>
            <a:r>
              <a:rPr sz="1188" b="1" i="0">
                <a:solidFill>
                  <a:srgbClr val="25282A"/>
                </a:solidFill>
                <a:latin typeface="Fira Sans"/>
              </a:rPr>
              <a:t>Observe</a:t>
            </a:r>
          </a:p>
        </p:txBody>
      </p:sp>
      <p:pic>
        <p:nvPicPr>
          <p:cNvPr id="11" name="Picture 10" descr="step_observe.png"/>
          <p:cNvPicPr>
            <a:picLocks noChangeAspect="1"/>
          </p:cNvPicPr>
          <p:nvPr/>
        </p:nvPicPr>
        <p:blipFill>
          <a:blip r:embed="rId2"/>
          <a:stretch>
            <a:fillRect/>
          </a:stretch>
        </p:blipFill>
        <p:spPr>
          <a:xfrm>
            <a:off x="841248" y="2428649"/>
            <a:ext cx="3322320" cy="1319656"/>
          </a:xfrm>
          <a:prstGeom prst="rect">
            <a:avLst/>
          </a:prstGeom>
        </p:spPr>
      </p:pic>
      <p:sp>
        <p:nvSpPr>
          <p:cNvPr id="12" name="TextBox 11"/>
          <p:cNvSpPr txBox="1"/>
          <p:nvPr/>
        </p:nvSpPr>
        <p:spPr>
          <a:xfrm>
            <a:off x="841248" y="3925153"/>
            <a:ext cx="332232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The agent receives an observation: a camera image, and readings of the arm’s position and velocity.</a:t>
            </a:r>
          </a:p>
        </p:txBody>
      </p:sp>
      <p:sp>
        <p:nvSpPr>
          <p:cNvPr id="13" name="Rectangle 12"/>
          <p:cNvSpPr/>
          <p:nvPr/>
        </p:nvSpPr>
        <p:spPr>
          <a:xfrm>
            <a:off x="4437888" y="1904329"/>
            <a:ext cx="332232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437888" y="2032345"/>
            <a:ext cx="3322320" cy="214609"/>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833" b="1" i="0" spc="100">
                <a:solidFill>
                  <a:srgbClr val="C8102E"/>
                </a:solidFill>
                <a:latin typeface="Fira Sans"/>
              </a:rPr>
              <a:t>STEP 2   </a:t>
            </a:r>
            <a:r>
              <a:rPr sz="1188" b="1" i="0">
                <a:solidFill>
                  <a:srgbClr val="25282A"/>
                </a:solidFill>
                <a:latin typeface="Fira Sans"/>
              </a:rPr>
              <a:t>Act</a:t>
            </a:r>
          </a:p>
        </p:txBody>
      </p:sp>
      <p:pic>
        <p:nvPicPr>
          <p:cNvPr id="15" name="Picture 14" descr="step_action.png"/>
          <p:cNvPicPr>
            <a:picLocks noChangeAspect="1"/>
          </p:cNvPicPr>
          <p:nvPr/>
        </p:nvPicPr>
        <p:blipFill>
          <a:blip r:embed="rId3"/>
          <a:stretch>
            <a:fillRect/>
          </a:stretch>
        </p:blipFill>
        <p:spPr>
          <a:xfrm>
            <a:off x="4437888" y="2418906"/>
            <a:ext cx="3322320" cy="1339141"/>
          </a:xfrm>
          <a:prstGeom prst="rect">
            <a:avLst/>
          </a:prstGeom>
        </p:spPr>
      </p:pic>
      <p:sp>
        <p:nvSpPr>
          <p:cNvPr id="16" name="TextBox 15"/>
          <p:cNvSpPr txBox="1"/>
          <p:nvPr/>
        </p:nvSpPr>
        <p:spPr>
          <a:xfrm>
            <a:off x="4437888" y="3925153"/>
            <a:ext cx="332232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dirty="0">
                <a:solidFill>
                  <a:srgbClr val="626669"/>
                </a:solidFill>
                <a:latin typeface="Fira Sans"/>
              </a:rPr>
              <a:t>Each state offers a </a:t>
            </a:r>
            <a:r>
              <a:rPr sz="1045" b="1" i="0" dirty="0">
                <a:solidFill>
                  <a:srgbClr val="626669"/>
                </a:solidFill>
                <a:latin typeface="Fira Sans"/>
              </a:rPr>
              <a:t>set of available actions</a:t>
            </a:r>
            <a:r>
              <a:rPr lang="it-IT" sz="1045" b="0" i="0" dirty="0">
                <a:solidFill>
                  <a:srgbClr val="626669"/>
                </a:solidFill>
                <a:latin typeface="Fira Sans"/>
              </a:rPr>
              <a:t>: </a:t>
            </a:r>
            <a:r>
              <a:rPr sz="1045" b="0" i="0" dirty="0">
                <a:solidFill>
                  <a:srgbClr val="626669"/>
                </a:solidFill>
                <a:latin typeface="Fira Sans"/>
              </a:rPr>
              <a:t>move left, move right, move down, close the gripper.</a:t>
            </a:r>
          </a:p>
        </p:txBody>
      </p:sp>
      <p:sp>
        <p:nvSpPr>
          <p:cNvPr id="17" name="Rectangle 16"/>
          <p:cNvSpPr/>
          <p:nvPr/>
        </p:nvSpPr>
        <p:spPr>
          <a:xfrm>
            <a:off x="8034528" y="1904329"/>
            <a:ext cx="3322320"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034528" y="2032345"/>
            <a:ext cx="3322320" cy="214609"/>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833" b="1" i="0" spc="100">
                <a:solidFill>
                  <a:srgbClr val="8A5100"/>
                </a:solidFill>
                <a:latin typeface="Fira Sans"/>
              </a:rPr>
              <a:t>STEP 3   </a:t>
            </a:r>
            <a:r>
              <a:rPr sz="1188" b="1" i="0">
                <a:solidFill>
                  <a:srgbClr val="25282A"/>
                </a:solidFill>
                <a:latin typeface="Fira Sans"/>
              </a:rPr>
              <a:t>Transition</a:t>
            </a:r>
          </a:p>
        </p:txBody>
      </p:sp>
      <p:pic>
        <p:nvPicPr>
          <p:cNvPr id="19" name="Picture 18" descr="step_transition.png"/>
          <p:cNvPicPr>
            <a:picLocks noChangeAspect="1"/>
          </p:cNvPicPr>
          <p:nvPr/>
        </p:nvPicPr>
        <p:blipFill>
          <a:blip r:embed="rId4"/>
          <a:stretch>
            <a:fillRect/>
          </a:stretch>
        </p:blipFill>
        <p:spPr>
          <a:xfrm>
            <a:off x="8034528" y="2626976"/>
            <a:ext cx="3322320" cy="923000"/>
          </a:xfrm>
          <a:prstGeom prst="rect">
            <a:avLst/>
          </a:prstGeom>
        </p:spPr>
      </p:pic>
      <p:sp>
        <p:nvSpPr>
          <p:cNvPr id="20" name="TextBox 19"/>
          <p:cNvSpPr txBox="1"/>
          <p:nvPr/>
        </p:nvSpPr>
        <p:spPr>
          <a:xfrm>
            <a:off x="8034528" y="3925153"/>
            <a:ext cx="3322320" cy="506387"/>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dirty="0">
                <a:solidFill>
                  <a:srgbClr val="626669"/>
                </a:solidFill>
                <a:latin typeface="Fira Sans"/>
              </a:rPr>
              <a:t>The </a:t>
            </a:r>
            <a:r>
              <a:rPr sz="1045" b="1" i="0" dirty="0">
                <a:solidFill>
                  <a:srgbClr val="626669"/>
                </a:solidFill>
                <a:latin typeface="Fira Sans"/>
              </a:rPr>
              <a:t>transition function </a:t>
            </a:r>
            <a:r>
              <a:rPr sz="1045" b="0" i="0" dirty="0">
                <a:solidFill>
                  <a:srgbClr val="626669"/>
                </a:solidFill>
                <a:latin typeface="Fira Sans"/>
              </a:rPr>
              <a:t>determines the next state. It may be deterministic, or stochastic because of motor noise.</a:t>
            </a:r>
          </a:p>
        </p:txBody>
      </p:sp>
      <p:sp>
        <p:nvSpPr>
          <p:cNvPr id="21" name="Rectangle 20"/>
          <p:cNvSpPr/>
          <p:nvPr/>
        </p:nvSpPr>
        <p:spPr>
          <a:xfrm>
            <a:off x="841248" y="470586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1078991" y="4925316"/>
            <a:ext cx="2557415" cy="1061128"/>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833" b="1" i="0" spc="100" dirty="0">
                <a:solidFill>
                  <a:srgbClr val="2B7A3E"/>
                </a:solidFill>
                <a:latin typeface="Fira Sans"/>
              </a:rPr>
              <a:t>STEP 4   </a:t>
            </a:r>
            <a:r>
              <a:rPr sz="1188" b="1" i="0" dirty="0">
                <a:solidFill>
                  <a:srgbClr val="25282A"/>
                </a:solidFill>
                <a:latin typeface="Fira Sans"/>
              </a:rPr>
              <a:t>Reward</a:t>
            </a:r>
          </a:p>
          <a:p>
            <a:pPr marL="0" indent="0" algn="l">
              <a:lnSpc>
                <a:spcPts val="1233"/>
              </a:lnSpc>
              <a:spcBef>
                <a:spcPts val="500"/>
              </a:spcBef>
              <a:spcAft>
                <a:spcPts val="0"/>
              </a:spcAft>
              <a:buNone/>
            </a:pPr>
            <a:r>
              <a:rPr sz="1045" b="0" i="0" dirty="0">
                <a:solidFill>
                  <a:srgbClr val="626669"/>
                </a:solidFill>
                <a:latin typeface="Fira Sans"/>
              </a:rPr>
              <a:t>The environment returns a </a:t>
            </a:r>
            <a:r>
              <a:rPr sz="1045" b="1" i="0" dirty="0">
                <a:solidFill>
                  <a:srgbClr val="626669"/>
                </a:solidFill>
                <a:latin typeface="Fira Sans"/>
              </a:rPr>
              <a:t>numerical reward</a:t>
            </a:r>
            <a:r>
              <a:rPr lang="it-IT" sz="1045" b="1" i="0" dirty="0">
                <a:solidFill>
                  <a:srgbClr val="626669"/>
                </a:solidFill>
                <a:latin typeface="Fira Sans"/>
              </a:rPr>
              <a:t>: </a:t>
            </a:r>
            <a:r>
              <a:rPr sz="1045" b="0" i="0" dirty="0">
                <a:solidFill>
                  <a:srgbClr val="626669"/>
                </a:solidFill>
                <a:latin typeface="Fira Sans"/>
              </a:rPr>
              <a:t>positive for grasping or placing an object, zero otherwise. The mechanism producing it is the </a:t>
            </a:r>
            <a:r>
              <a:rPr sz="1045" b="1" i="0" dirty="0">
                <a:solidFill>
                  <a:srgbClr val="626669"/>
                </a:solidFill>
                <a:latin typeface="Fira Sans"/>
              </a:rPr>
              <a:t>reward function</a:t>
            </a:r>
            <a:r>
              <a:rPr sz="1045" b="0" i="0" dirty="0">
                <a:solidFill>
                  <a:srgbClr val="626669"/>
                </a:solidFill>
                <a:latin typeface="Fira Sans"/>
              </a:rPr>
              <a:t>.</a:t>
            </a:r>
          </a:p>
        </p:txBody>
      </p:sp>
      <p:sp>
        <p:nvSpPr>
          <p:cNvPr id="23" name="Rectangle 22"/>
          <p:cNvSpPr/>
          <p:nvPr/>
        </p:nvSpPr>
        <p:spPr>
          <a:xfrm>
            <a:off x="841248" y="4925316"/>
            <a:ext cx="41148" cy="102455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4" name="Picture 23" descr="step_reward.png"/>
          <p:cNvPicPr>
            <a:picLocks noChangeAspect="1"/>
          </p:cNvPicPr>
          <p:nvPr/>
        </p:nvPicPr>
        <p:blipFill>
          <a:blip r:embed="rId5"/>
          <a:stretch>
            <a:fillRect/>
          </a:stretch>
        </p:blipFill>
        <p:spPr>
          <a:xfrm>
            <a:off x="3636407" y="4883802"/>
            <a:ext cx="2432443" cy="987552"/>
          </a:xfrm>
          <a:prstGeom prst="rect">
            <a:avLst/>
          </a:prstGeom>
        </p:spPr>
      </p:pic>
      <p:sp>
        <p:nvSpPr>
          <p:cNvPr id="25" name="TextBox 24"/>
          <p:cNvSpPr txBox="1"/>
          <p:nvPr/>
        </p:nvSpPr>
        <p:spPr>
          <a:xfrm>
            <a:off x="6537960" y="4925316"/>
            <a:ext cx="2326050" cy="904524"/>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833" b="1" i="0" spc="100">
                <a:solidFill>
                  <a:srgbClr val="574676"/>
                </a:solidFill>
                <a:latin typeface="Fira Sans"/>
              </a:rPr>
              <a:t>STEP 5   </a:t>
            </a:r>
            <a:r>
              <a:rPr sz="1188" b="1" i="0">
                <a:solidFill>
                  <a:srgbClr val="25282A"/>
                </a:solidFill>
                <a:latin typeface="Fira Sans"/>
              </a:rPr>
              <a:t>Improve</a:t>
            </a:r>
          </a:p>
          <a:p>
            <a:pPr marL="0" indent="0" algn="l">
              <a:lnSpc>
                <a:spcPts val="1233"/>
              </a:lnSpc>
              <a:spcBef>
                <a:spcPts val="500"/>
              </a:spcBef>
              <a:spcAft>
                <a:spcPts val="0"/>
              </a:spcAft>
              <a:buNone/>
            </a:pPr>
            <a:r>
              <a:rPr sz="1045" b="0" i="0">
                <a:solidFill>
                  <a:srgbClr val="626669"/>
                </a:solidFill>
                <a:latin typeface="Fira Sans"/>
              </a:rPr>
              <a:t>The agent uses the reward and what it observed to evaluate the decision and adjust its future behaviour. Then the cycle repeats.</a:t>
            </a:r>
          </a:p>
        </p:txBody>
      </p:sp>
      <p:sp>
        <p:nvSpPr>
          <p:cNvPr id="26" name="Rectangle 25"/>
          <p:cNvSpPr/>
          <p:nvPr/>
        </p:nvSpPr>
        <p:spPr>
          <a:xfrm>
            <a:off x="6300216" y="4925316"/>
            <a:ext cx="41148" cy="86794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7" name="Picture 26" descr="step_improve.png"/>
          <p:cNvPicPr>
            <a:picLocks noChangeAspect="1"/>
          </p:cNvPicPr>
          <p:nvPr/>
        </p:nvPicPr>
        <p:blipFill>
          <a:blip r:embed="rId6"/>
          <a:stretch>
            <a:fillRect/>
          </a:stretch>
        </p:blipFill>
        <p:spPr>
          <a:xfrm>
            <a:off x="8977122" y="4946804"/>
            <a:ext cx="2528316" cy="88303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1.6  EXPERIENCE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unit the agent actually learns from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 — Agent and environment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8</a:t>
            </a:r>
          </a:p>
        </p:txBody>
      </p:sp>
      <p:sp>
        <p:nvSpPr>
          <p:cNvPr id="8" name="TextBox 7"/>
          <p:cNvSpPr txBox="1"/>
          <p:nvPr/>
        </p:nvSpPr>
        <p:spPr>
          <a:xfrm>
            <a:off x="841248" y="1316736"/>
            <a:ext cx="672084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lang="en-GB" sz="1188" b="0" i="0" dirty="0">
                <a:solidFill>
                  <a:srgbClr val="333639"/>
                </a:solidFill>
                <a:latin typeface="Fira Sans"/>
              </a:rPr>
              <a:t>Each interaction cycle is a </a:t>
            </a:r>
            <a:r>
              <a:rPr lang="en-GB" sz="1188" b="1" i="0" dirty="0">
                <a:solidFill>
                  <a:srgbClr val="25282A"/>
                </a:solidFill>
                <a:latin typeface="Fira Sans"/>
              </a:rPr>
              <a:t>time step</a:t>
            </a:r>
            <a:r>
              <a:rPr lang="en-GB" sz="1188" b="0" i="0" dirty="0">
                <a:solidFill>
                  <a:srgbClr val="333639"/>
                </a:solidFill>
                <a:latin typeface="Fira Sans"/>
              </a:rPr>
              <a:t>. The resulting tuple </a:t>
            </a:r>
            <a:r>
              <a:rPr lang="en-GB" sz="1188" b="1" dirty="0">
                <a:solidFill>
                  <a:srgbClr val="333639"/>
                </a:solidFill>
                <a:latin typeface="Fira Sans"/>
              </a:rPr>
              <a:t>[</a:t>
            </a:r>
            <a:r>
              <a:rPr lang="en-GB" sz="1188" b="1" i="0" dirty="0">
                <a:solidFill>
                  <a:srgbClr val="333639"/>
                </a:solidFill>
                <a:latin typeface="Fira Sans"/>
              </a:rPr>
              <a:t>current s</a:t>
            </a:r>
            <a:r>
              <a:rPr lang="en-GB" sz="1188" b="1" i="0" noProof="0" dirty="0" err="1">
                <a:solidFill>
                  <a:srgbClr val="333639"/>
                </a:solidFill>
                <a:latin typeface="Fira Sans"/>
              </a:rPr>
              <a:t>tate</a:t>
            </a:r>
            <a:r>
              <a:rPr lang="en-GB" sz="1188" b="1" i="0" noProof="0" dirty="0">
                <a:solidFill>
                  <a:srgbClr val="333639"/>
                </a:solidFill>
                <a:latin typeface="Fira Sans"/>
              </a:rPr>
              <a:t>, action, reward, next state]</a:t>
            </a:r>
            <a:r>
              <a:rPr lang="en-GB" sz="1188" noProof="0" dirty="0">
                <a:solidFill>
                  <a:srgbClr val="333639"/>
                </a:solidFill>
                <a:latin typeface="Fira Sans"/>
              </a:rPr>
              <a:t> </a:t>
            </a:r>
            <a:r>
              <a:rPr lang="en-GB" sz="1188" b="0" i="0" noProof="0" dirty="0">
                <a:solidFill>
                  <a:srgbClr val="333639"/>
                </a:solidFill>
                <a:latin typeface="Fira Sans"/>
              </a:rPr>
              <a:t>is one </a:t>
            </a:r>
            <a:r>
              <a:rPr lang="en-GB" sz="1188" b="1" i="0" noProof="0" dirty="0">
                <a:solidFill>
                  <a:srgbClr val="25282A"/>
                </a:solidFill>
                <a:latin typeface="Fira Sans"/>
              </a:rPr>
              <a:t>experience</a:t>
            </a:r>
            <a:r>
              <a:rPr lang="en-GB" sz="1188" b="0" i="0" noProof="0" dirty="0">
                <a:solidFill>
                  <a:srgbClr val="333639"/>
                </a:solidFill>
                <a:latin typeface="Fira Sans"/>
              </a:rPr>
              <a:t>, and it is the only raw material learning we have</a:t>
            </a:r>
            <a:endParaRPr lang="en-GB" sz="1188" b="0" i="0" dirty="0">
              <a:solidFill>
                <a:srgbClr val="333639"/>
              </a:solidFill>
              <a:latin typeface="Fira Sans"/>
            </a:endParaRPr>
          </a:p>
        </p:txBody>
      </p:sp>
      <p:pic>
        <p:nvPicPr>
          <p:cNvPr id="9" name="Picture 8" descr="experience.png"/>
          <p:cNvPicPr>
            <a:picLocks noChangeAspect="1"/>
          </p:cNvPicPr>
          <p:nvPr/>
        </p:nvPicPr>
        <p:blipFill>
          <a:blip r:embed="rId2"/>
          <a:stretch>
            <a:fillRect/>
          </a:stretch>
        </p:blipFill>
        <p:spPr>
          <a:xfrm>
            <a:off x="676587" y="2025935"/>
            <a:ext cx="7437096" cy="3118414"/>
          </a:xfrm>
          <a:prstGeom prst="rect">
            <a:avLst/>
          </a:prstGeom>
        </p:spPr>
      </p:pic>
      <p:sp>
        <p:nvSpPr>
          <p:cNvPr id="10" name="TextBox 9"/>
          <p:cNvSpPr txBox="1"/>
          <p:nvPr/>
        </p:nvSpPr>
        <p:spPr>
          <a:xfrm>
            <a:off x="694944" y="5448836"/>
            <a:ext cx="6720840"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Three time steps. The critic column is the reward channel; the right-hand column is what the agent stores.</a:t>
            </a:r>
          </a:p>
        </p:txBody>
      </p:sp>
      <p:sp>
        <p:nvSpPr>
          <p:cNvPr id="11" name="TextBox 10"/>
          <p:cNvSpPr txBox="1"/>
          <p:nvPr/>
        </p:nvSpPr>
        <p:spPr>
          <a:xfrm>
            <a:off x="8446880" y="1335024"/>
            <a:ext cx="3404585" cy="423136"/>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dirty="0">
                <a:solidFill>
                  <a:srgbClr val="574676"/>
                </a:solidFill>
                <a:latin typeface="Fira Sans Medium"/>
              </a:rPr>
              <a:t>ONE EXPERIENCE</a:t>
            </a:r>
          </a:p>
          <a:p>
            <a:pPr marL="0" indent="0" algn="l">
              <a:lnSpc>
                <a:spcPts val="1345"/>
              </a:lnSpc>
              <a:spcBef>
                <a:spcPts val="0"/>
              </a:spcBef>
              <a:spcAft>
                <a:spcPts val="0"/>
              </a:spcAft>
              <a:buNone/>
            </a:pPr>
            <a:r>
              <a:rPr sz="1140" b="0" i="0" dirty="0">
                <a:solidFill>
                  <a:srgbClr val="25282A"/>
                </a:solidFill>
                <a:latin typeface="Consolas"/>
              </a:rPr>
              <a:t>( s</a:t>
            </a:r>
            <a:r>
              <a:rPr sz="882" b="0" i="0" dirty="0">
                <a:solidFill>
                  <a:srgbClr val="25282A"/>
                </a:solidFill>
                <a:latin typeface="Consolas"/>
              </a:rPr>
              <a:t>t</a:t>
            </a:r>
            <a:r>
              <a:rPr sz="1140" b="0" i="0" dirty="0">
                <a:solidFill>
                  <a:srgbClr val="25282A"/>
                </a:solidFill>
                <a:latin typeface="Consolas"/>
              </a:rPr>
              <a:t> ,  a</a:t>
            </a:r>
            <a:r>
              <a:rPr sz="882" b="0" i="0" dirty="0">
                <a:solidFill>
                  <a:srgbClr val="25282A"/>
                </a:solidFill>
                <a:latin typeface="Consolas"/>
              </a:rPr>
              <a:t>t</a:t>
            </a:r>
            <a:r>
              <a:rPr sz="1140" b="0" i="0" dirty="0">
                <a:solidFill>
                  <a:srgbClr val="25282A"/>
                </a:solidFill>
                <a:latin typeface="Consolas"/>
              </a:rPr>
              <a:t> ,  r</a:t>
            </a:r>
            <a:r>
              <a:rPr sz="882" b="0" i="0" dirty="0">
                <a:solidFill>
                  <a:srgbClr val="25282A"/>
                </a:solidFill>
                <a:latin typeface="Consolas"/>
              </a:rPr>
              <a:t>t+1</a:t>
            </a:r>
            <a:r>
              <a:rPr sz="1140" b="0" i="0" dirty="0">
                <a:solidFill>
                  <a:srgbClr val="25282A"/>
                </a:solidFill>
                <a:latin typeface="Consolas"/>
              </a:rPr>
              <a:t> ,  s</a:t>
            </a:r>
            <a:r>
              <a:rPr sz="882" b="0" i="0" dirty="0">
                <a:solidFill>
                  <a:srgbClr val="25282A"/>
                </a:solidFill>
                <a:latin typeface="Consolas"/>
              </a:rPr>
              <a:t>t+1</a:t>
            </a:r>
            <a:r>
              <a:rPr sz="1140" b="0" i="0" dirty="0">
                <a:solidFill>
                  <a:srgbClr val="25282A"/>
                </a:solidFill>
                <a:latin typeface="Consolas"/>
              </a:rPr>
              <a:t> )</a:t>
            </a:r>
          </a:p>
        </p:txBody>
      </p:sp>
      <p:sp>
        <p:nvSpPr>
          <p:cNvPr id="12" name="TextBox 11"/>
          <p:cNvSpPr txBox="1"/>
          <p:nvPr/>
        </p:nvSpPr>
        <p:spPr>
          <a:xfrm>
            <a:off x="8446880" y="1995904"/>
            <a:ext cx="34045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TWO KINDS OF TASK</a:t>
            </a:r>
          </a:p>
        </p:txBody>
      </p:sp>
      <p:sp>
        <p:nvSpPr>
          <p:cNvPr id="13" name="TextBox 12"/>
          <p:cNvSpPr txBox="1"/>
          <p:nvPr/>
        </p:nvSpPr>
        <p:spPr>
          <a:xfrm>
            <a:off x="8684623" y="2251936"/>
            <a:ext cx="3166841" cy="904524"/>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dirty="0">
                <a:solidFill>
                  <a:srgbClr val="25282A"/>
                </a:solidFill>
                <a:latin typeface="Fira Sans"/>
              </a:rPr>
              <a:t>Episodic tasks</a:t>
            </a:r>
          </a:p>
          <a:p>
            <a:pPr marL="0" indent="0" algn="l">
              <a:lnSpc>
                <a:spcPts val="1233"/>
              </a:lnSpc>
              <a:spcBef>
                <a:spcPts val="500"/>
              </a:spcBef>
              <a:spcAft>
                <a:spcPts val="0"/>
              </a:spcAft>
              <a:buNone/>
            </a:pPr>
            <a:r>
              <a:rPr sz="1045" b="0" i="0" dirty="0">
                <a:solidFill>
                  <a:srgbClr val="626669"/>
                </a:solidFill>
                <a:latin typeface="Fira Sans"/>
              </a:rPr>
              <a:t>The interaction has </a:t>
            </a:r>
            <a:r>
              <a:rPr sz="1045" b="1" i="0" dirty="0">
                <a:solidFill>
                  <a:srgbClr val="626669"/>
                </a:solidFill>
                <a:latin typeface="Fira Sans"/>
              </a:rPr>
              <a:t>a natural end</a:t>
            </a:r>
            <a:r>
              <a:rPr lang="it-IT" sz="1045" b="0" i="0" dirty="0">
                <a:solidFill>
                  <a:srgbClr val="626669"/>
                </a:solidFill>
                <a:latin typeface="Fira Sans"/>
              </a:rPr>
              <a:t>:</a:t>
            </a:r>
            <a:r>
              <a:rPr sz="1045" b="0" i="0" dirty="0">
                <a:solidFill>
                  <a:srgbClr val="626669"/>
                </a:solidFill>
                <a:latin typeface="Fira Sans"/>
              </a:rPr>
              <a:t> a game played until a win or a loss. The complete sequence from start to termination is an </a:t>
            </a:r>
            <a:r>
              <a:rPr sz="1045" b="1" i="0" dirty="0">
                <a:solidFill>
                  <a:srgbClr val="626669"/>
                </a:solidFill>
                <a:latin typeface="Fira Sans"/>
              </a:rPr>
              <a:t>episode</a:t>
            </a:r>
            <a:r>
              <a:rPr sz="1045" b="0" i="0" dirty="0">
                <a:solidFill>
                  <a:srgbClr val="626669"/>
                </a:solidFill>
                <a:latin typeface="Fira Sans"/>
              </a:rPr>
              <a:t>, and the agent typically runs many of them.</a:t>
            </a:r>
          </a:p>
        </p:txBody>
      </p:sp>
      <p:sp>
        <p:nvSpPr>
          <p:cNvPr id="14" name="Rectangle 13"/>
          <p:cNvSpPr/>
          <p:nvPr/>
        </p:nvSpPr>
        <p:spPr>
          <a:xfrm>
            <a:off x="8446880" y="2251936"/>
            <a:ext cx="41148" cy="867948"/>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684623" y="3394204"/>
            <a:ext cx="3166841" cy="747920"/>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dirty="0">
                <a:solidFill>
                  <a:srgbClr val="25282A"/>
                </a:solidFill>
                <a:latin typeface="Fira Sans"/>
              </a:rPr>
              <a:t>Continuing tasks</a:t>
            </a:r>
          </a:p>
          <a:p>
            <a:pPr marL="0" indent="0" algn="l">
              <a:lnSpc>
                <a:spcPts val="1233"/>
              </a:lnSpc>
              <a:spcBef>
                <a:spcPts val="500"/>
              </a:spcBef>
              <a:spcAft>
                <a:spcPts val="0"/>
              </a:spcAft>
              <a:buNone/>
            </a:pPr>
            <a:r>
              <a:rPr sz="1045" b="0" i="0" dirty="0">
                <a:solidFill>
                  <a:srgbClr val="626669"/>
                </a:solidFill>
                <a:latin typeface="Fira Sans"/>
              </a:rPr>
              <a:t>There is </a:t>
            </a:r>
            <a:r>
              <a:rPr sz="1045" b="1" i="0" dirty="0">
                <a:solidFill>
                  <a:srgbClr val="626669"/>
                </a:solidFill>
                <a:latin typeface="Fira Sans"/>
              </a:rPr>
              <a:t>no natural endpoint</a:t>
            </a:r>
            <a:r>
              <a:rPr sz="1045" b="0" i="0" dirty="0">
                <a:solidFill>
                  <a:srgbClr val="626669"/>
                </a:solidFill>
                <a:latin typeface="Fira Sans"/>
              </a:rPr>
              <a:t>: a robot maintaining forward motion can simply keep going.</a:t>
            </a:r>
          </a:p>
        </p:txBody>
      </p:sp>
      <p:sp>
        <p:nvSpPr>
          <p:cNvPr id="16" name="Rectangle 15"/>
          <p:cNvSpPr/>
          <p:nvPr/>
        </p:nvSpPr>
        <p:spPr>
          <a:xfrm>
            <a:off x="8446880" y="3394204"/>
            <a:ext cx="41148" cy="71134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8446880" y="4398157"/>
            <a:ext cx="3404585" cy="791870"/>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446880" y="4398157"/>
            <a:ext cx="41148" cy="791870"/>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666336" y="4544461"/>
            <a:ext cx="3020537"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Learning is the three-step cycle: interact, evaluate the consequences with the reward, use the feedback to decide better next time.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Why the problem is hard</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Three properties of the feedback the agent receives, each of which rules out a method that would otherwise work.</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can the agent not learn from a single reward, however large?</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Delayed and sparse rewards</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The credit assignment problem</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Exploration versus exploitation</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Sampled and weak feedback</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2.1  THREE PROPERTIES OF THE FEEDBACK</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agent learns from interaction alone, and the feedback is poor in three ways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 — Why the problem is hard</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10</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Nothing tells the agent which action was correct. What it gets instead is a stream of rewards that </a:t>
            </a:r>
            <a:r>
              <a:rPr sz="1235" b="1" i="0" dirty="0">
                <a:solidFill>
                  <a:srgbClr val="333639"/>
                </a:solidFill>
                <a:latin typeface="Fira Sans"/>
              </a:rPr>
              <a:t>arrive late</a:t>
            </a:r>
            <a:r>
              <a:rPr sz="1235" b="0" i="0" dirty="0">
                <a:solidFill>
                  <a:srgbClr val="333639"/>
                </a:solidFill>
                <a:latin typeface="Fira Sans"/>
              </a:rPr>
              <a:t>, say only </a:t>
            </a:r>
            <a:r>
              <a:rPr sz="1235" b="1" i="0" dirty="0">
                <a:solidFill>
                  <a:srgbClr val="333639"/>
                </a:solidFill>
                <a:latin typeface="Fira Sans"/>
              </a:rPr>
              <a:t>how good </a:t>
            </a:r>
            <a:r>
              <a:rPr sz="1235" b="0" i="0" dirty="0">
                <a:solidFill>
                  <a:srgbClr val="333639"/>
                </a:solidFill>
                <a:latin typeface="Fira Sans"/>
              </a:rPr>
              <a:t>the outcome was, and </a:t>
            </a:r>
            <a:r>
              <a:rPr sz="1235" b="1" i="0" dirty="0">
                <a:solidFill>
                  <a:srgbClr val="333639"/>
                </a:solidFill>
                <a:latin typeface="Fira Sans"/>
              </a:rPr>
              <a:t>cover only what was actually tried</a:t>
            </a:r>
            <a:r>
              <a:rPr sz="1235" b="0" i="0" dirty="0">
                <a:solidFill>
                  <a:srgbClr val="333639"/>
                </a:solidFill>
                <a:latin typeface="Fira Sans"/>
              </a:rPr>
              <a:t>. Each of these rules out a method that would otherwise work.</a:t>
            </a:r>
          </a:p>
        </p:txBody>
      </p:sp>
      <p:sp>
        <p:nvSpPr>
          <p:cNvPr id="9" name="Rectangle 8"/>
          <p:cNvSpPr/>
          <p:nvPr/>
        </p:nvSpPr>
        <p:spPr>
          <a:xfrm>
            <a:off x="841248" y="2010333"/>
            <a:ext cx="3285744" cy="24871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010333"/>
            <a:ext cx="3285744"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24128" y="2193213"/>
            <a:ext cx="2919984" cy="1001438"/>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C8102E"/>
                </a:solidFill>
                <a:latin typeface="Fira Sans Medium"/>
              </a:rPr>
              <a:t>SEQUENTIAL</a:t>
            </a:r>
          </a:p>
          <a:p>
            <a:pPr marL="0" indent="0" algn="l">
              <a:lnSpc>
                <a:spcPts val="1383"/>
              </a:lnSpc>
              <a:spcBef>
                <a:spcPts val="600"/>
              </a:spcBef>
              <a:spcAft>
                <a:spcPts val="0"/>
              </a:spcAft>
              <a:buNone/>
            </a:pPr>
            <a:r>
              <a:rPr sz="1235" b="1" i="0">
                <a:solidFill>
                  <a:srgbClr val="25282A"/>
                </a:solidFill>
                <a:latin typeface="Fira Sans"/>
              </a:rPr>
              <a:t>Delayed and sparse</a:t>
            </a:r>
          </a:p>
          <a:p>
            <a:pPr marL="0" indent="0" algn="l">
              <a:lnSpc>
                <a:spcPts val="1310"/>
              </a:lnSpc>
              <a:spcBef>
                <a:spcPts val="700"/>
              </a:spcBef>
              <a:spcAft>
                <a:spcPts val="0"/>
              </a:spcAft>
              <a:buNone/>
            </a:pPr>
            <a:r>
              <a:rPr sz="1092" b="0" i="0">
                <a:solidFill>
                  <a:srgbClr val="333639"/>
                </a:solidFill>
                <a:latin typeface="Fira Sans"/>
              </a:rPr>
              <a:t>A reward may arrive many steps after the action that caused it, and most steps produce no reward at all.</a:t>
            </a:r>
          </a:p>
        </p:txBody>
      </p:sp>
      <p:sp>
        <p:nvSpPr>
          <p:cNvPr id="12" name="Rectangle 11"/>
          <p:cNvSpPr/>
          <p:nvPr/>
        </p:nvSpPr>
        <p:spPr>
          <a:xfrm>
            <a:off x="1024128" y="3893997"/>
            <a:ext cx="2919984"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24128" y="4022013"/>
            <a:ext cx="2919984"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1">
                <a:solidFill>
                  <a:srgbClr val="C8102E"/>
                </a:solidFill>
                <a:latin typeface="Fira Sans"/>
              </a:rPr>
              <a:t>Rules out: treating each step as an independent supervised example.</a:t>
            </a:r>
          </a:p>
        </p:txBody>
      </p:sp>
      <p:sp>
        <p:nvSpPr>
          <p:cNvPr id="14" name="Rectangle 13"/>
          <p:cNvSpPr/>
          <p:nvPr/>
        </p:nvSpPr>
        <p:spPr>
          <a:xfrm>
            <a:off x="4456176" y="2010333"/>
            <a:ext cx="3285744" cy="24871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4456176" y="2010333"/>
            <a:ext cx="328574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639056" y="2193213"/>
            <a:ext cx="2919984" cy="1167858"/>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a:solidFill>
                  <a:srgbClr val="8A5100"/>
                </a:solidFill>
                <a:latin typeface="Fira Sans Medium"/>
              </a:rPr>
              <a:t>EVALUATIVE</a:t>
            </a:r>
          </a:p>
          <a:p>
            <a:pPr marL="0" indent="0" algn="l">
              <a:lnSpc>
                <a:spcPts val="1383"/>
              </a:lnSpc>
              <a:spcBef>
                <a:spcPts val="600"/>
              </a:spcBef>
              <a:spcAft>
                <a:spcPts val="0"/>
              </a:spcAft>
              <a:buNone/>
            </a:pPr>
            <a:r>
              <a:rPr sz="1235" b="1" i="0">
                <a:solidFill>
                  <a:srgbClr val="25282A"/>
                </a:solidFill>
                <a:latin typeface="Fira Sans"/>
              </a:rPr>
              <a:t>Evaluative, not instructive</a:t>
            </a:r>
          </a:p>
          <a:p>
            <a:pPr marL="0" indent="0" algn="l">
              <a:lnSpc>
                <a:spcPts val="1310"/>
              </a:lnSpc>
              <a:spcBef>
                <a:spcPts val="700"/>
              </a:spcBef>
              <a:spcAft>
                <a:spcPts val="0"/>
              </a:spcAft>
              <a:buNone/>
            </a:pPr>
            <a:r>
              <a:rPr sz="1092" b="0" i="0">
                <a:solidFill>
                  <a:srgbClr val="333639"/>
                </a:solidFill>
                <a:latin typeface="Fira Sans"/>
              </a:rPr>
              <a:t>The reward says how good the outcome was. It never says which action would have been better, or what the alternatives would have produced.</a:t>
            </a:r>
          </a:p>
        </p:txBody>
      </p:sp>
      <p:sp>
        <p:nvSpPr>
          <p:cNvPr id="17" name="Rectangle 16"/>
          <p:cNvSpPr/>
          <p:nvPr/>
        </p:nvSpPr>
        <p:spPr>
          <a:xfrm>
            <a:off x="4639056" y="3893997"/>
            <a:ext cx="2919984"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639056" y="4022013"/>
            <a:ext cx="2919984"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1">
                <a:solidFill>
                  <a:srgbClr val="8A5100"/>
                </a:solidFill>
                <a:latin typeface="Fira Sans"/>
              </a:rPr>
              <a:t>Rules out: computing a gradient towards the correct answer.</a:t>
            </a:r>
          </a:p>
        </p:txBody>
      </p:sp>
      <p:sp>
        <p:nvSpPr>
          <p:cNvPr id="19" name="Rectangle 18"/>
          <p:cNvSpPr/>
          <p:nvPr/>
        </p:nvSpPr>
        <p:spPr>
          <a:xfrm>
            <a:off x="8071104" y="2010333"/>
            <a:ext cx="3285744" cy="24871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071104" y="2010333"/>
            <a:ext cx="328574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253983" y="2193213"/>
            <a:ext cx="2919984" cy="1001438"/>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574676"/>
                </a:solidFill>
                <a:latin typeface="Fira Sans Medium"/>
              </a:rPr>
              <a:t>SAMPLED</a:t>
            </a:r>
          </a:p>
          <a:p>
            <a:pPr marL="0" indent="0" algn="l">
              <a:lnSpc>
                <a:spcPts val="1383"/>
              </a:lnSpc>
              <a:spcBef>
                <a:spcPts val="600"/>
              </a:spcBef>
              <a:spcAft>
                <a:spcPts val="0"/>
              </a:spcAft>
              <a:buNone/>
            </a:pPr>
            <a:r>
              <a:rPr sz="1235" b="1" i="0" dirty="0">
                <a:solidFill>
                  <a:srgbClr val="25282A"/>
                </a:solidFill>
                <a:latin typeface="Fira Sans"/>
              </a:rPr>
              <a:t>Sampled, not exhaustive</a:t>
            </a:r>
          </a:p>
          <a:p>
            <a:pPr marL="0" indent="0" algn="l">
              <a:lnSpc>
                <a:spcPts val="1310"/>
              </a:lnSpc>
              <a:spcBef>
                <a:spcPts val="700"/>
              </a:spcBef>
              <a:spcAft>
                <a:spcPts val="0"/>
              </a:spcAft>
              <a:buNone/>
            </a:pPr>
            <a:r>
              <a:rPr sz="1092" b="0" i="0" dirty="0">
                <a:solidFill>
                  <a:srgbClr val="333639"/>
                </a:solidFill>
                <a:latin typeface="Fira Sans"/>
              </a:rPr>
              <a:t>The agent sees rewards only for the states and actions it actually visits</a:t>
            </a:r>
            <a:r>
              <a:rPr lang="it-IT" sz="1092" b="0" i="0" dirty="0">
                <a:solidFill>
                  <a:srgbClr val="333639"/>
                </a:solidFill>
                <a:latin typeface="Fira Sans"/>
              </a:rPr>
              <a:t>, </a:t>
            </a:r>
            <a:r>
              <a:rPr sz="1092" b="0" i="0" dirty="0">
                <a:solidFill>
                  <a:srgbClr val="333639"/>
                </a:solidFill>
                <a:latin typeface="Fira Sans"/>
              </a:rPr>
              <a:t>a vanishing fraction of a large or continuous space.</a:t>
            </a:r>
          </a:p>
        </p:txBody>
      </p:sp>
      <p:sp>
        <p:nvSpPr>
          <p:cNvPr id="22" name="Rectangle 21"/>
          <p:cNvSpPr/>
          <p:nvPr/>
        </p:nvSpPr>
        <p:spPr>
          <a:xfrm>
            <a:off x="8253983" y="3893997"/>
            <a:ext cx="2919984"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253983" y="4022013"/>
            <a:ext cx="2919984"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1">
                <a:solidFill>
                  <a:srgbClr val="574676"/>
                </a:solidFill>
                <a:latin typeface="Fira Sans"/>
              </a:rPr>
              <a:t>Rules out: tabulating every case; forces generalisation.</a:t>
            </a:r>
          </a:p>
        </p:txBody>
      </p:sp>
      <p:sp>
        <p:nvSpPr>
          <p:cNvPr id="24" name="Rectangle 23"/>
          <p:cNvSpPr/>
          <p:nvPr/>
        </p:nvSpPr>
        <p:spPr>
          <a:xfrm>
            <a:off x="841248" y="4771821"/>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41248" y="4771821"/>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60704" y="4918125"/>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These are properties of the </a:t>
            </a:r>
            <a:r>
              <a:rPr sz="1140" b="1" i="0" dirty="0">
                <a:solidFill>
                  <a:srgbClr val="333639"/>
                </a:solidFill>
                <a:latin typeface="Fira Sans"/>
              </a:rPr>
              <a:t>problem</a:t>
            </a:r>
            <a:r>
              <a:rPr sz="1140" b="0" i="0" dirty="0">
                <a:solidFill>
                  <a:srgbClr val="333639"/>
                </a:solidFill>
                <a:latin typeface="Fira Sans"/>
              </a:rPr>
              <a:t>, not of any particular algorithm. Everything in the rest of the </a:t>
            </a:r>
            <a:r>
              <a:rPr lang="it-IT" sz="1140" dirty="0">
                <a:solidFill>
                  <a:srgbClr val="333639"/>
                </a:solidFill>
                <a:latin typeface="Fira Sans"/>
              </a:rPr>
              <a:t>RL (</a:t>
            </a:r>
            <a:r>
              <a:rPr sz="1140" b="0" i="0" dirty="0">
                <a:solidFill>
                  <a:srgbClr val="333639"/>
                </a:solidFill>
                <a:latin typeface="Fira Sans"/>
              </a:rPr>
              <a:t>value functions, temporal-difference learning, exploration strategies, function approximation</a:t>
            </a:r>
            <a:r>
              <a:rPr lang="it-IT" sz="1140" b="0" i="0" dirty="0">
                <a:solidFill>
                  <a:srgbClr val="333639"/>
                </a:solidFill>
                <a:latin typeface="Fira Sans"/>
              </a:rPr>
              <a:t>)</a:t>
            </a:r>
            <a:r>
              <a:rPr sz="1140" b="0" i="0" dirty="0">
                <a:solidFill>
                  <a:srgbClr val="333639"/>
                </a:solidFill>
                <a:latin typeface="Fira Sans"/>
              </a:rPr>
              <a:t> exists because of one of these three.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2.2  THE CREDIT ASSIGNMENT PROBLEM</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When the reward finally arrives, which decision earned 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 — Why the problem is hard</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11</a:t>
            </a:r>
          </a:p>
        </p:txBody>
      </p:sp>
      <p:sp>
        <p:nvSpPr>
          <p:cNvPr id="8" name="TextBox 7"/>
          <p:cNvSpPr txBox="1"/>
          <p:nvPr/>
        </p:nvSpPr>
        <p:spPr>
          <a:xfrm>
            <a:off x="841248" y="1316736"/>
            <a:ext cx="649224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The robot arm may move toward an object, position the gripper, close it, lift the object and move toward the container before receiving any reward at all. The reward is therefore delayed, and most of the intermediate steps produce nothing.</a:t>
            </a:r>
          </a:p>
        </p:txBody>
      </p:sp>
      <p:pic>
        <p:nvPicPr>
          <p:cNvPr id="9" name="Picture 8" descr="credit.png"/>
          <p:cNvPicPr>
            <a:picLocks noChangeAspect="1"/>
          </p:cNvPicPr>
          <p:nvPr/>
        </p:nvPicPr>
        <p:blipFill>
          <a:blip r:embed="rId2"/>
          <a:stretch>
            <a:fillRect/>
          </a:stretch>
        </p:blipFill>
        <p:spPr>
          <a:xfrm>
            <a:off x="841247" y="2069389"/>
            <a:ext cx="6659734" cy="3655670"/>
          </a:xfrm>
          <a:prstGeom prst="rect">
            <a:avLst/>
          </a:prstGeom>
        </p:spPr>
      </p:pic>
      <p:sp>
        <p:nvSpPr>
          <p:cNvPr id="10" name="TextBox 9"/>
          <p:cNvSpPr txBox="1"/>
          <p:nvPr/>
        </p:nvSpPr>
        <p:spPr>
          <a:xfrm>
            <a:off x="841247" y="5828299"/>
            <a:ext cx="6492240"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Action A pays +23 immediately and then leads to a state worth −100. The agent has to decide what to blame.</a:t>
            </a:r>
          </a:p>
        </p:txBody>
      </p:sp>
      <p:sp>
        <p:nvSpPr>
          <p:cNvPr id="11" name="TextBox 10"/>
          <p:cNvSpPr txBox="1"/>
          <p:nvPr/>
        </p:nvSpPr>
        <p:spPr>
          <a:xfrm>
            <a:off x="7717536" y="1335024"/>
            <a:ext cx="3633185" cy="1006561"/>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dirty="0">
                <a:solidFill>
                  <a:srgbClr val="C8102E"/>
                </a:solidFill>
                <a:latin typeface="Fira Sans Medium"/>
              </a:rPr>
              <a:t>MINSKY, 1961</a:t>
            </a:r>
          </a:p>
          <a:p>
            <a:pPr marL="0" indent="0" algn="l">
              <a:lnSpc>
                <a:spcPts val="1408"/>
              </a:lnSpc>
              <a:spcBef>
                <a:spcPts val="600"/>
              </a:spcBef>
              <a:spcAft>
                <a:spcPts val="0"/>
              </a:spcAft>
              <a:buNone/>
            </a:pPr>
            <a:r>
              <a:rPr sz="1235" b="1" i="0" dirty="0">
                <a:solidFill>
                  <a:srgbClr val="25282A"/>
                </a:solidFill>
                <a:latin typeface="Fira Sans"/>
              </a:rPr>
              <a:t>The temporal credit assignment problem</a:t>
            </a:r>
          </a:p>
          <a:p>
            <a:pPr marL="0" indent="0" algn="l">
              <a:lnSpc>
                <a:spcPts val="1310"/>
              </a:lnSpc>
              <a:spcBef>
                <a:spcPts val="600"/>
              </a:spcBef>
              <a:spcAft>
                <a:spcPts val="0"/>
              </a:spcAft>
              <a:buNone/>
            </a:pPr>
            <a:r>
              <a:rPr sz="1092" b="0" i="0" dirty="0">
                <a:solidFill>
                  <a:srgbClr val="333639"/>
                </a:solidFill>
                <a:latin typeface="Fira Sans"/>
              </a:rPr>
              <a:t>When a reward is finally received, which of the states visited and actions taken along the way should receive credit or blame for that outcome?</a:t>
            </a:r>
          </a:p>
        </p:txBody>
      </p:sp>
      <p:sp>
        <p:nvSpPr>
          <p:cNvPr id="12" name="TextBox 11"/>
          <p:cNvSpPr txBox="1"/>
          <p:nvPr/>
        </p:nvSpPr>
        <p:spPr>
          <a:xfrm>
            <a:off x="7717536" y="2579329"/>
            <a:ext cx="36331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TWO SEPARATE DIFFICULTIES</a:t>
            </a:r>
          </a:p>
        </p:txBody>
      </p:sp>
      <p:sp>
        <p:nvSpPr>
          <p:cNvPr id="13" name="TextBox 12"/>
          <p:cNvSpPr txBox="1"/>
          <p:nvPr/>
        </p:nvSpPr>
        <p:spPr>
          <a:xfrm>
            <a:off x="7717536" y="2835361"/>
            <a:ext cx="3633185" cy="931011"/>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dirty="0">
                <a:solidFill>
                  <a:srgbClr val="25282A"/>
                </a:solidFill>
                <a:latin typeface="Fira Sans"/>
              </a:rPr>
              <a:t>Delay</a:t>
            </a:r>
            <a:r>
              <a:rPr lang="it-IT" sz="1092" dirty="0">
                <a:solidFill>
                  <a:srgbClr val="333639"/>
                </a:solidFill>
                <a:latin typeface="Fira Sans"/>
              </a:rPr>
              <a:t>: </a:t>
            </a:r>
            <a:r>
              <a:rPr sz="1092" b="0" i="0" dirty="0">
                <a:solidFill>
                  <a:srgbClr val="333639"/>
                </a:solidFill>
                <a:latin typeface="Fira Sans"/>
              </a:rPr>
              <a:t>the informative reward is separated in time from the decision that caused it.</a:t>
            </a:r>
          </a:p>
          <a:p>
            <a:pPr marL="173736" indent="-173736" algn="l">
              <a:lnSpc>
                <a:spcPts val="1289"/>
              </a:lnSpc>
              <a:spcBef>
                <a:spcPts val="600"/>
              </a:spcBef>
              <a:spcAft>
                <a:spcPts val="0"/>
              </a:spcAft>
              <a:buClr>
                <a:srgbClr val="1971C2"/>
              </a:buClr>
              <a:buFont typeface="Fira Sans"/>
              <a:buChar char="–"/>
            </a:pPr>
            <a:r>
              <a:rPr sz="1092" b="1" i="0" dirty="0">
                <a:solidFill>
                  <a:srgbClr val="25282A"/>
                </a:solidFill>
                <a:latin typeface="Fira Sans"/>
              </a:rPr>
              <a:t>Sparsity</a:t>
            </a:r>
            <a:r>
              <a:rPr lang="it-IT" sz="1092" b="0" i="0" dirty="0">
                <a:solidFill>
                  <a:srgbClr val="333639"/>
                </a:solidFill>
                <a:latin typeface="Fira Sans"/>
              </a:rPr>
              <a:t>:</a:t>
            </a:r>
            <a:r>
              <a:rPr sz="1092" b="0" i="0" dirty="0">
                <a:solidFill>
                  <a:srgbClr val="333639"/>
                </a:solidFill>
                <a:latin typeface="Fira Sans"/>
              </a:rPr>
              <a:t> many essential intermediate actions produce no reward whatsoever, so they carry no signal of their own.</a:t>
            </a:r>
          </a:p>
        </p:txBody>
      </p:sp>
      <p:sp>
        <p:nvSpPr>
          <p:cNvPr id="14" name="Rectangle 13"/>
          <p:cNvSpPr/>
          <p:nvPr/>
        </p:nvSpPr>
        <p:spPr>
          <a:xfrm>
            <a:off x="7717536" y="4004116"/>
            <a:ext cx="3633185" cy="958291"/>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717536" y="4004116"/>
            <a:ext cx="41148" cy="958291"/>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936992" y="4150420"/>
            <a:ext cx="3249137"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agent must therefore </a:t>
            </a:r>
            <a:r>
              <a:rPr sz="1092" b="1" i="0">
                <a:solidFill>
                  <a:srgbClr val="333639"/>
                </a:solidFill>
                <a:latin typeface="Fira Sans"/>
              </a:rPr>
              <a:t>learn from sequential feedback</a:t>
            </a:r>
            <a:r>
              <a:rPr sz="1092" b="0" i="0">
                <a:solidFill>
                  <a:srgbClr val="333639"/>
                </a:solidFill>
                <a:latin typeface="Fira Sans"/>
              </a:rPr>
              <a:t>, relating rewards received now to decisions made earlier. The return, defined in Part IV, is the first step towards doing this properly.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2.3  EXPLORATION VERSUS EXPLOITATION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Evaluative feedback says how good, never what would have been better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 — Why the problem is hard</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12</a:t>
            </a:r>
          </a:p>
        </p:txBody>
      </p:sp>
      <p:sp>
        <p:nvSpPr>
          <p:cNvPr id="8" name="TextBox 7"/>
          <p:cNvSpPr txBox="1"/>
          <p:nvPr/>
        </p:nvSpPr>
        <p:spPr>
          <a:xfrm>
            <a:off x="841248" y="1316736"/>
            <a:ext cx="649224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A failed grasp produces a low reward, but it does not tell the robot whether it should have moved the gripper left, right, or closer. To find out, the agent has to try something other than what it currently believes is best.</a:t>
            </a:r>
          </a:p>
        </p:txBody>
      </p:sp>
      <p:pic>
        <p:nvPicPr>
          <p:cNvPr id="9" name="Picture 8" descr="explore.png"/>
          <p:cNvPicPr>
            <a:picLocks noChangeAspect="1"/>
          </p:cNvPicPr>
          <p:nvPr/>
        </p:nvPicPr>
        <p:blipFill>
          <a:blip r:embed="rId2"/>
          <a:stretch>
            <a:fillRect/>
          </a:stretch>
        </p:blipFill>
        <p:spPr>
          <a:xfrm>
            <a:off x="841248" y="2047621"/>
            <a:ext cx="6554708" cy="3800601"/>
          </a:xfrm>
          <a:prstGeom prst="rect">
            <a:avLst/>
          </a:prstGeom>
        </p:spPr>
      </p:pic>
      <p:sp>
        <p:nvSpPr>
          <p:cNvPr id="10" name="TextBox 9"/>
          <p:cNvSpPr txBox="1"/>
          <p:nvPr/>
        </p:nvSpPr>
        <p:spPr>
          <a:xfrm>
            <a:off x="841248" y="5950232"/>
            <a:ext cx="6492240"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Action A pays +50, then +20, then +20 … and the agent never discovers that action B pays +1000.</a:t>
            </a:r>
          </a:p>
        </p:txBody>
      </p:sp>
      <p:sp>
        <p:nvSpPr>
          <p:cNvPr id="11" name="TextBox 10"/>
          <p:cNvSpPr txBox="1"/>
          <p:nvPr/>
        </p:nvSpPr>
        <p:spPr>
          <a:xfrm>
            <a:off x="7955279" y="1335024"/>
            <a:ext cx="3395441" cy="784415"/>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dirty="0">
                <a:solidFill>
                  <a:srgbClr val="25282A"/>
                </a:solidFill>
                <a:latin typeface="Fira Sans"/>
              </a:rPr>
              <a:t>Exploit</a:t>
            </a:r>
          </a:p>
          <a:p>
            <a:pPr marL="0" indent="0" algn="l">
              <a:lnSpc>
                <a:spcPts val="1310"/>
              </a:lnSpc>
              <a:spcBef>
                <a:spcPts val="500"/>
              </a:spcBef>
              <a:spcAft>
                <a:spcPts val="0"/>
              </a:spcAft>
              <a:buNone/>
            </a:pPr>
            <a:r>
              <a:rPr sz="1092" b="0" i="0" dirty="0">
                <a:solidFill>
                  <a:srgbClr val="626669"/>
                </a:solidFill>
                <a:latin typeface="Fira Sans"/>
              </a:rPr>
              <a:t>Take the action that currently looks best</a:t>
            </a:r>
            <a:r>
              <a:rPr lang="it-IT" sz="1092" b="0" i="0" dirty="0">
                <a:solidFill>
                  <a:srgbClr val="626669"/>
                </a:solidFill>
                <a:latin typeface="Fira Sans"/>
              </a:rPr>
              <a:t>,</a:t>
            </a:r>
            <a:r>
              <a:rPr sz="1092" b="0" i="0" dirty="0">
                <a:solidFill>
                  <a:srgbClr val="626669"/>
                </a:solidFill>
                <a:latin typeface="Fira Sans"/>
              </a:rPr>
              <a:t> maximizing reward now, using everything already learned.</a:t>
            </a:r>
          </a:p>
        </p:txBody>
      </p:sp>
      <p:sp>
        <p:nvSpPr>
          <p:cNvPr id="12" name="Rectangle 11"/>
          <p:cNvSpPr/>
          <p:nvPr/>
        </p:nvSpPr>
        <p:spPr>
          <a:xfrm>
            <a:off x="7717536" y="1335024"/>
            <a:ext cx="41148" cy="74783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955279" y="2338895"/>
            <a:ext cx="3395441" cy="784415"/>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dirty="0">
                <a:solidFill>
                  <a:srgbClr val="25282A"/>
                </a:solidFill>
                <a:latin typeface="Fira Sans"/>
              </a:rPr>
              <a:t>Explore</a:t>
            </a:r>
          </a:p>
          <a:p>
            <a:pPr marL="0" indent="0" algn="l">
              <a:lnSpc>
                <a:spcPts val="1310"/>
              </a:lnSpc>
              <a:spcBef>
                <a:spcPts val="500"/>
              </a:spcBef>
              <a:spcAft>
                <a:spcPts val="0"/>
              </a:spcAft>
              <a:buNone/>
            </a:pPr>
            <a:r>
              <a:rPr sz="1092" b="0" i="0" dirty="0">
                <a:solidFill>
                  <a:srgbClr val="626669"/>
                </a:solidFill>
                <a:latin typeface="Fira Sans"/>
              </a:rPr>
              <a:t>Take a different action to find out what it does</a:t>
            </a:r>
            <a:r>
              <a:rPr lang="it-IT" sz="1092" b="0" i="0" dirty="0">
                <a:solidFill>
                  <a:srgbClr val="626669"/>
                </a:solidFill>
                <a:latin typeface="Fira Sans"/>
              </a:rPr>
              <a:t>,</a:t>
            </a:r>
            <a:r>
              <a:rPr sz="1092" b="0" i="0" dirty="0">
                <a:solidFill>
                  <a:srgbClr val="626669"/>
                </a:solidFill>
                <a:latin typeface="Fira Sans"/>
              </a:rPr>
              <a:t> costing reward now, and possibly paying much more later.</a:t>
            </a:r>
          </a:p>
        </p:txBody>
      </p:sp>
      <p:sp>
        <p:nvSpPr>
          <p:cNvPr id="14" name="Rectangle 13"/>
          <p:cNvSpPr/>
          <p:nvPr/>
        </p:nvSpPr>
        <p:spPr>
          <a:xfrm>
            <a:off x="7717536" y="2338895"/>
            <a:ext cx="41148" cy="74783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717536" y="3379343"/>
            <a:ext cx="3633185" cy="1362456"/>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717536" y="3379343"/>
            <a:ext cx="41148" cy="136245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936992" y="3525647"/>
            <a:ext cx="3340577"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TRADE-OFF</a:t>
            </a:r>
          </a:p>
        </p:txBody>
      </p:sp>
      <p:sp>
        <p:nvSpPr>
          <p:cNvPr id="18" name="TextBox 17"/>
          <p:cNvSpPr txBox="1"/>
          <p:nvPr/>
        </p:nvSpPr>
        <p:spPr>
          <a:xfrm>
            <a:off x="7936992" y="3763391"/>
            <a:ext cx="3249137"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Neither extreme works. </a:t>
            </a:r>
            <a:r>
              <a:rPr sz="1092" b="1" i="0" dirty="0">
                <a:solidFill>
                  <a:srgbClr val="333639"/>
                </a:solidFill>
                <a:latin typeface="Fira Sans"/>
              </a:rPr>
              <a:t>Pure exploitation</a:t>
            </a:r>
            <a:r>
              <a:rPr sz="1092" b="0" i="0" dirty="0">
                <a:solidFill>
                  <a:srgbClr val="333639"/>
                </a:solidFill>
                <a:latin typeface="Fira Sans"/>
              </a:rPr>
              <a:t> locks the agent into the first tolerable </a:t>
            </a:r>
            <a:r>
              <a:rPr sz="1092" b="0" i="0" dirty="0" err="1">
                <a:solidFill>
                  <a:srgbClr val="333639"/>
                </a:solidFill>
                <a:latin typeface="Fira Sans"/>
              </a:rPr>
              <a:t>behaviour</a:t>
            </a:r>
            <a:r>
              <a:rPr sz="1092" b="0" i="0" dirty="0">
                <a:solidFill>
                  <a:srgbClr val="333639"/>
                </a:solidFill>
                <a:latin typeface="Fira Sans"/>
              </a:rPr>
              <a:t> it finds; </a:t>
            </a:r>
            <a:r>
              <a:rPr sz="1092" b="1" i="0" dirty="0">
                <a:solidFill>
                  <a:srgbClr val="333639"/>
                </a:solidFill>
                <a:latin typeface="Fira Sans"/>
              </a:rPr>
              <a:t>pure exploration</a:t>
            </a:r>
            <a:r>
              <a:rPr sz="1092" b="0" i="0" dirty="0">
                <a:solidFill>
                  <a:srgbClr val="333639"/>
                </a:solidFill>
                <a:latin typeface="Fira Sans"/>
              </a:rPr>
              <a:t> never uses what it has learned. The balance between them is the </a:t>
            </a:r>
            <a:r>
              <a:rPr sz="1092" b="1" i="0" dirty="0">
                <a:solidFill>
                  <a:srgbClr val="333639"/>
                </a:solidFill>
                <a:latin typeface="Fira Sans"/>
              </a:rPr>
              <a:t>exploration–exploitation trade-off</a:t>
            </a:r>
            <a:r>
              <a:rPr sz="1092" b="0" i="0" dirty="0">
                <a:solidFill>
                  <a:srgbClr val="333639"/>
                </a:solidFill>
                <a:latin typeface="Fira Sans"/>
              </a:rPr>
              <a:t>.</a:t>
            </a:r>
          </a:p>
        </p:txBody>
      </p:sp>
      <p:sp>
        <p:nvSpPr>
          <p:cNvPr id="19" name="TextBox 18"/>
          <p:cNvSpPr txBox="1"/>
          <p:nvPr/>
        </p:nvSpPr>
        <p:spPr>
          <a:xfrm>
            <a:off x="7717536" y="4979543"/>
            <a:ext cx="3633185" cy="868680"/>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Note the asymmetry with supervised learning: there, the correct label is given for every example. Here the agent sees only the consequence of the one action it took, and never what the others would have produced</a:t>
            </a:r>
            <a:r>
              <a:rPr lang="it-IT" sz="1092" b="0" i="0" dirty="0">
                <a:solidFill>
                  <a:srgbClr val="333639"/>
                </a:solidFill>
                <a:latin typeface="Fira Sans"/>
              </a:rPr>
              <a:t>, </a:t>
            </a:r>
            <a:r>
              <a:rPr sz="1092" b="0" i="0" dirty="0">
                <a:solidFill>
                  <a:srgbClr val="333639"/>
                </a:solidFill>
                <a:latin typeface="Fira Sans"/>
              </a:rPr>
              <a:t>the </a:t>
            </a:r>
            <a:r>
              <a:rPr sz="1092" b="1" i="0" dirty="0">
                <a:solidFill>
                  <a:srgbClr val="25282A"/>
                </a:solidFill>
                <a:latin typeface="Fira Sans"/>
              </a:rPr>
              <a:t>counterfactual is unavailable</a:t>
            </a:r>
            <a:r>
              <a:rPr sz="1092" b="0" i="0" dirty="0">
                <a:solidFill>
                  <a:srgbClr val="333639"/>
                </a:solidFill>
                <a:latin typeface="Fira Sans"/>
              </a:rPr>
              <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2.4  SAMPLED AND WEAK FEEDBACK</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agent learns from what it happened to visit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 — Why the problem is hard</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13</a:t>
            </a:r>
          </a:p>
        </p:txBody>
      </p:sp>
      <p:sp>
        <p:nvSpPr>
          <p:cNvPr id="8" name="TextBox 7"/>
          <p:cNvSpPr txBox="1"/>
          <p:nvPr/>
        </p:nvSpPr>
        <p:spPr>
          <a:xfrm>
            <a:off x="841248" y="1316736"/>
            <a:ext cx="649224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The robot cannot try every arm position and every movement; it learns from the subset it encounters during training. Because state and action spaces can be enormous </a:t>
            </a:r>
            <a:r>
              <a:rPr lang="it-IT" sz="1188" dirty="0">
                <a:solidFill>
                  <a:srgbClr val="333639"/>
                </a:solidFill>
                <a:latin typeface="Fira Sans"/>
              </a:rPr>
              <a:t>(</a:t>
            </a:r>
            <a:r>
              <a:rPr sz="1188" b="0" i="0" dirty="0">
                <a:solidFill>
                  <a:srgbClr val="333639"/>
                </a:solidFill>
                <a:latin typeface="Fira Sans"/>
              </a:rPr>
              <a:t>or continuous</a:t>
            </a:r>
            <a:r>
              <a:rPr lang="it-IT" sz="1188" b="0" i="0" dirty="0">
                <a:solidFill>
                  <a:srgbClr val="333639"/>
                </a:solidFill>
                <a:latin typeface="Fira Sans"/>
              </a:rPr>
              <a:t>)</a:t>
            </a:r>
            <a:r>
              <a:rPr sz="1188" b="0" i="0" dirty="0">
                <a:solidFill>
                  <a:srgbClr val="333639"/>
                </a:solidFill>
                <a:latin typeface="Fira Sans"/>
              </a:rPr>
              <a:t> the agent </a:t>
            </a:r>
            <a:r>
              <a:rPr sz="1188" b="1" i="0" dirty="0">
                <a:solidFill>
                  <a:srgbClr val="333639"/>
                </a:solidFill>
                <a:latin typeface="Fira Sans"/>
              </a:rPr>
              <a:t>must generalize </a:t>
            </a:r>
            <a:r>
              <a:rPr sz="1188" b="0" i="0" dirty="0">
                <a:solidFill>
                  <a:srgbClr val="333639"/>
                </a:solidFill>
                <a:latin typeface="Fira Sans"/>
              </a:rPr>
              <a:t>from that subset to situations it has never seen.</a:t>
            </a:r>
          </a:p>
        </p:txBody>
      </p:sp>
      <p:pic>
        <p:nvPicPr>
          <p:cNvPr id="9" name="Picture 8" descr="sampled.png"/>
          <p:cNvPicPr>
            <a:picLocks noChangeAspect="1"/>
          </p:cNvPicPr>
          <p:nvPr/>
        </p:nvPicPr>
        <p:blipFill>
          <a:blip r:embed="rId2"/>
          <a:stretch>
            <a:fillRect/>
          </a:stretch>
        </p:blipFill>
        <p:spPr>
          <a:xfrm>
            <a:off x="841248" y="2007016"/>
            <a:ext cx="6410431" cy="3698839"/>
          </a:xfrm>
          <a:prstGeom prst="rect">
            <a:avLst/>
          </a:prstGeom>
        </p:spPr>
      </p:pic>
      <p:sp>
        <p:nvSpPr>
          <p:cNvPr id="10" name="TextBox 9"/>
          <p:cNvSpPr txBox="1"/>
          <p:nvPr/>
        </p:nvSpPr>
        <p:spPr>
          <a:xfrm>
            <a:off x="841248" y="5831421"/>
            <a:ext cx="6492240"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With a continuous state, the agent never visits the same state twice. Without </a:t>
            </a:r>
            <a:r>
              <a:rPr sz="950" b="0" i="1" dirty="0" err="1">
                <a:solidFill>
                  <a:srgbClr val="626669"/>
                </a:solidFill>
                <a:latin typeface="Fira Sans"/>
              </a:rPr>
              <a:t>generalisation</a:t>
            </a:r>
            <a:r>
              <a:rPr sz="950" b="0" i="1" dirty="0">
                <a:solidFill>
                  <a:srgbClr val="626669"/>
                </a:solidFill>
                <a:latin typeface="Fira Sans"/>
              </a:rPr>
              <a:t> no experience is ever reusable.</a:t>
            </a:r>
          </a:p>
        </p:txBody>
      </p:sp>
      <p:sp>
        <p:nvSpPr>
          <p:cNvPr id="11" name="TextBox 10"/>
          <p:cNvSpPr txBox="1"/>
          <p:nvPr/>
        </p:nvSpPr>
        <p:spPr>
          <a:xfrm>
            <a:off x="7717536" y="1335024"/>
            <a:ext cx="3633185" cy="935657"/>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dirty="0">
                <a:solidFill>
                  <a:srgbClr val="574676"/>
                </a:solidFill>
                <a:latin typeface="Fira Sans Medium"/>
              </a:rPr>
              <a:t>WHAT “SAMPLED” COSTS</a:t>
            </a:r>
          </a:p>
          <a:p>
            <a:pPr marL="0" indent="0" algn="l">
              <a:lnSpc>
                <a:spcPts val="1345"/>
              </a:lnSpc>
              <a:spcBef>
                <a:spcPts val="0"/>
              </a:spcBef>
              <a:spcAft>
                <a:spcPts val="0"/>
              </a:spcAft>
              <a:buNone/>
            </a:pPr>
            <a:r>
              <a:rPr sz="1140" b="0" i="0" dirty="0">
                <a:solidFill>
                  <a:srgbClr val="333639"/>
                </a:solidFill>
                <a:latin typeface="Fira Sans"/>
              </a:rPr>
              <a:t>The agent observes rewards only for the state–action pairs it </a:t>
            </a:r>
            <a:r>
              <a:rPr sz="1140" b="1" i="0" dirty="0">
                <a:solidFill>
                  <a:srgbClr val="25282A"/>
                </a:solidFill>
                <a:latin typeface="Fira Sans"/>
              </a:rPr>
              <a:t>actually experiences</a:t>
            </a:r>
            <a:r>
              <a:rPr sz="1140" b="0" i="0" dirty="0">
                <a:solidFill>
                  <a:srgbClr val="333639"/>
                </a:solidFill>
                <a:latin typeface="Fira Sans"/>
              </a:rPr>
              <a:t>, not for every possible one. Everything it concludes about the rest of the space is an extrapolation.</a:t>
            </a:r>
          </a:p>
        </p:txBody>
      </p:sp>
      <p:sp>
        <p:nvSpPr>
          <p:cNvPr id="12" name="TextBox 11"/>
          <p:cNvSpPr txBox="1"/>
          <p:nvPr/>
        </p:nvSpPr>
        <p:spPr>
          <a:xfrm>
            <a:off x="7717536" y="2599865"/>
            <a:ext cx="36331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CONSEQUENCE</a:t>
            </a:r>
          </a:p>
        </p:txBody>
      </p:sp>
      <p:sp>
        <p:nvSpPr>
          <p:cNvPr id="13" name="TextBox 12"/>
          <p:cNvSpPr txBox="1"/>
          <p:nvPr/>
        </p:nvSpPr>
        <p:spPr>
          <a:xfrm>
            <a:off x="7717536" y="2855897"/>
            <a:ext cx="3633185" cy="1498152"/>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dirty="0">
                <a:solidFill>
                  <a:srgbClr val="25282A"/>
                </a:solidFill>
                <a:latin typeface="Fira Sans"/>
              </a:rPr>
              <a:t>Generalization becomes compulsory</a:t>
            </a:r>
            <a:r>
              <a:rPr sz="1092" b="0" i="0" dirty="0">
                <a:solidFill>
                  <a:srgbClr val="333639"/>
                </a:solidFill>
                <a:latin typeface="Fira Sans"/>
              </a:rPr>
              <a:t>, not an optimization. A table indexed by state is unusable the moment states are continuous.</a:t>
            </a:r>
          </a:p>
          <a:p>
            <a:pPr marL="173736" indent="-173736" algn="l">
              <a:lnSpc>
                <a:spcPts val="1289"/>
              </a:lnSpc>
              <a:spcBef>
                <a:spcPts val="600"/>
              </a:spcBef>
              <a:spcAft>
                <a:spcPts val="0"/>
              </a:spcAft>
              <a:buClr>
                <a:srgbClr val="1971C2"/>
              </a:buClr>
              <a:buFont typeface="Fira Sans"/>
              <a:buChar char="–"/>
            </a:pPr>
            <a:r>
              <a:rPr sz="1092" b="1" i="0" dirty="0">
                <a:solidFill>
                  <a:srgbClr val="25282A"/>
                </a:solidFill>
                <a:latin typeface="Fira Sans"/>
              </a:rPr>
              <a:t>Function approximation</a:t>
            </a:r>
            <a:r>
              <a:rPr sz="1092" b="0" i="0" dirty="0">
                <a:solidFill>
                  <a:srgbClr val="333639"/>
                </a:solidFill>
                <a:latin typeface="Fira Sans"/>
              </a:rPr>
              <a:t> is the machinery for it, and is where deep networks enter reinforcement learning.</a:t>
            </a:r>
          </a:p>
          <a:p>
            <a:pPr marL="173736" indent="-173736" algn="l">
              <a:lnSpc>
                <a:spcPts val="1289"/>
              </a:lnSpc>
              <a:spcBef>
                <a:spcPts val="600"/>
              </a:spcBef>
              <a:spcAft>
                <a:spcPts val="0"/>
              </a:spcAft>
              <a:buClr>
                <a:srgbClr val="1971C2"/>
              </a:buClr>
              <a:buFont typeface="Fira Sans"/>
              <a:buChar char="–"/>
            </a:pPr>
            <a:r>
              <a:rPr sz="1092" b="1" i="0" dirty="0">
                <a:solidFill>
                  <a:srgbClr val="25282A"/>
                </a:solidFill>
                <a:latin typeface="Fira Sans"/>
              </a:rPr>
              <a:t>Estimates are noisy</a:t>
            </a:r>
            <a:r>
              <a:rPr sz="1092" b="0" i="0" dirty="0">
                <a:solidFill>
                  <a:srgbClr val="333639"/>
                </a:solidFill>
                <a:latin typeface="Fira Sans"/>
              </a:rPr>
              <a:t>: a value inferred from a handful of visits carries the variance of those samples.</a:t>
            </a:r>
          </a:p>
        </p:txBody>
      </p:sp>
      <p:sp>
        <p:nvSpPr>
          <p:cNvPr id="14" name="Rectangle 13"/>
          <p:cNvSpPr/>
          <p:nvPr/>
        </p:nvSpPr>
        <p:spPr>
          <a:xfrm>
            <a:off x="7717536" y="4500354"/>
            <a:ext cx="3633185" cy="958291"/>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717536" y="4500354"/>
            <a:ext cx="41148" cy="958291"/>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936992" y="4646658"/>
            <a:ext cx="3249137"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Taken together with delay and evaluative feedback, this is what separates reinforcement learning from every other learning problem.</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The Markov Decision Process</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The formal model: a state that summarises the past, dynamics that do not change with time, and one function from which everything else follows.</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Which single function specifies the whole environment?</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Time, state, action, reward</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The Markov property</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Stationarity</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The dynamics function and its marginals</a:t>
            </a:r>
          </a:p>
          <a:p>
            <a:pPr marL="0" indent="0" algn="l">
              <a:lnSpc>
                <a:spcPts val="1378"/>
              </a:lnSpc>
              <a:spcBef>
                <a:spcPts val="1400"/>
              </a:spcBef>
              <a:spcAft>
                <a:spcPts val="0"/>
              </a:spcAft>
              <a:buNone/>
            </a:pPr>
            <a:r>
              <a:rPr sz="1188" b="1" i="0">
                <a:solidFill>
                  <a:srgbClr val="B2A7C4"/>
                </a:solidFill>
                <a:latin typeface="Fira Sans"/>
              </a:rPr>
              <a:t>05   </a:t>
            </a:r>
            <a:r>
              <a:rPr sz="1188" b="0" i="0">
                <a:solidFill>
                  <a:srgbClr val="FFFFFF"/>
                </a:solidFill>
                <a:latin typeface="Fira Sans"/>
              </a:rPr>
              <a:t>The reward hypothesis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3.1  TIME, STATE, ACTION, REWARD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loop, now written as random variables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15</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A Markov Decision Process is a </a:t>
            </a:r>
            <a:r>
              <a:rPr sz="1235" b="1" i="0" dirty="0">
                <a:solidFill>
                  <a:srgbClr val="333639"/>
                </a:solidFill>
                <a:latin typeface="Fira Sans"/>
              </a:rPr>
              <a:t>mathematical framework </a:t>
            </a:r>
            <a:r>
              <a:rPr sz="1235" b="0" i="0" dirty="0">
                <a:solidFill>
                  <a:srgbClr val="333639"/>
                </a:solidFill>
                <a:latin typeface="Fira Sans"/>
              </a:rPr>
              <a:t>for representing </a:t>
            </a:r>
            <a:r>
              <a:rPr sz="1235" b="1" i="0" dirty="0">
                <a:solidFill>
                  <a:srgbClr val="333639"/>
                </a:solidFill>
                <a:latin typeface="Fira Sans"/>
              </a:rPr>
              <a:t>sequential decision-making problems</a:t>
            </a:r>
            <a:r>
              <a:rPr sz="1235" b="0" i="0" dirty="0">
                <a:solidFill>
                  <a:srgbClr val="333639"/>
                </a:solidFill>
                <a:latin typeface="Fira Sans"/>
              </a:rPr>
              <a:t>, introduced by </a:t>
            </a:r>
            <a:r>
              <a:rPr sz="1235" b="1" i="0" dirty="0">
                <a:solidFill>
                  <a:srgbClr val="25282A"/>
                </a:solidFill>
                <a:latin typeface="Fira Sans"/>
              </a:rPr>
              <a:t>Bellman (1957)</a:t>
            </a:r>
            <a:r>
              <a:rPr sz="1235" b="0" i="0" dirty="0">
                <a:solidFill>
                  <a:srgbClr val="333639"/>
                </a:solidFill>
                <a:latin typeface="Fira Sans"/>
              </a:rPr>
              <a:t>. The interaction proceeds through a sequence of discrete time steps.</a:t>
            </a:r>
          </a:p>
        </p:txBody>
      </p:sp>
      <p:pic>
        <p:nvPicPr>
          <p:cNvPr id="9" name="Picture 8" descr="eq_tim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1973757"/>
            <a:ext cx="2026920" cy="276860"/>
          </a:xfrm>
          <a:prstGeom prst="rect">
            <a:avLst/>
          </a:prstGeom>
        </p:spPr>
      </p:pic>
      <p:sp>
        <p:nvSpPr>
          <p:cNvPr id="10" name="Rectangle 9"/>
          <p:cNvSpPr/>
          <p:nvPr/>
        </p:nvSpPr>
        <p:spPr>
          <a:xfrm>
            <a:off x="841248" y="2524937"/>
            <a:ext cx="242316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Picture 10" descr="eq_stat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1248" y="2689529"/>
            <a:ext cx="774700" cy="274320"/>
          </a:xfrm>
          <a:prstGeom prst="rect">
            <a:avLst/>
          </a:prstGeom>
        </p:spPr>
      </p:pic>
      <p:sp>
        <p:nvSpPr>
          <p:cNvPr id="12" name="TextBox 11"/>
          <p:cNvSpPr txBox="1"/>
          <p:nvPr/>
        </p:nvSpPr>
        <p:spPr>
          <a:xfrm>
            <a:off x="841248" y="3146729"/>
            <a:ext cx="2423160" cy="732040"/>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The state at step t</a:t>
            </a:r>
          </a:p>
          <a:p>
            <a:pPr marL="0" indent="0" algn="l">
              <a:lnSpc>
                <a:spcPts val="1233"/>
              </a:lnSpc>
              <a:spcBef>
                <a:spcPts val="500"/>
              </a:spcBef>
              <a:spcAft>
                <a:spcPts val="0"/>
              </a:spcAft>
              <a:buNone/>
            </a:pPr>
            <a:r>
              <a:rPr sz="1045" b="0" i="0">
                <a:solidFill>
                  <a:srgbClr val="626669"/>
                </a:solidFill>
                <a:latin typeface="Fira Sans"/>
              </a:rPr>
              <a:t>The relevant information about the environment, drawn from the state space 𝒮.</a:t>
            </a:r>
          </a:p>
        </p:txBody>
      </p:sp>
      <p:sp>
        <p:nvSpPr>
          <p:cNvPr id="13" name="Rectangle 12"/>
          <p:cNvSpPr/>
          <p:nvPr/>
        </p:nvSpPr>
        <p:spPr>
          <a:xfrm>
            <a:off x="3538727" y="2524937"/>
            <a:ext cx="242316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Picture 13" descr="eq_action.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7" y="2689529"/>
            <a:ext cx="1257300" cy="317500"/>
          </a:xfrm>
          <a:prstGeom prst="rect">
            <a:avLst/>
          </a:prstGeom>
        </p:spPr>
      </p:pic>
      <p:sp>
        <p:nvSpPr>
          <p:cNvPr id="15" name="TextBox 14"/>
          <p:cNvSpPr txBox="1"/>
          <p:nvPr/>
        </p:nvSpPr>
        <p:spPr>
          <a:xfrm>
            <a:off x="3538727" y="3189909"/>
            <a:ext cx="2423160" cy="575437"/>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The action chosen at step t</a:t>
            </a:r>
          </a:p>
          <a:p>
            <a:pPr marL="0" indent="0" algn="l">
              <a:lnSpc>
                <a:spcPts val="1233"/>
              </a:lnSpc>
              <a:spcBef>
                <a:spcPts val="500"/>
              </a:spcBef>
              <a:spcAft>
                <a:spcPts val="0"/>
              </a:spcAft>
              <a:buNone/>
            </a:pPr>
            <a:r>
              <a:rPr sz="1045" b="0" i="0">
                <a:solidFill>
                  <a:srgbClr val="626669"/>
                </a:solidFill>
                <a:latin typeface="Fira Sans"/>
              </a:rPr>
              <a:t>Selected from the actions available in that state. The agent’s only output.</a:t>
            </a:r>
          </a:p>
        </p:txBody>
      </p:sp>
      <p:sp>
        <p:nvSpPr>
          <p:cNvPr id="16" name="Rectangle 15"/>
          <p:cNvSpPr/>
          <p:nvPr/>
        </p:nvSpPr>
        <p:spPr>
          <a:xfrm>
            <a:off x="6236207" y="2524937"/>
            <a:ext cx="2423160"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Picture 16" descr="eq_rewar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36207" y="2689529"/>
            <a:ext cx="1049020" cy="294640"/>
          </a:xfrm>
          <a:prstGeom prst="rect">
            <a:avLst/>
          </a:prstGeom>
        </p:spPr>
      </p:pic>
      <p:sp>
        <p:nvSpPr>
          <p:cNvPr id="18" name="TextBox 17"/>
          <p:cNvSpPr txBox="1"/>
          <p:nvPr/>
        </p:nvSpPr>
        <p:spPr>
          <a:xfrm>
            <a:off x="6236207" y="3167049"/>
            <a:ext cx="2423160" cy="732040"/>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The reward that follows</a:t>
            </a:r>
          </a:p>
          <a:p>
            <a:pPr marL="0" indent="0" algn="l">
              <a:lnSpc>
                <a:spcPts val="1233"/>
              </a:lnSpc>
              <a:spcBef>
                <a:spcPts val="500"/>
              </a:spcBef>
              <a:spcAft>
                <a:spcPts val="0"/>
              </a:spcAft>
              <a:buNone/>
            </a:pPr>
            <a:r>
              <a:rPr sz="1045" b="0" i="0">
                <a:solidFill>
                  <a:srgbClr val="626669"/>
                </a:solidFill>
                <a:latin typeface="Fira Sans"/>
              </a:rPr>
              <a:t>Generated by the environment as a consequence of the action. Note the index: it arrives at t+1.</a:t>
            </a:r>
          </a:p>
        </p:txBody>
      </p:sp>
      <p:sp>
        <p:nvSpPr>
          <p:cNvPr id="19" name="Rectangle 18"/>
          <p:cNvSpPr/>
          <p:nvPr/>
        </p:nvSpPr>
        <p:spPr>
          <a:xfrm>
            <a:off x="8933688" y="2524937"/>
            <a:ext cx="24231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eq_nextstate.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33688" y="2689529"/>
            <a:ext cx="1003299" cy="292100"/>
          </a:xfrm>
          <a:prstGeom prst="rect">
            <a:avLst/>
          </a:prstGeom>
        </p:spPr>
      </p:pic>
      <p:sp>
        <p:nvSpPr>
          <p:cNvPr id="21" name="TextBox 20"/>
          <p:cNvSpPr txBox="1"/>
          <p:nvPr/>
        </p:nvSpPr>
        <p:spPr>
          <a:xfrm>
            <a:off x="8933688" y="3164509"/>
            <a:ext cx="2423160" cy="575437"/>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a:solidFill>
                  <a:srgbClr val="25282A"/>
                </a:solidFill>
                <a:latin typeface="Fira Sans"/>
              </a:rPr>
              <a:t>The state that follows</a:t>
            </a:r>
          </a:p>
          <a:p>
            <a:pPr marL="0" indent="0" algn="l">
              <a:lnSpc>
                <a:spcPts val="1233"/>
              </a:lnSpc>
              <a:spcBef>
                <a:spcPts val="500"/>
              </a:spcBef>
              <a:spcAft>
                <a:spcPts val="0"/>
              </a:spcAft>
              <a:buNone/>
            </a:pPr>
            <a:r>
              <a:rPr sz="1045" b="0" i="0">
                <a:solidFill>
                  <a:srgbClr val="626669"/>
                </a:solidFill>
                <a:latin typeface="Fira Sans"/>
              </a:rPr>
              <a:t>Where the environment moves. The cycle then repeats from there.</a:t>
            </a:r>
          </a:p>
        </p:txBody>
      </p:sp>
      <p:sp>
        <p:nvSpPr>
          <p:cNvPr id="22" name="Rectangle 21"/>
          <p:cNvSpPr/>
          <p:nvPr/>
        </p:nvSpPr>
        <p:spPr>
          <a:xfrm>
            <a:off x="841248" y="403255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41248" y="4270298"/>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REPEATING THE INTERACTION PRODUCES A TRAJECTORY</a:t>
            </a:r>
          </a:p>
        </p:txBody>
      </p:sp>
      <p:pic>
        <p:nvPicPr>
          <p:cNvPr id="24" name="Picture 23" descr="eq_trajectory.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52860" y="4544618"/>
            <a:ext cx="5286248" cy="438657"/>
          </a:xfrm>
          <a:prstGeom prst="rect">
            <a:avLst/>
          </a:prstGeom>
        </p:spPr>
      </p:pic>
      <p:sp>
        <p:nvSpPr>
          <p:cNvPr id="25" name="TextBox 24"/>
          <p:cNvSpPr txBox="1"/>
          <p:nvPr/>
        </p:nvSpPr>
        <p:spPr>
          <a:xfrm>
            <a:off x="841248" y="5257596"/>
            <a:ext cx="5029200"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a:solidFill>
                  <a:srgbClr val="25282A"/>
                </a:solidFill>
                <a:latin typeface="Fira Sans"/>
              </a:rPr>
              <a:t>S</a:t>
            </a:r>
            <a:r>
              <a:rPr sz="833" b="1" i="0">
                <a:solidFill>
                  <a:srgbClr val="25282A"/>
                </a:solidFill>
                <a:latin typeface="Fira Sans"/>
              </a:rPr>
              <a:t>t</a:t>
            </a:r>
            <a:r>
              <a:rPr sz="1092" b="0" i="0">
                <a:solidFill>
                  <a:srgbClr val="333639"/>
                </a:solidFill>
                <a:latin typeface="Fira Sans"/>
              </a:rPr>
              <a:t> and </a:t>
            </a:r>
            <a:r>
              <a:rPr sz="1092" b="1" i="0">
                <a:solidFill>
                  <a:srgbClr val="25282A"/>
                </a:solidFill>
                <a:latin typeface="Fira Sans"/>
              </a:rPr>
              <a:t>A</a:t>
            </a:r>
            <a:r>
              <a:rPr sz="833" b="1" i="0">
                <a:solidFill>
                  <a:srgbClr val="25282A"/>
                </a:solidFill>
                <a:latin typeface="Fira Sans"/>
              </a:rPr>
              <a:t>t</a:t>
            </a:r>
            <a:r>
              <a:rPr sz="1092" b="0" i="0">
                <a:solidFill>
                  <a:srgbClr val="333639"/>
                </a:solidFill>
                <a:latin typeface="Fira Sans"/>
              </a:rPr>
              <a:t> are </a:t>
            </a:r>
            <a:r>
              <a:rPr sz="1092" b="1" i="0">
                <a:solidFill>
                  <a:srgbClr val="25282A"/>
                </a:solidFill>
                <a:latin typeface="Fira Sans"/>
              </a:rPr>
              <a:t>random variables</a:t>
            </a:r>
            <a:r>
              <a:rPr sz="1092" b="0" i="0">
                <a:solidFill>
                  <a:srgbClr val="333639"/>
                </a:solidFill>
                <a:latin typeface="Fira Sans"/>
              </a:rPr>
              <a:t>: before the interaction takes place their particular values are not known. Lower-case letters denote particular values they may take.</a:t>
            </a:r>
          </a:p>
        </p:txBody>
      </p:sp>
      <p:sp>
        <p:nvSpPr>
          <p:cNvPr id="26" name="TextBox 25"/>
          <p:cNvSpPr txBox="1"/>
          <p:nvPr/>
        </p:nvSpPr>
        <p:spPr>
          <a:xfrm>
            <a:off x="6327648" y="5257596"/>
            <a:ext cx="5029200"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An episode begins from an </a:t>
            </a:r>
            <a:r>
              <a:rPr sz="1092" b="1" i="0">
                <a:solidFill>
                  <a:srgbClr val="25282A"/>
                </a:solidFill>
                <a:latin typeface="Fira Sans"/>
              </a:rPr>
              <a:t>initial state</a:t>
            </a:r>
            <a:r>
              <a:rPr sz="1092" b="0" i="0">
                <a:solidFill>
                  <a:srgbClr val="333639"/>
                </a:solidFill>
                <a:latin typeface="Fira Sans"/>
              </a:rPr>
              <a:t>, typically sampled from an initial-state distribution, and ends at a </a:t>
            </a:r>
            <a:r>
              <a:rPr sz="1092" b="1" i="0">
                <a:solidFill>
                  <a:srgbClr val="25282A"/>
                </a:solidFill>
                <a:latin typeface="Fira Sans"/>
              </a:rPr>
              <a:t>terminal state</a:t>
            </a:r>
            <a:r>
              <a:rPr sz="1092" b="0" i="0">
                <a:solidFill>
                  <a:srgbClr val="333639"/>
                </a:solidFill>
                <a:latin typeface="Fira Sans"/>
              </a:rPr>
              <a:t>. In continuing tasks there is none, and the interaction can proceed indefinitely.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3.2  THE MARKOV PROPERTY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state must make the history irrelevant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16</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The state is assumed to contain everything needed to predict the future evolution of the environment. Once the current state and action are known, the past interaction history adds nothing to the prediction of the next state and reward.</a:t>
            </a:r>
          </a:p>
        </p:txBody>
      </p:sp>
      <p:pic>
        <p:nvPicPr>
          <p:cNvPr id="9" name="Picture 8" descr="eq_markov_long.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38184" y="1992045"/>
            <a:ext cx="10515600" cy="653128"/>
          </a:xfrm>
          <a:prstGeom prst="rect">
            <a:avLst/>
          </a:prstGeom>
        </p:spPr>
      </p:pic>
      <p:sp>
        <p:nvSpPr>
          <p:cNvPr id="10" name="TextBox 9"/>
          <p:cNvSpPr txBox="1"/>
          <p:nvPr/>
        </p:nvSpPr>
        <p:spPr>
          <a:xfrm>
            <a:off x="841248" y="290120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MORE COMPACTLY, LEAVING THE PARTICULAR VALUES IMPLICIT</a:t>
            </a:r>
          </a:p>
        </p:txBody>
      </p:sp>
      <p:pic>
        <p:nvPicPr>
          <p:cNvPr id="11" name="Picture 10" descr="eq_markov_short.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44454" y="3157238"/>
            <a:ext cx="6703060" cy="368300"/>
          </a:xfrm>
          <a:prstGeom prst="rect">
            <a:avLst/>
          </a:prstGeom>
        </p:spPr>
      </p:pic>
      <p:pic>
        <p:nvPicPr>
          <p:cNvPr id="12" name="Picture 11" descr="markov.png"/>
          <p:cNvPicPr>
            <a:picLocks noChangeAspect="1"/>
          </p:cNvPicPr>
          <p:nvPr/>
        </p:nvPicPr>
        <p:blipFill>
          <a:blip r:embed="rId4"/>
          <a:stretch>
            <a:fillRect/>
          </a:stretch>
        </p:blipFill>
        <p:spPr>
          <a:xfrm>
            <a:off x="2355670" y="3613090"/>
            <a:ext cx="6854716" cy="1379238"/>
          </a:xfrm>
          <a:prstGeom prst="rect">
            <a:avLst/>
          </a:prstGeom>
        </p:spPr>
      </p:pic>
      <p:sp>
        <p:nvSpPr>
          <p:cNvPr id="13" name="Rectangle 12"/>
          <p:cNvSpPr/>
          <p:nvPr/>
        </p:nvSpPr>
        <p:spPr>
          <a:xfrm>
            <a:off x="841248" y="502515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841248" y="5244610"/>
            <a:ext cx="3297936"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5390914"/>
            <a:ext cx="3297936" cy="888644"/>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dirty="0">
                <a:solidFill>
                  <a:srgbClr val="25282A"/>
                </a:solidFill>
                <a:latin typeface="Fira Sans"/>
              </a:rPr>
              <a:t>What it says</a:t>
            </a:r>
          </a:p>
          <a:p>
            <a:pPr marL="0" indent="0" algn="l">
              <a:lnSpc>
                <a:spcPts val="1233"/>
              </a:lnSpc>
              <a:spcBef>
                <a:spcPts val="500"/>
              </a:spcBef>
              <a:spcAft>
                <a:spcPts val="0"/>
              </a:spcAft>
              <a:buNone/>
            </a:pPr>
            <a:r>
              <a:rPr sz="1045" b="1" i="0" dirty="0">
                <a:solidFill>
                  <a:srgbClr val="626669"/>
                </a:solidFill>
                <a:latin typeface="Fira Sans"/>
              </a:rPr>
              <a:t>The future is independent of the past given the present</a:t>
            </a:r>
            <a:r>
              <a:rPr sz="1045" b="0" i="0" dirty="0">
                <a:solidFill>
                  <a:srgbClr val="626669"/>
                </a:solidFill>
                <a:latin typeface="Fira Sans"/>
              </a:rPr>
              <a:t>. The state must describe where the agent is now well enough that predicting what happens next does not require remembering how it got there.</a:t>
            </a:r>
          </a:p>
        </p:txBody>
      </p:sp>
      <p:sp>
        <p:nvSpPr>
          <p:cNvPr id="16" name="Rectangle 15"/>
          <p:cNvSpPr/>
          <p:nvPr/>
        </p:nvSpPr>
        <p:spPr>
          <a:xfrm>
            <a:off x="4450080" y="5244610"/>
            <a:ext cx="3297936"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4450080" y="5390914"/>
            <a:ext cx="3297936" cy="888644"/>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dirty="0">
                <a:solidFill>
                  <a:srgbClr val="25282A"/>
                </a:solidFill>
                <a:latin typeface="Fira Sans"/>
              </a:rPr>
              <a:t>What it demands of the designer</a:t>
            </a:r>
          </a:p>
          <a:p>
            <a:pPr marL="0" indent="0" algn="l">
              <a:lnSpc>
                <a:spcPts val="1233"/>
              </a:lnSpc>
              <a:spcBef>
                <a:spcPts val="500"/>
              </a:spcBef>
              <a:spcAft>
                <a:spcPts val="0"/>
              </a:spcAft>
              <a:buNone/>
            </a:pPr>
            <a:r>
              <a:rPr sz="1045" b="0" i="0" dirty="0">
                <a:solidFill>
                  <a:srgbClr val="626669"/>
                </a:solidFill>
                <a:latin typeface="Fira Sans"/>
              </a:rPr>
              <a:t>Give the agent </a:t>
            </a:r>
            <a:r>
              <a:rPr sz="1045" b="1" i="0" dirty="0">
                <a:solidFill>
                  <a:srgbClr val="626669"/>
                </a:solidFill>
                <a:latin typeface="Fira Sans"/>
              </a:rPr>
              <a:t>enough information </a:t>
            </a:r>
            <a:r>
              <a:rPr sz="1045" b="0" i="0" dirty="0">
                <a:solidFill>
                  <a:srgbClr val="626669"/>
                </a:solidFill>
                <a:latin typeface="Fira Sans"/>
              </a:rPr>
              <a:t>to make the environment as close to Markov as possible. If an important variable is omitted, two apparently identical states will have different futures.</a:t>
            </a:r>
          </a:p>
        </p:txBody>
      </p:sp>
      <p:sp>
        <p:nvSpPr>
          <p:cNvPr id="18" name="Rectangle 17"/>
          <p:cNvSpPr/>
          <p:nvPr/>
        </p:nvSpPr>
        <p:spPr>
          <a:xfrm>
            <a:off x="8058912" y="5244610"/>
            <a:ext cx="3297936"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058912" y="5390914"/>
            <a:ext cx="3297936" cy="888644"/>
          </a:xfrm>
          <a:prstGeom prst="rect">
            <a:avLst/>
          </a:prstGeom>
          <a:noFill/>
        </p:spPr>
        <p:txBody>
          <a:bodyPr wrap="square" lIns="0" tIns="0" rIns="0" bIns="0" anchor="t">
            <a:noAutofit/>
          </a:bodyPr>
          <a:lstStyle/>
          <a:p>
            <a:pPr marL="0" indent="0" algn="l">
              <a:lnSpc>
                <a:spcPts val="1277"/>
              </a:lnSpc>
              <a:spcBef>
                <a:spcPts val="0"/>
              </a:spcBef>
              <a:spcAft>
                <a:spcPts val="0"/>
              </a:spcAft>
              <a:buNone/>
            </a:pPr>
            <a:r>
              <a:rPr sz="1140" b="1" i="0" dirty="0">
                <a:solidFill>
                  <a:srgbClr val="25282A"/>
                </a:solidFill>
                <a:latin typeface="Fira Sans"/>
              </a:rPr>
              <a:t>What it costs</a:t>
            </a:r>
          </a:p>
          <a:p>
            <a:pPr marL="0" indent="0" algn="l">
              <a:lnSpc>
                <a:spcPts val="1233"/>
              </a:lnSpc>
              <a:spcBef>
                <a:spcPts val="500"/>
              </a:spcBef>
              <a:spcAft>
                <a:spcPts val="0"/>
              </a:spcAft>
              <a:buNone/>
            </a:pPr>
            <a:r>
              <a:rPr sz="1045" b="0" i="0" dirty="0">
                <a:solidFill>
                  <a:srgbClr val="626669"/>
                </a:solidFill>
                <a:latin typeface="Fira Sans"/>
              </a:rPr>
              <a:t>Adding state variables fixes that, but </a:t>
            </a:r>
            <a:r>
              <a:rPr sz="1045" b="1" i="0" dirty="0">
                <a:solidFill>
                  <a:srgbClr val="626669"/>
                </a:solidFill>
                <a:latin typeface="Fira Sans"/>
              </a:rPr>
              <a:t>raises the dimensionality </a:t>
            </a:r>
            <a:r>
              <a:rPr sz="1045" b="0" i="0" dirty="0">
                <a:solidFill>
                  <a:srgbClr val="626669"/>
                </a:solidFill>
                <a:latin typeface="Fira Sans"/>
              </a:rPr>
              <a:t>of the state space and makes learning harder. The state representation is a real design trade-off.</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3.3  STATIONARITY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Stochastic is fine; changing the odds is not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17</a:t>
            </a:r>
          </a:p>
        </p:txBody>
      </p:sp>
      <p:sp>
        <p:nvSpPr>
          <p:cNvPr id="8" name="TextBox 7"/>
          <p:cNvSpPr txBox="1"/>
          <p:nvPr/>
        </p:nvSpPr>
        <p:spPr>
          <a:xfrm>
            <a:off x="841248" y="1316736"/>
            <a:ext cx="649224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A standard assumption is that the environment’s dynamics are </a:t>
            </a:r>
            <a:r>
              <a:rPr sz="1188" b="1" i="0" dirty="0">
                <a:solidFill>
                  <a:srgbClr val="333639"/>
                </a:solidFill>
                <a:latin typeface="Fira Sans"/>
              </a:rPr>
              <a:t>stationary</a:t>
            </a:r>
            <a:r>
              <a:rPr sz="1188" b="0" i="0" dirty="0">
                <a:solidFill>
                  <a:srgbClr val="333639"/>
                </a:solidFill>
                <a:latin typeface="Fira Sans"/>
              </a:rPr>
              <a:t>: the probability of a given next state and reward, for a given state–action pair, is the same at every time step.</a:t>
            </a:r>
          </a:p>
        </p:txBody>
      </p:sp>
      <p:pic>
        <p:nvPicPr>
          <p:cNvPr id="9" name="Picture 8" descr="eq_stationary.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1922617"/>
            <a:ext cx="6492240" cy="338380"/>
          </a:xfrm>
          <a:prstGeom prst="rect">
            <a:avLst/>
          </a:prstGeom>
        </p:spPr>
      </p:pic>
      <p:pic>
        <p:nvPicPr>
          <p:cNvPr id="10" name="Picture 9" descr="stationarity.png"/>
          <p:cNvPicPr>
            <a:picLocks noChangeAspect="1"/>
          </p:cNvPicPr>
          <p:nvPr/>
        </p:nvPicPr>
        <p:blipFill>
          <a:blip r:embed="rId3"/>
          <a:stretch>
            <a:fillRect/>
          </a:stretch>
        </p:blipFill>
        <p:spPr>
          <a:xfrm>
            <a:off x="701813" y="2628333"/>
            <a:ext cx="7188491" cy="2308365"/>
          </a:xfrm>
          <a:prstGeom prst="rect">
            <a:avLst/>
          </a:prstGeom>
        </p:spPr>
      </p:pic>
      <p:sp>
        <p:nvSpPr>
          <p:cNvPr id="11" name="TextBox 10"/>
          <p:cNvSpPr txBox="1"/>
          <p:nvPr/>
        </p:nvSpPr>
        <p:spPr>
          <a:xfrm>
            <a:off x="701813" y="5158666"/>
            <a:ext cx="6492240"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Both decks are stochastic. Only the right one changes the probabilities as time passes.</a:t>
            </a:r>
          </a:p>
        </p:txBody>
      </p:sp>
      <p:sp>
        <p:nvSpPr>
          <p:cNvPr id="12" name="TextBox 11"/>
          <p:cNvSpPr txBox="1"/>
          <p:nvPr/>
        </p:nvSpPr>
        <p:spPr>
          <a:xfrm>
            <a:off x="8163851" y="1335024"/>
            <a:ext cx="3633185" cy="935657"/>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dirty="0">
                <a:solidFill>
                  <a:srgbClr val="574676"/>
                </a:solidFill>
                <a:latin typeface="Fira Sans Medium"/>
              </a:rPr>
              <a:t>THE DISTINCTION</a:t>
            </a:r>
          </a:p>
          <a:p>
            <a:pPr marL="0" indent="0" algn="l">
              <a:lnSpc>
                <a:spcPts val="1345"/>
              </a:lnSpc>
              <a:spcBef>
                <a:spcPts val="0"/>
              </a:spcBef>
              <a:spcAft>
                <a:spcPts val="0"/>
              </a:spcAft>
              <a:buNone/>
            </a:pPr>
            <a:r>
              <a:rPr sz="1140" b="0" i="0" dirty="0">
                <a:solidFill>
                  <a:srgbClr val="333639"/>
                </a:solidFill>
                <a:latin typeface="Fira Sans"/>
              </a:rPr>
              <a:t>The environment may be </a:t>
            </a:r>
            <a:r>
              <a:rPr sz="1140" b="1" i="0" dirty="0">
                <a:solidFill>
                  <a:srgbClr val="333639"/>
                </a:solidFill>
                <a:latin typeface="Fira Sans"/>
              </a:rPr>
              <a:t>highly stochastic</a:t>
            </a:r>
            <a:r>
              <a:rPr lang="it-IT" sz="1140" b="1" i="0" dirty="0">
                <a:solidFill>
                  <a:srgbClr val="333639"/>
                </a:solidFill>
                <a:latin typeface="Fira Sans"/>
              </a:rPr>
              <a:t> </a:t>
            </a:r>
            <a:r>
              <a:rPr lang="it-IT" sz="1140" i="0" dirty="0">
                <a:solidFill>
                  <a:srgbClr val="333639"/>
                </a:solidFill>
                <a:latin typeface="Fira Sans"/>
              </a:rPr>
              <a:t>(</a:t>
            </a:r>
            <a:r>
              <a:rPr sz="1140" b="0" i="0" dirty="0">
                <a:solidFill>
                  <a:srgbClr val="333639"/>
                </a:solidFill>
                <a:latin typeface="Fira Sans"/>
              </a:rPr>
              <a:t>the same action in the same state can produce different outcomes</a:t>
            </a:r>
            <a:r>
              <a:rPr lang="it-IT" sz="1140" b="0" i="0" dirty="0">
                <a:solidFill>
                  <a:srgbClr val="333639"/>
                </a:solidFill>
                <a:latin typeface="Fira Sans"/>
              </a:rPr>
              <a:t>)</a:t>
            </a:r>
            <a:r>
              <a:rPr sz="1140" b="0" i="0" dirty="0">
                <a:solidFill>
                  <a:srgbClr val="333639"/>
                </a:solidFill>
                <a:latin typeface="Fira Sans"/>
              </a:rPr>
              <a:t> but the </a:t>
            </a:r>
            <a:r>
              <a:rPr sz="1140" b="1" i="0" dirty="0">
                <a:solidFill>
                  <a:srgbClr val="25282A"/>
                </a:solidFill>
                <a:latin typeface="Fira Sans"/>
              </a:rPr>
              <a:t>probabilities of those outcomes do not themselves change</a:t>
            </a:r>
            <a:r>
              <a:rPr sz="1140" b="0" i="0" dirty="0">
                <a:solidFill>
                  <a:srgbClr val="333639"/>
                </a:solidFill>
                <a:latin typeface="Fira Sans"/>
              </a:rPr>
              <a:t> over time.</a:t>
            </a:r>
          </a:p>
        </p:txBody>
      </p:sp>
      <p:sp>
        <p:nvSpPr>
          <p:cNvPr id="13" name="Rectangle 12"/>
          <p:cNvSpPr/>
          <p:nvPr/>
        </p:nvSpPr>
        <p:spPr>
          <a:xfrm>
            <a:off x="8163851" y="2490137"/>
            <a:ext cx="3633185" cy="958291"/>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8163851" y="2490137"/>
            <a:ext cx="41148" cy="958291"/>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383307" y="2636441"/>
            <a:ext cx="3249137"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Perfect stationarity is rarely guaranteed in practice. Most methods assume the environment is stationary, or at least </a:t>
            </a:r>
            <a:r>
              <a:rPr sz="1092" b="1" i="0">
                <a:solidFill>
                  <a:srgbClr val="333639"/>
                </a:solidFill>
                <a:latin typeface="Fira Sans"/>
              </a:rPr>
              <a:t>sufficiently close to stationary over the timescale of learning</a:t>
            </a:r>
            <a:r>
              <a:rPr sz="1092" b="0" i="0">
                <a:solidFill>
                  <a:srgbClr val="333639"/>
                </a:solidFill>
                <a:latin typeface="Fira Sans"/>
              </a:rPr>
              <a:t>.</a:t>
            </a:r>
          </a:p>
        </p:txBody>
      </p:sp>
      <p:sp>
        <p:nvSpPr>
          <p:cNvPr id="16" name="TextBox 15"/>
          <p:cNvSpPr txBox="1"/>
          <p:nvPr/>
        </p:nvSpPr>
        <p:spPr>
          <a:xfrm>
            <a:off x="8163851" y="3686172"/>
            <a:ext cx="36331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IT MATTERS RIGHT NOW</a:t>
            </a:r>
          </a:p>
        </p:txBody>
      </p:sp>
      <p:sp>
        <p:nvSpPr>
          <p:cNvPr id="17" name="TextBox 16"/>
          <p:cNvSpPr txBox="1"/>
          <p:nvPr/>
        </p:nvSpPr>
        <p:spPr>
          <a:xfrm>
            <a:off x="8163851" y="3942204"/>
            <a:ext cx="3633185"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Because the one-step probability is the same whichever t we pick, </a:t>
            </a:r>
            <a:r>
              <a:rPr sz="1092" b="1" i="0" dirty="0">
                <a:solidFill>
                  <a:srgbClr val="25282A"/>
                </a:solidFill>
                <a:latin typeface="Fira Sans"/>
              </a:rPr>
              <a:t>the time index can be dropped altogether</a:t>
            </a:r>
            <a:r>
              <a:rPr sz="1092" b="0" i="0" dirty="0">
                <a:solidFill>
                  <a:srgbClr val="333639"/>
                </a:solidFill>
                <a:latin typeface="Fira Sans"/>
              </a:rPr>
              <a:t> and the probability treated as a function of the state–action pair alone.</a:t>
            </a:r>
          </a:p>
        </p:txBody>
      </p:sp>
      <p:sp>
        <p:nvSpPr>
          <p:cNvPr id="18" name="CasellaDiTesto 17">
            <a:extLst>
              <a:ext uri="{FF2B5EF4-FFF2-40B4-BE49-F238E27FC236}">
                <a16:creationId xmlns:a16="http://schemas.microsoft.com/office/drawing/2014/main" id="{922F2D7C-9C6E-2C39-514E-BEEF0AC17472}"/>
              </a:ext>
            </a:extLst>
          </p:cNvPr>
          <p:cNvSpPr txBox="1"/>
          <p:nvPr/>
        </p:nvSpPr>
        <p:spPr>
          <a:xfrm>
            <a:off x="12104914" y="7249886"/>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
        <p:nvSpPr>
          <p:cNvPr id="19" name="CasellaDiTesto 18">
            <a:extLst>
              <a:ext uri="{FF2B5EF4-FFF2-40B4-BE49-F238E27FC236}">
                <a16:creationId xmlns:a16="http://schemas.microsoft.com/office/drawing/2014/main" id="{56A34E63-33BF-ED45-06B8-C0A33A781958}"/>
              </a:ext>
            </a:extLst>
          </p:cNvPr>
          <p:cNvSpPr txBox="1"/>
          <p:nvPr/>
        </p:nvSpPr>
        <p:spPr>
          <a:xfrm>
            <a:off x="7391400" y="-348343"/>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3.4  THE DYNAMICS FUNCTION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function specifies the entire environment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18</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So far the interaction has carried explicit time subscripts. Thanks to stationarity we can drop them: (s, a) denote the current state and action, and (s′, r) the resulting next state and reward. The dynamics gives the joint probability of every possible next-state–reward pair.</a:t>
            </a:r>
          </a:p>
        </p:txBody>
      </p:sp>
      <p:pic>
        <p:nvPicPr>
          <p:cNvPr id="9" name="Picture 8" descr="eq_dynamics.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92297" y="2010333"/>
            <a:ext cx="8207375" cy="895350"/>
          </a:xfrm>
          <a:prstGeom prst="rect">
            <a:avLst/>
          </a:prstGeom>
        </p:spPr>
      </p:pic>
      <p:sp>
        <p:nvSpPr>
          <p:cNvPr id="10" name="Rectangle 9"/>
          <p:cNvSpPr/>
          <p:nvPr/>
        </p:nvSpPr>
        <p:spPr>
          <a:xfrm>
            <a:off x="841248" y="325315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50918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IT IS A PROBABILITY DISTRIBUTION, SO IT NORMALISES</a:t>
            </a:r>
          </a:p>
        </p:txBody>
      </p:sp>
      <p:pic>
        <p:nvPicPr>
          <p:cNvPr id="12" name="Picture 11" descr="eq_dynamics_norm.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3783507"/>
            <a:ext cx="5526024" cy="698754"/>
          </a:xfrm>
          <a:prstGeom prst="rect">
            <a:avLst/>
          </a:prstGeom>
        </p:spPr>
      </p:pic>
      <p:sp>
        <p:nvSpPr>
          <p:cNvPr id="13" name="TextBox 12"/>
          <p:cNvSpPr txBox="1"/>
          <p:nvPr/>
        </p:nvSpPr>
        <p:spPr>
          <a:xfrm>
            <a:off x="841248" y="4774869"/>
            <a:ext cx="5943600"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dynamics answers one question: </a:t>
            </a:r>
            <a:r>
              <a:rPr sz="1092" b="0" i="1" dirty="0">
                <a:solidFill>
                  <a:srgbClr val="25282A"/>
                </a:solidFill>
                <a:latin typeface="Fira Sans"/>
              </a:rPr>
              <a:t>if the agent takes an action in a state, what can happen next, and with what probability?</a:t>
            </a:r>
            <a:r>
              <a:rPr sz="1092" b="0" i="0" dirty="0">
                <a:solidFill>
                  <a:srgbClr val="333639"/>
                </a:solidFill>
                <a:latin typeface="Fira Sans"/>
              </a:rPr>
              <a:t> Here 𝒮, 𝒜 and </a:t>
            </a:r>
            <a:r>
              <a:rPr sz="1092" b="0" i="0" dirty="0" err="1">
                <a:solidFill>
                  <a:srgbClr val="333639"/>
                </a:solidFill>
                <a:latin typeface="Fira Sans"/>
              </a:rPr>
              <a:t>ℛ</a:t>
            </a:r>
            <a:r>
              <a:rPr sz="1092" b="0" i="0" dirty="0">
                <a:solidFill>
                  <a:srgbClr val="333639"/>
                </a:solidFill>
                <a:latin typeface="Fira Sans"/>
              </a:rPr>
              <a:t> are assumed </a:t>
            </a:r>
            <a:r>
              <a:rPr sz="1092" b="1" i="0" dirty="0">
                <a:solidFill>
                  <a:srgbClr val="333639"/>
                </a:solidFill>
                <a:latin typeface="Fira Sans"/>
              </a:rPr>
              <a:t>finite</a:t>
            </a:r>
            <a:r>
              <a:rPr sz="1092" b="0" i="0" dirty="0">
                <a:solidFill>
                  <a:srgbClr val="333639"/>
                </a:solidFill>
                <a:latin typeface="Fira Sans"/>
              </a:rPr>
              <a:t> or </a:t>
            </a:r>
            <a:r>
              <a:rPr sz="1092" b="1" i="0" dirty="0">
                <a:solidFill>
                  <a:srgbClr val="333639"/>
                </a:solidFill>
                <a:latin typeface="Fira Sans"/>
              </a:rPr>
              <a:t>countable</a:t>
            </a:r>
            <a:r>
              <a:rPr sz="1092" b="0" i="0" dirty="0">
                <a:solidFill>
                  <a:srgbClr val="333639"/>
                </a:solidFill>
                <a:latin typeface="Fira Sans"/>
              </a:rPr>
              <a:t>, so p is a well-defined </a:t>
            </a:r>
            <a:r>
              <a:rPr sz="1092" b="1" i="0" dirty="0">
                <a:solidFill>
                  <a:srgbClr val="333639"/>
                </a:solidFill>
                <a:latin typeface="Fira Sans"/>
              </a:rPr>
              <a:t>distribution</a:t>
            </a:r>
            <a:r>
              <a:rPr sz="1092" b="0" i="0" dirty="0">
                <a:solidFill>
                  <a:srgbClr val="333639"/>
                </a:solidFill>
                <a:latin typeface="Fira Sans"/>
              </a:rPr>
              <a:t> and the sums make sense. For </a:t>
            </a:r>
            <a:r>
              <a:rPr sz="1092" b="1" i="0" dirty="0">
                <a:solidFill>
                  <a:srgbClr val="333639"/>
                </a:solidFill>
                <a:latin typeface="Fira Sans"/>
              </a:rPr>
              <a:t>continuous spaces </a:t>
            </a:r>
            <a:r>
              <a:rPr sz="1092" b="0" i="0" dirty="0">
                <a:solidFill>
                  <a:srgbClr val="333639"/>
                </a:solidFill>
                <a:latin typeface="Fira Sans"/>
              </a:rPr>
              <a:t>p becomes a </a:t>
            </a:r>
            <a:r>
              <a:rPr sz="1092" b="1" i="0" dirty="0">
                <a:solidFill>
                  <a:srgbClr val="333639"/>
                </a:solidFill>
                <a:latin typeface="Fira Sans"/>
              </a:rPr>
              <a:t>density</a:t>
            </a:r>
            <a:r>
              <a:rPr sz="1092" b="0" i="0" dirty="0">
                <a:solidFill>
                  <a:srgbClr val="333639"/>
                </a:solidFill>
                <a:latin typeface="Fira Sans"/>
              </a:rPr>
              <a:t> and the sums become </a:t>
            </a:r>
            <a:r>
              <a:rPr sz="1092" b="1" i="0" dirty="0">
                <a:solidFill>
                  <a:srgbClr val="333639"/>
                </a:solidFill>
                <a:latin typeface="Fira Sans"/>
              </a:rPr>
              <a:t>integrals</a:t>
            </a:r>
            <a:r>
              <a:rPr sz="1092" b="0" i="0" dirty="0">
                <a:solidFill>
                  <a:srgbClr val="333639"/>
                </a:solidFill>
                <a:latin typeface="Fira Sans"/>
              </a:rPr>
              <a:t>.</a:t>
            </a:r>
          </a:p>
        </p:txBody>
      </p:sp>
      <p:sp>
        <p:nvSpPr>
          <p:cNvPr id="14" name="Rectangle 13"/>
          <p:cNvSpPr/>
          <p:nvPr/>
        </p:nvSpPr>
        <p:spPr>
          <a:xfrm>
            <a:off x="7223760" y="3509187"/>
            <a:ext cx="4126961"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223760" y="3673779"/>
            <a:ext cx="4126961" cy="297853"/>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Everything else follows from it</a:t>
            </a:r>
          </a:p>
        </p:txBody>
      </p:sp>
      <p:sp>
        <p:nvSpPr>
          <p:cNvPr id="16" name="TextBox 15"/>
          <p:cNvSpPr txBox="1"/>
          <p:nvPr/>
        </p:nvSpPr>
        <p:spPr>
          <a:xfrm>
            <a:off x="7424928" y="4057827"/>
            <a:ext cx="3925793" cy="385201"/>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B7A3E"/>
                </a:solidFill>
                <a:latin typeface="Fira Sans"/>
              </a:rPr>
              <a:t>p(s′ | s, a)</a:t>
            </a:r>
          </a:p>
          <a:p>
            <a:pPr marL="0" indent="0" algn="l">
              <a:lnSpc>
                <a:spcPts val="1157"/>
              </a:lnSpc>
              <a:spcBef>
                <a:spcPts val="300"/>
              </a:spcBef>
              <a:spcAft>
                <a:spcPts val="0"/>
              </a:spcAft>
              <a:buNone/>
            </a:pPr>
            <a:r>
              <a:rPr sz="997" b="0" i="0">
                <a:solidFill>
                  <a:srgbClr val="626669"/>
                </a:solidFill>
                <a:latin typeface="Fira Sans"/>
              </a:rPr>
              <a:t>the transition function — marginalise over rewards</a:t>
            </a:r>
          </a:p>
        </p:txBody>
      </p:sp>
      <p:sp>
        <p:nvSpPr>
          <p:cNvPr id="17" name="Rectangle 16"/>
          <p:cNvSpPr/>
          <p:nvPr/>
        </p:nvSpPr>
        <p:spPr>
          <a:xfrm>
            <a:off x="7223760" y="4057827"/>
            <a:ext cx="34747" cy="34862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424928" y="4589332"/>
            <a:ext cx="3925793" cy="385201"/>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8A5100"/>
                </a:solidFill>
                <a:latin typeface="Fira Sans"/>
              </a:rPr>
              <a:t>p(r | s, a)</a:t>
            </a:r>
          </a:p>
          <a:p>
            <a:pPr marL="0" indent="0" algn="l">
              <a:lnSpc>
                <a:spcPts val="1157"/>
              </a:lnSpc>
              <a:spcBef>
                <a:spcPts val="300"/>
              </a:spcBef>
              <a:spcAft>
                <a:spcPts val="0"/>
              </a:spcAft>
              <a:buNone/>
            </a:pPr>
            <a:r>
              <a:rPr sz="997" b="0" i="0">
                <a:solidFill>
                  <a:srgbClr val="626669"/>
                </a:solidFill>
                <a:latin typeface="Fira Sans"/>
              </a:rPr>
              <a:t>the reward distribution — marginalise over next states</a:t>
            </a:r>
          </a:p>
        </p:txBody>
      </p:sp>
      <p:sp>
        <p:nvSpPr>
          <p:cNvPr id="19" name="Rectangle 18"/>
          <p:cNvSpPr/>
          <p:nvPr/>
        </p:nvSpPr>
        <p:spPr>
          <a:xfrm>
            <a:off x="7223760" y="4589332"/>
            <a:ext cx="34747" cy="348625"/>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424928" y="5120838"/>
            <a:ext cx="3925793" cy="385201"/>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574676"/>
                </a:solidFill>
                <a:latin typeface="Fira Sans"/>
              </a:rPr>
              <a:t>r(s, a)</a:t>
            </a:r>
          </a:p>
          <a:p>
            <a:pPr marL="0" indent="0" algn="l">
              <a:lnSpc>
                <a:spcPts val="1157"/>
              </a:lnSpc>
              <a:spcBef>
                <a:spcPts val="300"/>
              </a:spcBef>
              <a:spcAft>
                <a:spcPts val="0"/>
              </a:spcAft>
              <a:buNone/>
            </a:pPr>
            <a:r>
              <a:rPr sz="997" b="0" i="0">
                <a:solidFill>
                  <a:srgbClr val="626669"/>
                </a:solidFill>
                <a:latin typeface="Fira Sans"/>
              </a:rPr>
              <a:t>the expected reward — take the mean of that distribution</a:t>
            </a:r>
          </a:p>
        </p:txBody>
      </p:sp>
      <p:sp>
        <p:nvSpPr>
          <p:cNvPr id="21" name="Rectangle 20"/>
          <p:cNvSpPr/>
          <p:nvPr/>
        </p:nvSpPr>
        <p:spPr>
          <a:xfrm>
            <a:off x="7223760" y="5120838"/>
            <a:ext cx="34747" cy="34862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424928" y="5652343"/>
            <a:ext cx="3925793" cy="385201"/>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C8102E"/>
                </a:solidFill>
                <a:latin typeface="Fira Sans"/>
              </a:rPr>
              <a:t>r(s, a, s′)</a:t>
            </a:r>
          </a:p>
          <a:p>
            <a:pPr marL="0" indent="0" algn="l">
              <a:lnSpc>
                <a:spcPts val="1157"/>
              </a:lnSpc>
              <a:spcBef>
                <a:spcPts val="300"/>
              </a:spcBef>
              <a:spcAft>
                <a:spcPts val="0"/>
              </a:spcAft>
              <a:buNone/>
            </a:pPr>
            <a:r>
              <a:rPr sz="997" b="0" i="0">
                <a:solidFill>
                  <a:srgbClr val="626669"/>
                </a:solidFill>
                <a:latin typeface="Fira Sans"/>
              </a:rPr>
              <a:t>the expected reward of a specific transition — condition on s′</a:t>
            </a:r>
          </a:p>
        </p:txBody>
      </p:sp>
      <p:sp>
        <p:nvSpPr>
          <p:cNvPr id="23" name="Rectangle 22"/>
          <p:cNvSpPr/>
          <p:nvPr/>
        </p:nvSpPr>
        <p:spPr>
          <a:xfrm>
            <a:off x="7223760" y="5652343"/>
            <a:ext cx="34747" cy="348625"/>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3.5  MARGINALISING THE DYNAMICS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Sum out the variable you do not need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19</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If we care only about where the environment moves next, regardless of the reward, we sum over all possible rewards. If we care only about the reward, regardless of the next state reached, we sum over all possible next states.</a:t>
            </a:r>
          </a:p>
        </p:txBody>
      </p:sp>
      <p:sp>
        <p:nvSpPr>
          <p:cNvPr id="9" name="Rectangle 8"/>
          <p:cNvSpPr/>
          <p:nvPr/>
        </p:nvSpPr>
        <p:spPr>
          <a:xfrm>
            <a:off x="841248" y="2010333"/>
            <a:ext cx="498348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1248" y="2156637"/>
            <a:ext cx="4983480" cy="221653"/>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Sum out the reward</a:t>
            </a:r>
          </a:p>
        </p:txBody>
      </p:sp>
      <p:pic>
        <p:nvPicPr>
          <p:cNvPr id="11" name="Picture 10" descr="eq_marg_s.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2542882"/>
            <a:ext cx="4065269" cy="807466"/>
          </a:xfrm>
          <a:prstGeom prst="rect">
            <a:avLst/>
          </a:prstGeom>
        </p:spPr>
      </p:pic>
      <p:sp>
        <p:nvSpPr>
          <p:cNvPr id="12" name="TextBox 11"/>
          <p:cNvSpPr txBox="1"/>
          <p:nvPr/>
        </p:nvSpPr>
        <p:spPr>
          <a:xfrm>
            <a:off x="841248" y="3588092"/>
            <a:ext cx="4983480"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626669"/>
                </a:solidFill>
                <a:latin typeface="Fira Sans"/>
              </a:rPr>
              <a:t>What remains is a distribution over possible next states</a:t>
            </a:r>
            <a:r>
              <a:rPr lang="it-IT" sz="1092" b="0" i="0" dirty="0">
                <a:solidFill>
                  <a:srgbClr val="626669"/>
                </a:solidFill>
                <a:latin typeface="Fira Sans"/>
              </a:rPr>
              <a:t>: </a:t>
            </a:r>
            <a:r>
              <a:rPr sz="1092" b="0" i="0" dirty="0">
                <a:solidFill>
                  <a:srgbClr val="626669"/>
                </a:solidFill>
                <a:latin typeface="Fira Sans"/>
              </a:rPr>
              <a:t>the </a:t>
            </a:r>
            <a:r>
              <a:rPr sz="1092" b="1" i="0" dirty="0">
                <a:solidFill>
                  <a:srgbClr val="626669"/>
                </a:solidFill>
                <a:latin typeface="Fira Sans"/>
              </a:rPr>
              <a:t>transition function</a:t>
            </a:r>
            <a:r>
              <a:rPr sz="1092" b="0" i="0" dirty="0">
                <a:solidFill>
                  <a:srgbClr val="626669"/>
                </a:solidFill>
                <a:latin typeface="Fira Sans"/>
              </a:rPr>
              <a:t>, the object most people mean by “the model”.</a:t>
            </a:r>
          </a:p>
        </p:txBody>
      </p:sp>
      <p:sp>
        <p:nvSpPr>
          <p:cNvPr id="13" name="Rectangle 12"/>
          <p:cNvSpPr/>
          <p:nvPr/>
        </p:nvSpPr>
        <p:spPr>
          <a:xfrm>
            <a:off x="6373368" y="2010333"/>
            <a:ext cx="4983480"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373368" y="2156637"/>
            <a:ext cx="4983480" cy="221653"/>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Sum out the next state</a:t>
            </a:r>
          </a:p>
        </p:txBody>
      </p:sp>
      <p:pic>
        <p:nvPicPr>
          <p:cNvPr id="15" name="Picture 14" descr="eq_marg_r.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73368" y="2542882"/>
            <a:ext cx="4137914" cy="807466"/>
          </a:xfrm>
          <a:prstGeom prst="rect">
            <a:avLst/>
          </a:prstGeom>
        </p:spPr>
      </p:pic>
      <p:sp>
        <p:nvSpPr>
          <p:cNvPr id="16" name="TextBox 15"/>
          <p:cNvSpPr txBox="1"/>
          <p:nvPr/>
        </p:nvSpPr>
        <p:spPr>
          <a:xfrm>
            <a:off x="6373368" y="3588092"/>
            <a:ext cx="4983480"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What remains is a distribution over possible rewards, telling us how likely each reward value is after taking an action in a state.</a:t>
            </a:r>
          </a:p>
        </p:txBody>
      </p:sp>
      <p:sp>
        <p:nvSpPr>
          <p:cNvPr id="17" name="Rectangle 16"/>
          <p:cNvSpPr/>
          <p:nvPr/>
        </p:nvSpPr>
        <p:spPr>
          <a:xfrm>
            <a:off x="841248" y="421354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41248" y="4432998"/>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BOTH MARGINALS ARE THEMSELVES NORMALISED</a:t>
            </a:r>
          </a:p>
        </p:txBody>
      </p:sp>
      <p:pic>
        <p:nvPicPr>
          <p:cNvPr id="19" name="Picture 18" descr="eq_marg_norm.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19662" y="4689030"/>
            <a:ext cx="5152644" cy="698754"/>
          </a:xfrm>
          <a:prstGeom prst="rect">
            <a:avLst/>
          </a:prstGeom>
        </p:spPr>
      </p:pic>
      <p:sp>
        <p:nvSpPr>
          <p:cNvPr id="20" name="Rectangle 19"/>
          <p:cNvSpPr/>
          <p:nvPr/>
        </p:nvSpPr>
        <p:spPr>
          <a:xfrm>
            <a:off x="841248" y="5643816"/>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5643816"/>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1060704" y="5790120"/>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The joint dynamics is the fundamental object. </a:t>
            </a:r>
            <a:r>
              <a:rPr sz="1140" b="1" i="0" dirty="0">
                <a:solidFill>
                  <a:srgbClr val="333639"/>
                </a:solidFill>
                <a:latin typeface="Fira Sans"/>
              </a:rPr>
              <a:t>The transition probabilities, the reward distribution and every expected reward are obtained from it</a:t>
            </a:r>
            <a:r>
              <a:rPr sz="1140" b="0" i="0" dirty="0">
                <a:solidFill>
                  <a:srgbClr val="333639"/>
                </a:solidFill>
                <a:latin typeface="Fira Sans"/>
              </a:rPr>
              <a:t> by marginalization or conditioning</a:t>
            </a:r>
            <a:r>
              <a:rPr lang="it-IT" sz="1140" b="0" i="0" dirty="0">
                <a:solidFill>
                  <a:srgbClr val="333639"/>
                </a:solidFill>
                <a:latin typeface="Fira Sans"/>
              </a:rPr>
              <a:t>, </a:t>
            </a:r>
            <a:r>
              <a:rPr sz="1140" b="0" i="0" dirty="0">
                <a:solidFill>
                  <a:srgbClr val="333639"/>
                </a:solidFill>
                <a:latin typeface="Fira Sans"/>
              </a:rPr>
              <a:t>which is why specifying p is the same as specifying the environment.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3.6  THE REWARD HYPOTHESIS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goal is a number the agent is asked to maximise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20</a:t>
            </a:r>
          </a:p>
        </p:txBody>
      </p:sp>
      <p:sp>
        <p:nvSpPr>
          <p:cNvPr id="8" name="TextBox 7"/>
          <p:cNvSpPr txBox="1"/>
          <p:nvPr/>
        </p:nvSpPr>
        <p:spPr>
          <a:xfrm>
            <a:off x="841248" y="1316736"/>
            <a:ext cx="649224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Using a reward signal to formalise a goal is the most distinctive feature of reinforcement learning. The </a:t>
            </a:r>
            <a:r>
              <a:rPr sz="1188" b="1" i="0">
                <a:solidFill>
                  <a:srgbClr val="25282A"/>
                </a:solidFill>
                <a:latin typeface="Fira Sans"/>
              </a:rPr>
              <a:t>reward hypothesis</a:t>
            </a:r>
            <a:r>
              <a:rPr sz="1188" b="0" i="0">
                <a:solidFill>
                  <a:srgbClr val="333639"/>
                </a:solidFill>
                <a:latin typeface="Fira Sans"/>
              </a:rPr>
              <a:t> states that all goals can be described as the maximisation of the expected cumulative reward.</a:t>
            </a:r>
          </a:p>
        </p:txBody>
      </p:sp>
      <p:pic>
        <p:nvPicPr>
          <p:cNvPr id="9" name="Picture 8" descr="reward_fn.png"/>
          <p:cNvPicPr>
            <a:picLocks noChangeAspect="1"/>
          </p:cNvPicPr>
          <p:nvPr/>
        </p:nvPicPr>
        <p:blipFill>
          <a:blip r:embed="rId2"/>
          <a:stretch>
            <a:fillRect/>
          </a:stretch>
        </p:blipFill>
        <p:spPr>
          <a:xfrm>
            <a:off x="841248" y="2185970"/>
            <a:ext cx="7039862" cy="2202852"/>
          </a:xfrm>
          <a:prstGeom prst="rect">
            <a:avLst/>
          </a:prstGeom>
        </p:spPr>
      </p:pic>
      <p:sp>
        <p:nvSpPr>
          <p:cNvPr id="10" name="TextBox 9"/>
          <p:cNvSpPr txBox="1"/>
          <p:nvPr/>
        </p:nvSpPr>
        <p:spPr>
          <a:xfrm>
            <a:off x="841248" y="4607937"/>
            <a:ext cx="6492240"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One action, four possible outcomes, each with its own probability and its own reward. The reward function is what turns the outcome into a number.</a:t>
            </a:r>
          </a:p>
        </p:txBody>
      </p:sp>
      <p:sp>
        <p:nvSpPr>
          <p:cNvPr id="11" name="Rectangle 10"/>
          <p:cNvSpPr/>
          <p:nvPr/>
        </p:nvSpPr>
        <p:spPr>
          <a:xfrm>
            <a:off x="844078" y="5077540"/>
            <a:ext cx="64922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4078" y="5296996"/>
            <a:ext cx="3090672"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4078" y="5425012"/>
            <a:ext cx="3090672"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Positive rewards</a:t>
            </a:r>
          </a:p>
          <a:p>
            <a:pPr marL="0" indent="0" algn="l">
              <a:lnSpc>
                <a:spcPts val="1233"/>
              </a:lnSpc>
              <a:spcBef>
                <a:spcPts val="400"/>
              </a:spcBef>
              <a:spcAft>
                <a:spcPts val="0"/>
              </a:spcAft>
              <a:buNone/>
            </a:pPr>
            <a:r>
              <a:rPr sz="1045" b="0" i="0">
                <a:solidFill>
                  <a:srgbClr val="626669"/>
                </a:solidFill>
                <a:latin typeface="Fira Sans"/>
              </a:rPr>
              <a:t>A desirable outcome: winning a game, reaching a destination, placing the object in the container.</a:t>
            </a:r>
          </a:p>
        </p:txBody>
      </p:sp>
      <p:sp>
        <p:nvSpPr>
          <p:cNvPr id="14" name="Rectangle 13"/>
          <p:cNvSpPr/>
          <p:nvPr/>
        </p:nvSpPr>
        <p:spPr>
          <a:xfrm>
            <a:off x="4245646" y="5296996"/>
            <a:ext cx="3090672" cy="2560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245646" y="5425012"/>
            <a:ext cx="3090672"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dirty="0">
                <a:solidFill>
                  <a:srgbClr val="25282A"/>
                </a:solidFill>
                <a:latin typeface="Fira Sans"/>
              </a:rPr>
              <a:t>Negative rewards</a:t>
            </a:r>
          </a:p>
          <a:p>
            <a:pPr marL="0" indent="0" algn="l">
              <a:lnSpc>
                <a:spcPts val="1233"/>
              </a:lnSpc>
              <a:spcBef>
                <a:spcPts val="400"/>
              </a:spcBef>
              <a:spcAft>
                <a:spcPts val="0"/>
              </a:spcAft>
              <a:buNone/>
            </a:pPr>
            <a:r>
              <a:rPr sz="1045" b="0" i="0" dirty="0">
                <a:solidFill>
                  <a:srgbClr val="626669"/>
                </a:solidFill>
                <a:latin typeface="Fira Sans"/>
              </a:rPr>
              <a:t>A cost or penalty: losing the game, consuming energy, colliding with an obstacle.</a:t>
            </a:r>
          </a:p>
        </p:txBody>
      </p:sp>
      <p:sp>
        <p:nvSpPr>
          <p:cNvPr id="16" name="Rectangle 15"/>
          <p:cNvSpPr/>
          <p:nvPr/>
        </p:nvSpPr>
        <p:spPr>
          <a:xfrm>
            <a:off x="8131194" y="1335024"/>
            <a:ext cx="3633185" cy="1528876"/>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8131194" y="1335024"/>
            <a:ext cx="41148" cy="152887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350650" y="1481328"/>
            <a:ext cx="3340577"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RULE THAT IS EASY TO BREAK</a:t>
            </a:r>
          </a:p>
        </p:txBody>
      </p:sp>
      <p:sp>
        <p:nvSpPr>
          <p:cNvPr id="19" name="TextBox 18"/>
          <p:cNvSpPr txBox="1"/>
          <p:nvPr/>
        </p:nvSpPr>
        <p:spPr>
          <a:xfrm>
            <a:off x="8350650" y="1719072"/>
            <a:ext cx="3249137"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reward should specify </a:t>
            </a:r>
            <a:r>
              <a:rPr sz="1092" b="1" i="0">
                <a:solidFill>
                  <a:srgbClr val="333639"/>
                </a:solidFill>
                <a:latin typeface="Fira Sans"/>
              </a:rPr>
              <a:t>what</a:t>
            </a:r>
            <a:r>
              <a:rPr sz="1092" b="0" i="0">
                <a:solidFill>
                  <a:srgbClr val="333639"/>
                </a:solidFill>
                <a:latin typeface="Fira Sans"/>
              </a:rPr>
              <a:t> we want the agent to achieve, not </a:t>
            </a:r>
            <a:r>
              <a:rPr sz="1092" b="1" i="0">
                <a:solidFill>
                  <a:srgbClr val="333639"/>
                </a:solidFill>
                <a:latin typeface="Fira Sans"/>
              </a:rPr>
              <a:t>how</a:t>
            </a:r>
            <a:r>
              <a:rPr sz="1092" b="0" i="0">
                <a:solidFill>
                  <a:srgbClr val="333639"/>
                </a:solidFill>
                <a:latin typeface="Fira Sans"/>
              </a:rPr>
              <a:t> we want it achieved. Prior knowledge about how to solve the task should not be encoded by rewarding particular actions simply because we believe they are useful.</a:t>
            </a:r>
          </a:p>
        </p:txBody>
      </p:sp>
      <p:sp>
        <p:nvSpPr>
          <p:cNvPr id="20" name="TextBox 19"/>
          <p:cNvSpPr txBox="1"/>
          <p:nvPr/>
        </p:nvSpPr>
        <p:spPr>
          <a:xfrm>
            <a:off x="8131194" y="3119932"/>
            <a:ext cx="36331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THAT RULE EXISTS</a:t>
            </a:r>
          </a:p>
        </p:txBody>
      </p:sp>
      <p:sp>
        <p:nvSpPr>
          <p:cNvPr id="21" name="TextBox 20"/>
          <p:cNvSpPr txBox="1"/>
          <p:nvPr/>
        </p:nvSpPr>
        <p:spPr>
          <a:xfrm>
            <a:off x="8131194" y="3375964"/>
            <a:ext cx="3633185" cy="1498152"/>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dirty="0">
                <a:solidFill>
                  <a:srgbClr val="25282A"/>
                </a:solidFill>
                <a:latin typeface="Fira Sans"/>
              </a:rPr>
              <a:t>Rewarding actions fixes the solution.</a:t>
            </a:r>
            <a:r>
              <a:rPr sz="1092" b="0" i="0" dirty="0">
                <a:solidFill>
                  <a:srgbClr val="333639"/>
                </a:solidFill>
                <a:latin typeface="Fira Sans"/>
              </a:rPr>
              <a:t> The agent can then never discover a better route than the one the designer imagined.</a:t>
            </a:r>
          </a:p>
          <a:p>
            <a:pPr marL="173736" indent="-173736" algn="l">
              <a:lnSpc>
                <a:spcPts val="1289"/>
              </a:lnSpc>
              <a:spcBef>
                <a:spcPts val="600"/>
              </a:spcBef>
              <a:spcAft>
                <a:spcPts val="0"/>
              </a:spcAft>
              <a:buClr>
                <a:srgbClr val="1971C2"/>
              </a:buClr>
              <a:buFont typeface="Fira Sans"/>
              <a:buChar char="–"/>
            </a:pPr>
            <a:r>
              <a:rPr sz="1092" b="1" i="0" dirty="0">
                <a:solidFill>
                  <a:srgbClr val="25282A"/>
                </a:solidFill>
                <a:latin typeface="Fira Sans"/>
              </a:rPr>
              <a:t>Rewarding outcomes leaves the method open.</a:t>
            </a:r>
            <a:r>
              <a:rPr sz="1092" b="0" i="0" dirty="0">
                <a:solidFill>
                  <a:srgbClr val="333639"/>
                </a:solidFill>
                <a:latin typeface="Fira Sans"/>
              </a:rPr>
              <a:t> Any behavior that produces the outcome scores well, including ones nobody anticipated.</a:t>
            </a:r>
          </a:p>
        </p:txBody>
      </p:sp>
      <p:sp>
        <p:nvSpPr>
          <p:cNvPr id="22" name="Rectangle 21"/>
          <p:cNvSpPr/>
          <p:nvPr/>
        </p:nvSpPr>
        <p:spPr>
          <a:xfrm>
            <a:off x="8131194" y="5111861"/>
            <a:ext cx="3633185" cy="958291"/>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8144910" y="5111861"/>
            <a:ext cx="41148" cy="958291"/>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350650" y="5258165"/>
            <a:ext cx="3249137"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reward is </a:t>
            </a:r>
            <a:r>
              <a:rPr sz="1092" b="1" i="0" dirty="0">
                <a:solidFill>
                  <a:srgbClr val="333639"/>
                </a:solidFill>
                <a:latin typeface="Fira Sans"/>
              </a:rPr>
              <a:t>random</a:t>
            </a:r>
            <a:r>
              <a:rPr sz="1092" b="0" i="0" dirty="0">
                <a:solidFill>
                  <a:srgbClr val="333639"/>
                </a:solidFill>
                <a:latin typeface="Fira Sans"/>
              </a:rPr>
              <a:t> in general: the same state–action pair may produce different rewards on different transitions. </a:t>
            </a:r>
          </a:p>
        </p:txBody>
      </p:sp>
      <p:sp>
        <p:nvSpPr>
          <p:cNvPr id="25" name="CasellaDiTesto 24">
            <a:extLst>
              <a:ext uri="{FF2B5EF4-FFF2-40B4-BE49-F238E27FC236}">
                <a16:creationId xmlns:a16="http://schemas.microsoft.com/office/drawing/2014/main" id="{8349ABEF-D75B-3548-3D0E-2039DB7EF88E}"/>
              </a:ext>
            </a:extLst>
          </p:cNvPr>
          <p:cNvSpPr txBox="1"/>
          <p:nvPr/>
        </p:nvSpPr>
        <p:spPr>
          <a:xfrm>
            <a:off x="503573" y="5028032"/>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3.7  EXPECTED REWARD OF A STATE–ACTION PAIR</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reward is random, so what the agent plans against is its mean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21</a:t>
            </a:r>
          </a:p>
        </p:txBody>
      </p:sp>
      <p:sp>
        <p:nvSpPr>
          <p:cNvPr id="8" name="TextBox 7"/>
          <p:cNvSpPr txBox="1"/>
          <p:nvPr/>
        </p:nvSpPr>
        <p:spPr>
          <a:xfrm>
            <a:off x="841248" y="1316736"/>
            <a:ext cx="672084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The same state–action pair may produce </a:t>
            </a:r>
            <a:r>
              <a:rPr sz="1188" b="1" i="0" dirty="0">
                <a:solidFill>
                  <a:srgbClr val="333639"/>
                </a:solidFill>
                <a:latin typeface="Fira Sans"/>
              </a:rPr>
              <a:t>different rewards on different transitions</a:t>
            </a:r>
            <a:r>
              <a:rPr sz="1188" b="0" i="0" dirty="0">
                <a:solidFill>
                  <a:srgbClr val="333639"/>
                </a:solidFill>
                <a:latin typeface="Fira Sans"/>
              </a:rPr>
              <a:t>. The marginal p(r | s, a) tells us how likely each reward value is; the expected reward is simply the mean of that distribution.</a:t>
            </a:r>
          </a:p>
        </p:txBody>
      </p:sp>
      <p:sp>
        <p:nvSpPr>
          <p:cNvPr id="9" name="TextBox 8"/>
          <p:cNvSpPr txBox="1"/>
          <p:nvPr/>
        </p:nvSpPr>
        <p:spPr>
          <a:xfrm>
            <a:off x="841248" y="2143262"/>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AS THE MEAN OF THE REWARD MARGINAL</a:t>
            </a:r>
          </a:p>
        </p:txBody>
      </p:sp>
      <p:pic>
        <p:nvPicPr>
          <p:cNvPr id="10" name="Picture 9" descr="eq_r_sa.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2417582"/>
            <a:ext cx="6456807" cy="696087"/>
          </a:xfrm>
          <a:prstGeom prst="rect">
            <a:avLst/>
          </a:prstGeom>
        </p:spPr>
      </p:pic>
      <p:sp>
        <p:nvSpPr>
          <p:cNvPr id="11" name="Rectangle 10"/>
          <p:cNvSpPr/>
          <p:nvPr/>
        </p:nvSpPr>
        <p:spPr>
          <a:xfrm>
            <a:off x="841248" y="3424565"/>
            <a:ext cx="67208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662309"/>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2B7A3E"/>
                </a:solidFill>
                <a:latin typeface="Fira Sans"/>
              </a:rPr>
              <a:t>OR STRAIGHT FROM THE JOINT DYNAMICS</a:t>
            </a:r>
          </a:p>
        </p:txBody>
      </p:sp>
      <p:pic>
        <p:nvPicPr>
          <p:cNvPr id="13" name="Picture 12" descr="eq_r_sa_joint.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3936629"/>
            <a:ext cx="3664458" cy="698754"/>
          </a:xfrm>
          <a:prstGeom prst="rect">
            <a:avLst/>
          </a:prstGeom>
        </p:spPr>
      </p:pic>
      <p:sp>
        <p:nvSpPr>
          <p:cNvPr id="14" name="TextBox 13"/>
          <p:cNvSpPr txBox="1"/>
          <p:nvPr/>
        </p:nvSpPr>
        <p:spPr>
          <a:xfrm>
            <a:off x="841248" y="4909703"/>
            <a:ext cx="6720840"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two are the same calculation. The inner sum over s′ rebuilds the reward marginal; the outer sum takes its mean. Writing it the second way avoids naming the marginal at all.</a:t>
            </a:r>
          </a:p>
        </p:txBody>
      </p:sp>
      <p:sp>
        <p:nvSpPr>
          <p:cNvPr id="15" name="TextBox 14"/>
          <p:cNvSpPr txBox="1"/>
          <p:nvPr/>
        </p:nvSpPr>
        <p:spPr>
          <a:xfrm>
            <a:off x="7946136" y="1335024"/>
            <a:ext cx="3404585" cy="1106497"/>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8A5100"/>
                </a:solidFill>
                <a:latin typeface="Fira Sans Medium"/>
              </a:rPr>
              <a:t>READING THE EXPECTATION</a:t>
            </a:r>
          </a:p>
          <a:p>
            <a:pPr marL="0" indent="0" algn="l">
              <a:lnSpc>
                <a:spcPts val="1345"/>
              </a:lnSpc>
              <a:spcBef>
                <a:spcPts val="0"/>
              </a:spcBef>
              <a:spcAft>
                <a:spcPts val="0"/>
              </a:spcAft>
              <a:buNone/>
            </a:pPr>
            <a:r>
              <a:rPr sz="1140" b="0" i="0">
                <a:solidFill>
                  <a:srgbClr val="333639"/>
                </a:solidFill>
                <a:latin typeface="Fira Sans"/>
              </a:rPr>
              <a:t>The conditioning bar carries the whole meaning: </a:t>
            </a:r>
            <a:r>
              <a:rPr sz="1140" b="1" i="0">
                <a:solidFill>
                  <a:srgbClr val="25282A"/>
                </a:solidFill>
                <a:latin typeface="Fira Sans"/>
              </a:rPr>
              <a:t>average over the randomness of the environment</a:t>
            </a:r>
            <a:r>
              <a:rPr sz="1140" b="0" i="0">
                <a:solidFill>
                  <a:srgbClr val="333639"/>
                </a:solidFill>
                <a:latin typeface="Fira Sans"/>
              </a:rPr>
              <a:t>, holding the state and the action fixed. The agent chooses s and a; everything to the right of the bar is what it cannot control.</a:t>
            </a:r>
          </a:p>
        </p:txBody>
      </p:sp>
      <p:sp>
        <p:nvSpPr>
          <p:cNvPr id="16" name="Rectangle 15"/>
          <p:cNvSpPr/>
          <p:nvPr/>
        </p:nvSpPr>
        <p:spPr>
          <a:xfrm>
            <a:off x="7946136" y="2679265"/>
            <a:ext cx="3404585" cy="1528876"/>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946136" y="2679265"/>
            <a:ext cx="41148" cy="152887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165592" y="2825569"/>
            <a:ext cx="3111977"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A CONVENTION TO FIX</a:t>
            </a:r>
          </a:p>
        </p:txBody>
      </p:sp>
      <p:sp>
        <p:nvSpPr>
          <p:cNvPr id="19" name="TextBox 18"/>
          <p:cNvSpPr txBox="1"/>
          <p:nvPr/>
        </p:nvSpPr>
        <p:spPr>
          <a:xfrm>
            <a:off x="8165592" y="3063313"/>
            <a:ext cx="3020537"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Note the index. </a:t>
            </a:r>
            <a:r>
              <a:rPr sz="1092" b="1" i="0" dirty="0" err="1">
                <a:solidFill>
                  <a:srgbClr val="333639"/>
                </a:solidFill>
                <a:latin typeface="Fira Sans"/>
              </a:rPr>
              <a:t>R_t</a:t>
            </a:r>
            <a:r>
              <a:rPr sz="1092" b="0" i="0" dirty="0">
                <a:solidFill>
                  <a:srgbClr val="333639"/>
                </a:solidFill>
                <a:latin typeface="Fira Sans"/>
              </a:rPr>
              <a:t> is the reward produced by the action taken in state S_</a:t>
            </a:r>
            <a:r>
              <a:rPr lang="it-IT" sz="1092" b="0" i="0" dirty="0">
                <a:solidFill>
                  <a:srgbClr val="333639"/>
                </a:solidFill>
                <a:latin typeface="Fira Sans"/>
              </a:rPr>
              <a:t>(</a:t>
            </a:r>
            <a:r>
              <a:rPr sz="1092" b="0" i="0" dirty="0">
                <a:solidFill>
                  <a:srgbClr val="333639"/>
                </a:solidFill>
                <a:latin typeface="Fira Sans"/>
              </a:rPr>
              <a:t>t−1</a:t>
            </a:r>
            <a:r>
              <a:rPr lang="it-IT" sz="1092" b="0" i="0" dirty="0">
                <a:solidFill>
                  <a:srgbClr val="333639"/>
                </a:solidFill>
                <a:latin typeface="Fira Sans"/>
              </a:rPr>
              <a:t>)</a:t>
            </a:r>
            <a:r>
              <a:rPr sz="1092" b="0" i="0" dirty="0">
                <a:solidFill>
                  <a:srgbClr val="333639"/>
                </a:solidFill>
                <a:latin typeface="Fira Sans"/>
              </a:rPr>
              <a:t>. The reward for a decision always arrives at the following time step</a:t>
            </a:r>
            <a:r>
              <a:rPr lang="it-IT" sz="1092" b="0" i="0" dirty="0">
                <a:solidFill>
                  <a:srgbClr val="333639"/>
                </a:solidFill>
                <a:latin typeface="Fira Sans"/>
              </a:rPr>
              <a:t>, </a:t>
            </a:r>
            <a:r>
              <a:rPr sz="1092" b="0" i="0" dirty="0">
                <a:solidFill>
                  <a:srgbClr val="333639"/>
                </a:solidFill>
                <a:latin typeface="Fira Sans"/>
              </a:rPr>
              <a:t>a convention worth fixing now, because every equation in the course depends on it.</a:t>
            </a:r>
          </a:p>
        </p:txBody>
      </p:sp>
      <p:sp>
        <p:nvSpPr>
          <p:cNvPr id="20" name="TextBox 19"/>
          <p:cNvSpPr txBox="1"/>
          <p:nvPr/>
        </p:nvSpPr>
        <p:spPr>
          <a:xfrm>
            <a:off x="7946136" y="4555614"/>
            <a:ext cx="34045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THIS IS FOR</a:t>
            </a:r>
          </a:p>
        </p:txBody>
      </p:sp>
      <p:sp>
        <p:nvSpPr>
          <p:cNvPr id="21" name="TextBox 20"/>
          <p:cNvSpPr txBox="1"/>
          <p:nvPr/>
        </p:nvSpPr>
        <p:spPr>
          <a:xfrm>
            <a:off x="7946136" y="4811646"/>
            <a:ext cx="3404585"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Everything the agent needs to know about the reward, for planning purposes, is contained in this one number per state–action pair.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3.8  EXPECTED REWARD OF A SPECIFIC TRANSITION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Conditioning also on where the environment actually moved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22</a:t>
            </a:r>
          </a:p>
        </p:txBody>
      </p:sp>
      <p:sp>
        <p:nvSpPr>
          <p:cNvPr id="8" name="TextBox 7"/>
          <p:cNvSpPr txBox="1"/>
          <p:nvPr/>
        </p:nvSpPr>
        <p:spPr>
          <a:xfrm>
            <a:off x="841248" y="1316736"/>
            <a:ext cx="1051560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lang="en-GB" sz="1188" b="0" i="0" noProof="0" dirty="0">
                <a:solidFill>
                  <a:srgbClr val="333639"/>
                </a:solidFill>
                <a:latin typeface="Fira Sans"/>
              </a:rPr>
              <a:t>Sometimes we want the </a:t>
            </a:r>
            <a:r>
              <a:rPr lang="en-GB" sz="1188" b="1" i="0" noProof="0" dirty="0">
                <a:solidFill>
                  <a:srgbClr val="333639"/>
                </a:solidFill>
                <a:latin typeface="Fira Sans"/>
              </a:rPr>
              <a:t>expected reward of a particular transition</a:t>
            </a:r>
            <a:r>
              <a:rPr lang="en-GB" sz="1188" b="0" i="0" noProof="0" dirty="0">
                <a:solidFill>
                  <a:srgbClr val="333639"/>
                </a:solidFill>
                <a:latin typeface="Fira Sans"/>
              </a:rPr>
              <a:t>, conditioning not only on the starting state and action but also on the next state. The reward distribution is then obtained by conditioning the joint dynamics on that next state, hence the ratio.</a:t>
            </a:r>
          </a:p>
        </p:txBody>
      </p:sp>
      <p:pic>
        <p:nvPicPr>
          <p:cNvPr id="9" name="Picture 8" descr="eq_r_sas.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087483" y="1940905"/>
            <a:ext cx="8017002" cy="794766"/>
          </a:xfrm>
          <a:prstGeom prst="rect">
            <a:avLst/>
          </a:prstGeom>
        </p:spPr>
      </p:pic>
      <p:sp>
        <p:nvSpPr>
          <p:cNvPr id="10" name="Rectangle 9"/>
          <p:cNvSpPr/>
          <p:nvPr/>
        </p:nvSpPr>
        <p:spPr>
          <a:xfrm>
            <a:off x="841248" y="302827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24773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2B7A3E"/>
                </a:solidFill>
                <a:latin typeface="Fira Sans"/>
              </a:rPr>
              <a:t>AVERAGING BACK OVER THE NEXT STATES RECOVERS R(S, A)</a:t>
            </a:r>
          </a:p>
        </p:txBody>
      </p:sp>
      <p:pic>
        <p:nvPicPr>
          <p:cNvPr id="12" name="Picture 11" descr="eq_r_recover.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3522055"/>
            <a:ext cx="4059682" cy="732027"/>
          </a:xfrm>
          <a:prstGeom prst="rect">
            <a:avLst/>
          </a:prstGeom>
        </p:spPr>
      </p:pic>
      <p:sp>
        <p:nvSpPr>
          <p:cNvPr id="13" name="TextBox 12"/>
          <p:cNvSpPr txBox="1"/>
          <p:nvPr/>
        </p:nvSpPr>
        <p:spPr>
          <a:xfrm>
            <a:off x="841248" y="4491827"/>
            <a:ext cx="5760720" cy="369417"/>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The law of total expectation, written for this case: average the transition rewards, weighted by how likely each transition is.</a:t>
            </a:r>
          </a:p>
        </p:txBody>
      </p:sp>
      <p:sp>
        <p:nvSpPr>
          <p:cNvPr id="14" name="Rectangle 13"/>
          <p:cNvSpPr/>
          <p:nvPr/>
        </p:nvSpPr>
        <p:spPr>
          <a:xfrm>
            <a:off x="841248" y="5080701"/>
            <a:ext cx="576072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522700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WHEN EACH FORM IS THE USEFUL ONE</a:t>
            </a:r>
          </a:p>
        </p:txBody>
      </p:sp>
      <p:sp>
        <p:nvSpPr>
          <p:cNvPr id="16" name="TextBox 15"/>
          <p:cNvSpPr txBox="1"/>
          <p:nvPr/>
        </p:nvSpPr>
        <p:spPr>
          <a:xfrm>
            <a:off x="841248" y="5464749"/>
            <a:ext cx="5760720" cy="603717"/>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dirty="0">
                <a:solidFill>
                  <a:srgbClr val="574676"/>
                </a:solidFill>
                <a:latin typeface="Fira Sans"/>
              </a:rPr>
              <a:t>r(s, a)</a:t>
            </a:r>
            <a:r>
              <a:rPr sz="1092" b="0" i="0" dirty="0">
                <a:solidFill>
                  <a:srgbClr val="333639"/>
                </a:solidFill>
                <a:latin typeface="Fira Sans"/>
              </a:rPr>
              <a:t> the agent chooses s and a, not s′.</a:t>
            </a:r>
          </a:p>
          <a:p>
            <a:pPr marL="173736" indent="-173736" algn="l">
              <a:lnSpc>
                <a:spcPts val="1289"/>
              </a:lnSpc>
              <a:spcBef>
                <a:spcPts val="600"/>
              </a:spcBef>
              <a:spcAft>
                <a:spcPts val="0"/>
              </a:spcAft>
              <a:buClr>
                <a:srgbClr val="1971C2"/>
              </a:buClr>
              <a:buFont typeface="Fira Sans"/>
              <a:buChar char="–"/>
            </a:pPr>
            <a:r>
              <a:rPr sz="1092" b="1" i="0" dirty="0">
                <a:solidFill>
                  <a:srgbClr val="C8102E"/>
                </a:solidFill>
                <a:latin typeface="Fira Sans"/>
              </a:rPr>
              <a:t>r(s, a, s′)</a:t>
            </a:r>
            <a:r>
              <a:rPr sz="1092" b="0" i="0" dirty="0">
                <a:solidFill>
                  <a:srgbClr val="333639"/>
                </a:solidFill>
                <a:latin typeface="Fira Sans"/>
              </a:rPr>
              <a:t> is what an environment implementation returns: the reward observed on the transition that actually occurred.</a:t>
            </a:r>
          </a:p>
        </p:txBody>
      </p:sp>
      <p:sp>
        <p:nvSpPr>
          <p:cNvPr id="17" name="Rectangle 16"/>
          <p:cNvSpPr/>
          <p:nvPr/>
        </p:nvSpPr>
        <p:spPr>
          <a:xfrm>
            <a:off x="7059168" y="3247735"/>
            <a:ext cx="4291553"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059168" y="3412327"/>
            <a:ext cx="4291553" cy="1017079"/>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dirty="0">
                <a:solidFill>
                  <a:srgbClr val="25282A"/>
                </a:solidFill>
                <a:latin typeface="Fira Sans"/>
              </a:rPr>
              <a:t>The joint dynamics is the fundamental object</a:t>
            </a:r>
          </a:p>
          <a:p>
            <a:pPr marL="0" indent="0" algn="l">
              <a:lnSpc>
                <a:spcPts val="1391"/>
              </a:lnSpc>
              <a:spcBef>
                <a:spcPts val="700"/>
              </a:spcBef>
              <a:spcAft>
                <a:spcPts val="0"/>
              </a:spcAft>
              <a:buNone/>
            </a:pPr>
            <a:r>
              <a:rPr sz="1140" b="0" i="0" dirty="0">
                <a:solidFill>
                  <a:srgbClr val="333639"/>
                </a:solidFill>
                <a:latin typeface="Fira Sans"/>
              </a:rPr>
              <a:t>The transition probabilities, the reward distribution and both expected rewards are all obtained from p(s′, r | s, a) by marginalization or conditioning. </a:t>
            </a:r>
            <a:r>
              <a:rPr sz="1140" b="1" i="0" dirty="0">
                <a:solidFill>
                  <a:srgbClr val="25282A"/>
                </a:solidFill>
                <a:latin typeface="Fira Sans"/>
              </a:rPr>
              <a:t>Specifying p is specifying the environment</a:t>
            </a:r>
            <a:r>
              <a:rPr lang="it-IT" sz="1140" dirty="0">
                <a:solidFill>
                  <a:srgbClr val="333639"/>
                </a:solidFill>
                <a:latin typeface="Fira Sans"/>
              </a:rPr>
              <a:t>: </a:t>
            </a:r>
            <a:r>
              <a:rPr sz="1140" b="0" i="0" dirty="0">
                <a:solidFill>
                  <a:srgbClr val="333639"/>
                </a:solidFill>
                <a:latin typeface="Fira Sans"/>
              </a:rPr>
              <a:t>there is nothing else left to say about it.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3.9  EXTENSIONS OF THE FRAMEWORK</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three objects, in harder settings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III — The Markov Decision Process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23</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The MDP framework is </a:t>
            </a:r>
            <a:r>
              <a:rPr sz="1235" b="1" i="0" dirty="0">
                <a:solidFill>
                  <a:srgbClr val="333639"/>
                </a:solidFill>
                <a:latin typeface="Fira Sans"/>
              </a:rPr>
              <a:t>abstract</a:t>
            </a:r>
            <a:r>
              <a:rPr sz="1235" b="0" i="0" dirty="0">
                <a:solidFill>
                  <a:srgbClr val="333639"/>
                </a:solidFill>
                <a:latin typeface="Fira Sans"/>
              </a:rPr>
              <a:t> and </a:t>
            </a:r>
            <a:r>
              <a:rPr sz="1235" b="1" i="0" dirty="0">
                <a:solidFill>
                  <a:srgbClr val="333639"/>
                </a:solidFill>
                <a:latin typeface="Fira Sans"/>
              </a:rPr>
              <a:t>flexible</a:t>
            </a:r>
            <a:r>
              <a:rPr sz="1235" b="0" i="0" dirty="0">
                <a:solidFill>
                  <a:srgbClr val="333639"/>
                </a:solidFill>
                <a:latin typeface="Fira Sans"/>
              </a:rPr>
              <a:t>: the meaning of states and actions depends entirely on the problem. Actions may be voltages applied to a motor or the decision to attend graduate school; states may be raw sensor readings or symbolic descriptions of a room.</a:t>
            </a:r>
          </a:p>
        </p:txBody>
      </p:sp>
      <p:sp>
        <p:nvSpPr>
          <p:cNvPr id="9" name="Rectangle 8"/>
          <p:cNvSpPr/>
          <p:nvPr/>
        </p:nvSpPr>
        <p:spPr>
          <a:xfrm>
            <a:off x="841248" y="2010333"/>
            <a:ext cx="3285744" cy="235915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010333"/>
            <a:ext cx="3285744"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24128" y="2193213"/>
            <a:ext cx="2919984" cy="1291780"/>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C8102E"/>
                </a:solidFill>
                <a:latin typeface="Fira Sans Medium"/>
              </a:rPr>
              <a:t>POMDP</a:t>
            </a:r>
          </a:p>
          <a:p>
            <a:pPr marL="0" indent="0" algn="l">
              <a:lnSpc>
                <a:spcPts val="1331"/>
              </a:lnSpc>
              <a:spcBef>
                <a:spcPts val="600"/>
              </a:spcBef>
              <a:spcAft>
                <a:spcPts val="0"/>
              </a:spcAft>
              <a:buNone/>
            </a:pPr>
            <a:r>
              <a:rPr sz="1188" b="1" i="0" dirty="0">
                <a:solidFill>
                  <a:srgbClr val="25282A"/>
                </a:solidFill>
                <a:latin typeface="Fira Sans"/>
              </a:rPr>
              <a:t>Partially Observable MDP</a:t>
            </a:r>
          </a:p>
          <a:p>
            <a:pPr marL="0" indent="0" algn="l">
              <a:lnSpc>
                <a:spcPts val="1254"/>
              </a:lnSpc>
              <a:spcBef>
                <a:spcPts val="700"/>
              </a:spcBef>
              <a:spcAft>
                <a:spcPts val="0"/>
              </a:spcAft>
              <a:buNone/>
            </a:pPr>
            <a:r>
              <a:rPr sz="1045" b="0" i="0" dirty="0">
                <a:solidFill>
                  <a:srgbClr val="333639"/>
                </a:solidFill>
                <a:latin typeface="Fira Sans"/>
              </a:rPr>
              <a:t>The agent </a:t>
            </a:r>
            <a:r>
              <a:rPr sz="1045" b="1" i="0" dirty="0">
                <a:solidFill>
                  <a:srgbClr val="333639"/>
                </a:solidFill>
                <a:latin typeface="Fira Sans"/>
              </a:rPr>
              <a:t>cannot directly observe the complete state</a:t>
            </a:r>
            <a:r>
              <a:rPr sz="1045" b="0" i="0" dirty="0">
                <a:solidFill>
                  <a:srgbClr val="333639"/>
                </a:solidFill>
                <a:latin typeface="Fira Sans"/>
              </a:rPr>
              <a:t> and must act on partial observations. This is the state-versus-observation distinction</a:t>
            </a:r>
            <a:r>
              <a:rPr lang="it-IT" sz="1045" b="0" i="0" dirty="0">
                <a:solidFill>
                  <a:srgbClr val="333639"/>
                </a:solidFill>
                <a:latin typeface="Fira Sans"/>
              </a:rPr>
              <a:t>:</a:t>
            </a:r>
            <a:r>
              <a:rPr sz="1045" b="0" i="0" dirty="0">
                <a:solidFill>
                  <a:srgbClr val="333639"/>
                </a:solidFill>
                <a:latin typeface="Fira Sans"/>
              </a:rPr>
              <a:t> the agent maintains a belief over states rather than a state.</a:t>
            </a:r>
          </a:p>
        </p:txBody>
      </p:sp>
      <p:sp>
        <p:nvSpPr>
          <p:cNvPr id="12" name="Rectangle 11"/>
          <p:cNvSpPr/>
          <p:nvPr/>
        </p:nvSpPr>
        <p:spPr>
          <a:xfrm>
            <a:off x="4456176" y="2010333"/>
            <a:ext cx="3285744" cy="235915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4456176" y="2010333"/>
            <a:ext cx="328574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639056" y="2193213"/>
            <a:ext cx="2919984" cy="1132522"/>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574676"/>
                </a:solidFill>
                <a:latin typeface="Fira Sans Medium"/>
              </a:rPr>
              <a:t>CONTINUOUS</a:t>
            </a:r>
          </a:p>
          <a:p>
            <a:pPr marL="0" indent="0" algn="l">
              <a:lnSpc>
                <a:spcPts val="1331"/>
              </a:lnSpc>
              <a:spcBef>
                <a:spcPts val="600"/>
              </a:spcBef>
              <a:spcAft>
                <a:spcPts val="0"/>
              </a:spcAft>
              <a:buNone/>
            </a:pPr>
            <a:r>
              <a:rPr sz="1188" b="1" i="0" dirty="0">
                <a:solidFill>
                  <a:srgbClr val="25282A"/>
                </a:solidFill>
                <a:latin typeface="Fira Sans"/>
              </a:rPr>
              <a:t>Continuous states, actions or time</a:t>
            </a:r>
          </a:p>
          <a:p>
            <a:pPr marL="0" indent="0" algn="l">
              <a:lnSpc>
                <a:spcPts val="1254"/>
              </a:lnSpc>
              <a:spcBef>
                <a:spcPts val="700"/>
              </a:spcBef>
              <a:spcAft>
                <a:spcPts val="0"/>
              </a:spcAft>
              <a:buNone/>
            </a:pPr>
            <a:r>
              <a:rPr sz="1045" b="0" i="0" dirty="0">
                <a:solidFill>
                  <a:srgbClr val="333639"/>
                </a:solidFill>
                <a:latin typeface="Fira Sans"/>
              </a:rPr>
              <a:t>States, actions, or both take values in </a:t>
            </a:r>
            <a:r>
              <a:rPr sz="1045" b="1" i="0" dirty="0">
                <a:solidFill>
                  <a:srgbClr val="333639"/>
                </a:solidFill>
                <a:latin typeface="Fira Sans"/>
              </a:rPr>
              <a:t>continuous spaces</a:t>
            </a:r>
            <a:r>
              <a:rPr sz="1045" b="0" i="0" dirty="0">
                <a:solidFill>
                  <a:srgbClr val="333639"/>
                </a:solidFill>
                <a:latin typeface="Fira Sans"/>
              </a:rPr>
              <a:t>; p becomes a density and the sums become integrals. The framework also extends from discrete to continuous time.</a:t>
            </a:r>
          </a:p>
        </p:txBody>
      </p:sp>
      <p:sp>
        <p:nvSpPr>
          <p:cNvPr id="15" name="Rectangle 14"/>
          <p:cNvSpPr/>
          <p:nvPr/>
        </p:nvSpPr>
        <p:spPr>
          <a:xfrm>
            <a:off x="8071104" y="2010333"/>
            <a:ext cx="3285744" cy="2359152"/>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071104" y="2010333"/>
            <a:ext cx="328574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253983" y="2193213"/>
            <a:ext cx="2919984" cy="1291780"/>
          </a:xfrm>
          <a:prstGeom prst="rect">
            <a:avLst/>
          </a:prstGeom>
          <a:noFill/>
        </p:spPr>
        <p:txBody>
          <a:bodyPr wrap="square" lIns="0" tIns="0" rIns="0" bIns="0" anchor="t">
            <a:noAutofit/>
          </a:bodyPr>
          <a:lstStyle/>
          <a:p>
            <a:pPr marL="0" indent="0" algn="l">
              <a:lnSpc>
                <a:spcPts val="983"/>
              </a:lnSpc>
              <a:spcBef>
                <a:spcPts val="0"/>
              </a:spcBef>
              <a:spcAft>
                <a:spcPts val="0"/>
              </a:spcAft>
              <a:buNone/>
            </a:pPr>
            <a:r>
              <a:rPr sz="833" b="1" i="0" spc="110" dirty="0">
                <a:solidFill>
                  <a:srgbClr val="8A5100"/>
                </a:solidFill>
                <a:latin typeface="Fira Sans Medium"/>
              </a:rPr>
              <a:t>MULTI-AGENT</a:t>
            </a:r>
          </a:p>
          <a:p>
            <a:pPr marL="0" indent="0" algn="l">
              <a:lnSpc>
                <a:spcPts val="1331"/>
              </a:lnSpc>
              <a:spcBef>
                <a:spcPts val="600"/>
              </a:spcBef>
              <a:spcAft>
                <a:spcPts val="0"/>
              </a:spcAft>
              <a:buNone/>
            </a:pPr>
            <a:r>
              <a:rPr sz="1188" b="1" i="0" dirty="0">
                <a:solidFill>
                  <a:srgbClr val="25282A"/>
                </a:solidFill>
                <a:latin typeface="Fira Sans"/>
              </a:rPr>
              <a:t>Several decision makers</a:t>
            </a:r>
          </a:p>
          <a:p>
            <a:pPr marL="0" indent="0" algn="l">
              <a:lnSpc>
                <a:spcPts val="1254"/>
              </a:lnSpc>
              <a:spcBef>
                <a:spcPts val="700"/>
              </a:spcBef>
              <a:spcAft>
                <a:spcPts val="0"/>
              </a:spcAft>
              <a:buNone/>
            </a:pPr>
            <a:r>
              <a:rPr sz="1045" b="0" i="0" dirty="0">
                <a:solidFill>
                  <a:srgbClr val="333639"/>
                </a:solidFill>
                <a:latin typeface="Fira Sans"/>
              </a:rPr>
              <a:t>Multiple agents </a:t>
            </a:r>
            <a:r>
              <a:rPr sz="1045" b="1" i="0" dirty="0">
                <a:solidFill>
                  <a:srgbClr val="333639"/>
                </a:solidFill>
                <a:latin typeface="Fira Sans"/>
              </a:rPr>
              <a:t>interact within the same environment</a:t>
            </a:r>
            <a:r>
              <a:rPr sz="1045" b="0" i="0" dirty="0">
                <a:solidFill>
                  <a:srgbClr val="333639"/>
                </a:solidFill>
                <a:latin typeface="Fira Sans"/>
              </a:rPr>
              <a:t>, so its evolution depends on more than one decision maker</a:t>
            </a:r>
            <a:r>
              <a:rPr lang="it-IT" sz="1045" b="0" i="0" dirty="0">
                <a:solidFill>
                  <a:srgbClr val="333639"/>
                </a:solidFill>
                <a:latin typeface="Fira Sans"/>
              </a:rPr>
              <a:t>,</a:t>
            </a:r>
            <a:r>
              <a:rPr sz="1045" b="0" i="0" dirty="0">
                <a:solidFill>
                  <a:srgbClr val="333639"/>
                </a:solidFill>
                <a:latin typeface="Fira Sans"/>
              </a:rPr>
              <a:t> and each agent’s environment is non-stationary from its own point of view.</a:t>
            </a:r>
          </a:p>
        </p:txBody>
      </p:sp>
      <p:sp>
        <p:nvSpPr>
          <p:cNvPr id="18" name="Rectangle 17"/>
          <p:cNvSpPr/>
          <p:nvPr/>
        </p:nvSpPr>
        <p:spPr>
          <a:xfrm>
            <a:off x="841248" y="4662093"/>
            <a:ext cx="1051560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41248" y="4844973"/>
            <a:ext cx="10515600" cy="425551"/>
          </a:xfrm>
          <a:prstGeom prst="rect">
            <a:avLst/>
          </a:prstGeom>
          <a:noFill/>
        </p:spPr>
        <p:txBody>
          <a:bodyPr wrap="square" lIns="0" tIns="0" rIns="0" bIns="0" anchor="t">
            <a:noAutofit/>
          </a:bodyPr>
          <a:lstStyle/>
          <a:p>
            <a:pPr marL="0" indent="0" algn="l">
              <a:lnSpc>
                <a:spcPts val="1531"/>
              </a:lnSpc>
              <a:spcBef>
                <a:spcPts val="0"/>
              </a:spcBef>
              <a:spcAft>
                <a:spcPts val="0"/>
              </a:spcAft>
              <a:buNone/>
            </a:pPr>
            <a:r>
              <a:rPr sz="1235" b="0" i="0">
                <a:solidFill>
                  <a:srgbClr val="333639"/>
                </a:solidFill>
                <a:latin typeface="Fira Sans"/>
              </a:rPr>
              <a:t>Despite the variations the central idea does not change: </a:t>
            </a:r>
            <a:r>
              <a:rPr sz="1235" b="1" i="0">
                <a:solidFill>
                  <a:srgbClr val="25282A"/>
                </a:solidFill>
                <a:latin typeface="Fira Sans"/>
              </a:rPr>
              <a:t>agents interact with an environment over time, take actions, observe the consequences, and seek to maximise reward</a:t>
            </a:r>
            <a:r>
              <a:rPr sz="1235" b="0" i="0">
                <a:solidFill>
                  <a:srgbClr val="333639"/>
                </a:solidFill>
                <a:latin typeface="Fira Sans"/>
              </a:rPr>
              <a:t>. The rest of this chapter defines precisely what “maximise reward” means.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IV</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Return and discount</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Turning “act well” into a number the agent can maximize</a:t>
            </a:r>
            <a:r>
              <a:rPr lang="it-IT" sz="1282" dirty="0">
                <a:solidFill>
                  <a:srgbClr val="D6D0E0"/>
                </a:solidFill>
                <a:latin typeface="Fira Sans"/>
              </a:rPr>
              <a:t>, </a:t>
            </a:r>
            <a:r>
              <a:rPr sz="1282" b="0" i="0" dirty="0">
                <a:solidFill>
                  <a:srgbClr val="D6D0E0"/>
                </a:solidFill>
                <a:latin typeface="Fira Sans"/>
              </a:rPr>
              <a:t>and making that number finite when the interaction never ends.</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does one recursive line make the rest of the course possible?</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return</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The discount factor</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Why the return stays bounded</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The recursion that starts everything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4.1  THE RETURN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An action is judged by everything that follows it, not by the next reward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IV — Return and discount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25</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A good action may produce </a:t>
            </a:r>
            <a:r>
              <a:rPr sz="1235" b="1" i="0" dirty="0">
                <a:solidFill>
                  <a:srgbClr val="333639"/>
                </a:solidFill>
                <a:latin typeface="Fira Sans"/>
              </a:rPr>
              <a:t>little or no immediate reward </a:t>
            </a:r>
            <a:r>
              <a:rPr sz="1235" b="0" i="0" dirty="0">
                <a:solidFill>
                  <a:srgbClr val="333639"/>
                </a:solidFill>
                <a:latin typeface="Fira Sans"/>
              </a:rPr>
              <a:t>but lead to a </a:t>
            </a:r>
            <a:r>
              <a:rPr sz="1235" b="1" i="0" dirty="0">
                <a:solidFill>
                  <a:srgbClr val="333639"/>
                </a:solidFill>
                <a:latin typeface="Fira Sans"/>
              </a:rPr>
              <a:t>desirable sequence of future rewards</a:t>
            </a:r>
            <a:r>
              <a:rPr sz="1235" b="0" i="0" dirty="0">
                <a:solidFill>
                  <a:srgbClr val="333639"/>
                </a:solidFill>
                <a:latin typeface="Fira Sans"/>
              </a:rPr>
              <a:t>. Conversely, an action that pays immediately may have undesirable long-term consequences. Evaluating an action by R_</a:t>
            </a:r>
            <a:r>
              <a:rPr lang="it-IT" sz="1235" b="0" i="0" dirty="0">
                <a:solidFill>
                  <a:srgbClr val="333639"/>
                </a:solidFill>
                <a:latin typeface="Fira Sans"/>
              </a:rPr>
              <a:t>(</a:t>
            </a:r>
            <a:r>
              <a:rPr sz="1235" b="0" i="0" dirty="0">
                <a:solidFill>
                  <a:srgbClr val="333639"/>
                </a:solidFill>
                <a:latin typeface="Fira Sans"/>
              </a:rPr>
              <a:t>t+1</a:t>
            </a:r>
            <a:r>
              <a:rPr lang="it-IT" sz="1235" b="0" i="0" dirty="0">
                <a:solidFill>
                  <a:srgbClr val="333639"/>
                </a:solidFill>
                <a:latin typeface="Fira Sans"/>
              </a:rPr>
              <a:t>)</a:t>
            </a:r>
            <a:r>
              <a:rPr sz="1235" b="0" i="0" dirty="0">
                <a:solidFill>
                  <a:srgbClr val="333639"/>
                </a:solidFill>
                <a:latin typeface="Fira Sans"/>
              </a:rPr>
              <a:t> alone is therefore wrong.</a:t>
            </a:r>
          </a:p>
        </p:txBody>
      </p:sp>
      <p:pic>
        <p:nvPicPr>
          <p:cNvPr id="9" name="Picture 8" descr="return_tree.png"/>
          <p:cNvPicPr>
            <a:picLocks noChangeAspect="1"/>
          </p:cNvPicPr>
          <p:nvPr/>
        </p:nvPicPr>
        <p:blipFill>
          <a:blip r:embed="rId2"/>
          <a:stretch>
            <a:fillRect/>
          </a:stretch>
        </p:blipFill>
        <p:spPr>
          <a:xfrm>
            <a:off x="1865657" y="1799957"/>
            <a:ext cx="8009581" cy="1874583"/>
          </a:xfrm>
          <a:prstGeom prst="rect">
            <a:avLst/>
          </a:prstGeom>
        </p:spPr>
      </p:pic>
      <p:sp>
        <p:nvSpPr>
          <p:cNvPr id="10" name="Rectangle 9"/>
          <p:cNvSpPr/>
          <p:nvPr/>
        </p:nvSpPr>
        <p:spPr>
          <a:xfrm>
            <a:off x="841248" y="3711117"/>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948861"/>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OBJECTIVE IS THE CUMULATIVE REWARD FROM T ONWARDS</a:t>
            </a:r>
          </a:p>
        </p:txBody>
      </p:sp>
      <p:pic>
        <p:nvPicPr>
          <p:cNvPr id="12" name="Picture 11" descr="eq_return_plai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29696" y="4223181"/>
            <a:ext cx="6132576" cy="963167"/>
          </a:xfrm>
          <a:prstGeom prst="rect">
            <a:avLst/>
          </a:prstGeom>
        </p:spPr>
      </p:pic>
      <p:sp>
        <p:nvSpPr>
          <p:cNvPr id="13" name="TextBox 12"/>
          <p:cNvSpPr txBox="1"/>
          <p:nvPr/>
        </p:nvSpPr>
        <p:spPr>
          <a:xfrm>
            <a:off x="841248" y="5460669"/>
            <a:ext cx="5029200"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1" i="0" dirty="0">
                <a:solidFill>
                  <a:srgbClr val="25282A"/>
                </a:solidFill>
                <a:latin typeface="Fira Sans"/>
              </a:rPr>
              <a:t>G</a:t>
            </a:r>
            <a:r>
              <a:rPr sz="882" b="1" i="0" dirty="0">
                <a:solidFill>
                  <a:srgbClr val="25282A"/>
                </a:solidFill>
                <a:latin typeface="Fira Sans"/>
              </a:rPr>
              <a:t>t</a:t>
            </a:r>
            <a:r>
              <a:rPr sz="1092" b="0" i="0" dirty="0">
                <a:solidFill>
                  <a:srgbClr val="333639"/>
                </a:solidFill>
                <a:latin typeface="Fira Sans"/>
              </a:rPr>
              <a:t> is the </a:t>
            </a:r>
            <a:r>
              <a:rPr sz="1092" b="1" i="0" dirty="0">
                <a:solidFill>
                  <a:srgbClr val="25282A"/>
                </a:solidFill>
                <a:latin typeface="Fira Sans"/>
              </a:rPr>
              <a:t>return</a:t>
            </a:r>
            <a:r>
              <a:rPr sz="1092" b="0" i="0" dirty="0">
                <a:solidFill>
                  <a:srgbClr val="333639"/>
                </a:solidFill>
                <a:latin typeface="Fira Sans"/>
              </a:rPr>
              <a:t>: the total reward the agent will receive from time t onwards. It is a </a:t>
            </a:r>
            <a:r>
              <a:rPr sz="1092" b="1" i="0" dirty="0">
                <a:solidFill>
                  <a:srgbClr val="333639"/>
                </a:solidFill>
                <a:latin typeface="Fira Sans"/>
              </a:rPr>
              <a:t>random variable </a:t>
            </a:r>
            <a:r>
              <a:rPr lang="it-IT" sz="1092" b="0" i="0" dirty="0">
                <a:solidFill>
                  <a:srgbClr val="333639"/>
                </a:solidFill>
                <a:latin typeface="Fira Sans"/>
              </a:rPr>
              <a:t>and</a:t>
            </a:r>
            <a:r>
              <a:rPr sz="1092" b="0" i="0" dirty="0">
                <a:solidFill>
                  <a:srgbClr val="333639"/>
                </a:solidFill>
                <a:latin typeface="Fira Sans"/>
              </a:rPr>
              <a:t> it depends on the </a:t>
            </a:r>
            <a:r>
              <a:rPr sz="1092" b="1" i="0" dirty="0">
                <a:solidFill>
                  <a:srgbClr val="333639"/>
                </a:solidFill>
                <a:latin typeface="Fira Sans"/>
              </a:rPr>
              <a:t>environment’s randomness </a:t>
            </a:r>
            <a:r>
              <a:rPr sz="1092" b="0" i="0" dirty="0">
                <a:solidFill>
                  <a:srgbClr val="333639"/>
                </a:solidFill>
                <a:latin typeface="Fira Sans"/>
              </a:rPr>
              <a:t>and on the </a:t>
            </a:r>
            <a:r>
              <a:rPr sz="1092" b="1" i="0" dirty="0">
                <a:solidFill>
                  <a:srgbClr val="333639"/>
                </a:solidFill>
                <a:latin typeface="Fira Sans"/>
              </a:rPr>
              <a:t>agent’s own choices</a:t>
            </a:r>
            <a:r>
              <a:rPr sz="1092" b="0" i="0" dirty="0">
                <a:solidFill>
                  <a:srgbClr val="333639"/>
                </a:solidFill>
                <a:latin typeface="Fira Sans"/>
              </a:rPr>
              <a:t>.</a:t>
            </a:r>
          </a:p>
        </p:txBody>
      </p:sp>
      <p:sp>
        <p:nvSpPr>
          <p:cNvPr id="14" name="TextBox 13"/>
          <p:cNvSpPr txBox="1"/>
          <p:nvPr/>
        </p:nvSpPr>
        <p:spPr>
          <a:xfrm>
            <a:off x="6327648" y="5460669"/>
            <a:ext cx="5029200"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Note what has changed. The agent no longer maximizes a reward; it maximizes a </a:t>
            </a:r>
            <a:r>
              <a:rPr sz="1092" b="1" i="0" dirty="0">
                <a:solidFill>
                  <a:srgbClr val="25282A"/>
                </a:solidFill>
                <a:latin typeface="Fira Sans"/>
              </a:rPr>
              <a:t>sum of rewards over an entire future</a:t>
            </a:r>
            <a:r>
              <a:rPr sz="1092" b="0" i="0" dirty="0">
                <a:solidFill>
                  <a:srgbClr val="333639"/>
                </a:solidFill>
                <a:latin typeface="Fira Sans"/>
              </a:rPr>
              <a:t>. Two problems follow immediately, and the next slide addresses both.</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4.2  THE DISCOUNT FACTOR</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Two problems, one parameter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IV — Return and discount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26</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For an episodic task the interaction reaches a terminal state, so the return is a finite sum. For a continuing task it may proceed indefinitely and the </a:t>
            </a:r>
            <a:r>
              <a:rPr sz="1235" b="1" i="0" dirty="0">
                <a:solidFill>
                  <a:srgbClr val="333639"/>
                </a:solidFill>
                <a:latin typeface="Fira Sans"/>
              </a:rPr>
              <a:t>sum need not converge</a:t>
            </a:r>
            <a:r>
              <a:rPr sz="1235" b="0" i="0" dirty="0">
                <a:solidFill>
                  <a:srgbClr val="333639"/>
                </a:solidFill>
                <a:latin typeface="Fira Sans"/>
              </a:rPr>
              <a:t>. A second, independent question is </a:t>
            </a:r>
            <a:r>
              <a:rPr sz="1235" b="1" i="0" dirty="0">
                <a:solidFill>
                  <a:srgbClr val="333639"/>
                </a:solidFill>
                <a:latin typeface="Fira Sans"/>
              </a:rPr>
              <a:t>how much distant rewards should matter at all</a:t>
            </a:r>
            <a:r>
              <a:rPr sz="1235" b="0" i="0" dirty="0">
                <a:solidFill>
                  <a:srgbClr val="333639"/>
                </a:solidFill>
                <a:latin typeface="Fira Sans"/>
              </a:rPr>
              <a:t>.</a:t>
            </a:r>
          </a:p>
        </p:txBody>
      </p:sp>
      <p:sp>
        <p:nvSpPr>
          <p:cNvPr id="9" name="Rectangle 8"/>
          <p:cNvSpPr/>
          <p:nvPr/>
        </p:nvSpPr>
        <p:spPr>
          <a:xfrm>
            <a:off x="841248" y="1973757"/>
            <a:ext cx="502920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1248" y="2120061"/>
            <a:ext cx="5029200" cy="601898"/>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Problem 1 — the sum may not be finite</a:t>
            </a:r>
          </a:p>
          <a:p>
            <a:pPr marL="0" indent="0" algn="l">
              <a:lnSpc>
                <a:spcPts val="1310"/>
              </a:lnSpc>
              <a:spcBef>
                <a:spcPts val="500"/>
              </a:spcBef>
              <a:spcAft>
                <a:spcPts val="0"/>
              </a:spcAft>
              <a:buNone/>
            </a:pPr>
            <a:r>
              <a:rPr sz="1092" b="0" i="0">
                <a:solidFill>
                  <a:srgbClr val="626669"/>
                </a:solidFill>
                <a:latin typeface="Fira Sans"/>
              </a:rPr>
              <a:t>A continuing task has no terminal state. Adding rewards for ever can diverge, and a divergent objective cannot be maximised.</a:t>
            </a:r>
          </a:p>
        </p:txBody>
      </p:sp>
      <p:sp>
        <p:nvSpPr>
          <p:cNvPr id="11" name="Rectangle 10"/>
          <p:cNvSpPr/>
          <p:nvPr/>
        </p:nvSpPr>
        <p:spPr>
          <a:xfrm>
            <a:off x="6327648" y="1973757"/>
            <a:ext cx="5029200"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327648" y="2120061"/>
            <a:ext cx="5029200" cy="601898"/>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Problem 2 — how far ahead should the agent look?</a:t>
            </a:r>
          </a:p>
          <a:p>
            <a:pPr marL="0" indent="0" algn="l">
              <a:lnSpc>
                <a:spcPts val="1310"/>
              </a:lnSpc>
              <a:spcBef>
                <a:spcPts val="500"/>
              </a:spcBef>
              <a:spcAft>
                <a:spcPts val="0"/>
              </a:spcAft>
              <a:buNone/>
            </a:pPr>
            <a:r>
              <a:rPr sz="1092" b="0" i="0">
                <a:solidFill>
                  <a:srgbClr val="626669"/>
                </a:solidFill>
                <a:latin typeface="Fira Sans"/>
              </a:rPr>
              <a:t>Even when the sum converges, we may want to express that a reward now is worth more than the same reward in a thousand steps.</a:t>
            </a:r>
          </a:p>
        </p:txBody>
      </p:sp>
      <p:sp>
        <p:nvSpPr>
          <p:cNvPr id="13" name="TextBox 12"/>
          <p:cNvSpPr txBox="1"/>
          <p:nvPr/>
        </p:nvSpPr>
        <p:spPr>
          <a:xfrm>
            <a:off x="841248" y="295970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BOTH ARE SOLVED BY ONE PARAMETER</a:t>
            </a:r>
          </a:p>
        </p:txBody>
      </p:sp>
      <p:pic>
        <p:nvPicPr>
          <p:cNvPr id="14" name="Picture 13" descr="eq_gamma.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3234024"/>
            <a:ext cx="1216152" cy="381000"/>
          </a:xfrm>
          <a:prstGeom prst="rect">
            <a:avLst/>
          </a:prstGeom>
        </p:spPr>
      </p:pic>
      <p:sp>
        <p:nvSpPr>
          <p:cNvPr id="15" name="TextBox 14"/>
          <p:cNvSpPr txBox="1"/>
          <p:nvPr/>
        </p:nvSpPr>
        <p:spPr>
          <a:xfrm>
            <a:off x="2386584" y="3348349"/>
            <a:ext cx="5120640" cy="207416"/>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lang="it-IT" sz="1140" dirty="0">
                <a:solidFill>
                  <a:srgbClr val="626669"/>
                </a:solidFill>
                <a:latin typeface="Fira Sans"/>
              </a:rPr>
              <a:t>T</a:t>
            </a:r>
            <a:r>
              <a:rPr sz="1140" b="0" i="0" dirty="0">
                <a:solidFill>
                  <a:srgbClr val="626669"/>
                </a:solidFill>
                <a:latin typeface="Fira Sans"/>
              </a:rPr>
              <a:t>he </a:t>
            </a:r>
            <a:r>
              <a:rPr sz="1140" b="1" i="0" dirty="0">
                <a:solidFill>
                  <a:srgbClr val="626669"/>
                </a:solidFill>
                <a:latin typeface="Fira Sans"/>
              </a:rPr>
              <a:t>discount factor </a:t>
            </a:r>
            <a:r>
              <a:rPr lang="it-IT" sz="1140" b="0" i="0" dirty="0">
                <a:solidFill>
                  <a:srgbClr val="626669"/>
                </a:solidFill>
                <a:latin typeface="Fira Sans"/>
              </a:rPr>
              <a:t>: </a:t>
            </a:r>
            <a:r>
              <a:rPr sz="1140" b="0" i="0" dirty="0">
                <a:solidFill>
                  <a:srgbClr val="626669"/>
                </a:solidFill>
                <a:latin typeface="Fira Sans"/>
              </a:rPr>
              <a:t>a weight applied once per step of delay</a:t>
            </a:r>
          </a:p>
        </p:txBody>
      </p:sp>
      <p:pic>
        <p:nvPicPr>
          <p:cNvPr id="16" name="Picture 15" descr="eq_return_disc.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13176" y="3920210"/>
            <a:ext cx="4434840" cy="1091184"/>
          </a:xfrm>
          <a:prstGeom prst="rect">
            <a:avLst/>
          </a:prstGeom>
        </p:spPr>
      </p:pic>
      <p:sp>
        <p:nvSpPr>
          <p:cNvPr id="17" name="Rectangle 16"/>
          <p:cNvSpPr/>
          <p:nvPr/>
        </p:nvSpPr>
        <p:spPr>
          <a:xfrm>
            <a:off x="841248" y="519998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41248" y="5419440"/>
            <a:ext cx="3297936" cy="2560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41248" y="5547456"/>
            <a:ext cx="3297936"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dirty="0" err="1">
                <a:solidFill>
                  <a:srgbClr val="25282A"/>
                </a:solidFill>
                <a:latin typeface="Fira Sans"/>
              </a:rPr>
              <a:t>γ</a:t>
            </a:r>
            <a:r>
              <a:rPr sz="1140" b="1" i="0" dirty="0">
                <a:solidFill>
                  <a:srgbClr val="25282A"/>
                </a:solidFill>
                <a:latin typeface="Fira Sans"/>
              </a:rPr>
              <a:t> close to 0</a:t>
            </a:r>
          </a:p>
          <a:p>
            <a:pPr marL="0" indent="0" algn="l">
              <a:lnSpc>
                <a:spcPts val="1233"/>
              </a:lnSpc>
              <a:spcBef>
                <a:spcPts val="400"/>
              </a:spcBef>
              <a:spcAft>
                <a:spcPts val="0"/>
              </a:spcAft>
              <a:buNone/>
            </a:pPr>
            <a:r>
              <a:rPr sz="1045" b="0" i="0" dirty="0">
                <a:solidFill>
                  <a:srgbClr val="626669"/>
                </a:solidFill>
                <a:latin typeface="Fira Sans"/>
              </a:rPr>
              <a:t>The agent is </a:t>
            </a:r>
            <a:r>
              <a:rPr sz="1045" b="1" i="0" dirty="0">
                <a:solidFill>
                  <a:srgbClr val="626669"/>
                </a:solidFill>
                <a:latin typeface="Fira Sans"/>
              </a:rPr>
              <a:t>myopic</a:t>
            </a:r>
            <a:r>
              <a:rPr sz="1045" b="0" i="0" dirty="0">
                <a:solidFill>
                  <a:srgbClr val="626669"/>
                </a:solidFill>
                <a:latin typeface="Fira Sans"/>
              </a:rPr>
              <a:t>: it is concerned almost entirely with the immediate reward and ignores what follows.</a:t>
            </a:r>
          </a:p>
        </p:txBody>
      </p:sp>
      <p:sp>
        <p:nvSpPr>
          <p:cNvPr id="20" name="Rectangle 19"/>
          <p:cNvSpPr/>
          <p:nvPr/>
        </p:nvSpPr>
        <p:spPr>
          <a:xfrm>
            <a:off x="4450080" y="5419440"/>
            <a:ext cx="3297936"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4450080" y="5547456"/>
            <a:ext cx="3297936"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dirty="0" err="1">
                <a:solidFill>
                  <a:srgbClr val="25282A"/>
                </a:solidFill>
                <a:latin typeface="Fira Sans"/>
              </a:rPr>
              <a:t>γ</a:t>
            </a:r>
            <a:r>
              <a:rPr sz="1140" b="1" i="0" dirty="0">
                <a:solidFill>
                  <a:srgbClr val="25282A"/>
                </a:solidFill>
                <a:latin typeface="Fira Sans"/>
              </a:rPr>
              <a:t> close to 1</a:t>
            </a:r>
          </a:p>
          <a:p>
            <a:pPr marL="0" indent="0" algn="l">
              <a:lnSpc>
                <a:spcPts val="1233"/>
              </a:lnSpc>
              <a:spcBef>
                <a:spcPts val="400"/>
              </a:spcBef>
              <a:spcAft>
                <a:spcPts val="0"/>
              </a:spcAft>
              <a:buNone/>
            </a:pPr>
            <a:r>
              <a:rPr sz="1045" b="0" i="0" dirty="0">
                <a:solidFill>
                  <a:srgbClr val="626669"/>
                </a:solidFill>
                <a:latin typeface="Fira Sans"/>
              </a:rPr>
              <a:t>Rewards far into the future matter almost as much as immediate ones; the agent becomes </a:t>
            </a:r>
            <a:r>
              <a:rPr sz="1045" b="1" i="0" dirty="0">
                <a:solidFill>
                  <a:srgbClr val="626669"/>
                </a:solidFill>
                <a:latin typeface="Fira Sans"/>
              </a:rPr>
              <a:t>far-sighted</a:t>
            </a:r>
            <a:r>
              <a:rPr sz="1045" b="0" i="0" dirty="0">
                <a:solidFill>
                  <a:srgbClr val="626669"/>
                </a:solidFill>
                <a:latin typeface="Fira Sans"/>
              </a:rPr>
              <a:t>.</a:t>
            </a:r>
          </a:p>
        </p:txBody>
      </p:sp>
      <p:sp>
        <p:nvSpPr>
          <p:cNvPr id="22" name="Rectangle 21"/>
          <p:cNvSpPr/>
          <p:nvPr/>
        </p:nvSpPr>
        <p:spPr>
          <a:xfrm>
            <a:off x="8058912" y="5419440"/>
            <a:ext cx="3297936"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058912" y="5547456"/>
            <a:ext cx="3297936"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dirty="0" err="1">
                <a:solidFill>
                  <a:srgbClr val="25282A"/>
                </a:solidFill>
                <a:latin typeface="Fira Sans"/>
              </a:rPr>
              <a:t>γ</a:t>
            </a:r>
            <a:r>
              <a:rPr sz="1140" b="1" i="0" dirty="0">
                <a:solidFill>
                  <a:srgbClr val="25282A"/>
                </a:solidFill>
                <a:latin typeface="Fira Sans"/>
              </a:rPr>
              <a:t> &lt; 1</a:t>
            </a:r>
          </a:p>
          <a:p>
            <a:pPr marL="0" indent="0" algn="l">
              <a:lnSpc>
                <a:spcPts val="1233"/>
              </a:lnSpc>
              <a:spcBef>
                <a:spcPts val="400"/>
              </a:spcBef>
              <a:spcAft>
                <a:spcPts val="0"/>
              </a:spcAft>
              <a:buNone/>
            </a:pPr>
            <a:r>
              <a:rPr sz="1045" b="0" i="0" dirty="0">
                <a:solidFill>
                  <a:srgbClr val="626669"/>
                </a:solidFill>
                <a:latin typeface="Fira Sans"/>
              </a:rPr>
              <a:t>Distant rewards receive exponentially smaller weights</a:t>
            </a:r>
            <a:r>
              <a:rPr lang="it-IT" sz="1045" b="0" i="0" dirty="0">
                <a:solidFill>
                  <a:srgbClr val="626669"/>
                </a:solidFill>
                <a:latin typeface="Fira Sans"/>
              </a:rPr>
              <a:t>, </a:t>
            </a:r>
            <a:r>
              <a:rPr sz="1045" b="0" i="0" dirty="0">
                <a:solidFill>
                  <a:srgbClr val="626669"/>
                </a:solidFill>
                <a:latin typeface="Fira Sans"/>
              </a:rPr>
              <a:t>which is what makes the sum behave.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4.3  WHY THE DISCOUNTED RETURN STAYS BOUNDED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geometric series is all that stands between us and an infinite objective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IV — Return and discount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27</a:t>
            </a:r>
          </a:p>
        </p:txBody>
      </p:sp>
      <p:sp>
        <p:nvSpPr>
          <p:cNvPr id="8" name="TextBox 7"/>
          <p:cNvSpPr txBox="1"/>
          <p:nvPr/>
        </p:nvSpPr>
        <p:spPr>
          <a:xfrm>
            <a:off x="841248" y="1316736"/>
            <a:ext cx="672084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The argument is short, and worth doing once explicitly: </a:t>
            </a:r>
            <a:r>
              <a:rPr sz="1188" b="1" i="0" dirty="0">
                <a:solidFill>
                  <a:srgbClr val="333639"/>
                </a:solidFill>
                <a:latin typeface="Fira Sans"/>
              </a:rPr>
              <a:t>if the rewards are bounded, the discounted return is bounded too</a:t>
            </a:r>
            <a:r>
              <a:rPr sz="1188" b="0" i="0" dirty="0">
                <a:solidFill>
                  <a:srgbClr val="333639"/>
                </a:solidFill>
                <a:latin typeface="Fira Sans"/>
              </a:rPr>
              <a:t>, however long the interaction continues.</a:t>
            </a:r>
          </a:p>
        </p:txBody>
      </p:sp>
      <p:sp>
        <p:nvSpPr>
          <p:cNvPr id="9" name="TextBox 8"/>
          <p:cNvSpPr txBox="1"/>
          <p:nvPr/>
        </p:nvSpPr>
        <p:spPr>
          <a:xfrm>
            <a:off x="841248" y="1959193"/>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STEP 1 — ASSUME THE REWARDS ARE BOUNDED</a:t>
            </a:r>
          </a:p>
        </p:txBody>
      </p:sp>
      <p:pic>
        <p:nvPicPr>
          <p:cNvPr id="10" name="Picture 9" descr="eq_bounded_r.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2233513"/>
            <a:ext cx="1472438" cy="349250"/>
          </a:xfrm>
          <a:prstGeom prst="rect">
            <a:avLst/>
          </a:prstGeom>
        </p:spPr>
      </p:pic>
      <p:sp>
        <p:nvSpPr>
          <p:cNvPr id="11" name="Rectangle 10"/>
          <p:cNvSpPr/>
          <p:nvPr/>
        </p:nvSpPr>
        <p:spPr>
          <a:xfrm>
            <a:off x="841248" y="2893659"/>
            <a:ext cx="67208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131403"/>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2B7A3E"/>
                </a:solidFill>
                <a:latin typeface="Fira Sans"/>
              </a:rPr>
              <a:t>STEP 2 — BOUND THE SUM TERM BY TERM</a:t>
            </a:r>
          </a:p>
        </p:txBody>
      </p:sp>
      <p:pic>
        <p:nvPicPr>
          <p:cNvPr id="13" name="Picture 12" descr="eq_bounded_g.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3405723"/>
            <a:ext cx="6484873" cy="1290828"/>
          </a:xfrm>
          <a:prstGeom prst="rect">
            <a:avLst/>
          </a:prstGeom>
        </p:spPr>
      </p:pic>
      <p:sp>
        <p:nvSpPr>
          <p:cNvPr id="14" name="TextBox 13"/>
          <p:cNvSpPr txBox="1"/>
          <p:nvPr/>
        </p:nvSpPr>
        <p:spPr>
          <a:xfrm>
            <a:off x="841248" y="4970871"/>
            <a:ext cx="6720840"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Every term is at most R_max in magnitude, so the whole sum is at most R_max times the geometric series. That series converges for γ &lt; 1, and the bound follows. </a:t>
            </a:r>
            <a:r>
              <a:rPr sz="1092" b="1" i="0">
                <a:solidFill>
                  <a:srgbClr val="25282A"/>
                </a:solidFill>
                <a:latin typeface="Fira Sans"/>
              </a:rPr>
              <a:t>The objective is finite, so maximising it is a well-posed problem.</a:t>
            </a:r>
          </a:p>
        </p:txBody>
      </p:sp>
      <p:sp>
        <p:nvSpPr>
          <p:cNvPr id="15" name="TextBox 14"/>
          <p:cNvSpPr txBox="1"/>
          <p:nvPr/>
        </p:nvSpPr>
        <p:spPr>
          <a:xfrm>
            <a:off x="7946136" y="1335024"/>
            <a:ext cx="3404585" cy="935657"/>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dirty="0">
                <a:solidFill>
                  <a:srgbClr val="C8102E"/>
                </a:solidFill>
                <a:latin typeface="Fira Sans Medium"/>
              </a:rPr>
              <a:t>WHAT </a:t>
            </a:r>
            <a:r>
              <a:rPr sz="931" b="1" i="0" spc="110" dirty="0" err="1">
                <a:solidFill>
                  <a:srgbClr val="C8102E"/>
                </a:solidFill>
                <a:latin typeface="Fira Sans Medium"/>
              </a:rPr>
              <a:t>γ</a:t>
            </a:r>
            <a:r>
              <a:rPr sz="931" b="1" i="0" spc="110" dirty="0">
                <a:solidFill>
                  <a:srgbClr val="C8102E"/>
                </a:solidFill>
                <a:latin typeface="Fira Sans Medium"/>
              </a:rPr>
              <a:t> = 1 MEANS</a:t>
            </a:r>
          </a:p>
          <a:p>
            <a:pPr marL="0" indent="0" algn="l">
              <a:lnSpc>
                <a:spcPts val="1345"/>
              </a:lnSpc>
              <a:spcBef>
                <a:spcPts val="0"/>
              </a:spcBef>
              <a:spcAft>
                <a:spcPts val="0"/>
              </a:spcAft>
              <a:buNone/>
            </a:pPr>
            <a:r>
              <a:rPr sz="1140" b="0" i="0" dirty="0">
                <a:solidFill>
                  <a:srgbClr val="333639"/>
                </a:solidFill>
                <a:latin typeface="Fira Sans"/>
              </a:rPr>
              <a:t>At </a:t>
            </a:r>
            <a:r>
              <a:rPr sz="1140" b="0" i="0" dirty="0" err="1">
                <a:solidFill>
                  <a:srgbClr val="333639"/>
                </a:solidFill>
                <a:latin typeface="Fira Sans"/>
              </a:rPr>
              <a:t>γ</a:t>
            </a:r>
            <a:r>
              <a:rPr sz="1140" b="0" i="0" dirty="0">
                <a:solidFill>
                  <a:srgbClr val="333639"/>
                </a:solidFill>
                <a:latin typeface="Fira Sans"/>
              </a:rPr>
              <a:t> = 1 the bound disappears: the series no longer converges. That is acceptable for an episodic task, where the sum terminates on its own, and </a:t>
            </a:r>
            <a:r>
              <a:rPr sz="1140" b="1" i="0" dirty="0">
                <a:solidFill>
                  <a:srgbClr val="25282A"/>
                </a:solidFill>
                <a:latin typeface="Fira Sans"/>
              </a:rPr>
              <a:t>not acceptable for a continuing one</a:t>
            </a:r>
            <a:r>
              <a:rPr sz="1140" b="0" i="0" dirty="0">
                <a:solidFill>
                  <a:srgbClr val="333639"/>
                </a:solidFill>
                <a:latin typeface="Fira Sans"/>
              </a:rPr>
              <a:t>.</a:t>
            </a:r>
          </a:p>
        </p:txBody>
      </p:sp>
      <p:sp>
        <p:nvSpPr>
          <p:cNvPr id="16" name="TextBox 15"/>
          <p:cNvSpPr txBox="1"/>
          <p:nvPr/>
        </p:nvSpPr>
        <p:spPr>
          <a:xfrm>
            <a:off x="7946136" y="2508425"/>
            <a:ext cx="34045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dirty="0">
                <a:solidFill>
                  <a:srgbClr val="574676"/>
                </a:solidFill>
                <a:latin typeface="Fira Sans"/>
              </a:rPr>
              <a:t>A USEFUL WAY TO READ </a:t>
            </a:r>
            <a:r>
              <a:rPr lang="el-GR" sz="931" b="1" i="0" spc="120" dirty="0">
                <a:solidFill>
                  <a:srgbClr val="574676"/>
                </a:solidFill>
                <a:latin typeface="Fira Sans"/>
              </a:rPr>
              <a:t>γ</a:t>
            </a:r>
            <a:endParaRPr sz="931" b="1" i="0" spc="120" dirty="0">
              <a:solidFill>
                <a:srgbClr val="574676"/>
              </a:solidFill>
              <a:latin typeface="Fira Sans"/>
            </a:endParaRPr>
          </a:p>
        </p:txBody>
      </p:sp>
      <p:sp>
        <p:nvSpPr>
          <p:cNvPr id="17" name="TextBox 16"/>
          <p:cNvSpPr txBox="1"/>
          <p:nvPr/>
        </p:nvSpPr>
        <p:spPr>
          <a:xfrm>
            <a:off x="7946136" y="2764457"/>
            <a:ext cx="3404585" cy="1498152"/>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sz="1092" b="1" i="0">
                <a:solidFill>
                  <a:srgbClr val="25282A"/>
                </a:solidFill>
                <a:latin typeface="Fira Sans"/>
              </a:rPr>
              <a:t>As a horizon.</a:t>
            </a:r>
            <a:r>
              <a:rPr sz="1092" b="0" i="0">
                <a:solidFill>
                  <a:srgbClr val="333639"/>
                </a:solidFill>
                <a:latin typeface="Fira Sans"/>
              </a:rPr>
              <a:t> 1/(1−γ) is roughly the number of steps the agent effectively looks ahead: γ = 0.9 gives about ten steps, γ = 0.99 about a hundred.</a:t>
            </a:r>
          </a:p>
          <a:p>
            <a:pPr marL="173736" indent="-173736" algn="l">
              <a:lnSpc>
                <a:spcPts val="1289"/>
              </a:lnSpc>
              <a:spcBef>
                <a:spcPts val="600"/>
              </a:spcBef>
              <a:spcAft>
                <a:spcPts val="0"/>
              </a:spcAft>
              <a:buClr>
                <a:srgbClr val="1971C2"/>
              </a:buClr>
              <a:buFont typeface="Fira Sans"/>
              <a:buChar char="–"/>
            </a:pPr>
            <a:r>
              <a:rPr sz="1092" b="1" i="0">
                <a:solidFill>
                  <a:srgbClr val="25282A"/>
                </a:solidFill>
                <a:latin typeface="Fira Sans"/>
              </a:rPr>
              <a:t>As a probability of continuing.</a:t>
            </a:r>
            <a:r>
              <a:rPr sz="1092" b="0" i="0">
                <a:solidFill>
                  <a:srgbClr val="333639"/>
                </a:solidFill>
                <a:latin typeface="Fira Sans"/>
              </a:rPr>
              <a:t> Discounting by γ is equivalent to an interaction that terminates at each step with probability 1 − γ.</a:t>
            </a:r>
          </a:p>
          <a:p>
            <a:pPr marL="173736" indent="-173736" algn="l">
              <a:lnSpc>
                <a:spcPts val="1289"/>
              </a:lnSpc>
              <a:spcBef>
                <a:spcPts val="600"/>
              </a:spcBef>
              <a:spcAft>
                <a:spcPts val="0"/>
              </a:spcAft>
              <a:buClr>
                <a:srgbClr val="1971C2"/>
              </a:buClr>
              <a:buFont typeface="Fira Sans"/>
              <a:buChar char="–"/>
            </a:pPr>
            <a:r>
              <a:rPr sz="1092" b="1" i="0">
                <a:solidFill>
                  <a:srgbClr val="25282A"/>
                </a:solidFill>
                <a:latin typeface="Fira Sans"/>
              </a:rPr>
              <a:t>As a modelling choice.</a:t>
            </a:r>
            <a:r>
              <a:rPr sz="1092" b="0" i="0">
                <a:solidFill>
                  <a:srgbClr val="333639"/>
                </a:solidFill>
                <a:latin typeface="Fira Sans"/>
              </a:rPr>
              <a:t> γ is part of the problem specification, not something the agent learns.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4.4  THE RECURSION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line that the rest of the course is built 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IV — Return and discount</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28</a:t>
            </a:r>
          </a:p>
        </p:txBody>
      </p:sp>
      <p:sp>
        <p:nvSpPr>
          <p:cNvPr id="8" name="TextBox 7"/>
          <p:cNvSpPr txBox="1"/>
          <p:nvPr/>
        </p:nvSpPr>
        <p:spPr>
          <a:xfrm>
            <a:off x="841248" y="1316736"/>
            <a:ext cx="10515600" cy="227926"/>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Writing out the discounted return and factoring </a:t>
            </a:r>
            <a:r>
              <a:rPr sz="1235" b="0" i="0" dirty="0" err="1">
                <a:solidFill>
                  <a:srgbClr val="333639"/>
                </a:solidFill>
                <a:latin typeface="Fira Sans"/>
              </a:rPr>
              <a:t>γ</a:t>
            </a:r>
            <a:r>
              <a:rPr sz="1235" b="0" i="0" dirty="0">
                <a:solidFill>
                  <a:srgbClr val="333639"/>
                </a:solidFill>
                <a:latin typeface="Fira Sans"/>
              </a:rPr>
              <a:t> from every term after the first </a:t>
            </a:r>
            <a:r>
              <a:rPr sz="1235" b="1" i="0" dirty="0">
                <a:solidFill>
                  <a:srgbClr val="333639"/>
                </a:solidFill>
                <a:latin typeface="Fira Sans"/>
              </a:rPr>
              <a:t>reveals a structure </a:t>
            </a:r>
            <a:r>
              <a:rPr sz="1235" b="0" i="0" dirty="0">
                <a:solidFill>
                  <a:srgbClr val="333639"/>
                </a:solidFill>
                <a:latin typeface="Fira Sans"/>
              </a:rPr>
              <a:t>that is more important than the definition itself.</a:t>
            </a:r>
          </a:p>
        </p:txBody>
      </p:sp>
      <p:sp>
        <p:nvSpPr>
          <p:cNvPr id="9" name="TextBox 8"/>
          <p:cNvSpPr txBox="1"/>
          <p:nvPr/>
        </p:nvSpPr>
        <p:spPr>
          <a:xfrm>
            <a:off x="841248" y="180069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WRITE IT OUT</a:t>
            </a:r>
          </a:p>
        </p:txBody>
      </p:sp>
      <p:pic>
        <p:nvPicPr>
          <p:cNvPr id="10" name="Picture 9" descr="eq_return_expand.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2075014"/>
            <a:ext cx="5958840" cy="399288"/>
          </a:xfrm>
          <a:prstGeom prst="rect">
            <a:avLst/>
          </a:prstGeom>
        </p:spPr>
      </p:pic>
      <p:sp>
        <p:nvSpPr>
          <p:cNvPr id="11" name="TextBox 10"/>
          <p:cNvSpPr txBox="1"/>
          <p:nvPr/>
        </p:nvSpPr>
        <p:spPr>
          <a:xfrm>
            <a:off x="841248" y="280348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2B7A3E"/>
                </a:solidFill>
                <a:latin typeface="Fira Sans"/>
              </a:rPr>
              <a:t>COLLECT EVERYTHING AFTER THE FIRST REWARD</a:t>
            </a:r>
          </a:p>
        </p:txBody>
      </p:sp>
      <p:pic>
        <p:nvPicPr>
          <p:cNvPr id="12" name="Picture 11" descr="eq_recursiv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40149" y="3096094"/>
            <a:ext cx="6511671" cy="898397"/>
          </a:xfrm>
          <a:prstGeom prst="rect">
            <a:avLst/>
          </a:prstGeom>
        </p:spPr>
      </p:pic>
      <p:sp>
        <p:nvSpPr>
          <p:cNvPr id="13" name="Rectangle 12"/>
          <p:cNvSpPr/>
          <p:nvPr/>
        </p:nvSpPr>
        <p:spPr>
          <a:xfrm>
            <a:off x="841248" y="436025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841248" y="4616284"/>
            <a:ext cx="3285744"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4762588"/>
            <a:ext cx="3285744" cy="91514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dirty="0">
                <a:solidFill>
                  <a:srgbClr val="25282A"/>
                </a:solidFill>
                <a:latin typeface="Fira Sans"/>
              </a:rPr>
              <a:t>What it says</a:t>
            </a:r>
          </a:p>
          <a:p>
            <a:pPr marL="0" indent="0" algn="l">
              <a:lnSpc>
                <a:spcPts val="1254"/>
              </a:lnSpc>
              <a:spcBef>
                <a:spcPts val="500"/>
              </a:spcBef>
              <a:spcAft>
                <a:spcPts val="0"/>
              </a:spcAft>
              <a:buNone/>
            </a:pPr>
            <a:r>
              <a:rPr sz="1045" b="0" i="0" dirty="0">
                <a:solidFill>
                  <a:srgbClr val="626669"/>
                </a:solidFill>
                <a:latin typeface="Fira Sans"/>
              </a:rPr>
              <a:t>The return from the current step is the </a:t>
            </a:r>
            <a:r>
              <a:rPr sz="1045" b="1" i="0" dirty="0">
                <a:solidFill>
                  <a:srgbClr val="626669"/>
                </a:solidFill>
                <a:latin typeface="Fira Sans"/>
              </a:rPr>
              <a:t>immediate reward</a:t>
            </a:r>
            <a:r>
              <a:rPr sz="1045" b="0" i="0" dirty="0">
                <a:solidFill>
                  <a:srgbClr val="626669"/>
                </a:solidFill>
                <a:latin typeface="Fira Sans"/>
              </a:rPr>
              <a:t> plus the </a:t>
            </a:r>
            <a:r>
              <a:rPr sz="1045" b="1" i="0" dirty="0">
                <a:solidFill>
                  <a:srgbClr val="626669"/>
                </a:solidFill>
                <a:latin typeface="Fira Sans"/>
              </a:rPr>
              <a:t>discounted return from the next step</a:t>
            </a:r>
            <a:r>
              <a:rPr sz="1045" b="0" i="0" dirty="0">
                <a:solidFill>
                  <a:srgbClr val="626669"/>
                </a:solidFill>
                <a:latin typeface="Fira Sans"/>
              </a:rPr>
              <a:t>. The whole infinite future has been reduced to one reward and one number.</a:t>
            </a:r>
          </a:p>
        </p:txBody>
      </p:sp>
      <p:sp>
        <p:nvSpPr>
          <p:cNvPr id="16" name="Rectangle 15"/>
          <p:cNvSpPr/>
          <p:nvPr/>
        </p:nvSpPr>
        <p:spPr>
          <a:xfrm>
            <a:off x="4456176" y="4616284"/>
            <a:ext cx="3285744"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4456176" y="4762588"/>
            <a:ext cx="3285744" cy="755883"/>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dirty="0">
                <a:solidFill>
                  <a:srgbClr val="25282A"/>
                </a:solidFill>
                <a:latin typeface="Fira Sans"/>
              </a:rPr>
              <a:t>Why it matters</a:t>
            </a:r>
          </a:p>
          <a:p>
            <a:pPr marL="0" indent="0" algn="l">
              <a:lnSpc>
                <a:spcPts val="1254"/>
              </a:lnSpc>
              <a:spcBef>
                <a:spcPts val="500"/>
              </a:spcBef>
              <a:spcAft>
                <a:spcPts val="0"/>
              </a:spcAft>
              <a:buNone/>
            </a:pPr>
            <a:r>
              <a:rPr sz="1045" b="0" i="0" dirty="0">
                <a:solidFill>
                  <a:srgbClr val="626669"/>
                </a:solidFill>
                <a:latin typeface="Fira Sans"/>
              </a:rPr>
              <a:t>It turns an infinite sum into a </a:t>
            </a:r>
            <a:r>
              <a:rPr sz="1045" b="1" i="0" dirty="0">
                <a:solidFill>
                  <a:srgbClr val="626669"/>
                </a:solidFill>
                <a:latin typeface="Fira Sans"/>
              </a:rPr>
              <a:t>relation between two adjacent time steps</a:t>
            </a:r>
            <a:r>
              <a:rPr lang="it-IT" sz="1045" dirty="0">
                <a:solidFill>
                  <a:srgbClr val="626669"/>
                </a:solidFill>
                <a:latin typeface="Fira Sans"/>
              </a:rPr>
              <a:t>: </a:t>
            </a:r>
            <a:r>
              <a:rPr sz="1045" b="0" i="0" dirty="0">
                <a:solidFill>
                  <a:srgbClr val="626669"/>
                </a:solidFill>
                <a:latin typeface="Fira Sans"/>
              </a:rPr>
              <a:t>something an algorithm can actually evaluate, one step at a time.</a:t>
            </a:r>
          </a:p>
        </p:txBody>
      </p:sp>
      <p:sp>
        <p:nvSpPr>
          <p:cNvPr id="18" name="Rectangle 17"/>
          <p:cNvSpPr/>
          <p:nvPr/>
        </p:nvSpPr>
        <p:spPr>
          <a:xfrm>
            <a:off x="8071104" y="4616284"/>
            <a:ext cx="3285744" cy="27432"/>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071104" y="4762588"/>
            <a:ext cx="3285744" cy="91514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Where it goes next</a:t>
            </a:r>
          </a:p>
          <a:p>
            <a:pPr marL="0" indent="0" algn="l">
              <a:lnSpc>
                <a:spcPts val="1254"/>
              </a:lnSpc>
              <a:spcBef>
                <a:spcPts val="500"/>
              </a:spcBef>
              <a:spcAft>
                <a:spcPts val="0"/>
              </a:spcAft>
              <a:buNone/>
            </a:pPr>
            <a:r>
              <a:rPr sz="1045" b="0" i="0">
                <a:solidFill>
                  <a:srgbClr val="626669"/>
                </a:solidFill>
                <a:latin typeface="Fira Sans"/>
              </a:rPr>
              <a:t>Substituting this recursion into the definition of a value function produces the Bellman equations, and with them dynamic programming, Monte Carlo and temporal-difference learning.</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Plan and policy</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In a stochastic world a sequence of actions is not a solution. What replaces it, and what the learning problem then becomes.</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does the agent do when the world does not follow the plan?</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Where a plan breaks down</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From plan to policy</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Deterministic and stochastic policies</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The reinforcement learning objective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  WHY A PLAN IS NOT A SOLUTION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sequence of actions stops applying the moment the world deviates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 — Plan and policy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30</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At first it might seem that the agent’s goal is simply to find a </a:t>
            </a:r>
            <a:r>
              <a:rPr sz="1235" b="1" i="0" dirty="0">
                <a:solidFill>
                  <a:srgbClr val="333639"/>
                </a:solidFill>
                <a:latin typeface="Fira Sans"/>
              </a:rPr>
              <a:t>plan</a:t>
            </a:r>
            <a:r>
              <a:rPr sz="1235" b="0" i="0" dirty="0">
                <a:solidFill>
                  <a:srgbClr val="333639"/>
                </a:solidFill>
                <a:latin typeface="Fira Sans"/>
              </a:rPr>
              <a:t>: a sequence of actions leading from the initial state toward the desired outcome while maximizing the return. In a deterministic environment such a sequence may be sufficient.</a:t>
            </a:r>
          </a:p>
        </p:txBody>
      </p:sp>
      <p:pic>
        <p:nvPicPr>
          <p:cNvPr id="9" name="Picture 8" descr="plan_policy.png"/>
          <p:cNvPicPr>
            <a:picLocks noChangeAspect="1"/>
          </p:cNvPicPr>
          <p:nvPr/>
        </p:nvPicPr>
        <p:blipFill>
          <a:blip r:embed="rId2"/>
          <a:stretch>
            <a:fillRect/>
          </a:stretch>
        </p:blipFill>
        <p:spPr>
          <a:xfrm>
            <a:off x="1543530" y="1863115"/>
            <a:ext cx="9104939" cy="2387497"/>
          </a:xfrm>
          <a:prstGeom prst="rect">
            <a:avLst/>
          </a:prstGeom>
        </p:spPr>
      </p:pic>
      <p:sp>
        <p:nvSpPr>
          <p:cNvPr id="10" name="Rectangle 9"/>
          <p:cNvSpPr/>
          <p:nvPr/>
        </p:nvSpPr>
        <p:spPr>
          <a:xfrm>
            <a:off x="841248" y="4268901"/>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4506645"/>
            <a:ext cx="502920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652949"/>
            <a:ext cx="5029200" cy="61095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Deterministic environment</a:t>
            </a:r>
          </a:p>
          <a:p>
            <a:pPr marL="0" indent="0" algn="l">
              <a:lnSpc>
                <a:spcPts val="1310"/>
              </a:lnSpc>
              <a:spcBef>
                <a:spcPts val="500"/>
              </a:spcBef>
              <a:spcAft>
                <a:spcPts val="0"/>
              </a:spcAft>
              <a:buNone/>
            </a:pPr>
            <a:r>
              <a:rPr sz="1092" b="0" i="0">
                <a:solidFill>
                  <a:srgbClr val="626669"/>
                </a:solidFill>
                <a:latin typeface="Fira Sans"/>
              </a:rPr>
              <a:t>Every action has a predictable consequence, so a fixed sequence of actions is enough: the agent will be exactly where the plan expects it to be at every step.</a:t>
            </a:r>
          </a:p>
        </p:txBody>
      </p:sp>
      <p:sp>
        <p:nvSpPr>
          <p:cNvPr id="13" name="Rectangle 12"/>
          <p:cNvSpPr/>
          <p:nvPr/>
        </p:nvSpPr>
        <p:spPr>
          <a:xfrm>
            <a:off x="6327648" y="4506645"/>
            <a:ext cx="502920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327648" y="4652949"/>
            <a:ext cx="5029200" cy="610951"/>
          </a:xfrm>
          <a:prstGeom prst="rect">
            <a:avLst/>
          </a:prstGeom>
          <a:noFill/>
        </p:spPr>
        <p:txBody>
          <a:bodyPr wrap="square" lIns="0" tIns="0" rIns="0" bIns="0" anchor="t">
            <a:noAutofit/>
          </a:bodyPr>
          <a:lstStyle/>
          <a:p>
            <a:pPr marL="0" indent="0" algn="l">
              <a:lnSpc>
                <a:spcPts val="1402"/>
              </a:lnSpc>
              <a:spcBef>
                <a:spcPts val="0"/>
              </a:spcBef>
              <a:spcAft>
                <a:spcPts val="0"/>
              </a:spcAft>
              <a:buNone/>
            </a:pPr>
            <a:r>
              <a:rPr sz="1188" b="1" i="0">
                <a:solidFill>
                  <a:srgbClr val="25282A"/>
                </a:solidFill>
                <a:latin typeface="Fira Sans"/>
              </a:rPr>
              <a:t>Stochastic environment</a:t>
            </a:r>
          </a:p>
          <a:p>
            <a:pPr marL="0" indent="0" algn="l">
              <a:lnSpc>
                <a:spcPts val="1310"/>
              </a:lnSpc>
              <a:spcBef>
                <a:spcPts val="500"/>
              </a:spcBef>
              <a:spcAft>
                <a:spcPts val="0"/>
              </a:spcAft>
              <a:buNone/>
            </a:pPr>
            <a:r>
              <a:rPr sz="1092" b="0" i="0">
                <a:solidFill>
                  <a:srgbClr val="626669"/>
                </a:solidFill>
                <a:latin typeface="Fira Sans"/>
              </a:rPr>
              <a:t>An action may not produce the intended outcome. The agent reaches a state the plan never anticipated, and from there the plan simply has nothing to say.</a:t>
            </a:r>
          </a:p>
        </p:txBody>
      </p:sp>
      <p:sp>
        <p:nvSpPr>
          <p:cNvPr id="15" name="Rectangle 14"/>
          <p:cNvSpPr/>
          <p:nvPr/>
        </p:nvSpPr>
        <p:spPr>
          <a:xfrm>
            <a:off x="841248" y="5519933"/>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41248" y="5519933"/>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060704" y="5666237"/>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This is the same failure as the reflex agent, one level up: there, a rule had nothing to say about a percept it could not distinguish; here, a plan has nothing to say about a state it did not predict. </a:t>
            </a:r>
            <a:r>
              <a:rPr sz="1140" b="1" i="0" dirty="0">
                <a:solidFill>
                  <a:srgbClr val="333639"/>
                </a:solidFill>
                <a:latin typeface="Fira Sans"/>
              </a:rPr>
              <a:t>In both cases the fix is to answer for every case, not just the expected one.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5.2  THE POLICY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decision rule for every state the agent may encounter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 — Plan and policy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31</a:t>
            </a:r>
          </a:p>
        </p:txBody>
      </p:sp>
      <p:sp>
        <p:nvSpPr>
          <p:cNvPr id="8" name="TextBox 7"/>
          <p:cNvSpPr txBox="1"/>
          <p:nvPr/>
        </p:nvSpPr>
        <p:spPr>
          <a:xfrm>
            <a:off x="841248" y="1316736"/>
            <a:ext cx="672084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What is needed instead is a </a:t>
            </a:r>
            <a:r>
              <a:rPr sz="1188" b="1" i="0" dirty="0">
                <a:solidFill>
                  <a:srgbClr val="333639"/>
                </a:solidFill>
                <a:latin typeface="Fira Sans"/>
              </a:rPr>
              <a:t>policy</a:t>
            </a:r>
            <a:r>
              <a:rPr sz="1188" b="0" i="0" dirty="0">
                <a:solidFill>
                  <a:srgbClr val="333639"/>
                </a:solidFill>
                <a:latin typeface="Fira Sans"/>
              </a:rPr>
              <a:t>: a rule that specifies what the agent should do in </a:t>
            </a:r>
            <a:r>
              <a:rPr sz="1188" b="1" i="0" dirty="0">
                <a:solidFill>
                  <a:srgbClr val="333639"/>
                </a:solidFill>
                <a:latin typeface="Fira Sans"/>
              </a:rPr>
              <a:t>every state </a:t>
            </a:r>
            <a:r>
              <a:rPr sz="1188" b="0" i="0" dirty="0">
                <a:solidFill>
                  <a:srgbClr val="333639"/>
                </a:solidFill>
                <a:latin typeface="Fira Sans"/>
              </a:rPr>
              <a:t>it may reach, not only along one anticipated path.</a:t>
            </a:r>
          </a:p>
        </p:txBody>
      </p:sp>
      <p:sp>
        <p:nvSpPr>
          <p:cNvPr id="9" name="TextBox 8"/>
          <p:cNvSpPr txBox="1"/>
          <p:nvPr/>
        </p:nvSpPr>
        <p:spPr>
          <a:xfrm>
            <a:off x="841248" y="1959193"/>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 STOCHASTIC POLICY ASSIGNS A PROBABILITY TO EACH ACTION</a:t>
            </a:r>
          </a:p>
        </p:txBody>
      </p:sp>
      <p:pic>
        <p:nvPicPr>
          <p:cNvPr id="10" name="Picture 9" descr="eq_policy.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2233513"/>
            <a:ext cx="4222750" cy="460375"/>
          </a:xfrm>
          <a:prstGeom prst="rect">
            <a:avLst/>
          </a:prstGeom>
        </p:spPr>
      </p:pic>
      <p:sp>
        <p:nvSpPr>
          <p:cNvPr id="11" name="Rectangle 10"/>
          <p:cNvSpPr/>
          <p:nvPr/>
        </p:nvSpPr>
        <p:spPr>
          <a:xfrm>
            <a:off x="841248" y="3004784"/>
            <a:ext cx="67208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3242528"/>
            <a:ext cx="3177539" cy="2560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3370544"/>
            <a:ext cx="3177539"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Deterministic</a:t>
            </a:r>
          </a:p>
          <a:p>
            <a:pPr marL="0" indent="0" algn="l">
              <a:lnSpc>
                <a:spcPts val="1233"/>
              </a:lnSpc>
              <a:spcBef>
                <a:spcPts val="400"/>
              </a:spcBef>
              <a:spcAft>
                <a:spcPts val="0"/>
              </a:spcAft>
              <a:buNone/>
            </a:pPr>
            <a:r>
              <a:rPr sz="1045" b="0" i="0">
                <a:solidFill>
                  <a:srgbClr val="626669"/>
                </a:solidFill>
                <a:latin typeface="Fira Sans"/>
              </a:rPr>
              <a:t>A single action is selected in each state. Written π(s) = a, or as a mapping from states to actions.</a:t>
            </a:r>
          </a:p>
        </p:txBody>
      </p:sp>
      <p:sp>
        <p:nvSpPr>
          <p:cNvPr id="14" name="Rectangle 13"/>
          <p:cNvSpPr/>
          <p:nvPr/>
        </p:nvSpPr>
        <p:spPr>
          <a:xfrm>
            <a:off x="4384548" y="3242528"/>
            <a:ext cx="3177539" cy="2560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384548" y="3370544"/>
            <a:ext cx="3177539" cy="728027"/>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Stochastic</a:t>
            </a:r>
          </a:p>
          <a:p>
            <a:pPr marL="0" indent="0" algn="l">
              <a:lnSpc>
                <a:spcPts val="1233"/>
              </a:lnSpc>
              <a:spcBef>
                <a:spcPts val="400"/>
              </a:spcBef>
              <a:spcAft>
                <a:spcPts val="0"/>
              </a:spcAft>
              <a:buNone/>
            </a:pPr>
            <a:r>
              <a:rPr sz="1045" b="0" i="0">
                <a:solidFill>
                  <a:srgbClr val="626669"/>
                </a:solidFill>
                <a:latin typeface="Fira Sans"/>
              </a:rPr>
              <a:t>A probability is assigned to each available action. Necessary for exploration, and sometimes optimal in its own right.</a:t>
            </a:r>
          </a:p>
        </p:txBody>
      </p:sp>
      <p:sp>
        <p:nvSpPr>
          <p:cNvPr id="16" name="TextBox 15"/>
          <p:cNvSpPr txBox="1"/>
          <p:nvPr/>
        </p:nvSpPr>
        <p:spPr>
          <a:xfrm>
            <a:off x="841248" y="4372891"/>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AND THE REINFORCEMENT LEARNING PROBLEM BECOMES</a:t>
            </a:r>
          </a:p>
        </p:txBody>
      </p:sp>
      <p:pic>
        <p:nvPicPr>
          <p:cNvPr id="17" name="Picture 16" descr="eq_objective.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4647211"/>
            <a:ext cx="3165475" cy="539750"/>
          </a:xfrm>
          <a:prstGeom prst="rect">
            <a:avLst/>
          </a:prstGeom>
        </p:spPr>
      </p:pic>
      <p:sp>
        <p:nvSpPr>
          <p:cNvPr id="18" name="TextBox 17"/>
          <p:cNvSpPr txBox="1"/>
          <p:nvPr/>
        </p:nvSpPr>
        <p:spPr>
          <a:xfrm>
            <a:off x="4453128" y="4702075"/>
            <a:ext cx="3108959" cy="378256"/>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0" i="0">
                <a:solidFill>
                  <a:srgbClr val="626669"/>
                </a:solidFill>
                <a:latin typeface="Fira Sans"/>
              </a:rPr>
              <a:t>find a policy that maximises the expected return</a:t>
            </a:r>
          </a:p>
        </p:txBody>
      </p:sp>
      <p:sp>
        <p:nvSpPr>
          <p:cNvPr id="19" name="TextBox 18"/>
          <p:cNvSpPr txBox="1"/>
          <p:nvPr/>
        </p:nvSpPr>
        <p:spPr>
          <a:xfrm>
            <a:off x="7946136" y="1335024"/>
            <a:ext cx="3404585" cy="777516"/>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574676"/>
                </a:solidFill>
                <a:latin typeface="Fira Sans Medium"/>
              </a:rPr>
              <a:t>PLAN VERSUS POLICY</a:t>
            </a:r>
          </a:p>
          <a:p>
            <a:pPr marL="0" indent="0" algn="l">
              <a:lnSpc>
                <a:spcPts val="1345"/>
              </a:lnSpc>
              <a:spcBef>
                <a:spcPts val="0"/>
              </a:spcBef>
              <a:spcAft>
                <a:spcPts val="0"/>
              </a:spcAft>
              <a:buNone/>
            </a:pPr>
            <a:r>
              <a:rPr sz="1140" b="0" i="0">
                <a:solidFill>
                  <a:srgbClr val="333639"/>
                </a:solidFill>
                <a:latin typeface="Fira Sans"/>
              </a:rPr>
              <a:t>A plan is indexed by </a:t>
            </a:r>
            <a:r>
              <a:rPr sz="1140" b="1" i="0">
                <a:solidFill>
                  <a:srgbClr val="C8102E"/>
                </a:solidFill>
                <a:latin typeface="Fira Sans"/>
              </a:rPr>
              <a:t>time</a:t>
            </a:r>
            <a:r>
              <a:rPr sz="1140" b="0" i="0">
                <a:solidFill>
                  <a:srgbClr val="333639"/>
                </a:solidFill>
                <a:latin typeface="Fira Sans"/>
              </a:rPr>
              <a:t>: do this, then this, then this. A policy is indexed by </a:t>
            </a:r>
            <a:r>
              <a:rPr sz="1140" b="1" i="0">
                <a:solidFill>
                  <a:srgbClr val="2B7A3E"/>
                </a:solidFill>
                <a:latin typeface="Fira Sans"/>
              </a:rPr>
              <a:t>state</a:t>
            </a:r>
            <a:r>
              <a:rPr sz="1140" b="0" i="0">
                <a:solidFill>
                  <a:srgbClr val="333639"/>
                </a:solidFill>
                <a:latin typeface="Fira Sans"/>
              </a:rPr>
              <a:t>: whatever happens, here is what to do from where you are.</a:t>
            </a:r>
          </a:p>
        </p:txBody>
      </p:sp>
      <p:sp>
        <p:nvSpPr>
          <p:cNvPr id="20" name="Rectangle 19"/>
          <p:cNvSpPr/>
          <p:nvPr/>
        </p:nvSpPr>
        <p:spPr>
          <a:xfrm>
            <a:off x="7946136" y="2350284"/>
            <a:ext cx="3404585" cy="1362456"/>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946136" y="2350284"/>
            <a:ext cx="41148" cy="1362456"/>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165592" y="2496588"/>
            <a:ext cx="3111977"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WHY STATE-INDEXED IS ENOUGH</a:t>
            </a:r>
          </a:p>
        </p:txBody>
      </p:sp>
      <p:sp>
        <p:nvSpPr>
          <p:cNvPr id="23" name="TextBox 22"/>
          <p:cNvSpPr txBox="1"/>
          <p:nvPr/>
        </p:nvSpPr>
        <p:spPr>
          <a:xfrm>
            <a:off x="8165592" y="2734332"/>
            <a:ext cx="3020537"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Because the Markov property makes the state a sufficient summary of the past, a policy that depends only on the current state loses nothing. </a:t>
            </a:r>
            <a:r>
              <a:rPr sz="1092" b="1" i="0" dirty="0">
                <a:solidFill>
                  <a:srgbClr val="333639"/>
                </a:solidFill>
                <a:latin typeface="Fira Sans"/>
              </a:rPr>
              <a:t>That is what the assumption buys.</a:t>
            </a:r>
          </a:p>
        </p:txBody>
      </p:sp>
      <p:sp>
        <p:nvSpPr>
          <p:cNvPr id="24" name="TextBox 23"/>
          <p:cNvSpPr txBox="1"/>
          <p:nvPr/>
        </p:nvSpPr>
        <p:spPr>
          <a:xfrm>
            <a:off x="7946136" y="3950484"/>
            <a:ext cx="34045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QUESTION THAT FOLLOWS IMMEDIATELY</a:t>
            </a:r>
          </a:p>
        </p:txBody>
      </p:sp>
      <p:sp>
        <p:nvSpPr>
          <p:cNvPr id="25" name="TextBox 24"/>
          <p:cNvSpPr txBox="1"/>
          <p:nvPr/>
        </p:nvSpPr>
        <p:spPr>
          <a:xfrm>
            <a:off x="7946136" y="4206516"/>
            <a:ext cx="3404585" cy="868680"/>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Given two policies, </a:t>
            </a:r>
            <a:r>
              <a:rPr sz="1092" b="1" i="0" dirty="0">
                <a:solidFill>
                  <a:srgbClr val="25282A"/>
                </a:solidFill>
                <a:latin typeface="Fira Sans"/>
              </a:rPr>
              <a:t>how good is each one?</a:t>
            </a:r>
            <a:r>
              <a:rPr sz="1092" b="0" i="0" dirty="0">
                <a:solidFill>
                  <a:srgbClr val="333639"/>
                </a:solidFill>
                <a:latin typeface="Fira Sans"/>
              </a:rPr>
              <a:t> The expected return must be evaluated, and because the environment is stochastic it cannot simply be read off the policy. Part VI measures it by brute force and shows why that is not good enough.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Case study: Frozen Lake</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Every object defined in this chapter, written out for one small stochastic grid world and two policies compared by brute force.</a:t>
            </a:r>
          </a:p>
        </p:txBody>
      </p:sp>
      <p:sp>
        <p:nvSpPr>
          <p:cNvPr id="7" name="Rectangle 6"/>
          <p:cNvSpPr/>
          <p:nvPr/>
        </p:nvSpPr>
        <p:spPr>
          <a:xfrm>
            <a:off x="859536" y="486460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86460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How good is a policy, and how expensive is it to find out?</a:t>
            </a:r>
          </a:p>
        </p:txBody>
      </p:sp>
      <p:sp>
        <p:nvSpPr>
          <p:cNvPr id="9" name="Rectangle 8"/>
          <p:cNvSpPr/>
          <p:nvPr/>
        </p:nvSpPr>
        <p:spPr>
          <a:xfrm>
            <a:off x="7424928" y="2084831"/>
            <a:ext cx="10972" cy="292608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292608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environment</a:t>
            </a:r>
          </a:p>
          <a:p>
            <a:pPr marL="0" indent="0" algn="l">
              <a:lnSpc>
                <a:spcPts val="1378"/>
              </a:lnSpc>
              <a:spcBef>
                <a:spcPts val="1400"/>
              </a:spcBef>
              <a:spcAft>
                <a:spcPts val="0"/>
              </a:spcAft>
              <a:buNone/>
            </a:pPr>
            <a:r>
              <a:rPr sz="1188" b="1" i="0">
                <a:solidFill>
                  <a:srgbClr val="B2A7C4"/>
                </a:solidFill>
                <a:latin typeface="Fira Sans"/>
              </a:rPr>
              <a:t>02   </a:t>
            </a:r>
            <a:r>
              <a:rPr sz="1188" b="0" i="0">
                <a:solidFill>
                  <a:srgbClr val="FFFFFF"/>
                </a:solidFill>
                <a:latin typeface="Fira Sans"/>
              </a:rPr>
              <a:t>The dynamics as a table</a:t>
            </a:r>
          </a:p>
          <a:p>
            <a:pPr marL="0" indent="0" algn="l">
              <a:lnSpc>
                <a:spcPts val="1378"/>
              </a:lnSpc>
              <a:spcBef>
                <a:spcPts val="1400"/>
              </a:spcBef>
              <a:spcAft>
                <a:spcPts val="0"/>
              </a:spcAft>
              <a:buNone/>
            </a:pPr>
            <a:r>
              <a:rPr sz="1188" b="1" i="0">
                <a:solidFill>
                  <a:srgbClr val="B2A7C4"/>
                </a:solidFill>
                <a:latin typeface="Fira Sans"/>
              </a:rPr>
              <a:t>03   </a:t>
            </a:r>
            <a:r>
              <a:rPr sz="1188" b="0" i="0">
                <a:solidFill>
                  <a:srgbClr val="FFFFFF"/>
                </a:solidFill>
                <a:latin typeface="Fira Sans"/>
              </a:rPr>
              <a:t>Gymnasium</a:t>
            </a:r>
          </a:p>
          <a:p>
            <a:pPr marL="0" indent="0" algn="l">
              <a:lnSpc>
                <a:spcPts val="1378"/>
              </a:lnSpc>
              <a:spcBef>
                <a:spcPts val="1400"/>
              </a:spcBef>
              <a:spcAft>
                <a:spcPts val="0"/>
              </a:spcAft>
              <a:buNone/>
            </a:pPr>
            <a:r>
              <a:rPr sz="1188" b="1" i="0">
                <a:solidFill>
                  <a:srgbClr val="B2A7C4"/>
                </a:solidFill>
                <a:latin typeface="Fira Sans"/>
              </a:rPr>
              <a:t>04   </a:t>
            </a:r>
            <a:r>
              <a:rPr sz="1188" b="0" i="0">
                <a:solidFill>
                  <a:srgbClr val="FFFFFF"/>
                </a:solidFill>
                <a:latin typeface="Fira Sans"/>
              </a:rPr>
              <a:t>A plan that fails</a:t>
            </a:r>
          </a:p>
          <a:p>
            <a:pPr marL="0" indent="0" algn="l">
              <a:lnSpc>
                <a:spcPts val="1378"/>
              </a:lnSpc>
              <a:spcBef>
                <a:spcPts val="1400"/>
              </a:spcBef>
              <a:spcAft>
                <a:spcPts val="0"/>
              </a:spcAft>
              <a:buNone/>
            </a:pPr>
            <a:r>
              <a:rPr sz="1188" b="1" i="0">
                <a:solidFill>
                  <a:srgbClr val="B2A7C4"/>
                </a:solidFill>
                <a:latin typeface="Fira Sans"/>
              </a:rPr>
              <a:t>05   </a:t>
            </a:r>
            <a:r>
              <a:rPr sz="1188" b="0" i="0">
                <a:solidFill>
                  <a:srgbClr val="FFFFFF"/>
                </a:solidFill>
                <a:latin typeface="Fira Sans"/>
              </a:rPr>
              <a:t>Comparing two policies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6.1  THE FROZEN LAKE ENVIRONMENT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Every object defined in this chapter, on one 4 × 4 grid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VI — Case study: Frozen Lake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33</a:t>
            </a:r>
          </a:p>
        </p:txBody>
      </p:sp>
      <p:sp>
        <p:nvSpPr>
          <p:cNvPr id="8" name="TextBox 7"/>
          <p:cNvSpPr txBox="1"/>
          <p:nvPr/>
        </p:nvSpPr>
        <p:spPr>
          <a:xfrm>
            <a:off x="841248" y="1316736"/>
            <a:ext cx="621792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Frozen Lake is a grid-world environment: the agent must move from a starting cell to a goal cell while avoiding four holes. The surface is slippery, so actions do not always have their intended effect.</a:t>
            </a:r>
          </a:p>
        </p:txBody>
      </p:sp>
      <p:pic>
        <p:nvPicPr>
          <p:cNvPr id="9" name="Picture 8" descr="frozen_lake.png"/>
          <p:cNvPicPr>
            <a:picLocks noChangeAspect="1"/>
          </p:cNvPicPr>
          <p:nvPr/>
        </p:nvPicPr>
        <p:blipFill>
          <a:blip r:embed="rId2"/>
          <a:stretch>
            <a:fillRect/>
          </a:stretch>
        </p:blipFill>
        <p:spPr>
          <a:xfrm>
            <a:off x="373162" y="2454707"/>
            <a:ext cx="6774037" cy="3086557"/>
          </a:xfrm>
          <a:prstGeom prst="rect">
            <a:avLst/>
          </a:prstGeom>
        </p:spPr>
      </p:pic>
      <p:sp>
        <p:nvSpPr>
          <p:cNvPr id="10" name="TextBox 9"/>
          <p:cNvSpPr txBox="1"/>
          <p:nvPr/>
        </p:nvSpPr>
        <p:spPr>
          <a:xfrm>
            <a:off x="7662672" y="1335024"/>
            <a:ext cx="3688049"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State space</a:t>
            </a:r>
          </a:p>
          <a:p>
            <a:pPr marL="0" indent="0" algn="l">
              <a:lnSpc>
                <a:spcPts val="1233"/>
              </a:lnSpc>
              <a:spcBef>
                <a:spcPts val="400"/>
              </a:spcBef>
              <a:spcAft>
                <a:spcPts val="0"/>
              </a:spcAft>
              <a:buNone/>
            </a:pPr>
            <a:r>
              <a:rPr sz="1045" b="0" i="0">
                <a:solidFill>
                  <a:srgbClr val="626669"/>
                </a:solidFill>
                <a:latin typeface="Fira Sans"/>
              </a:rPr>
              <a:t>16 cells, numbered 0–15 left to right and top to bottom. The state is one discrete variable: which cell the agent occupies.</a:t>
            </a:r>
          </a:p>
        </p:txBody>
      </p:sp>
      <p:sp>
        <p:nvSpPr>
          <p:cNvPr id="11" name="Rectangle 10"/>
          <p:cNvSpPr/>
          <p:nvPr/>
        </p:nvSpPr>
        <p:spPr>
          <a:xfrm>
            <a:off x="7443216" y="1335024"/>
            <a:ext cx="36576" cy="534847"/>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7662672" y="2043607"/>
            <a:ext cx="3688049" cy="414820"/>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Action space</a:t>
            </a:r>
          </a:p>
          <a:p>
            <a:pPr marL="0" indent="0" algn="l">
              <a:lnSpc>
                <a:spcPts val="1233"/>
              </a:lnSpc>
              <a:spcBef>
                <a:spcPts val="400"/>
              </a:spcBef>
              <a:spcAft>
                <a:spcPts val="0"/>
              </a:spcAft>
              <a:buNone/>
            </a:pPr>
            <a:r>
              <a:rPr sz="1045" b="0" i="0">
                <a:solidFill>
                  <a:srgbClr val="626669"/>
                </a:solidFill>
                <a:latin typeface="Fira Sans"/>
              </a:rPr>
              <a:t>Four actions in every state: Left, Down, Right, Up.</a:t>
            </a:r>
          </a:p>
        </p:txBody>
      </p:sp>
      <p:sp>
        <p:nvSpPr>
          <p:cNvPr id="13" name="Rectangle 12"/>
          <p:cNvSpPr/>
          <p:nvPr/>
        </p:nvSpPr>
        <p:spPr>
          <a:xfrm>
            <a:off x="7443216" y="2043607"/>
            <a:ext cx="36576" cy="37824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662672" y="2595587"/>
            <a:ext cx="3688049"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dirty="0">
                <a:solidFill>
                  <a:srgbClr val="25282A"/>
                </a:solidFill>
                <a:latin typeface="Fira Sans"/>
              </a:rPr>
              <a:t>Initial state</a:t>
            </a:r>
          </a:p>
          <a:p>
            <a:pPr marL="0" indent="0" algn="l">
              <a:lnSpc>
                <a:spcPts val="1233"/>
              </a:lnSpc>
              <a:spcBef>
                <a:spcPts val="400"/>
              </a:spcBef>
              <a:spcAft>
                <a:spcPts val="0"/>
              </a:spcAft>
              <a:buNone/>
            </a:pPr>
            <a:r>
              <a:rPr sz="1045" b="0" i="0" dirty="0">
                <a:solidFill>
                  <a:srgbClr val="626669"/>
                </a:solidFill>
                <a:latin typeface="Fira Sans"/>
              </a:rPr>
              <a:t>A single one</a:t>
            </a:r>
            <a:r>
              <a:rPr lang="it-IT" sz="1045" b="0" i="0" dirty="0">
                <a:solidFill>
                  <a:srgbClr val="626669"/>
                </a:solidFill>
                <a:latin typeface="Fira Sans"/>
              </a:rPr>
              <a:t>:</a:t>
            </a:r>
            <a:r>
              <a:rPr sz="1045" b="0" i="0" dirty="0">
                <a:solidFill>
                  <a:srgbClr val="626669"/>
                </a:solidFill>
                <a:latin typeface="Fira Sans"/>
              </a:rPr>
              <a:t> state 0, the top-left cell. Every episode starts there.</a:t>
            </a:r>
          </a:p>
        </p:txBody>
      </p:sp>
      <p:sp>
        <p:nvSpPr>
          <p:cNvPr id="15" name="Rectangle 14"/>
          <p:cNvSpPr/>
          <p:nvPr/>
        </p:nvSpPr>
        <p:spPr>
          <a:xfrm>
            <a:off x="7443216" y="2595587"/>
            <a:ext cx="36576" cy="534847"/>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662672" y="3304171"/>
            <a:ext cx="3688049"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Terminal states</a:t>
            </a:r>
          </a:p>
          <a:p>
            <a:pPr marL="0" indent="0" algn="l">
              <a:lnSpc>
                <a:spcPts val="1233"/>
              </a:lnSpc>
              <a:spcBef>
                <a:spcPts val="400"/>
              </a:spcBef>
              <a:spcAft>
                <a:spcPts val="0"/>
              </a:spcAft>
              <a:buNone/>
            </a:pPr>
            <a:r>
              <a:rPr sz="1045" b="0" i="0">
                <a:solidFill>
                  <a:srgbClr val="626669"/>
                </a:solidFill>
                <a:latin typeface="Fira Sans"/>
              </a:rPr>
              <a:t>Five: the four holes (5, 7, 11, 12) and the goal (15). Entering one ends the episode immediately.</a:t>
            </a:r>
          </a:p>
        </p:txBody>
      </p:sp>
      <p:sp>
        <p:nvSpPr>
          <p:cNvPr id="17" name="Rectangle 16"/>
          <p:cNvSpPr/>
          <p:nvPr/>
        </p:nvSpPr>
        <p:spPr>
          <a:xfrm>
            <a:off x="7443216" y="3304171"/>
            <a:ext cx="36576" cy="534847"/>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662672" y="4012755"/>
            <a:ext cx="3688049"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Boundary</a:t>
            </a:r>
          </a:p>
          <a:p>
            <a:pPr marL="0" indent="0" algn="l">
              <a:lnSpc>
                <a:spcPts val="1233"/>
              </a:lnSpc>
              <a:spcBef>
                <a:spcPts val="400"/>
              </a:spcBef>
              <a:spcAft>
                <a:spcPts val="0"/>
              </a:spcAft>
              <a:buNone/>
            </a:pPr>
            <a:r>
              <a:rPr sz="1045" b="0" i="0">
                <a:solidFill>
                  <a:srgbClr val="626669"/>
                </a:solidFill>
                <a:latin typeface="Fira Sans"/>
              </a:rPr>
              <a:t>A movement that would leave the grid leaves the agent where it is.</a:t>
            </a:r>
          </a:p>
        </p:txBody>
      </p:sp>
      <p:sp>
        <p:nvSpPr>
          <p:cNvPr id="19" name="Rectangle 18"/>
          <p:cNvSpPr/>
          <p:nvPr/>
        </p:nvSpPr>
        <p:spPr>
          <a:xfrm>
            <a:off x="7443216" y="4012755"/>
            <a:ext cx="36576" cy="534847"/>
          </a:xfrm>
          <a:prstGeom prst="rect">
            <a:avLst/>
          </a:prstGeom>
          <a:solidFill>
            <a:srgbClr val="626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eq_fl_spaces.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443216" y="4757915"/>
            <a:ext cx="2246503" cy="301625"/>
          </a:xfrm>
          <a:prstGeom prst="rect">
            <a:avLst/>
          </a:prstGeom>
        </p:spPr>
      </p:pic>
      <p:pic>
        <p:nvPicPr>
          <p:cNvPr id="21" name="Picture 20" descr="eq_fl_rewar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3216" y="5242420"/>
            <a:ext cx="3426460" cy="798702"/>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6.2  SLIPPERY ICE IS A STOCHASTIC TRANSITION FUNCTION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action leads to three different states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VI — Case study: Frozen Lake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34</a:t>
            </a:r>
          </a:p>
        </p:txBody>
      </p:sp>
      <p:sp>
        <p:nvSpPr>
          <p:cNvPr id="8" name="TextBox 7"/>
          <p:cNvSpPr txBox="1"/>
          <p:nvPr/>
        </p:nvSpPr>
        <p:spPr>
          <a:xfrm>
            <a:off x="841248" y="1316736"/>
            <a:ext cx="544068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When the agent selects a direction it moves that way with probability 1/3, and with probability 1/3 in each of the two orthogonal directions. The probability of the intended next state is therefore never 1.</a:t>
            </a:r>
          </a:p>
        </p:txBody>
      </p:sp>
      <p:pic>
        <p:nvPicPr>
          <p:cNvPr id="9" name="Picture 8" descr="eq_fl_slip.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41248" y="2088398"/>
            <a:ext cx="5440680" cy="229865"/>
          </a:xfrm>
          <a:prstGeom prst="rect">
            <a:avLst/>
          </a:prstGeom>
        </p:spPr>
      </p:pic>
      <p:pic>
        <p:nvPicPr>
          <p:cNvPr id="10" name="Picture 9" descr="fl_graph.png"/>
          <p:cNvPicPr>
            <a:picLocks noChangeAspect="1"/>
          </p:cNvPicPr>
          <p:nvPr/>
        </p:nvPicPr>
        <p:blipFill>
          <a:blip r:embed="rId3"/>
          <a:stretch>
            <a:fillRect/>
          </a:stretch>
        </p:blipFill>
        <p:spPr>
          <a:xfrm>
            <a:off x="6428232" y="1458342"/>
            <a:ext cx="5701774" cy="4480777"/>
          </a:xfrm>
          <a:prstGeom prst="rect">
            <a:avLst/>
          </a:prstGeom>
        </p:spPr>
      </p:pic>
      <p:sp>
        <p:nvSpPr>
          <p:cNvPr id="11" name="TextBox 10"/>
          <p:cNvSpPr txBox="1"/>
          <p:nvPr/>
        </p:nvSpPr>
        <p:spPr>
          <a:xfrm>
            <a:off x="841248" y="2556007"/>
            <a:ext cx="5440680" cy="630694"/>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dirty="0">
                <a:solidFill>
                  <a:srgbClr val="25282A"/>
                </a:solidFill>
                <a:latin typeface="Fira Sans"/>
              </a:rPr>
              <a:t>Read the graph as the MDP itself</a:t>
            </a:r>
          </a:p>
          <a:p>
            <a:pPr marL="0" indent="0" algn="l">
              <a:lnSpc>
                <a:spcPts val="1310"/>
              </a:lnSpc>
              <a:spcBef>
                <a:spcPts val="600"/>
              </a:spcBef>
              <a:spcAft>
                <a:spcPts val="0"/>
              </a:spcAft>
              <a:buNone/>
            </a:pPr>
            <a:r>
              <a:rPr sz="1092" b="0" i="0" dirty="0">
                <a:solidFill>
                  <a:srgbClr val="333639"/>
                </a:solidFill>
                <a:latin typeface="Fira Sans"/>
              </a:rPr>
              <a:t>Each circle is a state, each arrow a possible transition, each label a probability. This is the dynamics function p(s′ | s, a) drawn out.</a:t>
            </a:r>
          </a:p>
        </p:txBody>
      </p:sp>
      <p:sp>
        <p:nvSpPr>
          <p:cNvPr id="12" name="TextBox 11"/>
          <p:cNvSpPr txBox="1"/>
          <p:nvPr/>
        </p:nvSpPr>
        <p:spPr>
          <a:xfrm>
            <a:off x="1060704" y="3424445"/>
            <a:ext cx="5221224"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Corners are special</a:t>
            </a:r>
          </a:p>
          <a:p>
            <a:pPr marL="0" indent="0" algn="l">
              <a:lnSpc>
                <a:spcPts val="1233"/>
              </a:lnSpc>
              <a:spcBef>
                <a:spcPts val="400"/>
              </a:spcBef>
              <a:spcAft>
                <a:spcPts val="0"/>
              </a:spcAft>
              <a:buNone/>
            </a:pPr>
            <a:r>
              <a:rPr sz="1045" b="0" i="0">
                <a:solidFill>
                  <a:srgbClr val="626669"/>
                </a:solidFill>
                <a:latin typeface="Fira Sans"/>
              </a:rPr>
              <a:t>A movement into a wall returns the agent to its own cell, so two of the three outcomes can coincide and the probability becomes 2/3.</a:t>
            </a:r>
          </a:p>
        </p:txBody>
      </p:sp>
      <p:sp>
        <p:nvSpPr>
          <p:cNvPr id="13" name="Rectangle 12"/>
          <p:cNvSpPr/>
          <p:nvPr/>
        </p:nvSpPr>
        <p:spPr>
          <a:xfrm>
            <a:off x="841248" y="3424445"/>
            <a:ext cx="36576" cy="534847"/>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060704" y="4160461"/>
            <a:ext cx="5221224"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dirty="0">
                <a:solidFill>
                  <a:srgbClr val="25282A"/>
                </a:solidFill>
                <a:latin typeface="Fira Sans"/>
              </a:rPr>
              <a:t>Terminal states self-loop</a:t>
            </a:r>
          </a:p>
          <a:p>
            <a:pPr marL="0" indent="0" algn="l">
              <a:lnSpc>
                <a:spcPts val="1233"/>
              </a:lnSpc>
              <a:spcBef>
                <a:spcPts val="400"/>
              </a:spcBef>
              <a:spcAft>
                <a:spcPts val="0"/>
              </a:spcAft>
              <a:buNone/>
            </a:pPr>
            <a:r>
              <a:rPr sz="1045" b="0" i="0" dirty="0">
                <a:solidFill>
                  <a:srgbClr val="626669"/>
                </a:solidFill>
                <a:latin typeface="Fira Sans"/>
              </a:rPr>
              <a:t>Every action from a hole or the goal transitions back to itself with probability 1</a:t>
            </a:r>
            <a:r>
              <a:rPr lang="it-IT" sz="1045" b="0" i="0" dirty="0">
                <a:solidFill>
                  <a:srgbClr val="626669"/>
                </a:solidFill>
                <a:latin typeface="Fira Sans"/>
              </a:rPr>
              <a:t>, </a:t>
            </a:r>
            <a:r>
              <a:rPr sz="1045" b="0" i="0" dirty="0">
                <a:solidFill>
                  <a:srgbClr val="626669"/>
                </a:solidFill>
                <a:latin typeface="Fira Sans"/>
              </a:rPr>
              <a:t>the standard way to make a terminal state absorbing.</a:t>
            </a:r>
          </a:p>
        </p:txBody>
      </p:sp>
      <p:sp>
        <p:nvSpPr>
          <p:cNvPr id="15" name="Rectangle 14"/>
          <p:cNvSpPr/>
          <p:nvPr/>
        </p:nvSpPr>
        <p:spPr>
          <a:xfrm>
            <a:off x="841248" y="4160461"/>
            <a:ext cx="36576" cy="534847"/>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1060704" y="4896477"/>
            <a:ext cx="5221224" cy="571423"/>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1" i="0">
                <a:solidFill>
                  <a:srgbClr val="25282A"/>
                </a:solidFill>
                <a:latin typeface="Fira Sans"/>
              </a:rPr>
              <a:t>The environment is highly stochastic</a:t>
            </a:r>
          </a:p>
          <a:p>
            <a:pPr marL="0" indent="0" algn="l">
              <a:lnSpc>
                <a:spcPts val="1233"/>
              </a:lnSpc>
              <a:spcBef>
                <a:spcPts val="400"/>
              </a:spcBef>
              <a:spcAft>
                <a:spcPts val="0"/>
              </a:spcAft>
              <a:buNone/>
            </a:pPr>
            <a:r>
              <a:rPr sz="1045" b="0" i="0">
                <a:solidFill>
                  <a:srgbClr val="626669"/>
                </a:solidFill>
                <a:latin typeface="Fira Sans"/>
              </a:rPr>
              <a:t>With two thirds of the probability mass going somewhere unintended, a plan has almost no chance of surviving four steps.</a:t>
            </a:r>
          </a:p>
        </p:txBody>
      </p:sp>
      <p:sp>
        <p:nvSpPr>
          <p:cNvPr id="17" name="Rectangle 16"/>
          <p:cNvSpPr/>
          <p:nvPr/>
        </p:nvSpPr>
        <p:spPr>
          <a:xfrm>
            <a:off x="841248" y="4896477"/>
            <a:ext cx="36576" cy="534847"/>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6.3  THE DYNAMICS, WRITTEN OUT</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p(s′, r | s, a) as a Python dictionary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VI — Case study: Frozen Lake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35</a:t>
            </a:r>
          </a:p>
        </p:txBody>
      </p:sp>
      <p:sp>
        <p:nvSpPr>
          <p:cNvPr id="8" name="TextBox 7"/>
          <p:cNvSpPr txBox="1"/>
          <p:nvPr/>
        </p:nvSpPr>
        <p:spPr>
          <a:xfrm>
            <a:off x="841248" y="1316736"/>
            <a:ext cx="630936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Because the state and action spaces are small and discrete, the whole dynamics function can simply be tabulated. Gymnasium exposes it as a nested dictionary.</a:t>
            </a:r>
          </a:p>
        </p:txBody>
      </p:sp>
      <p:sp>
        <p:nvSpPr>
          <p:cNvPr id="9" name="Rectangle 8"/>
          <p:cNvSpPr/>
          <p:nvPr/>
        </p:nvSpPr>
        <p:spPr>
          <a:xfrm>
            <a:off x="841248" y="1904329"/>
            <a:ext cx="6309360" cy="3456660"/>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1904329"/>
            <a:ext cx="41148" cy="3456660"/>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24128" y="1986625"/>
            <a:ext cx="594360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THE COMPLETE ENVIRONMENT MODEL</a:t>
            </a:r>
          </a:p>
        </p:txBody>
      </p:sp>
      <p:sp>
        <p:nvSpPr>
          <p:cNvPr id="12" name="TextBox 11"/>
          <p:cNvSpPr txBox="1"/>
          <p:nvPr/>
        </p:nvSpPr>
        <p:spPr>
          <a:xfrm>
            <a:off x="1024128" y="2288377"/>
            <a:ext cx="5998464" cy="2999460"/>
          </a:xfrm>
          <a:prstGeom prst="rect">
            <a:avLst/>
          </a:prstGeom>
          <a:noFill/>
        </p:spPr>
        <p:txBody>
          <a:bodyPr wrap="none" lIns="0" tIns="0" rIns="0" bIns="0" anchor="t">
            <a:noAutofit/>
          </a:bodyPr>
          <a:lstStyle/>
          <a:p>
            <a:pPr marL="0" indent="0" algn="l">
              <a:lnSpc>
                <a:spcPts val="1296"/>
              </a:lnSpc>
              <a:spcBef>
                <a:spcPts val="0"/>
              </a:spcBef>
              <a:spcAft>
                <a:spcPts val="0"/>
              </a:spcAft>
              <a:buNone/>
            </a:pPr>
            <a:r>
              <a:rPr sz="997" b="0" i="0">
                <a:solidFill>
                  <a:srgbClr val="1F2A37"/>
                </a:solidFill>
                <a:latin typeface="Consolas"/>
              </a:rPr>
              <a:t>P = {</a:t>
            </a:r>
          </a:p>
          <a:p>
            <a:pPr marL="0" indent="0" algn="l">
              <a:lnSpc>
                <a:spcPts val="1296"/>
              </a:lnSpc>
              <a:spcBef>
                <a:spcPts val="0"/>
              </a:spcBef>
              <a:spcAft>
                <a:spcPts val="0"/>
              </a:spcAft>
              <a:buNone/>
            </a:pPr>
            <a:r>
              <a:rPr sz="997" b="0" i="0">
                <a:solidFill>
                  <a:srgbClr val="1F2A37"/>
                </a:solidFill>
                <a:latin typeface="Consolas"/>
              </a:rPr>
              <a:t>  0: {                     </a:t>
            </a:r>
            <a:r>
              <a:rPr sz="997" b="0" i="1">
                <a:solidFill>
                  <a:srgbClr val="768896"/>
                </a:solidFill>
                <a:latin typeface="Consolas"/>
              </a:rPr>
              <a:t># state 0</a:t>
            </a:r>
          </a:p>
          <a:p>
            <a:pPr marL="0" indent="0" algn="l">
              <a:lnSpc>
                <a:spcPts val="1296"/>
              </a:lnSpc>
              <a:spcBef>
                <a:spcPts val="0"/>
              </a:spcBef>
              <a:spcAft>
                <a:spcPts val="0"/>
              </a:spcAft>
              <a:buNone/>
            </a:pPr>
            <a:r>
              <a:rPr sz="997" b="1" i="0">
                <a:solidFill>
                  <a:srgbClr val="574676"/>
                </a:solidFill>
                <a:latin typeface="Consolas"/>
              </a:rPr>
              <a:t>     0: [(0.667, 0, 0.0, False),      </a:t>
            </a:r>
            <a:r>
              <a:rPr sz="997" b="0" i="1">
                <a:solidFill>
                  <a:srgbClr val="768896"/>
                </a:solidFill>
                <a:latin typeface="Consolas"/>
              </a:rPr>
              <a:t># action LEFT</a:t>
            </a:r>
          </a:p>
          <a:p>
            <a:pPr marL="0" indent="0" algn="l">
              <a:lnSpc>
                <a:spcPts val="1296"/>
              </a:lnSpc>
              <a:spcBef>
                <a:spcPts val="0"/>
              </a:spcBef>
              <a:spcAft>
                <a:spcPts val="0"/>
              </a:spcAft>
              <a:buNone/>
            </a:pPr>
            <a:r>
              <a:rPr sz="997" b="0" i="0">
                <a:solidFill>
                  <a:srgbClr val="1F2A37"/>
                </a:solidFill>
                <a:latin typeface="Consolas"/>
              </a:rPr>
              <a:t>         (0.333, 4, 0.0, False)],</a:t>
            </a:r>
          </a:p>
          <a:p>
            <a:pPr marL="0" indent="0" algn="l">
              <a:lnSpc>
                <a:spcPts val="1296"/>
              </a:lnSpc>
              <a:spcBef>
                <a:spcPts val="0"/>
              </a:spcBef>
              <a:spcAft>
                <a:spcPts val="0"/>
              </a:spcAft>
              <a:buNone/>
            </a:pPr>
            <a:r>
              <a:rPr sz="997" b="0" i="0">
                <a:solidFill>
                  <a:srgbClr val="333639"/>
                </a:solidFill>
                <a:latin typeface="Consolas"/>
              </a:rPr>
              <a:t> </a:t>
            </a:r>
          </a:p>
          <a:p>
            <a:pPr marL="0" indent="0" algn="l">
              <a:lnSpc>
                <a:spcPts val="1296"/>
              </a:lnSpc>
              <a:spcBef>
                <a:spcPts val="0"/>
              </a:spcBef>
              <a:spcAft>
                <a:spcPts val="0"/>
              </a:spcAft>
              <a:buNone/>
            </a:pPr>
            <a:r>
              <a:rPr sz="997" b="1" i="0">
                <a:solidFill>
                  <a:srgbClr val="574676"/>
                </a:solidFill>
                <a:latin typeface="Consolas"/>
              </a:rPr>
              <a:t>     1: [(0.333, 0, 0.0, False),      </a:t>
            </a:r>
            <a:r>
              <a:rPr sz="997" b="0" i="1">
                <a:solidFill>
                  <a:srgbClr val="768896"/>
                </a:solidFill>
                <a:latin typeface="Consolas"/>
              </a:rPr>
              <a:t># action DOWN</a:t>
            </a:r>
          </a:p>
          <a:p>
            <a:pPr marL="0" indent="0" algn="l">
              <a:lnSpc>
                <a:spcPts val="1296"/>
              </a:lnSpc>
              <a:spcBef>
                <a:spcPts val="0"/>
              </a:spcBef>
              <a:spcAft>
                <a:spcPts val="0"/>
              </a:spcAft>
              <a:buNone/>
            </a:pPr>
            <a:r>
              <a:rPr sz="997" b="0" i="0">
                <a:solidFill>
                  <a:srgbClr val="1F2A37"/>
                </a:solidFill>
                <a:latin typeface="Consolas"/>
              </a:rPr>
              <a:t>         (0.333, 4, 0.0, False),</a:t>
            </a:r>
          </a:p>
          <a:p>
            <a:pPr marL="0" indent="0" algn="l">
              <a:lnSpc>
                <a:spcPts val="1296"/>
              </a:lnSpc>
              <a:spcBef>
                <a:spcPts val="0"/>
              </a:spcBef>
              <a:spcAft>
                <a:spcPts val="0"/>
              </a:spcAft>
              <a:buNone/>
            </a:pPr>
            <a:r>
              <a:rPr sz="997" b="0" i="0">
                <a:solidFill>
                  <a:srgbClr val="1F2A37"/>
                </a:solidFill>
                <a:latin typeface="Consolas"/>
              </a:rPr>
              <a:t>         (0.333, 1, 0.0, False)],</a:t>
            </a:r>
          </a:p>
          <a:p>
            <a:pPr marL="0" indent="0" algn="l">
              <a:lnSpc>
                <a:spcPts val="1296"/>
              </a:lnSpc>
              <a:spcBef>
                <a:spcPts val="0"/>
              </a:spcBef>
              <a:spcAft>
                <a:spcPts val="0"/>
              </a:spcAft>
              <a:buNone/>
            </a:pPr>
            <a:r>
              <a:rPr sz="997" b="0" i="0">
                <a:solidFill>
                  <a:srgbClr val="1F2A37"/>
                </a:solidFill>
                <a:latin typeface="Consolas"/>
              </a:rPr>
              <a:t>     ...</a:t>
            </a:r>
          </a:p>
          <a:p>
            <a:pPr marL="0" indent="0" algn="l">
              <a:lnSpc>
                <a:spcPts val="1296"/>
              </a:lnSpc>
              <a:spcBef>
                <a:spcPts val="0"/>
              </a:spcBef>
              <a:spcAft>
                <a:spcPts val="0"/>
              </a:spcAft>
              <a:buNone/>
            </a:pPr>
            <a:r>
              <a:rPr sz="997" b="0" i="0">
                <a:solidFill>
                  <a:srgbClr val="1F2A37"/>
                </a:solidFill>
                <a:latin typeface="Consolas"/>
              </a:rPr>
              <a:t>  },</a:t>
            </a:r>
          </a:p>
          <a:p>
            <a:pPr marL="0" indent="0" algn="l">
              <a:lnSpc>
                <a:spcPts val="1296"/>
              </a:lnSpc>
              <a:spcBef>
                <a:spcPts val="0"/>
              </a:spcBef>
              <a:spcAft>
                <a:spcPts val="0"/>
              </a:spcAft>
              <a:buNone/>
            </a:pPr>
            <a:r>
              <a:rPr sz="997" b="0" i="0">
                <a:solidFill>
                  <a:srgbClr val="1F2A37"/>
                </a:solidFill>
                <a:latin typeface="Consolas"/>
              </a:rPr>
              <a:t>  1: {</a:t>
            </a:r>
          </a:p>
          <a:p>
            <a:pPr marL="0" indent="0" algn="l">
              <a:lnSpc>
                <a:spcPts val="1296"/>
              </a:lnSpc>
              <a:spcBef>
                <a:spcPts val="0"/>
              </a:spcBef>
              <a:spcAft>
                <a:spcPts val="0"/>
              </a:spcAft>
              <a:buNone/>
            </a:pPr>
            <a:r>
              <a:rPr sz="997" b="0" i="0">
                <a:solidFill>
                  <a:srgbClr val="1F2A37"/>
                </a:solidFill>
                <a:latin typeface="Consolas"/>
              </a:rPr>
              <a:t>     0: [(0.333, 1, 0.0, False),</a:t>
            </a:r>
          </a:p>
          <a:p>
            <a:pPr marL="0" indent="0" algn="l">
              <a:lnSpc>
                <a:spcPts val="1296"/>
              </a:lnSpc>
              <a:spcBef>
                <a:spcPts val="0"/>
              </a:spcBef>
              <a:spcAft>
                <a:spcPts val="0"/>
              </a:spcAft>
              <a:buNone/>
            </a:pPr>
            <a:r>
              <a:rPr sz="997" b="1" i="0">
                <a:solidFill>
                  <a:srgbClr val="574676"/>
                </a:solidFill>
                <a:latin typeface="Consolas"/>
              </a:rPr>
              <a:t>         (0.333, 0, 0.0, False),</a:t>
            </a:r>
          </a:p>
          <a:p>
            <a:pPr marL="0" indent="0" algn="l">
              <a:lnSpc>
                <a:spcPts val="1296"/>
              </a:lnSpc>
              <a:spcBef>
                <a:spcPts val="0"/>
              </a:spcBef>
              <a:spcAft>
                <a:spcPts val="0"/>
              </a:spcAft>
              <a:buNone/>
            </a:pPr>
            <a:r>
              <a:rPr sz="997" b="0" i="0">
                <a:solidFill>
                  <a:srgbClr val="1F2A37"/>
                </a:solidFill>
                <a:latin typeface="Consolas"/>
              </a:rPr>
              <a:t>         (0.333, 5, 0.0, True)],      </a:t>
            </a:r>
            <a:r>
              <a:rPr sz="997" b="0" i="1">
                <a:solidFill>
                  <a:srgbClr val="768896"/>
                </a:solidFill>
                <a:latin typeface="Consolas"/>
              </a:rPr>
              <a:t># 5 is a hole</a:t>
            </a:r>
          </a:p>
          <a:p>
            <a:pPr marL="0" indent="0" algn="l">
              <a:lnSpc>
                <a:spcPts val="1296"/>
              </a:lnSpc>
              <a:spcBef>
                <a:spcPts val="0"/>
              </a:spcBef>
              <a:spcAft>
                <a:spcPts val="0"/>
              </a:spcAft>
              <a:buNone/>
            </a:pPr>
            <a:r>
              <a:rPr sz="997" b="0" i="0">
                <a:solidFill>
                  <a:srgbClr val="1F2A37"/>
                </a:solidFill>
                <a:latin typeface="Consolas"/>
              </a:rPr>
              <a:t>     ...</a:t>
            </a:r>
          </a:p>
          <a:p>
            <a:pPr marL="0" indent="0" algn="l">
              <a:lnSpc>
                <a:spcPts val="1296"/>
              </a:lnSpc>
              <a:spcBef>
                <a:spcPts val="0"/>
              </a:spcBef>
              <a:spcAft>
                <a:spcPts val="0"/>
              </a:spcAft>
              <a:buNone/>
            </a:pPr>
            <a:r>
              <a:rPr sz="997" b="0" i="0">
                <a:solidFill>
                  <a:srgbClr val="1F2A37"/>
                </a:solidFill>
                <a:latin typeface="Consolas"/>
              </a:rPr>
              <a:t>  },</a:t>
            </a:r>
          </a:p>
          <a:p>
            <a:pPr marL="0" indent="0" algn="l">
              <a:lnSpc>
                <a:spcPts val="1296"/>
              </a:lnSpc>
              <a:spcBef>
                <a:spcPts val="0"/>
              </a:spcBef>
              <a:spcAft>
                <a:spcPts val="0"/>
              </a:spcAft>
              <a:buNone/>
            </a:pPr>
            <a:r>
              <a:rPr sz="997" b="0" i="0">
                <a:solidFill>
                  <a:srgbClr val="1F2A37"/>
                </a:solidFill>
                <a:latin typeface="Consolas"/>
              </a:rPr>
              <a:t>  ...                      </a:t>
            </a:r>
            <a:r>
              <a:rPr sz="997" b="0" i="1">
                <a:solidFill>
                  <a:srgbClr val="768896"/>
                </a:solidFill>
                <a:latin typeface="Consolas"/>
              </a:rPr>
              <a:t># states 2 to 15</a:t>
            </a:r>
          </a:p>
          <a:p>
            <a:pPr marL="0" indent="0" algn="l">
              <a:lnSpc>
                <a:spcPts val="1296"/>
              </a:lnSpc>
              <a:spcBef>
                <a:spcPts val="0"/>
              </a:spcBef>
              <a:spcAft>
                <a:spcPts val="0"/>
              </a:spcAft>
              <a:buNone/>
            </a:pPr>
            <a:r>
              <a:rPr sz="997" b="0" i="0">
                <a:solidFill>
                  <a:srgbClr val="1F2A37"/>
                </a:solidFill>
                <a:latin typeface="Consolas"/>
              </a:rPr>
              <a:t>}</a:t>
            </a:r>
          </a:p>
        </p:txBody>
      </p:sp>
      <p:sp>
        <p:nvSpPr>
          <p:cNvPr id="13" name="TextBox 12"/>
          <p:cNvSpPr txBox="1"/>
          <p:nvPr/>
        </p:nvSpPr>
        <p:spPr>
          <a:xfrm>
            <a:off x="7534656" y="1335024"/>
            <a:ext cx="3816065" cy="264995"/>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574676"/>
                </a:solidFill>
                <a:latin typeface="Fira Sans Medium"/>
              </a:rPr>
              <a:t>READING THE STRUCTURE</a:t>
            </a:r>
          </a:p>
        </p:txBody>
      </p:sp>
      <p:sp>
        <p:nvSpPr>
          <p:cNvPr id="14" name="TextBox 13"/>
          <p:cNvSpPr txBox="1"/>
          <p:nvPr/>
        </p:nvSpPr>
        <p:spPr>
          <a:xfrm>
            <a:off x="7754112" y="1627632"/>
            <a:ext cx="3596609" cy="20022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Outer key</a:t>
            </a:r>
            <a:r>
              <a:rPr sz="1092" b="0" i="0">
                <a:solidFill>
                  <a:srgbClr val="8E9295"/>
                </a:solidFill>
                <a:latin typeface="Fira Sans"/>
              </a:rPr>
              <a:t>  —  </a:t>
            </a:r>
            <a:r>
              <a:rPr sz="1092" b="0" i="0">
                <a:solidFill>
                  <a:srgbClr val="626669"/>
                </a:solidFill>
                <a:latin typeface="Fira Sans"/>
              </a:rPr>
              <a:t>the state s</a:t>
            </a:r>
          </a:p>
        </p:txBody>
      </p:sp>
      <p:sp>
        <p:nvSpPr>
          <p:cNvPr id="15" name="Rectangle 14"/>
          <p:cNvSpPr/>
          <p:nvPr/>
        </p:nvSpPr>
        <p:spPr>
          <a:xfrm>
            <a:off x="7534656" y="1627632"/>
            <a:ext cx="36576" cy="163647"/>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754112" y="1974159"/>
            <a:ext cx="3596609" cy="20022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Inner key</a:t>
            </a:r>
            <a:r>
              <a:rPr sz="1092" b="0" i="0">
                <a:solidFill>
                  <a:srgbClr val="8E9295"/>
                </a:solidFill>
                <a:latin typeface="Fira Sans"/>
              </a:rPr>
              <a:t>  —  </a:t>
            </a:r>
            <a:r>
              <a:rPr sz="1092" b="0" i="0">
                <a:solidFill>
                  <a:srgbClr val="626669"/>
                </a:solidFill>
                <a:latin typeface="Fira Sans"/>
              </a:rPr>
              <a:t>the action a</a:t>
            </a:r>
          </a:p>
        </p:txBody>
      </p:sp>
      <p:sp>
        <p:nvSpPr>
          <p:cNvPr id="17" name="Rectangle 16"/>
          <p:cNvSpPr/>
          <p:nvPr/>
        </p:nvSpPr>
        <p:spPr>
          <a:xfrm>
            <a:off x="7534656" y="1974159"/>
            <a:ext cx="36576" cy="163647"/>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754112" y="2320686"/>
            <a:ext cx="3596609" cy="200223"/>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Value</a:t>
            </a:r>
            <a:r>
              <a:rPr sz="1092" b="0" i="0">
                <a:solidFill>
                  <a:srgbClr val="8E9295"/>
                </a:solidFill>
                <a:latin typeface="Fira Sans"/>
              </a:rPr>
              <a:t>  —  </a:t>
            </a:r>
            <a:r>
              <a:rPr sz="1092" b="0" i="0">
                <a:solidFill>
                  <a:srgbClr val="626669"/>
                </a:solidFill>
                <a:latin typeface="Fira Sans"/>
              </a:rPr>
              <a:t>the list of all possible transitions for that pair</a:t>
            </a:r>
          </a:p>
        </p:txBody>
      </p:sp>
      <p:sp>
        <p:nvSpPr>
          <p:cNvPr id="19" name="Rectangle 18"/>
          <p:cNvSpPr/>
          <p:nvPr/>
        </p:nvSpPr>
        <p:spPr>
          <a:xfrm>
            <a:off x="7534656" y="2320686"/>
            <a:ext cx="36576" cy="163647"/>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754112" y="2667213"/>
            <a:ext cx="3596609" cy="363870"/>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1" i="0">
                <a:solidFill>
                  <a:srgbClr val="25282A"/>
                </a:solidFill>
                <a:latin typeface="Fira Sans"/>
              </a:rPr>
              <a:t>Each tuple</a:t>
            </a:r>
            <a:r>
              <a:rPr sz="1092" b="0" i="0">
                <a:solidFill>
                  <a:srgbClr val="8E9295"/>
                </a:solidFill>
                <a:latin typeface="Fira Sans"/>
              </a:rPr>
              <a:t>  —  </a:t>
            </a:r>
            <a:r>
              <a:rPr sz="1092" b="0" i="0">
                <a:solidFill>
                  <a:srgbClr val="626669"/>
                </a:solidFill>
                <a:latin typeface="Fira Sans"/>
              </a:rPr>
              <a:t>( probability,  next state s′,  reward r,  terminal flag )</a:t>
            </a:r>
          </a:p>
        </p:txBody>
      </p:sp>
      <p:sp>
        <p:nvSpPr>
          <p:cNvPr id="21" name="Rectangle 20"/>
          <p:cNvSpPr/>
          <p:nvPr/>
        </p:nvSpPr>
        <p:spPr>
          <a:xfrm>
            <a:off x="7534656" y="2667213"/>
            <a:ext cx="36576" cy="32729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534656" y="3305403"/>
            <a:ext cx="3816065" cy="1124712"/>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534656" y="3305403"/>
            <a:ext cx="41148" cy="112471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754112" y="3451707"/>
            <a:ext cx="3432017"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four entries of a tuple are exactly the arguments of </a:t>
            </a:r>
            <a:r>
              <a:rPr sz="1092" b="1" i="0" dirty="0">
                <a:solidFill>
                  <a:srgbClr val="333639"/>
                </a:solidFill>
                <a:latin typeface="Fira Sans"/>
              </a:rPr>
              <a:t>p(s′, r | s, a)</a:t>
            </a:r>
            <a:r>
              <a:rPr sz="1092" b="0" i="0" dirty="0">
                <a:solidFill>
                  <a:srgbClr val="333639"/>
                </a:solidFill>
                <a:latin typeface="Fira Sans"/>
              </a:rPr>
              <a:t>: the probability, the next state, the reward, and whether the episode ends there. The abstraction and this dictionary are the same object.</a:t>
            </a:r>
          </a:p>
        </p:txBody>
      </p:sp>
      <p:sp>
        <p:nvSpPr>
          <p:cNvPr id="25" name="TextBox 24"/>
          <p:cNvSpPr txBox="1"/>
          <p:nvPr/>
        </p:nvSpPr>
        <p:spPr>
          <a:xfrm>
            <a:off x="7534656" y="4667859"/>
            <a:ext cx="3816065"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This is only possible because the environment is tiny. For 16 states and 4 actions the table has 64 rows. </a:t>
            </a:r>
            <a:r>
              <a:rPr sz="1092" b="1" i="0" dirty="0">
                <a:solidFill>
                  <a:srgbClr val="C8102E"/>
                </a:solidFill>
                <a:latin typeface="Fira Sans"/>
              </a:rPr>
              <a:t>Nothing of this kind exists for a real problem</a:t>
            </a:r>
            <a:r>
              <a:rPr sz="1092" b="0" i="0" dirty="0">
                <a:solidFill>
                  <a:srgbClr val="333639"/>
                </a:solidFill>
                <a:latin typeface="Fira Sans"/>
              </a:rPr>
              <a:t> which is why most of the course assumes p is unavailable.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6.4  A PLAN DOES NOT SURVIVE THE ICE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unintended outcome and the sequence is worthless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VI — Case study: Frozen Lake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36</a:t>
            </a:r>
          </a:p>
        </p:txBody>
      </p:sp>
      <p:sp>
        <p:nvSpPr>
          <p:cNvPr id="8" name="TextBox 7"/>
          <p:cNvSpPr txBox="1"/>
          <p:nvPr/>
        </p:nvSpPr>
        <p:spPr>
          <a:xfrm>
            <a:off x="841248" y="1316736"/>
            <a:ext cx="672084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Here is a plan: a sequence of actions leading from state 0 to the goal. It shows the intended effect of each action</a:t>
            </a:r>
            <a:r>
              <a:rPr lang="it-IT" sz="1188" b="0" i="0" dirty="0">
                <a:solidFill>
                  <a:srgbClr val="333639"/>
                </a:solidFill>
                <a:latin typeface="Fira Sans"/>
              </a:rPr>
              <a:t>,</a:t>
            </a:r>
            <a:r>
              <a:rPr sz="1188" b="0" i="0" dirty="0">
                <a:solidFill>
                  <a:srgbClr val="333639"/>
                </a:solidFill>
                <a:latin typeface="Fira Sans"/>
              </a:rPr>
              <a:t> but there is more than a 66% chance at every step that something else happens instead.</a:t>
            </a:r>
          </a:p>
        </p:txBody>
      </p:sp>
      <p:pic>
        <p:nvPicPr>
          <p:cNvPr id="9" name="Picture 8" descr="fl_plan.png"/>
          <p:cNvPicPr>
            <a:picLocks noChangeAspect="1"/>
          </p:cNvPicPr>
          <p:nvPr/>
        </p:nvPicPr>
        <p:blipFill>
          <a:blip r:embed="rId2"/>
          <a:stretch>
            <a:fillRect/>
          </a:stretch>
        </p:blipFill>
        <p:spPr>
          <a:xfrm>
            <a:off x="579271" y="2236644"/>
            <a:ext cx="7174841" cy="2939970"/>
          </a:xfrm>
          <a:prstGeom prst="rect">
            <a:avLst/>
          </a:prstGeom>
        </p:spPr>
      </p:pic>
      <p:sp>
        <p:nvSpPr>
          <p:cNvPr id="10" name="TextBox 9"/>
          <p:cNvSpPr txBox="1"/>
          <p:nvPr/>
        </p:nvSpPr>
        <p:spPr>
          <a:xfrm>
            <a:off x="841248" y="5339599"/>
            <a:ext cx="6720840"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The agent slips into state 9, which the plan never mentions. From there it has no instruction at all.</a:t>
            </a:r>
          </a:p>
        </p:txBody>
      </p:sp>
      <p:sp>
        <p:nvSpPr>
          <p:cNvPr id="11" name="TextBox 10"/>
          <p:cNvSpPr txBox="1"/>
          <p:nvPr/>
        </p:nvSpPr>
        <p:spPr>
          <a:xfrm>
            <a:off x="7946136" y="1335024"/>
            <a:ext cx="3404585" cy="935657"/>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a:solidFill>
                  <a:srgbClr val="C8102E"/>
                </a:solidFill>
                <a:latin typeface="Fira Sans Medium"/>
              </a:rPr>
              <a:t>WHAT GOES WRONG</a:t>
            </a:r>
          </a:p>
          <a:p>
            <a:pPr marL="0" indent="0" algn="l">
              <a:lnSpc>
                <a:spcPts val="1345"/>
              </a:lnSpc>
              <a:spcBef>
                <a:spcPts val="0"/>
              </a:spcBef>
              <a:spcAft>
                <a:spcPts val="0"/>
              </a:spcAft>
              <a:buNone/>
            </a:pPr>
            <a:r>
              <a:rPr sz="1140" b="0" i="0">
                <a:solidFill>
                  <a:srgbClr val="333639"/>
                </a:solidFill>
                <a:latin typeface="Fira Sans"/>
              </a:rPr>
              <a:t>The plan is indexed by step number. The moment the agent is somewhere the plan did not predict, </a:t>
            </a:r>
            <a:r>
              <a:rPr sz="1140" b="1" i="0">
                <a:solidFill>
                  <a:srgbClr val="25282A"/>
                </a:solidFill>
                <a:latin typeface="Fira Sans"/>
              </a:rPr>
              <a:t>the index is meaningless</a:t>
            </a:r>
            <a:r>
              <a:rPr sz="1140" b="0" i="0">
                <a:solidFill>
                  <a:srgbClr val="333639"/>
                </a:solidFill>
                <a:latin typeface="Fira Sans"/>
              </a:rPr>
              <a:t> and the remaining actions refer to a situation that no longer exists.</a:t>
            </a:r>
          </a:p>
        </p:txBody>
      </p:sp>
      <p:sp>
        <p:nvSpPr>
          <p:cNvPr id="12" name="TextBox 11"/>
          <p:cNvSpPr txBox="1"/>
          <p:nvPr/>
        </p:nvSpPr>
        <p:spPr>
          <a:xfrm>
            <a:off x="7946136" y="2508425"/>
            <a:ext cx="340458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COMPOUNDING THE ODDS</a:t>
            </a:r>
          </a:p>
        </p:txBody>
      </p:sp>
      <p:sp>
        <p:nvSpPr>
          <p:cNvPr id="13" name="TextBox 12"/>
          <p:cNvSpPr txBox="1"/>
          <p:nvPr/>
        </p:nvSpPr>
        <p:spPr>
          <a:xfrm>
            <a:off x="7946136" y="2672329"/>
            <a:ext cx="3404585"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Each step follows the plan with probability 1/3. A six-step plan therefore executes as intended with probability (1/3)⁶ ≈ </a:t>
            </a:r>
            <a:r>
              <a:rPr sz="1092" b="1" i="0" dirty="0">
                <a:solidFill>
                  <a:srgbClr val="C8102E"/>
                </a:solidFill>
                <a:latin typeface="Fira Sans"/>
              </a:rPr>
              <a:t>0.14%</a:t>
            </a:r>
            <a:r>
              <a:rPr sz="1092" b="0" i="0" dirty="0">
                <a:solidFill>
                  <a:srgbClr val="333639"/>
                </a:solidFill>
                <a:latin typeface="Fira Sans"/>
              </a:rPr>
              <a:t>. The plan is not merely fragile; it is essentially never followed.</a:t>
            </a:r>
          </a:p>
        </p:txBody>
      </p:sp>
      <p:sp>
        <p:nvSpPr>
          <p:cNvPr id="14" name="Rectangle 13"/>
          <p:cNvSpPr/>
          <p:nvPr/>
        </p:nvSpPr>
        <p:spPr>
          <a:xfrm>
            <a:off x="7946136" y="3704460"/>
            <a:ext cx="3404585" cy="79187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946136" y="3704460"/>
            <a:ext cx="41148" cy="79187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165592" y="3850764"/>
            <a:ext cx="3020537"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What is needed is a plan for </a:t>
            </a:r>
            <a:r>
              <a:rPr sz="1092" b="1" i="0" dirty="0">
                <a:solidFill>
                  <a:srgbClr val="333639"/>
                </a:solidFill>
                <a:latin typeface="Fira Sans"/>
              </a:rPr>
              <a:t>every possible state</a:t>
            </a:r>
            <a:r>
              <a:rPr lang="it-IT" sz="1092" b="0" i="0" dirty="0">
                <a:solidFill>
                  <a:srgbClr val="333639"/>
                </a:solidFill>
                <a:latin typeface="Fira Sans"/>
              </a:rPr>
              <a:t>:</a:t>
            </a:r>
            <a:r>
              <a:rPr sz="1092" b="0" i="0" dirty="0">
                <a:solidFill>
                  <a:srgbClr val="333639"/>
                </a:solidFill>
                <a:latin typeface="Fira Sans"/>
              </a:rPr>
              <a:t> a universal plan. That is a policy</a:t>
            </a:r>
            <a:r>
              <a:rPr lang="it-IT" sz="1092" b="0" i="0" dirty="0">
                <a:solidFill>
                  <a:srgbClr val="333639"/>
                </a:solidFill>
                <a:latin typeface="Fira Sans"/>
              </a:rPr>
              <a:t>!</a:t>
            </a:r>
            <a:endParaRPr sz="1092" b="0" i="0" dirty="0">
              <a:solidFill>
                <a:srgbClr val="333639"/>
              </a:solidFill>
              <a:latin typeface="Fira Sans"/>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6.5  TWO POLICIES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Both reach the goal on paper; only one of them works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VI — Case study: Frozen Lake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37</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Every cell now carries an action, so the agent always knows what to do wherever it ends up. The obvious question follows immediately: which of these two is better, and by how much?</a:t>
            </a:r>
          </a:p>
        </p:txBody>
      </p:sp>
      <p:pic>
        <p:nvPicPr>
          <p:cNvPr id="9" name="Picture 8" descr="fl_policies.png"/>
          <p:cNvPicPr>
            <a:picLocks noChangeAspect="1"/>
          </p:cNvPicPr>
          <p:nvPr/>
        </p:nvPicPr>
        <p:blipFill>
          <a:blip r:embed="rId2"/>
          <a:stretch>
            <a:fillRect/>
          </a:stretch>
        </p:blipFill>
        <p:spPr>
          <a:xfrm>
            <a:off x="2060942" y="1815983"/>
            <a:ext cx="8180338" cy="2292449"/>
          </a:xfrm>
          <a:prstGeom prst="rect">
            <a:avLst/>
          </a:prstGeom>
        </p:spPr>
      </p:pic>
      <p:sp>
        <p:nvSpPr>
          <p:cNvPr id="10" name="Rectangle 9"/>
          <p:cNvSpPr/>
          <p:nvPr/>
        </p:nvSpPr>
        <p:spPr>
          <a:xfrm>
            <a:off x="841248" y="415002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4387773"/>
            <a:ext cx="5029200" cy="274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534077"/>
            <a:ext cx="5029200" cy="617994"/>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Go-get-it</a:t>
            </a:r>
          </a:p>
          <a:p>
            <a:pPr marL="0" indent="0" algn="l">
              <a:lnSpc>
                <a:spcPts val="1310"/>
              </a:lnSpc>
              <a:spcBef>
                <a:spcPts val="500"/>
              </a:spcBef>
              <a:spcAft>
                <a:spcPts val="0"/>
              </a:spcAft>
              <a:buNone/>
            </a:pPr>
            <a:r>
              <a:rPr sz="1092" b="0" i="0">
                <a:solidFill>
                  <a:srgbClr val="626669"/>
                </a:solidFill>
                <a:latin typeface="Fira Sans"/>
              </a:rPr>
              <a:t>Head straight for the goal: right, right, down, and so on. The shortest route on a grid where nothing slipped.</a:t>
            </a:r>
          </a:p>
        </p:txBody>
      </p:sp>
      <p:sp>
        <p:nvSpPr>
          <p:cNvPr id="13" name="Rectangle 12"/>
          <p:cNvSpPr/>
          <p:nvPr/>
        </p:nvSpPr>
        <p:spPr>
          <a:xfrm>
            <a:off x="6327648" y="4387773"/>
            <a:ext cx="5029200" cy="274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327648" y="4534077"/>
            <a:ext cx="5029200" cy="617994"/>
          </a:xfrm>
          <a:prstGeom prst="rect">
            <a:avLst/>
          </a:prstGeom>
          <a:noFill/>
        </p:spPr>
        <p:txBody>
          <a:bodyPr wrap="square" lIns="0" tIns="0" rIns="0" bIns="0" anchor="t">
            <a:noAutofit/>
          </a:bodyPr>
          <a:lstStyle/>
          <a:p>
            <a:pPr marL="0" indent="0" algn="l">
              <a:lnSpc>
                <a:spcPts val="1457"/>
              </a:lnSpc>
              <a:spcBef>
                <a:spcPts val="0"/>
              </a:spcBef>
              <a:spcAft>
                <a:spcPts val="0"/>
              </a:spcAft>
              <a:buNone/>
            </a:pPr>
            <a:r>
              <a:rPr sz="1235" b="1" i="0">
                <a:solidFill>
                  <a:srgbClr val="25282A"/>
                </a:solidFill>
                <a:latin typeface="Fira Sans"/>
              </a:rPr>
              <a:t>Careful</a:t>
            </a:r>
          </a:p>
          <a:p>
            <a:pPr marL="0" indent="0" algn="l">
              <a:lnSpc>
                <a:spcPts val="1310"/>
              </a:lnSpc>
              <a:spcBef>
                <a:spcPts val="500"/>
              </a:spcBef>
              <a:spcAft>
                <a:spcPts val="0"/>
              </a:spcAft>
              <a:buNone/>
            </a:pPr>
            <a:r>
              <a:rPr sz="1092" b="0" i="0">
                <a:solidFill>
                  <a:srgbClr val="626669"/>
                </a:solidFill>
                <a:latin typeface="Fira Sans"/>
              </a:rPr>
              <a:t>Press against the walls and edge round the holes. Longer on paper, but the slips are much more likely to be harmless.</a:t>
            </a:r>
          </a:p>
        </p:txBody>
      </p:sp>
      <p:sp>
        <p:nvSpPr>
          <p:cNvPr id="15" name="Rectangle 14"/>
          <p:cNvSpPr/>
          <p:nvPr/>
        </p:nvSpPr>
        <p:spPr>
          <a:xfrm>
            <a:off x="841248" y="5408104"/>
            <a:ext cx="10515600" cy="64008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41248" y="5408104"/>
            <a:ext cx="41148" cy="64008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060704" y="5554408"/>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Answering “how good is this policy?” requires the </a:t>
            </a:r>
            <a:r>
              <a:rPr sz="1140" b="1" i="0">
                <a:solidFill>
                  <a:srgbClr val="333639"/>
                </a:solidFill>
                <a:latin typeface="Fira Sans"/>
              </a:rPr>
              <a:t>expected return</a:t>
            </a:r>
            <a:r>
              <a:rPr sz="1140" b="0" i="0">
                <a:solidFill>
                  <a:srgbClr val="333639"/>
                </a:solidFill>
                <a:latin typeface="Fira Sans"/>
              </a:rPr>
              <a:t>, because the environment is stochastic: even an agent that knows how to act well may be sent somewhere it did not intend. A single episode tells us almost nothing.</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6.6  EVALUATING A POLICY BY BRUTE FORCE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Simulate many episodes and count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02 — The RL Problem   ·   Part VI — Case study: Frozen Lake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38</a:t>
            </a:r>
          </a:p>
        </p:txBody>
      </p:sp>
      <p:sp>
        <p:nvSpPr>
          <p:cNvPr id="8" name="TextBox 7"/>
          <p:cNvSpPr txBox="1"/>
          <p:nvPr/>
        </p:nvSpPr>
        <p:spPr>
          <a:xfrm>
            <a:off x="841248" y="1316736"/>
            <a:ext cx="630936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The most direct way to compare the policies is to run them. Gymnasium wraps every environment in a single Env class exposing step and reset, so the evaluation code is environment-agnostic.</a:t>
            </a:r>
          </a:p>
        </p:txBody>
      </p:sp>
      <p:sp>
        <p:nvSpPr>
          <p:cNvPr id="9" name="Rectangle 8"/>
          <p:cNvSpPr/>
          <p:nvPr/>
        </p:nvSpPr>
        <p:spPr>
          <a:xfrm>
            <a:off x="841248" y="2088398"/>
            <a:ext cx="6309360" cy="3292055"/>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088398"/>
            <a:ext cx="41148" cy="3292055"/>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24128" y="2170694"/>
            <a:ext cx="594360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BRUTE-FORCE EVALUATION</a:t>
            </a:r>
          </a:p>
        </p:txBody>
      </p:sp>
      <p:sp>
        <p:nvSpPr>
          <p:cNvPr id="12" name="TextBox 11"/>
          <p:cNvSpPr txBox="1"/>
          <p:nvPr/>
        </p:nvSpPr>
        <p:spPr>
          <a:xfrm>
            <a:off x="996696" y="2473361"/>
            <a:ext cx="5998464" cy="2834855"/>
          </a:xfrm>
          <a:prstGeom prst="rect">
            <a:avLst/>
          </a:prstGeom>
          <a:noFill/>
        </p:spPr>
        <p:txBody>
          <a:bodyPr wrap="none" lIns="0" tIns="0" rIns="0" bIns="0" anchor="t">
            <a:noAutofit/>
          </a:bodyPr>
          <a:lstStyle/>
          <a:p>
            <a:pPr marL="0" indent="0" algn="l">
              <a:lnSpc>
                <a:spcPts val="1296"/>
              </a:lnSpc>
              <a:spcBef>
                <a:spcPts val="0"/>
              </a:spcBef>
              <a:spcAft>
                <a:spcPts val="0"/>
              </a:spcAft>
              <a:buNone/>
            </a:pPr>
            <a:r>
              <a:rPr sz="997" b="0" i="0" dirty="0">
                <a:solidFill>
                  <a:srgbClr val="1F2A37"/>
                </a:solidFill>
                <a:latin typeface="Consolas"/>
              </a:rPr>
              <a:t>def evaluate(env, pi, </a:t>
            </a:r>
            <a:r>
              <a:rPr sz="997" b="0" i="0" dirty="0" err="1">
                <a:solidFill>
                  <a:srgbClr val="1F2A37"/>
                </a:solidFill>
                <a:latin typeface="Consolas"/>
              </a:rPr>
              <a:t>n_episodes</a:t>
            </a:r>
            <a:r>
              <a:rPr sz="997" b="0" i="0" dirty="0">
                <a:solidFill>
                  <a:srgbClr val="1F2A37"/>
                </a:solidFill>
                <a:latin typeface="Consolas"/>
              </a:rPr>
              <a:t>=10000):</a:t>
            </a:r>
          </a:p>
          <a:p>
            <a:pPr marL="0" indent="0" algn="l">
              <a:lnSpc>
                <a:spcPts val="1296"/>
              </a:lnSpc>
              <a:spcBef>
                <a:spcPts val="0"/>
              </a:spcBef>
              <a:spcAft>
                <a:spcPts val="0"/>
              </a:spcAft>
              <a:buNone/>
            </a:pPr>
            <a:r>
              <a:rPr sz="997" b="0" i="0" dirty="0">
                <a:solidFill>
                  <a:srgbClr val="1F2A37"/>
                </a:solidFill>
                <a:latin typeface="Consolas"/>
              </a:rPr>
              <a:t>    success = 0</a:t>
            </a:r>
          </a:p>
          <a:p>
            <a:pPr marL="0" indent="0" algn="l">
              <a:lnSpc>
                <a:spcPts val="1296"/>
              </a:lnSpc>
              <a:spcBef>
                <a:spcPts val="0"/>
              </a:spcBef>
              <a:spcAft>
                <a:spcPts val="0"/>
              </a:spcAft>
              <a:buNone/>
            </a:pPr>
            <a:r>
              <a:rPr sz="997" b="0" i="0" dirty="0">
                <a:solidFill>
                  <a:srgbClr val="333639"/>
                </a:solidFill>
                <a:latin typeface="Consolas"/>
              </a:rPr>
              <a:t> </a:t>
            </a:r>
          </a:p>
          <a:p>
            <a:pPr marL="0" indent="0" algn="l">
              <a:lnSpc>
                <a:spcPts val="1296"/>
              </a:lnSpc>
              <a:spcBef>
                <a:spcPts val="0"/>
              </a:spcBef>
              <a:spcAft>
                <a:spcPts val="0"/>
              </a:spcAft>
              <a:buNone/>
            </a:pPr>
            <a:r>
              <a:rPr sz="997" b="0" i="0" dirty="0">
                <a:solidFill>
                  <a:srgbClr val="1F2A37"/>
                </a:solidFill>
                <a:latin typeface="Consolas"/>
              </a:rPr>
              <a:t>    for _ in range(</a:t>
            </a:r>
            <a:r>
              <a:rPr sz="997" b="0" i="0" dirty="0" err="1">
                <a:solidFill>
                  <a:srgbClr val="1F2A37"/>
                </a:solidFill>
                <a:latin typeface="Consolas"/>
              </a:rPr>
              <a:t>n_episodes</a:t>
            </a:r>
            <a:r>
              <a:rPr sz="997" b="0" i="0" dirty="0">
                <a:solidFill>
                  <a:srgbClr val="1F2A37"/>
                </a:solidFill>
                <a:latin typeface="Consolas"/>
              </a:rPr>
              <a:t>):</a:t>
            </a:r>
          </a:p>
          <a:p>
            <a:pPr marL="0" indent="0" algn="l">
              <a:lnSpc>
                <a:spcPts val="1296"/>
              </a:lnSpc>
              <a:spcBef>
                <a:spcPts val="0"/>
              </a:spcBef>
              <a:spcAft>
                <a:spcPts val="0"/>
              </a:spcAft>
              <a:buNone/>
            </a:pPr>
            <a:r>
              <a:rPr sz="997" b="0" i="0" dirty="0">
                <a:solidFill>
                  <a:srgbClr val="1F2A37"/>
                </a:solidFill>
                <a:latin typeface="Consolas"/>
              </a:rPr>
              <a:t>        done = False</a:t>
            </a:r>
          </a:p>
          <a:p>
            <a:pPr marL="0" indent="0" algn="l">
              <a:lnSpc>
                <a:spcPts val="1296"/>
              </a:lnSpc>
              <a:spcBef>
                <a:spcPts val="0"/>
              </a:spcBef>
              <a:spcAft>
                <a:spcPts val="0"/>
              </a:spcAft>
              <a:buNone/>
            </a:pPr>
            <a:r>
              <a:rPr sz="997" b="0" i="0" dirty="0">
                <a:solidFill>
                  <a:srgbClr val="1F2A37"/>
                </a:solidFill>
                <a:latin typeface="Consolas"/>
              </a:rPr>
              <a:t>        state, info = </a:t>
            </a:r>
            <a:r>
              <a:rPr sz="997" b="0" i="0" dirty="0" err="1">
                <a:solidFill>
                  <a:srgbClr val="1F2A37"/>
                </a:solidFill>
                <a:latin typeface="Consolas"/>
              </a:rPr>
              <a:t>env.reset</a:t>
            </a:r>
            <a:r>
              <a:rPr sz="997" b="0" i="0" dirty="0">
                <a:solidFill>
                  <a:srgbClr val="1F2A37"/>
                </a:solidFill>
                <a:latin typeface="Consolas"/>
              </a:rPr>
              <a:t>()</a:t>
            </a:r>
          </a:p>
          <a:p>
            <a:pPr marL="0" indent="0" algn="l">
              <a:lnSpc>
                <a:spcPts val="1296"/>
              </a:lnSpc>
              <a:spcBef>
                <a:spcPts val="0"/>
              </a:spcBef>
              <a:spcAft>
                <a:spcPts val="0"/>
              </a:spcAft>
              <a:buNone/>
            </a:pPr>
            <a:r>
              <a:rPr sz="997" b="0" i="0" dirty="0">
                <a:solidFill>
                  <a:srgbClr val="333639"/>
                </a:solidFill>
                <a:latin typeface="Consolas"/>
              </a:rPr>
              <a:t> </a:t>
            </a:r>
          </a:p>
          <a:p>
            <a:pPr marL="0" indent="0" algn="l">
              <a:lnSpc>
                <a:spcPts val="1296"/>
              </a:lnSpc>
              <a:spcBef>
                <a:spcPts val="0"/>
              </a:spcBef>
              <a:spcAft>
                <a:spcPts val="0"/>
              </a:spcAft>
              <a:buNone/>
            </a:pPr>
            <a:r>
              <a:rPr sz="997" b="0" i="0" dirty="0">
                <a:solidFill>
                  <a:srgbClr val="1F2A37"/>
                </a:solidFill>
                <a:latin typeface="Consolas"/>
              </a:rPr>
              <a:t>        while not done:</a:t>
            </a:r>
          </a:p>
          <a:p>
            <a:pPr marL="0" indent="0" algn="l">
              <a:lnSpc>
                <a:spcPts val="1296"/>
              </a:lnSpc>
              <a:spcBef>
                <a:spcPts val="0"/>
              </a:spcBef>
              <a:spcAft>
                <a:spcPts val="0"/>
              </a:spcAft>
              <a:buNone/>
            </a:pPr>
            <a:r>
              <a:rPr sz="997" b="1" i="0" dirty="0">
                <a:solidFill>
                  <a:srgbClr val="574676"/>
                </a:solidFill>
                <a:latin typeface="Consolas"/>
              </a:rPr>
              <a:t>            state, reward, terminated, truncated, </a:t>
            </a:r>
            <a:r>
              <a:rPr sz="997" b="1" dirty="0">
                <a:solidFill>
                  <a:srgbClr val="574676"/>
                </a:solidFill>
                <a:latin typeface="Consolas"/>
              </a:rPr>
              <a:t>info = </a:t>
            </a:r>
            <a:r>
              <a:rPr sz="997" b="1" dirty="0" err="1">
                <a:solidFill>
                  <a:srgbClr val="574676"/>
                </a:solidFill>
                <a:latin typeface="Consolas"/>
              </a:rPr>
              <a:t>env.step</a:t>
            </a:r>
            <a:r>
              <a:rPr sz="997" b="1" dirty="0">
                <a:solidFill>
                  <a:srgbClr val="574676"/>
                </a:solidFill>
                <a:latin typeface="Consolas"/>
              </a:rPr>
              <a:t>(pi(state))</a:t>
            </a:r>
            <a:endParaRPr lang="it-IT" sz="997" b="1" dirty="0">
              <a:solidFill>
                <a:srgbClr val="574676"/>
              </a:solidFill>
              <a:latin typeface="Consolas"/>
            </a:endParaRPr>
          </a:p>
          <a:p>
            <a:pPr marL="0" indent="0" algn="l">
              <a:lnSpc>
                <a:spcPts val="1296"/>
              </a:lnSpc>
              <a:spcBef>
                <a:spcPts val="0"/>
              </a:spcBef>
              <a:spcAft>
                <a:spcPts val="0"/>
              </a:spcAft>
              <a:buNone/>
            </a:pPr>
            <a:endParaRPr sz="997" b="1" dirty="0">
              <a:solidFill>
                <a:srgbClr val="574676"/>
              </a:solidFill>
              <a:latin typeface="Consolas"/>
            </a:endParaRPr>
          </a:p>
          <a:p>
            <a:pPr marL="0" indent="0" algn="l">
              <a:lnSpc>
                <a:spcPts val="1296"/>
              </a:lnSpc>
              <a:spcBef>
                <a:spcPts val="0"/>
              </a:spcBef>
              <a:spcAft>
                <a:spcPts val="0"/>
              </a:spcAft>
              <a:buNone/>
            </a:pPr>
            <a:r>
              <a:rPr sz="997" b="0" i="0" dirty="0">
                <a:solidFill>
                  <a:srgbClr val="1F2A37"/>
                </a:solidFill>
                <a:latin typeface="Consolas"/>
              </a:rPr>
              <a:t>            if terminated or truncated:</a:t>
            </a:r>
          </a:p>
          <a:p>
            <a:pPr marL="0" indent="0" algn="l">
              <a:lnSpc>
                <a:spcPts val="1296"/>
              </a:lnSpc>
              <a:spcBef>
                <a:spcPts val="0"/>
              </a:spcBef>
              <a:spcAft>
                <a:spcPts val="0"/>
              </a:spcAft>
              <a:buNone/>
            </a:pPr>
            <a:r>
              <a:rPr sz="997" b="0" i="0" dirty="0">
                <a:solidFill>
                  <a:srgbClr val="1F2A37"/>
                </a:solidFill>
                <a:latin typeface="Consolas"/>
              </a:rPr>
              <a:t>                done = True</a:t>
            </a:r>
          </a:p>
          <a:p>
            <a:pPr marL="0" indent="0" algn="l">
              <a:lnSpc>
                <a:spcPts val="1296"/>
              </a:lnSpc>
              <a:spcBef>
                <a:spcPts val="0"/>
              </a:spcBef>
              <a:spcAft>
                <a:spcPts val="0"/>
              </a:spcAft>
              <a:buNone/>
            </a:pPr>
            <a:r>
              <a:rPr sz="997" b="0" i="0" dirty="0">
                <a:solidFill>
                  <a:srgbClr val="333639"/>
                </a:solidFill>
                <a:latin typeface="Consolas"/>
              </a:rPr>
              <a:t> </a:t>
            </a:r>
          </a:p>
          <a:p>
            <a:pPr marL="0" indent="0" algn="l">
              <a:lnSpc>
                <a:spcPts val="1296"/>
              </a:lnSpc>
              <a:spcBef>
                <a:spcPts val="0"/>
              </a:spcBef>
              <a:spcAft>
                <a:spcPts val="0"/>
              </a:spcAft>
              <a:buNone/>
            </a:pPr>
            <a:r>
              <a:rPr sz="997" b="1" i="0" dirty="0">
                <a:solidFill>
                  <a:srgbClr val="574676"/>
                </a:solidFill>
                <a:latin typeface="Consolas"/>
              </a:rPr>
              <a:t>        if state == 15:          </a:t>
            </a:r>
            <a:r>
              <a:rPr sz="997" b="0" i="1" dirty="0">
                <a:solidFill>
                  <a:srgbClr val="768896"/>
                </a:solidFill>
                <a:latin typeface="Consolas"/>
              </a:rPr>
              <a:t># reached the goal</a:t>
            </a:r>
          </a:p>
          <a:p>
            <a:pPr marL="0" indent="0" algn="l">
              <a:lnSpc>
                <a:spcPts val="1296"/>
              </a:lnSpc>
              <a:spcBef>
                <a:spcPts val="0"/>
              </a:spcBef>
              <a:spcAft>
                <a:spcPts val="0"/>
              </a:spcAft>
              <a:buNone/>
            </a:pPr>
            <a:r>
              <a:rPr sz="997" b="0" i="0" dirty="0">
                <a:solidFill>
                  <a:srgbClr val="1F2A37"/>
                </a:solidFill>
                <a:latin typeface="Consolas"/>
              </a:rPr>
              <a:t>            success += 1</a:t>
            </a:r>
          </a:p>
          <a:p>
            <a:pPr marL="0" indent="0" algn="l">
              <a:lnSpc>
                <a:spcPts val="1296"/>
              </a:lnSpc>
              <a:spcBef>
                <a:spcPts val="0"/>
              </a:spcBef>
              <a:spcAft>
                <a:spcPts val="0"/>
              </a:spcAft>
              <a:buNone/>
            </a:pPr>
            <a:r>
              <a:rPr sz="997" b="0" i="0" dirty="0">
                <a:solidFill>
                  <a:srgbClr val="333639"/>
                </a:solidFill>
                <a:latin typeface="Consolas"/>
              </a:rPr>
              <a:t> </a:t>
            </a:r>
          </a:p>
          <a:p>
            <a:pPr marL="0" indent="0" algn="l">
              <a:lnSpc>
                <a:spcPts val="1296"/>
              </a:lnSpc>
              <a:spcBef>
                <a:spcPts val="0"/>
              </a:spcBef>
              <a:spcAft>
                <a:spcPts val="0"/>
              </a:spcAft>
              <a:buNone/>
            </a:pPr>
            <a:r>
              <a:rPr sz="997" b="0" i="0" dirty="0">
                <a:solidFill>
                  <a:srgbClr val="1F2A37"/>
                </a:solidFill>
                <a:latin typeface="Consolas"/>
              </a:rPr>
              <a:t>    return (success / </a:t>
            </a:r>
            <a:r>
              <a:rPr sz="997" b="0" i="0" dirty="0" err="1">
                <a:solidFill>
                  <a:srgbClr val="1F2A37"/>
                </a:solidFill>
                <a:latin typeface="Consolas"/>
              </a:rPr>
              <a:t>n_episodes</a:t>
            </a:r>
            <a:r>
              <a:rPr sz="997" b="0" i="0" dirty="0">
                <a:solidFill>
                  <a:srgbClr val="1F2A37"/>
                </a:solidFill>
                <a:latin typeface="Consolas"/>
              </a:rPr>
              <a:t>) * 100</a:t>
            </a:r>
          </a:p>
        </p:txBody>
      </p:sp>
      <p:sp>
        <p:nvSpPr>
          <p:cNvPr id="13" name="TextBox 12"/>
          <p:cNvSpPr txBox="1"/>
          <p:nvPr/>
        </p:nvSpPr>
        <p:spPr>
          <a:xfrm>
            <a:off x="7534656" y="1335024"/>
            <a:ext cx="3816065" cy="935657"/>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dirty="0">
                <a:solidFill>
                  <a:srgbClr val="8A5100"/>
                </a:solidFill>
                <a:latin typeface="Fira Sans Medium"/>
              </a:rPr>
              <a:t>WHY truncated IS THERE</a:t>
            </a:r>
          </a:p>
          <a:p>
            <a:pPr marL="0" indent="0" algn="l">
              <a:lnSpc>
                <a:spcPts val="1345"/>
              </a:lnSpc>
              <a:spcBef>
                <a:spcPts val="0"/>
              </a:spcBef>
              <a:spcAft>
                <a:spcPts val="0"/>
              </a:spcAft>
              <a:buNone/>
            </a:pPr>
            <a:r>
              <a:rPr sz="1140" b="0" i="0" dirty="0">
                <a:solidFill>
                  <a:srgbClr val="333639"/>
                </a:solidFill>
                <a:latin typeface="Fira Sans"/>
              </a:rPr>
              <a:t>Because the environment is stochastic, an episode </a:t>
            </a:r>
            <a:r>
              <a:rPr sz="1140" b="1" i="0" dirty="0">
                <a:solidFill>
                  <a:srgbClr val="333639"/>
                </a:solidFill>
                <a:latin typeface="Fira Sans"/>
              </a:rPr>
              <a:t>may in principle never end</a:t>
            </a:r>
            <a:r>
              <a:rPr sz="1140" b="0" i="0" dirty="0">
                <a:solidFill>
                  <a:srgbClr val="333639"/>
                </a:solidFill>
                <a:latin typeface="Fira Sans"/>
              </a:rPr>
              <a:t>. Gymnasium applies a </a:t>
            </a:r>
            <a:r>
              <a:rPr sz="1140" b="1" i="0" dirty="0">
                <a:solidFill>
                  <a:srgbClr val="25282A"/>
                </a:solidFill>
                <a:latin typeface="Fira Sans"/>
              </a:rPr>
              <a:t>truncation condition</a:t>
            </a:r>
            <a:r>
              <a:rPr sz="1140" b="0" i="0" dirty="0">
                <a:solidFill>
                  <a:srgbClr val="333639"/>
                </a:solidFill>
                <a:latin typeface="Fira Sans"/>
              </a:rPr>
              <a:t> </a:t>
            </a:r>
            <a:r>
              <a:rPr lang="it-IT" sz="1140" dirty="0">
                <a:solidFill>
                  <a:srgbClr val="333639"/>
                </a:solidFill>
                <a:latin typeface="Fira Sans"/>
              </a:rPr>
              <a:t>(</a:t>
            </a:r>
            <a:r>
              <a:rPr sz="1140" b="0" i="0" dirty="0">
                <a:solidFill>
                  <a:srgbClr val="333639"/>
                </a:solidFill>
                <a:latin typeface="Fira Sans"/>
              </a:rPr>
              <a:t>typically a time limit</a:t>
            </a:r>
            <a:r>
              <a:rPr lang="it-IT" sz="1140" b="0" i="0" dirty="0">
                <a:solidFill>
                  <a:srgbClr val="333639"/>
                </a:solidFill>
                <a:latin typeface="Fira Sans"/>
              </a:rPr>
              <a:t>)</a:t>
            </a:r>
            <a:r>
              <a:rPr sz="1140" b="0" i="0" dirty="0">
                <a:solidFill>
                  <a:srgbClr val="333639"/>
                </a:solidFill>
                <a:latin typeface="Fira Sans"/>
              </a:rPr>
              <a:t> to stop an episode before a terminal state is reached.</a:t>
            </a:r>
          </a:p>
        </p:txBody>
      </p:sp>
      <p:sp>
        <p:nvSpPr>
          <p:cNvPr id="14" name="TextBox 13"/>
          <p:cNvSpPr txBox="1"/>
          <p:nvPr/>
        </p:nvSpPr>
        <p:spPr>
          <a:xfrm>
            <a:off x="7534656" y="2508425"/>
            <a:ext cx="3816065"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TWO POLICIES, IN CODE</a:t>
            </a:r>
          </a:p>
        </p:txBody>
      </p:sp>
      <p:sp>
        <p:nvSpPr>
          <p:cNvPr id="15" name="Rectangle 14"/>
          <p:cNvSpPr/>
          <p:nvPr/>
        </p:nvSpPr>
        <p:spPr>
          <a:xfrm>
            <a:off x="7534656" y="2764457"/>
            <a:ext cx="3816065" cy="2219071"/>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534656" y="2764457"/>
            <a:ext cx="41148" cy="2219071"/>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717536" y="2846753"/>
            <a:ext cx="3450305"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A POLICY IS A FUNCTION FROM STATE TO ACTION</a:t>
            </a:r>
          </a:p>
        </p:txBody>
      </p:sp>
      <p:sp>
        <p:nvSpPr>
          <p:cNvPr id="18" name="TextBox 17"/>
          <p:cNvSpPr txBox="1"/>
          <p:nvPr/>
        </p:nvSpPr>
        <p:spPr>
          <a:xfrm>
            <a:off x="7717536" y="3148505"/>
            <a:ext cx="3505169" cy="1761871"/>
          </a:xfrm>
          <a:prstGeom prst="rect">
            <a:avLst/>
          </a:prstGeom>
          <a:noFill/>
        </p:spPr>
        <p:txBody>
          <a:bodyPr wrap="none" lIns="0" tIns="0" rIns="0" bIns="0" anchor="t">
            <a:noAutofit/>
          </a:bodyPr>
          <a:lstStyle/>
          <a:p>
            <a:pPr marL="0" indent="0" algn="l">
              <a:lnSpc>
                <a:spcPts val="1235"/>
              </a:lnSpc>
              <a:spcBef>
                <a:spcPts val="0"/>
              </a:spcBef>
              <a:spcAft>
                <a:spcPts val="0"/>
              </a:spcAft>
              <a:buNone/>
            </a:pPr>
            <a:r>
              <a:rPr sz="950" b="0" i="0">
                <a:solidFill>
                  <a:srgbClr val="1F2A37"/>
                </a:solidFill>
                <a:latin typeface="Consolas"/>
              </a:rPr>
              <a:t>LEFT, DOWN, RIGHT, UP = range(4)</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def go_get_pi(s):</a:t>
            </a:r>
          </a:p>
          <a:p>
            <a:pPr marL="0" indent="0" algn="l">
              <a:lnSpc>
                <a:spcPts val="1235"/>
              </a:lnSpc>
              <a:spcBef>
                <a:spcPts val="0"/>
              </a:spcBef>
              <a:spcAft>
                <a:spcPts val="0"/>
              </a:spcAft>
              <a:buNone/>
            </a:pPr>
            <a:r>
              <a:rPr sz="950" b="0" i="0">
                <a:solidFill>
                  <a:srgbClr val="1F2A37"/>
                </a:solidFill>
                <a:latin typeface="Consolas"/>
              </a:rPr>
              <a:t>    return {0: RIGHT, 1: RIGHT, 2: DOWN, 3: LEFT,</a:t>
            </a:r>
          </a:p>
          <a:p>
            <a:pPr marL="0" indent="0" algn="l">
              <a:lnSpc>
                <a:spcPts val="1235"/>
              </a:lnSpc>
              <a:spcBef>
                <a:spcPts val="0"/>
              </a:spcBef>
              <a:spcAft>
                <a:spcPts val="0"/>
              </a:spcAft>
              <a:buNone/>
            </a:pPr>
            <a:r>
              <a:rPr sz="950" b="0" i="0">
                <a:solidFill>
                  <a:srgbClr val="1F2A37"/>
                </a:solidFill>
                <a:latin typeface="Consolas"/>
              </a:rPr>
              <a:t>            4: DOWN, 5: LEFT, 6: DOWN, 7: LEFT,</a:t>
            </a:r>
          </a:p>
          <a:p>
            <a:pPr marL="0" indent="0" algn="l">
              <a:lnSpc>
                <a:spcPts val="1235"/>
              </a:lnSpc>
              <a:spcBef>
                <a:spcPts val="0"/>
              </a:spcBef>
              <a:spcAft>
                <a:spcPts val="0"/>
              </a:spcAft>
              <a:buNone/>
            </a:pPr>
            <a:r>
              <a:rPr sz="950" b="0" i="0">
                <a:solidFill>
                  <a:srgbClr val="1F2A37"/>
                </a:solidFill>
                <a:latin typeface="Consolas"/>
              </a:rPr>
              <a:t>            ... }[s]</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def careful_pi(s):</a:t>
            </a:r>
          </a:p>
          <a:p>
            <a:pPr marL="0" indent="0" algn="l">
              <a:lnSpc>
                <a:spcPts val="1235"/>
              </a:lnSpc>
              <a:spcBef>
                <a:spcPts val="0"/>
              </a:spcBef>
              <a:spcAft>
                <a:spcPts val="0"/>
              </a:spcAft>
              <a:buNone/>
            </a:pPr>
            <a:r>
              <a:rPr sz="950" b="0" i="0">
                <a:solidFill>
                  <a:srgbClr val="1F2A37"/>
                </a:solidFill>
                <a:latin typeface="Consolas"/>
              </a:rPr>
              <a:t>    return {0: LEFT, 1: UP, 2: UP, 3: UP,</a:t>
            </a:r>
          </a:p>
          <a:p>
            <a:pPr marL="0" indent="0" algn="l">
              <a:lnSpc>
                <a:spcPts val="1235"/>
              </a:lnSpc>
              <a:spcBef>
                <a:spcPts val="0"/>
              </a:spcBef>
              <a:spcAft>
                <a:spcPts val="0"/>
              </a:spcAft>
              <a:buNone/>
            </a:pPr>
            <a:r>
              <a:rPr sz="950" b="0" i="0">
                <a:solidFill>
                  <a:srgbClr val="1F2A37"/>
                </a:solidFill>
                <a:latin typeface="Consolas"/>
              </a:rPr>
              <a:t>            4: LEFT, 5: LEFT, 6: UP, 7: LEFT,</a:t>
            </a:r>
          </a:p>
          <a:p>
            <a:pPr marL="0" indent="0" algn="l">
              <a:lnSpc>
                <a:spcPts val="1235"/>
              </a:lnSpc>
              <a:spcBef>
                <a:spcPts val="0"/>
              </a:spcBef>
              <a:spcAft>
                <a:spcPts val="0"/>
              </a:spcAft>
              <a:buNone/>
            </a:pPr>
            <a:r>
              <a:rPr sz="950" b="0" i="0">
                <a:solidFill>
                  <a:srgbClr val="1F2A37"/>
                </a:solidFill>
                <a:latin typeface="Consolas"/>
              </a:rPr>
              <a:t>            ... }[s]</a:t>
            </a:r>
          </a:p>
        </p:txBody>
      </p:sp>
      <p:sp>
        <p:nvSpPr>
          <p:cNvPr id="19" name="Rectangle 18"/>
          <p:cNvSpPr/>
          <p:nvPr/>
        </p:nvSpPr>
        <p:spPr>
          <a:xfrm>
            <a:off x="7534656" y="5184696"/>
            <a:ext cx="3816065" cy="611124"/>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534656" y="5184696"/>
            <a:ext cx="41148" cy="611124"/>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754112" y="5331000"/>
            <a:ext cx="3432017" cy="31851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 deterministic policy really is nothing more than this: a lookup from state to action, defined everywhere.</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6.7  THE RESULT, AND WHY IT IS NOT ENOUGH</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Brute force answers the question, expensively and incompletely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dirty="0">
                <a:solidFill>
                  <a:srgbClr val="8E9295"/>
                </a:solidFill>
                <a:latin typeface="Fira Sans"/>
              </a:rPr>
              <a:t>Reinforcement Learning  ·  Chapter 02 — The RL Problem   ·   Part VI — Case study: Frozen Lake</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39</a:t>
            </a:r>
          </a:p>
        </p:txBody>
      </p:sp>
      <p:sp>
        <p:nvSpPr>
          <p:cNvPr id="8" name="TextBox 7"/>
          <p:cNvSpPr txBox="1"/>
          <p:nvPr/>
        </p:nvSpPr>
        <p:spPr>
          <a:xfrm>
            <a:off x="841248" y="1316736"/>
            <a:ext cx="754380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Ten thousand episodes per policy. The direct route reaches the goal in under 4% of episodes; the wall-hugging policy succeeds more than half the time</a:t>
            </a:r>
            <a:r>
              <a:rPr lang="it-IT" sz="1188" b="0" i="0" dirty="0">
                <a:solidFill>
                  <a:srgbClr val="333639"/>
                </a:solidFill>
                <a:latin typeface="Fira Sans"/>
              </a:rPr>
              <a:t>. </a:t>
            </a:r>
            <a:r>
              <a:rPr lang="it-IT" sz="1188" dirty="0">
                <a:solidFill>
                  <a:srgbClr val="333639"/>
                </a:solidFill>
                <a:latin typeface="Fira Sans"/>
              </a:rPr>
              <a:t>O</a:t>
            </a:r>
            <a:r>
              <a:rPr sz="1188" b="0" i="0" dirty="0">
                <a:solidFill>
                  <a:srgbClr val="333639"/>
                </a:solidFill>
                <a:latin typeface="Fira Sans"/>
              </a:rPr>
              <a:t>n slippery ice, pressing against the boundary is worth about fifteen times as much as heading straight for the goal.</a:t>
            </a:r>
          </a:p>
        </p:txBody>
      </p:sp>
      <p:pic>
        <p:nvPicPr>
          <p:cNvPr id="9" name="Picture 8" descr="eval_convergence.png"/>
          <p:cNvPicPr>
            <a:picLocks noChangeAspect="1"/>
          </p:cNvPicPr>
          <p:nvPr/>
        </p:nvPicPr>
        <p:blipFill>
          <a:blip r:embed="rId2"/>
          <a:stretch>
            <a:fillRect/>
          </a:stretch>
        </p:blipFill>
        <p:spPr>
          <a:xfrm>
            <a:off x="841248" y="2070109"/>
            <a:ext cx="7367108" cy="3539826"/>
          </a:xfrm>
          <a:prstGeom prst="rect">
            <a:avLst/>
          </a:prstGeom>
        </p:spPr>
      </p:pic>
      <p:sp>
        <p:nvSpPr>
          <p:cNvPr id="10" name="TextBox 9"/>
          <p:cNvSpPr txBox="1"/>
          <p:nvPr/>
        </p:nvSpPr>
        <p:spPr>
          <a:xfrm>
            <a:off x="841248" y="5803537"/>
            <a:ext cx="7543800"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Running estimate of the success rate against episodes simulated, over 20 independent repetitions.</a:t>
            </a:r>
          </a:p>
        </p:txBody>
      </p:sp>
      <p:sp>
        <p:nvSpPr>
          <p:cNvPr id="11" name="TextBox 10"/>
          <p:cNvSpPr txBox="1"/>
          <p:nvPr/>
        </p:nvSpPr>
        <p:spPr>
          <a:xfrm>
            <a:off x="8750808" y="1335024"/>
            <a:ext cx="2599913" cy="1084399"/>
          </a:xfrm>
          <a:prstGeom prst="rect">
            <a:avLst/>
          </a:prstGeom>
          <a:noFill/>
        </p:spPr>
        <p:txBody>
          <a:bodyPr wrap="square" lIns="0" tIns="0" rIns="0" bIns="0" anchor="t">
            <a:noAutofit/>
          </a:bodyPr>
          <a:lstStyle/>
          <a:p>
            <a:pPr marL="0" indent="0" algn="l">
              <a:lnSpc>
                <a:spcPts val="1099"/>
              </a:lnSpc>
              <a:spcBef>
                <a:spcPts val="0"/>
              </a:spcBef>
              <a:spcAft>
                <a:spcPts val="0"/>
              </a:spcAft>
              <a:buNone/>
            </a:pPr>
            <a:r>
              <a:rPr sz="931" b="1" i="0" spc="110" dirty="0">
                <a:solidFill>
                  <a:srgbClr val="574676"/>
                </a:solidFill>
                <a:latin typeface="Fira Sans Medium"/>
              </a:rPr>
              <a:t>WHAT THE PICTURE SHOWS</a:t>
            </a:r>
          </a:p>
          <a:p>
            <a:pPr marL="0" indent="0" algn="l">
              <a:lnSpc>
                <a:spcPts val="1310"/>
              </a:lnSpc>
              <a:spcBef>
                <a:spcPts val="0"/>
              </a:spcBef>
              <a:spcAft>
                <a:spcPts val="0"/>
              </a:spcAft>
              <a:buNone/>
            </a:pPr>
            <a:r>
              <a:rPr sz="1092" b="0" i="0" dirty="0">
                <a:solidFill>
                  <a:srgbClr val="333639"/>
                </a:solidFill>
                <a:latin typeface="Fira Sans"/>
              </a:rPr>
              <a:t>After 100 episodes the estimate for the Careful policy still lies anywhere between 47% and 62% across repetitions; after 1000 it has only narrowed to 52–57%.</a:t>
            </a:r>
          </a:p>
        </p:txBody>
      </p:sp>
      <p:sp>
        <p:nvSpPr>
          <p:cNvPr id="12" name="TextBox 11"/>
          <p:cNvSpPr txBox="1"/>
          <p:nvPr/>
        </p:nvSpPr>
        <p:spPr>
          <a:xfrm>
            <a:off x="8750808" y="2620591"/>
            <a:ext cx="2599913"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THREE OBJECTIONS TO THIS METHOD</a:t>
            </a:r>
          </a:p>
        </p:txBody>
      </p:sp>
      <p:sp>
        <p:nvSpPr>
          <p:cNvPr id="13" name="TextBox 12"/>
          <p:cNvSpPr txBox="1"/>
          <p:nvPr/>
        </p:nvSpPr>
        <p:spPr>
          <a:xfrm>
            <a:off x="8750808" y="2858335"/>
            <a:ext cx="2599913" cy="1825447"/>
          </a:xfrm>
          <a:prstGeom prst="rect">
            <a:avLst/>
          </a:prstGeom>
          <a:noFill/>
        </p:spPr>
        <p:txBody>
          <a:bodyPr wrap="square" lIns="0" tIns="0" rIns="0" bIns="0" anchor="t">
            <a:noAutofit/>
          </a:bodyPr>
          <a:lstStyle/>
          <a:p>
            <a:pPr marL="173736" indent="-173736" algn="l">
              <a:lnSpc>
                <a:spcPts val="1289"/>
              </a:lnSpc>
              <a:spcBef>
                <a:spcPts val="0"/>
              </a:spcBef>
              <a:spcAft>
                <a:spcPts val="0"/>
              </a:spcAft>
              <a:buClr>
                <a:srgbClr val="1971C2"/>
              </a:buClr>
              <a:buFont typeface="Fira Sans"/>
              <a:buChar char="–"/>
            </a:pPr>
            <a:r>
              <a:rPr lang="en-GB" sz="1092" b="1" i="0" noProof="0" dirty="0">
                <a:solidFill>
                  <a:srgbClr val="C8102E"/>
                </a:solidFill>
                <a:latin typeface="Fira Sans"/>
              </a:rPr>
              <a:t>It is inefficient.</a:t>
            </a:r>
            <a:r>
              <a:rPr lang="en-GB" sz="1092" b="0" i="0" noProof="0" dirty="0">
                <a:solidFill>
                  <a:srgbClr val="333639"/>
                </a:solidFill>
                <a:latin typeface="Fira Sans"/>
              </a:rPr>
              <a:t> Averaging reduces variance, but slowly.</a:t>
            </a:r>
          </a:p>
          <a:p>
            <a:pPr marL="173736" indent="-173736" algn="l">
              <a:lnSpc>
                <a:spcPts val="1289"/>
              </a:lnSpc>
              <a:spcBef>
                <a:spcPts val="600"/>
              </a:spcBef>
              <a:spcAft>
                <a:spcPts val="0"/>
              </a:spcAft>
              <a:buClr>
                <a:srgbClr val="1971C2"/>
              </a:buClr>
              <a:buFont typeface="Fira Sans"/>
              <a:buChar char="–"/>
            </a:pPr>
            <a:r>
              <a:rPr lang="en-GB" sz="1092" b="1" i="0" noProof="0" dirty="0">
                <a:solidFill>
                  <a:srgbClr val="C8102E"/>
                </a:solidFill>
                <a:latin typeface="Fira Sans"/>
              </a:rPr>
              <a:t>It ignores the structure of the MDP.</a:t>
            </a:r>
            <a:r>
              <a:rPr lang="en-GB" sz="1092" b="0" i="0" noProof="0" dirty="0">
                <a:solidFill>
                  <a:srgbClr val="333639"/>
                </a:solidFill>
                <a:latin typeface="Fira Sans"/>
              </a:rPr>
              <a:t> We know p(s′, r | s, a) exactly, and this never uses it.</a:t>
            </a:r>
          </a:p>
          <a:p>
            <a:pPr marL="173736" indent="-173736" algn="l">
              <a:lnSpc>
                <a:spcPts val="1289"/>
              </a:lnSpc>
              <a:spcBef>
                <a:spcPts val="600"/>
              </a:spcBef>
              <a:spcAft>
                <a:spcPts val="0"/>
              </a:spcAft>
              <a:buClr>
                <a:srgbClr val="1971C2"/>
              </a:buClr>
              <a:buFont typeface="Fira Sans"/>
              <a:buChar char="–"/>
            </a:pPr>
            <a:r>
              <a:rPr lang="en-GB" sz="1092" b="1" i="0" noProof="0" dirty="0">
                <a:solidFill>
                  <a:srgbClr val="C8102E"/>
                </a:solidFill>
                <a:latin typeface="Fira Sans"/>
              </a:rPr>
              <a:t>It answers the wrong question.</a:t>
            </a:r>
            <a:r>
              <a:rPr lang="en-GB" sz="1092" b="0" i="0" noProof="0" dirty="0">
                <a:solidFill>
                  <a:srgbClr val="333639"/>
                </a:solidFill>
                <a:latin typeface="Fira Sans"/>
              </a:rPr>
              <a:t> It says how good the policy is overall, not how good a particular state is.</a:t>
            </a:r>
          </a:p>
        </p:txBody>
      </p:sp>
      <p:sp>
        <p:nvSpPr>
          <p:cNvPr id="14" name="Rectangle 13"/>
          <p:cNvSpPr/>
          <p:nvPr/>
        </p:nvSpPr>
        <p:spPr>
          <a:xfrm>
            <a:off x="8750808" y="4866662"/>
            <a:ext cx="2599913" cy="1291132"/>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750808" y="4866662"/>
            <a:ext cx="41148" cy="1291132"/>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970264" y="5012966"/>
            <a:ext cx="2215865"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That last objection is decisive: improving a policy requires knowing which states and actions are worth something. </a:t>
            </a:r>
            <a:r>
              <a:rPr sz="1092" b="1" i="0" dirty="0">
                <a:solidFill>
                  <a:srgbClr val="333639"/>
                </a:solidFill>
                <a:latin typeface="Fira Sans"/>
              </a:rPr>
              <a:t>This is precisely the role of value functions</a:t>
            </a:r>
            <a:r>
              <a:rPr sz="1092" b="0" i="0" dirty="0">
                <a:solidFill>
                  <a:srgbClr val="333639"/>
                </a:solidFill>
                <a:latin typeface="Fira Sans"/>
              </a:rPr>
              <a: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59536" y="868680"/>
            <a:ext cx="7315200" cy="365760"/>
          </a:xfrm>
          <a:prstGeom prst="rect">
            <a:avLst/>
          </a:prstGeom>
          <a:noFill/>
        </p:spPr>
        <p:txBody>
          <a:bodyPr wrap="square" lIns="0" tIns="0" rIns="0" bIns="0" anchor="t">
            <a:noAutofit/>
          </a:bodyPr>
          <a:lstStyle/>
          <a:p>
            <a:pPr marL="0" indent="0" algn="l">
              <a:lnSpc>
                <a:spcPts val="997"/>
              </a:lnSpc>
              <a:spcBef>
                <a:spcPts val="0"/>
              </a:spcBef>
              <a:spcAft>
                <a:spcPts val="0"/>
              </a:spcAft>
              <a:buNone/>
            </a:pPr>
            <a:r>
              <a:rPr sz="997" b="1" i="0" spc="150">
                <a:solidFill>
                  <a:srgbClr val="B2A7C4"/>
                </a:solidFill>
                <a:latin typeface="Fira Sans Medium"/>
              </a:rPr>
              <a:t>CHAPTER 02 — SUMMARY</a:t>
            </a:r>
          </a:p>
        </p:txBody>
      </p:sp>
      <p:sp>
        <p:nvSpPr>
          <p:cNvPr id="4" name="TextBox 3"/>
          <p:cNvSpPr txBox="1"/>
          <p:nvPr/>
        </p:nvSpPr>
        <p:spPr>
          <a:xfrm>
            <a:off x="859536" y="1225296"/>
            <a:ext cx="6766560" cy="640080"/>
          </a:xfrm>
          <a:prstGeom prst="rect">
            <a:avLst/>
          </a:prstGeom>
          <a:noFill/>
        </p:spPr>
        <p:txBody>
          <a:bodyPr wrap="square" lIns="0" tIns="0" rIns="0" bIns="0" anchor="t">
            <a:noAutofit/>
          </a:bodyPr>
          <a:lstStyle/>
          <a:p>
            <a:pPr marL="0" indent="0" algn="l">
              <a:lnSpc>
                <a:spcPts val="2685"/>
              </a:lnSpc>
              <a:spcBef>
                <a:spcPts val="0"/>
              </a:spcBef>
              <a:spcAft>
                <a:spcPts val="0"/>
              </a:spcAft>
              <a:buNone/>
            </a:pPr>
            <a:r>
              <a:rPr sz="2632" b="1" i="0">
                <a:solidFill>
                  <a:srgbClr val="FFFFFF"/>
                </a:solidFill>
                <a:latin typeface="Roboto Slab"/>
              </a:rPr>
              <a:t>What to carry into Chapter 03</a:t>
            </a:r>
          </a:p>
        </p:txBody>
      </p:sp>
      <p:sp>
        <p:nvSpPr>
          <p:cNvPr id="5" name="TextBox 4"/>
          <p:cNvSpPr txBox="1"/>
          <p:nvPr/>
        </p:nvSpPr>
        <p:spPr>
          <a:xfrm>
            <a:off x="859536" y="2212848"/>
            <a:ext cx="6400800" cy="4151376"/>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dirty="0">
                <a:solidFill>
                  <a:srgbClr val="B2A7C4"/>
                </a:solidFill>
                <a:latin typeface="Fira Sans"/>
              </a:rPr>
              <a:t>01   </a:t>
            </a:r>
            <a:r>
              <a:rPr sz="1188" b="1" i="0" dirty="0">
                <a:solidFill>
                  <a:srgbClr val="FFFFFF"/>
                </a:solidFill>
                <a:latin typeface="Fira Sans"/>
              </a:rPr>
              <a:t>The agent is defined by a boundary, not by hardware.</a:t>
            </a:r>
          </a:p>
          <a:p>
            <a:pPr marL="384048" indent="0" algn="l">
              <a:lnSpc>
                <a:spcPts val="1233"/>
              </a:lnSpc>
              <a:spcBef>
                <a:spcPts val="300"/>
              </a:spcBef>
              <a:spcAft>
                <a:spcPts val="0"/>
              </a:spcAft>
              <a:buNone/>
            </a:pPr>
            <a:r>
              <a:rPr sz="1045" b="0" i="0" dirty="0">
                <a:solidFill>
                  <a:srgbClr val="D6D0E0"/>
                </a:solidFill>
                <a:latin typeface="Fira Sans"/>
              </a:rPr>
              <a:t>Everything that determines the consequence of an action belongs to the environment</a:t>
            </a:r>
            <a:r>
              <a:rPr lang="it-IT" sz="1045" b="0" i="0" dirty="0">
                <a:solidFill>
                  <a:srgbClr val="D6D0E0"/>
                </a:solidFill>
                <a:latin typeface="Fira Sans"/>
              </a:rPr>
              <a:t>,</a:t>
            </a:r>
            <a:r>
              <a:rPr sz="1045" b="0" i="0" dirty="0">
                <a:solidFill>
                  <a:srgbClr val="D6D0E0"/>
                </a:solidFill>
                <a:latin typeface="Fira Sans"/>
              </a:rPr>
              <a:t> including the robot arm. The agent ends where the decision ends.</a:t>
            </a:r>
          </a:p>
          <a:p>
            <a:pPr marL="0" indent="0" algn="l">
              <a:lnSpc>
                <a:spcPts val="1331"/>
              </a:lnSpc>
              <a:spcBef>
                <a:spcPts val="1400"/>
              </a:spcBef>
              <a:spcAft>
                <a:spcPts val="0"/>
              </a:spcAft>
              <a:buNone/>
            </a:pPr>
            <a:r>
              <a:rPr sz="1188" b="1" i="0" dirty="0">
                <a:solidFill>
                  <a:srgbClr val="B2A7C4"/>
                </a:solidFill>
                <a:latin typeface="Fira Sans"/>
              </a:rPr>
              <a:t>02   </a:t>
            </a:r>
            <a:r>
              <a:rPr sz="1188" b="1" i="0" dirty="0">
                <a:solidFill>
                  <a:srgbClr val="FFFFFF"/>
                </a:solidFill>
                <a:latin typeface="Fira Sans"/>
              </a:rPr>
              <a:t>One function specifies the environment.</a:t>
            </a:r>
          </a:p>
          <a:p>
            <a:pPr marL="384048" indent="0" algn="l">
              <a:lnSpc>
                <a:spcPts val="1233"/>
              </a:lnSpc>
              <a:spcBef>
                <a:spcPts val="300"/>
              </a:spcBef>
              <a:spcAft>
                <a:spcPts val="0"/>
              </a:spcAft>
              <a:buNone/>
            </a:pPr>
            <a:r>
              <a:rPr sz="1045" b="0" i="0" dirty="0">
                <a:solidFill>
                  <a:srgbClr val="D6D0E0"/>
                </a:solidFill>
                <a:latin typeface="Fira Sans"/>
              </a:rPr>
              <a:t>p(s′, r | s, a) is the whole model. The transition function, the reward distribution and every expected reward are marginals or conditionals of it.</a:t>
            </a:r>
          </a:p>
          <a:p>
            <a:pPr marL="0" indent="0" algn="l">
              <a:lnSpc>
                <a:spcPts val="1331"/>
              </a:lnSpc>
              <a:spcBef>
                <a:spcPts val="1400"/>
              </a:spcBef>
              <a:spcAft>
                <a:spcPts val="0"/>
              </a:spcAft>
              <a:buNone/>
            </a:pPr>
            <a:r>
              <a:rPr sz="1188" b="1" i="0" dirty="0">
                <a:solidFill>
                  <a:srgbClr val="B2A7C4"/>
                </a:solidFill>
                <a:latin typeface="Fira Sans"/>
              </a:rPr>
              <a:t>03   </a:t>
            </a:r>
            <a:r>
              <a:rPr sz="1188" b="1" i="0" dirty="0">
                <a:solidFill>
                  <a:srgbClr val="FFFFFF"/>
                </a:solidFill>
                <a:latin typeface="Fira Sans"/>
              </a:rPr>
              <a:t>Two assumptions make it tractable.</a:t>
            </a:r>
          </a:p>
          <a:p>
            <a:pPr marL="384048" indent="0" algn="l">
              <a:lnSpc>
                <a:spcPts val="1233"/>
              </a:lnSpc>
              <a:spcBef>
                <a:spcPts val="300"/>
              </a:spcBef>
              <a:spcAft>
                <a:spcPts val="0"/>
              </a:spcAft>
              <a:buNone/>
            </a:pPr>
            <a:r>
              <a:rPr sz="1045" b="0" i="0" dirty="0">
                <a:solidFill>
                  <a:srgbClr val="D6D0E0"/>
                </a:solidFill>
                <a:latin typeface="Fira Sans"/>
              </a:rPr>
              <a:t>The Markov property lets the state replace the history; stationarity lets the time index be dropped. Both are modelling choices, and both can fail.</a:t>
            </a:r>
          </a:p>
          <a:p>
            <a:pPr marL="0" indent="0" algn="l">
              <a:lnSpc>
                <a:spcPts val="1331"/>
              </a:lnSpc>
              <a:spcBef>
                <a:spcPts val="1400"/>
              </a:spcBef>
              <a:spcAft>
                <a:spcPts val="0"/>
              </a:spcAft>
              <a:buNone/>
            </a:pPr>
            <a:r>
              <a:rPr sz="1188" b="1" i="0" dirty="0">
                <a:solidFill>
                  <a:srgbClr val="B2A7C4"/>
                </a:solidFill>
                <a:latin typeface="Fira Sans"/>
              </a:rPr>
              <a:t>04   </a:t>
            </a:r>
            <a:r>
              <a:rPr sz="1188" b="1" i="0" dirty="0">
                <a:solidFill>
                  <a:srgbClr val="FFFFFF"/>
                </a:solidFill>
                <a:latin typeface="Fira Sans"/>
              </a:rPr>
              <a:t>The goal is a number: the expected discounted return.</a:t>
            </a:r>
          </a:p>
          <a:p>
            <a:pPr marL="384048" indent="0" algn="l">
              <a:lnSpc>
                <a:spcPts val="1233"/>
              </a:lnSpc>
              <a:spcBef>
                <a:spcPts val="300"/>
              </a:spcBef>
              <a:spcAft>
                <a:spcPts val="0"/>
              </a:spcAft>
              <a:buNone/>
            </a:pPr>
            <a:r>
              <a:rPr sz="1045" b="0" i="0" dirty="0" err="1">
                <a:solidFill>
                  <a:srgbClr val="D6D0E0"/>
                </a:solidFill>
                <a:latin typeface="Fira Sans"/>
              </a:rPr>
              <a:t>γ</a:t>
            </a:r>
            <a:r>
              <a:rPr sz="1045" b="0" i="0" dirty="0">
                <a:solidFill>
                  <a:srgbClr val="D6D0E0"/>
                </a:solidFill>
                <a:latin typeface="Fira Sans"/>
              </a:rPr>
              <a:t> makes the sum finite for continuing tasks and sets how far ahead the agent looks. The reward hypothesis is the claim that this is enough.</a:t>
            </a:r>
          </a:p>
          <a:p>
            <a:pPr marL="0" indent="0" algn="l">
              <a:lnSpc>
                <a:spcPts val="1331"/>
              </a:lnSpc>
              <a:spcBef>
                <a:spcPts val="1400"/>
              </a:spcBef>
              <a:spcAft>
                <a:spcPts val="0"/>
              </a:spcAft>
              <a:buNone/>
            </a:pPr>
            <a:r>
              <a:rPr sz="1188" b="1" i="0" dirty="0">
                <a:solidFill>
                  <a:srgbClr val="B2A7C4"/>
                </a:solidFill>
                <a:latin typeface="Fira Sans"/>
              </a:rPr>
              <a:t>05   </a:t>
            </a:r>
            <a:r>
              <a:rPr sz="1188" b="1" i="0" dirty="0">
                <a:solidFill>
                  <a:srgbClr val="FFFFFF"/>
                </a:solidFill>
                <a:latin typeface="Fira Sans"/>
              </a:rPr>
              <a:t>The solution is a policy, not a plan.</a:t>
            </a:r>
          </a:p>
          <a:p>
            <a:pPr marL="384048" indent="0" algn="l">
              <a:lnSpc>
                <a:spcPts val="1233"/>
              </a:lnSpc>
              <a:spcBef>
                <a:spcPts val="300"/>
              </a:spcBef>
              <a:spcAft>
                <a:spcPts val="0"/>
              </a:spcAft>
              <a:buNone/>
            </a:pPr>
            <a:r>
              <a:rPr sz="1045" b="0" i="0" dirty="0">
                <a:solidFill>
                  <a:srgbClr val="D6D0E0"/>
                </a:solidFill>
                <a:latin typeface="Fira Sans"/>
              </a:rPr>
              <a:t>Under stochastic dynamics a fixed sequence of actions stops applying the moment the world deviates. A policy answers for every state the agent can reach.</a:t>
            </a:r>
          </a:p>
          <a:p>
            <a:pPr marL="0" indent="0" algn="l">
              <a:lnSpc>
                <a:spcPts val="1331"/>
              </a:lnSpc>
              <a:spcBef>
                <a:spcPts val="1400"/>
              </a:spcBef>
              <a:spcAft>
                <a:spcPts val="0"/>
              </a:spcAft>
              <a:buNone/>
            </a:pPr>
            <a:r>
              <a:rPr sz="1188" b="1" i="0" dirty="0">
                <a:solidFill>
                  <a:srgbClr val="B2A7C4"/>
                </a:solidFill>
                <a:latin typeface="Fira Sans"/>
              </a:rPr>
              <a:t>06   </a:t>
            </a:r>
            <a:r>
              <a:rPr sz="1188" b="1" i="0" dirty="0">
                <a:solidFill>
                  <a:srgbClr val="FFFFFF"/>
                </a:solidFill>
                <a:latin typeface="Fira Sans"/>
              </a:rPr>
              <a:t>Chapter 03 replaces brute force.</a:t>
            </a:r>
          </a:p>
          <a:p>
            <a:pPr marL="384048" indent="0" algn="l">
              <a:lnSpc>
                <a:spcPts val="1233"/>
              </a:lnSpc>
              <a:spcBef>
                <a:spcPts val="300"/>
              </a:spcBef>
              <a:spcAft>
                <a:spcPts val="0"/>
              </a:spcAft>
              <a:buNone/>
            </a:pPr>
            <a:r>
              <a:rPr sz="1045" b="0" i="0" dirty="0">
                <a:solidFill>
                  <a:srgbClr val="D6D0E0"/>
                </a:solidFill>
                <a:latin typeface="Fira Sans"/>
              </a:rPr>
              <a:t>Estimating a policy by simulating ten thousand episodes is wasteful and tells us nothing about individual states. Value functions and the Bellman equations do both properly.</a:t>
            </a:r>
          </a:p>
        </p:txBody>
      </p:sp>
      <p:sp>
        <p:nvSpPr>
          <p:cNvPr id="6" name="Rectangle 5"/>
          <p:cNvSpPr/>
          <p:nvPr/>
        </p:nvSpPr>
        <p:spPr>
          <a:xfrm>
            <a:off x="7635240" y="1225296"/>
            <a:ext cx="10972" cy="448056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138160" y="1225296"/>
            <a:ext cx="3383280" cy="27432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40">
                <a:solidFill>
                  <a:srgbClr val="B2A7C4"/>
                </a:solidFill>
                <a:latin typeface="Fira Sans Medium"/>
              </a:rPr>
              <a:t>PRIMARY SOURCES</a:t>
            </a:r>
          </a:p>
        </p:txBody>
      </p:sp>
      <p:sp>
        <p:nvSpPr>
          <p:cNvPr id="8" name="TextBox 7"/>
          <p:cNvSpPr txBox="1"/>
          <p:nvPr/>
        </p:nvSpPr>
        <p:spPr>
          <a:xfrm>
            <a:off x="8138160" y="1609344"/>
            <a:ext cx="3474720" cy="4023360"/>
          </a:xfrm>
          <a:prstGeom prst="rect">
            <a:avLst/>
          </a:prstGeom>
          <a:noFill/>
        </p:spPr>
        <p:txBody>
          <a:bodyPr wrap="square" lIns="0" tIns="0" rIns="0" bIns="0" anchor="t">
            <a:noAutofit/>
          </a:bodyPr>
          <a:lstStyle/>
          <a:p>
            <a:pPr marL="0" indent="0" algn="l">
              <a:lnSpc>
                <a:spcPts val="1129"/>
              </a:lnSpc>
              <a:spcBef>
                <a:spcPts val="0"/>
              </a:spcBef>
              <a:spcAft>
                <a:spcPts val="0"/>
              </a:spcAft>
              <a:buNone/>
            </a:pPr>
            <a:r>
              <a:rPr sz="1045" b="1" i="0">
                <a:solidFill>
                  <a:srgbClr val="FFFFFF"/>
                </a:solidFill>
                <a:latin typeface="Fira Sans"/>
              </a:rPr>
              <a:t>Bellman (1957)</a:t>
            </a:r>
          </a:p>
          <a:p>
            <a:pPr marL="0" indent="0" algn="l">
              <a:lnSpc>
                <a:spcPts val="1083"/>
              </a:lnSpc>
              <a:spcBef>
                <a:spcPts val="100"/>
              </a:spcBef>
              <a:spcAft>
                <a:spcPts val="0"/>
              </a:spcAft>
              <a:buNone/>
            </a:pPr>
            <a:r>
              <a:rPr sz="950" b="0" i="1">
                <a:solidFill>
                  <a:srgbClr val="B2A7C4"/>
                </a:solidFill>
                <a:latin typeface="Fira Sans"/>
              </a:rPr>
              <a:t>A Markovian Decision Process</a:t>
            </a:r>
          </a:p>
          <a:p>
            <a:pPr marL="0" indent="0" algn="l">
              <a:lnSpc>
                <a:spcPts val="1129"/>
              </a:lnSpc>
              <a:spcBef>
                <a:spcPts val="1200"/>
              </a:spcBef>
              <a:spcAft>
                <a:spcPts val="0"/>
              </a:spcAft>
              <a:buNone/>
            </a:pPr>
            <a:r>
              <a:rPr sz="1045" b="1" i="0">
                <a:solidFill>
                  <a:srgbClr val="FFFFFF"/>
                </a:solidFill>
                <a:latin typeface="Fira Sans"/>
              </a:rPr>
              <a:t>Minsky (1961)</a:t>
            </a:r>
          </a:p>
          <a:p>
            <a:pPr marL="0" indent="0" algn="l">
              <a:lnSpc>
                <a:spcPts val="1083"/>
              </a:lnSpc>
              <a:spcBef>
                <a:spcPts val="100"/>
              </a:spcBef>
              <a:spcAft>
                <a:spcPts val="0"/>
              </a:spcAft>
              <a:buNone/>
            </a:pPr>
            <a:r>
              <a:rPr sz="950" b="0" i="1">
                <a:solidFill>
                  <a:srgbClr val="B2A7C4"/>
                </a:solidFill>
                <a:latin typeface="Fira Sans"/>
              </a:rPr>
              <a:t>Steps Toward Artificial Intelligence</a:t>
            </a:r>
          </a:p>
          <a:p>
            <a:pPr marL="0" indent="0" algn="l">
              <a:lnSpc>
                <a:spcPts val="1129"/>
              </a:lnSpc>
              <a:spcBef>
                <a:spcPts val="1200"/>
              </a:spcBef>
              <a:spcAft>
                <a:spcPts val="0"/>
              </a:spcAft>
              <a:buNone/>
            </a:pPr>
            <a:r>
              <a:rPr sz="1045" b="1" i="0">
                <a:solidFill>
                  <a:srgbClr val="FFFFFF"/>
                </a:solidFill>
                <a:latin typeface="Fira Sans"/>
              </a:rPr>
              <a:t>Silver et al. (2021)</a:t>
            </a:r>
          </a:p>
          <a:p>
            <a:pPr marL="0" indent="0" algn="l">
              <a:lnSpc>
                <a:spcPts val="1083"/>
              </a:lnSpc>
              <a:spcBef>
                <a:spcPts val="100"/>
              </a:spcBef>
              <a:spcAft>
                <a:spcPts val="0"/>
              </a:spcAft>
              <a:buNone/>
            </a:pPr>
            <a:r>
              <a:rPr sz="950" b="0" i="1">
                <a:solidFill>
                  <a:srgbClr val="B2A7C4"/>
                </a:solidFill>
                <a:latin typeface="Fira Sans"/>
              </a:rPr>
              <a:t>Reward is Enough</a:t>
            </a:r>
          </a:p>
          <a:p>
            <a:pPr marL="0" indent="0" algn="l">
              <a:lnSpc>
                <a:spcPts val="1129"/>
              </a:lnSpc>
              <a:spcBef>
                <a:spcPts val="1200"/>
              </a:spcBef>
              <a:spcAft>
                <a:spcPts val="0"/>
              </a:spcAft>
              <a:buNone/>
            </a:pPr>
            <a:r>
              <a:rPr sz="1045" b="1" i="0">
                <a:solidFill>
                  <a:srgbClr val="FFFFFF"/>
                </a:solidFill>
                <a:latin typeface="Fira Sans"/>
              </a:rPr>
              <a:t>Towers et al. (2024)</a:t>
            </a:r>
          </a:p>
          <a:p>
            <a:pPr marL="0" indent="0" algn="l">
              <a:lnSpc>
                <a:spcPts val="1083"/>
              </a:lnSpc>
              <a:spcBef>
                <a:spcPts val="100"/>
              </a:spcBef>
              <a:spcAft>
                <a:spcPts val="0"/>
              </a:spcAft>
              <a:buNone/>
            </a:pPr>
            <a:r>
              <a:rPr sz="950" b="0" i="1">
                <a:solidFill>
                  <a:srgbClr val="B2A7C4"/>
                </a:solidFill>
                <a:latin typeface="Fira Sans"/>
              </a:rPr>
              <a:t>Gymnasium: A Standard Interface for
Reinforcement Learning Environments</a:t>
            </a:r>
          </a:p>
        </p:txBody>
      </p:sp>
      <p:pic>
        <p:nvPicPr>
          <p:cNvPr id="9" name="Picture 8" descr="image.png"/>
          <p:cNvPicPr>
            <a:picLocks noChangeAspect="1"/>
          </p:cNvPicPr>
          <p:nvPr/>
        </p:nvPicPr>
        <p:blipFill>
          <a:blip r:embed="rId2"/>
          <a:stretch>
            <a:fillRect/>
          </a:stretch>
        </p:blipFill>
        <p:spPr>
          <a:xfrm>
            <a:off x="10561320" y="5623560"/>
            <a:ext cx="786384" cy="527320"/>
          </a:xfrm>
          <a:prstGeom prst="rect">
            <a:avLst/>
          </a:prstGeom>
        </p:spPr>
      </p:pic>
    </p:spTree>
  </p:cSld>
  <p:clrMapOvr>
    <a:masterClrMapping/>
  </p:clrMapOvr>
</p:sld>
</file>

<file path=ppt/theme/theme1.xml><?xml version="1.0" encoding="utf-8"?>
<a:theme xmlns:a="http://schemas.openxmlformats.org/drawingml/2006/main" name="Tema di Office">
  <a:themeElements>
    <a:clrScheme name="ingegneria">
      <a:dk1>
        <a:srgbClr val="000000"/>
      </a:dk1>
      <a:lt1>
        <a:srgbClr val="FFFFFF"/>
      </a:lt1>
      <a:dk2>
        <a:srgbClr val="000000"/>
      </a:dk2>
      <a:lt2>
        <a:srgbClr val="E7E6E6"/>
      </a:lt2>
      <a:accent1>
        <a:srgbClr val="574676"/>
      </a:accent1>
      <a:accent2>
        <a:srgbClr val="574676"/>
      </a:accent2>
      <a:accent3>
        <a:srgbClr val="574676"/>
      </a:accent3>
      <a:accent4>
        <a:srgbClr val="574676"/>
      </a:accent4>
      <a:accent5>
        <a:srgbClr val="574676"/>
      </a:accent5>
      <a:accent6>
        <a:srgbClr val="574676"/>
      </a:accent6>
      <a:hlink>
        <a:srgbClr val="574676"/>
      </a:hlink>
      <a:folHlink>
        <a:srgbClr val="E7E6E6"/>
      </a:folHlink>
    </a:clrScheme>
    <a:fontScheme name="Consolas-Verdana">
      <a:majorFont>
        <a:latin typeface="Consolas" panose="020B0609020204030204"/>
        <a:ea typeface=""/>
        <a:cs typeface=""/>
        <a:font script="Jpan" typeface="HG丸ｺﾞｼｯｸM-PRO"/>
        <a:font script="Hang" typeface="HY중고딕"/>
        <a:font script="Hans" typeface="华文楷体"/>
        <a:font script="Hant" typeface="新細明體"/>
        <a:font script="Arab" typeface="Tahoma"/>
        <a:font script="Hebr" typeface="Levenim MT"/>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Verdana" panose="020B060403050404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ctr">
        <a:normAutofit/>
      </a:bodyPr>
      <a:lstStyle>
        <a:defPPr marL="0" indent="0" algn="l">
          <a:buNone/>
          <a:defRPr sz="1050" b="0" i="1" dirty="0" smtClean="0">
            <a:latin typeface="Fira Sans" panose="020B0503050000020004" pitchFamily="34" charset="0"/>
          </a:defRPr>
        </a:defPPr>
      </a:lstStyle>
    </a:txDef>
  </a:objectDefaults>
  <a:extraClrSchemeLst/>
  <a:extLst>
    <a:ext uri="{05A4C25C-085E-4340-85A3-A5531E510DB2}">
      <thm15:themeFamily xmlns:thm15="http://schemas.microsoft.com/office/thememl/2012/main" name="Presentation2" id="{9E943207-3816-4CB4-949D-1A150629494E}" vid="{FBF57FA0-DAAF-4234-A026-6691D98987D1}"/>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106</TotalTime>
  <Words>7975</Words>
  <Application>Microsoft Macintosh PowerPoint</Application>
  <PresentationFormat>Widescreen</PresentationFormat>
  <Paragraphs>581</Paragraphs>
  <Slides>40</Slides>
  <Notes>0</Notes>
  <HiddenSlides>0</HiddenSlides>
  <MMClips>0</MMClips>
  <ScaleCrop>false</ScaleCrop>
  <HeadingPairs>
    <vt:vector size="6" baseType="variant">
      <vt:variant>
        <vt:lpstr>Caratteri utilizzati</vt:lpstr>
      </vt:variant>
      <vt:variant>
        <vt:i4>6</vt:i4>
      </vt:variant>
      <vt:variant>
        <vt:lpstr>Tema</vt:lpstr>
      </vt:variant>
      <vt:variant>
        <vt:i4>1</vt:i4>
      </vt:variant>
      <vt:variant>
        <vt:lpstr>Titoli diapositive</vt:lpstr>
      </vt:variant>
      <vt:variant>
        <vt:i4>40</vt:i4>
      </vt:variant>
    </vt:vector>
  </HeadingPairs>
  <TitlesOfParts>
    <vt:vector size="47" baseType="lpstr">
      <vt:lpstr>Roboto Slab</vt:lpstr>
      <vt:lpstr>Consolas</vt:lpstr>
      <vt:lpstr>Calibri</vt:lpstr>
      <vt:lpstr>Fira Sans</vt:lpstr>
      <vt:lpstr>Arial</vt:lpstr>
      <vt:lpstr>Fira Sans Medium</vt:lpstr>
      <vt:lpstr>Tema di Office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Reinforcement Learning Problem — Chapter 02</dc:title>
  <dc:subject>Reinforcement Learning, Chapter 02: The Reinforcement Learning Problem</dc:subject>
  <dc:creator>Riccardo Berta</dc:creator>
  <cp:keywords/>
  <dc:description>Companion lecture slides generated from the Chapter 02 lecture notes (notes.ipynb), on the DITEN widescreen template. Figures reused from the notes; mathematics typeset in LaTeX as vector graphics.</dc:description>
  <cp:lastModifiedBy>Riccardo Berta</cp:lastModifiedBy>
  <cp:revision>1</cp:revision>
  <cp:lastPrinted>2019-04-15T13:03:12Z</cp:lastPrinted>
  <dcterms:created xsi:type="dcterms:W3CDTF">2020-06-03T21:02:46Z</dcterms:created>
  <dcterms:modified xsi:type="dcterms:W3CDTF">2026-09-28T10:37:31Z</dcterms:modified>
  <cp:category>University lecture slides</cp:category>
</cp:coreProperties>
</file>