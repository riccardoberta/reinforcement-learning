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vectorimage1.svg" ContentType="image/svg+xml"/>
  <Override PartName="/ppt/media/vectorimage10.svg" ContentType="image/svg+xml"/>
  <Override PartName="/ppt/media/vectorimage11.svg" ContentType="image/svg+xml"/>
  <Override PartName="/ppt/media/vectorimage12.svg" ContentType="image/svg+xml"/>
  <Override PartName="/ppt/media/vectorimage13.svg" ContentType="image/svg+xml"/>
  <Override PartName="/ppt/media/vectorimage14.svg" ContentType="image/svg+xml"/>
  <Override PartName="/ppt/media/vectorimage15.svg" ContentType="image/svg+xml"/>
  <Override PartName="/ppt/media/vectorimage16.svg" ContentType="image/svg+xml"/>
  <Override PartName="/ppt/media/vectorimage17.svg" ContentType="image/svg+xml"/>
  <Override PartName="/ppt/media/vectorimage18.svg" ContentType="image/svg+xml"/>
  <Override PartName="/ppt/media/vectorimage19.svg" ContentType="image/svg+xml"/>
  <Override PartName="/ppt/media/vectorimage2.svg" ContentType="image/svg+xml"/>
  <Override PartName="/ppt/media/vectorimage20.svg" ContentType="image/svg+xml"/>
  <Override PartName="/ppt/media/vectorimage21.svg" ContentType="image/svg+xml"/>
  <Override PartName="/ppt/media/vectorimage22.svg" ContentType="image/svg+xml"/>
  <Override PartName="/ppt/media/vectorimage23.svg" ContentType="image/svg+xml"/>
  <Override PartName="/ppt/media/vectorimage24.svg" ContentType="image/svg+xml"/>
  <Override PartName="/ppt/media/vectorimage25.svg" ContentType="image/svg+xml"/>
  <Override PartName="/ppt/media/vectorimage26.svg" ContentType="image/svg+xml"/>
  <Override PartName="/ppt/media/vectorimage27.svg" ContentType="image/svg+xml"/>
  <Override PartName="/ppt/media/vectorimage28.svg" ContentType="image/svg+xml"/>
  <Override PartName="/ppt/media/vectorimage29.svg" ContentType="image/svg+xml"/>
  <Override PartName="/ppt/media/vectorimage3.svg" ContentType="image/svg+xml"/>
  <Override PartName="/ppt/media/vectorimage30.svg" ContentType="image/svg+xml"/>
  <Override PartName="/ppt/media/vectorimage31.svg" ContentType="image/svg+xml"/>
  <Override PartName="/ppt/media/vectorimage32.svg" ContentType="image/svg+xml"/>
  <Override PartName="/ppt/media/vectorimage4.svg" ContentType="image/svg+xml"/>
  <Override PartName="/ppt/media/vectorimage5.svg" ContentType="image/svg+xml"/>
  <Override PartName="/ppt/media/vectorimage6.svg" ContentType="image/svg+xml"/>
  <Override PartName="/ppt/media/vectorimage7.svg" ContentType="image/svg+xml"/>
  <Override PartName="/ppt/media/vectorimage8.svg" ContentType="image/svg+xml"/>
  <Override PartName="/ppt/media/vector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vectorimage1.svg"/><Relationship Id="rId4" Type="http://schemas.openxmlformats.org/officeDocument/2006/relationships/image" Target="../media/image3.png"/><Relationship Id="rId5" Type="http://schemas.openxmlformats.org/officeDocument/2006/relationships/image" Target="../media/vectorimage2.svg"/><Relationship Id="rId6" Type="http://schemas.openxmlformats.org/officeDocument/2006/relationships/image" Target="../media/image4.png"/><Relationship Id="rId7" Type="http://schemas.openxmlformats.org/officeDocument/2006/relationships/image" Target="../media/vector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vector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vector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vectorimage6.svg"/><Relationship Id="rId4" Type="http://schemas.openxmlformats.org/officeDocument/2006/relationships/image" Target="../media/image9.png"/><Relationship Id="rId5" Type="http://schemas.openxmlformats.org/officeDocument/2006/relationships/image" Target="../media/vectorimage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vectorimage8.svg"/><Relationship Id="rId5" Type="http://schemas.openxmlformats.org/officeDocument/2006/relationships/image" Target="../media/image12.png"/><Relationship Id="rId6" Type="http://schemas.openxmlformats.org/officeDocument/2006/relationships/image" Target="../media/vectorimage9.svg"/><Relationship Id="rId7" Type="http://schemas.openxmlformats.org/officeDocument/2006/relationships/image" Target="../media/image13.png"/><Relationship Id="rId8" Type="http://schemas.openxmlformats.org/officeDocument/2006/relationships/image" Target="../media/vectorimage1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vectorimage1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vectorimage12.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vectorimage13.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vectorimage14.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vectorimage15.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vectorimage16.svg"/><Relationship Id="rId4" Type="http://schemas.openxmlformats.org/officeDocument/2006/relationships/image" Target="../media/image45.png"/><Relationship Id="rId5" Type="http://schemas.openxmlformats.org/officeDocument/2006/relationships/image" Target="../media/vectorimage17.svg"/><Relationship Id="rId6" Type="http://schemas.openxmlformats.org/officeDocument/2006/relationships/image" Target="../media/image46.png"/><Relationship Id="rId7" Type="http://schemas.openxmlformats.org/officeDocument/2006/relationships/image" Target="../media/vectorimage1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vectorimage19.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vectorimage20.svg"/><Relationship Id="rId4" Type="http://schemas.openxmlformats.org/officeDocument/2006/relationships/image" Target="../media/image50.png"/><Relationship Id="rId5" Type="http://schemas.openxmlformats.org/officeDocument/2006/relationships/image" Target="../media/vectorimage21.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vectorimage22.sv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vectorimage23.sv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vectorimage24.sv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vectorimage25.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vectorimage26.svg"/><Relationship Id="rId4" Type="http://schemas.openxmlformats.org/officeDocument/2006/relationships/image" Target="../media/image61.png"/><Relationship Id="rId5" Type="http://schemas.openxmlformats.org/officeDocument/2006/relationships/image" Target="../media/vectorimage27.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vectorimage28.svg"/><Relationship Id="rId4" Type="http://schemas.openxmlformats.org/officeDocument/2006/relationships/image" Target="../media/image63.png"/><Relationship Id="rId5" Type="http://schemas.openxmlformats.org/officeDocument/2006/relationships/image" Target="../media/vectorimage29.svg"/><Relationship Id="rId6" Type="http://schemas.openxmlformats.org/officeDocument/2006/relationships/image" Target="../media/image64.png"/><Relationship Id="rId7" Type="http://schemas.openxmlformats.org/officeDocument/2006/relationships/image" Target="../media/vectorimage30.svg"/><Relationship Id="rId8" Type="http://schemas.openxmlformats.org/officeDocument/2006/relationships/image" Target="../media/image65.png"/><Relationship Id="rId9" Type="http://schemas.openxmlformats.org/officeDocument/2006/relationships/image" Target="../media/vectorimage31.svg"/><Relationship Id="rId10" Type="http://schemas.openxmlformats.org/officeDocument/2006/relationships/image" Target="../media/image66.png"/><Relationship Id="rId11" Type="http://schemas.openxmlformats.org/officeDocument/2006/relationships/image" Target="../media/vectorimage32.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81328"/>
            <a:ext cx="5486400" cy="237744"/>
          </a:xfrm>
          <a:prstGeom prst="rect">
            <a:avLst/>
          </a:prstGeom>
          <a:noFill/>
        </p:spPr>
        <p:txBody>
          <a:bodyPr wrap="square" lIns="0" rIns="0" tIns="0" bIns="0" anchor="t">
            <a:noAutofit/>
          </a:bodyPr>
          <a:lstStyle/>
          <a:p>
            <a:pPr algn="l" marL="0" indent="0">
              <a:lnSpc>
                <a:spcPts val="1200"/>
              </a:lnSpc>
              <a:spcBef>
                <a:spcPts val="0"/>
              </a:spcBef>
              <a:spcAft>
                <a:spcPts val="0"/>
              </a:spcAft>
              <a:buNone/>
            </a:pPr>
            <a:r>
              <a:rPr sz="1200" b="1" i="0" spc="180">
                <a:solidFill>
                  <a:srgbClr val="7FAED9"/>
                </a:solidFill>
                <a:latin typeface="Calibri"/>
              </a:rPr>
              <a:t>REINFORCEMENT LEARNING   ·   CHAPTER 01</a:t>
            </a:r>
          </a:p>
        </p:txBody>
      </p:sp>
      <p:sp>
        <p:nvSpPr>
          <p:cNvPr id="5" name="TextBox 4"/>
          <p:cNvSpPr txBox="1"/>
          <p:nvPr/>
        </p:nvSpPr>
        <p:spPr>
          <a:xfrm>
            <a:off x="960120" y="1874519"/>
            <a:ext cx="6583680" cy="914400"/>
          </a:xfrm>
          <a:prstGeom prst="rect">
            <a:avLst/>
          </a:prstGeom>
          <a:noFill/>
        </p:spPr>
        <p:txBody>
          <a:bodyPr wrap="square" lIns="0" rIns="0" tIns="0" bIns="0" anchor="t">
            <a:noAutofit/>
          </a:bodyPr>
          <a:lstStyle/>
          <a:p>
            <a:pPr algn="l" marL="0" indent="0">
              <a:lnSpc>
                <a:spcPts val="4400"/>
              </a:lnSpc>
              <a:spcBef>
                <a:spcPts val="0"/>
              </a:spcBef>
              <a:spcAft>
                <a:spcPts val="0"/>
              </a:spcAft>
              <a:buNone/>
            </a:pPr>
            <a:r>
              <a:rPr sz="4400" b="1" i="0">
                <a:solidFill>
                  <a:srgbClr val="FFFFFF"/>
                </a:solidFill>
                <a:latin typeface="Calibri"/>
              </a:rPr>
              <a:t>Agent Architectures</a:t>
            </a:r>
          </a:p>
        </p:txBody>
      </p:sp>
      <p:sp>
        <p:nvSpPr>
          <p:cNvPr id="6" name="Rectangle 5"/>
          <p:cNvSpPr/>
          <p:nvPr/>
        </p:nvSpPr>
        <p:spPr>
          <a:xfrm>
            <a:off x="960120" y="2944368"/>
            <a:ext cx="1280160" cy="320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3218688"/>
            <a:ext cx="5943600" cy="1371600"/>
          </a:xfrm>
          <a:prstGeom prst="rect">
            <a:avLst/>
          </a:prstGeom>
          <a:noFill/>
        </p:spPr>
        <p:txBody>
          <a:bodyPr wrap="square" lIns="0" rIns="0" tIns="0" bIns="0" anchor="t">
            <a:noAutofit/>
          </a:bodyPr>
          <a:lstStyle/>
          <a:p>
            <a:pPr algn="l" marL="0" indent="0">
              <a:lnSpc>
                <a:spcPts val="1980"/>
              </a:lnSpc>
              <a:spcBef>
                <a:spcPts val="0"/>
              </a:spcBef>
              <a:spcAft>
                <a:spcPts val="0"/>
              </a:spcAft>
              <a:buNone/>
            </a:pPr>
            <a:r>
              <a:rPr sz="1500" b="0" i="0">
                <a:solidFill>
                  <a:srgbClr val="BDCFE0"/>
                </a:solidFill>
                <a:latin typeface="Calibri"/>
              </a:rPr>
              <a:t>From the agent–environment loop to reflex, model-based, goal-based, utility-based and learning agents — and a worked example in which collective behaviour emerges from purely local rules.</a:t>
            </a:r>
          </a:p>
        </p:txBody>
      </p:sp>
      <p:sp>
        <p:nvSpPr>
          <p:cNvPr id="8" name="TextBox 7"/>
          <p:cNvSpPr txBox="1"/>
          <p:nvPr/>
        </p:nvSpPr>
        <p:spPr>
          <a:xfrm>
            <a:off x="960120" y="5596128"/>
            <a:ext cx="8229600" cy="566928"/>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0" i="0">
                <a:solidFill>
                  <a:srgbClr val="7E96AF"/>
                </a:solidFill>
                <a:latin typeface="Calibri"/>
              </a:rPr>
              <a:t>Università degli Studi di Genova  ·  DITEN — ELIOS Lab</a:t>
            </a:r>
          </a:p>
          <a:p>
            <a:pPr algn="l" marL="0" indent="0">
              <a:lnSpc>
                <a:spcPts val="1250"/>
              </a:lnSpc>
              <a:spcBef>
                <a:spcPts val="300"/>
              </a:spcBef>
              <a:spcAft>
                <a:spcPts val="0"/>
              </a:spcAft>
              <a:buNone/>
            </a:pPr>
            <a:r>
              <a:rPr sz="1250" b="0" i="0">
                <a:solidFill>
                  <a:srgbClr val="5B7692"/>
                </a:solidFill>
                <a:latin typeface="Calibri"/>
              </a:rPr>
              <a:t>Lecture notes, Chapter 01 — companion slides</a:t>
            </a:r>
          </a:p>
        </p:txBody>
      </p:sp>
      <p:sp>
        <p:nvSpPr>
          <p:cNvPr id="9" name="Rectangle 8"/>
          <p:cNvSpPr/>
          <p:nvPr/>
        </p:nvSpPr>
        <p:spPr>
          <a:xfrm>
            <a:off x="7315200" y="1481328"/>
            <a:ext cx="10972" cy="402336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481328"/>
            <a:ext cx="3749039" cy="219456"/>
          </a:xfrm>
          <a:prstGeom prst="rect">
            <a:avLst/>
          </a:prstGeom>
          <a:noFill/>
        </p:spPr>
        <p:txBody>
          <a:bodyPr wrap="square" lIns="0" rIns="0" tIns="0" bIns="0" anchor="t">
            <a:noAutofit/>
          </a:bodyPr>
          <a:lstStyle/>
          <a:p>
            <a:pPr algn="l" marL="0" indent="0">
              <a:lnSpc>
                <a:spcPts val="1100"/>
              </a:lnSpc>
              <a:spcBef>
                <a:spcPts val="0"/>
              </a:spcBef>
              <a:spcAft>
                <a:spcPts val="0"/>
              </a:spcAft>
              <a:buNone/>
            </a:pPr>
            <a:r>
              <a:rPr sz="1100" b="1" i="0" spc="160">
                <a:solidFill>
                  <a:srgbClr val="1971C2"/>
                </a:solidFill>
                <a:latin typeface="Calibri"/>
              </a:rPr>
              <a:t>CONTENTS</a:t>
            </a:r>
          </a:p>
        </p:txBody>
      </p:sp>
      <p:sp>
        <p:nvSpPr>
          <p:cNvPr id="11" name="TextBox 10"/>
          <p:cNvSpPr txBox="1"/>
          <p:nvPr/>
        </p:nvSpPr>
        <p:spPr>
          <a:xfrm>
            <a:off x="7863840" y="1883664"/>
            <a:ext cx="3749039" cy="365760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80">
                <a:solidFill>
                  <a:srgbClr val="5B8CBE"/>
                </a:solidFill>
                <a:latin typeface="Calibri"/>
              </a:rPr>
              <a:t>PART I   </a:t>
            </a:r>
          </a:p>
          <a:p>
            <a:pPr algn="l" marL="0" indent="0">
              <a:lnSpc>
                <a:spcPts val="1512"/>
              </a:lnSpc>
              <a:spcBef>
                <a:spcPts val="200"/>
              </a:spcBef>
              <a:spcAft>
                <a:spcPts val="0"/>
              </a:spcAft>
              <a:buNone/>
            </a:pPr>
            <a:r>
              <a:rPr sz="1400" b="0" i="0">
                <a:solidFill>
                  <a:srgbClr val="D2DFEA"/>
                </a:solidFill>
                <a:latin typeface="Calibri"/>
              </a:rPr>
              <a:t>Agents and environments</a:t>
            </a:r>
          </a:p>
          <a:p>
            <a:pPr algn="l" marL="0" indent="0">
              <a:lnSpc>
                <a:spcPts val="1007"/>
              </a:lnSpc>
              <a:spcBef>
                <a:spcPts val="1300"/>
              </a:spcBef>
              <a:spcAft>
                <a:spcPts val="0"/>
              </a:spcAft>
              <a:buNone/>
            </a:pPr>
            <a:r>
              <a:rPr sz="1007" b="1" i="0" spc="80">
                <a:solidFill>
                  <a:srgbClr val="5B8CBE"/>
                </a:solidFill>
                <a:latin typeface="Calibri"/>
              </a:rPr>
              <a:t>PART II  </a:t>
            </a:r>
          </a:p>
          <a:p>
            <a:pPr algn="l" marL="0" indent="0">
              <a:lnSpc>
                <a:spcPts val="1512"/>
              </a:lnSpc>
              <a:spcBef>
                <a:spcPts val="200"/>
              </a:spcBef>
              <a:spcAft>
                <a:spcPts val="0"/>
              </a:spcAft>
              <a:buNone/>
            </a:pPr>
            <a:r>
              <a:rPr sz="1400" b="0" i="0">
                <a:solidFill>
                  <a:srgbClr val="D2DFEA"/>
                </a:solidFill>
                <a:latin typeface="Calibri"/>
              </a:rPr>
              <a:t>From agent function to agent program</a:t>
            </a:r>
          </a:p>
          <a:p>
            <a:pPr algn="l" marL="0" indent="0">
              <a:lnSpc>
                <a:spcPts val="1007"/>
              </a:lnSpc>
              <a:spcBef>
                <a:spcPts val="1300"/>
              </a:spcBef>
              <a:spcAft>
                <a:spcPts val="0"/>
              </a:spcAft>
              <a:buNone/>
            </a:pPr>
            <a:r>
              <a:rPr sz="1007" b="1" i="0" spc="80">
                <a:solidFill>
                  <a:srgbClr val="5B8CBE"/>
                </a:solidFill>
                <a:latin typeface="Calibri"/>
              </a:rPr>
              <a:t>PART III </a:t>
            </a:r>
          </a:p>
          <a:p>
            <a:pPr algn="l" marL="0" indent="0">
              <a:lnSpc>
                <a:spcPts val="1512"/>
              </a:lnSpc>
              <a:spcBef>
                <a:spcPts val="200"/>
              </a:spcBef>
              <a:spcAft>
                <a:spcPts val="0"/>
              </a:spcAft>
              <a:buNone/>
            </a:pPr>
            <a:r>
              <a:rPr sz="1400" b="0" i="0">
                <a:solidFill>
                  <a:srgbClr val="D2DFEA"/>
                </a:solidFill>
                <a:latin typeface="Calibri"/>
              </a:rPr>
              <a:t>Properties of the environment</a:t>
            </a:r>
          </a:p>
          <a:p>
            <a:pPr algn="l" marL="0" indent="0">
              <a:lnSpc>
                <a:spcPts val="1007"/>
              </a:lnSpc>
              <a:spcBef>
                <a:spcPts val="1300"/>
              </a:spcBef>
              <a:spcAft>
                <a:spcPts val="0"/>
              </a:spcAft>
              <a:buNone/>
            </a:pPr>
            <a:r>
              <a:rPr sz="1007" b="1" i="0" spc="80">
                <a:solidFill>
                  <a:srgbClr val="5B8CBE"/>
                </a:solidFill>
                <a:latin typeface="Calibri"/>
              </a:rPr>
              <a:t>PART IV  </a:t>
            </a:r>
          </a:p>
          <a:p>
            <a:pPr algn="l" marL="0" indent="0">
              <a:lnSpc>
                <a:spcPts val="1512"/>
              </a:lnSpc>
              <a:spcBef>
                <a:spcPts val="200"/>
              </a:spcBef>
              <a:spcAft>
                <a:spcPts val="0"/>
              </a:spcAft>
              <a:buNone/>
            </a:pPr>
            <a:r>
              <a:rPr sz="1400" b="0" i="0">
                <a:solidFill>
                  <a:srgbClr val="D2DFEA"/>
                </a:solidFill>
                <a:latin typeface="Calibri"/>
              </a:rPr>
              <a:t>Performance measure and rationality</a:t>
            </a:r>
          </a:p>
          <a:p>
            <a:pPr algn="l" marL="0" indent="0">
              <a:lnSpc>
                <a:spcPts val="1007"/>
              </a:lnSpc>
              <a:spcBef>
                <a:spcPts val="1300"/>
              </a:spcBef>
              <a:spcAft>
                <a:spcPts val="0"/>
              </a:spcAft>
              <a:buNone/>
            </a:pPr>
            <a:r>
              <a:rPr sz="1007" b="1" i="0" spc="80">
                <a:solidFill>
                  <a:srgbClr val="5B8CBE"/>
                </a:solidFill>
                <a:latin typeface="Calibri"/>
              </a:rPr>
              <a:t>PART V   </a:t>
            </a:r>
          </a:p>
          <a:p>
            <a:pPr algn="l" marL="0" indent="0">
              <a:lnSpc>
                <a:spcPts val="1512"/>
              </a:lnSpc>
              <a:spcBef>
                <a:spcPts val="200"/>
              </a:spcBef>
              <a:spcAft>
                <a:spcPts val="0"/>
              </a:spcAft>
              <a:buNone/>
            </a:pPr>
            <a:r>
              <a:rPr sz="1400" b="0" i="0">
                <a:solidFill>
                  <a:srgbClr val="D2DFEA"/>
                </a:solidFill>
                <a:latin typeface="Calibri"/>
              </a:rPr>
              <a:t>Agent architectures</a:t>
            </a:r>
          </a:p>
          <a:p>
            <a:pPr algn="l" marL="0" indent="0">
              <a:lnSpc>
                <a:spcPts val="1007"/>
              </a:lnSpc>
              <a:spcBef>
                <a:spcPts val="1300"/>
              </a:spcBef>
              <a:spcAft>
                <a:spcPts val="0"/>
              </a:spcAft>
              <a:buNone/>
            </a:pPr>
            <a:r>
              <a:rPr sz="1007" b="1" i="0" spc="80">
                <a:solidFill>
                  <a:srgbClr val="5B8CBE"/>
                </a:solidFill>
                <a:latin typeface="Calibri"/>
              </a:rPr>
              <a:t>PART VI  </a:t>
            </a:r>
          </a:p>
          <a:p>
            <a:pPr algn="l" marL="0" indent="0">
              <a:lnSpc>
                <a:spcPts val="1512"/>
              </a:lnSpc>
              <a:spcBef>
                <a:spcPts val="200"/>
              </a:spcBef>
              <a:spcAft>
                <a:spcPts val="0"/>
              </a:spcAft>
              <a:buNone/>
            </a:pPr>
            <a:r>
              <a:rPr sz="1400" b="0" i="0">
                <a:solidFill>
                  <a:srgbClr val="D2DFEA"/>
                </a:solidFill>
                <a:latin typeface="Calibri"/>
              </a:rPr>
              <a:t>Case study: flocking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I</a:t>
            </a:r>
          </a:p>
        </p:txBody>
      </p:sp>
      <p:sp>
        <p:nvSpPr>
          <p:cNvPr id="5" name="TextBox 4"/>
          <p:cNvSpPr txBox="1"/>
          <p:nvPr/>
        </p:nvSpPr>
        <p:spPr>
          <a:xfrm>
            <a:off x="960120" y="2130552"/>
            <a:ext cx="6400800" cy="457200"/>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Agents and environments</a:t>
            </a:r>
          </a:p>
        </p:txBody>
      </p:sp>
      <p:sp>
        <p:nvSpPr>
          <p:cNvPr id="6" name="TextBox 5"/>
          <p:cNvSpPr txBox="1"/>
          <p:nvPr/>
        </p:nvSpPr>
        <p:spPr>
          <a:xfrm>
            <a:off x="960120" y="2840736"/>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What an agent is, where its boundary lies, and how a task is specified before any program is written.</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Why does the agent concept unify robotics, software and control?</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The agent–environment loop</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Sensors, actuators, percepts, actions</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One paradigm, three embodiments</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PEAS: specifying the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1.1  THE AGENT–ENVIRONMENT LOOP</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An agent is defined by the loop it closes with its environment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 — Agents and environments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a:t>
            </a:r>
          </a:p>
        </p:txBody>
      </p:sp>
      <p:sp>
        <p:nvSpPr>
          <p:cNvPr id="8" name="TextBox 7"/>
          <p:cNvSpPr txBox="1"/>
          <p:nvPr/>
        </p:nvSpPr>
        <p:spPr>
          <a:xfrm>
            <a:off x="548640" y="1280160"/>
            <a:ext cx="6903720" cy="470407"/>
          </a:xfrm>
          <a:prstGeom prst="rect">
            <a:avLst/>
          </a:prstGeom>
          <a:noFill/>
        </p:spPr>
        <p:txBody>
          <a:bodyPr wrap="square" lIns="0" rIns="0" tIns="0" bIns="0" anchor="t">
            <a:noAutofit/>
          </a:bodyPr>
          <a:lstStyle/>
          <a:p>
            <a:pPr algn="l" marL="0" indent="0">
              <a:lnSpc>
                <a:spcPts val="1708"/>
              </a:lnSpc>
              <a:spcBef>
                <a:spcPts val="0"/>
              </a:spcBef>
              <a:spcAft>
                <a:spcPts val="0"/>
              </a:spcAft>
              <a:buNone/>
            </a:pPr>
            <a:r>
              <a:rPr sz="1400" b="0" i="0">
                <a:solidFill>
                  <a:srgbClr val="2B3542"/>
                </a:solidFill>
                <a:latin typeface="Calibri"/>
              </a:rPr>
              <a:t>An </a:t>
            </a:r>
            <a:r>
              <a:rPr sz="1400" b="1" i="0">
                <a:solidFill>
                  <a:srgbClr val="16202A"/>
                </a:solidFill>
                <a:latin typeface="Calibri"/>
              </a:rPr>
              <a:t>agent</a:t>
            </a:r>
            <a:r>
              <a:rPr sz="1400" b="0" i="0">
                <a:solidFill>
                  <a:srgbClr val="2B3542"/>
                </a:solidFill>
                <a:latin typeface="Calibri"/>
              </a:rPr>
              <a:t> is an entity that </a:t>
            </a:r>
            <a:r>
              <a:rPr sz="1400" b="1" i="0">
                <a:solidFill>
                  <a:srgbClr val="2B8A3E"/>
                </a:solidFill>
                <a:latin typeface="Calibri"/>
              </a:rPr>
              <a:t>perceives</a:t>
            </a:r>
            <a:r>
              <a:rPr sz="1400" b="0" i="0">
                <a:solidFill>
                  <a:srgbClr val="2B3542"/>
                </a:solidFill>
                <a:latin typeface="Calibri"/>
              </a:rPr>
              <a:t> an environment through </a:t>
            </a:r>
            <a:r>
              <a:rPr sz="1400" b="1" i="0">
                <a:solidFill>
                  <a:srgbClr val="2B3542"/>
                </a:solidFill>
                <a:latin typeface="Calibri"/>
              </a:rPr>
              <a:t>sensors</a:t>
            </a:r>
            <a:r>
              <a:rPr sz="1400" b="0" i="0">
                <a:solidFill>
                  <a:srgbClr val="2B3542"/>
                </a:solidFill>
                <a:latin typeface="Calibri"/>
              </a:rPr>
              <a:t> and </a:t>
            </a:r>
            <a:r>
              <a:rPr sz="1400" b="1" i="0">
                <a:solidFill>
                  <a:srgbClr val="1971C2"/>
                </a:solidFill>
                <a:latin typeface="Calibri"/>
              </a:rPr>
              <a:t>acts</a:t>
            </a:r>
            <a:r>
              <a:rPr sz="1400" b="0" i="0">
                <a:solidFill>
                  <a:srgbClr val="2B3542"/>
                </a:solidFill>
                <a:latin typeface="Calibri"/>
              </a:rPr>
              <a:t> upon it through </a:t>
            </a:r>
            <a:r>
              <a:rPr sz="1400" b="1" i="0">
                <a:solidFill>
                  <a:srgbClr val="2B3542"/>
                </a:solidFill>
                <a:latin typeface="Calibri"/>
              </a:rPr>
              <a:t>actuators</a:t>
            </a:r>
            <a:r>
              <a:rPr sz="1400" b="0" i="0">
                <a:solidFill>
                  <a:srgbClr val="2B3542"/>
                </a:solidFill>
                <a:latin typeface="Calibri"/>
              </a:rPr>
              <a:t>, in order to achieve a task or objective.</a:t>
            </a:r>
          </a:p>
        </p:txBody>
      </p:sp>
      <p:pic>
        <p:nvPicPr>
          <p:cNvPr id="9" name="Picture 8" descr="loop_basic.png"/>
          <p:cNvPicPr>
            <a:picLocks noChangeAspect="1"/>
          </p:cNvPicPr>
          <p:nvPr/>
        </p:nvPicPr>
        <p:blipFill>
          <a:blip r:embed="rId2"/>
          <a:stretch>
            <a:fillRect/>
          </a:stretch>
        </p:blipFill>
        <p:spPr>
          <a:xfrm>
            <a:off x="1046143" y="1878584"/>
            <a:ext cx="5908713" cy="1847088"/>
          </a:xfrm>
          <a:prstGeom prst="rect">
            <a:avLst/>
          </a:prstGeom>
        </p:spPr>
      </p:pic>
      <p:sp>
        <p:nvSpPr>
          <p:cNvPr id="10" name="TextBox 9"/>
          <p:cNvSpPr txBox="1"/>
          <p:nvPr/>
        </p:nvSpPr>
        <p:spPr>
          <a:xfrm>
            <a:off x="548640" y="3945128"/>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ONE PARADIGM, THREE EMBODIMENTS</a:t>
            </a:r>
          </a:p>
        </p:txBody>
      </p:sp>
      <p:sp>
        <p:nvSpPr>
          <p:cNvPr id="11" name="Rectangle 10"/>
          <p:cNvSpPr/>
          <p:nvPr/>
        </p:nvSpPr>
        <p:spPr>
          <a:xfrm>
            <a:off x="548640" y="4201160"/>
            <a:ext cx="2167127" cy="2926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347464"/>
            <a:ext cx="2167127"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16202A"/>
                </a:solidFill>
                <a:latin typeface="Calibri"/>
              </a:rPr>
              <a:t>Human agent</a:t>
            </a:r>
          </a:p>
        </p:txBody>
      </p:sp>
      <p:sp>
        <p:nvSpPr>
          <p:cNvPr id="13" name="TextBox 12"/>
          <p:cNvSpPr txBox="1"/>
          <p:nvPr/>
        </p:nvSpPr>
        <p:spPr>
          <a:xfrm>
            <a:off x="548640" y="4621784"/>
            <a:ext cx="2167127" cy="4447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007" b="1" i="0">
                <a:solidFill>
                  <a:srgbClr val="2B8A3E"/>
                </a:solidFill>
                <a:latin typeface="Calibri"/>
              </a:rPr>
              <a:t>sensors  </a:t>
            </a:r>
            <a:r>
              <a:rPr sz="1150" b="0" i="0">
                <a:solidFill>
                  <a:srgbClr val="5F6B76"/>
                </a:solidFill>
                <a:latin typeface="Calibri"/>
              </a:rPr>
              <a:t>eyes, ears, skin</a:t>
            </a:r>
          </a:p>
          <a:p>
            <a:pPr algn="l" marL="0" indent="0">
              <a:lnSpc>
                <a:spcPts val="1357"/>
              </a:lnSpc>
              <a:spcBef>
                <a:spcPts val="500"/>
              </a:spcBef>
              <a:spcAft>
                <a:spcPts val="0"/>
              </a:spcAft>
              <a:buNone/>
            </a:pPr>
            <a:r>
              <a:rPr sz="1007" b="1" i="0">
                <a:solidFill>
                  <a:srgbClr val="2B8A3E"/>
                </a:solidFill>
                <a:latin typeface="Calibri"/>
              </a:rPr>
              <a:t>actuators  </a:t>
            </a:r>
            <a:r>
              <a:rPr sz="1150" b="0" i="0">
                <a:solidFill>
                  <a:srgbClr val="5F6B76"/>
                </a:solidFill>
                <a:latin typeface="Calibri"/>
              </a:rPr>
              <a:t>hands, legs, voice</a:t>
            </a:r>
          </a:p>
        </p:txBody>
      </p:sp>
      <p:sp>
        <p:nvSpPr>
          <p:cNvPr id="14" name="Rectangle 13"/>
          <p:cNvSpPr/>
          <p:nvPr/>
        </p:nvSpPr>
        <p:spPr>
          <a:xfrm>
            <a:off x="2916936" y="4201160"/>
            <a:ext cx="2167127" cy="2926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16936" y="4347464"/>
            <a:ext cx="2167127"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16202A"/>
                </a:solidFill>
                <a:latin typeface="Calibri"/>
              </a:rPr>
              <a:t>Robotic agent</a:t>
            </a:r>
          </a:p>
        </p:txBody>
      </p:sp>
      <p:sp>
        <p:nvSpPr>
          <p:cNvPr id="16" name="TextBox 15"/>
          <p:cNvSpPr txBox="1"/>
          <p:nvPr/>
        </p:nvSpPr>
        <p:spPr>
          <a:xfrm>
            <a:off x="2916936" y="4621784"/>
            <a:ext cx="2167127" cy="4447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007" b="1" i="0">
                <a:solidFill>
                  <a:srgbClr val="1971C2"/>
                </a:solidFill>
                <a:latin typeface="Calibri"/>
              </a:rPr>
              <a:t>sensors  </a:t>
            </a:r>
            <a:r>
              <a:rPr sz="1150" b="0" i="0">
                <a:solidFill>
                  <a:srgbClr val="5F6B76"/>
                </a:solidFill>
                <a:latin typeface="Calibri"/>
              </a:rPr>
              <a:t>cameras, range finders</a:t>
            </a:r>
          </a:p>
          <a:p>
            <a:pPr algn="l" marL="0" indent="0">
              <a:lnSpc>
                <a:spcPts val="1357"/>
              </a:lnSpc>
              <a:spcBef>
                <a:spcPts val="500"/>
              </a:spcBef>
              <a:spcAft>
                <a:spcPts val="0"/>
              </a:spcAft>
              <a:buNone/>
            </a:pPr>
            <a:r>
              <a:rPr sz="1007" b="1" i="0">
                <a:solidFill>
                  <a:srgbClr val="1971C2"/>
                </a:solidFill>
                <a:latin typeface="Calibri"/>
              </a:rPr>
              <a:t>actuators  </a:t>
            </a:r>
            <a:r>
              <a:rPr sz="1150" b="0" i="0">
                <a:solidFill>
                  <a:srgbClr val="5F6B76"/>
                </a:solidFill>
                <a:latin typeface="Calibri"/>
              </a:rPr>
              <a:t>motors, grippers</a:t>
            </a:r>
          </a:p>
        </p:txBody>
      </p:sp>
      <p:sp>
        <p:nvSpPr>
          <p:cNvPr id="17" name="Rectangle 16"/>
          <p:cNvSpPr/>
          <p:nvPr/>
        </p:nvSpPr>
        <p:spPr>
          <a:xfrm>
            <a:off x="5285231" y="4201160"/>
            <a:ext cx="2167127" cy="2926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85231" y="4347464"/>
            <a:ext cx="2167127"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16202A"/>
                </a:solidFill>
                <a:latin typeface="Calibri"/>
              </a:rPr>
              <a:t>Software agent</a:t>
            </a:r>
          </a:p>
        </p:txBody>
      </p:sp>
      <p:sp>
        <p:nvSpPr>
          <p:cNvPr id="19" name="TextBox 18"/>
          <p:cNvSpPr txBox="1"/>
          <p:nvPr/>
        </p:nvSpPr>
        <p:spPr>
          <a:xfrm>
            <a:off x="5285231" y="4621784"/>
            <a:ext cx="2167127" cy="617093"/>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007" b="1" i="0">
                <a:solidFill>
                  <a:srgbClr val="B54708"/>
                </a:solidFill>
                <a:latin typeface="Calibri"/>
              </a:rPr>
              <a:t>sensors  </a:t>
            </a:r>
            <a:r>
              <a:rPr sz="1150" b="0" i="0">
                <a:solidFill>
                  <a:srgbClr val="5F6B76"/>
                </a:solidFill>
                <a:latin typeface="Calibri"/>
              </a:rPr>
              <a:t>files, network, user input</a:t>
            </a:r>
          </a:p>
          <a:p>
            <a:pPr algn="l" marL="0" indent="0">
              <a:lnSpc>
                <a:spcPts val="1357"/>
              </a:lnSpc>
              <a:spcBef>
                <a:spcPts val="500"/>
              </a:spcBef>
              <a:spcAft>
                <a:spcPts val="0"/>
              </a:spcAft>
              <a:buNone/>
            </a:pPr>
            <a:r>
              <a:rPr sz="1007" b="1" i="0">
                <a:solidFill>
                  <a:srgbClr val="B54708"/>
                </a:solidFill>
                <a:latin typeface="Calibri"/>
              </a:rPr>
              <a:t>actuators  </a:t>
            </a:r>
            <a:r>
              <a:rPr sz="1150" b="0" i="0">
                <a:solidFill>
                  <a:srgbClr val="5F6B76"/>
                </a:solidFill>
                <a:latin typeface="Calibri"/>
              </a:rPr>
              <a:t>writes files, sends data, displays</a:t>
            </a:r>
          </a:p>
        </p:txBody>
      </p:sp>
      <p:sp>
        <p:nvSpPr>
          <p:cNvPr id="20" name="Rectangle 19"/>
          <p:cNvSpPr/>
          <p:nvPr/>
        </p:nvSpPr>
        <p:spPr>
          <a:xfrm>
            <a:off x="548640" y="5554472"/>
            <a:ext cx="690372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5700776"/>
            <a:ext cx="6903720" cy="396239"/>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5F6B76"/>
                </a:solidFill>
                <a:latin typeface="Calibri"/>
              </a:rPr>
              <a:t>The agent concept is a </a:t>
            </a:r>
            <a:r>
              <a:rPr sz="1200" b="1" i="0">
                <a:solidFill>
                  <a:srgbClr val="16202A"/>
                </a:solidFill>
                <a:latin typeface="Calibri"/>
              </a:rPr>
              <a:t>unifying paradigm</a:t>
            </a:r>
            <a:r>
              <a:rPr sz="1200" b="0" i="0">
                <a:solidFill>
                  <a:srgbClr val="5F6B76"/>
                </a:solidFill>
                <a:latin typeface="Calibri"/>
              </a:rPr>
              <a:t>: the three descriptions above differ only in hardware, never in structure.</a:t>
            </a:r>
          </a:p>
        </p:txBody>
      </p:sp>
      <p:sp>
        <p:nvSpPr>
          <p:cNvPr id="22" name="Rectangle 21"/>
          <p:cNvSpPr/>
          <p:nvPr/>
        </p:nvSpPr>
        <p:spPr>
          <a:xfrm>
            <a:off x="7699248" y="1280160"/>
            <a:ext cx="3944081" cy="1261872"/>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699248" y="1280160"/>
            <a:ext cx="41148" cy="126187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18704" y="1426463"/>
            <a:ext cx="3651473"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1971C2"/>
                </a:solidFill>
                <a:latin typeface="Calibri"/>
              </a:rPr>
              <a:t>WHERE THE BOUNDARY IS DRAWN</a:t>
            </a:r>
          </a:p>
        </p:txBody>
      </p:sp>
      <p:sp>
        <p:nvSpPr>
          <p:cNvPr id="25" name="TextBox 24"/>
          <p:cNvSpPr txBox="1"/>
          <p:nvPr/>
        </p:nvSpPr>
        <p:spPr>
          <a:xfrm>
            <a:off x="7918704" y="1664207"/>
            <a:ext cx="3560033" cy="73151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In principle the environment could be the entire universe. In practice it is defined as the part that </a:t>
            </a:r>
            <a:r>
              <a:rPr sz="1200" b="1" i="0">
                <a:solidFill>
                  <a:srgbClr val="2B3542"/>
                </a:solidFill>
                <a:latin typeface="Calibri"/>
              </a:rPr>
              <a:t>influences the agent’s percepts</a:t>
            </a:r>
            <a:r>
              <a:rPr sz="1200" b="0" i="0">
                <a:solidFill>
                  <a:srgbClr val="2B3542"/>
                </a:solidFill>
                <a:latin typeface="Calibri"/>
              </a:rPr>
              <a:t> and is </a:t>
            </a:r>
            <a:r>
              <a:rPr sz="1200" b="1" i="0">
                <a:solidFill>
                  <a:srgbClr val="2B3542"/>
                </a:solidFill>
                <a:latin typeface="Calibri"/>
              </a:rPr>
              <a:t>altered by its actions</a:t>
            </a:r>
            <a:r>
              <a:rPr sz="1200" b="0" i="0">
                <a:solidFill>
                  <a:srgbClr val="2B3542"/>
                </a:solidFill>
                <a:latin typeface="Calibri"/>
              </a:rPr>
              <a:t>.</a:t>
            </a:r>
          </a:p>
        </p:txBody>
      </p:sp>
      <p:sp>
        <p:nvSpPr>
          <p:cNvPr id="26" name="TextBox 25"/>
          <p:cNvSpPr txBox="1"/>
          <p:nvPr/>
        </p:nvSpPr>
        <p:spPr>
          <a:xfrm>
            <a:off x="7699248" y="2816351"/>
            <a:ext cx="3944081"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TWO QUESTIONS OF THIS CHAPTER</a:t>
            </a:r>
          </a:p>
        </p:txBody>
      </p:sp>
      <p:sp>
        <p:nvSpPr>
          <p:cNvPr id="27" name="TextBox 26"/>
          <p:cNvSpPr txBox="1"/>
          <p:nvPr/>
        </p:nvSpPr>
        <p:spPr>
          <a:xfrm>
            <a:off x="7699248" y="3054096"/>
            <a:ext cx="3944081" cy="858520"/>
          </a:xfrm>
          <a:prstGeom prst="rect">
            <a:avLst/>
          </a:prstGeom>
          <a:noFill/>
        </p:spPr>
        <p:txBody>
          <a:bodyPr wrap="square" lIns="0" rIns="0" tIns="0" bIns="0" anchor="t">
            <a:noAutofit/>
          </a:bodyPr>
          <a:lstStyle/>
          <a:p>
            <a:pPr algn="l" marL="182880" indent="-182880">
              <a:lnSpc>
                <a:spcPts val="1400"/>
              </a:lnSpc>
              <a:spcBef>
                <a:spcPts val="0"/>
              </a:spcBef>
              <a:spcAft>
                <a:spcPts val="0"/>
              </a:spcAft>
              <a:buClr>
                <a:srgbClr val="1971C2"/>
              </a:buClr>
              <a:buFont typeface="Calibri"/>
              <a:buChar char="–"/>
            </a:pPr>
            <a:r>
              <a:rPr sz="1250" b="1" i="0">
                <a:solidFill>
                  <a:srgbClr val="16202A"/>
                </a:solidFill>
                <a:latin typeface="Calibri"/>
              </a:rPr>
              <a:t>What</a:t>
            </a:r>
            <a:r>
              <a:rPr sz="1250" b="0" i="0">
                <a:solidFill>
                  <a:srgbClr val="2B3542"/>
                </a:solidFill>
                <a:latin typeface="Calibri"/>
              </a:rPr>
              <a:t> should the agent do with the percept it has just received?</a:t>
            </a:r>
          </a:p>
          <a:p>
            <a:pPr algn="l" marL="182880" indent="-182880">
              <a:lnSpc>
                <a:spcPts val="1400"/>
              </a:lnSpc>
              <a:spcBef>
                <a:spcPts val="800"/>
              </a:spcBef>
              <a:spcAft>
                <a:spcPts val="0"/>
              </a:spcAft>
              <a:buClr>
                <a:srgbClr val="1971C2"/>
              </a:buClr>
              <a:buFont typeface="Calibri"/>
              <a:buChar char="–"/>
            </a:pPr>
            <a:r>
              <a:rPr sz="1250" b="1" i="0">
                <a:solidFill>
                  <a:srgbClr val="16202A"/>
                </a:solidFill>
                <a:latin typeface="Calibri"/>
              </a:rPr>
              <a:t>How</a:t>
            </a:r>
            <a:r>
              <a:rPr sz="1250" b="0" i="0">
                <a:solidFill>
                  <a:srgbClr val="2B3542"/>
                </a:solidFill>
                <a:latin typeface="Calibri"/>
              </a:rPr>
              <a:t> is that mapping represented, so that a physical machine can compute it?</a:t>
            </a:r>
          </a:p>
        </p:txBody>
      </p:sp>
      <p:sp>
        <p:nvSpPr>
          <p:cNvPr id="28" name="TextBox 27"/>
          <p:cNvSpPr txBox="1"/>
          <p:nvPr/>
        </p:nvSpPr>
        <p:spPr>
          <a:xfrm>
            <a:off x="7699248" y="4168648"/>
            <a:ext cx="3944081"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WHY THIS ABSTRACTION IS USEFUL</a:t>
            </a:r>
          </a:p>
        </p:txBody>
      </p:sp>
      <p:sp>
        <p:nvSpPr>
          <p:cNvPr id="29" name="TextBox 28"/>
          <p:cNvSpPr txBox="1"/>
          <p:nvPr/>
        </p:nvSpPr>
        <p:spPr>
          <a:xfrm>
            <a:off x="7699248" y="4406392"/>
            <a:ext cx="3944081" cy="1171448"/>
          </a:xfrm>
          <a:prstGeom prst="rect">
            <a:avLst/>
          </a:prstGeom>
          <a:noFill/>
        </p:spPr>
        <p:txBody>
          <a:bodyPr wrap="square" lIns="0" rIns="0" tIns="0" bIns="0" anchor="t">
            <a:noAutofit/>
          </a:bodyPr>
          <a:lstStyle/>
          <a:p>
            <a:pPr algn="l" marL="182880" indent="-182880">
              <a:lnSpc>
                <a:spcPts val="1344"/>
              </a:lnSpc>
              <a:spcBef>
                <a:spcPts val="0"/>
              </a:spcBef>
              <a:spcAft>
                <a:spcPts val="0"/>
              </a:spcAft>
              <a:buClr>
                <a:srgbClr val="1971C2"/>
              </a:buClr>
              <a:buFont typeface="Calibri"/>
              <a:buChar char="–"/>
            </a:pPr>
            <a:r>
              <a:rPr sz="1200" b="0" i="0">
                <a:solidFill>
                  <a:srgbClr val="2B3542"/>
                </a:solidFill>
                <a:latin typeface="Calibri"/>
              </a:rPr>
              <a:t>The same vocabulary — percept, action, state, performance — describes a thermostat, a chess program, a warehouse robot and a trading system.</a:t>
            </a:r>
          </a:p>
          <a:p>
            <a:pPr algn="l" marL="182880" indent="-182880">
              <a:lnSpc>
                <a:spcPts val="1344"/>
              </a:lnSpc>
              <a:spcBef>
                <a:spcPts val="800"/>
              </a:spcBef>
              <a:spcAft>
                <a:spcPts val="0"/>
              </a:spcAft>
              <a:buClr>
                <a:srgbClr val="1971C2"/>
              </a:buClr>
              <a:buFont typeface="Calibri"/>
              <a:buChar char="–"/>
            </a:pPr>
            <a:r>
              <a:rPr sz="1200" b="0" i="0">
                <a:solidFill>
                  <a:srgbClr val="2B3542"/>
                </a:solidFill>
                <a:latin typeface="Calibri"/>
              </a:rPr>
              <a:t>Reinforcement learning is built directly on this loop: </a:t>
            </a:r>
            <a:r>
              <a:rPr sz="1200" b="1" i="0">
                <a:solidFill>
                  <a:srgbClr val="16202A"/>
                </a:solidFill>
                <a:latin typeface="Calibri"/>
              </a:rPr>
              <a:t>percepts become states, actions stay actions, and the performance measure becomes a reward.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1.2  PEAS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Before designing an agent, specify the task it is meant to solve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 — Agents and environments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a:t>
            </a:r>
          </a:p>
        </p:txBody>
      </p:sp>
      <p:sp>
        <p:nvSpPr>
          <p:cNvPr id="8" name="TextBox 7"/>
          <p:cNvSpPr txBox="1"/>
          <p:nvPr/>
        </p:nvSpPr>
        <p:spPr>
          <a:xfrm>
            <a:off x="548640" y="1280160"/>
            <a:ext cx="7315200" cy="66408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Once an agent has been identified, its task is described by four elements: what counts as success, where it operates, how it can act, and what it can perceive. These are grouped under the acronym </a:t>
            </a:r>
            <a:r>
              <a:rPr sz="1350" b="1" i="0">
                <a:solidFill>
                  <a:srgbClr val="16202A"/>
                </a:solidFill>
                <a:latin typeface="Calibri"/>
              </a:rPr>
              <a:t>PEAS</a:t>
            </a:r>
            <a:r>
              <a:rPr sz="1350" b="0" i="0">
                <a:solidFill>
                  <a:srgbClr val="2B3542"/>
                </a:solidFill>
                <a:latin typeface="Calibri"/>
              </a:rPr>
              <a:t>. The bottom line of each card applies PEAS to the vacuum world used throughout this chapter.</a:t>
            </a:r>
          </a:p>
        </p:txBody>
      </p:sp>
      <p:sp>
        <p:nvSpPr>
          <p:cNvPr id="9" name="Rectangle 8"/>
          <p:cNvSpPr/>
          <p:nvPr/>
        </p:nvSpPr>
        <p:spPr>
          <a:xfrm>
            <a:off x="548640" y="2163699"/>
            <a:ext cx="1691640" cy="2788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163699"/>
            <a:ext cx="1691640" cy="31089"/>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2346579"/>
            <a:ext cx="1417320" cy="457200"/>
          </a:xfrm>
          <a:prstGeom prst="rect">
            <a:avLst/>
          </a:prstGeom>
          <a:noFill/>
        </p:spPr>
        <p:txBody>
          <a:bodyPr wrap="square" lIns="0" rIns="0" tIns="0" bIns="0" anchor="t">
            <a:noAutofit/>
          </a:bodyPr>
          <a:lstStyle/>
          <a:p>
            <a:pPr algn="l" marL="0" indent="0">
              <a:lnSpc>
                <a:spcPts val="2600"/>
              </a:lnSpc>
              <a:spcBef>
                <a:spcPts val="0"/>
              </a:spcBef>
              <a:spcAft>
                <a:spcPts val="0"/>
              </a:spcAft>
              <a:buNone/>
            </a:pPr>
            <a:r>
              <a:rPr sz="2600" b="1" i="0">
                <a:solidFill>
                  <a:srgbClr val="2B8A3E"/>
                </a:solidFill>
                <a:latin typeface="Calibri"/>
              </a:rPr>
              <a:t>P</a:t>
            </a:r>
          </a:p>
        </p:txBody>
      </p:sp>
      <p:sp>
        <p:nvSpPr>
          <p:cNvPr id="12" name="TextBox 11"/>
          <p:cNvSpPr txBox="1"/>
          <p:nvPr/>
        </p:nvSpPr>
        <p:spPr>
          <a:xfrm>
            <a:off x="694944" y="2840355"/>
            <a:ext cx="1417320" cy="3921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Performance measure</a:t>
            </a:r>
          </a:p>
        </p:txBody>
      </p:sp>
      <p:sp>
        <p:nvSpPr>
          <p:cNvPr id="13" name="TextBox 12"/>
          <p:cNvSpPr txBox="1"/>
          <p:nvPr/>
        </p:nvSpPr>
        <p:spPr>
          <a:xfrm>
            <a:off x="694944" y="3260979"/>
            <a:ext cx="1417320" cy="87477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5F6B76"/>
                </a:solidFill>
                <a:latin typeface="Calibri"/>
              </a:rPr>
              <a:t>The externally defined criterion of success. Not what the agent does — what the world should look like.</a:t>
            </a:r>
          </a:p>
        </p:txBody>
      </p:sp>
      <p:sp>
        <p:nvSpPr>
          <p:cNvPr id="14" name="Rectangle 13"/>
          <p:cNvSpPr/>
          <p:nvPr/>
        </p:nvSpPr>
        <p:spPr>
          <a:xfrm>
            <a:off x="694944" y="4166234"/>
            <a:ext cx="1399032"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4294251"/>
            <a:ext cx="1417320" cy="506095"/>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60">
                <a:solidFill>
                  <a:srgbClr val="2B8A3E"/>
                </a:solidFill>
                <a:latin typeface="Calibri"/>
              </a:rPr>
              <a:t>vacuum world  </a:t>
            </a:r>
          </a:p>
          <a:p>
            <a:pPr algn="l" marL="0" indent="0">
              <a:lnSpc>
                <a:spcPts val="1298"/>
              </a:lnSpc>
              <a:spcBef>
                <a:spcPts val="200"/>
              </a:spcBef>
              <a:spcAft>
                <a:spcPts val="0"/>
              </a:spcAft>
              <a:buNone/>
            </a:pPr>
            <a:r>
              <a:rPr sz="1100" b="0" i="0">
                <a:solidFill>
                  <a:srgbClr val="2B3542"/>
                </a:solidFill>
                <a:latin typeface="Calibri"/>
              </a:rPr>
              <a:t>sustained cleanliness of both squares</a:t>
            </a:r>
          </a:p>
        </p:txBody>
      </p:sp>
      <p:sp>
        <p:nvSpPr>
          <p:cNvPr id="16" name="Rectangle 15"/>
          <p:cNvSpPr/>
          <p:nvPr/>
        </p:nvSpPr>
        <p:spPr>
          <a:xfrm>
            <a:off x="2423160" y="2163699"/>
            <a:ext cx="1691640" cy="2788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423160" y="2163699"/>
            <a:ext cx="1691640" cy="31089"/>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9464" y="2346579"/>
            <a:ext cx="1417320" cy="457200"/>
          </a:xfrm>
          <a:prstGeom prst="rect">
            <a:avLst/>
          </a:prstGeom>
          <a:noFill/>
        </p:spPr>
        <p:txBody>
          <a:bodyPr wrap="square" lIns="0" rIns="0" tIns="0" bIns="0" anchor="t">
            <a:noAutofit/>
          </a:bodyPr>
          <a:lstStyle/>
          <a:p>
            <a:pPr algn="l" marL="0" indent="0">
              <a:lnSpc>
                <a:spcPts val="2600"/>
              </a:lnSpc>
              <a:spcBef>
                <a:spcPts val="0"/>
              </a:spcBef>
              <a:spcAft>
                <a:spcPts val="0"/>
              </a:spcAft>
              <a:buNone/>
            </a:pPr>
            <a:r>
              <a:rPr sz="2600" b="1" i="0">
                <a:solidFill>
                  <a:srgbClr val="1971C2"/>
                </a:solidFill>
                <a:latin typeface="Calibri"/>
              </a:rPr>
              <a:t>E</a:t>
            </a:r>
          </a:p>
        </p:txBody>
      </p:sp>
      <p:sp>
        <p:nvSpPr>
          <p:cNvPr id="19" name="TextBox 18"/>
          <p:cNvSpPr txBox="1"/>
          <p:nvPr/>
        </p:nvSpPr>
        <p:spPr>
          <a:xfrm>
            <a:off x="2569464" y="2840355"/>
            <a:ext cx="1417320"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Environment</a:t>
            </a:r>
          </a:p>
        </p:txBody>
      </p:sp>
      <p:sp>
        <p:nvSpPr>
          <p:cNvPr id="20" name="TextBox 19"/>
          <p:cNvSpPr txBox="1"/>
          <p:nvPr/>
        </p:nvSpPr>
        <p:spPr>
          <a:xfrm>
            <a:off x="2569464" y="3260979"/>
            <a:ext cx="1417320" cy="70713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5F6B76"/>
                </a:solidFill>
                <a:latin typeface="Calibri"/>
              </a:rPr>
              <a:t>Everything the agent acts in and perceives from, including other agents.</a:t>
            </a:r>
          </a:p>
        </p:txBody>
      </p:sp>
      <p:sp>
        <p:nvSpPr>
          <p:cNvPr id="21" name="Rectangle 20"/>
          <p:cNvSpPr/>
          <p:nvPr/>
        </p:nvSpPr>
        <p:spPr>
          <a:xfrm>
            <a:off x="2569464" y="4166234"/>
            <a:ext cx="1399032"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569464" y="4294251"/>
            <a:ext cx="1417320" cy="506095"/>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60">
                <a:solidFill>
                  <a:srgbClr val="1971C2"/>
                </a:solidFill>
                <a:latin typeface="Calibri"/>
              </a:rPr>
              <a:t>vacuum world  </a:t>
            </a:r>
          </a:p>
          <a:p>
            <a:pPr algn="l" marL="0" indent="0">
              <a:lnSpc>
                <a:spcPts val="1298"/>
              </a:lnSpc>
              <a:spcBef>
                <a:spcPts val="200"/>
              </a:spcBef>
              <a:spcAft>
                <a:spcPts val="0"/>
              </a:spcAft>
              <a:buNone/>
            </a:pPr>
            <a:r>
              <a:rPr sz="1100" b="0" i="0">
                <a:solidFill>
                  <a:srgbClr val="2B3542"/>
                </a:solidFill>
                <a:latin typeface="Calibri"/>
              </a:rPr>
              <a:t>two squares A and B; dirt may reappear</a:t>
            </a:r>
          </a:p>
        </p:txBody>
      </p:sp>
      <p:sp>
        <p:nvSpPr>
          <p:cNvPr id="23" name="Rectangle 22"/>
          <p:cNvSpPr/>
          <p:nvPr/>
        </p:nvSpPr>
        <p:spPr>
          <a:xfrm>
            <a:off x="4297680" y="2163699"/>
            <a:ext cx="1691640" cy="2788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297680" y="2163699"/>
            <a:ext cx="1691640" cy="31089"/>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43984" y="2346579"/>
            <a:ext cx="1417320" cy="457200"/>
          </a:xfrm>
          <a:prstGeom prst="rect">
            <a:avLst/>
          </a:prstGeom>
          <a:noFill/>
        </p:spPr>
        <p:txBody>
          <a:bodyPr wrap="square" lIns="0" rIns="0" tIns="0" bIns="0" anchor="t">
            <a:noAutofit/>
          </a:bodyPr>
          <a:lstStyle/>
          <a:p>
            <a:pPr algn="l" marL="0" indent="0">
              <a:lnSpc>
                <a:spcPts val="2600"/>
              </a:lnSpc>
              <a:spcBef>
                <a:spcPts val="0"/>
              </a:spcBef>
              <a:spcAft>
                <a:spcPts val="0"/>
              </a:spcAft>
              <a:buNone/>
            </a:pPr>
            <a:r>
              <a:rPr sz="2600" b="1" i="0">
                <a:solidFill>
                  <a:srgbClr val="B54708"/>
                </a:solidFill>
                <a:latin typeface="Calibri"/>
              </a:rPr>
              <a:t>A</a:t>
            </a:r>
          </a:p>
        </p:txBody>
      </p:sp>
      <p:sp>
        <p:nvSpPr>
          <p:cNvPr id="26" name="TextBox 25"/>
          <p:cNvSpPr txBox="1"/>
          <p:nvPr/>
        </p:nvSpPr>
        <p:spPr>
          <a:xfrm>
            <a:off x="4443984" y="2840355"/>
            <a:ext cx="1417320"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Actuators</a:t>
            </a:r>
          </a:p>
        </p:txBody>
      </p:sp>
      <p:sp>
        <p:nvSpPr>
          <p:cNvPr id="27" name="TextBox 26"/>
          <p:cNvSpPr txBox="1"/>
          <p:nvPr/>
        </p:nvSpPr>
        <p:spPr>
          <a:xfrm>
            <a:off x="4443984" y="3260979"/>
            <a:ext cx="1417320" cy="53949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5F6B76"/>
                </a:solidFill>
                <a:latin typeface="Calibri"/>
              </a:rPr>
              <a:t>The set of actions physically available to the agent.</a:t>
            </a:r>
          </a:p>
        </p:txBody>
      </p:sp>
      <p:sp>
        <p:nvSpPr>
          <p:cNvPr id="28" name="Rectangle 27"/>
          <p:cNvSpPr/>
          <p:nvPr/>
        </p:nvSpPr>
        <p:spPr>
          <a:xfrm>
            <a:off x="4443984" y="4166234"/>
            <a:ext cx="1399032"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43984" y="4294251"/>
            <a:ext cx="1417320" cy="506095"/>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60">
                <a:solidFill>
                  <a:srgbClr val="B54708"/>
                </a:solidFill>
                <a:latin typeface="Calibri"/>
              </a:rPr>
              <a:t>vacuum world  </a:t>
            </a:r>
          </a:p>
          <a:p>
            <a:pPr algn="l" marL="0" indent="0">
              <a:lnSpc>
                <a:spcPts val="1298"/>
              </a:lnSpc>
              <a:spcBef>
                <a:spcPts val="200"/>
              </a:spcBef>
              <a:spcAft>
                <a:spcPts val="0"/>
              </a:spcAft>
              <a:buNone/>
            </a:pPr>
            <a:r>
              <a:rPr sz="1100" b="0" i="0">
                <a:solidFill>
                  <a:srgbClr val="2B3542"/>
                </a:solidFill>
                <a:latin typeface="Calibri"/>
              </a:rPr>
              <a:t>left, right, suck, do nothing</a:t>
            </a:r>
          </a:p>
        </p:txBody>
      </p:sp>
      <p:sp>
        <p:nvSpPr>
          <p:cNvPr id="30" name="Rectangle 29"/>
          <p:cNvSpPr/>
          <p:nvPr/>
        </p:nvSpPr>
        <p:spPr>
          <a:xfrm>
            <a:off x="6172200" y="2163699"/>
            <a:ext cx="1691640" cy="2788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72200" y="2163699"/>
            <a:ext cx="1691640" cy="31089"/>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18504" y="2346579"/>
            <a:ext cx="1417320" cy="457200"/>
          </a:xfrm>
          <a:prstGeom prst="rect">
            <a:avLst/>
          </a:prstGeom>
          <a:noFill/>
        </p:spPr>
        <p:txBody>
          <a:bodyPr wrap="square" lIns="0" rIns="0" tIns="0" bIns="0" anchor="t">
            <a:noAutofit/>
          </a:bodyPr>
          <a:lstStyle/>
          <a:p>
            <a:pPr algn="l" marL="0" indent="0">
              <a:lnSpc>
                <a:spcPts val="2600"/>
              </a:lnSpc>
              <a:spcBef>
                <a:spcPts val="0"/>
              </a:spcBef>
              <a:spcAft>
                <a:spcPts val="0"/>
              </a:spcAft>
              <a:buNone/>
            </a:pPr>
            <a:r>
              <a:rPr sz="2600" b="1" i="0">
                <a:solidFill>
                  <a:srgbClr val="C92A2A"/>
                </a:solidFill>
                <a:latin typeface="Calibri"/>
              </a:rPr>
              <a:t>S</a:t>
            </a:r>
          </a:p>
        </p:txBody>
      </p:sp>
      <p:sp>
        <p:nvSpPr>
          <p:cNvPr id="33" name="TextBox 32"/>
          <p:cNvSpPr txBox="1"/>
          <p:nvPr/>
        </p:nvSpPr>
        <p:spPr>
          <a:xfrm>
            <a:off x="6318504" y="2840355"/>
            <a:ext cx="1417320"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Sensors</a:t>
            </a:r>
          </a:p>
        </p:txBody>
      </p:sp>
      <p:sp>
        <p:nvSpPr>
          <p:cNvPr id="34" name="TextBox 33"/>
          <p:cNvSpPr txBox="1"/>
          <p:nvPr/>
        </p:nvSpPr>
        <p:spPr>
          <a:xfrm>
            <a:off x="6318504" y="3260979"/>
            <a:ext cx="1417320" cy="70713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5F6B76"/>
                </a:solidFill>
                <a:latin typeface="Calibri"/>
              </a:rPr>
              <a:t>The channel through which percepts arrive; it bounds what the agent can ever know.</a:t>
            </a:r>
          </a:p>
        </p:txBody>
      </p:sp>
      <p:sp>
        <p:nvSpPr>
          <p:cNvPr id="35" name="Rectangle 34"/>
          <p:cNvSpPr/>
          <p:nvPr/>
        </p:nvSpPr>
        <p:spPr>
          <a:xfrm>
            <a:off x="6318504" y="4166234"/>
            <a:ext cx="1399032"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18504" y="4294251"/>
            <a:ext cx="1417320" cy="506095"/>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60">
                <a:solidFill>
                  <a:srgbClr val="C92A2A"/>
                </a:solidFill>
                <a:latin typeface="Calibri"/>
              </a:rPr>
              <a:t>vacuum world  </a:t>
            </a:r>
          </a:p>
          <a:p>
            <a:pPr algn="l" marL="0" indent="0">
              <a:lnSpc>
                <a:spcPts val="1298"/>
              </a:lnSpc>
              <a:spcBef>
                <a:spcPts val="200"/>
              </a:spcBef>
              <a:spcAft>
                <a:spcPts val="0"/>
              </a:spcAft>
              <a:buNone/>
            </a:pPr>
            <a:r>
              <a:rPr sz="1100" b="0" i="0">
                <a:solidFill>
                  <a:srgbClr val="2B3542"/>
                </a:solidFill>
                <a:latin typeface="Calibri"/>
              </a:rPr>
              <a:t>location sensor + dirt detector</a:t>
            </a:r>
          </a:p>
        </p:txBody>
      </p:sp>
      <p:sp>
        <p:nvSpPr>
          <p:cNvPr id="37" name="TextBox 36"/>
          <p:cNvSpPr txBox="1"/>
          <p:nvPr/>
        </p:nvSpPr>
        <p:spPr>
          <a:xfrm>
            <a:off x="548640" y="5190363"/>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A WARNING THAT RETURNS IN PART IV</a:t>
            </a:r>
          </a:p>
        </p:txBody>
      </p:sp>
      <p:sp>
        <p:nvSpPr>
          <p:cNvPr id="38" name="Rectangle 37"/>
          <p:cNvSpPr/>
          <p:nvPr/>
        </p:nvSpPr>
        <p:spPr>
          <a:xfrm>
            <a:off x="548640" y="5428106"/>
            <a:ext cx="7315200" cy="841247"/>
          </a:xfrm>
          <a:prstGeom prst="rect">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48640" y="5428106"/>
            <a:ext cx="41148" cy="841247"/>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8096" y="5574411"/>
            <a:ext cx="6931152" cy="54863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The performance measure is written by the </a:t>
            </a:r>
            <a:r>
              <a:rPr sz="1200" b="1" i="0">
                <a:solidFill>
                  <a:srgbClr val="2B3542"/>
                </a:solidFill>
                <a:latin typeface="Calibri"/>
              </a:rPr>
              <a:t>designer</a:t>
            </a:r>
            <a:r>
              <a:rPr sz="1200" b="0" i="0">
                <a:solidFill>
                  <a:srgbClr val="2B3542"/>
                </a:solidFill>
                <a:latin typeface="Calibri"/>
              </a:rPr>
              <a:t>, not by the agent. Everything that follows — goals, utilities, rewards — is an attempt to make the agent pursue it. If it is specified badly, a perfectly rational agent will pursue the wrong thing, perfectly.</a:t>
            </a:r>
          </a:p>
        </p:txBody>
      </p:sp>
      <p:sp>
        <p:nvSpPr>
          <p:cNvPr id="41" name="TextBox 40"/>
          <p:cNvSpPr txBox="1"/>
          <p:nvPr/>
        </p:nvSpPr>
        <p:spPr>
          <a:xfrm>
            <a:off x="8092440" y="1325880"/>
            <a:ext cx="35508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6202A"/>
                </a:solidFill>
                <a:latin typeface="Calibri"/>
              </a:rPr>
              <a:t>WORKED EXAMPLE</a:t>
            </a:r>
          </a:p>
        </p:txBody>
      </p:sp>
      <p:sp>
        <p:nvSpPr>
          <p:cNvPr id="42" name="TextBox 41"/>
          <p:cNvSpPr txBox="1"/>
          <p:nvPr/>
        </p:nvSpPr>
        <p:spPr>
          <a:xfrm>
            <a:off x="8092440" y="1545336"/>
            <a:ext cx="3550889" cy="27432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500" b="1" i="0">
                <a:solidFill>
                  <a:srgbClr val="16202A"/>
                </a:solidFill>
                <a:latin typeface="Calibri"/>
              </a:rPr>
              <a:t>Part-picking robot</a:t>
            </a:r>
          </a:p>
        </p:txBody>
      </p:sp>
      <p:sp>
        <p:nvSpPr>
          <p:cNvPr id="43" name="TextBox 42"/>
          <p:cNvSpPr txBox="1"/>
          <p:nvPr/>
        </p:nvSpPr>
        <p:spPr>
          <a:xfrm>
            <a:off x="8092440" y="1975104"/>
            <a:ext cx="274320"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2B8A3E"/>
                </a:solidFill>
                <a:latin typeface="Calibri"/>
              </a:rPr>
              <a:t>P</a:t>
            </a:r>
          </a:p>
        </p:txBody>
      </p:sp>
      <p:sp>
        <p:nvSpPr>
          <p:cNvPr id="44" name="TextBox 43"/>
          <p:cNvSpPr txBox="1"/>
          <p:nvPr/>
        </p:nvSpPr>
        <p:spPr>
          <a:xfrm>
            <a:off x="8421624" y="1975104"/>
            <a:ext cx="3221705" cy="21805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Percentage of parts placed in the correct bins</a:t>
            </a:r>
          </a:p>
        </p:txBody>
      </p:sp>
      <p:sp>
        <p:nvSpPr>
          <p:cNvPr id="45" name="TextBox 44"/>
          <p:cNvSpPr txBox="1"/>
          <p:nvPr/>
        </p:nvSpPr>
        <p:spPr>
          <a:xfrm>
            <a:off x="8092440" y="2395728"/>
            <a:ext cx="274320"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1971C2"/>
                </a:solidFill>
                <a:latin typeface="Calibri"/>
              </a:rPr>
              <a:t>E</a:t>
            </a:r>
          </a:p>
        </p:txBody>
      </p:sp>
      <p:sp>
        <p:nvSpPr>
          <p:cNvPr id="46" name="TextBox 45"/>
          <p:cNvSpPr txBox="1"/>
          <p:nvPr/>
        </p:nvSpPr>
        <p:spPr>
          <a:xfrm>
            <a:off x="8421624" y="2395728"/>
            <a:ext cx="3221705" cy="21805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Conveyor belt with parts; bins</a:t>
            </a:r>
          </a:p>
        </p:txBody>
      </p:sp>
      <p:sp>
        <p:nvSpPr>
          <p:cNvPr id="47" name="TextBox 46"/>
          <p:cNvSpPr txBox="1"/>
          <p:nvPr/>
        </p:nvSpPr>
        <p:spPr>
          <a:xfrm>
            <a:off x="8092440" y="2816352"/>
            <a:ext cx="274320"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B54708"/>
                </a:solidFill>
                <a:latin typeface="Calibri"/>
              </a:rPr>
              <a:t>A</a:t>
            </a:r>
          </a:p>
        </p:txBody>
      </p:sp>
      <p:sp>
        <p:nvSpPr>
          <p:cNvPr id="48" name="TextBox 47"/>
          <p:cNvSpPr txBox="1"/>
          <p:nvPr/>
        </p:nvSpPr>
        <p:spPr>
          <a:xfrm>
            <a:off x="8421624" y="2816352"/>
            <a:ext cx="3221705" cy="21805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Jointed arm and hand</a:t>
            </a:r>
          </a:p>
        </p:txBody>
      </p:sp>
      <p:sp>
        <p:nvSpPr>
          <p:cNvPr id="49" name="TextBox 48"/>
          <p:cNvSpPr txBox="1"/>
          <p:nvPr/>
        </p:nvSpPr>
        <p:spPr>
          <a:xfrm>
            <a:off x="8092440" y="3236976"/>
            <a:ext cx="274320" cy="237744"/>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300" b="1" i="0">
                <a:solidFill>
                  <a:srgbClr val="C92A2A"/>
                </a:solidFill>
                <a:latin typeface="Calibri"/>
              </a:rPr>
              <a:t>S</a:t>
            </a:r>
          </a:p>
        </p:txBody>
      </p:sp>
      <p:sp>
        <p:nvSpPr>
          <p:cNvPr id="50" name="TextBox 49"/>
          <p:cNvSpPr txBox="1"/>
          <p:nvPr/>
        </p:nvSpPr>
        <p:spPr>
          <a:xfrm>
            <a:off x="8421624" y="3236976"/>
            <a:ext cx="3221705" cy="21805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Camera, tactile and joint-angle sensors</a:t>
            </a:r>
          </a:p>
        </p:txBody>
      </p:sp>
      <p:sp>
        <p:nvSpPr>
          <p:cNvPr id="51" name="Rectangle 50"/>
          <p:cNvSpPr/>
          <p:nvPr/>
        </p:nvSpPr>
        <p:spPr>
          <a:xfrm>
            <a:off x="8092440" y="3675887"/>
            <a:ext cx="35508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8092440" y="3858768"/>
            <a:ext cx="3550889" cy="81838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092440" y="3858768"/>
            <a:ext cx="41148" cy="818388"/>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311896" y="4005072"/>
            <a:ext cx="3166841" cy="52578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0">
                <a:solidFill>
                  <a:srgbClr val="2B3542"/>
                </a:solidFill>
                <a:latin typeface="Calibri"/>
              </a:rPr>
              <a:t>The same task admits many programs — but only one PEAS description. Fixing PEAS first is what makes two designs comparable.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1.3  PEAS IN PRACTICE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Five agent types, five task specifications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 — Agents and environments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Read each row left to right: the measure fixes what success means, and the last two columns fix what the agent can physically do and know. Notice how different the sensor and actuator channels are, while the structure of the description never changes.</a:t>
            </a:r>
          </a:p>
        </p:txBody>
      </p:sp>
      <p:sp>
        <p:nvSpPr>
          <p:cNvPr id="9" name="Rectangle 8"/>
          <p:cNvSpPr/>
          <p:nvPr/>
        </p:nvSpPr>
        <p:spPr>
          <a:xfrm>
            <a:off x="548640" y="1936242"/>
            <a:ext cx="11094689" cy="303174"/>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998421"/>
            <a:ext cx="1645920" cy="178816"/>
          </a:xfrm>
          <a:prstGeom prst="rect">
            <a:avLst/>
          </a:prstGeom>
          <a:noFill/>
        </p:spPr>
        <p:txBody>
          <a:bodyPr wrap="square" lIns="0" rIns="0" tIns="0" bIns="0" anchor="ctr">
            <a:noAutofit/>
          </a:bodyPr>
          <a:lstStyle/>
          <a:p>
            <a:pPr algn="l" marL="0" indent="0">
              <a:lnSpc>
                <a:spcPts val="1210"/>
              </a:lnSpc>
              <a:spcBef>
                <a:spcPts val="0"/>
              </a:spcBef>
              <a:spcAft>
                <a:spcPts val="0"/>
              </a:spcAft>
              <a:buNone/>
            </a:pPr>
            <a:r>
              <a:rPr sz="1100" b="1" i="0" spc="60">
                <a:solidFill>
                  <a:srgbClr val="FFFFFF"/>
                </a:solidFill>
                <a:latin typeface="Calibri"/>
              </a:rPr>
              <a:t>Agent type</a:t>
            </a:r>
          </a:p>
        </p:txBody>
      </p:sp>
      <p:sp>
        <p:nvSpPr>
          <p:cNvPr id="11" name="TextBox 10"/>
          <p:cNvSpPr txBox="1"/>
          <p:nvPr/>
        </p:nvSpPr>
        <p:spPr>
          <a:xfrm>
            <a:off x="2468880" y="1998421"/>
            <a:ext cx="2029967" cy="178816"/>
          </a:xfrm>
          <a:prstGeom prst="rect">
            <a:avLst/>
          </a:prstGeom>
          <a:noFill/>
        </p:spPr>
        <p:txBody>
          <a:bodyPr wrap="square" lIns="0" rIns="0" tIns="0" bIns="0" anchor="ctr">
            <a:noAutofit/>
          </a:bodyPr>
          <a:lstStyle/>
          <a:p>
            <a:pPr algn="l" marL="0" indent="0">
              <a:lnSpc>
                <a:spcPts val="1210"/>
              </a:lnSpc>
              <a:spcBef>
                <a:spcPts val="0"/>
              </a:spcBef>
              <a:spcAft>
                <a:spcPts val="0"/>
              </a:spcAft>
              <a:buNone/>
            </a:pPr>
            <a:r>
              <a:rPr sz="1100" b="1" i="0" spc="60">
                <a:solidFill>
                  <a:srgbClr val="FFFFFF"/>
                </a:solidFill>
                <a:latin typeface="Calibri"/>
              </a:rPr>
              <a:t>Performance measure</a:t>
            </a:r>
          </a:p>
        </p:txBody>
      </p:sp>
      <p:sp>
        <p:nvSpPr>
          <p:cNvPr id="12" name="TextBox 11"/>
          <p:cNvSpPr txBox="1"/>
          <p:nvPr/>
        </p:nvSpPr>
        <p:spPr>
          <a:xfrm>
            <a:off x="4681727" y="1998421"/>
            <a:ext cx="1773936" cy="178816"/>
          </a:xfrm>
          <a:prstGeom prst="rect">
            <a:avLst/>
          </a:prstGeom>
          <a:noFill/>
        </p:spPr>
        <p:txBody>
          <a:bodyPr wrap="square" lIns="0" rIns="0" tIns="0" bIns="0" anchor="ctr">
            <a:noAutofit/>
          </a:bodyPr>
          <a:lstStyle/>
          <a:p>
            <a:pPr algn="l" marL="0" indent="0">
              <a:lnSpc>
                <a:spcPts val="1210"/>
              </a:lnSpc>
              <a:spcBef>
                <a:spcPts val="0"/>
              </a:spcBef>
              <a:spcAft>
                <a:spcPts val="0"/>
              </a:spcAft>
              <a:buNone/>
            </a:pPr>
            <a:r>
              <a:rPr sz="1100" b="1" i="0" spc="60">
                <a:solidFill>
                  <a:srgbClr val="FFFFFF"/>
                </a:solidFill>
                <a:latin typeface="Calibri"/>
              </a:rPr>
              <a:t>Environment</a:t>
            </a:r>
          </a:p>
        </p:txBody>
      </p:sp>
      <p:sp>
        <p:nvSpPr>
          <p:cNvPr id="13" name="TextBox 12"/>
          <p:cNvSpPr txBox="1"/>
          <p:nvPr/>
        </p:nvSpPr>
        <p:spPr>
          <a:xfrm>
            <a:off x="6638544" y="1998421"/>
            <a:ext cx="2432303" cy="178816"/>
          </a:xfrm>
          <a:prstGeom prst="rect">
            <a:avLst/>
          </a:prstGeom>
          <a:noFill/>
        </p:spPr>
        <p:txBody>
          <a:bodyPr wrap="square" lIns="0" rIns="0" tIns="0" bIns="0" anchor="ctr">
            <a:noAutofit/>
          </a:bodyPr>
          <a:lstStyle/>
          <a:p>
            <a:pPr algn="l" marL="0" indent="0">
              <a:lnSpc>
                <a:spcPts val="1210"/>
              </a:lnSpc>
              <a:spcBef>
                <a:spcPts val="0"/>
              </a:spcBef>
              <a:spcAft>
                <a:spcPts val="0"/>
              </a:spcAft>
              <a:buNone/>
            </a:pPr>
            <a:r>
              <a:rPr sz="1100" b="1" i="0" spc="60">
                <a:solidFill>
                  <a:srgbClr val="FFFFFF"/>
                </a:solidFill>
                <a:latin typeface="Calibri"/>
              </a:rPr>
              <a:t>Actuators</a:t>
            </a:r>
          </a:p>
        </p:txBody>
      </p:sp>
      <p:sp>
        <p:nvSpPr>
          <p:cNvPr id="14" name="TextBox 13"/>
          <p:cNvSpPr txBox="1"/>
          <p:nvPr/>
        </p:nvSpPr>
        <p:spPr>
          <a:xfrm>
            <a:off x="9253728" y="1998421"/>
            <a:ext cx="2295144" cy="178816"/>
          </a:xfrm>
          <a:prstGeom prst="rect">
            <a:avLst/>
          </a:prstGeom>
          <a:noFill/>
        </p:spPr>
        <p:txBody>
          <a:bodyPr wrap="square" lIns="0" rIns="0" tIns="0" bIns="0" anchor="ctr">
            <a:noAutofit/>
          </a:bodyPr>
          <a:lstStyle/>
          <a:p>
            <a:pPr algn="l" marL="0" indent="0">
              <a:lnSpc>
                <a:spcPts val="1210"/>
              </a:lnSpc>
              <a:spcBef>
                <a:spcPts val="0"/>
              </a:spcBef>
              <a:spcAft>
                <a:spcPts val="0"/>
              </a:spcAft>
              <a:buNone/>
            </a:pPr>
            <a:r>
              <a:rPr sz="1100" b="1" i="0" spc="60">
                <a:solidFill>
                  <a:srgbClr val="FFFFFF"/>
                </a:solidFill>
                <a:latin typeface="Calibri"/>
              </a:rPr>
              <a:t>Sensors</a:t>
            </a:r>
          </a:p>
        </p:txBody>
      </p:sp>
      <p:sp>
        <p:nvSpPr>
          <p:cNvPr id="15" name="TextBox 14"/>
          <p:cNvSpPr txBox="1"/>
          <p:nvPr/>
        </p:nvSpPr>
        <p:spPr>
          <a:xfrm>
            <a:off x="640080" y="2301595"/>
            <a:ext cx="1645920"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Medical diagnosis system</a:t>
            </a:r>
          </a:p>
        </p:txBody>
      </p:sp>
      <p:sp>
        <p:nvSpPr>
          <p:cNvPr id="16" name="TextBox 15"/>
          <p:cNvSpPr txBox="1"/>
          <p:nvPr/>
        </p:nvSpPr>
        <p:spPr>
          <a:xfrm>
            <a:off x="2468880" y="2301595"/>
            <a:ext cx="2029967"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Healthy patient, reduced costs</a:t>
            </a:r>
          </a:p>
        </p:txBody>
      </p:sp>
      <p:sp>
        <p:nvSpPr>
          <p:cNvPr id="17" name="TextBox 16"/>
          <p:cNvSpPr txBox="1"/>
          <p:nvPr/>
        </p:nvSpPr>
        <p:spPr>
          <a:xfrm>
            <a:off x="4681727" y="2301595"/>
            <a:ext cx="1773936"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Patient, hospital, staff</a:t>
            </a:r>
          </a:p>
        </p:txBody>
      </p:sp>
      <p:sp>
        <p:nvSpPr>
          <p:cNvPr id="18" name="TextBox 17"/>
          <p:cNvSpPr txBox="1"/>
          <p:nvPr/>
        </p:nvSpPr>
        <p:spPr>
          <a:xfrm>
            <a:off x="6638544" y="2301595"/>
            <a:ext cx="2432303"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Questions, tests, diagnoses, treatments</a:t>
            </a:r>
          </a:p>
        </p:txBody>
      </p:sp>
      <p:sp>
        <p:nvSpPr>
          <p:cNvPr id="19" name="TextBox 18"/>
          <p:cNvSpPr txBox="1"/>
          <p:nvPr/>
        </p:nvSpPr>
        <p:spPr>
          <a:xfrm>
            <a:off x="9253728" y="2301595"/>
            <a:ext cx="2295144"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Touchscreen / voice entry of symptoms and findings</a:t>
            </a:r>
          </a:p>
        </p:txBody>
      </p:sp>
      <p:sp>
        <p:nvSpPr>
          <p:cNvPr id="20" name="Rectangle 19"/>
          <p:cNvSpPr/>
          <p:nvPr/>
        </p:nvSpPr>
        <p:spPr>
          <a:xfrm>
            <a:off x="548640" y="271744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2722930"/>
            <a:ext cx="11094689" cy="4835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785110"/>
            <a:ext cx="1645920"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Satellite image analysis</a:t>
            </a:r>
          </a:p>
        </p:txBody>
      </p:sp>
      <p:sp>
        <p:nvSpPr>
          <p:cNvPr id="23" name="TextBox 22"/>
          <p:cNvSpPr txBox="1"/>
          <p:nvPr/>
        </p:nvSpPr>
        <p:spPr>
          <a:xfrm>
            <a:off x="2468880" y="2785110"/>
            <a:ext cx="2029967"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Correct categorization of objects, terrain</a:t>
            </a:r>
          </a:p>
        </p:txBody>
      </p:sp>
      <p:sp>
        <p:nvSpPr>
          <p:cNvPr id="24" name="TextBox 23"/>
          <p:cNvSpPr txBox="1"/>
          <p:nvPr/>
        </p:nvSpPr>
        <p:spPr>
          <a:xfrm>
            <a:off x="4681727" y="2785110"/>
            <a:ext cx="1773936"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Orbiting satellite, downlink, weather</a:t>
            </a:r>
          </a:p>
        </p:txBody>
      </p:sp>
      <p:sp>
        <p:nvSpPr>
          <p:cNvPr id="25" name="TextBox 24"/>
          <p:cNvSpPr txBox="1"/>
          <p:nvPr/>
        </p:nvSpPr>
        <p:spPr>
          <a:xfrm>
            <a:off x="6638544" y="2785110"/>
            <a:ext cx="2432303"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Display of scene categorization</a:t>
            </a:r>
          </a:p>
        </p:txBody>
      </p:sp>
      <p:sp>
        <p:nvSpPr>
          <p:cNvPr id="26" name="TextBox 25"/>
          <p:cNvSpPr txBox="1"/>
          <p:nvPr/>
        </p:nvSpPr>
        <p:spPr>
          <a:xfrm>
            <a:off x="9253728" y="2785110"/>
            <a:ext cx="2295144"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High-resolution digital camera</a:t>
            </a:r>
          </a:p>
        </p:txBody>
      </p:sp>
      <p:sp>
        <p:nvSpPr>
          <p:cNvPr id="27" name="Rectangle 26"/>
          <p:cNvSpPr/>
          <p:nvPr/>
        </p:nvSpPr>
        <p:spPr>
          <a:xfrm>
            <a:off x="548640" y="3200958"/>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3268624"/>
            <a:ext cx="16459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Part-picking robot</a:t>
            </a:r>
          </a:p>
        </p:txBody>
      </p:sp>
      <p:sp>
        <p:nvSpPr>
          <p:cNvPr id="29" name="TextBox 28"/>
          <p:cNvSpPr txBox="1"/>
          <p:nvPr/>
        </p:nvSpPr>
        <p:spPr>
          <a:xfrm>
            <a:off x="2468880" y="3268624"/>
            <a:ext cx="2029967"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Percentage of parts in correct bins</a:t>
            </a:r>
          </a:p>
        </p:txBody>
      </p:sp>
      <p:sp>
        <p:nvSpPr>
          <p:cNvPr id="30" name="TextBox 29"/>
          <p:cNvSpPr txBox="1"/>
          <p:nvPr/>
        </p:nvSpPr>
        <p:spPr>
          <a:xfrm>
            <a:off x="4681727" y="3268624"/>
            <a:ext cx="1773936"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Conveyor belt with parts; bins</a:t>
            </a:r>
          </a:p>
        </p:txBody>
      </p:sp>
      <p:sp>
        <p:nvSpPr>
          <p:cNvPr id="31" name="TextBox 30"/>
          <p:cNvSpPr txBox="1"/>
          <p:nvPr/>
        </p:nvSpPr>
        <p:spPr>
          <a:xfrm>
            <a:off x="6638544" y="3268624"/>
            <a:ext cx="2432303"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Jointed arm and hand</a:t>
            </a:r>
          </a:p>
        </p:txBody>
      </p:sp>
      <p:sp>
        <p:nvSpPr>
          <p:cNvPr id="32" name="TextBox 31"/>
          <p:cNvSpPr txBox="1"/>
          <p:nvPr/>
        </p:nvSpPr>
        <p:spPr>
          <a:xfrm>
            <a:off x="9253728" y="3268624"/>
            <a:ext cx="2295144"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Camera, tactile and joint-angle sensors</a:t>
            </a:r>
          </a:p>
        </p:txBody>
      </p:sp>
      <p:sp>
        <p:nvSpPr>
          <p:cNvPr id="33" name="Rectangle 32"/>
          <p:cNvSpPr/>
          <p:nvPr/>
        </p:nvSpPr>
        <p:spPr>
          <a:xfrm>
            <a:off x="548640" y="3514039"/>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48640" y="3519525"/>
            <a:ext cx="11094689" cy="4835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3581704"/>
            <a:ext cx="1645920"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Refinery controller</a:t>
            </a:r>
          </a:p>
        </p:txBody>
      </p:sp>
      <p:sp>
        <p:nvSpPr>
          <p:cNvPr id="36" name="TextBox 35"/>
          <p:cNvSpPr txBox="1"/>
          <p:nvPr/>
        </p:nvSpPr>
        <p:spPr>
          <a:xfrm>
            <a:off x="2468880" y="3581704"/>
            <a:ext cx="2029967"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Purity, yield, safety</a:t>
            </a:r>
          </a:p>
        </p:txBody>
      </p:sp>
      <p:sp>
        <p:nvSpPr>
          <p:cNvPr id="37" name="TextBox 36"/>
          <p:cNvSpPr txBox="1"/>
          <p:nvPr/>
        </p:nvSpPr>
        <p:spPr>
          <a:xfrm>
            <a:off x="4681727" y="3581704"/>
            <a:ext cx="1773936"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Refinery, raw materials, operators</a:t>
            </a:r>
          </a:p>
        </p:txBody>
      </p:sp>
      <p:sp>
        <p:nvSpPr>
          <p:cNvPr id="38" name="TextBox 37"/>
          <p:cNvSpPr txBox="1"/>
          <p:nvPr/>
        </p:nvSpPr>
        <p:spPr>
          <a:xfrm>
            <a:off x="6638544" y="3581704"/>
            <a:ext cx="2432303"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Valves, pumps, heaters, stirrers, displays</a:t>
            </a:r>
          </a:p>
        </p:txBody>
      </p:sp>
      <p:sp>
        <p:nvSpPr>
          <p:cNvPr id="39" name="TextBox 38"/>
          <p:cNvSpPr txBox="1"/>
          <p:nvPr/>
        </p:nvSpPr>
        <p:spPr>
          <a:xfrm>
            <a:off x="9253728" y="3581704"/>
            <a:ext cx="2295144"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Temperature, pressure, flow, chemical sensors</a:t>
            </a:r>
          </a:p>
        </p:txBody>
      </p:sp>
      <p:sp>
        <p:nvSpPr>
          <p:cNvPr id="40" name="Rectangle 39"/>
          <p:cNvSpPr/>
          <p:nvPr/>
        </p:nvSpPr>
        <p:spPr>
          <a:xfrm>
            <a:off x="548640" y="3997553"/>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4065219"/>
            <a:ext cx="1645920"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Interactive English tutor</a:t>
            </a:r>
          </a:p>
        </p:txBody>
      </p:sp>
      <p:sp>
        <p:nvSpPr>
          <p:cNvPr id="42" name="TextBox 41"/>
          <p:cNvSpPr txBox="1"/>
          <p:nvPr/>
        </p:nvSpPr>
        <p:spPr>
          <a:xfrm>
            <a:off x="2468880" y="4065219"/>
            <a:ext cx="2029967"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Student’s score on test</a:t>
            </a:r>
          </a:p>
        </p:txBody>
      </p:sp>
      <p:sp>
        <p:nvSpPr>
          <p:cNvPr id="43" name="TextBox 42"/>
          <p:cNvSpPr txBox="1"/>
          <p:nvPr/>
        </p:nvSpPr>
        <p:spPr>
          <a:xfrm>
            <a:off x="4681727" y="4065219"/>
            <a:ext cx="1773936"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Set of students, testing agency</a:t>
            </a:r>
          </a:p>
        </p:txBody>
      </p:sp>
      <p:sp>
        <p:nvSpPr>
          <p:cNvPr id="44" name="TextBox 43"/>
          <p:cNvSpPr txBox="1"/>
          <p:nvPr/>
        </p:nvSpPr>
        <p:spPr>
          <a:xfrm>
            <a:off x="6638544" y="4065219"/>
            <a:ext cx="2432303"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Exercises, feedback, speech</a:t>
            </a:r>
          </a:p>
        </p:txBody>
      </p:sp>
      <p:sp>
        <p:nvSpPr>
          <p:cNvPr id="45" name="TextBox 44"/>
          <p:cNvSpPr txBox="1"/>
          <p:nvPr/>
        </p:nvSpPr>
        <p:spPr>
          <a:xfrm>
            <a:off x="9253728" y="4065219"/>
            <a:ext cx="2295144" cy="359156"/>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Keyboard entry, voice</a:t>
            </a:r>
          </a:p>
        </p:txBody>
      </p:sp>
      <p:sp>
        <p:nvSpPr>
          <p:cNvPr id="46" name="Rectangle 45"/>
          <p:cNvSpPr/>
          <p:nvPr/>
        </p:nvSpPr>
        <p:spPr>
          <a:xfrm>
            <a:off x="548640" y="4481068"/>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48640" y="4724298"/>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THREE THINGS TO NOTICE</a:t>
            </a:r>
          </a:p>
        </p:txBody>
      </p:sp>
      <p:sp>
        <p:nvSpPr>
          <p:cNvPr id="48" name="Rectangle 47"/>
          <p:cNvSpPr/>
          <p:nvPr/>
        </p:nvSpPr>
        <p:spPr>
          <a:xfrm>
            <a:off x="548640" y="4962042"/>
            <a:ext cx="3527541" cy="2926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5090058"/>
            <a:ext cx="3527541"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Measures are usually proxies</a:t>
            </a:r>
          </a:p>
        </p:txBody>
      </p:sp>
      <p:sp>
        <p:nvSpPr>
          <p:cNvPr id="50" name="TextBox 49"/>
          <p:cNvSpPr txBox="1"/>
          <p:nvPr/>
        </p:nvSpPr>
        <p:spPr>
          <a:xfrm>
            <a:off x="548640" y="5350154"/>
            <a:ext cx="3527541" cy="38709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0">
                <a:solidFill>
                  <a:srgbClr val="5F6B76"/>
                </a:solidFill>
                <a:latin typeface="Calibri"/>
              </a:rPr>
              <a:t>A test score is not learning, purity is not profitability, and “healthy patient” hides a trade-off against cost.</a:t>
            </a:r>
          </a:p>
        </p:txBody>
      </p:sp>
      <p:sp>
        <p:nvSpPr>
          <p:cNvPr id="51" name="Rectangle 50"/>
          <p:cNvSpPr/>
          <p:nvPr/>
        </p:nvSpPr>
        <p:spPr>
          <a:xfrm>
            <a:off x="4332213" y="4962042"/>
            <a:ext cx="3527541" cy="2926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332213" y="5090058"/>
            <a:ext cx="3527541"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Sensors bound what can be known</a:t>
            </a:r>
          </a:p>
        </p:txBody>
      </p:sp>
      <p:sp>
        <p:nvSpPr>
          <p:cNvPr id="53" name="TextBox 52"/>
          <p:cNvSpPr txBox="1"/>
          <p:nvPr/>
        </p:nvSpPr>
        <p:spPr>
          <a:xfrm>
            <a:off x="4332213" y="5350154"/>
            <a:ext cx="3527541" cy="56235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0">
                <a:solidFill>
                  <a:srgbClr val="5F6B76"/>
                </a:solidFill>
                <a:latin typeface="Calibri"/>
              </a:rPr>
              <a:t>The tutor never observes understanding, only keystrokes and speech. No program can recover information the sensor channel never carried.</a:t>
            </a:r>
          </a:p>
        </p:txBody>
      </p:sp>
      <p:sp>
        <p:nvSpPr>
          <p:cNvPr id="54" name="Rectangle 53"/>
          <p:cNvSpPr/>
          <p:nvPr/>
        </p:nvSpPr>
        <p:spPr>
          <a:xfrm>
            <a:off x="8115787" y="4962042"/>
            <a:ext cx="3527541" cy="2926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115787" y="5090058"/>
            <a:ext cx="3527541" cy="214376"/>
          </a:xfrm>
          <a:prstGeom prst="rect">
            <a:avLst/>
          </a:prstGeom>
          <a:noFill/>
        </p:spPr>
        <p:txBody>
          <a:bodyPr wrap="square" lIns="0" rIns="0" tIns="0" bIns="0" anchor="t">
            <a:noAutofit/>
          </a:bodyPr>
          <a:lstStyle/>
          <a:p>
            <a:pPr algn="l" marL="0" indent="0">
              <a:lnSpc>
                <a:spcPts val="1400"/>
              </a:lnSpc>
              <a:spcBef>
                <a:spcPts val="0"/>
              </a:spcBef>
              <a:spcAft>
                <a:spcPts val="0"/>
              </a:spcAft>
              <a:buNone/>
            </a:pPr>
            <a:r>
              <a:rPr sz="1250" b="1" i="0">
                <a:solidFill>
                  <a:srgbClr val="16202A"/>
                </a:solidFill>
                <a:latin typeface="Calibri"/>
              </a:rPr>
              <a:t>Actuators bound what can be achieved</a:t>
            </a:r>
          </a:p>
        </p:txBody>
      </p:sp>
      <p:sp>
        <p:nvSpPr>
          <p:cNvPr id="56" name="TextBox 55"/>
          <p:cNvSpPr txBox="1"/>
          <p:nvPr/>
        </p:nvSpPr>
        <p:spPr>
          <a:xfrm>
            <a:off x="8115787" y="5350154"/>
            <a:ext cx="3527541" cy="56235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0">
                <a:solidFill>
                  <a:srgbClr val="5F6B76"/>
                </a:solidFill>
                <a:latin typeface="Calibri"/>
              </a:rPr>
              <a:t>The diagnosis system cannot treat, only display. The set of reachable world-states is fixed before a single line of the program is written.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II</a:t>
            </a:r>
          </a:p>
        </p:txBody>
      </p:sp>
      <p:sp>
        <p:nvSpPr>
          <p:cNvPr id="5" name="TextBox 4"/>
          <p:cNvSpPr txBox="1"/>
          <p:nvPr/>
        </p:nvSpPr>
        <p:spPr>
          <a:xfrm>
            <a:off x="960120" y="2130552"/>
            <a:ext cx="6400800" cy="871728"/>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From agent function to agent program</a:t>
            </a:r>
          </a:p>
        </p:txBody>
      </p:sp>
      <p:sp>
        <p:nvSpPr>
          <p:cNvPr id="6" name="TextBox 5"/>
          <p:cNvSpPr txBox="1"/>
          <p:nvPr/>
        </p:nvSpPr>
        <p:spPr>
          <a:xfrm>
            <a:off x="960120" y="3276599"/>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The behaviour of an agent is a mathematical object; the program is an implementation of it that has to fit in a machine.</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If the table already solves the problem, why is AI hard?</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Agent function and agent program</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The vacuum world, tabulated</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Counting the percept sequences</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Why lookup tables cannot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2.1  TWO DIFFERENT OBJECTS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Behaviour is a function; a program is only its implementation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7</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At any moment an agent’s action is determined by its built-in knowledge and by the entire sequence of percepts observed so far. It cannot depend on anything outside its perceptual experience. That dependency is what the agent function makes precise.</a:t>
            </a:r>
          </a:p>
        </p:txBody>
      </p:sp>
      <p:sp>
        <p:nvSpPr>
          <p:cNvPr id="9" name="Rectangle 8"/>
          <p:cNvSpPr/>
          <p:nvPr/>
        </p:nvSpPr>
        <p:spPr>
          <a:xfrm>
            <a:off x="548640" y="1972817"/>
            <a:ext cx="5295884" cy="2852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972817"/>
            <a:ext cx="5295884" cy="31089"/>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2192274"/>
            <a:ext cx="4856972" cy="486189"/>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2B8A3E"/>
                </a:solidFill>
                <a:latin typeface="Calibri"/>
              </a:rPr>
              <a:t>AGENT FUNCTION</a:t>
            </a:r>
          </a:p>
          <a:p>
            <a:pPr algn="l" marL="0" indent="0">
              <a:lnSpc>
                <a:spcPts val="1652"/>
              </a:lnSpc>
              <a:spcBef>
                <a:spcPts val="700"/>
              </a:spcBef>
              <a:spcAft>
                <a:spcPts val="0"/>
              </a:spcAft>
              <a:buNone/>
            </a:pPr>
            <a:r>
              <a:rPr sz="1400" b="1" i="0">
                <a:solidFill>
                  <a:srgbClr val="16202A"/>
                </a:solidFill>
                <a:latin typeface="Calibri"/>
              </a:rPr>
              <a:t>An abstract mathematical mapping</a:t>
            </a:r>
          </a:p>
        </p:txBody>
      </p:sp>
      <p:pic>
        <p:nvPicPr>
          <p:cNvPr id="12" name="Picture 11" descr="eq_agentf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68096" y="2843055"/>
            <a:ext cx="1802892" cy="312039"/>
          </a:xfrm>
          <a:prstGeom prst="rect">
            <a:avLst/>
          </a:prstGeom>
        </p:spPr>
      </p:pic>
      <p:sp>
        <p:nvSpPr>
          <p:cNvPr id="13" name="TextBox 12"/>
          <p:cNvSpPr txBox="1"/>
          <p:nvPr/>
        </p:nvSpPr>
        <p:spPr>
          <a:xfrm>
            <a:off x="768096" y="3374550"/>
            <a:ext cx="4856972" cy="576072"/>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5F6B76"/>
                </a:solidFill>
                <a:latin typeface="Calibri"/>
              </a:rPr>
              <a:t>Defined over the set of all </a:t>
            </a:r>
            <a:r>
              <a:rPr sz="1200" b="1" i="0">
                <a:solidFill>
                  <a:srgbClr val="16202A"/>
                </a:solidFill>
                <a:latin typeface="Calibri"/>
              </a:rPr>
              <a:t>percept sequences</a:t>
            </a:r>
            <a:r>
              <a:rPr sz="1200" b="0" i="0">
                <a:solidFill>
                  <a:srgbClr val="5F6B76"/>
                </a:solidFill>
                <a:latin typeface="Calibri"/>
              </a:rPr>
              <a:t>, it prescribes one action for every history the agent could ever experience. It specifies behaviour, and says nothing about how the mapping is computed.</a:t>
            </a:r>
          </a:p>
        </p:txBody>
      </p:sp>
      <p:pic>
        <p:nvPicPr>
          <p:cNvPr id="14" name="Picture 13" descr="eq_agentfn_ann.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768096" y="4151790"/>
            <a:ext cx="3393948" cy="595884"/>
          </a:xfrm>
          <a:prstGeom prst="rect">
            <a:avLst/>
          </a:prstGeom>
        </p:spPr>
      </p:pic>
      <p:sp>
        <p:nvSpPr>
          <p:cNvPr id="15" name="Rectangle 14"/>
          <p:cNvSpPr/>
          <p:nvPr/>
        </p:nvSpPr>
        <p:spPr>
          <a:xfrm>
            <a:off x="6347444" y="1972817"/>
            <a:ext cx="5295884" cy="2852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47444" y="1972817"/>
            <a:ext cx="5295884" cy="31089"/>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66900" y="2192274"/>
            <a:ext cx="4856972" cy="486189"/>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1971C2"/>
                </a:solidFill>
                <a:latin typeface="Calibri"/>
              </a:rPr>
              <a:t>AGENT PROGRAM</a:t>
            </a:r>
          </a:p>
          <a:p>
            <a:pPr algn="l" marL="0" indent="0">
              <a:lnSpc>
                <a:spcPts val="1652"/>
              </a:lnSpc>
              <a:spcBef>
                <a:spcPts val="700"/>
              </a:spcBef>
              <a:spcAft>
                <a:spcPts val="0"/>
              </a:spcAft>
              <a:buNone/>
            </a:pPr>
            <a:r>
              <a:rPr sz="1400" b="1" i="0">
                <a:solidFill>
                  <a:srgbClr val="16202A"/>
                </a:solidFill>
                <a:latin typeface="Calibri"/>
              </a:rPr>
              <a:t>A concrete implementation on a machine</a:t>
            </a:r>
          </a:p>
        </p:txBody>
      </p:sp>
      <p:pic>
        <p:nvPicPr>
          <p:cNvPr id="18" name="Picture 17" descr="eq_program_ann.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6566900" y="2843055"/>
            <a:ext cx="4488561" cy="602361"/>
          </a:xfrm>
          <a:prstGeom prst="rect">
            <a:avLst/>
          </a:prstGeom>
        </p:spPr>
      </p:pic>
      <p:sp>
        <p:nvSpPr>
          <p:cNvPr id="19" name="TextBox 18"/>
          <p:cNvSpPr txBox="1"/>
          <p:nvPr/>
        </p:nvSpPr>
        <p:spPr>
          <a:xfrm>
            <a:off x="6566900" y="3664872"/>
            <a:ext cx="4856972" cy="755904"/>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5F6B76"/>
                </a:solidFill>
                <a:latin typeface="Calibri"/>
              </a:rPr>
              <a:t>The environment delivers </a:t>
            </a:r>
            <a:r>
              <a:rPr sz="1200" b="1" i="0">
                <a:solidFill>
                  <a:srgbClr val="16202A"/>
                </a:solidFill>
                <a:latin typeface="Calibri"/>
              </a:rPr>
              <a:t>one percept at a time</a:t>
            </a:r>
            <a:r>
              <a:rPr sz="1200" b="0" i="0">
                <a:solidFill>
                  <a:srgbClr val="5F6B76"/>
                </a:solidFill>
                <a:latin typeface="Calibri"/>
              </a:rPr>
              <a:t>, so the program receives only the current percept. If the decision must depend on the past, the program has to </a:t>
            </a:r>
            <a:r>
              <a:rPr sz="1200" b="1" i="0">
                <a:solidFill>
                  <a:srgbClr val="16202A"/>
                </a:solidFill>
                <a:latin typeface="Calibri"/>
              </a:rPr>
              <a:t>store that past itself</a:t>
            </a:r>
            <a:r>
              <a:rPr sz="1200" b="0" i="0">
                <a:solidFill>
                  <a:srgbClr val="5F6B76"/>
                </a:solidFill>
                <a:latin typeface="Calibri"/>
              </a:rPr>
              <a:t>, in an internal memory m — the single observation that drives every architecture in Part V.</a:t>
            </a:r>
          </a:p>
        </p:txBody>
      </p:sp>
      <p:sp>
        <p:nvSpPr>
          <p:cNvPr id="20" name="Rectangle 19"/>
          <p:cNvSpPr/>
          <p:nvPr/>
        </p:nvSpPr>
        <p:spPr>
          <a:xfrm>
            <a:off x="548640" y="5118354"/>
            <a:ext cx="11094689" cy="673608"/>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5118354"/>
            <a:ext cx="41148" cy="67360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 y="5264658"/>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Keeping the two apart matters: the function can be infinite, the program must be finite. The whole of Part II is an argument that </a:t>
            </a:r>
            <a:r>
              <a:rPr sz="1250" b="1" i="0">
                <a:solidFill>
                  <a:srgbClr val="2B3542"/>
                </a:solidFill>
                <a:latin typeface="Calibri"/>
              </a:rPr>
              <a:t>writing the function down explicitly is never an option</a:t>
            </a:r>
            <a:r>
              <a:rPr sz="1250" b="0" i="0">
                <a:solidFill>
                  <a:srgbClr val="2B3542"/>
                </a:solidFill>
                <a:latin typeface="Calibri"/>
              </a:rPr>
              <a:t>, and therefore that the interesting question is how to compute it compactly.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2.2  THE VACUUM WORLD</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 world small enough that the agent function can actually be written down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8</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Two squares, A and B. Each is either clean or dirty. The agent perceives its own location and the state of that square, and chooses among four actions: move left, move right, suck, do nothing.</a:t>
            </a:r>
          </a:p>
        </p:txBody>
      </p:sp>
      <p:pic>
        <p:nvPicPr>
          <p:cNvPr id="9" name="Picture 8" descr="vacuum_world_table.png"/>
          <p:cNvPicPr>
            <a:picLocks noChangeAspect="1"/>
          </p:cNvPicPr>
          <p:nvPr/>
        </p:nvPicPr>
        <p:blipFill>
          <a:blip r:embed="rId2"/>
          <a:stretch>
            <a:fillRect/>
          </a:stretch>
        </p:blipFill>
        <p:spPr>
          <a:xfrm>
            <a:off x="2412235" y="1936242"/>
            <a:ext cx="7367499" cy="2788920"/>
          </a:xfrm>
          <a:prstGeom prst="rect">
            <a:avLst/>
          </a:prstGeom>
        </p:spPr>
      </p:pic>
      <p:sp>
        <p:nvSpPr>
          <p:cNvPr id="10" name="Rectangle 9"/>
          <p:cNvSpPr/>
          <p:nvPr/>
        </p:nvSpPr>
        <p:spPr>
          <a:xfrm>
            <a:off x="548640" y="4962906"/>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5164074"/>
            <a:ext cx="3515349" cy="2926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5310378"/>
            <a:ext cx="3515349" cy="813181"/>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The percept</a:t>
            </a:r>
          </a:p>
          <a:p>
            <a:pPr algn="l" marL="0" indent="0">
              <a:lnSpc>
                <a:spcPts val="1380"/>
              </a:lnSpc>
              <a:spcBef>
                <a:spcPts val="500"/>
              </a:spcBef>
              <a:spcAft>
                <a:spcPts val="0"/>
              </a:spcAft>
              <a:buNone/>
            </a:pPr>
            <a:r>
              <a:rPr sz="1150" b="0" i="0">
                <a:solidFill>
                  <a:srgbClr val="5F6B76"/>
                </a:solidFill>
                <a:latin typeface="Calibri"/>
              </a:rPr>
              <a:t>A percept is a pair </a:t>
            </a:r>
            <a:r>
              <a:rPr sz="1100" b="0" i="0">
                <a:solidFill>
                  <a:srgbClr val="16202A"/>
                </a:solidFill>
                <a:latin typeface="Consolas"/>
              </a:rPr>
              <a:t>(location, status)</a:t>
            </a:r>
            <a:r>
              <a:rPr sz="1150" b="0" i="0">
                <a:solidFill>
                  <a:srgbClr val="5F6B76"/>
                </a:solidFill>
                <a:latin typeface="Calibri"/>
              </a:rPr>
              <a:t>. A percept sequence is the whole ordered list of pairs seen since the agent was switched on.</a:t>
            </a:r>
          </a:p>
        </p:txBody>
      </p:sp>
      <p:sp>
        <p:nvSpPr>
          <p:cNvPr id="13" name="Rectangle 12"/>
          <p:cNvSpPr/>
          <p:nvPr/>
        </p:nvSpPr>
        <p:spPr>
          <a:xfrm>
            <a:off x="4338309" y="5164074"/>
            <a:ext cx="3515349" cy="2926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38309" y="5310378"/>
            <a:ext cx="3515349" cy="813181"/>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The tabulation</a:t>
            </a:r>
          </a:p>
          <a:p>
            <a:pPr algn="l" marL="0" indent="0">
              <a:lnSpc>
                <a:spcPts val="1380"/>
              </a:lnSpc>
              <a:spcBef>
                <a:spcPts val="500"/>
              </a:spcBef>
              <a:spcAft>
                <a:spcPts val="0"/>
              </a:spcAft>
              <a:buNone/>
            </a:pPr>
            <a:r>
              <a:rPr sz="1150" b="0" i="0">
                <a:solidFill>
                  <a:srgbClr val="5F6B76"/>
                </a:solidFill>
                <a:latin typeface="Calibri"/>
              </a:rPr>
              <a:t>Each row of the table on the right is one percept sequence; the entry beside it is the action the designer wants. Filling in every row </a:t>
            </a:r>
            <a:r>
              <a:rPr sz="1150" b="1" i="0">
                <a:solidFill>
                  <a:srgbClr val="16202A"/>
                </a:solidFill>
                <a:latin typeface="Calibri"/>
              </a:rPr>
              <a:t>defines the agent function completely</a:t>
            </a:r>
            <a:r>
              <a:rPr sz="1150" b="0" i="0">
                <a:solidFill>
                  <a:srgbClr val="5F6B76"/>
                </a:solidFill>
                <a:latin typeface="Calibri"/>
              </a:rPr>
              <a:t>.</a:t>
            </a:r>
          </a:p>
        </p:txBody>
      </p:sp>
      <p:sp>
        <p:nvSpPr>
          <p:cNvPr id="15" name="Rectangle 14"/>
          <p:cNvSpPr/>
          <p:nvPr/>
        </p:nvSpPr>
        <p:spPr>
          <a:xfrm>
            <a:off x="8127979" y="5164074"/>
            <a:ext cx="3515349" cy="2926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27979" y="5310378"/>
            <a:ext cx="3515349" cy="813181"/>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The catch</a:t>
            </a:r>
          </a:p>
          <a:p>
            <a:pPr algn="l" marL="0" indent="0">
              <a:lnSpc>
                <a:spcPts val="1380"/>
              </a:lnSpc>
              <a:spcBef>
                <a:spcPts val="500"/>
              </a:spcBef>
              <a:spcAft>
                <a:spcPts val="0"/>
              </a:spcAft>
              <a:buNone/>
            </a:pPr>
            <a:r>
              <a:rPr sz="1150" b="0" i="0">
                <a:solidFill>
                  <a:srgbClr val="5F6B76"/>
                </a:solidFill>
                <a:latin typeface="Calibri"/>
              </a:rPr>
              <a:t>The table is unbounded: sequences of length 1, then 2, then 3 … The three dots are doing an enormous amount of work. The next two slides count exactly how much.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2.3  THE TABLE-DRIVEN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program must store the history that the function is defined on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9</a:t>
            </a:r>
          </a:p>
        </p:txBody>
      </p:sp>
      <p:sp>
        <p:nvSpPr>
          <p:cNvPr id="8" name="TextBox 7"/>
          <p:cNvSpPr txBox="1"/>
          <p:nvPr/>
        </p:nvSpPr>
        <p:spPr>
          <a:xfrm>
            <a:off x="548640" y="1280160"/>
            <a:ext cx="598932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The most direct implementation keeps every percept in a list and uses the list as a key into a table of actions. It represents the agent function explicitly — one entry for every possible percept sequence.</a:t>
            </a:r>
          </a:p>
        </p:txBody>
      </p:sp>
      <p:sp>
        <p:nvSpPr>
          <p:cNvPr id="9" name="Rectangle 8"/>
          <p:cNvSpPr/>
          <p:nvPr/>
        </p:nvSpPr>
        <p:spPr>
          <a:xfrm>
            <a:off x="548640" y="2122170"/>
            <a:ext cx="5989320" cy="2582291"/>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122170"/>
            <a:ext cx="41148" cy="258229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204466"/>
            <a:ext cx="562355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AGENT PROGRAM</a:t>
            </a:r>
          </a:p>
        </p:txBody>
      </p:sp>
      <p:sp>
        <p:nvSpPr>
          <p:cNvPr id="12" name="TextBox 11"/>
          <p:cNvSpPr txBox="1"/>
          <p:nvPr/>
        </p:nvSpPr>
        <p:spPr>
          <a:xfrm>
            <a:off x="731520" y="2506218"/>
            <a:ext cx="5678424" cy="2125091"/>
          </a:xfrm>
          <a:prstGeom prst="rect">
            <a:avLst/>
          </a:prstGeom>
          <a:noFill/>
        </p:spPr>
        <p:txBody>
          <a:bodyPr wrap="none" lIns="0" rIns="0" tIns="0" bIns="0" anchor="t">
            <a:noAutofit/>
          </a:bodyPr>
          <a:lstStyle/>
          <a:p>
            <a:pPr algn="l" marL="0" indent="0">
              <a:lnSpc>
                <a:spcPts val="1495"/>
              </a:lnSpc>
              <a:spcBef>
                <a:spcPts val="0"/>
              </a:spcBef>
              <a:spcAft>
                <a:spcPts val="0"/>
              </a:spcAft>
              <a:buNone/>
            </a:pPr>
            <a:r>
              <a:rPr sz="1150" b="0" i="0">
                <a:solidFill>
                  <a:srgbClr val="1F2A37"/>
                </a:solidFill>
                <a:latin typeface="Consolas"/>
              </a:rPr>
              <a:t>def TableDrivenAgent(table):</a:t>
            </a:r>
          </a:p>
          <a:p>
            <a:pPr algn="l" marL="0" indent="0">
              <a:lnSpc>
                <a:spcPts val="1495"/>
              </a:lnSpc>
              <a:spcBef>
                <a:spcPts val="0"/>
              </a:spcBef>
              <a:spcAft>
                <a:spcPts val="0"/>
              </a:spcAft>
              <a:buNone/>
            </a:pPr>
            <a:r>
              <a:rPr sz="1150" b="0" i="0">
                <a:solidFill>
                  <a:srgbClr val="2B3542"/>
                </a:solidFill>
                <a:latin typeface="Consolas"/>
              </a:rPr>
              <a:t> </a:t>
            </a:r>
          </a:p>
          <a:p>
            <a:pPr algn="l" marL="0" indent="0">
              <a:lnSpc>
                <a:spcPts val="1495"/>
              </a:lnSpc>
              <a:spcBef>
                <a:spcPts val="0"/>
              </a:spcBef>
              <a:spcAft>
                <a:spcPts val="0"/>
              </a:spcAft>
              <a:buNone/>
            </a:pPr>
            <a:r>
              <a:rPr sz="1150" b="0" i="0">
                <a:solidFill>
                  <a:srgbClr val="1F2A37"/>
                </a:solidFill>
                <a:latin typeface="Consolas"/>
              </a:rPr>
              <a:t>    </a:t>
            </a:r>
            <a:r>
              <a:rPr sz="1150" b="0" i="1">
                <a:solidFill>
                  <a:srgbClr val="768896"/>
                </a:solidFill>
                <a:latin typeface="Consolas"/>
              </a:rPr>
              <a:t># the percepts seen so far</a:t>
            </a:r>
          </a:p>
          <a:p>
            <a:pPr algn="l" marL="0" indent="0">
              <a:lnSpc>
                <a:spcPts val="1495"/>
              </a:lnSpc>
              <a:spcBef>
                <a:spcPts val="0"/>
              </a:spcBef>
              <a:spcAft>
                <a:spcPts val="0"/>
              </a:spcAft>
              <a:buNone/>
            </a:pPr>
            <a:r>
              <a:rPr sz="1150" b="0" i="0">
                <a:solidFill>
                  <a:srgbClr val="1F2A37"/>
                </a:solidFill>
                <a:latin typeface="Consolas"/>
              </a:rPr>
              <a:t>    percepts = []</a:t>
            </a:r>
          </a:p>
          <a:p>
            <a:pPr algn="l" marL="0" indent="0">
              <a:lnSpc>
                <a:spcPts val="1495"/>
              </a:lnSpc>
              <a:spcBef>
                <a:spcPts val="0"/>
              </a:spcBef>
              <a:spcAft>
                <a:spcPts val="0"/>
              </a:spcAft>
              <a:buNone/>
            </a:pPr>
            <a:r>
              <a:rPr sz="1150" b="0" i="0">
                <a:solidFill>
                  <a:srgbClr val="2B3542"/>
                </a:solidFill>
                <a:latin typeface="Consolas"/>
              </a:rPr>
              <a:t> </a:t>
            </a:r>
          </a:p>
          <a:p>
            <a:pPr algn="l" marL="0" indent="0">
              <a:lnSpc>
                <a:spcPts val="1495"/>
              </a:lnSpc>
              <a:spcBef>
                <a:spcPts val="0"/>
              </a:spcBef>
              <a:spcAft>
                <a:spcPts val="0"/>
              </a:spcAft>
              <a:buNone/>
            </a:pPr>
            <a:r>
              <a:rPr sz="1150" b="0" i="0">
                <a:solidFill>
                  <a:srgbClr val="1F2A37"/>
                </a:solidFill>
                <a:latin typeface="Consolas"/>
              </a:rPr>
              <a:t>    def program(percept):</a:t>
            </a:r>
          </a:p>
          <a:p>
            <a:pPr algn="l" marL="0" indent="0">
              <a:lnSpc>
                <a:spcPts val="1495"/>
              </a:lnSpc>
              <a:spcBef>
                <a:spcPts val="0"/>
              </a:spcBef>
              <a:spcAft>
                <a:spcPts val="0"/>
              </a:spcAft>
              <a:buNone/>
            </a:pPr>
            <a:r>
              <a:rPr sz="1150" b="1" i="0">
                <a:solidFill>
                  <a:srgbClr val="1971C2"/>
                </a:solidFill>
                <a:latin typeface="Consolas"/>
              </a:rPr>
              <a:t>        percepts.append(percept)          </a:t>
            </a:r>
            <a:r>
              <a:rPr sz="1150" b="0" i="1">
                <a:solidFill>
                  <a:srgbClr val="768896"/>
                </a:solidFill>
                <a:latin typeface="Consolas"/>
              </a:rPr>
              <a:t># remember</a:t>
            </a:r>
          </a:p>
          <a:p>
            <a:pPr algn="l" marL="0" indent="0">
              <a:lnSpc>
                <a:spcPts val="1495"/>
              </a:lnSpc>
              <a:spcBef>
                <a:spcPts val="0"/>
              </a:spcBef>
              <a:spcAft>
                <a:spcPts val="0"/>
              </a:spcAft>
              <a:buNone/>
            </a:pPr>
            <a:r>
              <a:rPr sz="1150" b="1" i="0">
                <a:solidFill>
                  <a:srgbClr val="1971C2"/>
                </a:solidFill>
                <a:latin typeface="Consolas"/>
              </a:rPr>
              <a:t>        action = table.get(tuple(percepts))  </a:t>
            </a:r>
            <a:r>
              <a:rPr sz="1150" b="0" i="1">
                <a:solidFill>
                  <a:srgbClr val="768896"/>
                </a:solidFill>
                <a:latin typeface="Consolas"/>
              </a:rPr>
              <a:t># look up</a:t>
            </a:r>
          </a:p>
          <a:p>
            <a:pPr algn="l" marL="0" indent="0">
              <a:lnSpc>
                <a:spcPts val="1495"/>
              </a:lnSpc>
              <a:spcBef>
                <a:spcPts val="0"/>
              </a:spcBef>
              <a:spcAft>
                <a:spcPts val="0"/>
              </a:spcAft>
              <a:buNone/>
            </a:pPr>
            <a:r>
              <a:rPr sz="1150" b="0" i="0">
                <a:solidFill>
                  <a:srgbClr val="1F2A37"/>
                </a:solidFill>
                <a:latin typeface="Consolas"/>
              </a:rPr>
              <a:t>        return action</a:t>
            </a:r>
          </a:p>
          <a:p>
            <a:pPr algn="l" marL="0" indent="0">
              <a:lnSpc>
                <a:spcPts val="1495"/>
              </a:lnSpc>
              <a:spcBef>
                <a:spcPts val="0"/>
              </a:spcBef>
              <a:spcAft>
                <a:spcPts val="0"/>
              </a:spcAft>
              <a:buNone/>
            </a:pPr>
            <a:r>
              <a:rPr sz="1150" b="0" i="0">
                <a:solidFill>
                  <a:srgbClr val="2B3542"/>
                </a:solidFill>
                <a:latin typeface="Consolas"/>
              </a:rPr>
              <a:t> </a:t>
            </a:r>
          </a:p>
          <a:p>
            <a:pPr algn="l" marL="0" indent="0">
              <a:lnSpc>
                <a:spcPts val="1495"/>
              </a:lnSpc>
              <a:spcBef>
                <a:spcPts val="0"/>
              </a:spcBef>
              <a:spcAft>
                <a:spcPts val="0"/>
              </a:spcAft>
              <a:buNone/>
            </a:pPr>
            <a:r>
              <a:rPr sz="1150" b="0" i="0">
                <a:solidFill>
                  <a:srgbClr val="1F2A37"/>
                </a:solidFill>
                <a:latin typeface="Consolas"/>
              </a:rPr>
              <a:t>    return program</a:t>
            </a:r>
          </a:p>
        </p:txBody>
      </p:sp>
      <p:sp>
        <p:nvSpPr>
          <p:cNvPr id="13" name="TextBox 12"/>
          <p:cNvSpPr txBox="1"/>
          <p:nvPr/>
        </p:nvSpPr>
        <p:spPr>
          <a:xfrm>
            <a:off x="548640" y="4850765"/>
            <a:ext cx="598932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All agent programs share this shape: a percept comes in from the sensors, an action goes out to the actuators. Only the middle changes.</a:t>
            </a:r>
          </a:p>
        </p:txBody>
      </p:sp>
      <p:sp>
        <p:nvSpPr>
          <p:cNvPr id="14" name="TextBox 13"/>
          <p:cNvSpPr txBox="1"/>
          <p:nvPr/>
        </p:nvSpPr>
        <p:spPr>
          <a:xfrm>
            <a:off x="6949440" y="1280160"/>
            <a:ext cx="4693889" cy="825660"/>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1971C2"/>
                </a:solidFill>
                <a:latin typeface="Calibri"/>
              </a:rPr>
              <a:t>WHY THE LIST IS THERE</a:t>
            </a:r>
          </a:p>
          <a:p>
            <a:pPr algn="l" marL="0" indent="0">
              <a:lnSpc>
                <a:spcPts val="1475"/>
              </a:lnSpc>
              <a:spcBef>
                <a:spcPts val="0"/>
              </a:spcBef>
              <a:spcAft>
                <a:spcPts val="0"/>
              </a:spcAft>
              <a:buNone/>
            </a:pPr>
            <a:r>
              <a:rPr sz="1250" b="0" i="0">
                <a:solidFill>
                  <a:srgbClr val="2B3542"/>
                </a:solidFill>
                <a:latin typeface="Calibri"/>
              </a:rPr>
              <a:t>The agent function is defined on </a:t>
            </a:r>
            <a:r>
              <a:rPr sz="1250" b="1" i="0">
                <a:solidFill>
                  <a:srgbClr val="16202A"/>
                </a:solidFill>
                <a:latin typeface="Calibri"/>
              </a:rPr>
              <a:t>p₁ … p_t</a:t>
            </a:r>
            <a:r>
              <a:rPr sz="1250" b="0" i="0">
                <a:solidFill>
                  <a:srgbClr val="2B3542"/>
                </a:solidFill>
                <a:latin typeface="Calibri"/>
              </a:rPr>
              <a:t>, but the sensors deliver only </a:t>
            </a:r>
            <a:r>
              <a:rPr sz="1250" b="1" i="0">
                <a:solidFill>
                  <a:srgbClr val="16202A"/>
                </a:solidFill>
                <a:latin typeface="Calibri"/>
              </a:rPr>
              <a:t>p_t</a:t>
            </a:r>
            <a:r>
              <a:rPr sz="1250" b="0" i="0">
                <a:solidFill>
                  <a:srgbClr val="2B3542"/>
                </a:solidFill>
                <a:latin typeface="Calibri"/>
              </a:rPr>
              <a:t>. The gap between the two is bridged by memory — here, the crudest possible memory: keep everything.</a:t>
            </a:r>
          </a:p>
        </p:txBody>
      </p:sp>
      <p:sp>
        <p:nvSpPr>
          <p:cNvPr id="15" name="TextBox 14"/>
          <p:cNvSpPr txBox="1"/>
          <p:nvPr/>
        </p:nvSpPr>
        <p:spPr>
          <a:xfrm>
            <a:off x="6949440" y="2343564"/>
            <a:ext cx="46938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WHAT THIS BUYS, AND WHAT IT COSTS</a:t>
            </a:r>
          </a:p>
        </p:txBody>
      </p:sp>
      <p:sp>
        <p:nvSpPr>
          <p:cNvPr id="16" name="TextBox 15"/>
          <p:cNvSpPr txBox="1"/>
          <p:nvPr/>
        </p:nvSpPr>
        <p:spPr>
          <a:xfrm>
            <a:off x="6949440" y="2581308"/>
            <a:ext cx="4693889" cy="1267967"/>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0" i="0">
                <a:solidFill>
                  <a:srgbClr val="2B3542"/>
                </a:solidFill>
                <a:latin typeface="Calibri"/>
              </a:rPr>
              <a:t>It is </a:t>
            </a:r>
            <a:r>
              <a:rPr sz="1200" b="1" i="0">
                <a:solidFill>
                  <a:srgbClr val="16202A"/>
                </a:solidFill>
                <a:latin typeface="Calibri"/>
              </a:rPr>
              <a:t>correct by construction</a:t>
            </a:r>
            <a:r>
              <a:rPr sz="1200" b="0" i="0">
                <a:solidFill>
                  <a:srgbClr val="2B3542"/>
                </a:solidFill>
                <a:latin typeface="Calibri"/>
              </a:rPr>
              <a:t>: if the table is filled in properly, the agent does exactly what we want.</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It is </a:t>
            </a:r>
            <a:r>
              <a:rPr sz="1200" b="1" i="0">
                <a:solidFill>
                  <a:srgbClr val="16202A"/>
                </a:solidFill>
                <a:latin typeface="Calibri"/>
              </a:rPr>
              <a:t>completely general</a:t>
            </a:r>
            <a:r>
              <a:rPr sz="1200" b="0" i="0">
                <a:solidFill>
                  <a:srgbClr val="2B3542"/>
                </a:solidFill>
                <a:latin typeface="Calibri"/>
              </a:rPr>
              <a:t>: any agent function whatsoever can be represented this way.</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It requires the designer to </a:t>
            </a:r>
            <a:r>
              <a:rPr sz="1200" b="1" i="0">
                <a:solidFill>
                  <a:srgbClr val="C92A2A"/>
                </a:solidFill>
                <a:latin typeface="Calibri"/>
              </a:rPr>
              <a:t>specify the right action for every possible history</a:t>
            </a:r>
            <a:r>
              <a:rPr sz="1200" b="0" i="0">
                <a:solidFill>
                  <a:srgbClr val="2B3542"/>
                </a:solidFill>
                <a:latin typeface="Calibri"/>
              </a:rPr>
              <a:t> — before the agent is ever switched on.</a:t>
            </a:r>
          </a:p>
        </p:txBody>
      </p:sp>
      <p:sp>
        <p:nvSpPr>
          <p:cNvPr id="17" name="Rectangle 16"/>
          <p:cNvSpPr/>
          <p:nvPr/>
        </p:nvSpPr>
        <p:spPr>
          <a:xfrm>
            <a:off x="6949440" y="4087020"/>
            <a:ext cx="4693889" cy="1078992"/>
          </a:xfrm>
          <a:prstGeom prst="rect">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949440" y="4087020"/>
            <a:ext cx="41148" cy="107899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68896" y="4233324"/>
            <a:ext cx="440128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B54708"/>
                </a:solidFill>
                <a:latin typeface="Calibri"/>
              </a:rPr>
              <a:t>THE REAL OBJECTION</a:t>
            </a:r>
          </a:p>
        </p:txBody>
      </p:sp>
      <p:sp>
        <p:nvSpPr>
          <p:cNvPr id="20" name="TextBox 19"/>
          <p:cNvSpPr txBox="1"/>
          <p:nvPr/>
        </p:nvSpPr>
        <p:spPr>
          <a:xfrm>
            <a:off x="7168896" y="4471068"/>
            <a:ext cx="4309841" cy="54863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To build a rational agent this way, someone must anticipate every situation in advance. That is not an engineering difficulty; it is an impossibility, and the next three slides quantify it.</a:t>
            </a:r>
          </a:p>
        </p:txBody>
      </p:sp>
      <p:sp>
        <p:nvSpPr>
          <p:cNvPr id="21" name="Rectangle 20"/>
          <p:cNvSpPr/>
          <p:nvPr/>
        </p:nvSpPr>
        <p:spPr>
          <a:xfrm>
            <a:off x="548640" y="5138928"/>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5303520"/>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THREE MOVING PARTS OF ANY AGENT PROGRAM</a:t>
            </a:r>
          </a:p>
        </p:txBody>
      </p:sp>
      <p:sp>
        <p:nvSpPr>
          <p:cNvPr id="23" name="Rectangle 22"/>
          <p:cNvSpPr/>
          <p:nvPr/>
        </p:nvSpPr>
        <p:spPr>
          <a:xfrm>
            <a:off x="548640" y="5559552"/>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5687568"/>
            <a:ext cx="3490965" cy="632079"/>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What it receives</a:t>
            </a:r>
          </a:p>
          <a:p>
            <a:pPr algn="l" marL="0" indent="0">
              <a:lnSpc>
                <a:spcPts val="1357"/>
              </a:lnSpc>
              <a:spcBef>
                <a:spcPts val="500"/>
              </a:spcBef>
              <a:spcAft>
                <a:spcPts val="0"/>
              </a:spcAft>
              <a:buNone/>
            </a:pPr>
            <a:r>
              <a:rPr sz="1150" b="0" i="0">
                <a:solidFill>
                  <a:srgbClr val="5F6B76"/>
                </a:solidFill>
                <a:latin typeface="Calibri"/>
              </a:rPr>
              <a:t>One percept, delivered by the sensors at this time step. Never the history, never the state of the world.</a:t>
            </a:r>
          </a:p>
        </p:txBody>
      </p:sp>
      <p:sp>
        <p:nvSpPr>
          <p:cNvPr id="25" name="Rectangle 24"/>
          <p:cNvSpPr/>
          <p:nvPr/>
        </p:nvSpPr>
        <p:spPr>
          <a:xfrm>
            <a:off x="4350501" y="5559552"/>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350501" y="5687568"/>
            <a:ext cx="3490965" cy="632079"/>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What it keeps</a:t>
            </a:r>
          </a:p>
          <a:p>
            <a:pPr algn="l" marL="0" indent="0">
              <a:lnSpc>
                <a:spcPts val="1357"/>
              </a:lnSpc>
              <a:spcBef>
                <a:spcPts val="500"/>
              </a:spcBef>
              <a:spcAft>
                <a:spcPts val="0"/>
              </a:spcAft>
              <a:buNone/>
            </a:pPr>
            <a:r>
              <a:rPr sz="1150" b="0" i="0">
                <a:solidFill>
                  <a:srgbClr val="5F6B76"/>
                </a:solidFill>
                <a:latin typeface="Calibri"/>
              </a:rPr>
              <a:t>Whatever it chooses to store. Here the full list of percepts; in §5.2 nothing; in §5.6 a compact state.</a:t>
            </a:r>
          </a:p>
        </p:txBody>
      </p:sp>
      <p:sp>
        <p:nvSpPr>
          <p:cNvPr id="27" name="Rectangle 26"/>
          <p:cNvSpPr/>
          <p:nvPr/>
        </p:nvSpPr>
        <p:spPr>
          <a:xfrm>
            <a:off x="8152363" y="5559552"/>
            <a:ext cx="3490965"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52363" y="5687568"/>
            <a:ext cx="3490965" cy="632079"/>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What it returns</a:t>
            </a:r>
          </a:p>
          <a:p>
            <a:pPr algn="l" marL="0" indent="0">
              <a:lnSpc>
                <a:spcPts val="1357"/>
              </a:lnSpc>
              <a:spcBef>
                <a:spcPts val="500"/>
              </a:spcBef>
              <a:spcAft>
                <a:spcPts val="0"/>
              </a:spcAft>
              <a:buNone/>
            </a:pPr>
            <a:r>
              <a:rPr sz="1150" b="0" i="0">
                <a:solidFill>
                  <a:srgbClr val="5F6B76"/>
                </a:solidFill>
                <a:latin typeface="Calibri"/>
              </a:rPr>
              <a:t>One action, handed to the actuators. The environment does the rest, and the next percept arrives.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2.4  WHAT THE TABLE CANNOT DO</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 lookup fails on any history the designer did not foresee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10</a:t>
            </a:r>
          </a:p>
        </p:txBody>
      </p:sp>
      <p:sp>
        <p:nvSpPr>
          <p:cNvPr id="8" name="TextBox 7"/>
          <p:cNvSpPr txBox="1"/>
          <p:nvPr/>
        </p:nvSpPr>
        <p:spPr>
          <a:xfrm>
            <a:off x="548640" y="1280160"/>
            <a:ext cx="6309360" cy="237998"/>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Here is a deliberately partial table, listing only some sequences of length up to three:</a:t>
            </a:r>
          </a:p>
        </p:txBody>
      </p:sp>
      <p:sp>
        <p:nvSpPr>
          <p:cNvPr id="9" name="Rectangle 8"/>
          <p:cNvSpPr/>
          <p:nvPr/>
        </p:nvSpPr>
        <p:spPr>
          <a:xfrm>
            <a:off x="548640" y="1701038"/>
            <a:ext cx="6309360" cy="303631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701038"/>
            <a:ext cx="41148" cy="303631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1783334"/>
            <a:ext cx="5943600"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PARTIAL TABLE AND A THREE-STEP RUN</a:t>
            </a:r>
          </a:p>
        </p:txBody>
      </p:sp>
      <p:sp>
        <p:nvSpPr>
          <p:cNvPr id="12" name="TextBox 11"/>
          <p:cNvSpPr txBox="1"/>
          <p:nvPr/>
        </p:nvSpPr>
        <p:spPr>
          <a:xfrm>
            <a:off x="731520" y="2085085"/>
            <a:ext cx="5998464" cy="257911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table = {</a:t>
            </a:r>
          </a:p>
          <a:p>
            <a:pPr algn="l" marL="0" indent="0">
              <a:lnSpc>
                <a:spcPts val="1430"/>
              </a:lnSpc>
              <a:spcBef>
                <a:spcPts val="0"/>
              </a:spcBef>
              <a:spcAft>
                <a:spcPts val="0"/>
              </a:spcAft>
              <a:buNone/>
            </a:pPr>
            <a:r>
              <a:rPr sz="1100" b="0" i="0">
                <a:solidFill>
                  <a:srgbClr val="1F2A37"/>
                </a:solidFill>
                <a:latin typeface="Consolas"/>
              </a:rPr>
              <a:t>    (("A", "clean"),):                    "right",</a:t>
            </a:r>
          </a:p>
          <a:p>
            <a:pPr algn="l" marL="0" indent="0">
              <a:lnSpc>
                <a:spcPts val="1430"/>
              </a:lnSpc>
              <a:spcBef>
                <a:spcPts val="0"/>
              </a:spcBef>
              <a:spcAft>
                <a:spcPts val="0"/>
              </a:spcAft>
              <a:buNone/>
            </a:pPr>
            <a:r>
              <a:rPr sz="1100" b="0" i="0">
                <a:solidFill>
                  <a:srgbClr val="1F2A37"/>
                </a:solidFill>
                <a:latin typeface="Consolas"/>
              </a:rPr>
              <a:t>    (("A", "dirty"),):                    "suck",</a:t>
            </a:r>
          </a:p>
          <a:p>
            <a:pPr algn="l" marL="0" indent="0">
              <a:lnSpc>
                <a:spcPts val="1430"/>
              </a:lnSpc>
              <a:spcBef>
                <a:spcPts val="0"/>
              </a:spcBef>
              <a:spcAft>
                <a:spcPts val="0"/>
              </a:spcAft>
              <a:buNone/>
            </a:pPr>
            <a:r>
              <a:rPr sz="1100" b="0" i="0">
                <a:solidFill>
                  <a:srgbClr val="1F2A37"/>
                </a:solidFill>
                <a:latin typeface="Consolas"/>
              </a:rPr>
              <a:t>    (("B", "clean"),):                    "left",</a:t>
            </a:r>
          </a:p>
          <a:p>
            <a:pPr algn="l" marL="0" indent="0">
              <a:lnSpc>
                <a:spcPts val="1430"/>
              </a:lnSpc>
              <a:spcBef>
                <a:spcPts val="0"/>
              </a:spcBef>
              <a:spcAft>
                <a:spcPts val="0"/>
              </a:spcAft>
              <a:buNone/>
            </a:pPr>
            <a:r>
              <a:rPr sz="1100" b="0" i="0">
                <a:solidFill>
                  <a:srgbClr val="1F2A37"/>
                </a:solidFill>
                <a:latin typeface="Consolas"/>
              </a:rPr>
              <a:t>    (("B", "dirty"),):                    "suck",</a:t>
            </a:r>
          </a:p>
          <a:p>
            <a:pPr algn="l" marL="0" indent="0">
              <a:lnSpc>
                <a:spcPts val="1430"/>
              </a:lnSpc>
              <a:spcBef>
                <a:spcPts val="0"/>
              </a:spcBef>
              <a:spcAft>
                <a:spcPts val="0"/>
              </a:spcAft>
              <a:buNone/>
            </a:pPr>
            <a:r>
              <a:rPr sz="1100" b="0" i="0">
                <a:solidFill>
                  <a:srgbClr val="1F2A37"/>
                </a:solidFill>
                <a:latin typeface="Consolas"/>
              </a:rPr>
              <a:t>    (("A", "clean"), ("A", "clean")):     "right",</a:t>
            </a:r>
          </a:p>
          <a:p>
            <a:pPr algn="l" marL="0" indent="0">
              <a:lnSpc>
                <a:spcPts val="1430"/>
              </a:lnSpc>
              <a:spcBef>
                <a:spcPts val="0"/>
              </a:spcBef>
              <a:spcAft>
                <a:spcPts val="0"/>
              </a:spcAft>
              <a:buNone/>
            </a:pPr>
            <a:r>
              <a:rPr sz="1100" b="0" i="0">
                <a:solidFill>
                  <a:srgbClr val="1F2A37"/>
                </a:solidFill>
                <a:latin typeface="Consolas"/>
              </a:rPr>
              <a:t>    (("A", "clean"), ("A", "dirty")):     "suck",</a:t>
            </a:r>
          </a:p>
          <a:p>
            <a:pPr algn="l" marL="0" indent="0">
              <a:lnSpc>
                <a:spcPts val="1430"/>
              </a:lnSpc>
              <a:spcBef>
                <a:spcPts val="0"/>
              </a:spcBef>
              <a:spcAft>
                <a:spcPts val="0"/>
              </a:spcAft>
              <a:buNone/>
            </a:pPr>
            <a:r>
              <a:rPr sz="1100" b="0" i="0">
                <a:solidFill>
                  <a:srgbClr val="1F2A37"/>
                </a:solidFill>
                <a:latin typeface="Consolas"/>
              </a:rPr>
              <a:t>    ...</a:t>
            </a:r>
          </a:p>
          <a:p>
            <a:pPr algn="l" marL="0" indent="0">
              <a:lnSpc>
                <a:spcPts val="1430"/>
              </a:lnSpc>
              <a:spcBef>
                <a:spcPts val="0"/>
              </a:spcBef>
              <a:spcAft>
                <a:spcPts val="0"/>
              </a:spcAft>
              <a:buNone/>
            </a:pPr>
            <a:r>
              <a:rPr sz="1100" b="0" i="0">
                <a:solidFill>
                  <a:srgbClr val="1F2A37"/>
                </a:solidFill>
                <a:latin typeface="Consolas"/>
              </a:rPr>
              <a:t>}</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agent = TableDrivenAgent(table)</a:t>
            </a:r>
          </a:p>
          <a:p>
            <a:pPr algn="l" marL="0" indent="0">
              <a:lnSpc>
                <a:spcPts val="1430"/>
              </a:lnSpc>
              <a:spcBef>
                <a:spcPts val="0"/>
              </a:spcBef>
              <a:spcAft>
                <a:spcPts val="0"/>
              </a:spcAft>
              <a:buNone/>
            </a:pPr>
            <a:r>
              <a:rPr sz="1100" b="0" i="0">
                <a:solidFill>
                  <a:srgbClr val="1F2A37"/>
                </a:solidFill>
                <a:latin typeface="Consolas"/>
              </a:rPr>
              <a:t>print(agent(("A", "clean")))   </a:t>
            </a:r>
            <a:r>
              <a:rPr sz="1100" b="0" i="1">
                <a:solidFill>
                  <a:srgbClr val="768896"/>
                </a:solidFill>
                <a:latin typeface="Consolas"/>
              </a:rPr>
              <a:t># right</a:t>
            </a:r>
          </a:p>
          <a:p>
            <a:pPr algn="l" marL="0" indent="0">
              <a:lnSpc>
                <a:spcPts val="1430"/>
              </a:lnSpc>
              <a:spcBef>
                <a:spcPts val="0"/>
              </a:spcBef>
              <a:spcAft>
                <a:spcPts val="0"/>
              </a:spcAft>
              <a:buNone/>
            </a:pPr>
            <a:r>
              <a:rPr sz="1100" b="0" i="0">
                <a:solidFill>
                  <a:srgbClr val="1F2A37"/>
                </a:solidFill>
                <a:latin typeface="Consolas"/>
              </a:rPr>
              <a:t>print(agent(("A", "dirty")))   </a:t>
            </a:r>
            <a:r>
              <a:rPr sz="1100" b="0" i="1">
                <a:solidFill>
                  <a:srgbClr val="768896"/>
                </a:solidFill>
                <a:latin typeface="Consolas"/>
              </a:rPr>
              <a:t># suck</a:t>
            </a:r>
          </a:p>
          <a:p>
            <a:pPr algn="l" marL="0" indent="0">
              <a:lnSpc>
                <a:spcPts val="1430"/>
              </a:lnSpc>
              <a:spcBef>
                <a:spcPts val="0"/>
              </a:spcBef>
              <a:spcAft>
                <a:spcPts val="0"/>
              </a:spcAft>
              <a:buNone/>
            </a:pPr>
            <a:r>
              <a:rPr sz="1100" b="1" i="0">
                <a:solidFill>
                  <a:srgbClr val="1971C2"/>
                </a:solidFill>
                <a:latin typeface="Consolas"/>
              </a:rPr>
              <a:t>print(agent(("B", "clean")))   </a:t>
            </a:r>
            <a:r>
              <a:rPr sz="1100" b="0" i="1">
                <a:solidFill>
                  <a:srgbClr val="768896"/>
                </a:solidFill>
                <a:latin typeface="Consolas"/>
              </a:rPr>
              <a:t># None</a:t>
            </a:r>
          </a:p>
        </p:txBody>
      </p:sp>
      <p:sp>
        <p:nvSpPr>
          <p:cNvPr id="13" name="TextBox 12"/>
          <p:cNvSpPr txBox="1"/>
          <p:nvPr/>
        </p:nvSpPr>
        <p:spPr>
          <a:xfrm>
            <a:off x="7269480" y="1280160"/>
            <a:ext cx="4373849" cy="476410"/>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C92A2A"/>
                </a:solidFill>
                <a:latin typeface="Calibri"/>
              </a:rPr>
              <a:t>WHY THE LAST ACTION IS </a:t>
            </a:r>
            <a:r>
              <a:rPr sz="1007" b="1" i="0" spc="0">
                <a:solidFill>
                  <a:srgbClr val="C92A2A"/>
                </a:solidFill>
                <a:latin typeface="Consolas"/>
              </a:rPr>
              <a:t>None</a:t>
            </a:r>
            <a:r>
              <a:rPr sz="1007" b="1" i="0">
                <a:solidFill>
                  <a:srgbClr val="C92A2A"/>
                </a:solidFill>
                <a:latin typeface="Calibri"/>
              </a:rPr>
              <a:t/>
            </a:r>
          </a:p>
          <a:p>
            <a:pPr algn="l" marL="0" indent="0">
              <a:lnSpc>
                <a:spcPts val="1475"/>
              </a:lnSpc>
              <a:spcBef>
                <a:spcPts val="0"/>
              </a:spcBef>
              <a:spcAft>
                <a:spcPts val="0"/>
              </a:spcAft>
              <a:buNone/>
            </a:pPr>
            <a:r>
              <a:rPr sz="1250" b="0" i="0">
                <a:solidFill>
                  <a:srgbClr val="2B3542"/>
                </a:solidFill>
                <a:latin typeface="Calibri"/>
              </a:rPr>
              <a:t>After three steps the agent has observed the sequence</a:t>
            </a:r>
          </a:p>
        </p:txBody>
      </p:sp>
      <p:sp>
        <p:nvSpPr>
          <p:cNvPr id="14" name="Rectangle 13"/>
          <p:cNvSpPr/>
          <p:nvPr/>
        </p:nvSpPr>
        <p:spPr>
          <a:xfrm>
            <a:off x="7269480" y="1810512"/>
            <a:ext cx="4373849" cy="54864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15783" y="1920239"/>
            <a:ext cx="4081241" cy="201422"/>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16202A"/>
                </a:solidFill>
                <a:latin typeface="Consolas"/>
              </a:rPr>
              <a:t>(("A","clean"), ("A","dirty"), ("B","clean"))</a:t>
            </a:r>
          </a:p>
        </p:txBody>
      </p:sp>
      <p:sp>
        <p:nvSpPr>
          <p:cNvPr id="16" name="TextBox 15"/>
          <p:cNvSpPr txBox="1"/>
          <p:nvPr/>
        </p:nvSpPr>
        <p:spPr>
          <a:xfrm>
            <a:off x="7269480" y="2505456"/>
            <a:ext cx="4373849" cy="598551"/>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0" i="0">
                <a:solidFill>
                  <a:srgbClr val="2B3542"/>
                </a:solidFill>
                <a:latin typeface="Calibri"/>
              </a:rPr>
              <a:t>which is simply not a key in the table. The lookup returns nothing, and no action is defined. A table-driven agent can only act in situations that were enumerated in advance.</a:t>
            </a:r>
          </a:p>
        </p:txBody>
      </p:sp>
      <p:sp>
        <p:nvSpPr>
          <p:cNvPr id="17" name="TextBox 16"/>
          <p:cNvSpPr txBox="1"/>
          <p:nvPr/>
        </p:nvSpPr>
        <p:spPr>
          <a:xfrm>
            <a:off x="7269480" y="3360039"/>
            <a:ext cx="437384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GENERAL STATEMENT</a:t>
            </a:r>
          </a:p>
        </p:txBody>
      </p:sp>
      <p:sp>
        <p:nvSpPr>
          <p:cNvPr id="18" name="TextBox 17"/>
          <p:cNvSpPr txBox="1"/>
          <p:nvPr/>
        </p:nvSpPr>
        <p:spPr>
          <a:xfrm>
            <a:off x="7269480" y="3597783"/>
            <a:ext cx="4373849" cy="576072"/>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With </a:t>
            </a:r>
            <a:r>
              <a:rPr sz="1200" b="1" i="0">
                <a:solidFill>
                  <a:srgbClr val="2B8A3E"/>
                </a:solidFill>
                <a:latin typeface="Calibri"/>
              </a:rPr>
              <a:t>P</a:t>
            </a:r>
            <a:r>
              <a:rPr sz="1200" b="0" i="0">
                <a:solidFill>
                  <a:srgbClr val="2B3542"/>
                </a:solidFill>
                <a:latin typeface="Calibri"/>
              </a:rPr>
              <a:t> possible percepts at each step and a lifetime of </a:t>
            </a:r>
            <a:r>
              <a:rPr sz="1200" b="1" i="0">
                <a:solidFill>
                  <a:srgbClr val="1971C2"/>
                </a:solidFill>
                <a:latin typeface="Calibri"/>
              </a:rPr>
              <a:t>T</a:t>
            </a:r>
            <a:r>
              <a:rPr sz="1200" b="0" i="0">
                <a:solidFill>
                  <a:srgbClr val="2B3542"/>
                </a:solidFill>
                <a:latin typeface="Calibri"/>
              </a:rPr>
              <a:t> percepts, completeness requires an entry for every sequence of length 1, 2, … up to T.</a:t>
            </a:r>
          </a:p>
        </p:txBody>
      </p:sp>
      <p:pic>
        <p:nvPicPr>
          <p:cNvPr id="19" name="Picture 18" descr="eq_table_sum.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269480" y="4375023"/>
            <a:ext cx="1679194" cy="922020"/>
          </a:xfrm>
          <a:prstGeom prst="rect">
            <a:avLst/>
          </a:prstGeom>
        </p:spPr>
      </p:pic>
      <p:sp>
        <p:nvSpPr>
          <p:cNvPr id="20" name="TextBox 19"/>
          <p:cNvSpPr txBox="1"/>
          <p:nvPr/>
        </p:nvSpPr>
        <p:spPr>
          <a:xfrm>
            <a:off x="7269480" y="5425059"/>
            <a:ext cx="4373849" cy="19507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The size of a complete lookup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2.5  COUNTING THE TABLE — STEP 1</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number of entries is a geometric series in the number of percepts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11</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table needs one row for every percept sequence the agent could ever observe. Group the sequences by their length: there are P sequences of length one, P² of length two, and in general P^t of length t.</a:t>
            </a:r>
          </a:p>
        </p:txBody>
      </p:sp>
      <p:pic>
        <p:nvPicPr>
          <p:cNvPr id="9" name="Picture 8" descr="eq_table_sum_an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420096" y="2009393"/>
            <a:ext cx="7351775" cy="1207008"/>
          </a:xfrm>
          <a:prstGeom prst="rect">
            <a:avLst/>
          </a:prstGeom>
        </p:spPr>
      </p:pic>
      <p:sp>
        <p:nvSpPr>
          <p:cNvPr id="10" name="Rectangle 9"/>
          <p:cNvSpPr/>
          <p:nvPr/>
        </p:nvSpPr>
        <p:spPr>
          <a:xfrm>
            <a:off x="548640" y="3600450"/>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3856482"/>
            <a:ext cx="3490965" cy="2926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1074"/>
            <a:ext cx="3490965" cy="855472"/>
          </a:xfrm>
          <a:prstGeom prst="rect">
            <a:avLst/>
          </a:prstGeom>
          <a:noFill/>
        </p:spPr>
        <p:txBody>
          <a:bodyPr wrap="square" lIns="0" rIns="0" tIns="0" bIns="0" anchor="t">
            <a:noAutofit/>
          </a:bodyPr>
          <a:lstStyle/>
          <a:p>
            <a:pPr algn="l" marL="0" indent="0">
              <a:lnSpc>
                <a:spcPts val="1456"/>
              </a:lnSpc>
              <a:spcBef>
                <a:spcPts val="0"/>
              </a:spcBef>
              <a:spcAft>
                <a:spcPts val="0"/>
              </a:spcAft>
              <a:buNone/>
            </a:pPr>
            <a:r>
              <a:rPr sz="1300" b="1" i="0">
                <a:solidFill>
                  <a:srgbClr val="16202A"/>
                </a:solidFill>
                <a:latin typeface="Calibri"/>
              </a:rPr>
              <a:t>P — how much can be perceived at one step</a:t>
            </a:r>
          </a:p>
          <a:p>
            <a:pPr algn="l" marL="0" indent="0">
              <a:lnSpc>
                <a:spcPts val="1464"/>
              </a:lnSpc>
              <a:spcBef>
                <a:spcPts val="600"/>
              </a:spcBef>
              <a:spcAft>
                <a:spcPts val="0"/>
              </a:spcAft>
              <a:buNone/>
            </a:pPr>
            <a:r>
              <a:rPr sz="1200" b="0" i="0">
                <a:solidFill>
                  <a:srgbClr val="5F6B76"/>
                </a:solidFill>
                <a:latin typeface="Calibri"/>
              </a:rPr>
              <a:t>The number of distinct percepts the sensors can produce. For the vacuum agent P = 4: two locations × two dirt states. For a camera it is astronomically larger.</a:t>
            </a:r>
          </a:p>
        </p:txBody>
      </p:sp>
      <p:sp>
        <p:nvSpPr>
          <p:cNvPr id="13" name="Rectangle 12"/>
          <p:cNvSpPr/>
          <p:nvPr/>
        </p:nvSpPr>
        <p:spPr>
          <a:xfrm>
            <a:off x="4350501" y="3856482"/>
            <a:ext cx="3490965" cy="2926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50501" y="4021074"/>
            <a:ext cx="3490965" cy="855472"/>
          </a:xfrm>
          <a:prstGeom prst="rect">
            <a:avLst/>
          </a:prstGeom>
          <a:noFill/>
        </p:spPr>
        <p:txBody>
          <a:bodyPr wrap="square" lIns="0" rIns="0" tIns="0" bIns="0" anchor="t">
            <a:noAutofit/>
          </a:bodyPr>
          <a:lstStyle/>
          <a:p>
            <a:pPr algn="l" marL="0" indent="0">
              <a:lnSpc>
                <a:spcPts val="1456"/>
              </a:lnSpc>
              <a:spcBef>
                <a:spcPts val="0"/>
              </a:spcBef>
              <a:spcAft>
                <a:spcPts val="0"/>
              </a:spcAft>
              <a:buNone/>
            </a:pPr>
            <a:r>
              <a:rPr sz="1300" b="1" i="0">
                <a:solidFill>
                  <a:srgbClr val="16202A"/>
                </a:solidFill>
                <a:latin typeface="Calibri"/>
              </a:rPr>
              <a:t>T — how long the agent lives</a:t>
            </a:r>
          </a:p>
          <a:p>
            <a:pPr algn="l" marL="0" indent="0">
              <a:lnSpc>
                <a:spcPts val="1464"/>
              </a:lnSpc>
              <a:spcBef>
                <a:spcPts val="600"/>
              </a:spcBef>
              <a:spcAft>
                <a:spcPts val="0"/>
              </a:spcAft>
              <a:buNone/>
            </a:pPr>
            <a:r>
              <a:rPr sz="1200" b="0" i="0">
                <a:solidFill>
                  <a:srgbClr val="5F6B76"/>
                </a:solidFill>
                <a:latin typeface="Calibri"/>
              </a:rPr>
              <a:t>The lifetime measured in percepts, not in seconds. A camera at 30 frames per second produces 108 000 percepts in a single hour of operation.</a:t>
            </a:r>
          </a:p>
        </p:txBody>
      </p:sp>
      <p:sp>
        <p:nvSpPr>
          <p:cNvPr id="15" name="Rectangle 14"/>
          <p:cNvSpPr/>
          <p:nvPr/>
        </p:nvSpPr>
        <p:spPr>
          <a:xfrm>
            <a:off x="8152363" y="3856482"/>
            <a:ext cx="3490965" cy="2926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52363" y="4021074"/>
            <a:ext cx="3490965" cy="855472"/>
          </a:xfrm>
          <a:prstGeom prst="rect">
            <a:avLst/>
          </a:prstGeom>
          <a:noFill/>
        </p:spPr>
        <p:txBody>
          <a:bodyPr wrap="square" lIns="0" rIns="0" tIns="0" bIns="0" anchor="t">
            <a:noAutofit/>
          </a:bodyPr>
          <a:lstStyle/>
          <a:p>
            <a:pPr algn="l" marL="0" indent="0">
              <a:lnSpc>
                <a:spcPts val="1456"/>
              </a:lnSpc>
              <a:spcBef>
                <a:spcPts val="0"/>
              </a:spcBef>
              <a:spcAft>
                <a:spcPts val="0"/>
              </a:spcAft>
              <a:buNone/>
            </a:pPr>
            <a:r>
              <a:rPr sz="1300" b="1" i="0">
                <a:solidFill>
                  <a:srgbClr val="16202A"/>
                </a:solidFill>
                <a:latin typeface="Calibri"/>
              </a:rPr>
              <a:t>Why the sum, and not just P^T</a:t>
            </a:r>
          </a:p>
          <a:p>
            <a:pPr algn="l" marL="0" indent="0">
              <a:lnSpc>
                <a:spcPts val="1464"/>
              </a:lnSpc>
              <a:spcBef>
                <a:spcPts val="600"/>
              </a:spcBef>
              <a:spcAft>
                <a:spcPts val="0"/>
              </a:spcAft>
              <a:buNone/>
            </a:pPr>
            <a:r>
              <a:rPr sz="1200" b="0" i="0">
                <a:solidFill>
                  <a:srgbClr val="5F6B76"/>
                </a:solidFill>
                <a:latin typeface="Calibri"/>
              </a:rPr>
              <a:t>The agent must act at every step, not only at the last one. Its very first decision is taken after one percept, so sequences of every length up to T need an entry.</a:t>
            </a:r>
          </a:p>
        </p:txBody>
      </p:sp>
      <p:sp>
        <p:nvSpPr>
          <p:cNvPr id="17" name="Rectangle 16"/>
          <p:cNvSpPr/>
          <p:nvPr/>
        </p:nvSpPr>
        <p:spPr>
          <a:xfrm>
            <a:off x="548640" y="5358384"/>
            <a:ext cx="11094689" cy="67360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358384"/>
            <a:ext cx="41148" cy="673608"/>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 y="5504688"/>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The sum is exact; nothing has been approximated yet. What follows is only the observation that, for any sensor worth having, </a:t>
            </a:r>
            <a:r>
              <a:rPr sz="1250" b="1" i="0">
                <a:solidFill>
                  <a:srgbClr val="2B3542"/>
                </a:solidFill>
                <a:latin typeface="Calibri"/>
              </a:rPr>
              <a:t>one of these terms is larger than all the others put together</a:t>
            </a:r>
            <a:r>
              <a:rPr sz="1250" b="0" i="0">
                <a:solidFill>
                  <a:srgbClr val="2B3542"/>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2.6  COUNTING THE TABLE — STEP 2</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For any realistic sensor, the last term swallows the whole sum</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12</a:t>
            </a:r>
          </a:p>
        </p:txBody>
      </p:sp>
      <p:sp>
        <p:nvSpPr>
          <p:cNvPr id="8" name="TextBox 7"/>
          <p:cNvSpPr txBox="1"/>
          <p:nvPr/>
        </p:nvSpPr>
        <p:spPr>
          <a:xfrm>
            <a:off x="548640" y="1280160"/>
            <a:ext cx="6583680"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sum is geometric, so it has a closed form. Factoring out the largest term shows what happens when P is large.</a:t>
            </a:r>
          </a:p>
        </p:txBody>
      </p:sp>
      <p:sp>
        <p:nvSpPr>
          <p:cNvPr id="9" name="TextBox 8"/>
          <p:cNvSpPr txBox="1"/>
          <p:nvPr/>
        </p:nvSpPr>
        <p:spPr>
          <a:xfrm>
            <a:off x="548640" y="1936242"/>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CLOSE THE SERIES, THEN FACTOR OUT P^T</a:t>
            </a:r>
          </a:p>
        </p:txBody>
      </p:sp>
      <p:pic>
        <p:nvPicPr>
          <p:cNvPr id="10" name="Picture 9" descr="eq_geom.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548640" y="2210562"/>
            <a:ext cx="5507736" cy="1280160"/>
          </a:xfrm>
          <a:prstGeom prst="rect">
            <a:avLst/>
          </a:prstGeom>
        </p:spPr>
      </p:pic>
      <p:sp>
        <p:nvSpPr>
          <p:cNvPr id="11" name="Rectangle 10"/>
          <p:cNvSpPr/>
          <p:nvPr/>
        </p:nvSpPr>
        <p:spPr>
          <a:xfrm>
            <a:off x="548640" y="3746754"/>
            <a:ext cx="658368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929634"/>
            <a:ext cx="6583680" cy="42621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0" i="0">
                <a:solidFill>
                  <a:srgbClr val="2B3542"/>
                </a:solidFill>
                <a:latin typeface="Calibri"/>
              </a:rPr>
              <a:t>Every realistic sensor has </a:t>
            </a:r>
            <a:r>
              <a:rPr sz="1300" b="1" i="0">
                <a:solidFill>
                  <a:srgbClr val="16202A"/>
                </a:solidFill>
                <a:latin typeface="Calibri"/>
              </a:rPr>
              <a:t>P ≫ 1</a:t>
            </a:r>
            <a:r>
              <a:rPr sz="1300" b="0" i="0">
                <a:solidFill>
                  <a:srgbClr val="2B3542"/>
                </a:solidFill>
                <a:latin typeface="Calibri"/>
              </a:rPr>
              <a:t>, so the bracketed correction factor tends to 1 and the final term dominates everything that came before it. The sum collapses to a single power:</a:t>
            </a:r>
          </a:p>
        </p:txBody>
      </p:sp>
      <p:pic>
        <p:nvPicPr>
          <p:cNvPr id="13" name="Picture 12" descr="eq_geom_res.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097280" y="4557014"/>
            <a:ext cx="3569208" cy="512064"/>
          </a:xfrm>
          <a:prstGeom prst="rect">
            <a:avLst/>
          </a:prstGeom>
        </p:spPr>
      </p:pic>
      <p:sp>
        <p:nvSpPr>
          <p:cNvPr id="14" name="Rectangle 13"/>
          <p:cNvSpPr/>
          <p:nvPr/>
        </p:nvSpPr>
        <p:spPr>
          <a:xfrm>
            <a:off x="548640" y="5343398"/>
            <a:ext cx="658368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5526278"/>
            <a:ext cx="6583680" cy="617601"/>
          </a:xfrm>
          <a:prstGeom prst="rect">
            <a:avLst/>
          </a:prstGeom>
          <a:noFill/>
        </p:spPr>
        <p:txBody>
          <a:bodyPr wrap="square" lIns="0" rIns="0" tIns="0" bIns="0" anchor="t">
            <a:noAutofit/>
          </a:bodyPr>
          <a:lstStyle/>
          <a:p>
            <a:pPr algn="l" marL="0" indent="0">
              <a:lnSpc>
                <a:spcPts val="1525"/>
              </a:lnSpc>
              <a:spcBef>
                <a:spcPts val="0"/>
              </a:spcBef>
              <a:spcAft>
                <a:spcPts val="0"/>
              </a:spcAft>
              <a:buNone/>
            </a:pPr>
            <a:r>
              <a:rPr sz="1250" b="1" i="0">
                <a:solidFill>
                  <a:srgbClr val="16202A"/>
                </a:solidFill>
                <a:latin typeface="Calibri"/>
              </a:rPr>
              <a:t>Read the exponent, not the base.</a:t>
            </a:r>
            <a:r>
              <a:rPr sz="1250" b="0" i="0">
                <a:solidFill>
                  <a:srgbClr val="2B3542"/>
                </a:solidFill>
                <a:latin typeface="Calibri"/>
              </a:rPr>
              <a:t> P is fixed once the sensors are chosen. T is the agent’s lifetime, and it grows every second the agent is switched on — so a complete table is not merely large, it grows without bound while the agent runs.</a:t>
            </a:r>
          </a:p>
        </p:txBody>
      </p:sp>
      <p:sp>
        <p:nvSpPr>
          <p:cNvPr id="16" name="Rectangle 15"/>
          <p:cNvSpPr/>
          <p:nvPr/>
        </p:nvSpPr>
        <p:spPr>
          <a:xfrm>
            <a:off x="7543800" y="1280160"/>
            <a:ext cx="4099529" cy="1444752"/>
          </a:xfrm>
          <a:prstGeom prst="rect">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543800" y="1280160"/>
            <a:ext cx="41148" cy="144475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63256" y="1426463"/>
            <a:ext cx="380692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C92A2A"/>
                </a:solidFill>
                <a:latin typeface="Calibri"/>
              </a:rPr>
              <a:t>READ THE RESULT CAREFULLY</a:t>
            </a:r>
          </a:p>
        </p:txBody>
      </p:sp>
      <p:sp>
        <p:nvSpPr>
          <p:cNvPr id="19" name="TextBox 18"/>
          <p:cNvSpPr txBox="1"/>
          <p:nvPr/>
        </p:nvSpPr>
        <p:spPr>
          <a:xfrm>
            <a:off x="7763256" y="1664207"/>
            <a:ext cx="3715481" cy="9144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The approximation is not a convenience — it is the point. Table size grows </a:t>
            </a:r>
            <a:r>
              <a:rPr sz="1200" b="1" i="0">
                <a:solidFill>
                  <a:srgbClr val="2B3542"/>
                </a:solidFill>
                <a:latin typeface="Calibri"/>
              </a:rPr>
              <a:t>exponentially in the lifetime of the agent</a:t>
            </a:r>
            <a:r>
              <a:rPr sz="1200" b="0" i="0">
                <a:solidFill>
                  <a:srgbClr val="2B3542"/>
                </a:solidFill>
                <a:latin typeface="Calibri"/>
              </a:rPr>
              <a:t>, with the number of distinct percepts as the base. Doubling the resolution of a sensor does not double the table; it squares it.</a:t>
            </a:r>
          </a:p>
        </p:txBody>
      </p:sp>
      <p:sp>
        <p:nvSpPr>
          <p:cNvPr id="20" name="TextBox 19"/>
          <p:cNvSpPr txBox="1"/>
          <p:nvPr/>
        </p:nvSpPr>
        <p:spPr>
          <a:xfrm>
            <a:off x="7543800" y="2999232"/>
            <a:ext cx="409952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A SMALL SANITY CHECK</a:t>
            </a:r>
          </a:p>
        </p:txBody>
      </p:sp>
      <p:sp>
        <p:nvSpPr>
          <p:cNvPr id="21" name="TextBox 20"/>
          <p:cNvSpPr txBox="1"/>
          <p:nvPr/>
        </p:nvSpPr>
        <p:spPr>
          <a:xfrm>
            <a:off x="7543800" y="3255264"/>
            <a:ext cx="4099529" cy="576072"/>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alibri"/>
              </a:rPr>
              <a:t>Vacuum world: P = 4 percepts. A lifetime of only </a:t>
            </a:r>
            <a:r>
              <a:rPr sz="1200" b="1" i="0">
                <a:solidFill>
                  <a:srgbClr val="16202A"/>
                </a:solidFill>
                <a:latin typeface="Calibri"/>
              </a:rPr>
              <a:t>T = 20</a:t>
            </a:r>
            <a:r>
              <a:rPr sz="1200" b="0" i="0">
                <a:solidFill>
                  <a:srgbClr val="2B3542"/>
                </a:solidFill>
                <a:latin typeface="Calibri"/>
              </a:rPr>
              <a:t> steps already needs about 4²⁰ ≈ 10¹² entries — a thousand billion rows, for a world with two squares.</a:t>
            </a:r>
          </a:p>
        </p:txBody>
      </p:sp>
      <p:sp>
        <p:nvSpPr>
          <p:cNvPr id="22" name="Rectangle 21"/>
          <p:cNvSpPr/>
          <p:nvPr/>
        </p:nvSpPr>
        <p:spPr>
          <a:xfrm>
            <a:off x="7543800" y="4032504"/>
            <a:ext cx="409952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543800" y="4197096"/>
            <a:ext cx="4099529" cy="576072"/>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5F6B76"/>
                </a:solidFill>
                <a:latin typeface="Calibri"/>
              </a:rPr>
              <a:t>And note what the table still does not give us: </a:t>
            </a:r>
            <a:r>
              <a:rPr sz="1200" b="1" i="0">
                <a:solidFill>
                  <a:srgbClr val="16202A"/>
                </a:solidFill>
                <a:latin typeface="Calibri"/>
              </a:rPr>
              <a:t>generalisation</a:t>
            </a:r>
            <a:r>
              <a:rPr sz="1200" b="0" i="0">
                <a:solidFill>
                  <a:srgbClr val="5F6B76"/>
                </a:solidFill>
                <a:latin typeface="Calibri"/>
              </a:rPr>
              <a:t>. Two nearly identical histories occupy two unrelated rows. Nothing learned about one transfers to the other.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2.7  A SINGLE CAMERA SETTLES THE QUESTION</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One hour of video, and the table no longer fits in the universe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13</a:t>
            </a:r>
          </a:p>
        </p:txBody>
      </p:sp>
      <p:sp>
        <p:nvSpPr>
          <p:cNvPr id="8" name="TextBox 7"/>
          <p:cNvSpPr txBox="1"/>
          <p:nvPr/>
        </p:nvSpPr>
        <p:spPr>
          <a:xfrm>
            <a:off x="548640" y="1280160"/>
            <a:ext cx="11094689" cy="245745"/>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Take an automated driving agent whose only sensor is one camera: 1280 × 720 pixels, 24-bit colour, 30 frames per second. Count its percepts.</a:t>
            </a:r>
          </a:p>
        </p:txBody>
      </p:sp>
      <p:pic>
        <p:nvPicPr>
          <p:cNvPr id="9" name="Picture 8" descr="table_explosion.png"/>
          <p:cNvPicPr>
            <a:picLocks noChangeAspect="1"/>
          </p:cNvPicPr>
          <p:nvPr/>
        </p:nvPicPr>
        <p:blipFill>
          <a:blip r:embed="rId2"/>
          <a:stretch>
            <a:fillRect/>
          </a:stretch>
        </p:blipFill>
        <p:spPr>
          <a:xfrm>
            <a:off x="2532339" y="1708785"/>
            <a:ext cx="7127290" cy="2331720"/>
          </a:xfrm>
          <a:prstGeom prst="rect">
            <a:avLst/>
          </a:prstGeom>
        </p:spPr>
      </p:pic>
      <p:sp>
        <p:nvSpPr>
          <p:cNvPr id="10" name="Rectangle 9"/>
          <p:cNvSpPr/>
          <p:nvPr/>
        </p:nvSpPr>
        <p:spPr>
          <a:xfrm>
            <a:off x="548640" y="431482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4406264"/>
            <a:ext cx="3454389"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552568"/>
            <a:ext cx="34543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2B8A3E"/>
                </a:solidFill>
                <a:latin typeface="Calibri"/>
              </a:rPr>
              <a:t>PERCEPTS PER FRAME</a:t>
            </a:r>
          </a:p>
        </p:txBody>
      </p:sp>
      <p:pic>
        <p:nvPicPr>
          <p:cNvPr id="13" name="Picture 12" descr="eq_cam_P.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548640" y="4826888"/>
            <a:ext cx="1882139" cy="263016"/>
          </a:xfrm>
          <a:prstGeom prst="rect">
            <a:avLst/>
          </a:prstGeom>
        </p:spPr>
      </p:pic>
      <p:sp>
        <p:nvSpPr>
          <p:cNvPr id="14" name="Rectangle 13"/>
          <p:cNvSpPr/>
          <p:nvPr/>
        </p:nvSpPr>
        <p:spPr>
          <a:xfrm>
            <a:off x="4368789" y="4406264"/>
            <a:ext cx="3454389"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8789" y="4552568"/>
            <a:ext cx="34543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PERCEPTS IN ONE HOUR</a:t>
            </a:r>
          </a:p>
        </p:txBody>
      </p:sp>
      <p:pic>
        <p:nvPicPr>
          <p:cNvPr id="16" name="Picture 15" descr="eq_cam_T.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4368789" y="4826888"/>
            <a:ext cx="3424047" cy="272669"/>
          </a:xfrm>
          <a:prstGeom prst="rect">
            <a:avLst/>
          </a:prstGeom>
        </p:spPr>
      </p:pic>
      <p:sp>
        <p:nvSpPr>
          <p:cNvPr id="17" name="Rectangle 16"/>
          <p:cNvSpPr/>
          <p:nvPr/>
        </p:nvSpPr>
        <p:spPr>
          <a:xfrm>
            <a:off x="8188939" y="4406264"/>
            <a:ext cx="3454389"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88939" y="4552568"/>
            <a:ext cx="34543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C92A2A"/>
                </a:solidFill>
                <a:latin typeface="Calibri"/>
              </a:rPr>
              <a:t>RESULTING TABLE SIZE</a:t>
            </a:r>
          </a:p>
        </p:txBody>
      </p:sp>
      <p:pic>
        <p:nvPicPr>
          <p:cNvPr id="19" name="Picture 18" descr="eq_cam_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8188939" y="4826888"/>
            <a:ext cx="3454389" cy="219612"/>
          </a:xfrm>
          <a:prstGeom prst="rect">
            <a:avLst/>
          </a:prstGeom>
        </p:spPr>
      </p:pic>
      <p:sp>
        <p:nvSpPr>
          <p:cNvPr id="20" name="TextBox 19"/>
          <p:cNvSpPr txBox="1"/>
          <p:nvPr/>
        </p:nvSpPr>
        <p:spPr>
          <a:xfrm>
            <a:off x="548640" y="5412104"/>
            <a:ext cx="11094689" cy="42621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0" i="0">
                <a:solidFill>
                  <a:srgbClr val="2B3542"/>
                </a:solidFill>
                <a:latin typeface="Calibri"/>
              </a:rPr>
              <a:t>That exponent has twelve digits. There is no sense in which such a table is “large but difficult”: it is </a:t>
            </a:r>
            <a:r>
              <a:rPr sz="1300" b="1" i="0">
                <a:solidFill>
                  <a:srgbClr val="C92A2A"/>
                </a:solidFill>
                <a:latin typeface="Calibri"/>
              </a:rPr>
              <a:t>physically impossible</a:t>
            </a:r>
            <a:r>
              <a:rPr sz="1300" b="0" i="0">
                <a:solidFill>
                  <a:srgbClr val="2B3542"/>
                </a:solidFill>
                <a:latin typeface="Calibri"/>
              </a:rPr>
              <a:t> — to store, to write, and to learn. And the camera in this example is a modest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2.8  THE CONCLUSION OF PART II</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table does exactly what we want, and cannot exist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 — Agent function and agent program</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14</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Chess is a far smaller and far more structured domain than driving, and the estimate for its table is still around 10¹⁵⁰ entries. For comparison, the observable universe contains fewer than 10⁸⁰ atoms.</a:t>
            </a:r>
          </a:p>
        </p:txBody>
      </p:sp>
      <p:pic>
        <p:nvPicPr>
          <p:cNvPr id="9" name="Picture 8" descr="eq_chess_tbl.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3695684" y="1954530"/>
            <a:ext cx="4800600" cy="346075"/>
          </a:xfrm>
          <a:prstGeom prst="rect">
            <a:avLst/>
          </a:prstGeom>
        </p:spPr>
      </p:pic>
      <p:sp>
        <p:nvSpPr>
          <p:cNvPr id="10" name="Rectangle 9"/>
          <p:cNvSpPr/>
          <p:nvPr/>
        </p:nvSpPr>
        <p:spPr>
          <a:xfrm>
            <a:off x="548640" y="2702941"/>
            <a:ext cx="5295884" cy="1700784"/>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702941"/>
            <a:ext cx="41148" cy="170078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2885821"/>
            <a:ext cx="4838684" cy="1107092"/>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2B8A3E"/>
                </a:solidFill>
                <a:latin typeface="Calibri"/>
              </a:rPr>
              <a:t>WHAT IS RIGHT ABOUT IT</a:t>
            </a:r>
          </a:p>
          <a:p>
            <a:pPr algn="l" marL="0" indent="0">
              <a:lnSpc>
                <a:spcPts val="1593"/>
              </a:lnSpc>
              <a:spcBef>
                <a:spcPts val="800"/>
              </a:spcBef>
              <a:spcAft>
                <a:spcPts val="0"/>
              </a:spcAft>
              <a:buNone/>
            </a:pPr>
            <a:r>
              <a:rPr sz="1350" b="1" i="0">
                <a:solidFill>
                  <a:srgbClr val="16202A"/>
                </a:solidFill>
                <a:latin typeface="Calibri"/>
              </a:rPr>
              <a:t>The table-driven agent is a correct solution.</a:t>
            </a:r>
          </a:p>
          <a:p>
            <a:pPr algn="l" marL="0" indent="0">
              <a:lnSpc>
                <a:spcPts val="1416"/>
              </a:lnSpc>
              <a:spcBef>
                <a:spcPts val="600"/>
              </a:spcBef>
              <a:spcAft>
                <a:spcPts val="0"/>
              </a:spcAft>
              <a:buNone/>
            </a:pPr>
            <a:r>
              <a:rPr sz="1200" b="0" i="0">
                <a:solidFill>
                  <a:srgbClr val="2B3542"/>
                </a:solidFill>
                <a:latin typeface="Calibri"/>
              </a:rPr>
              <a:t>Assuming its entries are filled in properly, it implements the desired agent function exactly. Nothing is approximated, nothing is lost. As a specification of behaviour it is perfect.</a:t>
            </a:r>
          </a:p>
        </p:txBody>
      </p:sp>
      <p:sp>
        <p:nvSpPr>
          <p:cNvPr id="13" name="Rectangle 12"/>
          <p:cNvSpPr/>
          <p:nvPr/>
        </p:nvSpPr>
        <p:spPr>
          <a:xfrm>
            <a:off x="6347444" y="2702941"/>
            <a:ext cx="5295884" cy="1700784"/>
          </a:xfrm>
          <a:prstGeom prst="rect">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47444" y="2702941"/>
            <a:ext cx="41148" cy="1700784"/>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85188" y="2885821"/>
            <a:ext cx="4838684" cy="1107092"/>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C92A2A"/>
                </a:solidFill>
                <a:latin typeface="Calibri"/>
              </a:rPr>
              <a:t>WHAT IS WRONG WITH IT</a:t>
            </a:r>
          </a:p>
          <a:p>
            <a:pPr algn="l" marL="0" indent="0">
              <a:lnSpc>
                <a:spcPts val="1593"/>
              </a:lnSpc>
              <a:spcBef>
                <a:spcPts val="800"/>
              </a:spcBef>
              <a:spcAft>
                <a:spcPts val="0"/>
              </a:spcAft>
              <a:buNone/>
            </a:pPr>
            <a:r>
              <a:rPr sz="1350" b="1" i="0">
                <a:solidFill>
                  <a:srgbClr val="16202A"/>
                </a:solidFill>
                <a:latin typeface="Calibri"/>
              </a:rPr>
              <a:t>No physical agent can store, write or learn it.</a:t>
            </a:r>
          </a:p>
          <a:p>
            <a:pPr algn="l" marL="0" indent="0">
              <a:lnSpc>
                <a:spcPts val="1416"/>
              </a:lnSpc>
              <a:spcBef>
                <a:spcPts val="600"/>
              </a:spcBef>
              <a:spcAft>
                <a:spcPts val="0"/>
              </a:spcAft>
              <a:buNone/>
            </a:pPr>
            <a:r>
              <a:rPr sz="1200" b="0" i="0">
                <a:solidFill>
                  <a:srgbClr val="2B3542"/>
                </a:solidFill>
                <a:latin typeface="Calibri"/>
              </a:rPr>
              <a:t>It cannot be stored — no medium is large enough. It cannot be written — no designer has the time. It cannot be learned — no lifetime of experience covers a fraction of the rows.</a:t>
            </a:r>
          </a:p>
        </p:txBody>
      </p:sp>
      <p:sp>
        <p:nvSpPr>
          <p:cNvPr id="16" name="Rectangle 15"/>
          <p:cNvSpPr/>
          <p:nvPr/>
        </p:nvSpPr>
        <p:spPr>
          <a:xfrm>
            <a:off x="548640" y="4714621"/>
            <a:ext cx="11094689" cy="31089"/>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4915789"/>
            <a:ext cx="11094689" cy="737616"/>
          </a:xfrm>
          <a:prstGeom prst="rect">
            <a:avLst/>
          </a:prstGeom>
          <a:noFill/>
        </p:spPr>
        <p:txBody>
          <a:bodyPr wrap="square" lIns="0" rIns="0" tIns="0" bIns="0" anchor="t">
            <a:noAutofit/>
          </a:bodyPr>
          <a:lstStyle/>
          <a:p>
            <a:pPr algn="l" marL="0" indent="0">
              <a:lnSpc>
                <a:spcPts val="1770"/>
              </a:lnSpc>
              <a:spcBef>
                <a:spcPts val="0"/>
              </a:spcBef>
              <a:spcAft>
                <a:spcPts val="0"/>
              </a:spcAft>
              <a:buNone/>
            </a:pPr>
            <a:r>
              <a:rPr sz="1500" b="0" i="0">
                <a:solidFill>
                  <a:srgbClr val="2B3542"/>
                </a:solidFill>
                <a:latin typeface="Calibri"/>
              </a:rPr>
              <a:t>The task of AI is therefore not to specify the agent function, but to </a:t>
            </a:r>
            <a:r>
              <a:rPr sz="1500" b="1" i="0">
                <a:solidFill>
                  <a:srgbClr val="16202A"/>
                </a:solidFill>
                <a:latin typeface="Calibri"/>
              </a:rPr>
              <a:t>design agent programs that produce it compactly</a:t>
            </a:r>
            <a:r>
              <a:rPr sz="1500" b="0" i="0">
                <a:solidFill>
                  <a:srgbClr val="2B3542"/>
                </a:solidFill>
                <a:latin typeface="Calibri"/>
              </a:rPr>
              <a:t>.</a:t>
            </a:r>
          </a:p>
          <a:p>
            <a:pPr algn="l" marL="0" indent="0">
              <a:lnSpc>
                <a:spcPts val="1475"/>
              </a:lnSpc>
              <a:spcBef>
                <a:spcPts val="800"/>
              </a:spcBef>
              <a:spcAft>
                <a:spcPts val="0"/>
              </a:spcAft>
              <a:buNone/>
            </a:pPr>
            <a:r>
              <a:rPr sz="1250" b="0" i="0">
                <a:solidFill>
                  <a:srgbClr val="5F6B76"/>
                </a:solidFill>
                <a:latin typeface="Calibri"/>
              </a:rPr>
              <a:t>For the vacuum world, one line already replaces the entire table: </a:t>
            </a:r>
            <a:r>
              <a:rPr sz="1250" b="0" i="1">
                <a:solidFill>
                  <a:srgbClr val="16202A"/>
                </a:solidFill>
                <a:latin typeface="Calibri"/>
              </a:rPr>
              <a:t>“if the current square is dirty, clean it; otherwise move to the other square.”</a:t>
            </a:r>
            <a:r>
              <a:rPr sz="1250" b="0" i="0">
                <a:solidFill>
                  <a:srgbClr val="5F6B76"/>
                </a:solidFill>
                <a:latin typeface="Calibri"/>
              </a:rPr>
              <a:t> Everything in Part V is a more powerful version of that same move.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III</a:t>
            </a:r>
          </a:p>
        </p:txBody>
      </p:sp>
      <p:sp>
        <p:nvSpPr>
          <p:cNvPr id="5" name="TextBox 4"/>
          <p:cNvSpPr txBox="1"/>
          <p:nvPr/>
        </p:nvSpPr>
        <p:spPr>
          <a:xfrm>
            <a:off x="960120" y="2130552"/>
            <a:ext cx="6400800" cy="457200"/>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Properties of the environment</a:t>
            </a:r>
          </a:p>
        </p:txBody>
      </p:sp>
      <p:sp>
        <p:nvSpPr>
          <p:cNvPr id="6" name="TextBox 5"/>
          <p:cNvSpPr txBox="1"/>
          <p:nvPr/>
        </p:nvSpPr>
        <p:spPr>
          <a:xfrm>
            <a:off x="960120" y="2840736"/>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The environment is the problem; the agent is the solution. Seven dimensions decide how hard that problem is.</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Which property forces the agent to remember, and which forces it to plan?</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Observability · agents · determinism</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One-shot vs sequential</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Dynamics · continuity · knowledge</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Ten environments compared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3.1  WHY CLASSIFY ENVIRONMENTS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environment is the problem; its properties decide the architecture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16</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Rather than analysing every new task from scratch, characterise the environment along a small set of dimensions. Taken together they determine how hard the decision problem is — and, as Part V shows, which machinery the agent program actually needs.</a:t>
            </a:r>
          </a:p>
        </p:txBody>
      </p:sp>
      <p:sp>
        <p:nvSpPr>
          <p:cNvPr id="9" name="Rectangle 8"/>
          <p:cNvSpPr/>
          <p:nvPr/>
        </p:nvSpPr>
        <p:spPr>
          <a:xfrm>
            <a:off x="548640" y="1936242"/>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936242"/>
            <a:ext cx="2567932"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13232" y="2100834"/>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Observability</a:t>
            </a:r>
          </a:p>
          <a:p>
            <a:pPr algn="l" marL="0" indent="0">
              <a:lnSpc>
                <a:spcPts val="1298"/>
              </a:lnSpc>
              <a:spcBef>
                <a:spcPts val="400"/>
              </a:spcBef>
              <a:spcAft>
                <a:spcPts val="0"/>
              </a:spcAft>
              <a:buNone/>
            </a:pPr>
            <a:r>
              <a:rPr sz="1100" b="1" i="0">
                <a:solidFill>
                  <a:srgbClr val="2B8A3E"/>
                </a:solidFill>
                <a:latin typeface="Calibri"/>
              </a:rPr>
              <a:t>fully  /  partially</a:t>
            </a:r>
          </a:p>
          <a:p>
            <a:pPr algn="l" marL="0" indent="0">
              <a:lnSpc>
                <a:spcPts val="1298"/>
              </a:lnSpc>
              <a:spcBef>
                <a:spcPts val="600"/>
              </a:spcBef>
              <a:spcAft>
                <a:spcPts val="0"/>
              </a:spcAft>
              <a:buNone/>
            </a:pPr>
            <a:r>
              <a:rPr sz="1100" b="0" i="0">
                <a:solidFill>
                  <a:srgbClr val="2B3542"/>
                </a:solidFill>
                <a:latin typeface="Calibri"/>
              </a:rPr>
              <a:t>Do the sensors reveal everything relevant to the decision?</a:t>
            </a:r>
          </a:p>
        </p:txBody>
      </p:sp>
      <p:sp>
        <p:nvSpPr>
          <p:cNvPr id="12" name="TextBox 11"/>
          <p:cNvSpPr txBox="1"/>
          <p:nvPr/>
        </p:nvSpPr>
        <p:spPr>
          <a:xfrm>
            <a:off x="713232" y="3362706"/>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Partial observability forces an internal state.</a:t>
            </a:r>
          </a:p>
        </p:txBody>
      </p:sp>
      <p:sp>
        <p:nvSpPr>
          <p:cNvPr id="13" name="Rectangle 12"/>
          <p:cNvSpPr/>
          <p:nvPr/>
        </p:nvSpPr>
        <p:spPr>
          <a:xfrm>
            <a:off x="713232" y="3252978"/>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390892" y="1936242"/>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90892" y="1936242"/>
            <a:ext cx="2567932"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55484" y="2100834"/>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Agents</a:t>
            </a:r>
          </a:p>
          <a:p>
            <a:pPr algn="l" marL="0" indent="0">
              <a:lnSpc>
                <a:spcPts val="1298"/>
              </a:lnSpc>
              <a:spcBef>
                <a:spcPts val="400"/>
              </a:spcBef>
              <a:spcAft>
                <a:spcPts val="0"/>
              </a:spcAft>
              <a:buNone/>
            </a:pPr>
            <a:r>
              <a:rPr sz="1100" b="1" i="0">
                <a:solidFill>
                  <a:srgbClr val="1971C2"/>
                </a:solidFill>
                <a:latin typeface="Calibri"/>
              </a:rPr>
              <a:t>single  /  multi</a:t>
            </a:r>
          </a:p>
          <a:p>
            <a:pPr algn="l" marL="0" indent="0">
              <a:lnSpc>
                <a:spcPts val="1298"/>
              </a:lnSpc>
              <a:spcBef>
                <a:spcPts val="600"/>
              </a:spcBef>
              <a:spcAft>
                <a:spcPts val="0"/>
              </a:spcAft>
              <a:buNone/>
            </a:pPr>
            <a:r>
              <a:rPr sz="1100" b="0" i="0">
                <a:solidFill>
                  <a:srgbClr val="2B3542"/>
                </a:solidFill>
                <a:latin typeface="Calibri"/>
              </a:rPr>
              <a:t>Does anything else in the world optimise its own measure?</a:t>
            </a:r>
          </a:p>
        </p:txBody>
      </p:sp>
      <p:sp>
        <p:nvSpPr>
          <p:cNvPr id="17" name="TextBox 16"/>
          <p:cNvSpPr txBox="1"/>
          <p:nvPr/>
        </p:nvSpPr>
        <p:spPr>
          <a:xfrm>
            <a:off x="3555484" y="3362706"/>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Multi-agent forces reasoning about others.</a:t>
            </a:r>
          </a:p>
        </p:txBody>
      </p:sp>
      <p:sp>
        <p:nvSpPr>
          <p:cNvPr id="18" name="Rectangle 17"/>
          <p:cNvSpPr/>
          <p:nvPr/>
        </p:nvSpPr>
        <p:spPr>
          <a:xfrm>
            <a:off x="3555484" y="3252978"/>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33144" y="1936242"/>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33144" y="1936242"/>
            <a:ext cx="2567932"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97736" y="2100834"/>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Determinism</a:t>
            </a:r>
          </a:p>
          <a:p>
            <a:pPr algn="l" marL="0" indent="0">
              <a:lnSpc>
                <a:spcPts val="1298"/>
              </a:lnSpc>
              <a:spcBef>
                <a:spcPts val="400"/>
              </a:spcBef>
              <a:spcAft>
                <a:spcPts val="0"/>
              </a:spcAft>
              <a:buNone/>
            </a:pPr>
            <a:r>
              <a:rPr sz="1100" b="1" i="0">
                <a:solidFill>
                  <a:srgbClr val="B54708"/>
                </a:solidFill>
                <a:latin typeface="Calibri"/>
              </a:rPr>
              <a:t>deterministic  /  stochastic  /  non-det.</a:t>
            </a:r>
          </a:p>
          <a:p>
            <a:pPr algn="l" marL="0" indent="0">
              <a:lnSpc>
                <a:spcPts val="1298"/>
              </a:lnSpc>
              <a:spcBef>
                <a:spcPts val="600"/>
              </a:spcBef>
              <a:spcAft>
                <a:spcPts val="0"/>
              </a:spcAft>
              <a:buNone/>
            </a:pPr>
            <a:r>
              <a:rPr sz="1100" b="0" i="0">
                <a:solidFill>
                  <a:srgbClr val="2B3542"/>
                </a:solidFill>
                <a:latin typeface="Calibri"/>
              </a:rPr>
              <a:t>Is the next state fixed by the current state and action?</a:t>
            </a:r>
          </a:p>
        </p:txBody>
      </p:sp>
      <p:sp>
        <p:nvSpPr>
          <p:cNvPr id="22" name="TextBox 21"/>
          <p:cNvSpPr txBox="1"/>
          <p:nvPr/>
        </p:nvSpPr>
        <p:spPr>
          <a:xfrm>
            <a:off x="6397736" y="3362706"/>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Uncertainty forces expectations or worst cases.</a:t>
            </a:r>
          </a:p>
        </p:txBody>
      </p:sp>
      <p:sp>
        <p:nvSpPr>
          <p:cNvPr id="23" name="Rectangle 22"/>
          <p:cNvSpPr/>
          <p:nvPr/>
        </p:nvSpPr>
        <p:spPr>
          <a:xfrm>
            <a:off x="6397736" y="3252978"/>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75397" y="1936242"/>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075397" y="1936242"/>
            <a:ext cx="2567932"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39989" y="2100834"/>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Decision structure</a:t>
            </a:r>
          </a:p>
          <a:p>
            <a:pPr algn="l" marL="0" indent="0">
              <a:lnSpc>
                <a:spcPts val="1298"/>
              </a:lnSpc>
              <a:spcBef>
                <a:spcPts val="400"/>
              </a:spcBef>
              <a:spcAft>
                <a:spcPts val="0"/>
              </a:spcAft>
              <a:buNone/>
            </a:pPr>
            <a:r>
              <a:rPr sz="1100" b="1" i="0">
                <a:solidFill>
                  <a:srgbClr val="C92A2A"/>
                </a:solidFill>
                <a:latin typeface="Calibri"/>
              </a:rPr>
              <a:t>one-shot  /  sequential</a:t>
            </a:r>
          </a:p>
          <a:p>
            <a:pPr algn="l" marL="0" indent="0">
              <a:lnSpc>
                <a:spcPts val="1298"/>
              </a:lnSpc>
              <a:spcBef>
                <a:spcPts val="600"/>
              </a:spcBef>
              <a:spcAft>
                <a:spcPts val="0"/>
              </a:spcAft>
              <a:buNone/>
            </a:pPr>
            <a:r>
              <a:rPr sz="1100" b="0" i="0">
                <a:solidFill>
                  <a:srgbClr val="2B3542"/>
                </a:solidFill>
                <a:latin typeface="Calibri"/>
              </a:rPr>
              <a:t>Does the current action change what happens later?</a:t>
            </a:r>
          </a:p>
        </p:txBody>
      </p:sp>
      <p:sp>
        <p:nvSpPr>
          <p:cNvPr id="27" name="TextBox 26"/>
          <p:cNvSpPr txBox="1"/>
          <p:nvPr/>
        </p:nvSpPr>
        <p:spPr>
          <a:xfrm>
            <a:off x="9239989" y="3362706"/>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Sequentiality forces looking ahead — this is RL.</a:t>
            </a:r>
          </a:p>
        </p:txBody>
      </p:sp>
      <p:sp>
        <p:nvSpPr>
          <p:cNvPr id="28" name="Rectangle 27"/>
          <p:cNvSpPr/>
          <p:nvPr/>
        </p:nvSpPr>
        <p:spPr>
          <a:xfrm>
            <a:off x="9239989" y="3252978"/>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8640" y="4203954"/>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48640" y="4203954"/>
            <a:ext cx="2567932"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3232" y="4368546"/>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Dynamics</a:t>
            </a:r>
          </a:p>
          <a:p>
            <a:pPr algn="l" marL="0" indent="0">
              <a:lnSpc>
                <a:spcPts val="1298"/>
              </a:lnSpc>
              <a:spcBef>
                <a:spcPts val="400"/>
              </a:spcBef>
              <a:spcAft>
                <a:spcPts val="0"/>
              </a:spcAft>
              <a:buNone/>
            </a:pPr>
            <a:r>
              <a:rPr sz="1100" b="1" i="0">
                <a:solidFill>
                  <a:srgbClr val="2B8A3E"/>
                </a:solidFill>
                <a:latin typeface="Calibri"/>
              </a:rPr>
              <a:t>static  /  semi-dynamic  /  dynamic</a:t>
            </a:r>
          </a:p>
          <a:p>
            <a:pPr algn="l" marL="0" indent="0">
              <a:lnSpc>
                <a:spcPts val="1298"/>
              </a:lnSpc>
              <a:spcBef>
                <a:spcPts val="600"/>
              </a:spcBef>
              <a:spcAft>
                <a:spcPts val="0"/>
              </a:spcAft>
              <a:buNone/>
            </a:pPr>
            <a:r>
              <a:rPr sz="1100" b="0" i="0">
                <a:solidFill>
                  <a:srgbClr val="2B3542"/>
                </a:solidFill>
                <a:latin typeface="Calibri"/>
              </a:rPr>
              <a:t>Can the world change while the agent is thinking?</a:t>
            </a:r>
          </a:p>
        </p:txBody>
      </p:sp>
      <p:sp>
        <p:nvSpPr>
          <p:cNvPr id="32" name="TextBox 31"/>
          <p:cNvSpPr txBox="1"/>
          <p:nvPr/>
        </p:nvSpPr>
        <p:spPr>
          <a:xfrm>
            <a:off x="713232" y="5630418"/>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Dynamism puts deliberation under a deadline.</a:t>
            </a:r>
          </a:p>
        </p:txBody>
      </p:sp>
      <p:sp>
        <p:nvSpPr>
          <p:cNvPr id="33" name="Rectangle 32"/>
          <p:cNvSpPr/>
          <p:nvPr/>
        </p:nvSpPr>
        <p:spPr>
          <a:xfrm>
            <a:off x="713232" y="5520690"/>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390892" y="4203954"/>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390892" y="4203954"/>
            <a:ext cx="2567932"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555484" y="4368546"/>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Continuity</a:t>
            </a:r>
          </a:p>
          <a:p>
            <a:pPr algn="l" marL="0" indent="0">
              <a:lnSpc>
                <a:spcPts val="1298"/>
              </a:lnSpc>
              <a:spcBef>
                <a:spcPts val="400"/>
              </a:spcBef>
              <a:spcAft>
                <a:spcPts val="0"/>
              </a:spcAft>
              <a:buNone/>
            </a:pPr>
            <a:r>
              <a:rPr sz="1100" b="1" i="0">
                <a:solidFill>
                  <a:srgbClr val="1971C2"/>
                </a:solidFill>
                <a:latin typeface="Calibri"/>
              </a:rPr>
              <a:t>discrete  /  continuous</a:t>
            </a:r>
          </a:p>
          <a:p>
            <a:pPr algn="l" marL="0" indent="0">
              <a:lnSpc>
                <a:spcPts val="1298"/>
              </a:lnSpc>
              <a:spcBef>
                <a:spcPts val="600"/>
              </a:spcBef>
              <a:spcAft>
                <a:spcPts val="0"/>
              </a:spcAft>
              <a:buNone/>
            </a:pPr>
            <a:r>
              <a:rPr sz="1100" b="0" i="0">
                <a:solidFill>
                  <a:srgbClr val="2B3542"/>
                </a:solidFill>
                <a:latin typeface="Calibri"/>
              </a:rPr>
              <a:t>Are states, time, percepts and actions enumerable?</a:t>
            </a:r>
          </a:p>
        </p:txBody>
      </p:sp>
      <p:sp>
        <p:nvSpPr>
          <p:cNvPr id="37" name="TextBox 36"/>
          <p:cNvSpPr txBox="1"/>
          <p:nvPr/>
        </p:nvSpPr>
        <p:spPr>
          <a:xfrm>
            <a:off x="3555484" y="5630418"/>
            <a:ext cx="2238748" cy="360680"/>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Continuity forces function approximation.</a:t>
            </a:r>
          </a:p>
        </p:txBody>
      </p:sp>
      <p:sp>
        <p:nvSpPr>
          <p:cNvPr id="38" name="Rectangle 37"/>
          <p:cNvSpPr/>
          <p:nvPr/>
        </p:nvSpPr>
        <p:spPr>
          <a:xfrm>
            <a:off x="3555484" y="5520690"/>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233144" y="4203954"/>
            <a:ext cx="2567932" cy="202996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33144" y="4203954"/>
            <a:ext cx="2567932"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97736" y="4368546"/>
            <a:ext cx="2238748" cy="85293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Knowledge of the rules</a:t>
            </a:r>
          </a:p>
          <a:p>
            <a:pPr algn="l" marL="0" indent="0">
              <a:lnSpc>
                <a:spcPts val="1298"/>
              </a:lnSpc>
              <a:spcBef>
                <a:spcPts val="400"/>
              </a:spcBef>
              <a:spcAft>
                <a:spcPts val="0"/>
              </a:spcAft>
              <a:buNone/>
            </a:pPr>
            <a:r>
              <a:rPr sz="1100" b="1" i="0">
                <a:solidFill>
                  <a:srgbClr val="B54708"/>
                </a:solidFill>
                <a:latin typeface="Calibri"/>
              </a:rPr>
              <a:t>known  /  unknown</a:t>
            </a:r>
          </a:p>
          <a:p>
            <a:pPr algn="l" marL="0" indent="0">
              <a:lnSpc>
                <a:spcPts val="1298"/>
              </a:lnSpc>
              <a:spcBef>
                <a:spcPts val="600"/>
              </a:spcBef>
              <a:spcAft>
                <a:spcPts val="0"/>
              </a:spcAft>
              <a:buNone/>
            </a:pPr>
            <a:r>
              <a:rPr sz="1100" b="0" i="0">
                <a:solidFill>
                  <a:srgbClr val="2B3542"/>
                </a:solidFill>
                <a:latin typeface="Calibri"/>
              </a:rPr>
              <a:t>Does the agent know the outcomes of its own actions?</a:t>
            </a:r>
          </a:p>
        </p:txBody>
      </p:sp>
      <p:sp>
        <p:nvSpPr>
          <p:cNvPr id="42" name="TextBox 41"/>
          <p:cNvSpPr txBox="1"/>
          <p:nvPr/>
        </p:nvSpPr>
        <p:spPr>
          <a:xfrm>
            <a:off x="6397736" y="5630418"/>
            <a:ext cx="2238748" cy="198628"/>
          </a:xfrm>
          <a:prstGeom prst="rect">
            <a:avLst/>
          </a:prstGeom>
          <a:noFill/>
        </p:spPr>
        <p:txBody>
          <a:bodyPr wrap="square" lIns="0" rIns="0" tIns="0" bIns="0" anchor="t">
            <a:noAutofit/>
          </a:bodyPr>
          <a:lstStyle/>
          <a:p>
            <a:pPr algn="l" marL="0" indent="0">
              <a:lnSpc>
                <a:spcPts val="1276"/>
              </a:lnSpc>
              <a:spcBef>
                <a:spcPts val="0"/>
              </a:spcBef>
              <a:spcAft>
                <a:spcPts val="0"/>
              </a:spcAft>
              <a:buNone/>
            </a:pPr>
            <a:r>
              <a:rPr sz="1100" b="0" i="1">
                <a:solidFill>
                  <a:srgbClr val="5F6B76"/>
                </a:solidFill>
                <a:latin typeface="Calibri"/>
              </a:rPr>
              <a:t>Unknown dynamics force learning.</a:t>
            </a:r>
          </a:p>
        </p:txBody>
      </p:sp>
      <p:sp>
        <p:nvSpPr>
          <p:cNvPr id="43" name="Rectangle 42"/>
          <p:cNvSpPr/>
          <p:nvPr/>
        </p:nvSpPr>
        <p:spPr>
          <a:xfrm>
            <a:off x="6397736" y="5520690"/>
            <a:ext cx="2238748"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075397" y="4203954"/>
            <a:ext cx="2567932" cy="202996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239989" y="4386834"/>
            <a:ext cx="2238748" cy="1596158"/>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7FAED9"/>
                </a:solidFill>
                <a:latin typeface="Calibri"/>
              </a:rPr>
              <a:t>THE HARDEST CASE</a:t>
            </a:r>
          </a:p>
          <a:p>
            <a:pPr algn="l" marL="0" indent="0">
              <a:lnSpc>
                <a:spcPts val="1475"/>
              </a:lnSpc>
              <a:spcBef>
                <a:spcPts val="800"/>
              </a:spcBef>
              <a:spcAft>
                <a:spcPts val="0"/>
              </a:spcAft>
              <a:buNone/>
            </a:pPr>
            <a:r>
              <a:rPr sz="1250" b="0" i="0">
                <a:solidFill>
                  <a:srgbClr val="FFFFFF"/>
                </a:solidFill>
                <a:latin typeface="Calibri"/>
              </a:rPr>
              <a:t>Partially observable, multi-agent, stochastic, sequential, dynamic and continuous.</a:t>
            </a:r>
          </a:p>
          <a:p>
            <a:pPr algn="l" marL="0" indent="0">
              <a:lnSpc>
                <a:spcPts val="1298"/>
              </a:lnSpc>
              <a:spcBef>
                <a:spcPts val="800"/>
              </a:spcBef>
              <a:spcAft>
                <a:spcPts val="0"/>
              </a:spcAft>
              <a:buNone/>
            </a:pPr>
            <a:r>
              <a:rPr sz="1100" b="0" i="0">
                <a:solidFill>
                  <a:srgbClr val="9FB6CC"/>
                </a:solidFill>
                <a:latin typeface="Calibri"/>
              </a:rPr>
              <a:t>Autonomous driving is difficult in every one of these senses at once — which is exactly why it resists any single technique.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3.2  OBSERVABILITY</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When perception is not reality, the agent must remember</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17</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An environment is fully observable if the sensors provide, at all times, everything relevant to choosing an action. Otherwise it is partially observable — because sensors are noisy, limited in range, or simply cannot see through walls.</a:t>
            </a:r>
          </a:p>
        </p:txBody>
      </p:sp>
      <p:pic>
        <p:nvPicPr>
          <p:cNvPr id="9" name="Picture 8" descr="obs_full.png"/>
          <p:cNvPicPr>
            <a:picLocks noChangeAspect="1"/>
          </p:cNvPicPr>
          <p:nvPr/>
        </p:nvPicPr>
        <p:blipFill>
          <a:blip r:embed="rId2"/>
          <a:stretch>
            <a:fillRect/>
          </a:stretch>
        </p:blipFill>
        <p:spPr>
          <a:xfrm>
            <a:off x="1262437" y="1917954"/>
            <a:ext cx="3641846" cy="2377440"/>
          </a:xfrm>
          <a:prstGeom prst="rect">
            <a:avLst/>
          </a:prstGeom>
        </p:spPr>
      </p:pic>
      <p:pic>
        <p:nvPicPr>
          <p:cNvPr id="10" name="Picture 9" descr="obs_partial.png"/>
          <p:cNvPicPr>
            <a:picLocks noChangeAspect="1"/>
          </p:cNvPicPr>
          <p:nvPr/>
        </p:nvPicPr>
        <p:blipFill>
          <a:blip r:embed="rId3"/>
          <a:stretch>
            <a:fillRect/>
          </a:stretch>
        </p:blipFill>
        <p:spPr>
          <a:xfrm>
            <a:off x="6738279" y="1917954"/>
            <a:ext cx="4132324" cy="2377440"/>
          </a:xfrm>
          <a:prstGeom prst="rect">
            <a:avLst/>
          </a:prstGeom>
        </p:spPr>
      </p:pic>
      <p:sp>
        <p:nvSpPr>
          <p:cNvPr id="11" name="Rectangle 10"/>
          <p:cNvSpPr/>
          <p:nvPr/>
        </p:nvSpPr>
        <p:spPr>
          <a:xfrm>
            <a:off x="548640" y="456971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78917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93547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FULLY OBSERVABLE</a:t>
            </a:r>
          </a:p>
          <a:p>
            <a:pPr algn="l" marL="0" indent="0">
              <a:lnSpc>
                <a:spcPts val="1400"/>
              </a:lnSpc>
              <a:spcBef>
                <a:spcPts val="500"/>
              </a:spcBef>
              <a:spcAft>
                <a:spcPts val="0"/>
              </a:spcAft>
              <a:buNone/>
            </a:pPr>
            <a:r>
              <a:rPr sz="1250" b="1" i="0">
                <a:solidFill>
                  <a:srgbClr val="16202A"/>
                </a:solidFill>
                <a:latin typeface="Calibri"/>
              </a:rPr>
              <a:t>No internal state is needed</a:t>
            </a:r>
          </a:p>
          <a:p>
            <a:pPr algn="l" marL="0" indent="0">
              <a:lnSpc>
                <a:spcPts val="1380"/>
              </a:lnSpc>
              <a:spcBef>
                <a:spcPts val="500"/>
              </a:spcBef>
              <a:spcAft>
                <a:spcPts val="0"/>
              </a:spcAft>
              <a:buNone/>
            </a:pPr>
            <a:r>
              <a:rPr sz="1150" b="0" i="0">
                <a:solidFill>
                  <a:srgbClr val="5F6B76"/>
                </a:solidFill>
                <a:latin typeface="Calibri"/>
              </a:rPr>
              <a:t>Perception coincides with reality. The current percept is a sufficient summary of the world, so the agent can decide without remembering anything.</a:t>
            </a:r>
          </a:p>
        </p:txBody>
      </p:sp>
      <p:sp>
        <p:nvSpPr>
          <p:cNvPr id="14" name="Rectangle 13"/>
          <p:cNvSpPr/>
          <p:nvPr/>
        </p:nvSpPr>
        <p:spPr>
          <a:xfrm>
            <a:off x="4350501" y="478917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493547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PARTIALLY OBSERVABLE</a:t>
            </a:r>
          </a:p>
          <a:p>
            <a:pPr algn="l" marL="0" indent="0">
              <a:lnSpc>
                <a:spcPts val="1400"/>
              </a:lnSpc>
              <a:spcBef>
                <a:spcPts val="500"/>
              </a:spcBef>
              <a:spcAft>
                <a:spcPts val="0"/>
              </a:spcAft>
              <a:buNone/>
            </a:pPr>
            <a:r>
              <a:rPr sz="1250" b="1" i="0">
                <a:solidFill>
                  <a:srgbClr val="16202A"/>
                </a:solidFill>
                <a:latin typeface="Calibri"/>
              </a:rPr>
              <a:t>The agent maintains a belief</a:t>
            </a:r>
          </a:p>
          <a:p>
            <a:pPr algn="l" marL="0" indent="0">
              <a:lnSpc>
                <a:spcPts val="1380"/>
              </a:lnSpc>
              <a:spcBef>
                <a:spcPts val="500"/>
              </a:spcBef>
              <a:spcAft>
                <a:spcPts val="0"/>
              </a:spcAft>
              <a:buNone/>
            </a:pPr>
            <a:r>
              <a:rPr sz="1150" b="0" i="0">
                <a:solidFill>
                  <a:srgbClr val="5F6B76"/>
                </a:solidFill>
                <a:latin typeface="Calibri"/>
              </a:rPr>
              <a:t>The percept is a partial, possibly noisy view. The agent must carry an internal estimate of what it cannot currently see, updated as new percepts arrive.</a:t>
            </a:r>
          </a:p>
        </p:txBody>
      </p:sp>
      <p:sp>
        <p:nvSpPr>
          <p:cNvPr id="16" name="Rectangle 15"/>
          <p:cNvSpPr/>
          <p:nvPr/>
        </p:nvSpPr>
        <p:spPr>
          <a:xfrm>
            <a:off x="8152363" y="478917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493547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CONSEQUENCE FOR DESIGN</a:t>
            </a:r>
          </a:p>
          <a:p>
            <a:pPr algn="l" marL="0" indent="0">
              <a:lnSpc>
                <a:spcPts val="1400"/>
              </a:lnSpc>
              <a:spcBef>
                <a:spcPts val="500"/>
              </a:spcBef>
              <a:spcAft>
                <a:spcPts val="0"/>
              </a:spcAft>
              <a:buNone/>
            </a:pPr>
            <a:r>
              <a:rPr sz="1250" b="1" i="0">
                <a:solidFill>
                  <a:srgbClr val="16202A"/>
                </a:solidFill>
                <a:latin typeface="Calibri"/>
              </a:rPr>
              <a:t>This dimension alone separates §5.2 from §5.3</a:t>
            </a:r>
          </a:p>
          <a:p>
            <a:pPr algn="l" marL="0" indent="0">
              <a:lnSpc>
                <a:spcPts val="1380"/>
              </a:lnSpc>
              <a:spcBef>
                <a:spcPts val="500"/>
              </a:spcBef>
              <a:spcAft>
                <a:spcPts val="0"/>
              </a:spcAft>
              <a:buNone/>
            </a:pPr>
            <a:r>
              <a:rPr sz="1150" b="0" i="0">
                <a:solidFill>
                  <a:srgbClr val="5F6B76"/>
                </a:solidFill>
                <a:latin typeface="Calibri"/>
              </a:rPr>
              <a:t>Simple reflex agents are adequate only when the environment is fully observable. Everything else needs the model-based architecture.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3.3  NUMBER OF AGENTS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Another agent is not an obstacle: it optimises against you</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18</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An environment is single-agent if only one agent influences it, and multi-agent if several agents’ actions affect one another’s outcomes. Multi-agent settings split further into competitive and cooperative.</a:t>
            </a:r>
          </a:p>
        </p:txBody>
      </p:sp>
      <p:pic>
        <p:nvPicPr>
          <p:cNvPr id="9" name="Picture 8" descr="agents_single.png"/>
          <p:cNvPicPr>
            <a:picLocks noChangeAspect="1"/>
          </p:cNvPicPr>
          <p:nvPr/>
        </p:nvPicPr>
        <p:blipFill>
          <a:blip r:embed="rId2"/>
          <a:stretch>
            <a:fillRect/>
          </a:stretch>
        </p:blipFill>
        <p:spPr>
          <a:xfrm>
            <a:off x="1387754" y="1917954"/>
            <a:ext cx="2777934" cy="2331720"/>
          </a:xfrm>
          <a:prstGeom prst="rect">
            <a:avLst/>
          </a:prstGeom>
        </p:spPr>
      </p:pic>
      <p:pic>
        <p:nvPicPr>
          <p:cNvPr id="10" name="Picture 9" descr="agents_multi.png"/>
          <p:cNvPicPr>
            <a:picLocks noChangeAspect="1"/>
          </p:cNvPicPr>
          <p:nvPr/>
        </p:nvPicPr>
        <p:blipFill>
          <a:blip r:embed="rId3"/>
          <a:stretch>
            <a:fillRect/>
          </a:stretch>
        </p:blipFill>
        <p:spPr>
          <a:xfrm>
            <a:off x="6792102" y="1917954"/>
            <a:ext cx="3411400" cy="2331720"/>
          </a:xfrm>
          <a:prstGeom prst="rect">
            <a:avLst/>
          </a:prstGeom>
        </p:spPr>
      </p:pic>
      <p:sp>
        <p:nvSpPr>
          <p:cNvPr id="11" name="Rectangle 10"/>
          <p:cNvSpPr/>
          <p:nvPr/>
        </p:nvSpPr>
        <p:spPr>
          <a:xfrm>
            <a:off x="548640" y="45239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7434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889754"/>
            <a:ext cx="3490965" cy="82691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SINGLE AGENT</a:t>
            </a:r>
          </a:p>
          <a:p>
            <a:pPr algn="l" marL="0" indent="0">
              <a:lnSpc>
                <a:spcPts val="1400"/>
              </a:lnSpc>
              <a:spcBef>
                <a:spcPts val="500"/>
              </a:spcBef>
              <a:spcAft>
                <a:spcPts val="0"/>
              </a:spcAft>
              <a:buNone/>
            </a:pPr>
            <a:r>
              <a:rPr sz="1250" b="1" i="0">
                <a:solidFill>
                  <a:srgbClr val="16202A"/>
                </a:solidFill>
                <a:latin typeface="Calibri"/>
              </a:rPr>
              <a:t>Only the agent’s own actions change the world</a:t>
            </a:r>
          </a:p>
          <a:p>
            <a:pPr algn="l" marL="0" indent="0">
              <a:lnSpc>
                <a:spcPts val="1380"/>
              </a:lnSpc>
              <a:spcBef>
                <a:spcPts val="500"/>
              </a:spcBef>
              <a:spcAft>
                <a:spcPts val="0"/>
              </a:spcAft>
              <a:buNone/>
            </a:pPr>
            <a:r>
              <a:rPr sz="1150" b="0" i="0">
                <a:solidFill>
                  <a:srgbClr val="5F6B76"/>
                </a:solidFill>
                <a:latin typeface="Calibri"/>
              </a:rPr>
              <a:t>The warehouse robot plans against physics alone. Nothing in the environment is trying to do anything about it.</a:t>
            </a:r>
          </a:p>
        </p:txBody>
      </p:sp>
      <p:sp>
        <p:nvSpPr>
          <p:cNvPr id="14" name="Rectangle 13"/>
          <p:cNvSpPr/>
          <p:nvPr/>
        </p:nvSpPr>
        <p:spPr>
          <a:xfrm>
            <a:off x="4350501" y="47434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COMPETITIVE</a:t>
            </a:r>
          </a:p>
          <a:p>
            <a:pPr algn="l" marL="0" indent="0">
              <a:lnSpc>
                <a:spcPts val="1400"/>
              </a:lnSpc>
              <a:spcBef>
                <a:spcPts val="500"/>
              </a:spcBef>
              <a:spcAft>
                <a:spcPts val="0"/>
              </a:spcAft>
              <a:buNone/>
            </a:pPr>
            <a:r>
              <a:rPr sz="1250" b="1" i="0">
                <a:solidFill>
                  <a:srgbClr val="16202A"/>
                </a:solidFill>
                <a:latin typeface="Calibri"/>
              </a:rPr>
              <a:t>The opponent’s gain is the agent’s loss</a:t>
            </a:r>
          </a:p>
          <a:p>
            <a:pPr algn="l" marL="0" indent="0">
              <a:lnSpc>
                <a:spcPts val="1380"/>
              </a:lnSpc>
              <a:spcBef>
                <a:spcPts val="500"/>
              </a:spcBef>
              <a:spcAft>
                <a:spcPts val="0"/>
              </a:spcAft>
              <a:buNone/>
            </a:pPr>
            <a:r>
              <a:rPr sz="1150" b="0" i="0">
                <a:solidFill>
                  <a:srgbClr val="5F6B76"/>
                </a:solidFill>
                <a:latin typeface="Calibri"/>
              </a:rPr>
              <a:t>In chess the opponent selects moves precisely to reduce the agent’s performance. Randomisation can itself become rational, because it is unpredictable.</a:t>
            </a:r>
          </a:p>
        </p:txBody>
      </p:sp>
      <p:sp>
        <p:nvSpPr>
          <p:cNvPr id="16" name="Rectangle 15"/>
          <p:cNvSpPr/>
          <p:nvPr/>
        </p:nvSpPr>
        <p:spPr>
          <a:xfrm>
            <a:off x="8152363" y="474345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COOPERATIVE</a:t>
            </a:r>
          </a:p>
          <a:p>
            <a:pPr algn="l" marL="0" indent="0">
              <a:lnSpc>
                <a:spcPts val="1400"/>
              </a:lnSpc>
              <a:spcBef>
                <a:spcPts val="500"/>
              </a:spcBef>
              <a:spcAft>
                <a:spcPts val="0"/>
              </a:spcAft>
              <a:buNone/>
            </a:pPr>
            <a:r>
              <a:rPr sz="1250" b="1" i="0">
                <a:solidFill>
                  <a:srgbClr val="16202A"/>
                </a:solidFill>
                <a:latin typeface="Calibri"/>
              </a:rPr>
              <a:t>Shared measure, so communication pays</a:t>
            </a:r>
          </a:p>
          <a:p>
            <a:pPr algn="l" marL="0" indent="0">
              <a:lnSpc>
                <a:spcPts val="1380"/>
              </a:lnSpc>
              <a:spcBef>
                <a:spcPts val="500"/>
              </a:spcBef>
              <a:spcAft>
                <a:spcPts val="0"/>
              </a:spcAft>
              <a:buNone/>
            </a:pPr>
            <a:r>
              <a:rPr sz="1150" b="0" i="0">
                <a:solidFill>
                  <a:srgbClr val="5F6B76"/>
                </a:solidFill>
                <a:latin typeface="Calibri"/>
              </a:rPr>
              <a:t>Drivers at a junction all want to arrive safely. Signalling intent — indicators, lane discipline — is a rational action rather than wasted effort.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3.4  A MODELLING DECISION, NOT A FACT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Agent or obstacle? The boundary is chosen, not discovered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19</a:t>
            </a:r>
          </a:p>
        </p:txBody>
      </p:sp>
      <p:sp>
        <p:nvSpPr>
          <p:cNvPr id="8" name="TextBox 7"/>
          <p:cNvSpPr txBox="1"/>
          <p:nvPr/>
        </p:nvSpPr>
        <p:spPr>
          <a:xfrm>
            <a:off x="548640" y="1280160"/>
            <a:ext cx="6949440"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boundary is not given by the world; it is chosen by the designer. The same physical object can be modelled either way, and the choice changes the program that has to be written.</a:t>
            </a:r>
          </a:p>
        </p:txBody>
      </p:sp>
      <p:sp>
        <p:nvSpPr>
          <p:cNvPr id="9" name="TextBox 8"/>
          <p:cNvSpPr txBox="1"/>
          <p:nvPr/>
        </p:nvSpPr>
        <p:spPr>
          <a:xfrm>
            <a:off x="548640" y="1972817"/>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SAME OBJECT, TWO MODELS</a:t>
            </a:r>
          </a:p>
        </p:txBody>
      </p:sp>
      <p:sp>
        <p:nvSpPr>
          <p:cNvPr id="10" name="Rectangle 9"/>
          <p:cNvSpPr/>
          <p:nvPr/>
        </p:nvSpPr>
        <p:spPr>
          <a:xfrm>
            <a:off x="548640" y="2247137"/>
            <a:ext cx="3282696" cy="237744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47137"/>
            <a:ext cx="3282696"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2430018"/>
            <a:ext cx="2916936" cy="885571"/>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As part of the environment</a:t>
            </a:r>
          </a:p>
          <a:p>
            <a:pPr algn="l" marL="0" indent="0">
              <a:lnSpc>
                <a:spcPts val="1464"/>
              </a:lnSpc>
              <a:spcBef>
                <a:spcPts val="700"/>
              </a:spcBef>
              <a:spcAft>
                <a:spcPts val="0"/>
              </a:spcAft>
              <a:buNone/>
            </a:pPr>
            <a:r>
              <a:rPr sz="1200" b="0" i="0">
                <a:solidFill>
                  <a:srgbClr val="2B3542"/>
                </a:solidFill>
                <a:latin typeface="Calibri"/>
              </a:rPr>
              <a:t>The other vehicle is a physical object governed by the laws of motion. Predict its trajectory by extrapolation; treat deviations as noise.</a:t>
            </a:r>
          </a:p>
        </p:txBody>
      </p:sp>
      <p:sp>
        <p:nvSpPr>
          <p:cNvPr id="13" name="TextBox 12"/>
          <p:cNvSpPr txBox="1"/>
          <p:nvPr/>
        </p:nvSpPr>
        <p:spPr>
          <a:xfrm>
            <a:off x="731520" y="3819905"/>
            <a:ext cx="2916936" cy="56235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1">
                <a:solidFill>
                  <a:srgbClr val="5F6B76"/>
                </a:solidFill>
                <a:latin typeface="Calibri"/>
              </a:rPr>
              <a:t>Cheaper. Adequate while the other vehicle behaves predictably — and wrong exactly when it does not.</a:t>
            </a:r>
          </a:p>
        </p:txBody>
      </p:sp>
      <p:sp>
        <p:nvSpPr>
          <p:cNvPr id="14" name="Rectangle 13"/>
          <p:cNvSpPr/>
          <p:nvPr/>
        </p:nvSpPr>
        <p:spPr>
          <a:xfrm>
            <a:off x="731520" y="3710177"/>
            <a:ext cx="2916936"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215383" y="2247137"/>
            <a:ext cx="3282696" cy="237744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15383" y="2247137"/>
            <a:ext cx="3282696"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98264" y="2430018"/>
            <a:ext cx="2916936" cy="1071499"/>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As an independent agent</a:t>
            </a:r>
          </a:p>
          <a:p>
            <a:pPr algn="l" marL="0" indent="0">
              <a:lnSpc>
                <a:spcPts val="1464"/>
              </a:lnSpc>
              <a:spcBef>
                <a:spcPts val="700"/>
              </a:spcBef>
              <a:spcAft>
                <a:spcPts val="0"/>
              </a:spcAft>
              <a:buNone/>
            </a:pPr>
            <a:r>
              <a:rPr sz="1200" b="0" i="0">
                <a:solidFill>
                  <a:srgbClr val="2B3542"/>
                </a:solidFill>
                <a:latin typeface="Calibri"/>
              </a:rPr>
              <a:t>The other vehicle is a decision-maker with its own destination, its own performance measure, and a view of us. Predict what it will choose, not where it will drift.</a:t>
            </a:r>
          </a:p>
        </p:txBody>
      </p:sp>
      <p:sp>
        <p:nvSpPr>
          <p:cNvPr id="18" name="TextBox 17"/>
          <p:cNvSpPr txBox="1"/>
          <p:nvPr/>
        </p:nvSpPr>
        <p:spPr>
          <a:xfrm>
            <a:off x="4398264" y="3819905"/>
            <a:ext cx="2916936" cy="56235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1">
                <a:solidFill>
                  <a:srgbClr val="5F6B76"/>
                </a:solidFill>
                <a:latin typeface="Calibri"/>
              </a:rPr>
              <a:t>More expensive, and necessary whenever its choices depend on ours — at a merge, a junction, a negotiation.</a:t>
            </a:r>
          </a:p>
        </p:txBody>
      </p:sp>
      <p:sp>
        <p:nvSpPr>
          <p:cNvPr id="19" name="Rectangle 18"/>
          <p:cNvSpPr/>
          <p:nvPr/>
        </p:nvSpPr>
        <p:spPr>
          <a:xfrm>
            <a:off x="4398264" y="3710177"/>
            <a:ext cx="2916936"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48640" y="4898897"/>
            <a:ext cx="41148" cy="73152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35473"/>
            <a:ext cx="6711696" cy="856869"/>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criterion</a:t>
            </a:r>
          </a:p>
          <a:p>
            <a:pPr algn="l" marL="0" indent="0">
              <a:lnSpc>
                <a:spcPts val="1475"/>
              </a:lnSpc>
              <a:spcBef>
                <a:spcPts val="500"/>
              </a:spcBef>
              <a:spcAft>
                <a:spcPts val="0"/>
              </a:spcAft>
              <a:buNone/>
            </a:pPr>
            <a:r>
              <a:rPr sz="1250" b="0" i="0">
                <a:solidFill>
                  <a:srgbClr val="2B3542"/>
                </a:solidFill>
                <a:latin typeface="Calibri"/>
              </a:rPr>
              <a:t>Treat an entity as an agent when its behaviour is best described as </a:t>
            </a:r>
            <a:r>
              <a:rPr sz="1250" b="1" i="0">
                <a:solidFill>
                  <a:srgbClr val="16202A"/>
                </a:solidFill>
                <a:latin typeface="Calibri"/>
              </a:rPr>
              <a:t>optimising its own performance measure, whose value depends on our actions</a:t>
            </a:r>
            <a:r>
              <a:rPr sz="1250" b="0" i="0">
                <a:solidFill>
                  <a:srgbClr val="2B3542"/>
                </a:solidFill>
                <a:latin typeface="Calibri"/>
              </a:rPr>
              <a:t>. If that dependency is absent, it is part of the environment.</a:t>
            </a:r>
          </a:p>
        </p:txBody>
      </p:sp>
      <p:sp>
        <p:nvSpPr>
          <p:cNvPr id="22" name="Rectangle 21"/>
          <p:cNvSpPr/>
          <p:nvPr/>
        </p:nvSpPr>
        <p:spPr>
          <a:xfrm>
            <a:off x="7818120" y="1280160"/>
            <a:ext cx="3825209" cy="1444752"/>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818120" y="1280160"/>
            <a:ext cx="41148" cy="144475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37576" y="1426463"/>
            <a:ext cx="353260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1971C2"/>
                </a:solidFill>
                <a:latin typeface="Calibri"/>
              </a:rPr>
              <a:t>THE GENERAL POINT</a:t>
            </a:r>
          </a:p>
        </p:txBody>
      </p:sp>
      <p:sp>
        <p:nvSpPr>
          <p:cNvPr id="25" name="TextBox 24"/>
          <p:cNvSpPr txBox="1"/>
          <p:nvPr/>
        </p:nvSpPr>
        <p:spPr>
          <a:xfrm>
            <a:off x="8037576" y="1664207"/>
            <a:ext cx="3441161" cy="9144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Every dimension on the previous slide is a property of the model the designer builds, not a property the world hands over. Two engineers can legitimately classify the same task differently — and will then write different programs.</a:t>
            </a:r>
          </a:p>
        </p:txBody>
      </p:sp>
      <p:sp>
        <p:nvSpPr>
          <p:cNvPr id="26" name="TextBox 25"/>
          <p:cNvSpPr txBox="1"/>
          <p:nvPr/>
        </p:nvSpPr>
        <p:spPr>
          <a:xfrm>
            <a:off x="7818120" y="2999232"/>
            <a:ext cx="382520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FURTHER EXAMPLES</a:t>
            </a:r>
          </a:p>
        </p:txBody>
      </p:sp>
      <p:sp>
        <p:nvSpPr>
          <p:cNvPr id="27" name="TextBox 26"/>
          <p:cNvSpPr txBox="1"/>
          <p:nvPr/>
        </p:nvSpPr>
        <p:spPr>
          <a:xfrm>
            <a:off x="7818120" y="3255264"/>
            <a:ext cx="3825209" cy="1627632"/>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1" i="0">
                <a:solidFill>
                  <a:srgbClr val="16202A"/>
                </a:solidFill>
                <a:latin typeface="Calibri"/>
              </a:rPr>
              <a:t>A pedestrian </a:t>
            </a:r>
            <a:r>
              <a:rPr sz="1200" b="0" i="0">
                <a:solidFill>
                  <a:srgbClr val="2B3542"/>
                </a:solidFill>
                <a:latin typeface="Calibri"/>
              </a:rPr>
              <a:t>crossing at a signal: an obstacle. Crossing against one: an agent, because their decision responds to ours.</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The weather</a:t>
            </a:r>
            <a:r>
              <a:rPr sz="1200" b="0" i="0">
                <a:solidFill>
                  <a:srgbClr val="2B3542"/>
                </a:solidFill>
                <a:latin typeface="Calibri"/>
              </a:rPr>
              <a:t>: stochastic environment. It has no measure to optimise and does not react to us.</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A market</a:t>
            </a:r>
            <a:r>
              <a:rPr sz="1200" b="0" i="0">
                <a:solidFill>
                  <a:srgbClr val="2B3542"/>
                </a:solidFill>
                <a:latin typeface="Calibri"/>
              </a:rPr>
              <a:t>: stochastic for a small trader, multi-agent for a large one — the same world, with the difference being whether our actions move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3.5  DETERMINISM</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Three different things are meant by “the outcome is uncertain”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20</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An environment is deterministic if the next state is fully determined by the current state and the agent’s action. If it is not, it matters a great deal whether a probability model over the outcomes is available.</a:t>
            </a:r>
          </a:p>
        </p:txBody>
      </p:sp>
      <p:pic>
        <p:nvPicPr>
          <p:cNvPr id="9" name="Picture 8" descr="det_deterministic.png"/>
          <p:cNvPicPr>
            <a:picLocks noChangeAspect="1"/>
          </p:cNvPicPr>
          <p:nvPr/>
        </p:nvPicPr>
        <p:blipFill>
          <a:blip r:embed="rId2"/>
          <a:stretch>
            <a:fillRect/>
          </a:stretch>
        </p:blipFill>
        <p:spPr>
          <a:xfrm>
            <a:off x="1323676" y="1917954"/>
            <a:ext cx="1772529" cy="2304288"/>
          </a:xfrm>
          <a:prstGeom prst="rect">
            <a:avLst/>
          </a:prstGeom>
        </p:spPr>
      </p:pic>
      <p:pic>
        <p:nvPicPr>
          <p:cNvPr id="10" name="Picture 9" descr="det_stochastic.png"/>
          <p:cNvPicPr>
            <a:picLocks noChangeAspect="1"/>
          </p:cNvPicPr>
          <p:nvPr/>
        </p:nvPicPr>
        <p:blipFill>
          <a:blip r:embed="rId3"/>
          <a:stretch>
            <a:fillRect/>
          </a:stretch>
        </p:blipFill>
        <p:spPr>
          <a:xfrm>
            <a:off x="4980651" y="1917954"/>
            <a:ext cx="2064535" cy="2304288"/>
          </a:xfrm>
          <a:prstGeom prst="rect">
            <a:avLst/>
          </a:prstGeom>
        </p:spPr>
      </p:pic>
      <p:pic>
        <p:nvPicPr>
          <p:cNvPr id="11" name="Picture 10" descr="det_nondeterministic.png"/>
          <p:cNvPicPr>
            <a:picLocks noChangeAspect="1"/>
          </p:cNvPicPr>
          <p:nvPr/>
        </p:nvPicPr>
        <p:blipFill>
          <a:blip r:embed="rId4"/>
          <a:stretch>
            <a:fillRect/>
          </a:stretch>
        </p:blipFill>
        <p:spPr>
          <a:xfrm>
            <a:off x="8963730" y="1917954"/>
            <a:ext cx="1870465" cy="2304288"/>
          </a:xfrm>
          <a:prstGeom prst="rect">
            <a:avLst/>
          </a:prstGeom>
        </p:spPr>
      </p:pic>
      <p:sp>
        <p:nvSpPr>
          <p:cNvPr id="12" name="Rectangle 11"/>
          <p:cNvSpPr/>
          <p:nvPr/>
        </p:nvSpPr>
        <p:spPr>
          <a:xfrm>
            <a:off x="548640" y="4496562"/>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4716018"/>
            <a:ext cx="2540500"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4862322"/>
            <a:ext cx="2540500" cy="82691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DETERMINISTIC</a:t>
            </a:r>
          </a:p>
          <a:p>
            <a:pPr algn="l" marL="0" indent="0">
              <a:lnSpc>
                <a:spcPts val="1400"/>
              </a:lnSpc>
              <a:spcBef>
                <a:spcPts val="500"/>
              </a:spcBef>
              <a:spcAft>
                <a:spcPts val="0"/>
              </a:spcAft>
              <a:buNone/>
            </a:pPr>
            <a:r>
              <a:rPr sz="1250" b="1" i="0">
                <a:solidFill>
                  <a:srgbClr val="16202A"/>
                </a:solidFill>
                <a:latin typeface="Calibri"/>
              </a:rPr>
              <a:t>No uncertainty to reason about</a:t>
            </a:r>
          </a:p>
          <a:p>
            <a:pPr algn="l" marL="0" indent="0">
              <a:lnSpc>
                <a:spcPts val="1380"/>
              </a:lnSpc>
              <a:spcBef>
                <a:spcPts val="500"/>
              </a:spcBef>
              <a:spcAft>
                <a:spcPts val="0"/>
              </a:spcAft>
              <a:buNone/>
            </a:pPr>
            <a:r>
              <a:rPr sz="1150" b="0" i="0">
                <a:solidFill>
                  <a:srgbClr val="5F6B76"/>
                </a:solidFill>
                <a:latin typeface="Calibri"/>
              </a:rPr>
              <a:t>State and action fix the successor; the agent plans by composing actions.</a:t>
            </a:r>
          </a:p>
        </p:txBody>
      </p:sp>
      <p:sp>
        <p:nvSpPr>
          <p:cNvPr id="15" name="Rectangle 14"/>
          <p:cNvSpPr/>
          <p:nvPr/>
        </p:nvSpPr>
        <p:spPr>
          <a:xfrm>
            <a:off x="3400036" y="4716018"/>
            <a:ext cx="2540500"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00036" y="4862322"/>
            <a:ext cx="2540500" cy="117743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STOCHASTIC</a:t>
            </a:r>
          </a:p>
          <a:p>
            <a:pPr algn="l" marL="0" indent="0">
              <a:lnSpc>
                <a:spcPts val="1400"/>
              </a:lnSpc>
              <a:spcBef>
                <a:spcPts val="500"/>
              </a:spcBef>
              <a:spcAft>
                <a:spcPts val="0"/>
              </a:spcAft>
              <a:buNone/>
            </a:pPr>
            <a:r>
              <a:rPr sz="1250" b="1" i="0">
                <a:solidFill>
                  <a:srgbClr val="16202A"/>
                </a:solidFill>
                <a:latin typeface="Calibri"/>
              </a:rPr>
              <a:t>Outcomes carry known probabilities</a:t>
            </a:r>
          </a:p>
          <a:p>
            <a:pPr algn="l" marL="0" indent="0">
              <a:lnSpc>
                <a:spcPts val="1380"/>
              </a:lnSpc>
              <a:spcBef>
                <a:spcPts val="500"/>
              </a:spcBef>
              <a:spcAft>
                <a:spcPts val="0"/>
              </a:spcAft>
              <a:buNone/>
            </a:pPr>
            <a:r>
              <a:rPr sz="1150" b="0" i="0">
                <a:solidFill>
                  <a:srgbClr val="5F6B76"/>
                </a:solidFill>
                <a:latin typeface="Calibri"/>
              </a:rPr>
              <a:t>Several successors, with known or estimated probabilities. The agent reasons with expectations — the setting of Chapter 02.</a:t>
            </a:r>
          </a:p>
        </p:txBody>
      </p:sp>
      <p:sp>
        <p:nvSpPr>
          <p:cNvPr id="17" name="Rectangle 16"/>
          <p:cNvSpPr/>
          <p:nvPr/>
        </p:nvSpPr>
        <p:spPr>
          <a:xfrm>
            <a:off x="6251432" y="4716018"/>
            <a:ext cx="2540500"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51432" y="4862322"/>
            <a:ext cx="2540500" cy="117743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NON-DETERMINISTIC (STRICT)</a:t>
            </a:r>
          </a:p>
          <a:p>
            <a:pPr algn="l" marL="0" indent="0">
              <a:lnSpc>
                <a:spcPts val="1400"/>
              </a:lnSpc>
              <a:spcBef>
                <a:spcPts val="500"/>
              </a:spcBef>
              <a:spcAft>
                <a:spcPts val="0"/>
              </a:spcAft>
              <a:buNone/>
            </a:pPr>
            <a:r>
              <a:rPr sz="1250" b="1" i="0">
                <a:solidFill>
                  <a:srgbClr val="16202A"/>
                </a:solidFill>
                <a:latin typeface="Calibri"/>
              </a:rPr>
              <a:t>Possible outcomes, no distribution</a:t>
            </a:r>
          </a:p>
          <a:p>
            <a:pPr algn="l" marL="0" indent="0">
              <a:lnSpc>
                <a:spcPts val="1380"/>
              </a:lnSpc>
              <a:spcBef>
                <a:spcPts val="500"/>
              </a:spcBef>
              <a:spcAft>
                <a:spcPts val="0"/>
              </a:spcAft>
              <a:buNone/>
            </a:pPr>
            <a:r>
              <a:rPr sz="1150" b="0" i="0">
                <a:solidFill>
                  <a:srgbClr val="5F6B76"/>
                </a:solidFill>
                <a:latin typeface="Calibri"/>
              </a:rPr>
              <a:t>Several successors, no probability model. The agent must be prepared for each of them regardless of likelihood: worst-case reasoning.</a:t>
            </a:r>
          </a:p>
        </p:txBody>
      </p:sp>
      <p:sp>
        <p:nvSpPr>
          <p:cNvPr id="19" name="Rectangle 18"/>
          <p:cNvSpPr/>
          <p:nvPr/>
        </p:nvSpPr>
        <p:spPr>
          <a:xfrm>
            <a:off x="9102829" y="4716018"/>
            <a:ext cx="2540500"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02829" y="4862322"/>
            <a:ext cx="2540500" cy="153049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B54708"/>
                </a:solidFill>
                <a:latin typeface="Calibri"/>
              </a:rPr>
              <a:t>IN PRACTICE</a:t>
            </a:r>
          </a:p>
          <a:p>
            <a:pPr algn="l" marL="0" indent="0">
              <a:lnSpc>
                <a:spcPts val="1400"/>
              </a:lnSpc>
              <a:spcBef>
                <a:spcPts val="500"/>
              </a:spcBef>
              <a:spcAft>
                <a:spcPts val="0"/>
              </a:spcAft>
              <a:buNone/>
            </a:pPr>
            <a:r>
              <a:rPr sz="1250" b="1" i="0">
                <a:solidFill>
                  <a:srgbClr val="16202A"/>
                </a:solidFill>
                <a:latin typeface="Calibri"/>
              </a:rPr>
              <a:t>Real environments are modelled as stochastic</a:t>
            </a:r>
          </a:p>
          <a:p>
            <a:pPr algn="l" marL="0" indent="0">
              <a:lnSpc>
                <a:spcPts val="1380"/>
              </a:lnSpc>
              <a:spcBef>
                <a:spcPts val="500"/>
              </a:spcBef>
              <a:spcAft>
                <a:spcPts val="0"/>
              </a:spcAft>
              <a:buNone/>
            </a:pPr>
            <a:r>
              <a:rPr sz="1150" b="0" i="0">
                <a:solidFill>
                  <a:srgbClr val="5F6B76"/>
                </a:solidFill>
                <a:latin typeface="Calibri"/>
              </a:rPr>
              <a:t>Tracking every relevant factor is impossible, and strict worst-case planning would be paralysingly conservative — so probabilities are estimated and expectations are used.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3.6  A CASE WORTH LOOKING AT CLOSELY</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Chess has deterministic dynamics and a non-deterministic opponent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21</a:t>
            </a:r>
          </a:p>
        </p:txBody>
      </p:sp>
      <p:sp>
        <p:nvSpPr>
          <p:cNvPr id="8" name="TextBox 7"/>
          <p:cNvSpPr txBox="1"/>
          <p:nvPr/>
        </p:nvSpPr>
        <p:spPr>
          <a:xfrm>
            <a:off x="548640" y="1280160"/>
            <a:ext cx="7223760"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It is tempting to call chess “non-deterministic”, but the non-determinism does not live in the environment at all. It is a property of how we choose to model the adversary.</a:t>
            </a:r>
          </a:p>
        </p:txBody>
      </p:sp>
      <p:sp>
        <p:nvSpPr>
          <p:cNvPr id="9" name="TextBox 8"/>
          <p:cNvSpPr txBox="1"/>
          <p:nvPr/>
        </p:nvSpPr>
        <p:spPr>
          <a:xfrm>
            <a:off x="822959" y="1991106"/>
            <a:ext cx="4892040" cy="6606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rules of chess</a:t>
            </a:r>
          </a:p>
          <a:p>
            <a:pPr algn="l" marL="0" indent="0">
              <a:lnSpc>
                <a:spcPts val="1440"/>
              </a:lnSpc>
              <a:spcBef>
                <a:spcPts val="500"/>
              </a:spcBef>
              <a:spcAft>
                <a:spcPts val="0"/>
              </a:spcAft>
              <a:buNone/>
            </a:pPr>
            <a:r>
              <a:rPr sz="1200" b="0" i="0">
                <a:solidFill>
                  <a:srgbClr val="5F6B76"/>
                </a:solidFill>
                <a:latin typeface="Calibri"/>
              </a:rPr>
              <a:t>Given a position and a chosen move, the resulting position is fixed. There is no randomness anywhere in the physics of the game.</a:t>
            </a:r>
          </a:p>
        </p:txBody>
      </p:sp>
      <p:sp>
        <p:nvSpPr>
          <p:cNvPr id="10" name="TextBox 9"/>
          <p:cNvSpPr txBox="1"/>
          <p:nvPr/>
        </p:nvSpPr>
        <p:spPr>
          <a:xfrm>
            <a:off x="5943600" y="2009394"/>
            <a:ext cx="1828800" cy="274320"/>
          </a:xfrm>
          <a:prstGeom prst="rect">
            <a:avLst/>
          </a:prstGeom>
          <a:noFill/>
        </p:spPr>
        <p:txBody>
          <a:bodyPr wrap="square" lIns="0" rIns="0" tIns="0" bIns="0" anchor="t">
            <a:noAutofit/>
          </a:bodyPr>
          <a:lstStyle/>
          <a:p>
            <a:pPr algn="l" marL="0" indent="0">
              <a:lnSpc>
                <a:spcPts val="1150"/>
              </a:lnSpc>
              <a:spcBef>
                <a:spcPts val="0"/>
              </a:spcBef>
              <a:spcAft>
                <a:spcPts val="0"/>
              </a:spcAft>
              <a:buNone/>
            </a:pPr>
            <a:r>
              <a:rPr sz="1150" b="1" i="0" spc="60">
                <a:solidFill>
                  <a:srgbClr val="2B8A3E"/>
                </a:solidFill>
                <a:latin typeface="Calibri"/>
              </a:rPr>
              <a:t>Deterministic</a:t>
            </a:r>
          </a:p>
        </p:txBody>
      </p:sp>
      <p:sp>
        <p:nvSpPr>
          <p:cNvPr id="11" name="Rectangle 10"/>
          <p:cNvSpPr/>
          <p:nvPr/>
        </p:nvSpPr>
        <p:spPr>
          <a:xfrm>
            <a:off x="548640" y="1954530"/>
            <a:ext cx="41148" cy="66065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2999232"/>
            <a:ext cx="4892040" cy="6606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opponent’s choice</a:t>
            </a:r>
          </a:p>
          <a:p>
            <a:pPr algn="l" marL="0" indent="0">
              <a:lnSpc>
                <a:spcPts val="1440"/>
              </a:lnSpc>
              <a:spcBef>
                <a:spcPts val="500"/>
              </a:spcBef>
              <a:spcAft>
                <a:spcPts val="0"/>
              </a:spcAft>
              <a:buNone/>
            </a:pPr>
            <a:r>
              <a:rPr sz="1200" b="0" i="0">
                <a:solidFill>
                  <a:srgbClr val="5F6B76"/>
                </a:solidFill>
                <a:latin typeface="Calibri"/>
              </a:rPr>
              <a:t>What the opponent will play is not predictable, and no probability distribution over their strategy is assumed. Every legal reply must be considered.</a:t>
            </a:r>
          </a:p>
        </p:txBody>
      </p:sp>
      <p:sp>
        <p:nvSpPr>
          <p:cNvPr id="13" name="TextBox 12"/>
          <p:cNvSpPr txBox="1"/>
          <p:nvPr/>
        </p:nvSpPr>
        <p:spPr>
          <a:xfrm>
            <a:off x="5943600" y="3017520"/>
            <a:ext cx="1828800" cy="274320"/>
          </a:xfrm>
          <a:prstGeom prst="rect">
            <a:avLst/>
          </a:prstGeom>
          <a:noFill/>
        </p:spPr>
        <p:txBody>
          <a:bodyPr wrap="square" lIns="0" rIns="0" tIns="0" bIns="0" anchor="t">
            <a:noAutofit/>
          </a:bodyPr>
          <a:lstStyle/>
          <a:p>
            <a:pPr algn="l" marL="0" indent="0">
              <a:lnSpc>
                <a:spcPts val="1150"/>
              </a:lnSpc>
              <a:spcBef>
                <a:spcPts val="0"/>
              </a:spcBef>
              <a:spcAft>
                <a:spcPts val="0"/>
              </a:spcAft>
              <a:buNone/>
            </a:pPr>
            <a:r>
              <a:rPr sz="1150" b="1" i="0" spc="60">
                <a:solidFill>
                  <a:srgbClr val="C92A2A"/>
                </a:solidFill>
                <a:latin typeface="Calibri"/>
              </a:rPr>
              <a:t>Non-deterministic</a:t>
            </a:r>
          </a:p>
        </p:txBody>
      </p:sp>
      <p:sp>
        <p:nvSpPr>
          <p:cNvPr id="14" name="Rectangle 13"/>
          <p:cNvSpPr/>
          <p:nvPr/>
        </p:nvSpPr>
        <p:spPr>
          <a:xfrm>
            <a:off x="548640" y="2962656"/>
            <a:ext cx="41148" cy="660654"/>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4007358"/>
            <a:ext cx="4892040" cy="84353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Consequence for the algorithm</a:t>
            </a:r>
          </a:p>
          <a:p>
            <a:pPr algn="l" marL="0" indent="0">
              <a:lnSpc>
                <a:spcPts val="1440"/>
              </a:lnSpc>
              <a:spcBef>
                <a:spcPts val="500"/>
              </a:spcBef>
              <a:spcAft>
                <a:spcPts val="0"/>
              </a:spcAft>
              <a:buNone/>
            </a:pPr>
            <a:r>
              <a:rPr sz="1200" b="0" i="0">
                <a:solidFill>
                  <a:srgbClr val="5F6B76"/>
                </a:solidFill>
                <a:latin typeface="Calibri"/>
              </a:rPr>
              <a:t>Adversarial games are solved with worst-case reasoning — minimax in §5.11 — and not with the expected-value reasoning used for genuinely stochastic environments.</a:t>
            </a:r>
          </a:p>
        </p:txBody>
      </p:sp>
      <p:sp>
        <p:nvSpPr>
          <p:cNvPr id="16" name="TextBox 15"/>
          <p:cNvSpPr txBox="1"/>
          <p:nvPr/>
        </p:nvSpPr>
        <p:spPr>
          <a:xfrm>
            <a:off x="5943600" y="4025646"/>
            <a:ext cx="1828800" cy="274320"/>
          </a:xfrm>
          <a:prstGeom prst="rect">
            <a:avLst/>
          </a:prstGeom>
          <a:noFill/>
        </p:spPr>
        <p:txBody>
          <a:bodyPr wrap="square" lIns="0" rIns="0" tIns="0" bIns="0" anchor="t">
            <a:noAutofit/>
          </a:bodyPr>
          <a:lstStyle/>
          <a:p>
            <a:pPr algn="l" marL="0" indent="0">
              <a:lnSpc>
                <a:spcPts val="1150"/>
              </a:lnSpc>
              <a:spcBef>
                <a:spcPts val="0"/>
              </a:spcBef>
              <a:spcAft>
                <a:spcPts val="0"/>
              </a:spcAft>
              <a:buNone/>
            </a:pPr>
            <a:r>
              <a:rPr sz="1150" b="1" i="0" spc="60">
                <a:solidFill>
                  <a:srgbClr val="1971C2"/>
                </a:solidFill>
                <a:latin typeface="Calibri"/>
              </a:rPr>
              <a:t>Worst case, not average</a:t>
            </a:r>
          </a:p>
        </p:txBody>
      </p:sp>
      <p:sp>
        <p:nvSpPr>
          <p:cNvPr id="17" name="Rectangle 16"/>
          <p:cNvSpPr/>
          <p:nvPr/>
        </p:nvSpPr>
        <p:spPr>
          <a:xfrm>
            <a:off x="548640" y="3970782"/>
            <a:ext cx="41148" cy="84353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070348"/>
            <a:ext cx="722376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5271516"/>
            <a:ext cx="7223760" cy="650748"/>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The non-determinism belongs to the model of the adversary, not to the environment. Confusing the two leads to using the wrong algorithm: averaging over an opponent who is actively choosing the worst reply is not caution, it is wishful thinking.</a:t>
            </a:r>
          </a:p>
        </p:txBody>
      </p:sp>
      <p:pic>
        <p:nvPicPr>
          <p:cNvPr id="20" name="Picture 19" descr="det_nondeterministic.png"/>
          <p:cNvPicPr>
            <a:picLocks noChangeAspect="1"/>
          </p:cNvPicPr>
          <p:nvPr/>
        </p:nvPicPr>
        <p:blipFill>
          <a:blip r:embed="rId2"/>
          <a:stretch>
            <a:fillRect/>
          </a:stretch>
        </p:blipFill>
        <p:spPr>
          <a:xfrm>
            <a:off x="8463257" y="1371600"/>
            <a:ext cx="2672093" cy="32918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3.7  DECISION STRUCTURE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Sequentiality is the property that makes reinforcement learning necessary</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22</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An environment is one-shot if the agent’s experience decomposes into independent decisions, and sequential if the current action can affect every decision that follows.</a:t>
            </a:r>
          </a:p>
        </p:txBody>
      </p:sp>
      <p:pic>
        <p:nvPicPr>
          <p:cNvPr id="9" name="Picture 8" descr="seq_oneshot.png"/>
          <p:cNvPicPr>
            <a:picLocks noChangeAspect="1"/>
          </p:cNvPicPr>
          <p:nvPr/>
        </p:nvPicPr>
        <p:blipFill>
          <a:blip r:embed="rId2"/>
          <a:stretch>
            <a:fillRect/>
          </a:stretch>
        </p:blipFill>
        <p:spPr>
          <a:xfrm>
            <a:off x="1781653" y="1917954"/>
            <a:ext cx="2532679" cy="2331720"/>
          </a:xfrm>
          <a:prstGeom prst="rect">
            <a:avLst/>
          </a:prstGeom>
        </p:spPr>
      </p:pic>
      <p:pic>
        <p:nvPicPr>
          <p:cNvPr id="10" name="Picture 9" descr="seq_sequential.png"/>
          <p:cNvPicPr>
            <a:picLocks noChangeAspect="1"/>
          </p:cNvPicPr>
          <p:nvPr/>
        </p:nvPicPr>
        <p:blipFill>
          <a:blip r:embed="rId3"/>
          <a:stretch>
            <a:fillRect/>
          </a:stretch>
        </p:blipFill>
        <p:spPr>
          <a:xfrm>
            <a:off x="7325347" y="1917954"/>
            <a:ext cx="2887451" cy="2331720"/>
          </a:xfrm>
          <a:prstGeom prst="rect">
            <a:avLst/>
          </a:prstGeom>
        </p:spPr>
      </p:pic>
      <p:sp>
        <p:nvSpPr>
          <p:cNvPr id="11" name="Rectangle 10"/>
          <p:cNvSpPr/>
          <p:nvPr/>
        </p:nvSpPr>
        <p:spPr>
          <a:xfrm>
            <a:off x="548640" y="45239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7434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ONE-SHOT</a:t>
            </a:r>
          </a:p>
          <a:p>
            <a:pPr algn="l" marL="0" indent="0">
              <a:lnSpc>
                <a:spcPts val="1400"/>
              </a:lnSpc>
              <a:spcBef>
                <a:spcPts val="500"/>
              </a:spcBef>
              <a:spcAft>
                <a:spcPts val="0"/>
              </a:spcAft>
              <a:buNone/>
            </a:pPr>
            <a:r>
              <a:rPr sz="1250" b="1" i="0">
                <a:solidFill>
                  <a:srgbClr val="16202A"/>
                </a:solidFill>
                <a:latin typeface="Calibri"/>
              </a:rPr>
              <a:t>Each decision stands alone</a:t>
            </a:r>
          </a:p>
          <a:p>
            <a:pPr algn="l" marL="0" indent="0">
              <a:lnSpc>
                <a:spcPts val="1380"/>
              </a:lnSpc>
              <a:spcBef>
                <a:spcPts val="500"/>
              </a:spcBef>
              <a:spcAft>
                <a:spcPts val="0"/>
              </a:spcAft>
              <a:buNone/>
            </a:pPr>
            <a:r>
              <a:rPr sz="1150" b="0" i="0">
                <a:solidFill>
                  <a:srgbClr val="5F6B76"/>
                </a:solidFill>
                <a:latin typeface="Calibri"/>
              </a:rPr>
              <a:t>In the multi-armed bandit, the reward from a pull depends only on the arm chosen. Pulling one arm changes nothing about what the others will pay next time.</a:t>
            </a:r>
          </a:p>
        </p:txBody>
      </p:sp>
      <p:sp>
        <p:nvSpPr>
          <p:cNvPr id="14" name="Rectangle 13"/>
          <p:cNvSpPr/>
          <p:nvPr/>
        </p:nvSpPr>
        <p:spPr>
          <a:xfrm>
            <a:off x="4350501" y="47434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SEQUENTIAL</a:t>
            </a:r>
          </a:p>
          <a:p>
            <a:pPr algn="l" marL="0" indent="0">
              <a:lnSpc>
                <a:spcPts val="1400"/>
              </a:lnSpc>
              <a:spcBef>
                <a:spcPts val="500"/>
              </a:spcBef>
              <a:spcAft>
                <a:spcPts val="0"/>
              </a:spcAft>
              <a:buNone/>
            </a:pPr>
            <a:r>
              <a:rPr sz="1250" b="1" i="0">
                <a:solidFill>
                  <a:srgbClr val="16202A"/>
                </a:solidFill>
                <a:latin typeface="Calibri"/>
              </a:rPr>
              <a:t>The present constrains the future</a:t>
            </a:r>
          </a:p>
          <a:p>
            <a:pPr algn="l" marL="0" indent="0">
              <a:lnSpc>
                <a:spcPts val="1380"/>
              </a:lnSpc>
              <a:spcBef>
                <a:spcPts val="500"/>
              </a:spcBef>
              <a:spcAft>
                <a:spcPts val="0"/>
              </a:spcAft>
              <a:buNone/>
            </a:pPr>
            <a:r>
              <a:rPr sz="1150" b="0" i="0">
                <a:solidFill>
                  <a:srgbClr val="5F6B76"/>
                </a:solidFill>
                <a:latin typeface="Calibri"/>
              </a:rPr>
              <a:t>A move in chess restricts the moves available later. Acting well requires reasoning about consequences over time, not about this step in isolation.</a:t>
            </a:r>
          </a:p>
        </p:txBody>
      </p:sp>
      <p:sp>
        <p:nvSpPr>
          <p:cNvPr id="16" name="Rectangle 15"/>
          <p:cNvSpPr/>
          <p:nvPr/>
        </p:nvSpPr>
        <p:spPr>
          <a:xfrm>
            <a:off x="8152363" y="474345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4889754"/>
            <a:ext cx="3490965" cy="117743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WHY IT MATTERS HERE</a:t>
            </a:r>
          </a:p>
          <a:p>
            <a:pPr algn="l" marL="0" indent="0">
              <a:lnSpc>
                <a:spcPts val="1400"/>
              </a:lnSpc>
              <a:spcBef>
                <a:spcPts val="500"/>
              </a:spcBef>
              <a:spcAft>
                <a:spcPts val="0"/>
              </a:spcAft>
              <a:buNone/>
            </a:pPr>
            <a:r>
              <a:rPr sz="1250" b="1" i="0">
                <a:solidFill>
                  <a:srgbClr val="16202A"/>
                </a:solidFill>
                <a:latin typeface="Calibri"/>
              </a:rPr>
              <a:t>This is the subject of the course</a:t>
            </a:r>
          </a:p>
          <a:p>
            <a:pPr algn="l" marL="0" indent="0">
              <a:lnSpc>
                <a:spcPts val="1380"/>
              </a:lnSpc>
              <a:spcBef>
                <a:spcPts val="500"/>
              </a:spcBef>
              <a:spcAft>
                <a:spcPts val="0"/>
              </a:spcAft>
              <a:buNone/>
            </a:pPr>
            <a:r>
              <a:rPr sz="1150" b="0" i="0">
                <a:solidFill>
                  <a:srgbClr val="5F6B76"/>
                </a:solidFill>
                <a:latin typeface="Calibri"/>
              </a:rPr>
              <a:t>Reinforcement learning is the study of sequential decision-making. Bandits (Chapter 04) are the one-shot special case, used to isolate exploration from everything else.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3.8  DYNAMICS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If the world moves while the agent thinks, deliberation has a deadline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23</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An environment is dynamic if it can change while the agent is deliberating, and static if it cannot. A third case is worth naming: the world is unchanged, but the agent’s score is not.</a:t>
            </a:r>
          </a:p>
        </p:txBody>
      </p:sp>
      <p:pic>
        <p:nvPicPr>
          <p:cNvPr id="9" name="Picture 8" descr="dyn_dynamic.png"/>
          <p:cNvPicPr>
            <a:picLocks noChangeAspect="1"/>
          </p:cNvPicPr>
          <p:nvPr/>
        </p:nvPicPr>
        <p:blipFill>
          <a:blip r:embed="rId2"/>
          <a:stretch>
            <a:fillRect/>
          </a:stretch>
        </p:blipFill>
        <p:spPr>
          <a:xfrm>
            <a:off x="1383141" y="1917954"/>
            <a:ext cx="2226032" cy="2331720"/>
          </a:xfrm>
          <a:prstGeom prst="rect">
            <a:avLst/>
          </a:prstGeom>
        </p:spPr>
      </p:pic>
      <p:pic>
        <p:nvPicPr>
          <p:cNvPr id="10" name="Picture 9" descr="dyn_semi.png"/>
          <p:cNvPicPr>
            <a:picLocks noChangeAspect="1"/>
          </p:cNvPicPr>
          <p:nvPr/>
        </p:nvPicPr>
        <p:blipFill>
          <a:blip r:embed="rId3"/>
          <a:stretch>
            <a:fillRect/>
          </a:stretch>
        </p:blipFill>
        <p:spPr>
          <a:xfrm>
            <a:off x="5570550" y="1917954"/>
            <a:ext cx="2530982" cy="2331720"/>
          </a:xfrm>
          <a:prstGeom prst="rect">
            <a:avLst/>
          </a:prstGeom>
        </p:spPr>
      </p:pic>
      <p:pic>
        <p:nvPicPr>
          <p:cNvPr id="11" name="Picture 10" descr="dyn_static.png"/>
          <p:cNvPicPr>
            <a:picLocks noChangeAspect="1"/>
          </p:cNvPicPr>
          <p:nvPr/>
        </p:nvPicPr>
        <p:blipFill>
          <a:blip r:embed="rId4"/>
          <a:stretch>
            <a:fillRect/>
          </a:stretch>
        </p:blipFill>
        <p:spPr>
          <a:xfrm>
            <a:off x="9727962" y="1917954"/>
            <a:ext cx="1415811" cy="2331720"/>
          </a:xfrm>
          <a:prstGeom prst="rect">
            <a:avLst/>
          </a:prstGeom>
        </p:spPr>
      </p:pic>
      <p:sp>
        <p:nvSpPr>
          <p:cNvPr id="12" name="Rectangle 11"/>
          <p:cNvSpPr/>
          <p:nvPr/>
        </p:nvSpPr>
        <p:spPr>
          <a:xfrm>
            <a:off x="548640" y="45239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47434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DYNAMIC</a:t>
            </a:r>
          </a:p>
          <a:p>
            <a:pPr algn="l" marL="0" indent="0">
              <a:lnSpc>
                <a:spcPts val="1400"/>
              </a:lnSpc>
              <a:spcBef>
                <a:spcPts val="500"/>
              </a:spcBef>
              <a:spcAft>
                <a:spcPts val="0"/>
              </a:spcAft>
              <a:buNone/>
            </a:pPr>
            <a:r>
              <a:rPr sz="1250" b="1" i="0">
                <a:solidFill>
                  <a:srgbClr val="16202A"/>
                </a:solidFill>
                <a:latin typeface="Calibri"/>
              </a:rPr>
              <a:t>Inaction is itself a choice</a:t>
            </a:r>
          </a:p>
          <a:p>
            <a:pPr algn="l" marL="0" indent="0">
              <a:lnSpc>
                <a:spcPts val="1380"/>
              </a:lnSpc>
              <a:spcBef>
                <a:spcPts val="500"/>
              </a:spcBef>
              <a:spcAft>
                <a:spcPts val="0"/>
              </a:spcAft>
              <a:buNone/>
            </a:pPr>
            <a:r>
              <a:rPr sz="1150" b="0" i="0">
                <a:solidFill>
                  <a:srgbClr val="5F6B76"/>
                </a:solidFill>
                <a:latin typeface="Calibri"/>
              </a:rPr>
              <a:t>While the driving agent deliberates, the world moves on. Failing to decide is equivalent to choosing to do nothing, and it has consequences.</a:t>
            </a:r>
          </a:p>
        </p:txBody>
      </p:sp>
      <p:sp>
        <p:nvSpPr>
          <p:cNvPr id="15" name="Rectangle 14"/>
          <p:cNvSpPr/>
          <p:nvPr/>
        </p:nvSpPr>
        <p:spPr>
          <a:xfrm>
            <a:off x="4350501" y="474345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350501"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SEMI-DYNAMIC</a:t>
            </a:r>
          </a:p>
          <a:p>
            <a:pPr algn="l" marL="0" indent="0">
              <a:lnSpc>
                <a:spcPts val="1400"/>
              </a:lnSpc>
              <a:spcBef>
                <a:spcPts val="500"/>
              </a:spcBef>
              <a:spcAft>
                <a:spcPts val="0"/>
              </a:spcAft>
              <a:buNone/>
            </a:pPr>
            <a:r>
              <a:rPr sz="1250" b="1" i="0">
                <a:solidFill>
                  <a:srgbClr val="16202A"/>
                </a:solidFill>
                <a:latin typeface="Calibri"/>
              </a:rPr>
              <a:t>The world waits; the clock does not</a:t>
            </a:r>
          </a:p>
          <a:p>
            <a:pPr algn="l" marL="0" indent="0">
              <a:lnSpc>
                <a:spcPts val="1380"/>
              </a:lnSpc>
              <a:spcBef>
                <a:spcPts val="500"/>
              </a:spcBef>
              <a:spcAft>
                <a:spcPts val="0"/>
              </a:spcAft>
              <a:buNone/>
            </a:pPr>
            <a:r>
              <a:rPr sz="1150" b="0" i="0">
                <a:solidFill>
                  <a:srgbClr val="5F6B76"/>
                </a:solidFill>
                <a:latin typeface="Calibri"/>
              </a:rPr>
              <a:t>In chess with a clock the position is unchanged while the agent thinks, but the performance measure degrades with every second spent.</a:t>
            </a:r>
          </a:p>
        </p:txBody>
      </p:sp>
      <p:sp>
        <p:nvSpPr>
          <p:cNvPr id="17" name="Rectangle 16"/>
          <p:cNvSpPr/>
          <p:nvPr/>
        </p:nvSpPr>
        <p:spPr>
          <a:xfrm>
            <a:off x="8152363" y="47434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52363" y="4889754"/>
            <a:ext cx="3490965" cy="82691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STATIC</a:t>
            </a:r>
          </a:p>
          <a:p>
            <a:pPr algn="l" marL="0" indent="0">
              <a:lnSpc>
                <a:spcPts val="1400"/>
              </a:lnSpc>
              <a:spcBef>
                <a:spcPts val="500"/>
              </a:spcBef>
              <a:spcAft>
                <a:spcPts val="0"/>
              </a:spcAft>
              <a:buNone/>
            </a:pPr>
            <a:r>
              <a:rPr sz="1250" b="1" i="0">
                <a:solidFill>
                  <a:srgbClr val="16202A"/>
                </a:solidFill>
                <a:latin typeface="Calibri"/>
              </a:rPr>
              <a:t>No pressure to act at all</a:t>
            </a:r>
          </a:p>
          <a:p>
            <a:pPr algn="l" marL="0" indent="0">
              <a:lnSpc>
                <a:spcPts val="1380"/>
              </a:lnSpc>
              <a:spcBef>
                <a:spcPts val="500"/>
              </a:spcBef>
              <a:spcAft>
                <a:spcPts val="0"/>
              </a:spcAft>
              <a:buNone/>
            </a:pPr>
            <a:r>
              <a:rPr sz="1150" b="0" i="0">
                <a:solidFill>
                  <a:srgbClr val="5F6B76"/>
                </a:solidFill>
                <a:latin typeface="Calibri"/>
              </a:rPr>
              <a:t>A crossword puzzle waits indefinitely. The agent need not monitor the world or worry about time while choosing.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3.9  CONTINUITY</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Discreteness is what makes enumeration possible — and it usually fails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24</a:t>
            </a:r>
          </a:p>
        </p:txBody>
      </p:sp>
      <p:sp>
        <p:nvSpPr>
          <p:cNvPr id="8" name="TextBox 7"/>
          <p:cNvSpPr txBox="1"/>
          <p:nvPr/>
        </p:nvSpPr>
        <p:spPr>
          <a:xfrm>
            <a:off x="548640" y="1280160"/>
            <a:ext cx="11094689" cy="245745"/>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discrete/continuous distinction applies separately to four things: the state of the environment, time, the agent’s percepts, and its actions.</a:t>
            </a:r>
          </a:p>
        </p:txBody>
      </p:sp>
      <p:pic>
        <p:nvPicPr>
          <p:cNvPr id="9" name="Picture 8" descr="cont_discrete.png"/>
          <p:cNvPicPr>
            <a:picLocks noChangeAspect="1"/>
          </p:cNvPicPr>
          <p:nvPr/>
        </p:nvPicPr>
        <p:blipFill>
          <a:blip r:embed="rId2"/>
          <a:stretch>
            <a:fillRect/>
          </a:stretch>
        </p:blipFill>
        <p:spPr>
          <a:xfrm>
            <a:off x="1211254" y="1708785"/>
            <a:ext cx="3696836" cy="2331720"/>
          </a:xfrm>
          <a:prstGeom prst="rect">
            <a:avLst/>
          </a:prstGeom>
        </p:spPr>
      </p:pic>
      <p:pic>
        <p:nvPicPr>
          <p:cNvPr id="10" name="Picture 9" descr="cont_continuous.png"/>
          <p:cNvPicPr>
            <a:picLocks noChangeAspect="1"/>
          </p:cNvPicPr>
          <p:nvPr/>
        </p:nvPicPr>
        <p:blipFill>
          <a:blip r:embed="rId3"/>
          <a:stretch>
            <a:fillRect/>
          </a:stretch>
        </p:blipFill>
        <p:spPr>
          <a:xfrm>
            <a:off x="6777965" y="1708785"/>
            <a:ext cx="4005575" cy="2331720"/>
          </a:xfrm>
          <a:prstGeom prst="rect">
            <a:avLst/>
          </a:prstGeom>
        </p:spPr>
      </p:pic>
      <p:sp>
        <p:nvSpPr>
          <p:cNvPr id="11" name="Rectangle 10"/>
          <p:cNvSpPr/>
          <p:nvPr/>
        </p:nvSpPr>
        <p:spPr>
          <a:xfrm>
            <a:off x="548640" y="431482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53428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68058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DISCRETE</a:t>
            </a:r>
          </a:p>
          <a:p>
            <a:pPr algn="l" marL="0" indent="0">
              <a:lnSpc>
                <a:spcPts val="1400"/>
              </a:lnSpc>
              <a:spcBef>
                <a:spcPts val="500"/>
              </a:spcBef>
              <a:spcAft>
                <a:spcPts val="0"/>
              </a:spcAft>
              <a:buNone/>
            </a:pPr>
            <a:r>
              <a:rPr sz="1250" b="1" i="0">
                <a:solidFill>
                  <a:srgbClr val="16202A"/>
                </a:solidFill>
                <a:latin typeface="Calibri"/>
              </a:rPr>
              <a:t>Finitely many states, percepts and actions</a:t>
            </a:r>
          </a:p>
          <a:p>
            <a:pPr algn="l" marL="0" indent="0">
              <a:lnSpc>
                <a:spcPts val="1380"/>
              </a:lnSpc>
              <a:spcBef>
                <a:spcPts val="500"/>
              </a:spcBef>
              <a:spcAft>
                <a:spcPts val="0"/>
              </a:spcAft>
              <a:buNone/>
            </a:pPr>
            <a:r>
              <a:rPr sz="1150" b="0" i="0">
                <a:solidFill>
                  <a:srgbClr val="5F6B76"/>
                </a:solidFill>
                <a:latin typeface="Calibri"/>
              </a:rPr>
              <a:t>Chess has a finite (if astronomical) state set, turn-based time, a finite percept set and a finite set of legal moves. Every quantity can in principle be tabulated.</a:t>
            </a:r>
          </a:p>
        </p:txBody>
      </p:sp>
      <p:sp>
        <p:nvSpPr>
          <p:cNvPr id="14" name="Rectangle 13"/>
          <p:cNvSpPr/>
          <p:nvPr/>
        </p:nvSpPr>
        <p:spPr>
          <a:xfrm>
            <a:off x="4350501" y="453428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468058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CONTINUOUS</a:t>
            </a:r>
          </a:p>
          <a:p>
            <a:pPr algn="l" marL="0" indent="0">
              <a:lnSpc>
                <a:spcPts val="1400"/>
              </a:lnSpc>
              <a:spcBef>
                <a:spcPts val="500"/>
              </a:spcBef>
              <a:spcAft>
                <a:spcPts val="0"/>
              </a:spcAft>
              <a:buNone/>
            </a:pPr>
            <a:r>
              <a:rPr sz="1250" b="1" i="0">
                <a:solidFill>
                  <a:srgbClr val="16202A"/>
                </a:solidFill>
                <a:latin typeface="Calibri"/>
              </a:rPr>
              <a:t>Smoothly varying quantities</a:t>
            </a:r>
          </a:p>
          <a:p>
            <a:pPr algn="l" marL="0" indent="0">
              <a:lnSpc>
                <a:spcPts val="1380"/>
              </a:lnSpc>
              <a:spcBef>
                <a:spcPts val="500"/>
              </a:spcBef>
              <a:spcAft>
                <a:spcPts val="0"/>
              </a:spcAft>
              <a:buNone/>
            </a:pPr>
            <a:r>
              <a:rPr sz="1150" b="0" i="0">
                <a:solidFill>
                  <a:srgbClr val="5F6B76"/>
                </a:solidFill>
                <a:latin typeface="Calibri"/>
              </a:rPr>
              <a:t>Driving involves continuous position, speed and heading, continuous time, continuous sensor readings and continuous controls such as a steering angle.</a:t>
            </a:r>
          </a:p>
        </p:txBody>
      </p:sp>
      <p:sp>
        <p:nvSpPr>
          <p:cNvPr id="16" name="Rectangle 15"/>
          <p:cNvSpPr/>
          <p:nvPr/>
        </p:nvSpPr>
        <p:spPr>
          <a:xfrm>
            <a:off x="8152363" y="453428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4680584"/>
            <a:ext cx="3490965" cy="117743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WHAT THIS FORCES</a:t>
            </a:r>
          </a:p>
          <a:p>
            <a:pPr algn="l" marL="0" indent="0">
              <a:lnSpc>
                <a:spcPts val="1400"/>
              </a:lnSpc>
              <a:spcBef>
                <a:spcPts val="500"/>
              </a:spcBef>
              <a:spcAft>
                <a:spcPts val="0"/>
              </a:spcAft>
              <a:buNone/>
            </a:pPr>
            <a:r>
              <a:rPr sz="1250" b="1" i="0">
                <a:solidFill>
                  <a:srgbClr val="16202A"/>
                </a:solidFill>
                <a:latin typeface="Calibri"/>
              </a:rPr>
              <a:t>Tables give way to functions</a:t>
            </a:r>
          </a:p>
          <a:p>
            <a:pPr algn="l" marL="0" indent="0">
              <a:lnSpc>
                <a:spcPts val="1380"/>
              </a:lnSpc>
              <a:spcBef>
                <a:spcPts val="500"/>
              </a:spcBef>
              <a:spcAft>
                <a:spcPts val="0"/>
              </a:spcAft>
              <a:buNone/>
            </a:pPr>
            <a:r>
              <a:rPr sz="1150" b="0" i="0">
                <a:solidFill>
                  <a:srgbClr val="5F6B76"/>
                </a:solidFill>
                <a:latin typeface="Calibri"/>
              </a:rPr>
              <a:t>A continuous state space cannot be enumerated at all. Values and policies must be represented by parameterised functions — the subject of function approximation later in the course.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3.10  KNOWLEDGE OF THE RULES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Known versus unknown is not the same distinction as observable versus hidden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25</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This dimension concerns the agent’s understanding of how the environment works — the outcomes or probabilities of its actions — and not what it can currently see.</a:t>
            </a:r>
          </a:p>
        </p:txBody>
      </p:sp>
      <p:pic>
        <p:nvPicPr>
          <p:cNvPr id="9" name="Picture 8" descr="known_known.png"/>
          <p:cNvPicPr>
            <a:picLocks noChangeAspect="1"/>
          </p:cNvPicPr>
          <p:nvPr/>
        </p:nvPicPr>
        <p:blipFill>
          <a:blip r:embed="rId2"/>
          <a:stretch>
            <a:fillRect/>
          </a:stretch>
        </p:blipFill>
        <p:spPr>
          <a:xfrm>
            <a:off x="1717612" y="1917954"/>
            <a:ext cx="2904599" cy="2331720"/>
          </a:xfrm>
          <a:prstGeom prst="rect">
            <a:avLst/>
          </a:prstGeom>
        </p:spPr>
      </p:pic>
      <p:pic>
        <p:nvPicPr>
          <p:cNvPr id="10" name="Picture 9" descr="known_unknown.png"/>
          <p:cNvPicPr>
            <a:picLocks noChangeAspect="1"/>
          </p:cNvPicPr>
          <p:nvPr/>
        </p:nvPicPr>
        <p:blipFill>
          <a:blip r:embed="rId3"/>
          <a:stretch>
            <a:fillRect/>
          </a:stretch>
        </p:blipFill>
        <p:spPr>
          <a:xfrm>
            <a:off x="7480932" y="1917954"/>
            <a:ext cx="2820120" cy="2331720"/>
          </a:xfrm>
          <a:prstGeom prst="rect">
            <a:avLst/>
          </a:prstGeom>
        </p:spPr>
      </p:pic>
      <p:sp>
        <p:nvSpPr>
          <p:cNvPr id="11" name="Rectangle 10"/>
          <p:cNvSpPr/>
          <p:nvPr/>
        </p:nvSpPr>
        <p:spPr>
          <a:xfrm>
            <a:off x="548640" y="45239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7434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KNOWN</a:t>
            </a:r>
          </a:p>
          <a:p>
            <a:pPr algn="l" marL="0" indent="0">
              <a:lnSpc>
                <a:spcPts val="1400"/>
              </a:lnSpc>
              <a:spcBef>
                <a:spcPts val="500"/>
              </a:spcBef>
              <a:spcAft>
                <a:spcPts val="0"/>
              </a:spcAft>
              <a:buNone/>
            </a:pPr>
            <a:r>
              <a:rPr sz="1250" b="1" i="0">
                <a:solidFill>
                  <a:srgbClr val="16202A"/>
                </a:solidFill>
                <a:latin typeface="Calibri"/>
              </a:rPr>
              <a:t>The dynamics are given</a:t>
            </a:r>
          </a:p>
          <a:p>
            <a:pPr algn="l" marL="0" indent="0">
              <a:lnSpc>
                <a:spcPts val="1380"/>
              </a:lnSpc>
              <a:spcBef>
                <a:spcPts val="500"/>
              </a:spcBef>
              <a:spcAft>
                <a:spcPts val="0"/>
              </a:spcAft>
              <a:buNone/>
            </a:pPr>
            <a:r>
              <a:rPr sz="1150" b="0" i="0">
                <a:solidFill>
                  <a:srgbClr val="5F6B76"/>
                </a:solidFill>
                <a:latin typeface="Calibri"/>
              </a:rPr>
              <a:t>In solitaire the rules — how cards move, how scoring works, what ends the game — are known from the outset, even though many cards are face down.</a:t>
            </a:r>
          </a:p>
        </p:txBody>
      </p:sp>
      <p:sp>
        <p:nvSpPr>
          <p:cNvPr id="14" name="Rectangle 13"/>
          <p:cNvSpPr/>
          <p:nvPr/>
        </p:nvSpPr>
        <p:spPr>
          <a:xfrm>
            <a:off x="4350501" y="47434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UNKNOWN</a:t>
            </a:r>
          </a:p>
          <a:p>
            <a:pPr algn="l" marL="0" indent="0">
              <a:lnSpc>
                <a:spcPts val="1400"/>
              </a:lnSpc>
              <a:spcBef>
                <a:spcPts val="500"/>
              </a:spcBef>
              <a:spcAft>
                <a:spcPts val="0"/>
              </a:spcAft>
              <a:buNone/>
            </a:pPr>
            <a:r>
              <a:rPr sz="1250" b="1" i="0">
                <a:solidFill>
                  <a:srgbClr val="16202A"/>
                </a:solidFill>
                <a:latin typeface="Calibri"/>
              </a:rPr>
              <a:t>The dynamics must be discovered</a:t>
            </a:r>
          </a:p>
          <a:p>
            <a:pPr algn="l" marL="0" indent="0">
              <a:lnSpc>
                <a:spcPts val="1380"/>
              </a:lnSpc>
              <a:spcBef>
                <a:spcPts val="500"/>
              </a:spcBef>
              <a:spcAft>
                <a:spcPts val="0"/>
              </a:spcAft>
              <a:buNone/>
            </a:pPr>
            <a:r>
              <a:rPr sz="1150" b="0" i="0">
                <a:solidFill>
                  <a:srgbClr val="5F6B76"/>
                </a:solidFill>
                <a:latin typeface="Calibri"/>
              </a:rPr>
              <a:t>In a new video game the whole screen may be visible, yet the agent does not know what its buttons do or how the world will respond. It has to experiment.</a:t>
            </a:r>
          </a:p>
        </p:txBody>
      </p:sp>
      <p:sp>
        <p:nvSpPr>
          <p:cNvPr id="16" name="Rectangle 15"/>
          <p:cNvSpPr/>
          <p:nvPr/>
        </p:nvSpPr>
        <p:spPr>
          <a:xfrm>
            <a:off x="8152363" y="474345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48897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THE TWO AXES ARE INDEPENDENT</a:t>
            </a:r>
          </a:p>
          <a:p>
            <a:pPr algn="l" marL="0" indent="0">
              <a:lnSpc>
                <a:spcPts val="1400"/>
              </a:lnSpc>
              <a:spcBef>
                <a:spcPts val="500"/>
              </a:spcBef>
              <a:spcAft>
                <a:spcPts val="0"/>
              </a:spcAft>
              <a:buNone/>
            </a:pPr>
            <a:r>
              <a:rPr sz="1250" b="1" i="0">
                <a:solidFill>
                  <a:srgbClr val="16202A"/>
                </a:solidFill>
                <a:latin typeface="Calibri"/>
              </a:rPr>
              <a:t>Solitaire and the video game are opposite corners</a:t>
            </a:r>
          </a:p>
          <a:p>
            <a:pPr algn="l" marL="0" indent="0">
              <a:lnSpc>
                <a:spcPts val="1380"/>
              </a:lnSpc>
              <a:spcBef>
                <a:spcPts val="500"/>
              </a:spcBef>
              <a:spcAft>
                <a:spcPts val="0"/>
              </a:spcAft>
              <a:buNone/>
            </a:pPr>
            <a:r>
              <a:rPr sz="1150" b="0" i="0">
                <a:solidFill>
                  <a:srgbClr val="5F6B76"/>
                </a:solidFill>
                <a:latin typeface="Calibri"/>
              </a:rPr>
              <a:t>Solitaire: known rules, partial observability. The new game: unknown rules, full observability. Confusing the two leads to solving the wrong problem.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3.11  TEN ENVIRONMENTS, SEVEN DIMENSIONS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Reading the table row by row predicts what the agent program will need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III — Properties of the environment</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26</a:t>
            </a:r>
          </a:p>
        </p:txBody>
      </p:sp>
      <p:sp>
        <p:nvSpPr>
          <p:cNvPr id="8" name="TextBox 7"/>
          <p:cNvSpPr txBox="1"/>
          <p:nvPr/>
        </p:nvSpPr>
        <p:spPr>
          <a:xfrm>
            <a:off x="548640" y="1280160"/>
            <a:ext cx="11094689" cy="237998"/>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Each row is a task; each column is one of the dimensions just introduced. The right-hand column names the single property that most constrains the design.</a:t>
            </a:r>
          </a:p>
        </p:txBody>
      </p:sp>
      <p:sp>
        <p:nvSpPr>
          <p:cNvPr id="9" name="Rectangle 8"/>
          <p:cNvSpPr/>
          <p:nvPr/>
        </p:nvSpPr>
        <p:spPr>
          <a:xfrm>
            <a:off x="548640" y="1719326"/>
            <a:ext cx="11094689" cy="277083"/>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776018"/>
            <a:ext cx="1920239"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Environment</a:t>
            </a:r>
          </a:p>
        </p:txBody>
      </p:sp>
      <p:sp>
        <p:nvSpPr>
          <p:cNvPr id="11" name="TextBox 10"/>
          <p:cNvSpPr txBox="1"/>
          <p:nvPr/>
        </p:nvSpPr>
        <p:spPr>
          <a:xfrm>
            <a:off x="2743200" y="1776018"/>
            <a:ext cx="1234440"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Observable</a:t>
            </a:r>
          </a:p>
        </p:txBody>
      </p:sp>
      <p:sp>
        <p:nvSpPr>
          <p:cNvPr id="12" name="TextBox 11"/>
          <p:cNvSpPr txBox="1"/>
          <p:nvPr/>
        </p:nvSpPr>
        <p:spPr>
          <a:xfrm>
            <a:off x="4160520" y="1776018"/>
            <a:ext cx="1005840"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Agents</a:t>
            </a:r>
          </a:p>
        </p:txBody>
      </p:sp>
      <p:sp>
        <p:nvSpPr>
          <p:cNvPr id="13" name="TextBox 12"/>
          <p:cNvSpPr txBox="1"/>
          <p:nvPr/>
        </p:nvSpPr>
        <p:spPr>
          <a:xfrm>
            <a:off x="5349240" y="1776018"/>
            <a:ext cx="1691639"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Determinism</a:t>
            </a:r>
          </a:p>
        </p:txBody>
      </p:sp>
      <p:sp>
        <p:nvSpPr>
          <p:cNvPr id="14" name="TextBox 13"/>
          <p:cNvSpPr txBox="1"/>
          <p:nvPr/>
        </p:nvSpPr>
        <p:spPr>
          <a:xfrm>
            <a:off x="7223759" y="1776018"/>
            <a:ext cx="1280160"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Decisions</a:t>
            </a:r>
          </a:p>
        </p:txBody>
      </p:sp>
      <p:sp>
        <p:nvSpPr>
          <p:cNvPr id="15" name="TextBox 14"/>
          <p:cNvSpPr txBox="1"/>
          <p:nvPr/>
        </p:nvSpPr>
        <p:spPr>
          <a:xfrm>
            <a:off x="8686800" y="1776018"/>
            <a:ext cx="1188720"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Dynamics</a:t>
            </a:r>
          </a:p>
        </p:txBody>
      </p:sp>
      <p:sp>
        <p:nvSpPr>
          <p:cNvPr id="16" name="TextBox 15"/>
          <p:cNvSpPr txBox="1"/>
          <p:nvPr/>
        </p:nvSpPr>
        <p:spPr>
          <a:xfrm>
            <a:off x="10058400" y="1776018"/>
            <a:ext cx="1490472" cy="163697"/>
          </a:xfrm>
          <a:prstGeom prst="rect">
            <a:avLst/>
          </a:prstGeom>
          <a:noFill/>
        </p:spPr>
        <p:txBody>
          <a:bodyPr wrap="square" lIns="0" rIns="0" tIns="0" bIns="0" anchor="ctr">
            <a:noAutofit/>
          </a:bodyPr>
          <a:lstStyle/>
          <a:p>
            <a:pPr algn="l" marL="0" indent="0">
              <a:lnSpc>
                <a:spcPts val="1108"/>
              </a:lnSpc>
              <a:spcBef>
                <a:spcPts val="0"/>
              </a:spcBef>
              <a:spcAft>
                <a:spcPts val="0"/>
              </a:spcAft>
              <a:buNone/>
            </a:pPr>
            <a:r>
              <a:rPr sz="1007" b="1" i="0" spc="60">
                <a:solidFill>
                  <a:srgbClr val="FFFFFF"/>
                </a:solidFill>
                <a:latin typeface="Calibri"/>
              </a:rPr>
              <a:t>Continuity</a:t>
            </a:r>
          </a:p>
        </p:txBody>
      </p:sp>
      <p:sp>
        <p:nvSpPr>
          <p:cNvPr id="17" name="TextBox 16"/>
          <p:cNvSpPr txBox="1"/>
          <p:nvPr/>
        </p:nvSpPr>
        <p:spPr>
          <a:xfrm>
            <a:off x="640080" y="2053102"/>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Crossword puzzle</a:t>
            </a:r>
          </a:p>
        </p:txBody>
      </p:sp>
      <p:sp>
        <p:nvSpPr>
          <p:cNvPr id="18" name="TextBox 17"/>
          <p:cNvSpPr txBox="1"/>
          <p:nvPr/>
        </p:nvSpPr>
        <p:spPr>
          <a:xfrm>
            <a:off x="2743200" y="2053102"/>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Fully</a:t>
            </a:r>
          </a:p>
        </p:txBody>
      </p:sp>
      <p:sp>
        <p:nvSpPr>
          <p:cNvPr id="19" name="TextBox 18"/>
          <p:cNvSpPr txBox="1"/>
          <p:nvPr/>
        </p:nvSpPr>
        <p:spPr>
          <a:xfrm>
            <a:off x="4160520" y="2053102"/>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Single</a:t>
            </a:r>
          </a:p>
        </p:txBody>
      </p:sp>
      <p:sp>
        <p:nvSpPr>
          <p:cNvPr id="20" name="TextBox 19"/>
          <p:cNvSpPr txBox="1"/>
          <p:nvPr/>
        </p:nvSpPr>
        <p:spPr>
          <a:xfrm>
            <a:off x="5349240" y="2053102"/>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Deterministic</a:t>
            </a:r>
          </a:p>
        </p:txBody>
      </p:sp>
      <p:sp>
        <p:nvSpPr>
          <p:cNvPr id="21" name="TextBox 20"/>
          <p:cNvSpPr txBox="1"/>
          <p:nvPr/>
        </p:nvSpPr>
        <p:spPr>
          <a:xfrm>
            <a:off x="7223759" y="2053102"/>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22" name="TextBox 21"/>
          <p:cNvSpPr txBox="1"/>
          <p:nvPr/>
        </p:nvSpPr>
        <p:spPr>
          <a:xfrm>
            <a:off x="8686800" y="2053102"/>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Static</a:t>
            </a:r>
          </a:p>
        </p:txBody>
      </p:sp>
      <p:sp>
        <p:nvSpPr>
          <p:cNvPr id="23" name="TextBox 22"/>
          <p:cNvSpPr txBox="1"/>
          <p:nvPr/>
        </p:nvSpPr>
        <p:spPr>
          <a:xfrm>
            <a:off x="10058400" y="2053102"/>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Discrete</a:t>
            </a:r>
          </a:p>
        </p:txBody>
      </p:sp>
      <p:sp>
        <p:nvSpPr>
          <p:cNvPr id="24" name="Rectangle 23"/>
          <p:cNvSpPr/>
          <p:nvPr/>
        </p:nvSpPr>
        <p:spPr>
          <a:xfrm>
            <a:off x="548640" y="2293030"/>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2298517"/>
            <a:ext cx="11094689" cy="30210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 y="2355209"/>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Chess with a clock</a:t>
            </a:r>
          </a:p>
        </p:txBody>
      </p:sp>
      <p:sp>
        <p:nvSpPr>
          <p:cNvPr id="27" name="TextBox 26"/>
          <p:cNvSpPr txBox="1"/>
          <p:nvPr/>
        </p:nvSpPr>
        <p:spPr>
          <a:xfrm>
            <a:off x="2743200" y="2355209"/>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Fully</a:t>
            </a:r>
          </a:p>
        </p:txBody>
      </p:sp>
      <p:sp>
        <p:nvSpPr>
          <p:cNvPr id="28" name="TextBox 27"/>
          <p:cNvSpPr txBox="1"/>
          <p:nvPr/>
        </p:nvSpPr>
        <p:spPr>
          <a:xfrm>
            <a:off x="4160520" y="2355209"/>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Multi</a:t>
            </a:r>
          </a:p>
        </p:txBody>
      </p:sp>
      <p:sp>
        <p:nvSpPr>
          <p:cNvPr id="29" name="TextBox 28"/>
          <p:cNvSpPr txBox="1"/>
          <p:nvPr/>
        </p:nvSpPr>
        <p:spPr>
          <a:xfrm>
            <a:off x="5349240" y="2355209"/>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Non-deterministic</a:t>
            </a:r>
          </a:p>
        </p:txBody>
      </p:sp>
      <p:sp>
        <p:nvSpPr>
          <p:cNvPr id="30" name="TextBox 29"/>
          <p:cNvSpPr txBox="1"/>
          <p:nvPr/>
        </p:nvSpPr>
        <p:spPr>
          <a:xfrm>
            <a:off x="7223759" y="2355209"/>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31" name="TextBox 30"/>
          <p:cNvSpPr txBox="1"/>
          <p:nvPr/>
        </p:nvSpPr>
        <p:spPr>
          <a:xfrm>
            <a:off x="8686800" y="2355209"/>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Semi</a:t>
            </a:r>
          </a:p>
        </p:txBody>
      </p:sp>
      <p:sp>
        <p:nvSpPr>
          <p:cNvPr id="32" name="TextBox 31"/>
          <p:cNvSpPr txBox="1"/>
          <p:nvPr/>
        </p:nvSpPr>
        <p:spPr>
          <a:xfrm>
            <a:off x="10058400" y="2355209"/>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Discrete</a:t>
            </a:r>
          </a:p>
        </p:txBody>
      </p:sp>
      <p:sp>
        <p:nvSpPr>
          <p:cNvPr id="33" name="Rectangle 32"/>
          <p:cNvSpPr/>
          <p:nvPr/>
        </p:nvSpPr>
        <p:spPr>
          <a:xfrm>
            <a:off x="548640" y="2595138"/>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2657317"/>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Poker</a:t>
            </a:r>
          </a:p>
        </p:txBody>
      </p:sp>
      <p:sp>
        <p:nvSpPr>
          <p:cNvPr id="35" name="TextBox 34"/>
          <p:cNvSpPr txBox="1"/>
          <p:nvPr/>
        </p:nvSpPr>
        <p:spPr>
          <a:xfrm>
            <a:off x="2743200" y="2657317"/>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36" name="TextBox 35"/>
          <p:cNvSpPr txBox="1"/>
          <p:nvPr/>
        </p:nvSpPr>
        <p:spPr>
          <a:xfrm>
            <a:off x="4160520" y="2657317"/>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Multi</a:t>
            </a:r>
          </a:p>
        </p:txBody>
      </p:sp>
      <p:sp>
        <p:nvSpPr>
          <p:cNvPr id="37" name="TextBox 36"/>
          <p:cNvSpPr txBox="1"/>
          <p:nvPr/>
        </p:nvSpPr>
        <p:spPr>
          <a:xfrm>
            <a:off x="5349240" y="2657317"/>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38" name="TextBox 37"/>
          <p:cNvSpPr txBox="1"/>
          <p:nvPr/>
        </p:nvSpPr>
        <p:spPr>
          <a:xfrm>
            <a:off x="7223759" y="2657317"/>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39" name="TextBox 38"/>
          <p:cNvSpPr txBox="1"/>
          <p:nvPr/>
        </p:nvSpPr>
        <p:spPr>
          <a:xfrm>
            <a:off x="8686800" y="2657317"/>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Static</a:t>
            </a:r>
          </a:p>
        </p:txBody>
      </p:sp>
      <p:sp>
        <p:nvSpPr>
          <p:cNvPr id="40" name="TextBox 39"/>
          <p:cNvSpPr txBox="1"/>
          <p:nvPr/>
        </p:nvSpPr>
        <p:spPr>
          <a:xfrm>
            <a:off x="10058400" y="2657317"/>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Discrete</a:t>
            </a:r>
          </a:p>
        </p:txBody>
      </p:sp>
      <p:sp>
        <p:nvSpPr>
          <p:cNvPr id="41" name="Rectangle 40"/>
          <p:cNvSpPr/>
          <p:nvPr/>
        </p:nvSpPr>
        <p:spPr>
          <a:xfrm>
            <a:off x="548640" y="2897245"/>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548640" y="2902732"/>
            <a:ext cx="11094689" cy="30210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0080" y="2959425"/>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Backgammon</a:t>
            </a:r>
          </a:p>
        </p:txBody>
      </p:sp>
      <p:sp>
        <p:nvSpPr>
          <p:cNvPr id="44" name="TextBox 43"/>
          <p:cNvSpPr txBox="1"/>
          <p:nvPr/>
        </p:nvSpPr>
        <p:spPr>
          <a:xfrm>
            <a:off x="2743200" y="2959425"/>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Fully</a:t>
            </a:r>
          </a:p>
        </p:txBody>
      </p:sp>
      <p:sp>
        <p:nvSpPr>
          <p:cNvPr id="45" name="TextBox 44"/>
          <p:cNvSpPr txBox="1"/>
          <p:nvPr/>
        </p:nvSpPr>
        <p:spPr>
          <a:xfrm>
            <a:off x="4160520" y="2959425"/>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Multi</a:t>
            </a:r>
          </a:p>
        </p:txBody>
      </p:sp>
      <p:sp>
        <p:nvSpPr>
          <p:cNvPr id="46" name="TextBox 45"/>
          <p:cNvSpPr txBox="1"/>
          <p:nvPr/>
        </p:nvSpPr>
        <p:spPr>
          <a:xfrm>
            <a:off x="5349240" y="2959425"/>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47" name="TextBox 46"/>
          <p:cNvSpPr txBox="1"/>
          <p:nvPr/>
        </p:nvSpPr>
        <p:spPr>
          <a:xfrm>
            <a:off x="7223759" y="2959425"/>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48" name="TextBox 47"/>
          <p:cNvSpPr txBox="1"/>
          <p:nvPr/>
        </p:nvSpPr>
        <p:spPr>
          <a:xfrm>
            <a:off x="8686800" y="2959425"/>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Static</a:t>
            </a:r>
          </a:p>
        </p:txBody>
      </p:sp>
      <p:sp>
        <p:nvSpPr>
          <p:cNvPr id="49" name="TextBox 48"/>
          <p:cNvSpPr txBox="1"/>
          <p:nvPr/>
        </p:nvSpPr>
        <p:spPr>
          <a:xfrm>
            <a:off x="10058400" y="2959425"/>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Discrete</a:t>
            </a:r>
          </a:p>
        </p:txBody>
      </p:sp>
      <p:sp>
        <p:nvSpPr>
          <p:cNvPr id="50" name="Rectangle 49"/>
          <p:cNvSpPr/>
          <p:nvPr/>
        </p:nvSpPr>
        <p:spPr>
          <a:xfrm>
            <a:off x="548640" y="3199353"/>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40080" y="3261532"/>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Driving</a:t>
            </a:r>
          </a:p>
        </p:txBody>
      </p:sp>
      <p:sp>
        <p:nvSpPr>
          <p:cNvPr id="52" name="TextBox 51"/>
          <p:cNvSpPr txBox="1"/>
          <p:nvPr/>
        </p:nvSpPr>
        <p:spPr>
          <a:xfrm>
            <a:off x="2743200" y="3261532"/>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53" name="TextBox 52"/>
          <p:cNvSpPr txBox="1"/>
          <p:nvPr/>
        </p:nvSpPr>
        <p:spPr>
          <a:xfrm>
            <a:off x="4160520" y="3261532"/>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Multi</a:t>
            </a:r>
          </a:p>
        </p:txBody>
      </p:sp>
      <p:sp>
        <p:nvSpPr>
          <p:cNvPr id="54" name="TextBox 53"/>
          <p:cNvSpPr txBox="1"/>
          <p:nvPr/>
        </p:nvSpPr>
        <p:spPr>
          <a:xfrm>
            <a:off x="5349240" y="3261532"/>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55" name="TextBox 54"/>
          <p:cNvSpPr txBox="1"/>
          <p:nvPr/>
        </p:nvSpPr>
        <p:spPr>
          <a:xfrm>
            <a:off x="7223759" y="3261532"/>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56" name="TextBox 55"/>
          <p:cNvSpPr txBox="1"/>
          <p:nvPr/>
        </p:nvSpPr>
        <p:spPr>
          <a:xfrm>
            <a:off x="8686800" y="3261532"/>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Dynamic</a:t>
            </a:r>
          </a:p>
        </p:txBody>
      </p:sp>
      <p:sp>
        <p:nvSpPr>
          <p:cNvPr id="57" name="TextBox 56"/>
          <p:cNvSpPr txBox="1"/>
          <p:nvPr/>
        </p:nvSpPr>
        <p:spPr>
          <a:xfrm>
            <a:off x="10058400" y="3261532"/>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Continuous</a:t>
            </a:r>
          </a:p>
        </p:txBody>
      </p:sp>
      <p:sp>
        <p:nvSpPr>
          <p:cNvPr id="58" name="Rectangle 57"/>
          <p:cNvSpPr/>
          <p:nvPr/>
        </p:nvSpPr>
        <p:spPr>
          <a:xfrm>
            <a:off x="548640" y="3501461"/>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548640" y="3506947"/>
            <a:ext cx="11094689" cy="30210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40080" y="3563640"/>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Medical diagnosis</a:t>
            </a:r>
          </a:p>
        </p:txBody>
      </p:sp>
      <p:sp>
        <p:nvSpPr>
          <p:cNvPr id="61" name="TextBox 60"/>
          <p:cNvSpPr txBox="1"/>
          <p:nvPr/>
        </p:nvSpPr>
        <p:spPr>
          <a:xfrm>
            <a:off x="2743200" y="3563640"/>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62" name="TextBox 61"/>
          <p:cNvSpPr txBox="1"/>
          <p:nvPr/>
        </p:nvSpPr>
        <p:spPr>
          <a:xfrm>
            <a:off x="4160520" y="3563640"/>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Single</a:t>
            </a:r>
          </a:p>
        </p:txBody>
      </p:sp>
      <p:sp>
        <p:nvSpPr>
          <p:cNvPr id="63" name="TextBox 62"/>
          <p:cNvSpPr txBox="1"/>
          <p:nvPr/>
        </p:nvSpPr>
        <p:spPr>
          <a:xfrm>
            <a:off x="5349240" y="3563640"/>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64" name="TextBox 63"/>
          <p:cNvSpPr txBox="1"/>
          <p:nvPr/>
        </p:nvSpPr>
        <p:spPr>
          <a:xfrm>
            <a:off x="7223759" y="3563640"/>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65" name="TextBox 64"/>
          <p:cNvSpPr txBox="1"/>
          <p:nvPr/>
        </p:nvSpPr>
        <p:spPr>
          <a:xfrm>
            <a:off x="8686800" y="3563640"/>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Dynamic</a:t>
            </a:r>
          </a:p>
        </p:txBody>
      </p:sp>
      <p:sp>
        <p:nvSpPr>
          <p:cNvPr id="66" name="TextBox 65"/>
          <p:cNvSpPr txBox="1"/>
          <p:nvPr/>
        </p:nvSpPr>
        <p:spPr>
          <a:xfrm>
            <a:off x="10058400" y="3563640"/>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Continuous</a:t>
            </a:r>
          </a:p>
        </p:txBody>
      </p:sp>
      <p:sp>
        <p:nvSpPr>
          <p:cNvPr id="67" name="Rectangle 66"/>
          <p:cNvSpPr/>
          <p:nvPr/>
        </p:nvSpPr>
        <p:spPr>
          <a:xfrm>
            <a:off x="548640" y="3803568"/>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40080" y="3865747"/>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Image analysis</a:t>
            </a:r>
          </a:p>
        </p:txBody>
      </p:sp>
      <p:sp>
        <p:nvSpPr>
          <p:cNvPr id="69" name="TextBox 68"/>
          <p:cNvSpPr txBox="1"/>
          <p:nvPr/>
        </p:nvSpPr>
        <p:spPr>
          <a:xfrm>
            <a:off x="2743200" y="3865747"/>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Fully</a:t>
            </a:r>
          </a:p>
        </p:txBody>
      </p:sp>
      <p:sp>
        <p:nvSpPr>
          <p:cNvPr id="70" name="TextBox 69"/>
          <p:cNvSpPr txBox="1"/>
          <p:nvPr/>
        </p:nvSpPr>
        <p:spPr>
          <a:xfrm>
            <a:off x="4160520" y="3865747"/>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Single</a:t>
            </a:r>
          </a:p>
        </p:txBody>
      </p:sp>
      <p:sp>
        <p:nvSpPr>
          <p:cNvPr id="71" name="TextBox 70"/>
          <p:cNvSpPr txBox="1"/>
          <p:nvPr/>
        </p:nvSpPr>
        <p:spPr>
          <a:xfrm>
            <a:off x="5349240" y="3865747"/>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Deterministic</a:t>
            </a:r>
          </a:p>
        </p:txBody>
      </p:sp>
      <p:sp>
        <p:nvSpPr>
          <p:cNvPr id="72" name="TextBox 71"/>
          <p:cNvSpPr txBox="1"/>
          <p:nvPr/>
        </p:nvSpPr>
        <p:spPr>
          <a:xfrm>
            <a:off x="7223759" y="3865747"/>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One-shot</a:t>
            </a:r>
          </a:p>
        </p:txBody>
      </p:sp>
      <p:sp>
        <p:nvSpPr>
          <p:cNvPr id="73" name="TextBox 72"/>
          <p:cNvSpPr txBox="1"/>
          <p:nvPr/>
        </p:nvSpPr>
        <p:spPr>
          <a:xfrm>
            <a:off x="8686800" y="3865747"/>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Semi</a:t>
            </a:r>
          </a:p>
        </p:txBody>
      </p:sp>
      <p:sp>
        <p:nvSpPr>
          <p:cNvPr id="74" name="TextBox 73"/>
          <p:cNvSpPr txBox="1"/>
          <p:nvPr/>
        </p:nvSpPr>
        <p:spPr>
          <a:xfrm>
            <a:off x="10058400" y="3865747"/>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Continuous</a:t>
            </a:r>
          </a:p>
        </p:txBody>
      </p:sp>
      <p:sp>
        <p:nvSpPr>
          <p:cNvPr id="75" name="Rectangle 74"/>
          <p:cNvSpPr/>
          <p:nvPr/>
        </p:nvSpPr>
        <p:spPr>
          <a:xfrm>
            <a:off x="548640" y="4105676"/>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548640" y="4111162"/>
            <a:ext cx="11094689" cy="30210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640080" y="4167855"/>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Part-picking robot</a:t>
            </a:r>
          </a:p>
        </p:txBody>
      </p:sp>
      <p:sp>
        <p:nvSpPr>
          <p:cNvPr id="78" name="TextBox 77"/>
          <p:cNvSpPr txBox="1"/>
          <p:nvPr/>
        </p:nvSpPr>
        <p:spPr>
          <a:xfrm>
            <a:off x="2743200" y="4167855"/>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79" name="TextBox 78"/>
          <p:cNvSpPr txBox="1"/>
          <p:nvPr/>
        </p:nvSpPr>
        <p:spPr>
          <a:xfrm>
            <a:off x="4160520" y="4167855"/>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Single</a:t>
            </a:r>
          </a:p>
        </p:txBody>
      </p:sp>
      <p:sp>
        <p:nvSpPr>
          <p:cNvPr id="80" name="TextBox 79"/>
          <p:cNvSpPr txBox="1"/>
          <p:nvPr/>
        </p:nvSpPr>
        <p:spPr>
          <a:xfrm>
            <a:off x="5349240" y="4167855"/>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81" name="TextBox 80"/>
          <p:cNvSpPr txBox="1"/>
          <p:nvPr/>
        </p:nvSpPr>
        <p:spPr>
          <a:xfrm>
            <a:off x="7223759" y="4167855"/>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One-shot</a:t>
            </a:r>
          </a:p>
        </p:txBody>
      </p:sp>
      <p:sp>
        <p:nvSpPr>
          <p:cNvPr id="82" name="TextBox 81"/>
          <p:cNvSpPr txBox="1"/>
          <p:nvPr/>
        </p:nvSpPr>
        <p:spPr>
          <a:xfrm>
            <a:off x="8686800" y="4167855"/>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Dynamic</a:t>
            </a:r>
          </a:p>
        </p:txBody>
      </p:sp>
      <p:sp>
        <p:nvSpPr>
          <p:cNvPr id="83" name="TextBox 82"/>
          <p:cNvSpPr txBox="1"/>
          <p:nvPr/>
        </p:nvSpPr>
        <p:spPr>
          <a:xfrm>
            <a:off x="10058400" y="4167855"/>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Continuous</a:t>
            </a:r>
          </a:p>
        </p:txBody>
      </p:sp>
      <p:sp>
        <p:nvSpPr>
          <p:cNvPr id="84" name="Rectangle 83"/>
          <p:cNvSpPr/>
          <p:nvPr/>
        </p:nvSpPr>
        <p:spPr>
          <a:xfrm>
            <a:off x="548640" y="4407783"/>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40080" y="4469963"/>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Refinery controller</a:t>
            </a:r>
          </a:p>
        </p:txBody>
      </p:sp>
      <p:sp>
        <p:nvSpPr>
          <p:cNvPr id="86" name="TextBox 85"/>
          <p:cNvSpPr txBox="1"/>
          <p:nvPr/>
        </p:nvSpPr>
        <p:spPr>
          <a:xfrm>
            <a:off x="2743200" y="4469963"/>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87" name="TextBox 86"/>
          <p:cNvSpPr txBox="1"/>
          <p:nvPr/>
        </p:nvSpPr>
        <p:spPr>
          <a:xfrm>
            <a:off x="4160520" y="4469963"/>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Single</a:t>
            </a:r>
          </a:p>
        </p:txBody>
      </p:sp>
      <p:sp>
        <p:nvSpPr>
          <p:cNvPr id="88" name="TextBox 87"/>
          <p:cNvSpPr txBox="1"/>
          <p:nvPr/>
        </p:nvSpPr>
        <p:spPr>
          <a:xfrm>
            <a:off x="5349240" y="4469963"/>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89" name="TextBox 88"/>
          <p:cNvSpPr txBox="1"/>
          <p:nvPr/>
        </p:nvSpPr>
        <p:spPr>
          <a:xfrm>
            <a:off x="7223759" y="4469963"/>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90" name="TextBox 89"/>
          <p:cNvSpPr txBox="1"/>
          <p:nvPr/>
        </p:nvSpPr>
        <p:spPr>
          <a:xfrm>
            <a:off x="8686800" y="4469963"/>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Dynamic</a:t>
            </a:r>
          </a:p>
        </p:txBody>
      </p:sp>
      <p:sp>
        <p:nvSpPr>
          <p:cNvPr id="91" name="TextBox 90"/>
          <p:cNvSpPr txBox="1"/>
          <p:nvPr/>
        </p:nvSpPr>
        <p:spPr>
          <a:xfrm>
            <a:off x="10058400" y="4469963"/>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Continuous</a:t>
            </a:r>
          </a:p>
        </p:txBody>
      </p:sp>
      <p:sp>
        <p:nvSpPr>
          <p:cNvPr id="92" name="Rectangle 91"/>
          <p:cNvSpPr/>
          <p:nvPr/>
        </p:nvSpPr>
        <p:spPr>
          <a:xfrm>
            <a:off x="548640" y="4709891"/>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48640" y="4715377"/>
            <a:ext cx="11094689" cy="30210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640080" y="4772070"/>
            <a:ext cx="19202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English tutor</a:t>
            </a:r>
          </a:p>
        </p:txBody>
      </p:sp>
      <p:sp>
        <p:nvSpPr>
          <p:cNvPr id="95" name="TextBox 94"/>
          <p:cNvSpPr txBox="1"/>
          <p:nvPr/>
        </p:nvSpPr>
        <p:spPr>
          <a:xfrm>
            <a:off x="2743200" y="4772070"/>
            <a:ext cx="12344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Partially</a:t>
            </a:r>
          </a:p>
        </p:txBody>
      </p:sp>
      <p:sp>
        <p:nvSpPr>
          <p:cNvPr id="96" name="TextBox 95"/>
          <p:cNvSpPr txBox="1"/>
          <p:nvPr/>
        </p:nvSpPr>
        <p:spPr>
          <a:xfrm>
            <a:off x="4160520" y="4772070"/>
            <a:ext cx="100584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Multi</a:t>
            </a:r>
          </a:p>
        </p:txBody>
      </p:sp>
      <p:sp>
        <p:nvSpPr>
          <p:cNvPr id="97" name="TextBox 96"/>
          <p:cNvSpPr txBox="1"/>
          <p:nvPr/>
        </p:nvSpPr>
        <p:spPr>
          <a:xfrm>
            <a:off x="5349240" y="4772070"/>
            <a:ext cx="1691639"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Stochastic</a:t>
            </a:r>
          </a:p>
        </p:txBody>
      </p:sp>
      <p:sp>
        <p:nvSpPr>
          <p:cNvPr id="98" name="TextBox 97"/>
          <p:cNvSpPr txBox="1"/>
          <p:nvPr/>
        </p:nvSpPr>
        <p:spPr>
          <a:xfrm>
            <a:off x="7223759" y="4772070"/>
            <a:ext cx="128016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3542"/>
                </a:solidFill>
                <a:latin typeface="Calibri"/>
              </a:rPr>
              <a:t>Sequential</a:t>
            </a:r>
          </a:p>
        </p:txBody>
      </p:sp>
      <p:sp>
        <p:nvSpPr>
          <p:cNvPr id="99" name="TextBox 98"/>
          <p:cNvSpPr txBox="1"/>
          <p:nvPr/>
        </p:nvSpPr>
        <p:spPr>
          <a:xfrm>
            <a:off x="8686800" y="4772070"/>
            <a:ext cx="1188720"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C92A2A"/>
                </a:solidFill>
                <a:latin typeface="Calibri"/>
              </a:rPr>
              <a:t>Dynamic</a:t>
            </a:r>
          </a:p>
        </p:txBody>
      </p:sp>
      <p:sp>
        <p:nvSpPr>
          <p:cNvPr id="100" name="TextBox 99"/>
          <p:cNvSpPr txBox="1"/>
          <p:nvPr/>
        </p:nvSpPr>
        <p:spPr>
          <a:xfrm>
            <a:off x="10058400" y="4772070"/>
            <a:ext cx="1490472" cy="18872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0">
                <a:solidFill>
                  <a:srgbClr val="2B8A3E"/>
                </a:solidFill>
                <a:latin typeface="Calibri"/>
              </a:rPr>
              <a:t>Discrete</a:t>
            </a:r>
          </a:p>
        </p:txBody>
      </p:sp>
      <p:sp>
        <p:nvSpPr>
          <p:cNvPr id="101" name="Rectangle 100"/>
          <p:cNvSpPr/>
          <p:nvPr/>
        </p:nvSpPr>
        <p:spPr>
          <a:xfrm>
            <a:off x="548640" y="5011999"/>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548640" y="5255229"/>
            <a:ext cx="11094689"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548640" y="5401533"/>
            <a:ext cx="11094689" cy="439419"/>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The hardest case is the bottom-right corner of this table: </a:t>
            </a:r>
            <a:r>
              <a:rPr sz="1300" b="1" i="0">
                <a:solidFill>
                  <a:srgbClr val="16202A"/>
                </a:solidFill>
                <a:latin typeface="Calibri"/>
              </a:rPr>
              <a:t>partially observable, multi-agent, stochastic, sequential, dynamic and continuous</a:t>
            </a:r>
            <a:r>
              <a:rPr sz="1300" b="0" i="0">
                <a:solidFill>
                  <a:srgbClr val="2B3542"/>
                </a:solidFill>
                <a:latin typeface="Calibri"/>
              </a:rPr>
              <a:t>. Autonomous driving is difficult in every one of these senses simultaneously — which is why no single one of the architectures in Part V is sufficient for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IV</a:t>
            </a:r>
          </a:p>
        </p:txBody>
      </p:sp>
      <p:sp>
        <p:nvSpPr>
          <p:cNvPr id="5" name="TextBox 4"/>
          <p:cNvSpPr txBox="1"/>
          <p:nvPr/>
        </p:nvSpPr>
        <p:spPr>
          <a:xfrm>
            <a:off x="960120" y="2130552"/>
            <a:ext cx="6400800" cy="871728"/>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Performance measure and rationality</a:t>
            </a:r>
          </a:p>
        </p:txBody>
      </p:sp>
      <p:sp>
        <p:nvSpPr>
          <p:cNvPr id="6" name="TextBox 5"/>
          <p:cNvSpPr txBox="1"/>
          <p:nvPr/>
        </p:nvSpPr>
        <p:spPr>
          <a:xfrm>
            <a:off x="960120" y="3276599"/>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Machines have no intrinsic desires. Whatever the designer writes down as success is exactly what will be optimised.</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What happens when the measure rewards the wrong thing?</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Designing a performance measure</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Outcomes, not behaviour</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The four ingredients of rationality</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Rationality is not omniscience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4.1  THE PERFORMANCE MEASURE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Machines have no desires, so the objective has to be supplied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IV — Performance measure and rationality</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28</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Since machines lack intrinsic desires, the designer must define a performance measure against which behaviour is evaluated. It should be objective, quantifiable, and aligned with what is actually wanted. Getting it right is much harder than it looks.</a:t>
            </a:r>
          </a:p>
        </p:txBody>
      </p:sp>
      <p:pic>
        <p:nvPicPr>
          <p:cNvPr id="9" name="Picture 8" descr="perf_hack.png"/>
          <p:cNvPicPr>
            <a:picLocks noChangeAspect="1"/>
          </p:cNvPicPr>
          <p:nvPr/>
        </p:nvPicPr>
        <p:blipFill>
          <a:blip r:embed="rId2"/>
          <a:stretch>
            <a:fillRect/>
          </a:stretch>
        </p:blipFill>
        <p:spPr>
          <a:xfrm>
            <a:off x="548640" y="1917954"/>
            <a:ext cx="4051221" cy="2331720"/>
          </a:xfrm>
          <a:prstGeom prst="rect">
            <a:avLst/>
          </a:prstGeom>
        </p:spPr>
      </p:pic>
      <p:sp>
        <p:nvSpPr>
          <p:cNvPr id="10" name="TextBox 9"/>
          <p:cNvSpPr txBox="1"/>
          <p:nvPr/>
        </p:nvSpPr>
        <p:spPr>
          <a:xfrm>
            <a:off x="548640" y="4359402"/>
            <a:ext cx="553212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Rewarding the action rather than the outcome. The agent has not malfunctioned: it is maximising exactly what was written down.</a:t>
            </a:r>
          </a:p>
        </p:txBody>
      </p:sp>
      <p:sp>
        <p:nvSpPr>
          <p:cNvPr id="11" name="TextBox 10"/>
          <p:cNvSpPr txBox="1"/>
          <p:nvPr/>
        </p:nvSpPr>
        <p:spPr>
          <a:xfrm>
            <a:off x="6446520" y="2176272"/>
            <a:ext cx="5196809" cy="893351"/>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C92A2A"/>
                </a:solidFill>
                <a:latin typeface="Calibri"/>
              </a:rPr>
              <a:t>THE FAILURE MODE</a:t>
            </a:r>
          </a:p>
          <a:p>
            <a:pPr algn="l" marL="0" indent="0">
              <a:lnSpc>
                <a:spcPts val="1586"/>
              </a:lnSpc>
              <a:spcBef>
                <a:spcPts val="800"/>
              </a:spcBef>
              <a:spcAft>
                <a:spcPts val="0"/>
              </a:spcAft>
              <a:buNone/>
            </a:pPr>
            <a:r>
              <a:rPr sz="1300" b="0" i="0">
                <a:solidFill>
                  <a:srgbClr val="2B3542"/>
                </a:solidFill>
                <a:latin typeface="Calibri"/>
              </a:rPr>
              <a:t>A vacuum agent rewarded for </a:t>
            </a:r>
            <a:r>
              <a:rPr sz="1300" b="1" i="0">
                <a:solidFill>
                  <a:srgbClr val="C92A2A"/>
                </a:solidFill>
                <a:latin typeface="Calibri"/>
              </a:rPr>
              <a:t>the amount of dirt collected</a:t>
            </a:r>
            <a:r>
              <a:rPr sz="1300" b="0" i="0">
                <a:solidFill>
                  <a:srgbClr val="2B3542"/>
                </a:solidFill>
                <a:latin typeface="Calibri"/>
              </a:rPr>
              <a:t> has an excellent strategy available to it: dump the dirt back on the floor and collect it again. The measure is maximised; the room stays dirty.</a:t>
            </a:r>
          </a:p>
        </p:txBody>
      </p:sp>
      <p:sp>
        <p:nvSpPr>
          <p:cNvPr id="12" name="TextBox 11"/>
          <p:cNvSpPr txBox="1"/>
          <p:nvPr/>
        </p:nvSpPr>
        <p:spPr>
          <a:xfrm>
            <a:off x="6446520" y="3325655"/>
            <a:ext cx="519680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REPAIR</a:t>
            </a:r>
          </a:p>
        </p:txBody>
      </p:sp>
      <p:sp>
        <p:nvSpPr>
          <p:cNvPr id="13" name="TextBox 12"/>
          <p:cNvSpPr txBox="1"/>
          <p:nvPr/>
        </p:nvSpPr>
        <p:spPr>
          <a:xfrm>
            <a:off x="6446520" y="3581687"/>
            <a:ext cx="5196809"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Reward </a:t>
            </a:r>
            <a:r>
              <a:rPr sz="1300" b="1" i="0">
                <a:solidFill>
                  <a:srgbClr val="2B8A3E"/>
                </a:solidFill>
                <a:latin typeface="Calibri"/>
              </a:rPr>
              <a:t>sustained cleanliness over time</a:t>
            </a:r>
            <a:r>
              <a:rPr sz="1300" b="0" i="0">
                <a:solidFill>
                  <a:srgbClr val="2B3542"/>
                </a:solidFill>
                <a:latin typeface="Calibri"/>
              </a:rPr>
              <a:t> — a property of the state of the world, not a count of the agent’s own actions. The exploit disappears, because creating dirt now lowers the measure.</a:t>
            </a:r>
          </a:p>
        </p:txBody>
      </p:sp>
      <p:sp>
        <p:nvSpPr>
          <p:cNvPr id="14" name="Rectangle 13"/>
          <p:cNvSpPr/>
          <p:nvPr/>
        </p:nvSpPr>
        <p:spPr>
          <a:xfrm>
            <a:off x="6446520" y="4496849"/>
            <a:ext cx="5196809" cy="1292352"/>
          </a:xfrm>
          <a:prstGeom prst="rect">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46520" y="4496849"/>
            <a:ext cx="41148" cy="129235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65976" y="4643153"/>
            <a:ext cx="490420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B54708"/>
                </a:solidFill>
                <a:latin typeface="Calibri"/>
              </a:rPr>
              <a:t>WHY THIS RETURNS CONSTANTLY</a:t>
            </a:r>
          </a:p>
        </p:txBody>
      </p:sp>
      <p:sp>
        <p:nvSpPr>
          <p:cNvPr id="17" name="TextBox 16"/>
          <p:cNvSpPr txBox="1"/>
          <p:nvPr/>
        </p:nvSpPr>
        <p:spPr>
          <a:xfrm>
            <a:off x="6665976" y="4880897"/>
            <a:ext cx="4812761" cy="761999"/>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This is not an anecdote about vacuum cleaners. Every reward function in this course is a performance measure, and every one of them can be gamed in exactly this way. </a:t>
            </a:r>
            <a:r>
              <a:rPr sz="1250" b="1" i="0">
                <a:solidFill>
                  <a:srgbClr val="2B3542"/>
                </a:solidFill>
                <a:latin typeface="Calibri"/>
              </a:rPr>
              <a:t>The agent optimises what you wrote, never what you meant.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4.2  SPECIFY OUTCOMES, NOT BEHAVIOUR</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Describe the state of the world you want, not the conduct you imagine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IV — Performance measure and rationality</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29</a:t>
            </a:r>
          </a:p>
        </p:txBody>
      </p:sp>
      <p:sp>
        <p:nvSpPr>
          <p:cNvPr id="8" name="TextBox 7"/>
          <p:cNvSpPr txBox="1"/>
          <p:nvPr/>
        </p:nvSpPr>
        <p:spPr>
          <a:xfrm>
            <a:off x="548640" y="1280160"/>
            <a:ext cx="640080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As a general rule, design the performance measure according to what one actually wants to be achieved in the environment, rather than according to how one thinks the agent should behave. The second formulation silently fixes the solution and rules out better ones.</a:t>
            </a:r>
          </a:p>
        </p:txBody>
      </p:sp>
      <p:pic>
        <p:nvPicPr>
          <p:cNvPr id="9" name="Picture 8" descr="perf_outcomes.png"/>
          <p:cNvPicPr>
            <a:picLocks noChangeAspect="1"/>
          </p:cNvPicPr>
          <p:nvPr/>
        </p:nvPicPr>
        <p:blipFill>
          <a:blip r:embed="rId2"/>
          <a:stretch>
            <a:fillRect/>
          </a:stretch>
        </p:blipFill>
        <p:spPr>
          <a:xfrm>
            <a:off x="548640" y="2085594"/>
            <a:ext cx="4784646" cy="896112"/>
          </a:xfrm>
          <a:prstGeom prst="rect">
            <a:avLst/>
          </a:prstGeom>
        </p:spPr>
      </p:pic>
      <p:sp>
        <p:nvSpPr>
          <p:cNvPr id="10" name="Rectangle 9"/>
          <p:cNvSpPr/>
          <p:nvPr/>
        </p:nvSpPr>
        <p:spPr>
          <a:xfrm>
            <a:off x="548640" y="3182874"/>
            <a:ext cx="640080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3402330"/>
            <a:ext cx="6400800" cy="1486153"/>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Two ways of writing the same requirement</a:t>
            </a:r>
          </a:p>
          <a:p>
            <a:pPr algn="l" marL="173736" indent="-173736">
              <a:lnSpc>
                <a:spcPts val="1416"/>
              </a:lnSpc>
              <a:spcBef>
                <a:spcPts val="600"/>
              </a:spcBef>
              <a:spcAft>
                <a:spcPts val="0"/>
              </a:spcAft>
              <a:buClr>
                <a:srgbClr val="1971C2"/>
              </a:buClr>
              <a:buFont typeface="Calibri"/>
              <a:buChar char="–"/>
            </a:pPr>
            <a:r>
              <a:rPr sz="1200" b="1" i="0">
                <a:solidFill>
                  <a:srgbClr val="C92A2A"/>
                </a:solidFill>
                <a:latin typeface="Calibri"/>
              </a:rPr>
              <a:t>Behaviour-shaped: </a:t>
            </a:r>
            <a:r>
              <a:rPr sz="1200" b="0" i="0">
                <a:solidFill>
                  <a:srgbClr val="2B3542"/>
                </a:solidFill>
                <a:latin typeface="Calibri"/>
              </a:rPr>
              <a:t>“sweep along the walls, then the middle, once per hour.” A better cleaning strategy is now forbidden by the measure itself.</a:t>
            </a:r>
          </a:p>
          <a:p>
            <a:pPr algn="l" marL="173736" indent="-173736">
              <a:lnSpc>
                <a:spcPts val="1416"/>
              </a:lnSpc>
              <a:spcBef>
                <a:spcPts val="600"/>
              </a:spcBef>
              <a:spcAft>
                <a:spcPts val="0"/>
              </a:spcAft>
              <a:buClr>
                <a:srgbClr val="1971C2"/>
              </a:buClr>
              <a:buFont typeface="Calibri"/>
              <a:buChar char="–"/>
            </a:pPr>
            <a:r>
              <a:rPr sz="1200" b="1" i="0">
                <a:solidFill>
                  <a:srgbClr val="2B8A3E"/>
                </a:solidFill>
                <a:latin typeface="Calibri"/>
              </a:rPr>
              <a:t>Outcome-shaped: </a:t>
            </a:r>
            <a:r>
              <a:rPr sz="1200" b="0" i="0">
                <a:solidFill>
                  <a:srgbClr val="2B3542"/>
                </a:solidFill>
                <a:latin typeface="Calibri"/>
              </a:rPr>
              <a:t>“the floor should be clean at all times, at minimum energy cost.” Any strategy that achieves this scores well, including ones never imagined.</a:t>
            </a:r>
          </a:p>
          <a:p>
            <a:pPr algn="l" marL="0" indent="0">
              <a:lnSpc>
                <a:spcPts val="1416"/>
              </a:lnSpc>
              <a:spcBef>
                <a:spcPts val="700"/>
              </a:spcBef>
              <a:spcAft>
                <a:spcPts val="0"/>
              </a:spcAft>
              <a:buNone/>
            </a:pPr>
            <a:r>
              <a:rPr sz="1200" b="0" i="0">
                <a:solidFill>
                  <a:srgbClr val="5F6B76"/>
                </a:solidFill>
                <a:latin typeface="Calibri"/>
              </a:rPr>
              <a:t>Where an agent serves several users, the measure may need to be </a:t>
            </a:r>
            <a:r>
              <a:rPr sz="1200" b="1" i="0">
                <a:solidFill>
                  <a:srgbClr val="16202A"/>
                </a:solidFill>
                <a:latin typeface="Calibri"/>
              </a:rPr>
              <a:t>learned and adapted</a:t>
            </a:r>
            <a:r>
              <a:rPr sz="1200" b="0" i="0">
                <a:solidFill>
                  <a:srgbClr val="5F6B76"/>
                </a:solidFill>
                <a:latin typeface="Calibri"/>
              </a:rPr>
              <a:t> over time.</a:t>
            </a:r>
          </a:p>
        </p:txBody>
      </p:sp>
      <p:sp>
        <p:nvSpPr>
          <p:cNvPr id="12" name="Rectangle 11"/>
          <p:cNvSpPr/>
          <p:nvPr/>
        </p:nvSpPr>
        <p:spPr>
          <a:xfrm>
            <a:off x="548640" y="5053076"/>
            <a:ext cx="640080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5199380"/>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A CHECKLIST FOR THE MEASURE YOU ARE ABOUT TO WRITE</a:t>
            </a:r>
          </a:p>
        </p:txBody>
      </p:sp>
      <p:sp>
        <p:nvSpPr>
          <p:cNvPr id="14" name="TextBox 13"/>
          <p:cNvSpPr txBox="1"/>
          <p:nvPr/>
        </p:nvSpPr>
        <p:spPr>
          <a:xfrm>
            <a:off x="548640" y="5437124"/>
            <a:ext cx="6400800" cy="705993"/>
          </a:xfrm>
          <a:prstGeom prst="rect">
            <a:avLst/>
          </a:prstGeom>
          <a:noFill/>
        </p:spPr>
        <p:txBody>
          <a:bodyPr wrap="square" lIns="0" rIns="0" tIns="0" bIns="0" anchor="t">
            <a:noAutofit/>
          </a:bodyPr>
          <a:lstStyle/>
          <a:p>
            <a:pPr algn="l" marL="173736" indent="-173736">
              <a:lnSpc>
                <a:spcPts val="1357"/>
              </a:lnSpc>
              <a:spcBef>
                <a:spcPts val="0"/>
              </a:spcBef>
              <a:spcAft>
                <a:spcPts val="0"/>
              </a:spcAft>
              <a:buClr>
                <a:srgbClr val="1971C2"/>
              </a:buClr>
              <a:buFont typeface="Calibri"/>
              <a:buChar char="–"/>
            </a:pPr>
            <a:r>
              <a:rPr sz="1150" b="1" i="0">
                <a:solidFill>
                  <a:srgbClr val="16202A"/>
                </a:solidFill>
                <a:latin typeface="Calibri"/>
              </a:rPr>
              <a:t>A property of the world, or of the agent’s conduct?</a:t>
            </a:r>
            <a:r>
              <a:rPr sz="1150" b="0" i="0">
                <a:solidFill>
                  <a:srgbClr val="2B3542"/>
                </a:solidFill>
                <a:latin typeface="Calibri"/>
              </a:rPr>
              <a:t> Only the first is safe from being gamed.</a:t>
            </a:r>
          </a:p>
          <a:p>
            <a:pPr algn="l" marL="173736" indent="-173736">
              <a:lnSpc>
                <a:spcPts val="1357"/>
              </a:lnSpc>
              <a:spcBef>
                <a:spcPts val="600"/>
              </a:spcBef>
              <a:spcAft>
                <a:spcPts val="0"/>
              </a:spcAft>
              <a:buClr>
                <a:srgbClr val="1971C2"/>
              </a:buClr>
              <a:buFont typeface="Calibri"/>
              <a:buChar char="–"/>
            </a:pPr>
            <a:r>
              <a:rPr sz="1150" b="1" i="0">
                <a:solidFill>
                  <a:srgbClr val="16202A"/>
                </a:solidFill>
                <a:latin typeface="Calibri"/>
              </a:rPr>
              <a:t>Over what horizon is it evaluated?</a:t>
            </a:r>
            <a:r>
              <a:rPr sz="1150" b="0" i="0">
                <a:solidFill>
                  <a:srgbClr val="2B3542"/>
                </a:solidFill>
                <a:latin typeface="Calibri"/>
              </a:rPr>
              <a:t> “Clean now” and “clean over a month” select different agents.</a:t>
            </a:r>
          </a:p>
          <a:p>
            <a:pPr algn="l" marL="173736" indent="-173736">
              <a:lnSpc>
                <a:spcPts val="1357"/>
              </a:lnSpc>
              <a:spcBef>
                <a:spcPts val="600"/>
              </a:spcBef>
              <a:spcAft>
                <a:spcPts val="0"/>
              </a:spcAft>
              <a:buClr>
                <a:srgbClr val="1971C2"/>
              </a:buClr>
              <a:buFont typeface="Calibri"/>
              <a:buChar char="–"/>
            </a:pPr>
            <a:r>
              <a:rPr sz="1150" b="1" i="0">
                <a:solidFill>
                  <a:srgbClr val="16202A"/>
                </a:solidFill>
                <a:latin typeface="Calibri"/>
              </a:rPr>
              <a:t>What does it not mention?</a:t>
            </a:r>
            <a:r>
              <a:rPr sz="1150" b="0" i="0">
                <a:solidFill>
                  <a:srgbClr val="2B3542"/>
                </a:solidFill>
                <a:latin typeface="Calibri"/>
              </a:rPr>
              <a:t> Anything left out — energy, noise, wear — is implicitly free.</a:t>
            </a:r>
          </a:p>
        </p:txBody>
      </p:sp>
      <p:sp>
        <p:nvSpPr>
          <p:cNvPr id="15" name="TextBox 14"/>
          <p:cNvSpPr txBox="1"/>
          <p:nvPr/>
        </p:nvSpPr>
        <p:spPr>
          <a:xfrm>
            <a:off x="7178040" y="1280160"/>
            <a:ext cx="44652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AND A GENUINELY OPEN QUESTION</a:t>
            </a:r>
          </a:p>
        </p:txBody>
      </p:sp>
      <p:pic>
        <p:nvPicPr>
          <p:cNvPr id="16" name="Picture 15" descr="perf_philo.png"/>
          <p:cNvPicPr>
            <a:picLocks noChangeAspect="1"/>
          </p:cNvPicPr>
          <p:nvPr/>
        </p:nvPicPr>
        <p:blipFill>
          <a:blip r:embed="rId3"/>
          <a:stretch>
            <a:fillRect/>
          </a:stretch>
        </p:blipFill>
        <p:spPr>
          <a:xfrm>
            <a:off x="7884519" y="1554480"/>
            <a:ext cx="3052329" cy="2148840"/>
          </a:xfrm>
          <a:prstGeom prst="rect">
            <a:avLst/>
          </a:prstGeom>
        </p:spPr>
      </p:pic>
      <p:sp>
        <p:nvSpPr>
          <p:cNvPr id="17" name="TextBox 16"/>
          <p:cNvSpPr txBox="1"/>
          <p:nvPr/>
        </p:nvSpPr>
        <p:spPr>
          <a:xfrm>
            <a:off x="7178040" y="3950208"/>
            <a:ext cx="4465289" cy="1267841"/>
          </a:xfrm>
          <a:prstGeom prst="rect">
            <a:avLst/>
          </a:prstGeom>
          <a:noFill/>
        </p:spPr>
        <p:txBody>
          <a:bodyPr wrap="square" lIns="0" rIns="0" tIns="0" bIns="0" anchor="t">
            <a:noAutofit/>
          </a:bodyPr>
          <a:lstStyle/>
          <a:p>
            <a:pPr algn="l" marL="0" indent="0">
              <a:lnSpc>
                <a:spcPts val="1525"/>
              </a:lnSpc>
              <a:spcBef>
                <a:spcPts val="0"/>
              </a:spcBef>
              <a:spcAft>
                <a:spcPts val="0"/>
              </a:spcAft>
              <a:buNone/>
            </a:pPr>
            <a:r>
              <a:rPr sz="1250" b="0" i="0">
                <a:solidFill>
                  <a:srgbClr val="2B3542"/>
                </a:solidFill>
                <a:latin typeface="Calibri"/>
              </a:rPr>
              <a:t>Even a well-specified measure hides a choice. Should the agent be rewarded for </a:t>
            </a:r>
            <a:r>
              <a:rPr sz="1250" b="1" i="0">
                <a:solidFill>
                  <a:srgbClr val="1971C2"/>
                </a:solidFill>
                <a:latin typeface="Calibri"/>
              </a:rPr>
              <a:t>consistency</a:t>
            </a:r>
            <a:r>
              <a:rPr sz="1250" b="0" i="0">
                <a:solidFill>
                  <a:srgbClr val="2B3542"/>
                </a:solidFill>
                <a:latin typeface="Calibri"/>
              </a:rPr>
              <a:t> — stable, reliable behaviour at all times — or for </a:t>
            </a:r>
            <a:r>
              <a:rPr sz="1250" b="1" i="0">
                <a:solidFill>
                  <a:srgbClr val="1971C2"/>
                </a:solidFill>
                <a:latin typeface="Calibri"/>
              </a:rPr>
              <a:t>peak performance</a:t>
            </a:r>
            <a:r>
              <a:rPr sz="1250" b="0" i="0">
                <a:solidFill>
                  <a:srgbClr val="2B3542"/>
                </a:solidFill>
                <a:latin typeface="Calibri"/>
              </a:rPr>
              <a:t> — excelling when it matters most?</a:t>
            </a:r>
          </a:p>
          <a:p>
            <a:pPr algn="l" marL="0" indent="0">
              <a:lnSpc>
                <a:spcPts val="1440"/>
              </a:lnSpc>
              <a:spcBef>
                <a:spcPts val="800"/>
              </a:spcBef>
              <a:spcAft>
                <a:spcPts val="0"/>
              </a:spcAft>
              <a:buNone/>
            </a:pPr>
            <a:r>
              <a:rPr sz="1200" b="0" i="0">
                <a:solidFill>
                  <a:srgbClr val="5F6B76"/>
                </a:solidFill>
                <a:latin typeface="Calibri"/>
              </a:rPr>
              <a:t>The two produce different agents from the same task description, and neither is more correct than the other. The designer is making a value judgement, not a technical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4.3  RATIONALITY</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 rational agent maximises expected performance given what it knows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IV — Performance measure and rationality</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30</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 rational agent selects the action that leads to the most desirable outcome, as judged by the performance measure, given the evidence provided by the percept sequence and its built-in knowledge. Four things therefore enter the definition.</a:t>
            </a:r>
          </a:p>
        </p:txBody>
      </p:sp>
      <p:pic>
        <p:nvPicPr>
          <p:cNvPr id="9" name="Picture 8" descr="eq_rational.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334752" y="2009393"/>
            <a:ext cx="7522464" cy="804672"/>
          </a:xfrm>
          <a:prstGeom prst="rect">
            <a:avLst/>
          </a:prstGeom>
        </p:spPr>
      </p:pic>
      <p:sp>
        <p:nvSpPr>
          <p:cNvPr id="10" name="Rectangle 9"/>
          <p:cNvSpPr/>
          <p:nvPr/>
        </p:nvSpPr>
        <p:spPr>
          <a:xfrm>
            <a:off x="548640" y="3198113"/>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3435857"/>
            <a:ext cx="2567932"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600449"/>
            <a:ext cx="2567932" cy="1138428"/>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2000" b="1" i="0">
                <a:solidFill>
                  <a:srgbClr val="2B8A3E"/>
                </a:solidFill>
                <a:latin typeface="Calibri"/>
              </a:rPr>
              <a:t>1</a:t>
            </a:r>
          </a:p>
          <a:p>
            <a:pPr algn="l" marL="0" indent="0">
              <a:lnSpc>
                <a:spcPts val="1456"/>
              </a:lnSpc>
              <a:spcBef>
                <a:spcPts val="400"/>
              </a:spcBef>
              <a:spcAft>
                <a:spcPts val="0"/>
              </a:spcAft>
              <a:buNone/>
            </a:pPr>
            <a:r>
              <a:rPr sz="1300" b="1" i="0">
                <a:solidFill>
                  <a:srgbClr val="16202A"/>
                </a:solidFill>
                <a:latin typeface="Calibri"/>
              </a:rPr>
              <a:t>The performance measure</a:t>
            </a:r>
          </a:p>
          <a:p>
            <a:pPr algn="l" marL="0" indent="0">
              <a:lnSpc>
                <a:spcPts val="1380"/>
              </a:lnSpc>
              <a:spcBef>
                <a:spcPts val="600"/>
              </a:spcBef>
              <a:spcAft>
                <a:spcPts val="0"/>
              </a:spcAft>
              <a:buNone/>
            </a:pPr>
            <a:r>
              <a:rPr sz="1150" b="0" i="0">
                <a:solidFill>
                  <a:srgbClr val="5F6B76"/>
                </a:solidFill>
                <a:latin typeface="Calibri"/>
              </a:rPr>
              <a:t>Defines what counts as success. Change it and the same behaviour becomes irrational.</a:t>
            </a:r>
          </a:p>
        </p:txBody>
      </p:sp>
      <p:sp>
        <p:nvSpPr>
          <p:cNvPr id="13" name="Rectangle 12"/>
          <p:cNvSpPr/>
          <p:nvPr/>
        </p:nvSpPr>
        <p:spPr>
          <a:xfrm>
            <a:off x="3390892" y="3435857"/>
            <a:ext cx="2567932"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90892" y="3600449"/>
            <a:ext cx="2567932" cy="1138428"/>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2000" b="1" i="0">
                <a:solidFill>
                  <a:srgbClr val="B54708"/>
                </a:solidFill>
                <a:latin typeface="Calibri"/>
              </a:rPr>
              <a:t>2</a:t>
            </a:r>
          </a:p>
          <a:p>
            <a:pPr algn="l" marL="0" indent="0">
              <a:lnSpc>
                <a:spcPts val="1456"/>
              </a:lnSpc>
              <a:spcBef>
                <a:spcPts val="400"/>
              </a:spcBef>
              <a:spcAft>
                <a:spcPts val="0"/>
              </a:spcAft>
              <a:buNone/>
            </a:pPr>
            <a:r>
              <a:rPr sz="1300" b="1" i="0">
                <a:solidFill>
                  <a:srgbClr val="16202A"/>
                </a:solidFill>
                <a:latin typeface="Calibri"/>
              </a:rPr>
              <a:t>Prior knowledge of the environment</a:t>
            </a:r>
          </a:p>
          <a:p>
            <a:pPr algn="l" marL="0" indent="0">
              <a:lnSpc>
                <a:spcPts val="1380"/>
              </a:lnSpc>
              <a:spcBef>
                <a:spcPts val="600"/>
              </a:spcBef>
              <a:spcAft>
                <a:spcPts val="0"/>
              </a:spcAft>
              <a:buNone/>
            </a:pPr>
            <a:r>
              <a:rPr sz="1150" b="0" i="0">
                <a:solidFill>
                  <a:srgbClr val="5F6B76"/>
                </a:solidFill>
                <a:latin typeface="Calibri"/>
              </a:rPr>
              <a:t>What the designer built in before the agent was switched on — the rules, the map, the model.</a:t>
            </a:r>
          </a:p>
        </p:txBody>
      </p:sp>
      <p:sp>
        <p:nvSpPr>
          <p:cNvPr id="15" name="Rectangle 14"/>
          <p:cNvSpPr/>
          <p:nvPr/>
        </p:nvSpPr>
        <p:spPr>
          <a:xfrm>
            <a:off x="6233144" y="3435857"/>
            <a:ext cx="2567932"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33144" y="3600449"/>
            <a:ext cx="2567932" cy="1138428"/>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2000" b="1" i="0">
                <a:solidFill>
                  <a:srgbClr val="1971C2"/>
                </a:solidFill>
                <a:latin typeface="Calibri"/>
              </a:rPr>
              <a:t>3</a:t>
            </a:r>
          </a:p>
          <a:p>
            <a:pPr algn="l" marL="0" indent="0">
              <a:lnSpc>
                <a:spcPts val="1456"/>
              </a:lnSpc>
              <a:spcBef>
                <a:spcPts val="400"/>
              </a:spcBef>
              <a:spcAft>
                <a:spcPts val="0"/>
              </a:spcAft>
              <a:buNone/>
            </a:pPr>
            <a:r>
              <a:rPr sz="1300" b="1" i="0">
                <a:solidFill>
                  <a:srgbClr val="16202A"/>
                </a:solidFill>
                <a:latin typeface="Calibri"/>
              </a:rPr>
              <a:t>The available actions</a:t>
            </a:r>
          </a:p>
          <a:p>
            <a:pPr algn="l" marL="0" indent="0">
              <a:lnSpc>
                <a:spcPts val="1380"/>
              </a:lnSpc>
              <a:spcBef>
                <a:spcPts val="600"/>
              </a:spcBef>
              <a:spcAft>
                <a:spcPts val="0"/>
              </a:spcAft>
              <a:buNone/>
            </a:pPr>
            <a:r>
              <a:rPr sz="1150" b="0" i="0">
                <a:solidFill>
                  <a:srgbClr val="5F6B76"/>
                </a:solidFill>
                <a:latin typeface="Calibri"/>
              </a:rPr>
              <a:t>Rationality is always relative to what the agent can physically do. No action, no obligation.</a:t>
            </a:r>
          </a:p>
        </p:txBody>
      </p:sp>
      <p:sp>
        <p:nvSpPr>
          <p:cNvPr id="17" name="Rectangle 16"/>
          <p:cNvSpPr/>
          <p:nvPr/>
        </p:nvSpPr>
        <p:spPr>
          <a:xfrm>
            <a:off x="9075397" y="3435857"/>
            <a:ext cx="2567932"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75397" y="3600449"/>
            <a:ext cx="2567932" cy="1138428"/>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2000" b="1" i="0">
                <a:solidFill>
                  <a:srgbClr val="C92A2A"/>
                </a:solidFill>
                <a:latin typeface="Calibri"/>
              </a:rPr>
              <a:t>4</a:t>
            </a:r>
          </a:p>
          <a:p>
            <a:pPr algn="l" marL="0" indent="0">
              <a:lnSpc>
                <a:spcPts val="1456"/>
              </a:lnSpc>
              <a:spcBef>
                <a:spcPts val="400"/>
              </a:spcBef>
              <a:spcAft>
                <a:spcPts val="0"/>
              </a:spcAft>
              <a:buNone/>
            </a:pPr>
            <a:r>
              <a:rPr sz="1300" b="1" i="0">
                <a:solidFill>
                  <a:srgbClr val="16202A"/>
                </a:solidFill>
                <a:latin typeface="Calibri"/>
              </a:rPr>
              <a:t>The percept sequence so far</a:t>
            </a:r>
          </a:p>
          <a:p>
            <a:pPr algn="l" marL="0" indent="0">
              <a:lnSpc>
                <a:spcPts val="1380"/>
              </a:lnSpc>
              <a:spcBef>
                <a:spcPts val="600"/>
              </a:spcBef>
              <a:spcAft>
                <a:spcPts val="0"/>
              </a:spcAft>
              <a:buNone/>
            </a:pPr>
            <a:r>
              <a:rPr sz="1150" b="0" i="0">
                <a:solidFill>
                  <a:srgbClr val="5F6B76"/>
                </a:solidFill>
                <a:latin typeface="Calibri"/>
              </a:rPr>
              <a:t>All the evidence the agent has. It cannot be rational with respect to facts it never observed.</a:t>
            </a:r>
          </a:p>
        </p:txBody>
      </p:sp>
      <p:sp>
        <p:nvSpPr>
          <p:cNvPr id="19" name="Rectangle 18"/>
          <p:cNvSpPr/>
          <p:nvPr/>
        </p:nvSpPr>
        <p:spPr>
          <a:xfrm>
            <a:off x="548640" y="5013198"/>
            <a:ext cx="11094689" cy="673608"/>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48640" y="5013198"/>
            <a:ext cx="41148" cy="67360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8096" y="5159502"/>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Note what is absent: the actual outcome. An agent that chooses well and is unlucky is still rational. Rationality constrains the </a:t>
            </a:r>
            <a:r>
              <a:rPr sz="1250" b="1" i="0">
                <a:solidFill>
                  <a:srgbClr val="2B3542"/>
                </a:solidFill>
                <a:latin typeface="Calibri"/>
              </a:rPr>
              <a:t>decision procedure</a:t>
            </a:r>
            <a:r>
              <a:rPr sz="1250" b="0" i="0">
                <a:solidFill>
                  <a:srgbClr val="2B3542"/>
                </a:solidFill>
                <a:latin typeface="Calibri"/>
              </a:rPr>
              <a:t>, not the result — which is why it can be engineered at all.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4.4  IS THE VACUUM AGENT RATIONAL?</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same program is rational under one measure and foolish under another</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IV — Performance measure and rationality</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31</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simple rule “if dirty, suck; otherwise move to the other square” never stops. Once both squares are clean the agent oscillates for ever. Whether that is irrational depends entirely on how the measure is written.</a:t>
            </a:r>
          </a:p>
        </p:txBody>
      </p:sp>
      <p:pic>
        <p:nvPicPr>
          <p:cNvPr id="9" name="Picture 8" descr="perf_vacuum.png"/>
          <p:cNvPicPr>
            <a:picLocks noChangeAspect="1"/>
          </p:cNvPicPr>
          <p:nvPr/>
        </p:nvPicPr>
        <p:blipFill>
          <a:blip r:embed="rId2"/>
          <a:stretch>
            <a:fillRect/>
          </a:stretch>
        </p:blipFill>
        <p:spPr>
          <a:xfrm>
            <a:off x="2585854" y="1899666"/>
            <a:ext cx="7020261" cy="1874519"/>
          </a:xfrm>
          <a:prstGeom prst="rect">
            <a:avLst/>
          </a:prstGeom>
        </p:spPr>
      </p:pic>
      <p:sp>
        <p:nvSpPr>
          <p:cNvPr id="10" name="Rectangle 9"/>
          <p:cNvSpPr/>
          <p:nvPr/>
        </p:nvSpPr>
        <p:spPr>
          <a:xfrm>
            <a:off x="548640" y="40667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42862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4325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MEASURE 1</a:t>
            </a:r>
          </a:p>
          <a:p>
            <a:pPr algn="l" marL="0" indent="0">
              <a:lnSpc>
                <a:spcPts val="1400"/>
              </a:lnSpc>
              <a:spcBef>
                <a:spcPts val="500"/>
              </a:spcBef>
              <a:spcAft>
                <a:spcPts val="0"/>
              </a:spcAft>
              <a:buNone/>
            </a:pPr>
            <a:r>
              <a:rPr sz="1250" b="1" i="0">
                <a:solidFill>
                  <a:srgbClr val="16202A"/>
                </a:solidFill>
                <a:latin typeface="Calibri"/>
              </a:rPr>
              <a:t>Reward +1 for each unit of dirt cleaned</a:t>
            </a:r>
          </a:p>
          <a:p>
            <a:pPr algn="l" marL="0" indent="0">
              <a:lnSpc>
                <a:spcPts val="1380"/>
              </a:lnSpc>
              <a:spcBef>
                <a:spcPts val="500"/>
              </a:spcBef>
              <a:spcAft>
                <a:spcPts val="0"/>
              </a:spcAft>
              <a:buNone/>
            </a:pPr>
            <a:r>
              <a:rPr sz="1150" b="0" i="0">
                <a:solidFill>
                  <a:srgbClr val="5F6B76"/>
                </a:solidFill>
                <a:latin typeface="Calibri"/>
              </a:rPr>
              <a:t>Movement is free, so endless oscillation costs nothing. The agent keeps moving and the measure never objects. Rational — and useless.</a:t>
            </a:r>
          </a:p>
        </p:txBody>
      </p:sp>
      <p:sp>
        <p:nvSpPr>
          <p:cNvPr id="13" name="Rectangle 12"/>
          <p:cNvSpPr/>
          <p:nvPr/>
        </p:nvSpPr>
        <p:spPr>
          <a:xfrm>
            <a:off x="4350501" y="4286250"/>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50501" y="44325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MEASURE 2</a:t>
            </a:r>
          </a:p>
          <a:p>
            <a:pPr algn="l" marL="0" indent="0">
              <a:lnSpc>
                <a:spcPts val="1400"/>
              </a:lnSpc>
              <a:spcBef>
                <a:spcPts val="500"/>
              </a:spcBef>
              <a:spcAft>
                <a:spcPts val="0"/>
              </a:spcAft>
              <a:buNone/>
            </a:pPr>
            <a:r>
              <a:rPr sz="1250" b="1" i="0">
                <a:solidFill>
                  <a:srgbClr val="16202A"/>
                </a:solidFill>
                <a:latin typeface="Calibri"/>
              </a:rPr>
              <a:t>Add a cost of −0.5 for each move</a:t>
            </a:r>
          </a:p>
          <a:p>
            <a:pPr algn="l" marL="0" indent="0">
              <a:lnSpc>
                <a:spcPts val="1380"/>
              </a:lnSpc>
              <a:spcBef>
                <a:spcPts val="500"/>
              </a:spcBef>
              <a:spcAft>
                <a:spcPts val="0"/>
              </a:spcAft>
              <a:buNone/>
            </a:pPr>
            <a:r>
              <a:rPr sz="1150" b="0" i="0">
                <a:solidFill>
                  <a:srgbClr val="5F6B76"/>
                </a:solidFill>
                <a:latin typeface="Calibri"/>
              </a:rPr>
              <a:t>Now the agent prefers to stay put once the floor is clean. But if dirt can reappear, standing still is exactly the wrong policy.</a:t>
            </a:r>
          </a:p>
        </p:txBody>
      </p:sp>
      <p:sp>
        <p:nvSpPr>
          <p:cNvPr id="15" name="Rectangle 14"/>
          <p:cNvSpPr/>
          <p:nvPr/>
        </p:nvSpPr>
        <p:spPr>
          <a:xfrm>
            <a:off x="8152363" y="42862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52363" y="44325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MEASURE 3</a:t>
            </a:r>
          </a:p>
          <a:p>
            <a:pPr algn="l" marL="0" indent="0">
              <a:lnSpc>
                <a:spcPts val="1400"/>
              </a:lnSpc>
              <a:spcBef>
                <a:spcPts val="500"/>
              </a:spcBef>
              <a:spcAft>
                <a:spcPts val="0"/>
              </a:spcAft>
              <a:buNone/>
            </a:pPr>
            <a:r>
              <a:rPr sz="1250" b="1" i="0">
                <a:solidFill>
                  <a:srgbClr val="16202A"/>
                </a:solidFill>
                <a:latin typeface="Calibri"/>
              </a:rPr>
              <a:t>Reward +1 for checking every k steps</a:t>
            </a:r>
          </a:p>
          <a:p>
            <a:pPr algn="l" marL="0" indent="0">
              <a:lnSpc>
                <a:spcPts val="1380"/>
              </a:lnSpc>
              <a:spcBef>
                <a:spcPts val="500"/>
              </a:spcBef>
              <a:spcAft>
                <a:spcPts val="0"/>
              </a:spcAft>
              <a:buNone/>
            </a:pPr>
            <a:r>
              <a:rPr sz="1150" b="0" i="0">
                <a:solidFill>
                  <a:srgbClr val="5F6B76"/>
                </a:solidFill>
                <a:latin typeface="Calibri"/>
              </a:rPr>
              <a:t>The agent re-inspects periodically without oscillating. The behaviour we wanted follows from the measure rather than being hand-coded into the rules.</a:t>
            </a:r>
          </a:p>
        </p:txBody>
      </p:sp>
      <p:sp>
        <p:nvSpPr>
          <p:cNvPr id="17" name="Rectangle 16"/>
          <p:cNvSpPr/>
          <p:nvPr/>
        </p:nvSpPr>
        <p:spPr>
          <a:xfrm>
            <a:off x="548640" y="5672477"/>
            <a:ext cx="11094689" cy="67360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672477"/>
            <a:ext cx="41148" cy="673608"/>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 y="5818781"/>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If the environment is unknown — dirt may or may not reappear — then </a:t>
            </a:r>
            <a:r>
              <a:rPr sz="1250" b="1" i="0">
                <a:solidFill>
                  <a:srgbClr val="2B3542"/>
                </a:solidFill>
                <a:latin typeface="Calibri"/>
              </a:rPr>
              <a:t>exploration itself becomes rational</a:t>
            </a:r>
            <a:r>
              <a:rPr sz="1250" b="0" i="0">
                <a:solidFill>
                  <a:srgbClr val="2B3542"/>
                </a:solidFill>
                <a:latin typeface="Calibri"/>
              </a:rPr>
              <a:t>: the agent must spend actions gathering information it cannot otherwise obtain. Chapter 04 is devoted to exactly this trade-off.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4.5  RATIONALITY AND OMNISCIENCE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Choosing well is not the same as knowing the outcome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IV — Performance measure and rationality</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32</a:t>
            </a:r>
          </a:p>
        </p:txBody>
      </p:sp>
      <p:sp>
        <p:nvSpPr>
          <p:cNvPr id="8" name="TextBox 7"/>
          <p:cNvSpPr txBox="1"/>
          <p:nvPr/>
        </p:nvSpPr>
        <p:spPr>
          <a:xfrm>
            <a:off x="548640" y="1280160"/>
            <a:ext cx="7223760" cy="66408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A rational agent maximises the expected performance given the evidence available to it. An omniscient agent would know the actual outcome of every action in advance. The second is not achievable, and it is not what we are trying to build.</a:t>
            </a:r>
          </a:p>
        </p:txBody>
      </p:sp>
      <p:sp>
        <p:nvSpPr>
          <p:cNvPr id="9" name="Rectangle 8"/>
          <p:cNvSpPr/>
          <p:nvPr/>
        </p:nvSpPr>
        <p:spPr>
          <a:xfrm>
            <a:off x="548640" y="2200275"/>
            <a:ext cx="3406140" cy="21031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00275"/>
            <a:ext cx="3406140"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2383155"/>
            <a:ext cx="3003804" cy="1548384"/>
          </a:xfrm>
          <a:prstGeom prst="rect">
            <a:avLst/>
          </a:prstGeom>
          <a:noFill/>
        </p:spPr>
        <p:txBody>
          <a:bodyPr wrap="square" lIns="0" rIns="0" tIns="0" bIns="0" anchor="t">
            <a:noAutofit/>
          </a:bodyPr>
          <a:lstStyle/>
          <a:p>
            <a:pPr algn="l" marL="0" indent="0">
              <a:lnSpc>
                <a:spcPts val="1770"/>
              </a:lnSpc>
              <a:spcBef>
                <a:spcPts val="0"/>
              </a:spcBef>
              <a:spcAft>
                <a:spcPts val="0"/>
              </a:spcAft>
              <a:buNone/>
            </a:pPr>
            <a:r>
              <a:rPr sz="1500" b="1" i="0">
                <a:solidFill>
                  <a:srgbClr val="C92A2A"/>
                </a:solidFill>
                <a:latin typeface="Calibri"/>
              </a:rPr>
              <a:t>Omniscient</a:t>
            </a:r>
          </a:p>
          <a:p>
            <a:pPr algn="l" marL="0" indent="0">
              <a:lnSpc>
                <a:spcPts val="1534"/>
              </a:lnSpc>
              <a:spcBef>
                <a:spcPts val="700"/>
              </a:spcBef>
              <a:spcAft>
                <a:spcPts val="0"/>
              </a:spcAft>
              <a:buNone/>
            </a:pPr>
            <a:r>
              <a:rPr sz="1300" b="1" i="0">
                <a:solidFill>
                  <a:srgbClr val="16202A"/>
                </a:solidFill>
                <a:latin typeface="Calibri"/>
              </a:rPr>
              <a:t>Knows the actual outcome of each action.</a:t>
            </a:r>
          </a:p>
          <a:p>
            <a:pPr algn="l" marL="0" indent="0">
              <a:lnSpc>
                <a:spcPts val="1440"/>
              </a:lnSpc>
              <a:spcBef>
                <a:spcPts val="700"/>
              </a:spcBef>
              <a:spcAft>
                <a:spcPts val="0"/>
              </a:spcAft>
              <a:buNone/>
            </a:pPr>
            <a:r>
              <a:rPr sz="1200" b="0" i="0">
                <a:solidFill>
                  <a:srgbClr val="5F6B76"/>
                </a:solidFill>
                <a:latin typeface="Calibri"/>
              </a:rPr>
              <a:t>Impossible in any environment with partial observability or stochastic dynamics — that is, in every environment that matters. It is not a demanding engineering target; it is a contradiction with the information available.</a:t>
            </a:r>
          </a:p>
        </p:txBody>
      </p:sp>
      <p:sp>
        <p:nvSpPr>
          <p:cNvPr id="12" name="Rectangle 11"/>
          <p:cNvSpPr/>
          <p:nvPr/>
        </p:nvSpPr>
        <p:spPr>
          <a:xfrm>
            <a:off x="4366259" y="2200275"/>
            <a:ext cx="3406140" cy="21031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66259" y="2200275"/>
            <a:ext cx="3406140"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67427" y="2383155"/>
            <a:ext cx="3003804" cy="1743202"/>
          </a:xfrm>
          <a:prstGeom prst="rect">
            <a:avLst/>
          </a:prstGeom>
          <a:noFill/>
        </p:spPr>
        <p:txBody>
          <a:bodyPr wrap="square" lIns="0" rIns="0" tIns="0" bIns="0" anchor="t">
            <a:noAutofit/>
          </a:bodyPr>
          <a:lstStyle/>
          <a:p>
            <a:pPr algn="l" marL="0" indent="0">
              <a:lnSpc>
                <a:spcPts val="1770"/>
              </a:lnSpc>
              <a:spcBef>
                <a:spcPts val="0"/>
              </a:spcBef>
              <a:spcAft>
                <a:spcPts val="0"/>
              </a:spcAft>
              <a:buNone/>
            </a:pPr>
            <a:r>
              <a:rPr sz="1500" b="1" i="0">
                <a:solidFill>
                  <a:srgbClr val="2B8A3E"/>
                </a:solidFill>
                <a:latin typeface="Calibri"/>
              </a:rPr>
              <a:t>Rational</a:t>
            </a:r>
          </a:p>
          <a:p>
            <a:pPr algn="l" marL="0" indent="0">
              <a:lnSpc>
                <a:spcPts val="1534"/>
              </a:lnSpc>
              <a:spcBef>
                <a:spcPts val="700"/>
              </a:spcBef>
              <a:spcAft>
                <a:spcPts val="0"/>
              </a:spcAft>
              <a:buNone/>
            </a:pPr>
            <a:r>
              <a:rPr sz="1300" b="1" i="0">
                <a:solidFill>
                  <a:srgbClr val="16202A"/>
                </a:solidFill>
                <a:latin typeface="Calibri"/>
              </a:rPr>
              <a:t>Maximises expected performance given the evidence.</a:t>
            </a:r>
          </a:p>
          <a:p>
            <a:pPr algn="l" marL="0" indent="0">
              <a:lnSpc>
                <a:spcPts val="1440"/>
              </a:lnSpc>
              <a:spcBef>
                <a:spcPts val="700"/>
              </a:spcBef>
              <a:spcAft>
                <a:spcPts val="0"/>
              </a:spcAft>
              <a:buNone/>
            </a:pPr>
            <a:r>
              <a:rPr sz="1200" b="0" i="0">
                <a:solidFill>
                  <a:srgbClr val="5F6B76"/>
                </a:solidFill>
                <a:latin typeface="Calibri"/>
              </a:rPr>
              <a:t>Achievable in principle, and the criterion against which agent programs are judged. It is defined relative to information, so more or better percepts can change what is rational without changing the program.</a:t>
            </a:r>
          </a:p>
        </p:txBody>
      </p:sp>
      <p:sp>
        <p:nvSpPr>
          <p:cNvPr id="15" name="Rectangle 14"/>
          <p:cNvSpPr/>
          <p:nvPr/>
        </p:nvSpPr>
        <p:spPr>
          <a:xfrm>
            <a:off x="548640" y="4596003"/>
            <a:ext cx="41148" cy="109728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6384" y="4614291"/>
            <a:ext cx="6949440" cy="888619"/>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classic example</a:t>
            </a:r>
          </a:p>
          <a:p>
            <a:pPr algn="l" marL="0" indent="0">
              <a:lnSpc>
                <a:spcPts val="1525"/>
              </a:lnSpc>
              <a:spcBef>
                <a:spcPts val="600"/>
              </a:spcBef>
              <a:spcAft>
                <a:spcPts val="0"/>
              </a:spcAft>
              <a:buNone/>
            </a:pPr>
            <a:r>
              <a:rPr sz="1250" b="0" i="0">
                <a:solidFill>
                  <a:srgbClr val="2B3542"/>
                </a:solidFill>
                <a:latin typeface="Calibri"/>
              </a:rPr>
              <a:t>Crossing an empty street is the rational action: every available percept says it is safe. If a cargo door then falls from a passing aircraft, the agent was </a:t>
            </a:r>
            <a:r>
              <a:rPr sz="1250" b="1" i="0">
                <a:solidFill>
                  <a:srgbClr val="16202A"/>
                </a:solidFill>
                <a:latin typeface="Calibri"/>
              </a:rPr>
              <a:t>unlucky, not irrational</a:t>
            </a:r>
            <a:r>
              <a:rPr sz="1250" b="0" i="0">
                <a:solidFill>
                  <a:srgbClr val="2B3542"/>
                </a:solidFill>
                <a:latin typeface="Calibri"/>
              </a:rPr>
              <a:t>. No decision procedure could have done better with the same evidence.</a:t>
            </a:r>
          </a:p>
        </p:txBody>
      </p:sp>
      <p:sp>
        <p:nvSpPr>
          <p:cNvPr id="17" name="Rectangle 16"/>
          <p:cNvSpPr/>
          <p:nvPr/>
        </p:nvSpPr>
        <p:spPr>
          <a:xfrm>
            <a:off x="8001000" y="1280160"/>
            <a:ext cx="3642329" cy="1444752"/>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01000" y="1280160"/>
            <a:ext cx="41148" cy="144475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0456" y="1426463"/>
            <a:ext cx="334972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2B8A3E"/>
                </a:solidFill>
                <a:latin typeface="Calibri"/>
              </a:rPr>
              <a:t>AN IMPORTANT QUALIFICATION</a:t>
            </a:r>
          </a:p>
        </p:txBody>
      </p:sp>
      <p:sp>
        <p:nvSpPr>
          <p:cNvPr id="20" name="TextBox 19"/>
          <p:cNvSpPr txBox="1"/>
          <p:nvPr/>
        </p:nvSpPr>
        <p:spPr>
          <a:xfrm>
            <a:off x="8220456" y="1664207"/>
            <a:ext cx="3258281" cy="9144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Rationality does, however, require </a:t>
            </a:r>
            <a:r>
              <a:rPr sz="1200" b="1" i="0">
                <a:solidFill>
                  <a:srgbClr val="2B3542"/>
                </a:solidFill>
                <a:latin typeface="Calibri"/>
              </a:rPr>
              <a:t>gathering evidence when that is cheap</a:t>
            </a:r>
            <a:r>
              <a:rPr sz="1200" b="0" i="0">
                <a:solidFill>
                  <a:srgbClr val="2B3542"/>
                </a:solidFill>
                <a:latin typeface="Calibri"/>
              </a:rPr>
              <a:t> — looking before crossing. Failing to look is irrational even if nothing happens, because the percept was available and was not taken.</a:t>
            </a:r>
          </a:p>
        </p:txBody>
      </p:sp>
      <p:sp>
        <p:nvSpPr>
          <p:cNvPr id="21" name="TextBox 20"/>
          <p:cNvSpPr txBox="1"/>
          <p:nvPr/>
        </p:nvSpPr>
        <p:spPr>
          <a:xfrm>
            <a:off x="8001000" y="2980944"/>
            <a:ext cx="364232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THREE CONSEQUENCES</a:t>
            </a:r>
          </a:p>
        </p:txBody>
      </p:sp>
      <p:sp>
        <p:nvSpPr>
          <p:cNvPr id="22" name="TextBox 21"/>
          <p:cNvSpPr txBox="1"/>
          <p:nvPr/>
        </p:nvSpPr>
        <p:spPr>
          <a:xfrm>
            <a:off x="8001000" y="3236976"/>
            <a:ext cx="3642329" cy="1627632"/>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1" i="0">
                <a:solidFill>
                  <a:srgbClr val="16202A"/>
                </a:solidFill>
                <a:latin typeface="Calibri"/>
              </a:rPr>
              <a:t>Information gathering</a:t>
            </a:r>
            <a:r>
              <a:rPr sz="1200" b="0" i="0">
                <a:solidFill>
                  <a:srgbClr val="2B3542"/>
                </a:solidFill>
                <a:latin typeface="Calibri"/>
              </a:rPr>
              <a:t> — exploration — is a rational action in its own right.</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Learning</a:t>
            </a:r>
            <a:r>
              <a:rPr sz="1200" b="0" i="0">
                <a:solidFill>
                  <a:srgbClr val="2B3542"/>
                </a:solidFill>
                <a:latin typeface="Calibri"/>
              </a:rPr>
              <a:t> is rational whenever the environment is initially unknown: it converts experience into better future decisions.</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Autonomy</a:t>
            </a:r>
            <a:r>
              <a:rPr sz="1200" b="0" i="0">
                <a:solidFill>
                  <a:srgbClr val="2B3542"/>
                </a:solidFill>
                <a:latin typeface="Calibri"/>
              </a:rPr>
              <a:t> follows: an agent that relies only on the designer’s prior knowledge is rational only in the world the designer imagined.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V</a:t>
            </a:r>
          </a:p>
        </p:txBody>
      </p:sp>
      <p:sp>
        <p:nvSpPr>
          <p:cNvPr id="5" name="TextBox 4"/>
          <p:cNvSpPr txBox="1"/>
          <p:nvPr/>
        </p:nvSpPr>
        <p:spPr>
          <a:xfrm>
            <a:off x="960120" y="2130552"/>
            <a:ext cx="6400800" cy="457200"/>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Agent architectures</a:t>
            </a:r>
          </a:p>
        </p:txBody>
      </p:sp>
      <p:sp>
        <p:nvSpPr>
          <p:cNvPr id="6" name="TextBox 5"/>
          <p:cNvSpPr txBox="1"/>
          <p:nvPr/>
        </p:nvSpPr>
        <p:spPr>
          <a:xfrm>
            <a:off x="960120" y="2840736"/>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Five ways of turning percepts into actions, each adding one capability that the previous one lacked.</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What does each architecture buy, and what does it cost?</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Simple reflex agents</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Model-based reflex agents</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Goal-based agents and minimax</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Utility-based agents</a:t>
            </a:r>
          </a:p>
          <a:p>
            <a:pPr algn="l" marL="0" indent="0">
              <a:lnSpc>
                <a:spcPts val="1566"/>
              </a:lnSpc>
              <a:spcBef>
                <a:spcPts val="1400"/>
              </a:spcBef>
              <a:spcAft>
                <a:spcPts val="0"/>
              </a:spcAft>
              <a:buNone/>
            </a:pPr>
            <a:r>
              <a:rPr sz="1350" b="1" i="0">
                <a:solidFill>
                  <a:srgbClr val="1971C2"/>
                </a:solidFill>
                <a:latin typeface="Calibri"/>
              </a:rPr>
              <a:t>05   </a:t>
            </a:r>
            <a:r>
              <a:rPr sz="1350" b="0" i="0">
                <a:solidFill>
                  <a:srgbClr val="C4D5E4"/>
                </a:solidFill>
                <a:latin typeface="Calibri"/>
              </a:rPr>
              <a:t>Learning agents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  ARCHITECTURE AND PROGRAM</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agent is the machine plus the program that runs on it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34</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agent program runs on a physical computing system with sensors and actuators — the agent architecture. The architecture delivers percepts to the program, runs it, and executes the actions it returns. The two must be compatible: if the program says “walk”, the architecture had better have legs.</a:t>
            </a:r>
          </a:p>
        </p:txBody>
      </p:sp>
      <p:pic>
        <p:nvPicPr>
          <p:cNvPr id="9" name="Picture 8" descr="eq_agent_eq.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3555095" y="1991106"/>
            <a:ext cx="5081778" cy="387476"/>
          </a:xfrm>
          <a:prstGeom prst="rect">
            <a:avLst/>
          </a:prstGeom>
        </p:spPr>
      </p:pic>
      <p:sp>
        <p:nvSpPr>
          <p:cNvPr id="10" name="Rectangle 9"/>
          <p:cNvSpPr/>
          <p:nvPr/>
        </p:nvSpPr>
        <p:spPr>
          <a:xfrm>
            <a:off x="548640" y="2762631"/>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3018663"/>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FIVE WAYS OF TURNING PERCEPTS INTO ACTIONS</a:t>
            </a:r>
          </a:p>
        </p:txBody>
      </p:sp>
      <p:sp>
        <p:nvSpPr>
          <p:cNvPr id="12" name="Rectangle 11"/>
          <p:cNvSpPr/>
          <p:nvPr/>
        </p:nvSpPr>
        <p:spPr>
          <a:xfrm>
            <a:off x="548640" y="3274695"/>
            <a:ext cx="2145785" cy="713232"/>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274695"/>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8368" y="3384423"/>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Simple reflex</a:t>
            </a:r>
          </a:p>
          <a:p>
            <a:pPr algn="l" marL="0" indent="0">
              <a:lnSpc>
                <a:spcPts val="1068"/>
              </a:lnSpc>
              <a:spcBef>
                <a:spcPts val="300"/>
              </a:spcBef>
              <a:spcAft>
                <a:spcPts val="0"/>
              </a:spcAft>
              <a:buNone/>
            </a:pPr>
            <a:r>
              <a:rPr sz="953" b="0" i="0">
                <a:solidFill>
                  <a:srgbClr val="8A959E"/>
                </a:solidFill>
                <a:latin typeface="Calibri"/>
              </a:rPr>
              <a:t>current percept only</a:t>
            </a:r>
          </a:p>
        </p:txBody>
      </p:sp>
      <p:sp>
        <p:nvSpPr>
          <p:cNvPr id="15" name="Rectangle 14"/>
          <p:cNvSpPr/>
          <p:nvPr/>
        </p:nvSpPr>
        <p:spPr>
          <a:xfrm>
            <a:off x="2785865" y="3274695"/>
            <a:ext cx="2145785" cy="713232"/>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785865" y="3274695"/>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895593" y="3384423"/>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Model-based reflex</a:t>
            </a:r>
          </a:p>
          <a:p>
            <a:pPr algn="l" marL="0" indent="0">
              <a:lnSpc>
                <a:spcPts val="1068"/>
              </a:lnSpc>
              <a:spcBef>
                <a:spcPts val="300"/>
              </a:spcBef>
              <a:spcAft>
                <a:spcPts val="0"/>
              </a:spcAft>
              <a:buNone/>
            </a:pPr>
            <a:r>
              <a:rPr sz="953" b="0" i="0">
                <a:solidFill>
                  <a:srgbClr val="8A959E"/>
                </a:solidFill>
                <a:latin typeface="Calibri"/>
              </a:rPr>
              <a:t>+ internal state</a:t>
            </a:r>
          </a:p>
        </p:txBody>
      </p:sp>
      <p:sp>
        <p:nvSpPr>
          <p:cNvPr id="18" name="Rectangle 17"/>
          <p:cNvSpPr/>
          <p:nvPr/>
        </p:nvSpPr>
        <p:spPr>
          <a:xfrm>
            <a:off x="5023091" y="3274695"/>
            <a:ext cx="2145785" cy="713232"/>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023091" y="3274695"/>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32819" y="3384423"/>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21" name="Rectangle 20"/>
          <p:cNvSpPr/>
          <p:nvPr/>
        </p:nvSpPr>
        <p:spPr>
          <a:xfrm>
            <a:off x="7260317" y="3274695"/>
            <a:ext cx="2145785" cy="713232"/>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60317" y="3274695"/>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70045" y="3384423"/>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4" name="Rectangle 23"/>
          <p:cNvSpPr/>
          <p:nvPr/>
        </p:nvSpPr>
        <p:spPr>
          <a:xfrm>
            <a:off x="9497543" y="3274695"/>
            <a:ext cx="2145785" cy="713232"/>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497543" y="3274695"/>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07271" y="3384423"/>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7" name="TextBox 26"/>
          <p:cNvSpPr txBox="1"/>
          <p:nvPr/>
        </p:nvSpPr>
        <p:spPr>
          <a:xfrm>
            <a:off x="548640" y="4298823"/>
            <a:ext cx="11094689" cy="446024"/>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There is no single recipe. Each architecture combines particular components in a particular way, and each one adds exactly one capability that the previous one lacked: </a:t>
            </a:r>
            <a:r>
              <a:rPr sz="1300" b="1" i="0">
                <a:solidFill>
                  <a:srgbClr val="16202A"/>
                </a:solidFill>
                <a:latin typeface="Calibri"/>
              </a:rPr>
              <a:t>memory, then foresight, then preference, then improvement</a:t>
            </a:r>
            <a:r>
              <a:rPr sz="1300" b="0" i="0">
                <a:solidFill>
                  <a:srgbClr val="2B3542"/>
                </a:solidFill>
                <a:latin typeface="Calibri"/>
              </a:rPr>
              <a:t>. Read the strip left to right — it reappears on every slide of Part V to mark where we are.</a:t>
            </a:r>
          </a:p>
        </p:txBody>
      </p:sp>
      <p:sp>
        <p:nvSpPr>
          <p:cNvPr id="28" name="Rectangle 27"/>
          <p:cNvSpPr/>
          <p:nvPr/>
        </p:nvSpPr>
        <p:spPr>
          <a:xfrm>
            <a:off x="548640" y="4982591"/>
            <a:ext cx="11094689" cy="673608"/>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8640" y="4982591"/>
            <a:ext cx="41148" cy="67360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 y="5128895"/>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Each step is a response to a property of the environment from Part III: </a:t>
            </a:r>
            <a:r>
              <a:rPr sz="1250" b="1" i="0">
                <a:solidFill>
                  <a:srgbClr val="2B3542"/>
                </a:solidFill>
                <a:latin typeface="Calibri"/>
              </a:rPr>
              <a:t>partial observability</a:t>
            </a:r>
            <a:r>
              <a:rPr sz="1250" b="0" i="0">
                <a:solidFill>
                  <a:srgbClr val="2B3542"/>
                </a:solidFill>
                <a:latin typeface="Calibri"/>
              </a:rPr>
              <a:t> forces internal state; </a:t>
            </a:r>
            <a:r>
              <a:rPr sz="1250" b="1" i="0">
                <a:solidFill>
                  <a:srgbClr val="2B3542"/>
                </a:solidFill>
                <a:latin typeface="Calibri"/>
              </a:rPr>
              <a:t>sequentiality</a:t>
            </a:r>
            <a:r>
              <a:rPr sz="1250" b="0" i="0">
                <a:solidFill>
                  <a:srgbClr val="2B3542"/>
                </a:solidFill>
                <a:latin typeface="Calibri"/>
              </a:rPr>
              <a:t> forces looking ahead; </a:t>
            </a:r>
            <a:r>
              <a:rPr sz="1250" b="1" i="0">
                <a:solidFill>
                  <a:srgbClr val="2B3542"/>
                </a:solidFill>
                <a:latin typeface="Calibri"/>
              </a:rPr>
              <a:t>stochasticity</a:t>
            </a:r>
            <a:r>
              <a:rPr sz="1250" b="0" i="0">
                <a:solidFill>
                  <a:srgbClr val="2B3542"/>
                </a:solidFill>
                <a:latin typeface="Calibri"/>
              </a:rPr>
              <a:t> forces graded preferences; </a:t>
            </a:r>
            <a:r>
              <a:rPr sz="1250" b="1" i="0">
                <a:solidFill>
                  <a:srgbClr val="2B3542"/>
                </a:solidFill>
                <a:latin typeface="Calibri"/>
              </a:rPr>
              <a:t>unknown dynamics</a:t>
            </a:r>
            <a:r>
              <a:rPr sz="1250" b="0" i="0">
                <a:solidFill>
                  <a:srgbClr val="2B3542"/>
                </a:solidFill>
                <a:latin typeface="Calibri"/>
              </a:rPr>
              <a:t> force learning.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5.2  SIMPLE REFLEX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Act on what you see now, and forget everything else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35</a:t>
            </a:r>
          </a:p>
        </p:txBody>
      </p:sp>
      <p:sp>
        <p:nvSpPr>
          <p:cNvPr id="8" name="Rectangle 7"/>
          <p:cNvSpPr/>
          <p:nvPr/>
        </p:nvSpPr>
        <p:spPr>
          <a:xfrm>
            <a:off x="548640"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Model-based reflex</a:t>
            </a:r>
          </a:p>
          <a:p>
            <a:pPr algn="l" marL="0" indent="0">
              <a:lnSpc>
                <a:spcPts val="1068"/>
              </a:lnSpc>
              <a:spcBef>
                <a:spcPts val="300"/>
              </a:spcBef>
              <a:spcAft>
                <a:spcPts val="0"/>
              </a:spcAft>
              <a:buNone/>
            </a:pPr>
            <a:r>
              <a:rPr sz="953" b="0" i="0">
                <a:solidFill>
                  <a:srgbClr val="8A959E"/>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6309360" cy="439419"/>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The most basic architecture selects an action solely on the basis of the current percept, ignoring the history entirely. Its knowledge is a set of condition–action rules.</a:t>
            </a:r>
          </a:p>
        </p:txBody>
      </p:sp>
      <p:pic>
        <p:nvPicPr>
          <p:cNvPr id="24" name="Picture 23" descr="arch_reflex.png"/>
          <p:cNvPicPr>
            <a:picLocks noChangeAspect="1"/>
          </p:cNvPicPr>
          <p:nvPr/>
        </p:nvPicPr>
        <p:blipFill>
          <a:blip r:embed="rId2"/>
          <a:stretch>
            <a:fillRect/>
          </a:stretch>
        </p:blipFill>
        <p:spPr>
          <a:xfrm>
            <a:off x="548640" y="2670556"/>
            <a:ext cx="5555630" cy="2148840"/>
          </a:xfrm>
          <a:prstGeom prst="rect">
            <a:avLst/>
          </a:prstGeom>
        </p:spPr>
      </p:pic>
      <p:sp>
        <p:nvSpPr>
          <p:cNvPr id="25" name="TextBox 24"/>
          <p:cNvSpPr txBox="1"/>
          <p:nvPr/>
        </p:nvSpPr>
        <p:spPr>
          <a:xfrm>
            <a:off x="548640" y="4929124"/>
            <a:ext cx="630936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Percepts enter through the sensors and are interpreted as “what the world is like now”; a rule fires; the action leaves through the actuators. There is no state.</a:t>
            </a:r>
          </a:p>
        </p:txBody>
      </p:sp>
      <p:pic>
        <p:nvPicPr>
          <p:cNvPr id="26" name="Picture 25" descr="eq_reflex_rul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7269480" y="2121408"/>
            <a:ext cx="3088385" cy="603504"/>
          </a:xfrm>
          <a:prstGeom prst="rect">
            <a:avLst/>
          </a:prstGeom>
        </p:spPr>
      </p:pic>
      <p:sp>
        <p:nvSpPr>
          <p:cNvPr id="27" name="TextBox 26"/>
          <p:cNvSpPr txBox="1"/>
          <p:nvPr/>
        </p:nvSpPr>
        <p:spPr>
          <a:xfrm>
            <a:off x="7269480" y="2999232"/>
            <a:ext cx="4373849" cy="223901"/>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0" i="0">
                <a:solidFill>
                  <a:srgbClr val="2B3542"/>
                </a:solidFill>
                <a:latin typeface="Calibri"/>
              </a:rPr>
              <a:t>The vacuum agent’s entire program, in words:</a:t>
            </a:r>
          </a:p>
        </p:txBody>
      </p:sp>
      <p:sp>
        <p:nvSpPr>
          <p:cNvPr id="28" name="Rectangle 27"/>
          <p:cNvSpPr/>
          <p:nvPr/>
        </p:nvSpPr>
        <p:spPr>
          <a:xfrm>
            <a:off x="7269480" y="3291840"/>
            <a:ext cx="4373849" cy="786384"/>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269480" y="3291840"/>
            <a:ext cx="41148" cy="78638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70648" y="3401568"/>
            <a:ext cx="3971513" cy="477012"/>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0" i="1">
                <a:solidFill>
                  <a:srgbClr val="16202A"/>
                </a:solidFill>
                <a:latin typeface="Calibri"/>
              </a:rPr>
              <a:t>“If the current square is dirty, clean it;</a:t>
            </a:r>
          </a:p>
          <a:p>
            <a:pPr algn="l" marL="0" indent="0">
              <a:lnSpc>
                <a:spcPts val="1534"/>
              </a:lnSpc>
              <a:spcBef>
                <a:spcPts val="400"/>
              </a:spcBef>
              <a:spcAft>
                <a:spcPts val="0"/>
              </a:spcAft>
              <a:buNone/>
            </a:pPr>
            <a:r>
              <a:rPr sz="1300" b="0" i="1">
                <a:solidFill>
                  <a:srgbClr val="16202A"/>
                </a:solidFill>
                <a:latin typeface="Calibri"/>
              </a:rPr>
              <a:t>otherwise, move to the other square.”</a:t>
            </a:r>
          </a:p>
        </p:txBody>
      </p:sp>
      <p:sp>
        <p:nvSpPr>
          <p:cNvPr id="31" name="TextBox 30"/>
          <p:cNvSpPr txBox="1"/>
          <p:nvPr/>
        </p:nvSpPr>
        <p:spPr>
          <a:xfrm>
            <a:off x="7269480" y="4242816"/>
            <a:ext cx="4373849" cy="76809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Each action is determined by the current location and whether that location is dirty — nothing else. The rule set is a </a:t>
            </a:r>
            <a:r>
              <a:rPr sz="1200" b="1" i="0">
                <a:solidFill>
                  <a:srgbClr val="16202A"/>
                </a:solidFill>
                <a:latin typeface="Calibri"/>
              </a:rPr>
              <a:t>condition–action</a:t>
            </a:r>
            <a:r>
              <a:rPr sz="1200" b="0" i="0">
                <a:solidFill>
                  <a:srgbClr val="5F6B76"/>
                </a:solidFill>
                <a:latin typeface="Calibri"/>
              </a:rPr>
              <a:t> mapping, and it is the smallest possible thing that could be called a program.</a:t>
            </a:r>
          </a:p>
        </p:txBody>
      </p:sp>
      <p:sp>
        <p:nvSpPr>
          <p:cNvPr id="32" name="Rectangle 31"/>
          <p:cNvSpPr/>
          <p:nvPr/>
        </p:nvSpPr>
        <p:spPr>
          <a:xfrm>
            <a:off x="548640" y="5248656"/>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5413248"/>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READING THE DIAGRAM</a:t>
            </a:r>
          </a:p>
        </p:txBody>
      </p:sp>
      <p:sp>
        <p:nvSpPr>
          <p:cNvPr id="34" name="TextBox 33"/>
          <p:cNvSpPr txBox="1"/>
          <p:nvPr/>
        </p:nvSpPr>
        <p:spPr>
          <a:xfrm>
            <a:off x="768096" y="5650992"/>
            <a:ext cx="3271509" cy="5969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Condition–action rules</a:t>
            </a:r>
          </a:p>
          <a:p>
            <a:pPr algn="l" marL="0" indent="0">
              <a:lnSpc>
                <a:spcPts val="1298"/>
              </a:lnSpc>
              <a:spcBef>
                <a:spcPts val="400"/>
              </a:spcBef>
              <a:spcAft>
                <a:spcPts val="0"/>
              </a:spcAft>
              <a:buNone/>
            </a:pPr>
            <a:r>
              <a:rPr sz="1100" b="0" i="0">
                <a:solidFill>
                  <a:srgbClr val="5F6B76"/>
                </a:solidFill>
                <a:latin typeface="Calibri"/>
              </a:rPr>
              <a:t>The agent’s entire knowledge — the cylinder on the left of the diagram.</a:t>
            </a:r>
          </a:p>
        </p:txBody>
      </p:sp>
      <p:sp>
        <p:nvSpPr>
          <p:cNvPr id="35" name="Rectangle 34"/>
          <p:cNvSpPr/>
          <p:nvPr/>
        </p:nvSpPr>
        <p:spPr>
          <a:xfrm>
            <a:off x="548640" y="5650992"/>
            <a:ext cx="41148" cy="56032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69957" y="5650992"/>
            <a:ext cx="3271509" cy="5969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“What the world is like now”</a:t>
            </a:r>
          </a:p>
          <a:p>
            <a:pPr algn="l" marL="0" indent="0">
              <a:lnSpc>
                <a:spcPts val="1298"/>
              </a:lnSpc>
              <a:spcBef>
                <a:spcPts val="400"/>
              </a:spcBef>
              <a:spcAft>
                <a:spcPts val="0"/>
              </a:spcAft>
              <a:buNone/>
            </a:pPr>
            <a:r>
              <a:rPr sz="1100" b="0" i="0">
                <a:solidFill>
                  <a:srgbClr val="5F6B76"/>
                </a:solidFill>
                <a:latin typeface="Calibri"/>
              </a:rPr>
              <a:t>An interpretation of the current percept, recomputed at every step and never kept.</a:t>
            </a:r>
          </a:p>
        </p:txBody>
      </p:sp>
      <p:sp>
        <p:nvSpPr>
          <p:cNvPr id="37" name="Rectangle 36"/>
          <p:cNvSpPr/>
          <p:nvPr/>
        </p:nvSpPr>
        <p:spPr>
          <a:xfrm>
            <a:off x="4350501" y="5650992"/>
            <a:ext cx="41148" cy="56032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71819" y="5650992"/>
            <a:ext cx="3271509" cy="5969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No loop inside the agent</a:t>
            </a:r>
          </a:p>
          <a:p>
            <a:pPr algn="l" marL="0" indent="0">
              <a:lnSpc>
                <a:spcPts val="1298"/>
              </a:lnSpc>
              <a:spcBef>
                <a:spcPts val="400"/>
              </a:spcBef>
              <a:spcAft>
                <a:spcPts val="0"/>
              </a:spcAft>
              <a:buNone/>
            </a:pPr>
            <a:r>
              <a:rPr sz="1100" b="0" i="0">
                <a:solidFill>
                  <a:srgbClr val="5F6B76"/>
                </a:solidFill>
                <a:latin typeface="Calibri"/>
              </a:rPr>
              <a:t>Nothing flows from one time step to the next. That absence is the definition.</a:t>
            </a:r>
          </a:p>
        </p:txBody>
      </p:sp>
      <p:sp>
        <p:nvSpPr>
          <p:cNvPr id="39" name="Rectangle 38"/>
          <p:cNvSpPr/>
          <p:nvPr/>
        </p:nvSpPr>
        <p:spPr>
          <a:xfrm>
            <a:off x="8152363" y="5650992"/>
            <a:ext cx="41148" cy="56032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5.3  WHY THE REFLEX PROGRAM IS SMALL</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It is compact precisely because it does not depend on the past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36</a:t>
            </a:r>
          </a:p>
        </p:txBody>
      </p:sp>
      <p:sp>
        <p:nvSpPr>
          <p:cNvPr id="8" name="Rectangle 7"/>
          <p:cNvSpPr/>
          <p:nvPr/>
        </p:nvSpPr>
        <p:spPr>
          <a:xfrm>
            <a:off x="548640"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Model-based reflex</a:t>
            </a:r>
          </a:p>
          <a:p>
            <a:pPr algn="l" marL="0" indent="0">
              <a:lnSpc>
                <a:spcPts val="1068"/>
              </a:lnSpc>
              <a:spcBef>
                <a:spcPts val="300"/>
              </a:spcBef>
              <a:spcAft>
                <a:spcPts val="0"/>
              </a:spcAft>
              <a:buNone/>
            </a:pPr>
            <a:r>
              <a:rPr sz="953" b="0" i="0">
                <a:solidFill>
                  <a:srgbClr val="8A959E"/>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Rectangle 22"/>
          <p:cNvSpPr/>
          <p:nvPr/>
        </p:nvSpPr>
        <p:spPr>
          <a:xfrm>
            <a:off x="548640" y="2084832"/>
            <a:ext cx="6035040" cy="285470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2084832"/>
            <a:ext cx="41148" cy="285470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2167128"/>
            <a:ext cx="566927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COMPLETE AGENT PROGRAM</a:t>
            </a:r>
          </a:p>
        </p:txBody>
      </p:sp>
      <p:sp>
        <p:nvSpPr>
          <p:cNvPr id="26" name="TextBox 25"/>
          <p:cNvSpPr txBox="1"/>
          <p:nvPr/>
        </p:nvSpPr>
        <p:spPr>
          <a:xfrm>
            <a:off x="731520" y="2468880"/>
            <a:ext cx="5724144" cy="239750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def SimpleReflexVacuumAgent():</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    def program(percept):</a:t>
            </a:r>
          </a:p>
          <a:p>
            <a:pPr algn="l" marL="0" indent="0">
              <a:lnSpc>
                <a:spcPts val="1430"/>
              </a:lnSpc>
              <a:spcBef>
                <a:spcPts val="0"/>
              </a:spcBef>
              <a:spcAft>
                <a:spcPts val="0"/>
              </a:spcAft>
              <a:buNone/>
            </a:pPr>
            <a:r>
              <a:rPr sz="1100" b="0" i="0">
                <a:solidFill>
                  <a:srgbClr val="1F2A37"/>
                </a:solidFill>
                <a:latin typeface="Consolas"/>
              </a:rPr>
              <a:t>        location, status = percept</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1" i="0">
                <a:solidFill>
                  <a:srgbClr val="1971C2"/>
                </a:solidFill>
                <a:latin typeface="Consolas"/>
              </a:rPr>
              <a:t>        if status == 'dirty':</a:t>
            </a:r>
          </a:p>
          <a:p>
            <a:pPr algn="l" marL="0" indent="0">
              <a:lnSpc>
                <a:spcPts val="1430"/>
              </a:lnSpc>
              <a:spcBef>
                <a:spcPts val="0"/>
              </a:spcBef>
              <a:spcAft>
                <a:spcPts val="0"/>
              </a:spcAft>
              <a:buNone/>
            </a:pPr>
            <a:r>
              <a:rPr sz="1100" b="1" i="0">
                <a:solidFill>
                  <a:srgbClr val="1971C2"/>
                </a:solidFill>
                <a:latin typeface="Consolas"/>
              </a:rPr>
              <a:t>            return 'suck'</a:t>
            </a:r>
          </a:p>
          <a:p>
            <a:pPr algn="l" marL="0" indent="0">
              <a:lnSpc>
                <a:spcPts val="1430"/>
              </a:lnSpc>
              <a:spcBef>
                <a:spcPts val="0"/>
              </a:spcBef>
              <a:spcAft>
                <a:spcPts val="0"/>
              </a:spcAft>
              <a:buNone/>
            </a:pPr>
            <a:r>
              <a:rPr sz="1100" b="0" i="0">
                <a:solidFill>
                  <a:srgbClr val="1F2A37"/>
                </a:solidFill>
                <a:latin typeface="Consolas"/>
              </a:rPr>
              <a:t>        elif location == 'A':</a:t>
            </a:r>
          </a:p>
          <a:p>
            <a:pPr algn="l" marL="0" indent="0">
              <a:lnSpc>
                <a:spcPts val="1430"/>
              </a:lnSpc>
              <a:spcBef>
                <a:spcPts val="0"/>
              </a:spcBef>
              <a:spcAft>
                <a:spcPts val="0"/>
              </a:spcAft>
              <a:buNone/>
            </a:pPr>
            <a:r>
              <a:rPr sz="1100" b="0" i="0">
                <a:solidFill>
                  <a:srgbClr val="1F2A37"/>
                </a:solidFill>
                <a:latin typeface="Consolas"/>
              </a:rPr>
              <a:t>            return 'right'</a:t>
            </a:r>
          </a:p>
          <a:p>
            <a:pPr algn="l" marL="0" indent="0">
              <a:lnSpc>
                <a:spcPts val="1430"/>
              </a:lnSpc>
              <a:spcBef>
                <a:spcPts val="0"/>
              </a:spcBef>
              <a:spcAft>
                <a:spcPts val="0"/>
              </a:spcAft>
              <a:buNone/>
            </a:pPr>
            <a:r>
              <a:rPr sz="1100" b="0" i="0">
                <a:solidFill>
                  <a:srgbClr val="1F2A37"/>
                </a:solidFill>
                <a:latin typeface="Consolas"/>
              </a:rPr>
              <a:t>        elif location == 'B':</a:t>
            </a:r>
          </a:p>
          <a:p>
            <a:pPr algn="l" marL="0" indent="0">
              <a:lnSpc>
                <a:spcPts val="1430"/>
              </a:lnSpc>
              <a:spcBef>
                <a:spcPts val="0"/>
              </a:spcBef>
              <a:spcAft>
                <a:spcPts val="0"/>
              </a:spcAft>
              <a:buNone/>
            </a:pPr>
            <a:r>
              <a:rPr sz="1100" b="0" i="0">
                <a:solidFill>
                  <a:srgbClr val="1F2A37"/>
                </a:solidFill>
                <a:latin typeface="Consolas"/>
              </a:rPr>
              <a:t>            return 'left'</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    return program</a:t>
            </a:r>
          </a:p>
        </p:txBody>
      </p:sp>
      <p:sp>
        <p:nvSpPr>
          <p:cNvPr id="27" name="Rectangle 26"/>
          <p:cNvSpPr/>
          <p:nvPr/>
        </p:nvSpPr>
        <p:spPr>
          <a:xfrm>
            <a:off x="548640" y="5122418"/>
            <a:ext cx="6035040" cy="122021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5122418"/>
            <a:ext cx="41148" cy="122021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1520" y="5204714"/>
            <a:ext cx="566927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A THREE-STEP RUN</a:t>
            </a:r>
          </a:p>
        </p:txBody>
      </p:sp>
      <p:sp>
        <p:nvSpPr>
          <p:cNvPr id="30" name="TextBox 29"/>
          <p:cNvSpPr txBox="1"/>
          <p:nvPr/>
        </p:nvSpPr>
        <p:spPr>
          <a:xfrm>
            <a:off x="731520" y="5506466"/>
            <a:ext cx="5724144" cy="76301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agent = SimpleReflexVacuumAgent()</a:t>
            </a:r>
          </a:p>
          <a:p>
            <a:pPr algn="l" marL="0" indent="0">
              <a:lnSpc>
                <a:spcPts val="1430"/>
              </a:lnSpc>
              <a:spcBef>
                <a:spcPts val="0"/>
              </a:spcBef>
              <a:spcAft>
                <a:spcPts val="0"/>
              </a:spcAft>
              <a:buNone/>
            </a:pPr>
            <a:r>
              <a:rPr sz="1100" b="0" i="0">
                <a:solidFill>
                  <a:srgbClr val="1F2A37"/>
                </a:solidFill>
                <a:latin typeface="Consolas"/>
              </a:rPr>
              <a:t>print(agent(('A', 'clean')))   </a:t>
            </a:r>
            <a:r>
              <a:rPr sz="1100" b="0" i="1">
                <a:solidFill>
                  <a:srgbClr val="768896"/>
                </a:solidFill>
                <a:latin typeface="Consolas"/>
              </a:rPr>
              <a:t># right</a:t>
            </a:r>
          </a:p>
          <a:p>
            <a:pPr algn="l" marL="0" indent="0">
              <a:lnSpc>
                <a:spcPts val="1430"/>
              </a:lnSpc>
              <a:spcBef>
                <a:spcPts val="0"/>
              </a:spcBef>
              <a:spcAft>
                <a:spcPts val="0"/>
              </a:spcAft>
              <a:buNone/>
            </a:pPr>
            <a:r>
              <a:rPr sz="1100" b="0" i="0">
                <a:solidFill>
                  <a:srgbClr val="1F2A37"/>
                </a:solidFill>
                <a:latin typeface="Consolas"/>
              </a:rPr>
              <a:t>print(agent(('A', 'dirty')))   </a:t>
            </a:r>
            <a:r>
              <a:rPr sz="1100" b="0" i="1">
                <a:solidFill>
                  <a:srgbClr val="768896"/>
                </a:solidFill>
                <a:latin typeface="Consolas"/>
              </a:rPr>
              <a:t># suck</a:t>
            </a:r>
          </a:p>
          <a:p>
            <a:pPr algn="l" marL="0" indent="0">
              <a:lnSpc>
                <a:spcPts val="1430"/>
              </a:lnSpc>
              <a:spcBef>
                <a:spcPts val="0"/>
              </a:spcBef>
              <a:spcAft>
                <a:spcPts val="0"/>
              </a:spcAft>
              <a:buNone/>
            </a:pPr>
            <a:r>
              <a:rPr sz="1100" b="0" i="0">
                <a:solidFill>
                  <a:srgbClr val="1F2A37"/>
                </a:solidFill>
                <a:latin typeface="Consolas"/>
              </a:rPr>
              <a:t>print(agent(('B', 'clean')))   </a:t>
            </a:r>
            <a:r>
              <a:rPr sz="1100" b="0" i="1">
                <a:solidFill>
                  <a:srgbClr val="768896"/>
                </a:solidFill>
                <a:latin typeface="Consolas"/>
              </a:rPr>
              <a:t># left   &lt;- not None</a:t>
            </a:r>
          </a:p>
        </p:txBody>
      </p:sp>
      <p:sp>
        <p:nvSpPr>
          <p:cNvPr id="31" name="TextBox 30"/>
          <p:cNvSpPr txBox="1"/>
          <p:nvPr/>
        </p:nvSpPr>
        <p:spPr>
          <a:xfrm>
            <a:off x="6995159" y="2084832"/>
            <a:ext cx="4648169" cy="857410"/>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1971C2"/>
                </a:solidFill>
                <a:latin typeface="Calibri"/>
              </a:rPr>
              <a:t>COMPARE WITH §2.4</a:t>
            </a:r>
          </a:p>
          <a:p>
            <a:pPr algn="l" marL="0" indent="0">
              <a:lnSpc>
                <a:spcPts val="1525"/>
              </a:lnSpc>
              <a:spcBef>
                <a:spcPts val="0"/>
              </a:spcBef>
              <a:spcAft>
                <a:spcPts val="0"/>
              </a:spcAft>
              <a:buNone/>
            </a:pPr>
            <a:r>
              <a:rPr sz="1250" b="0" i="0">
                <a:solidFill>
                  <a:srgbClr val="2B3542"/>
                </a:solidFill>
                <a:latin typeface="Calibri"/>
              </a:rPr>
              <a:t>The table-driven agent returned </a:t>
            </a:r>
            <a:r>
              <a:rPr sz="1150" b="0" i="0">
                <a:solidFill>
                  <a:srgbClr val="C92A2A"/>
                </a:solidFill>
                <a:latin typeface="Consolas"/>
              </a:rPr>
              <a:t>None</a:t>
            </a:r>
            <a:r>
              <a:rPr sz="1250" b="0" i="0">
                <a:solidFill>
                  <a:srgbClr val="2B3542"/>
                </a:solidFill>
                <a:latin typeface="Calibri"/>
              </a:rPr>
              <a:t> on the third step, because that particular three-step history had not been enumerated. This program answers every percept, for every history, in four lines.</a:t>
            </a:r>
          </a:p>
        </p:txBody>
      </p:sp>
      <p:sp>
        <p:nvSpPr>
          <p:cNvPr id="32" name="TextBox 31"/>
          <p:cNvSpPr txBox="1"/>
          <p:nvPr/>
        </p:nvSpPr>
        <p:spPr>
          <a:xfrm>
            <a:off x="6995159" y="3179986"/>
            <a:ext cx="464816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WHERE THE COMPRESSION COMES FROM</a:t>
            </a:r>
          </a:p>
        </p:txBody>
      </p:sp>
      <p:sp>
        <p:nvSpPr>
          <p:cNvPr id="33" name="TextBox 32"/>
          <p:cNvSpPr txBox="1"/>
          <p:nvPr/>
        </p:nvSpPr>
        <p:spPr>
          <a:xfrm>
            <a:off x="6995159" y="3436018"/>
            <a:ext cx="4648169" cy="1267967"/>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1" i="0">
                <a:solidFill>
                  <a:srgbClr val="16202A"/>
                </a:solidFill>
                <a:latin typeface="Calibri"/>
              </a:rPr>
              <a:t>It does not depend on the percept history</a:t>
            </a:r>
            <a:r>
              <a:rPr sz="1200" b="0" i="0">
                <a:solidFill>
                  <a:srgbClr val="2B3542"/>
                </a:solidFill>
                <a:latin typeface="Calibri"/>
              </a:rPr>
              <a:t>, so the P^T rows collapse to one entry per distinct percept: from P^T to P.</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Some actions ignore part of the percept too</a:t>
            </a:r>
            <a:r>
              <a:rPr sz="1200" b="0" i="0">
                <a:solidFill>
                  <a:srgbClr val="2B3542"/>
                </a:solidFill>
                <a:latin typeface="Calibri"/>
              </a:rPr>
              <a:t>: sucking a dirty square is correct in A and in B, so the two cases share a rule.</a:t>
            </a:r>
          </a:p>
          <a:p>
            <a:pPr algn="l" marL="173736" indent="-173736">
              <a:lnSpc>
                <a:spcPts val="1416"/>
              </a:lnSpc>
              <a:spcBef>
                <a:spcPts val="600"/>
              </a:spcBef>
              <a:spcAft>
                <a:spcPts val="0"/>
              </a:spcAft>
              <a:buClr>
                <a:srgbClr val="1971C2"/>
              </a:buClr>
              <a:buFont typeface="Calibri"/>
              <a:buChar char="–"/>
            </a:pPr>
            <a:r>
              <a:rPr sz="1200" b="1" i="0">
                <a:solidFill>
                  <a:srgbClr val="C92A2A"/>
                </a:solidFill>
                <a:latin typeface="Calibri"/>
              </a:rPr>
              <a:t>The saving is not free</a:t>
            </a:r>
            <a:r>
              <a:rPr sz="1200" b="0" i="0">
                <a:solidFill>
                  <a:srgbClr val="2B3542"/>
                </a:solidFill>
                <a:latin typeface="Calibri"/>
              </a:rPr>
              <a:t>: everything the history could have told the agent has been discarded, deliberately.</a:t>
            </a:r>
          </a:p>
        </p:txBody>
      </p:sp>
      <p:sp>
        <p:nvSpPr>
          <p:cNvPr id="34" name="Rectangle 33"/>
          <p:cNvSpPr/>
          <p:nvPr/>
        </p:nvSpPr>
        <p:spPr>
          <a:xfrm>
            <a:off x="6995159" y="4941730"/>
            <a:ext cx="4648169" cy="1078992"/>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95159" y="4941730"/>
            <a:ext cx="41148" cy="10789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214616" y="5088034"/>
            <a:ext cx="435556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2B8A3E"/>
                </a:solidFill>
                <a:latin typeface="Calibri"/>
              </a:rPr>
              <a:t>THE GENERAL LESSON</a:t>
            </a:r>
          </a:p>
        </p:txBody>
      </p:sp>
      <p:sp>
        <p:nvSpPr>
          <p:cNvPr id="37" name="TextBox 36"/>
          <p:cNvSpPr txBox="1"/>
          <p:nvPr/>
        </p:nvSpPr>
        <p:spPr>
          <a:xfrm>
            <a:off x="7214616" y="5325778"/>
            <a:ext cx="4264121" cy="54863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This is the first real answer to Part II. Compression is obtained by choosing a representation in which most distinctions do not matter — not by storing the table more cleverly.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5.4  REFLEX BEHAVIOUR IS NOT CONFINED TO TOY WORLDS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Layers of simple behaviours can produce complex activity</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37</a:t>
            </a:r>
          </a:p>
        </p:txBody>
      </p:sp>
      <p:sp>
        <p:nvSpPr>
          <p:cNvPr id="8" name="Rectangle 7"/>
          <p:cNvSpPr/>
          <p:nvPr/>
        </p:nvSpPr>
        <p:spPr>
          <a:xfrm>
            <a:off x="548640"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Model-based reflex</a:t>
            </a:r>
          </a:p>
          <a:p>
            <a:pPr algn="l" marL="0" indent="0">
              <a:lnSpc>
                <a:spcPts val="1068"/>
              </a:lnSpc>
              <a:spcBef>
                <a:spcPts val="300"/>
              </a:spcBef>
              <a:spcAft>
                <a:spcPts val="0"/>
              </a:spcAft>
              <a:buNone/>
            </a:pPr>
            <a:r>
              <a:rPr sz="953" b="0" i="0">
                <a:solidFill>
                  <a:srgbClr val="8A959E"/>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66543"/>
            <a:ext cx="11094689"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Reflex responses appear at every scale: an autonomous vehicle braking on detecting the brake lights ahead, or a human blinking as an object approaches the eye. Brooks argued something stronger — that complex robotic behaviour can emerge from layers of simple behaviours, with no explicit internal representation of the world at all.</a:t>
            </a:r>
          </a:p>
        </p:txBody>
      </p:sp>
      <p:pic>
        <p:nvPicPr>
          <p:cNvPr id="24" name="Picture 23" descr="brooks_genghis.png"/>
          <p:cNvPicPr>
            <a:picLocks noChangeAspect="1"/>
          </p:cNvPicPr>
          <p:nvPr/>
        </p:nvPicPr>
        <p:blipFill>
          <a:blip r:embed="rId2"/>
          <a:stretch>
            <a:fillRect/>
          </a:stretch>
        </p:blipFill>
        <p:spPr>
          <a:xfrm>
            <a:off x="2978776" y="2853690"/>
            <a:ext cx="6234416" cy="1719072"/>
          </a:xfrm>
          <a:prstGeom prst="rect">
            <a:avLst/>
          </a:prstGeom>
        </p:spPr>
      </p:pic>
      <p:sp>
        <p:nvSpPr>
          <p:cNvPr id="25" name="Rectangle 24"/>
          <p:cNvSpPr/>
          <p:nvPr/>
        </p:nvSpPr>
        <p:spPr>
          <a:xfrm>
            <a:off x="548640" y="482879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8640" y="5048250"/>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51945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BROOKS, 1991</a:t>
            </a:r>
          </a:p>
          <a:p>
            <a:pPr algn="l" marL="0" indent="0">
              <a:lnSpc>
                <a:spcPts val="1400"/>
              </a:lnSpc>
              <a:spcBef>
                <a:spcPts val="500"/>
              </a:spcBef>
              <a:spcAft>
                <a:spcPts val="0"/>
              </a:spcAft>
              <a:buNone/>
            </a:pPr>
            <a:r>
              <a:rPr sz="1250" b="1" i="0">
                <a:solidFill>
                  <a:srgbClr val="16202A"/>
                </a:solidFill>
                <a:latin typeface="Calibri"/>
              </a:rPr>
              <a:t>Intelligence without representation</a:t>
            </a:r>
          </a:p>
          <a:p>
            <a:pPr algn="l" marL="0" indent="0">
              <a:lnSpc>
                <a:spcPts val="1380"/>
              </a:lnSpc>
              <a:spcBef>
                <a:spcPts val="500"/>
              </a:spcBef>
              <a:spcAft>
                <a:spcPts val="0"/>
              </a:spcAft>
              <a:buNone/>
            </a:pPr>
            <a:r>
              <a:rPr sz="1150" b="0" i="0">
                <a:solidFill>
                  <a:srgbClr val="5F6B76"/>
                </a:solidFill>
                <a:latin typeface="Calibri"/>
              </a:rPr>
              <a:t>Genghis runs independent condition–action behaviours in parallel — avoid obstacles, seek light, avoid cliffs, wander. Coherent exploration is the result of their interaction.</a:t>
            </a:r>
          </a:p>
        </p:txBody>
      </p:sp>
      <p:sp>
        <p:nvSpPr>
          <p:cNvPr id="28" name="Rectangle 27"/>
          <p:cNvSpPr/>
          <p:nvPr/>
        </p:nvSpPr>
        <p:spPr>
          <a:xfrm>
            <a:off x="4350501" y="5048250"/>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50501" y="5194554"/>
            <a:ext cx="3490965" cy="100217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ROOMBA, FIRST GENERATION</a:t>
            </a:r>
          </a:p>
          <a:p>
            <a:pPr algn="l" marL="0" indent="0">
              <a:lnSpc>
                <a:spcPts val="1400"/>
              </a:lnSpc>
              <a:spcBef>
                <a:spcPts val="500"/>
              </a:spcBef>
              <a:spcAft>
                <a:spcPts val="0"/>
              </a:spcAft>
              <a:buNone/>
            </a:pPr>
            <a:r>
              <a:rPr sz="1250" b="1" i="0">
                <a:solidFill>
                  <a:srgbClr val="16202A"/>
                </a:solidFill>
                <a:latin typeface="Calibri"/>
              </a:rPr>
              <a:t>Largely reactive navigation</a:t>
            </a:r>
          </a:p>
          <a:p>
            <a:pPr algn="l" marL="0" indent="0">
              <a:lnSpc>
                <a:spcPts val="1380"/>
              </a:lnSpc>
              <a:spcBef>
                <a:spcPts val="500"/>
              </a:spcBef>
              <a:spcAft>
                <a:spcPts val="0"/>
              </a:spcAft>
              <a:buNone/>
            </a:pPr>
            <a:r>
              <a:rPr sz="1150" b="0" i="0">
                <a:solidFill>
                  <a:srgbClr val="5F6B76"/>
                </a:solidFill>
                <a:latin typeface="Calibri"/>
              </a:rPr>
              <a:t>Direction changes triggered by bumpers and edge sensors. No map, no memory — and, for a small room, good enough.</a:t>
            </a:r>
          </a:p>
        </p:txBody>
      </p:sp>
      <p:sp>
        <p:nvSpPr>
          <p:cNvPr id="30" name="Rectangle 29"/>
          <p:cNvSpPr/>
          <p:nvPr/>
        </p:nvSpPr>
        <p:spPr>
          <a:xfrm>
            <a:off x="8152363" y="5048250"/>
            <a:ext cx="3490965"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52363" y="5194554"/>
            <a:ext cx="3490965" cy="82691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B54708"/>
                </a:solidFill>
                <a:latin typeface="Calibri"/>
              </a:rPr>
              <a:t>IFTTT</a:t>
            </a:r>
          </a:p>
          <a:p>
            <a:pPr algn="l" marL="0" indent="0">
              <a:lnSpc>
                <a:spcPts val="1400"/>
              </a:lnSpc>
              <a:spcBef>
                <a:spcPts val="500"/>
              </a:spcBef>
              <a:spcAft>
                <a:spcPts val="0"/>
              </a:spcAft>
              <a:buNone/>
            </a:pPr>
            <a:r>
              <a:rPr sz="1250" b="1" i="0">
                <a:solidFill>
                  <a:srgbClr val="16202A"/>
                </a:solidFill>
                <a:latin typeface="Calibri"/>
              </a:rPr>
              <a:t>Condition–action rules as a product</a:t>
            </a:r>
          </a:p>
          <a:p>
            <a:pPr algn="l" marL="0" indent="0">
              <a:lnSpc>
                <a:spcPts val="1380"/>
              </a:lnSpc>
              <a:spcBef>
                <a:spcPts val="500"/>
              </a:spcBef>
              <a:spcAft>
                <a:spcPts val="0"/>
              </a:spcAft>
              <a:buNone/>
            </a:pPr>
            <a:r>
              <a:rPr sz="1150" b="0" i="0">
                <a:solidFill>
                  <a:srgbClr val="5F6B76"/>
                </a:solidFill>
                <a:latin typeface="Calibri"/>
              </a:rPr>
              <a:t>“If rain is forecast, send a reminder to carry an umbrella.” The same architecture, with the internet as environment.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5.5  WHERE REFLEX AGENTS BREAK</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 clean square looks the same everywhere, and the agent loops for ever</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38</a:t>
            </a:r>
          </a:p>
        </p:txBody>
      </p:sp>
      <p:sp>
        <p:nvSpPr>
          <p:cNvPr id="8" name="Rectangle 7"/>
          <p:cNvSpPr/>
          <p:nvPr/>
        </p:nvSpPr>
        <p:spPr>
          <a:xfrm>
            <a:off x="548640"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Model-based reflex</a:t>
            </a:r>
          </a:p>
          <a:p>
            <a:pPr algn="l" marL="0" indent="0">
              <a:lnSpc>
                <a:spcPts val="1068"/>
              </a:lnSpc>
              <a:spcBef>
                <a:spcPts val="300"/>
              </a:spcBef>
              <a:spcAft>
                <a:spcPts val="0"/>
              </a:spcAft>
              <a:buNone/>
            </a:pPr>
            <a:r>
              <a:rPr sz="953" b="0" i="0">
                <a:solidFill>
                  <a:srgbClr val="8A959E"/>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6675120" cy="439419"/>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Reflex agents work only when the correct action can be determined from the current percept alone. In a partially observable environment that condition fails, and the failure is not graceful.</a:t>
            </a:r>
          </a:p>
        </p:txBody>
      </p:sp>
      <p:sp>
        <p:nvSpPr>
          <p:cNvPr id="24" name="Rectangle 23"/>
          <p:cNvSpPr/>
          <p:nvPr/>
        </p:nvSpPr>
        <p:spPr>
          <a:xfrm>
            <a:off x="548640" y="2743708"/>
            <a:ext cx="41148" cy="36576"/>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2743708"/>
            <a:ext cx="6437376" cy="666750"/>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braking example</a:t>
            </a:r>
          </a:p>
          <a:p>
            <a:pPr algn="l" marL="0" indent="0">
              <a:lnSpc>
                <a:spcPts val="1464"/>
              </a:lnSpc>
              <a:spcBef>
                <a:spcPts val="500"/>
              </a:spcBef>
              <a:spcAft>
                <a:spcPts val="0"/>
              </a:spcAft>
              <a:buNone/>
            </a:pPr>
            <a:r>
              <a:rPr sz="1200" b="0" i="0">
                <a:solidFill>
                  <a:srgbClr val="2B3542"/>
                </a:solidFill>
                <a:latin typeface="Calibri"/>
              </a:rPr>
              <a:t>A single camera frame may not distinguish brake lights that are on from tail lights that are merely bright. The percept is genuinely ambiguous, so no rule over single frames can be right.</a:t>
            </a:r>
          </a:p>
        </p:txBody>
      </p:sp>
      <p:sp>
        <p:nvSpPr>
          <p:cNvPr id="26" name="Rectangle 25"/>
          <p:cNvSpPr/>
          <p:nvPr/>
        </p:nvSpPr>
        <p:spPr>
          <a:xfrm>
            <a:off x="548640" y="2743708"/>
            <a:ext cx="41148" cy="630174"/>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3648202"/>
            <a:ext cx="41148" cy="36576"/>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6384" y="3648202"/>
            <a:ext cx="6437376" cy="852678"/>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vacuum example</a:t>
            </a:r>
          </a:p>
          <a:p>
            <a:pPr algn="l" marL="0" indent="0">
              <a:lnSpc>
                <a:spcPts val="1464"/>
              </a:lnSpc>
              <a:spcBef>
                <a:spcPts val="500"/>
              </a:spcBef>
              <a:spcAft>
                <a:spcPts val="0"/>
              </a:spcAft>
              <a:buNone/>
            </a:pPr>
            <a:r>
              <a:rPr sz="1200" b="0" i="0">
                <a:solidFill>
                  <a:srgbClr val="2B3542"/>
                </a:solidFill>
                <a:latin typeface="Calibri"/>
              </a:rPr>
              <a:t>Give the agent a dirt sensor but no location sensor. On a clean square it cannot tell whether it is in A or in B, so a deterministic rule sends it the same way every time — and it moves back and forth for ever, or walks into a wall repeatedly.</a:t>
            </a:r>
          </a:p>
        </p:txBody>
      </p:sp>
      <p:sp>
        <p:nvSpPr>
          <p:cNvPr id="29" name="Rectangle 28"/>
          <p:cNvSpPr/>
          <p:nvPr/>
        </p:nvSpPr>
        <p:spPr>
          <a:xfrm>
            <a:off x="548640" y="3648202"/>
            <a:ext cx="41148" cy="81610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48640" y="4738624"/>
            <a:ext cx="41148" cy="3657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86384" y="4738624"/>
            <a:ext cx="6437376" cy="852678"/>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repair: randomise</a:t>
            </a:r>
          </a:p>
          <a:p>
            <a:pPr algn="l" marL="0" indent="0">
              <a:lnSpc>
                <a:spcPts val="1464"/>
              </a:lnSpc>
              <a:spcBef>
                <a:spcPts val="500"/>
              </a:spcBef>
              <a:spcAft>
                <a:spcPts val="0"/>
              </a:spcAft>
              <a:buNone/>
            </a:pPr>
            <a:r>
              <a:rPr sz="1200" b="0" i="0">
                <a:solidFill>
                  <a:srgbClr val="2B3542"/>
                </a:solidFill>
                <a:latin typeface="Calibri"/>
              </a:rPr>
              <a:t>On a clean square, choose left or right at random. In the two-square world this reaches the other square with probability one. Randomised behaviour can be strictly more rational than deterministic behaviour — a result that returns in Chapter 04.</a:t>
            </a:r>
          </a:p>
        </p:txBody>
      </p:sp>
      <p:sp>
        <p:nvSpPr>
          <p:cNvPr id="32" name="Rectangle 31"/>
          <p:cNvSpPr/>
          <p:nvPr/>
        </p:nvSpPr>
        <p:spPr>
          <a:xfrm>
            <a:off x="548640" y="4738624"/>
            <a:ext cx="41148" cy="81610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35240" y="2084832"/>
            <a:ext cx="4008089" cy="1444752"/>
          </a:xfrm>
          <a:prstGeom prst="rect">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5240" y="2084832"/>
            <a:ext cx="41148" cy="144475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854696" y="2231136"/>
            <a:ext cx="371548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C92A2A"/>
                </a:solidFill>
                <a:latin typeface="Calibri"/>
              </a:rPr>
              <a:t>THE UNDERLYING DEFECT</a:t>
            </a:r>
          </a:p>
        </p:txBody>
      </p:sp>
      <p:sp>
        <p:nvSpPr>
          <p:cNvPr id="36" name="TextBox 35"/>
          <p:cNvSpPr txBox="1"/>
          <p:nvPr/>
        </p:nvSpPr>
        <p:spPr>
          <a:xfrm>
            <a:off x="7854696" y="2468880"/>
            <a:ext cx="3624041" cy="9144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2B3542"/>
                </a:solidFill>
                <a:latin typeface="Calibri"/>
              </a:rPr>
              <a:t>The percept is not a state.</a:t>
            </a:r>
            <a:r>
              <a:rPr sz="1200" b="0" i="0">
                <a:solidFill>
                  <a:srgbClr val="2B3542"/>
                </a:solidFill>
                <a:latin typeface="Calibri"/>
              </a:rPr>
              <a:t> A reflex agent silently assumes that the current percept identifies the situation. Whenever two genuinely different situations produce the same percept, the architecture cannot represent the difference — however cleverly the rules are written.</a:t>
            </a:r>
          </a:p>
        </p:txBody>
      </p:sp>
      <p:sp>
        <p:nvSpPr>
          <p:cNvPr id="37" name="TextBox 36"/>
          <p:cNvSpPr txBox="1"/>
          <p:nvPr/>
        </p:nvSpPr>
        <p:spPr>
          <a:xfrm>
            <a:off x="7635240" y="3803904"/>
            <a:ext cx="40080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WHAT IS NEEDED INSTEAD</a:t>
            </a:r>
          </a:p>
        </p:txBody>
      </p:sp>
      <p:sp>
        <p:nvSpPr>
          <p:cNvPr id="38" name="TextBox 37"/>
          <p:cNvSpPr txBox="1"/>
          <p:nvPr/>
        </p:nvSpPr>
        <p:spPr>
          <a:xfrm>
            <a:off x="7635240" y="4059935"/>
            <a:ext cx="4008089" cy="617601"/>
          </a:xfrm>
          <a:prstGeom prst="rect">
            <a:avLst/>
          </a:prstGeom>
          <a:noFill/>
        </p:spPr>
        <p:txBody>
          <a:bodyPr wrap="square" lIns="0" rIns="0" tIns="0" bIns="0" anchor="t">
            <a:noAutofit/>
          </a:bodyPr>
          <a:lstStyle/>
          <a:p>
            <a:pPr algn="l" marL="0" indent="0">
              <a:lnSpc>
                <a:spcPts val="1525"/>
              </a:lnSpc>
              <a:spcBef>
                <a:spcPts val="0"/>
              </a:spcBef>
              <a:spcAft>
                <a:spcPts val="0"/>
              </a:spcAft>
              <a:buNone/>
            </a:pPr>
            <a:r>
              <a:rPr sz="1250" b="0" i="0">
                <a:solidFill>
                  <a:srgbClr val="2B3542"/>
                </a:solidFill>
                <a:latin typeface="Calibri"/>
              </a:rPr>
              <a:t>Something inside the agent that distinguishes “clean square, just arrived from A” from “clean square, just arrived from B”. That something is </a:t>
            </a:r>
            <a:r>
              <a:rPr sz="1250" b="1" i="0">
                <a:solidFill>
                  <a:srgbClr val="1971C2"/>
                </a:solidFill>
                <a:latin typeface="Calibri"/>
              </a:rPr>
              <a:t>internal state</a:t>
            </a:r>
            <a:r>
              <a:rPr sz="1250" b="0" i="0">
                <a:solidFill>
                  <a:srgbClr val="2B3542"/>
                </a:solidFill>
                <a:latin typeface="Calibri"/>
              </a:rPr>
              <a:t> — the subject of §5.6.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5.6  MODEL-BASED REFLEX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Memory compensates for what the sensors cannot observe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39</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630936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The effective way to handle partial observability is to give the agent an internal state that captures what the current percept does not show, and to keep that state up to date using the percept history.</a:t>
            </a:r>
          </a:p>
        </p:txBody>
      </p:sp>
      <p:pic>
        <p:nvPicPr>
          <p:cNvPr id="24" name="Picture 23" descr="arch_model.png"/>
          <p:cNvPicPr>
            <a:picLocks noChangeAspect="1"/>
          </p:cNvPicPr>
          <p:nvPr/>
        </p:nvPicPr>
        <p:blipFill>
          <a:blip r:embed="rId2"/>
          <a:stretch>
            <a:fillRect/>
          </a:stretch>
        </p:blipFill>
        <p:spPr>
          <a:xfrm>
            <a:off x="548640" y="2871978"/>
            <a:ext cx="5747149" cy="2240280"/>
          </a:xfrm>
          <a:prstGeom prst="rect">
            <a:avLst/>
          </a:prstGeom>
        </p:spPr>
      </p:pic>
      <p:sp>
        <p:nvSpPr>
          <p:cNvPr id="25" name="TextBox 24"/>
          <p:cNvSpPr txBox="1"/>
          <p:nvPr/>
        </p:nvSpPr>
        <p:spPr>
          <a:xfrm>
            <a:off x="548640" y="5221986"/>
            <a:ext cx="630936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The same diagram as §5.2, with one block added — the state — and the two models that maintain it. Everything else is unchanged.</a:t>
            </a:r>
          </a:p>
        </p:txBody>
      </p:sp>
      <p:sp>
        <p:nvSpPr>
          <p:cNvPr id="26" name="Rectangle 25"/>
          <p:cNvSpPr/>
          <p:nvPr/>
        </p:nvSpPr>
        <p:spPr>
          <a:xfrm>
            <a:off x="7269480" y="2121408"/>
            <a:ext cx="4373849"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269480" y="2267712"/>
            <a:ext cx="4373849" cy="872871"/>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Sensor model</a:t>
            </a:r>
          </a:p>
          <a:p>
            <a:pPr algn="l" marL="0" indent="0">
              <a:lnSpc>
                <a:spcPts val="1464"/>
              </a:lnSpc>
              <a:spcBef>
                <a:spcPts val="600"/>
              </a:spcBef>
              <a:spcAft>
                <a:spcPts val="0"/>
              </a:spcAft>
              <a:buNone/>
            </a:pPr>
            <a:r>
              <a:rPr sz="1200" b="0" i="0">
                <a:solidFill>
                  <a:srgbClr val="5F6B76"/>
                </a:solidFill>
                <a:latin typeface="Calibri"/>
              </a:rPr>
              <a:t>How the state of the world is reflected in the agent’s percepts. Illuminated brake lights appear as red regions in the camera image; a wall appears as a short range reading.</a:t>
            </a:r>
          </a:p>
        </p:txBody>
      </p:sp>
      <p:sp>
        <p:nvSpPr>
          <p:cNvPr id="28" name="Rectangle 27"/>
          <p:cNvSpPr/>
          <p:nvPr/>
        </p:nvSpPr>
        <p:spPr>
          <a:xfrm>
            <a:off x="7269480" y="3538728"/>
            <a:ext cx="4373849"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269480" y="3685032"/>
            <a:ext cx="4373849" cy="872871"/>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Transition model</a:t>
            </a:r>
          </a:p>
          <a:p>
            <a:pPr algn="l" marL="0" indent="0">
              <a:lnSpc>
                <a:spcPts val="1464"/>
              </a:lnSpc>
              <a:spcBef>
                <a:spcPts val="600"/>
              </a:spcBef>
              <a:spcAft>
                <a:spcPts val="0"/>
              </a:spcAft>
              <a:buNone/>
            </a:pPr>
            <a:r>
              <a:rPr sz="1200" b="0" i="0">
                <a:solidFill>
                  <a:srgbClr val="5F6B76"/>
                </a:solidFill>
                <a:latin typeface="Calibri"/>
              </a:rPr>
              <a:t>How the world evolves over time: both the effects of the agent’s own actions (turning the wheel changes heading) and changes independent of it (rain reduces visibility).</a:t>
            </a:r>
          </a:p>
        </p:txBody>
      </p:sp>
      <p:sp>
        <p:nvSpPr>
          <p:cNvPr id="30" name="Rectangle 29"/>
          <p:cNvSpPr/>
          <p:nvPr/>
        </p:nvSpPr>
        <p:spPr>
          <a:xfrm>
            <a:off x="7269480" y="4956048"/>
            <a:ext cx="4373849" cy="1024127"/>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269480" y="4956048"/>
            <a:ext cx="41148" cy="1024127"/>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88936" y="5102352"/>
            <a:ext cx="3989801" cy="73151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Combining the two models with the percept history lets the agent estimate the current state of the world </a:t>
            </a:r>
            <a:r>
              <a:rPr sz="1200" b="1" i="0">
                <a:solidFill>
                  <a:srgbClr val="2B3542"/>
                </a:solidFill>
                <a:latin typeface="Calibri"/>
              </a:rPr>
              <a:t>as accurately as its sensors allow</a:t>
            </a:r>
            <a:r>
              <a:rPr sz="1200" b="0" i="0">
                <a:solidFill>
                  <a:srgbClr val="2B3542"/>
                </a:solidFill>
                <a:latin typeface="Calibri"/>
              </a:rPr>
              <a:t> — which is usually not exactly. The state is a belief, not a fact, and the agent must act anyway.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5.7  MAINTAINING THE STATE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One update rule, three ingredients, two models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40</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Goal-based</a:t>
            </a:r>
          </a:p>
          <a:p>
            <a:pPr algn="l" marL="0" indent="0">
              <a:lnSpc>
                <a:spcPts val="1068"/>
              </a:lnSpc>
              <a:spcBef>
                <a:spcPts val="300"/>
              </a:spcBef>
              <a:spcAft>
                <a:spcPts val="0"/>
              </a:spcAft>
              <a:buNone/>
            </a:pPr>
            <a:r>
              <a:rPr sz="953" b="0" i="0">
                <a:solidFill>
                  <a:srgbClr val="8A959E"/>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pic>
        <p:nvPicPr>
          <p:cNvPr id="23" name="Picture 22" descr="eq_state_update.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252837" y="2011680"/>
            <a:ext cx="7686294" cy="888492"/>
          </a:xfrm>
          <a:prstGeom prst="rect">
            <a:avLst/>
          </a:prstGeom>
        </p:spPr>
      </p:pic>
      <p:sp>
        <p:nvSpPr>
          <p:cNvPr id="24" name="Rectangle 23"/>
          <p:cNvSpPr/>
          <p:nvPr/>
        </p:nvSpPr>
        <p:spPr>
          <a:xfrm>
            <a:off x="548640" y="315620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3339084"/>
            <a:ext cx="5989320" cy="303631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8640" y="3339084"/>
            <a:ext cx="41148" cy="303631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1520" y="3421380"/>
            <a:ext cx="562355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MODEL-BASED VACUUM AGENT</a:t>
            </a:r>
          </a:p>
        </p:txBody>
      </p:sp>
      <p:sp>
        <p:nvSpPr>
          <p:cNvPr id="28" name="TextBox 27"/>
          <p:cNvSpPr txBox="1"/>
          <p:nvPr/>
        </p:nvSpPr>
        <p:spPr>
          <a:xfrm>
            <a:off x="731520" y="3723132"/>
            <a:ext cx="5678424" cy="257911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def ModelBasedReflexVacuumAgent():</a:t>
            </a:r>
          </a:p>
          <a:p>
            <a:pPr algn="l" marL="0" indent="0">
              <a:lnSpc>
                <a:spcPts val="1430"/>
              </a:lnSpc>
              <a:spcBef>
                <a:spcPts val="0"/>
              </a:spcBef>
              <a:spcAft>
                <a:spcPts val="0"/>
              </a:spcAft>
              <a:buNone/>
            </a:pPr>
            <a:r>
              <a:rPr sz="1100" b="1" i="0">
                <a:solidFill>
                  <a:srgbClr val="1971C2"/>
                </a:solidFill>
                <a:latin typeface="Consolas"/>
              </a:rPr>
              <a:t>    model = {'A': None, 'B': None}    </a:t>
            </a:r>
            <a:r>
              <a:rPr sz="1100" b="0" i="1">
                <a:solidFill>
                  <a:srgbClr val="768896"/>
                </a:solidFill>
                <a:latin typeface="Consolas"/>
              </a:rPr>
              <a:t># the internal state</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    def program(percept):</a:t>
            </a:r>
          </a:p>
          <a:p>
            <a:pPr algn="l" marL="0" indent="0">
              <a:lnSpc>
                <a:spcPts val="1430"/>
              </a:lnSpc>
              <a:spcBef>
                <a:spcPts val="0"/>
              </a:spcBef>
              <a:spcAft>
                <a:spcPts val="0"/>
              </a:spcAft>
              <a:buNone/>
            </a:pPr>
            <a:r>
              <a:rPr sz="1100" b="0" i="0">
                <a:solidFill>
                  <a:srgbClr val="1F2A37"/>
                </a:solidFill>
                <a:latin typeface="Consolas"/>
              </a:rPr>
              <a:t>        location, status = percept</a:t>
            </a:r>
          </a:p>
          <a:p>
            <a:pPr algn="l" marL="0" indent="0">
              <a:lnSpc>
                <a:spcPts val="1430"/>
              </a:lnSpc>
              <a:spcBef>
                <a:spcPts val="0"/>
              </a:spcBef>
              <a:spcAft>
                <a:spcPts val="0"/>
              </a:spcAft>
              <a:buNone/>
            </a:pPr>
            <a:r>
              <a:rPr sz="1100" b="1" i="0">
                <a:solidFill>
                  <a:srgbClr val="1971C2"/>
                </a:solidFill>
                <a:latin typeface="Consolas"/>
              </a:rPr>
              <a:t>        model[location] = status      </a:t>
            </a:r>
            <a:r>
              <a:rPr sz="1100" b="0" i="1">
                <a:solidFill>
                  <a:srgbClr val="768896"/>
                </a:solidFill>
                <a:latin typeface="Consolas"/>
              </a:rPr>
              <a:t># update the state</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1" i="0">
                <a:solidFill>
                  <a:srgbClr val="1971C2"/>
                </a:solidFill>
                <a:latin typeface="Consolas"/>
              </a:rPr>
              <a:t>        if model['A'] == model['B'] == 'clean':</a:t>
            </a:r>
          </a:p>
          <a:p>
            <a:pPr algn="l" marL="0" indent="0">
              <a:lnSpc>
                <a:spcPts val="1430"/>
              </a:lnSpc>
              <a:spcBef>
                <a:spcPts val="0"/>
              </a:spcBef>
              <a:spcAft>
                <a:spcPts val="0"/>
              </a:spcAft>
              <a:buNone/>
            </a:pPr>
            <a:r>
              <a:rPr sz="1100" b="0" i="0">
                <a:solidFill>
                  <a:srgbClr val="1F2A37"/>
                </a:solidFill>
                <a:latin typeface="Consolas"/>
              </a:rPr>
              <a:t>            return 'noop'             </a:t>
            </a:r>
            <a:r>
              <a:rPr sz="1100" b="0" i="1">
                <a:solidFill>
                  <a:srgbClr val="768896"/>
                </a:solidFill>
                <a:latin typeface="Consolas"/>
              </a:rPr>
              <a:t># needs the state</a:t>
            </a:r>
          </a:p>
          <a:p>
            <a:pPr algn="l" marL="0" indent="0">
              <a:lnSpc>
                <a:spcPts val="1430"/>
              </a:lnSpc>
              <a:spcBef>
                <a:spcPts val="0"/>
              </a:spcBef>
              <a:spcAft>
                <a:spcPts val="0"/>
              </a:spcAft>
              <a:buNone/>
            </a:pPr>
            <a:r>
              <a:rPr sz="1100" b="0" i="0">
                <a:solidFill>
                  <a:srgbClr val="1F2A37"/>
                </a:solidFill>
                <a:latin typeface="Consolas"/>
              </a:rPr>
              <a:t>        elif status == 'dirty':  return 'suck'</a:t>
            </a:r>
          </a:p>
          <a:p>
            <a:pPr algn="l" marL="0" indent="0">
              <a:lnSpc>
                <a:spcPts val="1430"/>
              </a:lnSpc>
              <a:spcBef>
                <a:spcPts val="0"/>
              </a:spcBef>
              <a:spcAft>
                <a:spcPts val="0"/>
              </a:spcAft>
              <a:buNone/>
            </a:pPr>
            <a:r>
              <a:rPr sz="1100" b="0" i="0">
                <a:solidFill>
                  <a:srgbClr val="1F2A37"/>
                </a:solidFill>
                <a:latin typeface="Consolas"/>
              </a:rPr>
              <a:t>        elif location == 'A':    return 'right'</a:t>
            </a:r>
          </a:p>
          <a:p>
            <a:pPr algn="l" marL="0" indent="0">
              <a:lnSpc>
                <a:spcPts val="1430"/>
              </a:lnSpc>
              <a:spcBef>
                <a:spcPts val="0"/>
              </a:spcBef>
              <a:spcAft>
                <a:spcPts val="0"/>
              </a:spcAft>
              <a:buNone/>
            </a:pPr>
            <a:r>
              <a:rPr sz="1100" b="0" i="0">
                <a:solidFill>
                  <a:srgbClr val="1F2A37"/>
                </a:solidFill>
                <a:latin typeface="Consolas"/>
              </a:rPr>
              <a:t>        elif location == 'B':    return 'left'</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    return program</a:t>
            </a:r>
          </a:p>
        </p:txBody>
      </p:sp>
      <p:sp>
        <p:nvSpPr>
          <p:cNvPr id="29" name="TextBox 28"/>
          <p:cNvSpPr txBox="1"/>
          <p:nvPr/>
        </p:nvSpPr>
        <p:spPr>
          <a:xfrm>
            <a:off x="6949440" y="3339084"/>
            <a:ext cx="4693889" cy="1051085"/>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1971C2"/>
                </a:solidFill>
                <a:latin typeface="Calibri"/>
              </a:rPr>
              <a:t>WHAT THE STATE BUYS HERE</a:t>
            </a:r>
          </a:p>
          <a:p>
            <a:pPr algn="l" marL="0" indent="0">
              <a:lnSpc>
                <a:spcPts val="1525"/>
              </a:lnSpc>
              <a:spcBef>
                <a:spcPts val="0"/>
              </a:spcBef>
              <a:spcAft>
                <a:spcPts val="0"/>
              </a:spcAft>
              <a:buNone/>
            </a:pPr>
            <a:r>
              <a:rPr sz="1250" b="0" i="0">
                <a:solidFill>
                  <a:srgbClr val="2B3542"/>
                </a:solidFill>
                <a:latin typeface="Calibri"/>
              </a:rPr>
              <a:t>The reflex agent of §5.2 can never stop, because “both squares are clean” is not a percept — it is a </a:t>
            </a:r>
            <a:r>
              <a:rPr sz="1250" b="1" i="0">
                <a:solidFill>
                  <a:srgbClr val="16202A"/>
                </a:solidFill>
                <a:latin typeface="Calibri"/>
              </a:rPr>
              <a:t>conclusion drawn from two percepts at different times</a:t>
            </a:r>
            <a:r>
              <a:rPr sz="1250" b="0" i="0">
                <a:solidFill>
                  <a:srgbClr val="2B3542"/>
                </a:solidFill>
                <a:latin typeface="Calibri"/>
              </a:rPr>
              <a:t>. One dictionary of two entries is enough to represent it, and the </a:t>
            </a:r>
            <a:r>
              <a:rPr sz="1150" b="0" i="0">
                <a:solidFill>
                  <a:srgbClr val="16202A"/>
                </a:solidFill>
                <a:latin typeface="Consolas"/>
              </a:rPr>
              <a:t>noop</a:t>
            </a:r>
            <a:r>
              <a:rPr sz="1250" b="0" i="0">
                <a:solidFill>
                  <a:srgbClr val="2B3542"/>
                </a:solidFill>
                <a:latin typeface="Calibri"/>
              </a:rPr>
              <a:t> action becomes available.</a:t>
            </a:r>
          </a:p>
        </p:txBody>
      </p:sp>
      <p:sp>
        <p:nvSpPr>
          <p:cNvPr id="30" name="Rectangle 29"/>
          <p:cNvSpPr/>
          <p:nvPr/>
        </p:nvSpPr>
        <p:spPr>
          <a:xfrm>
            <a:off x="6949440" y="4591337"/>
            <a:ext cx="4693889" cy="969264"/>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32320" y="4682777"/>
            <a:ext cx="4328129" cy="805837"/>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5F6B76"/>
                </a:solidFill>
                <a:latin typeface="Calibri"/>
              </a:rPr>
              <a:t>A RUN</a:t>
            </a:r>
          </a:p>
          <a:p>
            <a:pPr algn="l" marL="0" indent="0">
              <a:lnSpc>
                <a:spcPts val="1298"/>
              </a:lnSpc>
              <a:spcBef>
                <a:spcPts val="500"/>
              </a:spcBef>
              <a:spcAft>
                <a:spcPts val="0"/>
              </a:spcAft>
              <a:buNone/>
            </a:pPr>
            <a:r>
              <a:rPr sz="1100" b="0" i="0">
                <a:solidFill>
                  <a:srgbClr val="16202A"/>
                </a:solidFill>
                <a:latin typeface="Consolas"/>
              </a:rPr>
              <a:t>agent(('A','clean'))  →  right</a:t>
            </a:r>
          </a:p>
          <a:p>
            <a:pPr algn="l" marL="0" indent="0">
              <a:lnSpc>
                <a:spcPts val="1298"/>
              </a:lnSpc>
              <a:spcBef>
                <a:spcPts val="300"/>
              </a:spcBef>
              <a:spcAft>
                <a:spcPts val="0"/>
              </a:spcAft>
              <a:buNone/>
            </a:pPr>
            <a:r>
              <a:rPr sz="1100" b="0" i="0">
                <a:solidFill>
                  <a:srgbClr val="16202A"/>
                </a:solidFill>
                <a:latin typeface="Consolas"/>
              </a:rPr>
              <a:t>agent(('B','dirty'))  →  suck</a:t>
            </a:r>
          </a:p>
          <a:p>
            <a:pPr algn="l" marL="0" indent="0">
              <a:lnSpc>
                <a:spcPts val="1298"/>
              </a:lnSpc>
              <a:spcBef>
                <a:spcPts val="300"/>
              </a:spcBef>
              <a:spcAft>
                <a:spcPts val="0"/>
              </a:spcAft>
              <a:buNone/>
            </a:pPr>
            <a:r>
              <a:rPr sz="1100" b="0" i="0">
                <a:solidFill>
                  <a:srgbClr val="2B8A3E"/>
                </a:solidFill>
                <a:latin typeface="Consolas"/>
              </a:rPr>
              <a:t>agent(('B','clean'))  →  noop</a:t>
            </a:r>
          </a:p>
        </p:txBody>
      </p:sp>
      <p:sp>
        <p:nvSpPr>
          <p:cNvPr id="32" name="TextBox 31"/>
          <p:cNvSpPr txBox="1"/>
          <p:nvPr/>
        </p:nvSpPr>
        <p:spPr>
          <a:xfrm>
            <a:off x="6949440" y="5706905"/>
            <a:ext cx="4693889" cy="562356"/>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0" i="0">
                <a:solidFill>
                  <a:srgbClr val="5F6B76"/>
                </a:solidFill>
                <a:latin typeface="Calibri"/>
              </a:rPr>
              <a:t>Real examples: the </a:t>
            </a:r>
            <a:r>
              <a:rPr sz="1150" b="1" i="0">
                <a:solidFill>
                  <a:srgbClr val="16202A"/>
                </a:solidFill>
                <a:latin typeface="Calibri"/>
              </a:rPr>
              <a:t>Roomba 980</a:t>
            </a:r>
            <a:r>
              <a:rPr sz="1150" b="0" i="0">
                <a:solidFill>
                  <a:srgbClr val="5F6B76"/>
                </a:solidFill>
                <a:latin typeface="Calibri"/>
              </a:rPr>
              <a:t> tracks its position by visual localisation, and the </a:t>
            </a:r>
            <a:r>
              <a:rPr sz="1150" b="1" i="0">
                <a:solidFill>
                  <a:srgbClr val="16202A"/>
                </a:solidFill>
                <a:latin typeface="Calibri"/>
              </a:rPr>
              <a:t>Dyson 360 Eye</a:t>
            </a:r>
            <a:r>
              <a:rPr sz="1150" b="0" i="0">
                <a:solidFill>
                  <a:srgbClr val="5F6B76"/>
                </a:solidFill>
                <a:latin typeface="Calibri"/>
              </a:rPr>
              <a:t> maps its surroundings with a 360° camera. In both, the internal map supplies what the current percept never carries.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5.8  GOAL-BASED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Knowing where you are does not tell you which way to turn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41</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630936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At a road junction a vehicle may turn left, turn right, or continue straight. All three are available, and the state of the world is fully known. Nothing in the state says which to choose — that depends on where the agent is trying to go.</a:t>
            </a:r>
          </a:p>
        </p:txBody>
      </p:sp>
      <p:pic>
        <p:nvPicPr>
          <p:cNvPr id="24" name="Picture 23" descr="arch_goal.png"/>
          <p:cNvPicPr>
            <a:picLocks noChangeAspect="1"/>
          </p:cNvPicPr>
          <p:nvPr/>
        </p:nvPicPr>
        <p:blipFill>
          <a:blip r:embed="rId2"/>
          <a:stretch>
            <a:fillRect/>
          </a:stretch>
        </p:blipFill>
        <p:spPr>
          <a:xfrm>
            <a:off x="548640" y="2871978"/>
            <a:ext cx="5708211" cy="2194560"/>
          </a:xfrm>
          <a:prstGeom prst="rect">
            <a:avLst/>
          </a:prstGeom>
        </p:spPr>
      </p:pic>
      <p:sp>
        <p:nvSpPr>
          <p:cNvPr id="25" name="TextBox 24"/>
          <p:cNvSpPr txBox="1"/>
          <p:nvPr/>
        </p:nvSpPr>
        <p:spPr>
          <a:xfrm>
            <a:off x="548640" y="5176266"/>
            <a:ext cx="630936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Two blocks are added: the goal, and the ability to ask what the world will be like after action a. The transition model is now used to look forward, not only to track the present.</a:t>
            </a:r>
          </a:p>
        </p:txBody>
      </p:sp>
      <p:sp>
        <p:nvSpPr>
          <p:cNvPr id="26" name="TextBox 25"/>
          <p:cNvSpPr txBox="1"/>
          <p:nvPr/>
        </p:nvSpPr>
        <p:spPr>
          <a:xfrm>
            <a:off x="7269480" y="2084832"/>
            <a:ext cx="4373849" cy="1148113"/>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B54708"/>
                </a:solidFill>
                <a:latin typeface="Calibri"/>
              </a:rPr>
              <a:t>WHAT IS ADDED</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Goal information</a:t>
            </a:r>
            <a:r>
              <a:rPr sz="1200" b="0" i="0">
                <a:solidFill>
                  <a:srgbClr val="2B3542"/>
                </a:solidFill>
                <a:latin typeface="Calibri"/>
              </a:rPr>
              <a:t> — a description of the states the agent wants to bring about.</a:t>
            </a:r>
          </a:p>
          <a:p>
            <a:pPr algn="l" marL="173736" indent="-173736">
              <a:lnSpc>
                <a:spcPts val="1416"/>
              </a:lnSpc>
              <a:spcBef>
                <a:spcPts val="600"/>
              </a:spcBef>
              <a:spcAft>
                <a:spcPts val="0"/>
              </a:spcAft>
              <a:buClr>
                <a:srgbClr val="1971C2"/>
              </a:buClr>
              <a:buFont typeface="Calibri"/>
              <a:buChar char="–"/>
            </a:pPr>
            <a:r>
              <a:rPr sz="1200" b="1" i="0">
                <a:solidFill>
                  <a:srgbClr val="16202A"/>
                </a:solidFill>
                <a:latin typeface="Calibri"/>
              </a:rPr>
              <a:t>Prediction</a:t>
            </a:r>
            <a:r>
              <a:rPr sz="1200" b="0" i="0">
                <a:solidFill>
                  <a:srgbClr val="2B3542"/>
                </a:solidFill>
                <a:latin typeface="Calibri"/>
              </a:rPr>
              <a:t> — “what will the world be like if I do action a?”, answered with the transition model the agent already has.</a:t>
            </a:r>
          </a:p>
        </p:txBody>
      </p:sp>
      <p:sp>
        <p:nvSpPr>
          <p:cNvPr id="27" name="TextBox 26"/>
          <p:cNvSpPr txBox="1"/>
          <p:nvPr/>
        </p:nvSpPr>
        <p:spPr>
          <a:xfrm>
            <a:off x="7269480" y="3488977"/>
            <a:ext cx="437384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REFLEX VERSUS GOAL-BASED</a:t>
            </a:r>
          </a:p>
        </p:txBody>
      </p:sp>
      <p:sp>
        <p:nvSpPr>
          <p:cNvPr id="28" name="TextBox 27"/>
          <p:cNvSpPr txBox="1"/>
          <p:nvPr/>
        </p:nvSpPr>
        <p:spPr>
          <a:xfrm>
            <a:off x="7269480" y="3745009"/>
            <a:ext cx="4373849" cy="811276"/>
          </a:xfrm>
          <a:prstGeom prst="rect">
            <a:avLst/>
          </a:prstGeom>
          <a:noFill/>
        </p:spPr>
        <p:txBody>
          <a:bodyPr wrap="square" lIns="0" rIns="0" tIns="0" bIns="0" anchor="t">
            <a:noAutofit/>
          </a:bodyPr>
          <a:lstStyle/>
          <a:p>
            <a:pPr algn="l" marL="0" indent="0">
              <a:lnSpc>
                <a:spcPts val="1525"/>
              </a:lnSpc>
              <a:spcBef>
                <a:spcPts val="0"/>
              </a:spcBef>
              <a:spcAft>
                <a:spcPts val="0"/>
              </a:spcAft>
              <a:buNone/>
            </a:pPr>
            <a:r>
              <a:rPr sz="1250" b="0" i="0">
                <a:solidFill>
                  <a:srgbClr val="2B3542"/>
                </a:solidFill>
                <a:latin typeface="Calibri"/>
              </a:rPr>
              <a:t>A reflex agent brakes </a:t>
            </a:r>
            <a:r>
              <a:rPr sz="1250" b="1" i="0">
                <a:solidFill>
                  <a:srgbClr val="2B8A3E"/>
                </a:solidFill>
                <a:latin typeface="Calibri"/>
              </a:rPr>
              <a:t>because it sees brake lights</a:t>
            </a:r>
            <a:r>
              <a:rPr sz="1250" b="0" i="0">
                <a:solidFill>
                  <a:srgbClr val="2B3542"/>
                </a:solidFill>
                <a:latin typeface="Calibri"/>
              </a:rPr>
              <a:t>. A goal-based agent brakes </a:t>
            </a:r>
            <a:r>
              <a:rPr sz="1250" b="1" i="0">
                <a:solidFill>
                  <a:srgbClr val="B54708"/>
                </a:solidFill>
                <a:latin typeface="Calibri"/>
              </a:rPr>
              <a:t>because braking helps it avoid a collision</a:t>
            </a:r>
            <a:r>
              <a:rPr sz="1250" b="0" i="0">
                <a:solidFill>
                  <a:srgbClr val="2B3542"/>
                </a:solidFill>
                <a:latin typeface="Calibri"/>
              </a:rPr>
              <a:t>. The behaviour can coincide; the reason does not — and only the second survives a situation the designer did not anticipate.</a:t>
            </a:r>
          </a:p>
        </p:txBody>
      </p:sp>
      <p:sp>
        <p:nvSpPr>
          <p:cNvPr id="29" name="Rectangle 28"/>
          <p:cNvSpPr/>
          <p:nvPr/>
        </p:nvSpPr>
        <p:spPr>
          <a:xfrm>
            <a:off x="7269480" y="4794029"/>
            <a:ext cx="4373849" cy="1024127"/>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269480" y="4794029"/>
            <a:ext cx="41148" cy="1024127"/>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88936" y="4940333"/>
            <a:ext cx="3989801" cy="73151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Flexibility is the real payoff: the goal can be changed </a:t>
            </a:r>
            <a:r>
              <a:rPr sz="1200" b="1" i="0">
                <a:solidFill>
                  <a:srgbClr val="2B3542"/>
                </a:solidFill>
                <a:latin typeface="Calibri"/>
              </a:rPr>
              <a:t>without redesigning a single decision rule</a:t>
            </a:r>
            <a:r>
              <a:rPr sz="1200" b="0" i="0">
                <a:solidFill>
                  <a:srgbClr val="2B3542"/>
                </a:solidFill>
                <a:latin typeface="Calibri"/>
              </a:rPr>
              <a:t>. A navigation agent is sent to a new destination by replacing the goal. A reflex agent would need a different rule set per destination.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5.9  SEARCH AND PLANNING</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When one action is not enough, the agent must search the future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42</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Goal-based action selection is straightforward when a single action achieves the goal. It becomes hard when a sequence is required: reaching a destination may involve many possible sequences of turns. Finding such sequences is precisely what search and planning are for.</a:t>
            </a:r>
          </a:p>
        </p:txBody>
      </p:sp>
      <p:sp>
        <p:nvSpPr>
          <p:cNvPr id="24" name="Rectangle 23"/>
          <p:cNvSpPr/>
          <p:nvPr/>
        </p:nvSpPr>
        <p:spPr>
          <a:xfrm>
            <a:off x="548640" y="2814066"/>
            <a:ext cx="2540500"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2960370"/>
            <a:ext cx="2540500" cy="1034691"/>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20">
                <a:solidFill>
                  <a:srgbClr val="B54708"/>
                </a:solidFill>
                <a:latin typeface="Calibri"/>
              </a:rPr>
              <a:t>STEP 1</a:t>
            </a:r>
          </a:p>
          <a:p>
            <a:pPr algn="l" marL="0" indent="0">
              <a:lnSpc>
                <a:spcPts val="1456"/>
              </a:lnSpc>
              <a:spcBef>
                <a:spcPts val="600"/>
              </a:spcBef>
              <a:spcAft>
                <a:spcPts val="0"/>
              </a:spcAft>
              <a:buNone/>
            </a:pPr>
            <a:r>
              <a:rPr sz="1300" b="1" i="0">
                <a:solidFill>
                  <a:srgbClr val="16202A"/>
                </a:solidFill>
                <a:latin typeface="Calibri"/>
              </a:rPr>
              <a:t>Represent the current state</a:t>
            </a:r>
          </a:p>
          <a:p>
            <a:pPr algn="l" marL="0" indent="0">
              <a:lnSpc>
                <a:spcPts val="1380"/>
              </a:lnSpc>
              <a:spcBef>
                <a:spcPts val="600"/>
              </a:spcBef>
              <a:spcAft>
                <a:spcPts val="0"/>
              </a:spcAft>
              <a:buNone/>
            </a:pPr>
            <a:r>
              <a:rPr sz="1150" b="0" i="0">
                <a:solidFill>
                  <a:srgbClr val="5F6B76"/>
                </a:solidFill>
                <a:latin typeface="Calibri"/>
              </a:rPr>
              <a:t>The agent starts from its estimate of the world, exactly as the model-based agent maintains it.</a:t>
            </a:r>
          </a:p>
        </p:txBody>
      </p:sp>
      <p:sp>
        <p:nvSpPr>
          <p:cNvPr id="26" name="Rectangle 25"/>
          <p:cNvSpPr/>
          <p:nvPr/>
        </p:nvSpPr>
        <p:spPr>
          <a:xfrm>
            <a:off x="3400036" y="2814066"/>
            <a:ext cx="2540500"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00036" y="2960370"/>
            <a:ext cx="2540500" cy="1034691"/>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20">
                <a:solidFill>
                  <a:srgbClr val="B54708"/>
                </a:solidFill>
                <a:latin typeface="Calibri"/>
              </a:rPr>
              <a:t>STEP 2</a:t>
            </a:r>
          </a:p>
          <a:p>
            <a:pPr algn="l" marL="0" indent="0">
              <a:lnSpc>
                <a:spcPts val="1456"/>
              </a:lnSpc>
              <a:spcBef>
                <a:spcPts val="600"/>
              </a:spcBef>
              <a:spcAft>
                <a:spcPts val="0"/>
              </a:spcAft>
              <a:buNone/>
            </a:pPr>
            <a:r>
              <a:rPr sz="1300" b="1" i="0">
                <a:solidFill>
                  <a:srgbClr val="16202A"/>
                </a:solidFill>
                <a:latin typeface="Calibri"/>
              </a:rPr>
              <a:t>Enumerate available actions</a:t>
            </a:r>
          </a:p>
          <a:p>
            <a:pPr algn="l" marL="0" indent="0">
              <a:lnSpc>
                <a:spcPts val="1380"/>
              </a:lnSpc>
              <a:spcBef>
                <a:spcPts val="600"/>
              </a:spcBef>
              <a:spcAft>
                <a:spcPts val="0"/>
              </a:spcAft>
              <a:buNone/>
            </a:pPr>
            <a:r>
              <a:rPr sz="1150" b="0" i="0">
                <a:solidFill>
                  <a:srgbClr val="5F6B76"/>
                </a:solidFill>
                <a:latin typeface="Calibri"/>
              </a:rPr>
              <a:t>Which actions are legal here? Each one leads, via the transition model, to a different successor state.</a:t>
            </a:r>
          </a:p>
        </p:txBody>
      </p:sp>
      <p:sp>
        <p:nvSpPr>
          <p:cNvPr id="28" name="Rectangle 27"/>
          <p:cNvSpPr/>
          <p:nvPr/>
        </p:nvSpPr>
        <p:spPr>
          <a:xfrm>
            <a:off x="6251432" y="2814066"/>
            <a:ext cx="2540500"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51432" y="2960370"/>
            <a:ext cx="2540500" cy="1034691"/>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20">
                <a:solidFill>
                  <a:srgbClr val="B54708"/>
                </a:solidFill>
                <a:latin typeface="Calibri"/>
              </a:rPr>
              <a:t>STEP 3</a:t>
            </a:r>
          </a:p>
          <a:p>
            <a:pPr algn="l" marL="0" indent="0">
              <a:lnSpc>
                <a:spcPts val="1456"/>
              </a:lnSpc>
              <a:spcBef>
                <a:spcPts val="600"/>
              </a:spcBef>
              <a:spcAft>
                <a:spcPts val="0"/>
              </a:spcAft>
              <a:buNone/>
            </a:pPr>
            <a:r>
              <a:rPr sz="1300" b="1" i="0">
                <a:solidFill>
                  <a:srgbClr val="16202A"/>
                </a:solidFill>
                <a:latin typeface="Calibri"/>
              </a:rPr>
              <a:t>Simulate the consequences</a:t>
            </a:r>
          </a:p>
          <a:p>
            <a:pPr algn="l" marL="0" indent="0">
              <a:lnSpc>
                <a:spcPts val="1380"/>
              </a:lnSpc>
              <a:spcBef>
                <a:spcPts val="600"/>
              </a:spcBef>
              <a:spcAft>
                <a:spcPts val="0"/>
              </a:spcAft>
              <a:buNone/>
            </a:pPr>
            <a:r>
              <a:rPr sz="1150" b="0" i="0">
                <a:solidFill>
                  <a:srgbClr val="5F6B76"/>
                </a:solidFill>
                <a:latin typeface="Calibri"/>
              </a:rPr>
              <a:t>Apply the transition model repeatedly to explore sequences of actions, and the states they lead to.</a:t>
            </a:r>
          </a:p>
        </p:txBody>
      </p:sp>
      <p:sp>
        <p:nvSpPr>
          <p:cNvPr id="30" name="Rectangle 29"/>
          <p:cNvSpPr/>
          <p:nvPr/>
        </p:nvSpPr>
        <p:spPr>
          <a:xfrm>
            <a:off x="9102829" y="2814066"/>
            <a:ext cx="2540500"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02829" y="2960370"/>
            <a:ext cx="2540500" cy="1034691"/>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20">
                <a:solidFill>
                  <a:srgbClr val="B54708"/>
                </a:solidFill>
                <a:latin typeface="Calibri"/>
              </a:rPr>
              <a:t>STEP 4</a:t>
            </a:r>
          </a:p>
          <a:p>
            <a:pPr algn="l" marL="0" indent="0">
              <a:lnSpc>
                <a:spcPts val="1456"/>
              </a:lnSpc>
              <a:spcBef>
                <a:spcPts val="600"/>
              </a:spcBef>
              <a:spcAft>
                <a:spcPts val="0"/>
              </a:spcAft>
              <a:buNone/>
            </a:pPr>
            <a:r>
              <a:rPr sz="1300" b="1" i="0">
                <a:solidFill>
                  <a:srgbClr val="16202A"/>
                </a:solidFill>
                <a:latin typeface="Calibri"/>
              </a:rPr>
              <a:t>Choose by outcome, not by rule</a:t>
            </a:r>
          </a:p>
          <a:p>
            <a:pPr algn="l" marL="0" indent="0">
              <a:lnSpc>
                <a:spcPts val="1380"/>
              </a:lnSpc>
              <a:spcBef>
                <a:spcPts val="600"/>
              </a:spcBef>
              <a:spcAft>
                <a:spcPts val="0"/>
              </a:spcAft>
              <a:buNone/>
            </a:pPr>
            <a:r>
              <a:rPr sz="1150" b="0" i="0">
                <a:solidFill>
                  <a:srgbClr val="5F6B76"/>
                </a:solidFill>
                <a:latin typeface="Calibri"/>
              </a:rPr>
              <a:t>Select the first action of a sequence reaching the goal — or, against an adversary, the best guaranteed outcome.</a:t>
            </a:r>
          </a:p>
        </p:txBody>
      </p:sp>
      <p:sp>
        <p:nvSpPr>
          <p:cNvPr id="32" name="Rectangle 31"/>
          <p:cNvSpPr/>
          <p:nvPr/>
        </p:nvSpPr>
        <p:spPr>
          <a:xfrm>
            <a:off x="548640" y="4251093"/>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4433973"/>
            <a:ext cx="11094689" cy="446024"/>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Unlike a reflex agent, which maps percepts directly to actions, a goal-based agent considers the </a:t>
            </a:r>
            <a:r>
              <a:rPr sz="1300" b="1" i="0">
                <a:solidFill>
                  <a:srgbClr val="16202A"/>
                </a:solidFill>
                <a:latin typeface="Calibri"/>
              </a:rPr>
              <a:t>future consequences</a:t>
            </a:r>
            <a:r>
              <a:rPr sz="1300" b="0" i="0">
                <a:solidFill>
                  <a:srgbClr val="2B3542"/>
                </a:solidFill>
                <a:latin typeface="Calibri"/>
              </a:rPr>
              <a:t> of what it does. The rest of this section works through the smallest complete example of that idea: a Tic-Tac-Toe agent that plays by searching the entire game tree.</a:t>
            </a:r>
          </a:p>
        </p:txBody>
      </p:sp>
      <p:sp>
        <p:nvSpPr>
          <p:cNvPr id="34" name="Rectangle 33"/>
          <p:cNvSpPr/>
          <p:nvPr/>
        </p:nvSpPr>
        <p:spPr>
          <a:xfrm>
            <a:off x="548640" y="5117741"/>
            <a:ext cx="5295884" cy="1042415"/>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48640" y="5117741"/>
            <a:ext cx="5295884"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9808" y="5282333"/>
            <a:ext cx="4893548" cy="6733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Where the agent acts alone</a:t>
            </a:r>
          </a:p>
          <a:p>
            <a:pPr algn="l" marL="0" indent="0">
              <a:lnSpc>
                <a:spcPts val="1440"/>
              </a:lnSpc>
              <a:spcBef>
                <a:spcPts val="600"/>
              </a:spcBef>
              <a:spcAft>
                <a:spcPts val="0"/>
              </a:spcAft>
              <a:buNone/>
            </a:pPr>
            <a:r>
              <a:rPr sz="1200" b="0" i="0">
                <a:solidFill>
                  <a:srgbClr val="5F6B76"/>
                </a:solidFill>
                <a:latin typeface="Calibri"/>
              </a:rPr>
              <a:t>Reaching a destination, stacking boxes, solving a puzzle: search for a sequence of actions ending in a goal state.</a:t>
            </a:r>
          </a:p>
        </p:txBody>
      </p:sp>
      <p:sp>
        <p:nvSpPr>
          <p:cNvPr id="37" name="Rectangle 36"/>
          <p:cNvSpPr/>
          <p:nvPr/>
        </p:nvSpPr>
        <p:spPr>
          <a:xfrm>
            <a:off x="6347444" y="5117741"/>
            <a:ext cx="5295884" cy="1042415"/>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347444" y="5117741"/>
            <a:ext cx="5295884"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48612" y="5282333"/>
            <a:ext cx="4893548" cy="6733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Where something acts against the agent</a:t>
            </a:r>
          </a:p>
          <a:p>
            <a:pPr algn="l" marL="0" indent="0">
              <a:lnSpc>
                <a:spcPts val="1440"/>
              </a:lnSpc>
              <a:spcBef>
                <a:spcPts val="600"/>
              </a:spcBef>
              <a:spcAft>
                <a:spcPts val="0"/>
              </a:spcAft>
              <a:buNone/>
            </a:pPr>
            <a:r>
              <a:rPr sz="1200" b="0" i="0">
                <a:solidFill>
                  <a:srgbClr val="5F6B76"/>
                </a:solidFill>
                <a:latin typeface="Calibri"/>
              </a:rPr>
              <a:t>In a game, half the moves are chosen by an opponent. The agent must assume the worst reply at each of them — which is what minimax does.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5.10  MINIMAX ON TIC-TAC-TOE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Simulate the future, including the replies you would least like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43</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pic>
        <p:nvPicPr>
          <p:cNvPr id="23" name="Picture 22" descr="minimax_tree.png"/>
          <p:cNvPicPr>
            <a:picLocks noChangeAspect="1"/>
          </p:cNvPicPr>
          <p:nvPr/>
        </p:nvPicPr>
        <p:blipFill>
          <a:blip r:embed="rId2"/>
          <a:stretch>
            <a:fillRect/>
          </a:stretch>
        </p:blipFill>
        <p:spPr>
          <a:xfrm>
            <a:off x="548640" y="2084832"/>
            <a:ext cx="4892040" cy="4278267"/>
          </a:xfrm>
          <a:prstGeom prst="rect">
            <a:avLst/>
          </a:prstGeom>
        </p:spPr>
      </p:pic>
      <p:sp>
        <p:nvSpPr>
          <p:cNvPr id="24" name="TextBox 23"/>
          <p:cNvSpPr txBox="1"/>
          <p:nvPr/>
        </p:nvSpPr>
        <p:spPr>
          <a:xfrm>
            <a:off x="5897879" y="2084832"/>
            <a:ext cx="5745449" cy="650748"/>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Instead of hard-coded rules, the agent searches the tree of future move sequences and returns the action with the best guaranteed outcome against a rational opponent. The board is a flat tuple of nine cells, read left to right, top to bottom.</a:t>
            </a:r>
          </a:p>
        </p:txBody>
      </p:sp>
      <p:sp>
        <p:nvSpPr>
          <p:cNvPr id="25" name="Rectangle 24"/>
          <p:cNvSpPr/>
          <p:nvPr/>
        </p:nvSpPr>
        <p:spPr>
          <a:xfrm>
            <a:off x="5897879" y="3005328"/>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897879" y="3023616"/>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1</a:t>
            </a:r>
          </a:p>
        </p:txBody>
      </p:sp>
      <p:sp>
        <p:nvSpPr>
          <p:cNvPr id="27" name="TextBox 26"/>
          <p:cNvSpPr txBox="1"/>
          <p:nvPr/>
        </p:nvSpPr>
        <p:spPr>
          <a:xfrm>
            <a:off x="6208775" y="2955036"/>
            <a:ext cx="5434553" cy="21945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Current state</a:t>
            </a:r>
            <a:r>
              <a:rPr sz="1200" b="0" i="0">
                <a:solidFill>
                  <a:srgbClr val="8A959E"/>
                </a:solidFill>
                <a:latin typeface="Calibri"/>
              </a:rPr>
              <a:t>  —  </a:t>
            </a:r>
            <a:r>
              <a:rPr sz="1200" b="0" i="0">
                <a:solidFill>
                  <a:srgbClr val="5F6B76"/>
                </a:solidFill>
                <a:latin typeface="Calibri"/>
              </a:rPr>
              <a:t>The position the agent must move from — its percept.</a:t>
            </a:r>
          </a:p>
        </p:txBody>
      </p:sp>
      <p:sp>
        <p:nvSpPr>
          <p:cNvPr id="28" name="Rectangle 27"/>
          <p:cNvSpPr/>
          <p:nvPr/>
        </p:nvSpPr>
        <p:spPr>
          <a:xfrm>
            <a:off x="5897879" y="3352800"/>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897879" y="3371088"/>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2</a:t>
            </a:r>
          </a:p>
        </p:txBody>
      </p:sp>
      <p:sp>
        <p:nvSpPr>
          <p:cNvPr id="30" name="TextBox 29"/>
          <p:cNvSpPr txBox="1"/>
          <p:nvPr/>
        </p:nvSpPr>
        <p:spPr>
          <a:xfrm>
            <a:off x="6208775" y="3302508"/>
            <a:ext cx="5434553" cy="21945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Available actions</a:t>
            </a:r>
            <a:r>
              <a:rPr sz="1200" b="0" i="0">
                <a:solidFill>
                  <a:srgbClr val="8A959E"/>
                </a:solidFill>
                <a:latin typeface="Calibri"/>
              </a:rPr>
              <a:t>  —  </a:t>
            </a:r>
            <a:r>
              <a:rPr sz="1200" b="0" i="0">
                <a:solidFill>
                  <a:srgbClr val="5F6B76"/>
                </a:solidFill>
                <a:latin typeface="Calibri"/>
              </a:rPr>
              <a:t>Every empty cell is a legal move.</a:t>
            </a:r>
          </a:p>
        </p:txBody>
      </p:sp>
      <p:sp>
        <p:nvSpPr>
          <p:cNvPr id="31" name="Rectangle 30"/>
          <p:cNvSpPr/>
          <p:nvPr/>
        </p:nvSpPr>
        <p:spPr>
          <a:xfrm>
            <a:off x="5897879" y="3700272"/>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897879" y="3718560"/>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3</a:t>
            </a:r>
          </a:p>
        </p:txBody>
      </p:sp>
      <p:sp>
        <p:nvSpPr>
          <p:cNvPr id="33" name="TextBox 32"/>
          <p:cNvSpPr txBox="1"/>
          <p:nvPr/>
        </p:nvSpPr>
        <p:spPr>
          <a:xfrm>
            <a:off x="6208775" y="3649980"/>
            <a:ext cx="5434553"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Simulation of the future</a:t>
            </a:r>
            <a:r>
              <a:rPr sz="1200" b="0" i="0">
                <a:solidFill>
                  <a:srgbClr val="8A959E"/>
                </a:solidFill>
                <a:latin typeface="Calibri"/>
              </a:rPr>
              <a:t>  —  </a:t>
            </a:r>
            <a:r>
              <a:rPr sz="1200" b="0" i="0">
                <a:solidFill>
                  <a:srgbClr val="5F6B76"/>
                </a:solidFill>
                <a:latin typeface="Calibri"/>
              </a:rPr>
              <a:t>Apply moves and counter-moves recursively, down to terminal positions.</a:t>
            </a:r>
          </a:p>
        </p:txBody>
      </p:sp>
      <p:sp>
        <p:nvSpPr>
          <p:cNvPr id="34" name="Rectangle 33"/>
          <p:cNvSpPr/>
          <p:nvPr/>
        </p:nvSpPr>
        <p:spPr>
          <a:xfrm>
            <a:off x="5897879" y="4230624"/>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897879" y="4248912"/>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4</a:t>
            </a:r>
          </a:p>
        </p:txBody>
      </p:sp>
      <p:sp>
        <p:nvSpPr>
          <p:cNvPr id="36" name="TextBox 35"/>
          <p:cNvSpPr txBox="1"/>
          <p:nvPr/>
        </p:nvSpPr>
        <p:spPr>
          <a:xfrm>
            <a:off x="6208775" y="4180332"/>
            <a:ext cx="5434553" cy="21945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Outcomes</a:t>
            </a:r>
            <a:r>
              <a:rPr sz="1200" b="0" i="0">
                <a:solidFill>
                  <a:srgbClr val="8A959E"/>
                </a:solidFill>
                <a:latin typeface="Calibri"/>
              </a:rPr>
              <a:t>  —  </a:t>
            </a:r>
            <a:r>
              <a:rPr sz="1200" b="0" i="0">
                <a:solidFill>
                  <a:srgbClr val="5F6B76"/>
                </a:solidFill>
                <a:latin typeface="Calibri"/>
              </a:rPr>
              <a:t>Each leaf is a win, a loss or a draw, scored from X’s point of view.</a:t>
            </a:r>
          </a:p>
        </p:txBody>
      </p:sp>
      <p:sp>
        <p:nvSpPr>
          <p:cNvPr id="37" name="Rectangle 36"/>
          <p:cNvSpPr/>
          <p:nvPr/>
        </p:nvSpPr>
        <p:spPr>
          <a:xfrm>
            <a:off x="5897879" y="4578096"/>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897879" y="4596384"/>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5</a:t>
            </a:r>
          </a:p>
        </p:txBody>
      </p:sp>
      <p:sp>
        <p:nvSpPr>
          <p:cNvPr id="39" name="TextBox 38"/>
          <p:cNvSpPr txBox="1"/>
          <p:nvPr/>
        </p:nvSpPr>
        <p:spPr>
          <a:xfrm>
            <a:off x="6208775" y="4527804"/>
            <a:ext cx="5434553"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Propagate back</a:t>
            </a:r>
            <a:r>
              <a:rPr sz="1200" b="0" i="0">
                <a:solidFill>
                  <a:srgbClr val="8A959E"/>
                </a:solidFill>
                <a:latin typeface="Calibri"/>
              </a:rPr>
              <a:t>  —  </a:t>
            </a:r>
            <a:r>
              <a:rPr sz="1200" b="0" i="0">
                <a:solidFill>
                  <a:srgbClr val="5F6B76"/>
                </a:solidFill>
                <a:latin typeface="Calibri"/>
              </a:rPr>
              <a:t>Maximise at X’s turns, minimise at O’s — the worst-case assumption about a rational adversary.</a:t>
            </a:r>
          </a:p>
        </p:txBody>
      </p:sp>
      <p:sp>
        <p:nvSpPr>
          <p:cNvPr id="40" name="Rectangle 39"/>
          <p:cNvSpPr/>
          <p:nvPr/>
        </p:nvSpPr>
        <p:spPr>
          <a:xfrm>
            <a:off x="5897879" y="5108448"/>
            <a:ext cx="201168" cy="2011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897879" y="5126736"/>
            <a:ext cx="201168" cy="182880"/>
          </a:xfrm>
          <a:prstGeom prst="rect">
            <a:avLst/>
          </a:prstGeom>
          <a:noFill/>
        </p:spPr>
        <p:txBody>
          <a:bodyPr wrap="square" lIns="0" rIns="0" tIns="0" bIns="0" anchor="t">
            <a:noAutofit/>
          </a:bodyPr>
          <a:lstStyle/>
          <a:p>
            <a:pPr algn="ctr" marL="0" indent="0">
              <a:lnSpc>
                <a:spcPts val="1100"/>
              </a:lnSpc>
              <a:spcBef>
                <a:spcPts val="0"/>
              </a:spcBef>
              <a:spcAft>
                <a:spcPts val="0"/>
              </a:spcAft>
              <a:buNone/>
            </a:pPr>
            <a:r>
              <a:rPr sz="1100" b="1" i="0">
                <a:solidFill>
                  <a:srgbClr val="FFFFFF"/>
                </a:solidFill>
                <a:latin typeface="Calibri"/>
              </a:rPr>
              <a:t>6</a:t>
            </a:r>
          </a:p>
        </p:txBody>
      </p:sp>
      <p:sp>
        <p:nvSpPr>
          <p:cNvPr id="42" name="TextBox 41"/>
          <p:cNvSpPr txBox="1"/>
          <p:nvPr/>
        </p:nvSpPr>
        <p:spPr>
          <a:xfrm>
            <a:off x="6208775" y="5058156"/>
            <a:ext cx="5434553" cy="21945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a:solidFill>
                  <a:srgbClr val="16202A"/>
                </a:solidFill>
                <a:latin typeface="Calibri"/>
              </a:rPr>
              <a:t>Decide</a:t>
            </a:r>
            <a:r>
              <a:rPr sz="1200" b="0" i="0">
                <a:solidFill>
                  <a:srgbClr val="8A959E"/>
                </a:solidFill>
                <a:latin typeface="Calibri"/>
              </a:rPr>
              <a:t>  —  </a:t>
            </a:r>
            <a:r>
              <a:rPr sz="1200" b="0" i="0">
                <a:solidFill>
                  <a:srgbClr val="5F6B76"/>
                </a:solidFill>
                <a:latin typeface="Calibri"/>
              </a:rPr>
              <a:t>Take the action at the root whose backed-up value is highest.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5.11  THE MINIMAX VALUE FUNCTION</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tree search, written as one recursive definition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44</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66543"/>
            <a:ext cx="11094689" cy="439419"/>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Minimax asks, recursively: what does the world look like after I do action a, and the opponent then responds as well as they can? The recursion bottoms out at terminal positions, and the values are propagated back up the tree.</a:t>
            </a:r>
          </a:p>
        </p:txBody>
      </p:sp>
      <p:pic>
        <p:nvPicPr>
          <p:cNvPr id="24" name="Picture 23" descr="eq_minimax.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640080" y="2725419"/>
            <a:ext cx="5986780" cy="1628140"/>
          </a:xfrm>
          <a:prstGeom prst="rect">
            <a:avLst/>
          </a:prstGeom>
        </p:spPr>
      </p:pic>
      <p:sp>
        <p:nvSpPr>
          <p:cNvPr id="25" name="TextBox 24"/>
          <p:cNvSpPr txBox="1"/>
          <p:nvPr/>
        </p:nvSpPr>
        <p:spPr>
          <a:xfrm>
            <a:off x="6720840" y="2771139"/>
            <a:ext cx="49224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B54708"/>
                </a:solidFill>
                <a:latin typeface="Calibri"/>
              </a:rPr>
              <a:t>THE SCORING AT THE LEAVES</a:t>
            </a:r>
          </a:p>
        </p:txBody>
      </p:sp>
      <p:pic>
        <p:nvPicPr>
          <p:cNvPr id="26" name="Picture 25" descr="eq_minimax_util.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720840" y="3072891"/>
            <a:ext cx="3136391" cy="1224153"/>
          </a:xfrm>
          <a:prstGeom prst="rect">
            <a:avLst/>
          </a:prstGeom>
        </p:spPr>
      </p:pic>
      <p:sp>
        <p:nvSpPr>
          <p:cNvPr id="27" name="TextBox 26"/>
          <p:cNvSpPr txBox="1"/>
          <p:nvPr/>
        </p:nvSpPr>
        <p:spPr>
          <a:xfrm>
            <a:off x="6720840" y="4607940"/>
            <a:ext cx="49224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B54708"/>
                </a:solidFill>
                <a:latin typeface="Calibri"/>
              </a:rPr>
              <a:t>THE ACTION FINALLY TAKEN</a:t>
            </a:r>
          </a:p>
        </p:txBody>
      </p:sp>
      <p:pic>
        <p:nvPicPr>
          <p:cNvPr id="28" name="Picture 27" descr="eq_minimax_act.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6720840" y="4882260"/>
            <a:ext cx="3711194" cy="489838"/>
          </a:xfrm>
          <a:prstGeom prst="rect">
            <a:avLst/>
          </a:prstGeom>
        </p:spPr>
      </p:pic>
      <p:sp>
        <p:nvSpPr>
          <p:cNvPr id="29" name="Rectangle 28"/>
          <p:cNvSpPr/>
          <p:nvPr/>
        </p:nvSpPr>
        <p:spPr>
          <a:xfrm>
            <a:off x="548640" y="5664707"/>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5865875"/>
            <a:ext cx="11094689" cy="446024"/>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Read the three cases as the three kinds of node in the picture on the previous slide. The </a:t>
            </a:r>
            <a:r>
              <a:rPr sz="1300" b="1" i="0">
                <a:solidFill>
                  <a:srgbClr val="C92A2A"/>
                </a:solidFill>
                <a:latin typeface="Calibri"/>
              </a:rPr>
              <a:t>min</a:t>
            </a:r>
            <a:r>
              <a:rPr sz="1300" b="0" i="0">
                <a:solidFill>
                  <a:srgbClr val="2B3542"/>
                </a:solidFill>
                <a:latin typeface="Calibri"/>
              </a:rPr>
              <a:t> case is the whole of the adversarial assumption: the agent never counts on the opponent making a mistake. This guarantees the agent will never lose, and will win whenever a win is forced.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5.12  MINIMAX IN CODE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definition translates line for line into the program</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45</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Rectangle 22"/>
          <p:cNvSpPr/>
          <p:nvPr/>
        </p:nvSpPr>
        <p:spPr>
          <a:xfrm>
            <a:off x="548640" y="2066543"/>
            <a:ext cx="5760720" cy="267309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2066543"/>
            <a:ext cx="41148" cy="267309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2148839"/>
            <a:ext cx="539495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ENVIRONMENT MODEL: ACTIONS, TRANSITIONS, UTILITY</a:t>
            </a:r>
          </a:p>
        </p:txBody>
      </p:sp>
      <p:sp>
        <p:nvSpPr>
          <p:cNvPr id="26" name="TextBox 25"/>
          <p:cNvSpPr txBox="1"/>
          <p:nvPr/>
        </p:nvSpPr>
        <p:spPr>
          <a:xfrm>
            <a:off x="731520" y="2450591"/>
            <a:ext cx="5449824" cy="221589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def actions(board):          </a:t>
            </a:r>
            <a:r>
              <a:rPr sz="1100" b="0" i="1">
                <a:solidFill>
                  <a:srgbClr val="768896"/>
                </a:solidFill>
                <a:latin typeface="Consolas"/>
              </a:rPr>
              <a:t># every empty cell</a:t>
            </a:r>
          </a:p>
          <a:p>
            <a:pPr algn="l" marL="0" indent="0">
              <a:lnSpc>
                <a:spcPts val="1430"/>
              </a:lnSpc>
              <a:spcBef>
                <a:spcPts val="0"/>
              </a:spcBef>
              <a:spcAft>
                <a:spcPts val="0"/>
              </a:spcAft>
              <a:buNone/>
            </a:pPr>
            <a:r>
              <a:rPr sz="1100" b="0" i="0">
                <a:solidFill>
                  <a:srgbClr val="1F2A37"/>
                </a:solidFill>
                <a:latin typeface="Consolas"/>
              </a:rPr>
              <a:t>    return [i for i, c in enumerate(board) if c is None]</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def result(board, move, player):</a:t>
            </a:r>
          </a:p>
          <a:p>
            <a:pPr algn="l" marL="0" indent="0">
              <a:lnSpc>
                <a:spcPts val="1430"/>
              </a:lnSpc>
              <a:spcBef>
                <a:spcPts val="0"/>
              </a:spcBef>
              <a:spcAft>
                <a:spcPts val="0"/>
              </a:spcAft>
              <a:buNone/>
            </a:pPr>
            <a:r>
              <a:rPr sz="1100" b="0" i="0">
                <a:solidFill>
                  <a:srgbClr val="1F2A37"/>
                </a:solidFill>
                <a:latin typeface="Consolas"/>
              </a:rPr>
              <a:t>    new = list(board); new[move] = player</a:t>
            </a:r>
          </a:p>
          <a:p>
            <a:pPr algn="l" marL="0" indent="0">
              <a:lnSpc>
                <a:spcPts val="1430"/>
              </a:lnSpc>
              <a:spcBef>
                <a:spcPts val="0"/>
              </a:spcBef>
              <a:spcAft>
                <a:spcPts val="0"/>
              </a:spcAft>
              <a:buNone/>
            </a:pPr>
            <a:r>
              <a:rPr sz="1100" b="0" i="0">
                <a:solidFill>
                  <a:srgbClr val="1F2A37"/>
                </a:solidFill>
                <a:latin typeface="Consolas"/>
              </a:rPr>
              <a:t>    return tuple(new)</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def utility(board):          </a:t>
            </a:r>
            <a:r>
              <a:rPr sz="1100" b="0" i="1">
                <a:solidFill>
                  <a:srgbClr val="768896"/>
                </a:solidFill>
                <a:latin typeface="Consolas"/>
              </a:rPr>
              <a:t># from X's point of view</a:t>
            </a:r>
          </a:p>
          <a:p>
            <a:pPr algn="l" marL="0" indent="0">
              <a:lnSpc>
                <a:spcPts val="1430"/>
              </a:lnSpc>
              <a:spcBef>
                <a:spcPts val="0"/>
              </a:spcBef>
              <a:spcAft>
                <a:spcPts val="0"/>
              </a:spcAft>
              <a:buNone/>
            </a:pPr>
            <a:r>
              <a:rPr sz="1100" b="0" i="0">
                <a:solidFill>
                  <a:srgbClr val="1F2A37"/>
                </a:solidFill>
                <a:latin typeface="Consolas"/>
              </a:rPr>
              <a:t>    win = winner(board)</a:t>
            </a:r>
          </a:p>
          <a:p>
            <a:pPr algn="l" marL="0" indent="0">
              <a:lnSpc>
                <a:spcPts val="1430"/>
              </a:lnSpc>
              <a:spcBef>
                <a:spcPts val="0"/>
              </a:spcBef>
              <a:spcAft>
                <a:spcPts val="0"/>
              </a:spcAft>
              <a:buNone/>
            </a:pPr>
            <a:r>
              <a:rPr sz="1100" b="0" i="0">
                <a:solidFill>
                  <a:srgbClr val="1F2A37"/>
                </a:solidFill>
                <a:latin typeface="Consolas"/>
              </a:rPr>
              <a:t>    if win == 'X':  return  1</a:t>
            </a:r>
          </a:p>
          <a:p>
            <a:pPr algn="l" marL="0" indent="0">
              <a:lnSpc>
                <a:spcPts val="1430"/>
              </a:lnSpc>
              <a:spcBef>
                <a:spcPts val="0"/>
              </a:spcBef>
              <a:spcAft>
                <a:spcPts val="0"/>
              </a:spcAft>
              <a:buNone/>
            </a:pPr>
            <a:r>
              <a:rPr sz="1100" b="0" i="0">
                <a:solidFill>
                  <a:srgbClr val="1F2A37"/>
                </a:solidFill>
                <a:latin typeface="Consolas"/>
              </a:rPr>
              <a:t>    elif win == 'O':  return -1</a:t>
            </a:r>
          </a:p>
          <a:p>
            <a:pPr algn="l" marL="0" indent="0">
              <a:lnSpc>
                <a:spcPts val="1430"/>
              </a:lnSpc>
              <a:spcBef>
                <a:spcPts val="0"/>
              </a:spcBef>
              <a:spcAft>
                <a:spcPts val="0"/>
              </a:spcAft>
              <a:buNone/>
            </a:pPr>
            <a:r>
              <a:rPr sz="1100" b="0" i="0">
                <a:solidFill>
                  <a:srgbClr val="1F2A37"/>
                </a:solidFill>
                <a:latin typeface="Consolas"/>
              </a:rPr>
              <a:t>    return 0</a:t>
            </a:r>
          </a:p>
        </p:txBody>
      </p:sp>
      <p:sp>
        <p:nvSpPr>
          <p:cNvPr id="27" name="Rectangle 26"/>
          <p:cNvSpPr/>
          <p:nvPr/>
        </p:nvSpPr>
        <p:spPr>
          <a:xfrm>
            <a:off x="6693407" y="2066543"/>
            <a:ext cx="4949921" cy="321792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93407" y="2066543"/>
            <a:ext cx="41148" cy="321792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76288" y="2148839"/>
            <a:ext cx="4584161"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SEARCH</a:t>
            </a:r>
          </a:p>
        </p:txBody>
      </p:sp>
      <p:sp>
        <p:nvSpPr>
          <p:cNvPr id="30" name="TextBox 29"/>
          <p:cNvSpPr txBox="1"/>
          <p:nvPr/>
        </p:nvSpPr>
        <p:spPr>
          <a:xfrm>
            <a:off x="6876288" y="2450591"/>
            <a:ext cx="4639025" cy="276072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def minimax(board, player):</a:t>
            </a:r>
          </a:p>
          <a:p>
            <a:pPr algn="l" marL="0" indent="0">
              <a:lnSpc>
                <a:spcPts val="1430"/>
              </a:lnSpc>
              <a:spcBef>
                <a:spcPts val="0"/>
              </a:spcBef>
              <a:spcAft>
                <a:spcPts val="0"/>
              </a:spcAft>
              <a:buNone/>
            </a:pPr>
            <a:r>
              <a:rPr sz="1100" b="0" i="0">
                <a:solidFill>
                  <a:srgbClr val="1F2A37"/>
                </a:solidFill>
                <a:latin typeface="Consolas"/>
              </a:rPr>
              <a:t>    if is_terminal(board):</a:t>
            </a:r>
          </a:p>
          <a:p>
            <a:pPr algn="l" marL="0" indent="0">
              <a:lnSpc>
                <a:spcPts val="1430"/>
              </a:lnSpc>
              <a:spcBef>
                <a:spcPts val="0"/>
              </a:spcBef>
              <a:spcAft>
                <a:spcPts val="0"/>
              </a:spcAft>
              <a:buNone/>
            </a:pPr>
            <a:r>
              <a:rPr sz="1100" b="0" i="0">
                <a:solidFill>
                  <a:srgbClr val="1F2A37"/>
                </a:solidFill>
                <a:latin typeface="Consolas"/>
              </a:rPr>
              <a:t>        return utility(board), None</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1" i="0">
                <a:solidFill>
                  <a:srgbClr val="1971C2"/>
                </a:solidFill>
                <a:latin typeface="Consolas"/>
              </a:rPr>
              <a:t>    if player == 'X':        </a:t>
            </a:r>
            <a:r>
              <a:rPr sz="1100" b="0" i="1">
                <a:solidFill>
                  <a:srgbClr val="768896"/>
                </a:solidFill>
                <a:latin typeface="Consolas"/>
              </a:rPr>
              <a:t># maximising player</a:t>
            </a:r>
          </a:p>
          <a:p>
            <a:pPr algn="l" marL="0" indent="0">
              <a:lnSpc>
                <a:spcPts val="1430"/>
              </a:lnSpc>
              <a:spcBef>
                <a:spcPts val="0"/>
              </a:spcBef>
              <a:spcAft>
                <a:spcPts val="0"/>
              </a:spcAft>
              <a:buNone/>
            </a:pPr>
            <a:r>
              <a:rPr sz="1100" b="0" i="0">
                <a:solidFill>
                  <a:srgbClr val="1F2A37"/>
                </a:solidFill>
                <a:latin typeface="Consolas"/>
              </a:rPr>
              <a:t>        best, move = -math.inf, None</a:t>
            </a:r>
          </a:p>
          <a:p>
            <a:pPr algn="l" marL="0" indent="0">
              <a:lnSpc>
                <a:spcPts val="1430"/>
              </a:lnSpc>
              <a:spcBef>
                <a:spcPts val="0"/>
              </a:spcBef>
              <a:spcAft>
                <a:spcPts val="0"/>
              </a:spcAft>
              <a:buNone/>
            </a:pPr>
            <a:r>
              <a:rPr sz="1100" b="0" i="0">
                <a:solidFill>
                  <a:srgbClr val="1F2A37"/>
                </a:solidFill>
                <a:latin typeface="Consolas"/>
              </a:rPr>
              <a:t>        for a in actions(board):</a:t>
            </a:r>
          </a:p>
          <a:p>
            <a:pPr algn="l" marL="0" indent="0">
              <a:lnSpc>
                <a:spcPts val="1430"/>
              </a:lnSpc>
              <a:spcBef>
                <a:spcPts val="0"/>
              </a:spcBef>
              <a:spcAft>
                <a:spcPts val="0"/>
              </a:spcAft>
              <a:buNone/>
            </a:pPr>
            <a:r>
              <a:rPr sz="1100" b="0" i="0">
                <a:solidFill>
                  <a:srgbClr val="1F2A37"/>
                </a:solidFill>
                <a:latin typeface="Consolas"/>
              </a:rPr>
              <a:t>            v, _ = minimax(result(board, a, 'X'), 'O')</a:t>
            </a:r>
          </a:p>
          <a:p>
            <a:pPr algn="l" marL="0" indent="0">
              <a:lnSpc>
                <a:spcPts val="1430"/>
              </a:lnSpc>
              <a:spcBef>
                <a:spcPts val="0"/>
              </a:spcBef>
              <a:spcAft>
                <a:spcPts val="0"/>
              </a:spcAft>
              <a:buNone/>
            </a:pPr>
            <a:r>
              <a:rPr sz="1100" b="0" i="0">
                <a:solidFill>
                  <a:srgbClr val="1F2A37"/>
                </a:solidFill>
                <a:latin typeface="Consolas"/>
              </a:rPr>
              <a:t>            if v &gt; best:  best, move = v, a</a:t>
            </a:r>
          </a:p>
          <a:p>
            <a:pPr algn="l" marL="0" indent="0">
              <a:lnSpc>
                <a:spcPts val="1430"/>
              </a:lnSpc>
              <a:spcBef>
                <a:spcPts val="0"/>
              </a:spcBef>
              <a:spcAft>
                <a:spcPts val="0"/>
              </a:spcAft>
              <a:buNone/>
            </a:pPr>
            <a:r>
              <a:rPr sz="1100" b="1" i="0">
                <a:solidFill>
                  <a:srgbClr val="1971C2"/>
                </a:solidFill>
                <a:latin typeface="Consolas"/>
              </a:rPr>
              <a:t>    else:                    </a:t>
            </a:r>
            <a:r>
              <a:rPr sz="1100" b="0" i="1">
                <a:solidFill>
                  <a:srgbClr val="768896"/>
                </a:solidFill>
                <a:latin typeface="Consolas"/>
              </a:rPr>
              <a:t># minimising player</a:t>
            </a:r>
          </a:p>
          <a:p>
            <a:pPr algn="l" marL="0" indent="0">
              <a:lnSpc>
                <a:spcPts val="1430"/>
              </a:lnSpc>
              <a:spcBef>
                <a:spcPts val="0"/>
              </a:spcBef>
              <a:spcAft>
                <a:spcPts val="0"/>
              </a:spcAft>
              <a:buNone/>
            </a:pPr>
            <a:r>
              <a:rPr sz="1100" b="0" i="0">
                <a:solidFill>
                  <a:srgbClr val="1F2A37"/>
                </a:solidFill>
                <a:latin typeface="Consolas"/>
              </a:rPr>
              <a:t>        best, move = math.inf, None</a:t>
            </a:r>
          </a:p>
          <a:p>
            <a:pPr algn="l" marL="0" indent="0">
              <a:lnSpc>
                <a:spcPts val="1430"/>
              </a:lnSpc>
              <a:spcBef>
                <a:spcPts val="0"/>
              </a:spcBef>
              <a:spcAft>
                <a:spcPts val="0"/>
              </a:spcAft>
              <a:buNone/>
            </a:pPr>
            <a:r>
              <a:rPr sz="1100" b="0" i="0">
                <a:solidFill>
                  <a:srgbClr val="1F2A37"/>
                </a:solidFill>
                <a:latin typeface="Consolas"/>
              </a:rPr>
              <a:t>        for a in actions(board):</a:t>
            </a:r>
          </a:p>
          <a:p>
            <a:pPr algn="l" marL="0" indent="0">
              <a:lnSpc>
                <a:spcPts val="1430"/>
              </a:lnSpc>
              <a:spcBef>
                <a:spcPts val="0"/>
              </a:spcBef>
              <a:spcAft>
                <a:spcPts val="0"/>
              </a:spcAft>
              <a:buNone/>
            </a:pPr>
            <a:r>
              <a:rPr sz="1100" b="0" i="0">
                <a:solidFill>
                  <a:srgbClr val="1F2A37"/>
                </a:solidFill>
                <a:latin typeface="Consolas"/>
              </a:rPr>
              <a:t>            v, _ = minimax(result(board, a, 'O'), 'X')</a:t>
            </a:r>
          </a:p>
          <a:p>
            <a:pPr algn="l" marL="0" indent="0">
              <a:lnSpc>
                <a:spcPts val="1430"/>
              </a:lnSpc>
              <a:spcBef>
                <a:spcPts val="0"/>
              </a:spcBef>
              <a:spcAft>
                <a:spcPts val="0"/>
              </a:spcAft>
              <a:buNone/>
            </a:pPr>
            <a:r>
              <a:rPr sz="1100" b="0" i="0">
                <a:solidFill>
                  <a:srgbClr val="1F2A37"/>
                </a:solidFill>
                <a:latin typeface="Consolas"/>
              </a:rPr>
              <a:t>            if v &lt; best:  best, move = v, a</a:t>
            </a:r>
          </a:p>
          <a:p>
            <a:pPr algn="l" marL="0" indent="0">
              <a:lnSpc>
                <a:spcPts val="1430"/>
              </a:lnSpc>
              <a:spcBef>
                <a:spcPts val="0"/>
              </a:spcBef>
              <a:spcAft>
                <a:spcPts val="0"/>
              </a:spcAft>
              <a:buNone/>
            </a:pPr>
            <a:r>
              <a:rPr sz="1100" b="0" i="0">
                <a:solidFill>
                  <a:srgbClr val="1F2A37"/>
                </a:solidFill>
                <a:latin typeface="Consolas"/>
              </a:rPr>
              <a:t>    return best, move</a:t>
            </a:r>
          </a:p>
        </p:txBody>
      </p:sp>
      <p:sp>
        <p:nvSpPr>
          <p:cNvPr id="31" name="TextBox 30"/>
          <p:cNvSpPr txBox="1"/>
          <p:nvPr/>
        </p:nvSpPr>
        <p:spPr>
          <a:xfrm>
            <a:off x="548640" y="5522214"/>
            <a:ext cx="11094689" cy="446024"/>
          </a:xfrm>
          <a:prstGeom prst="rect">
            <a:avLst/>
          </a:prstGeom>
          <a:noFill/>
        </p:spPr>
        <p:txBody>
          <a:bodyPr wrap="square" lIns="0" rIns="0" tIns="0" bIns="0" anchor="t">
            <a:noAutofit/>
          </a:bodyPr>
          <a:lstStyle/>
          <a:p>
            <a:pPr algn="l" marL="0" indent="0">
              <a:lnSpc>
                <a:spcPts val="1612"/>
              </a:lnSpc>
              <a:spcBef>
                <a:spcPts val="0"/>
              </a:spcBef>
              <a:spcAft>
                <a:spcPts val="0"/>
              </a:spcAft>
              <a:buNone/>
            </a:pPr>
            <a:r>
              <a:rPr sz="1300" b="0" i="0">
                <a:solidFill>
                  <a:srgbClr val="2B3542"/>
                </a:solidFill>
                <a:latin typeface="Calibri"/>
              </a:rPr>
              <a:t>Notice which parts are the </a:t>
            </a:r>
            <a:r>
              <a:rPr sz="1300" b="1" i="0">
                <a:solidFill>
                  <a:srgbClr val="1971C2"/>
                </a:solidFill>
                <a:latin typeface="Calibri"/>
              </a:rPr>
              <a:t>environment model</a:t>
            </a:r>
            <a:r>
              <a:rPr sz="1300" b="0" i="0">
                <a:solidFill>
                  <a:srgbClr val="2B3542"/>
                </a:solidFill>
                <a:latin typeface="Calibri"/>
              </a:rPr>
              <a:t> — </a:t>
            </a:r>
            <a:r>
              <a:rPr sz="1150" b="0" i="0">
                <a:solidFill>
                  <a:srgbClr val="16202A"/>
                </a:solidFill>
                <a:latin typeface="Consolas"/>
              </a:rPr>
              <a:t>actions</a:t>
            </a:r>
            <a:r>
              <a:rPr sz="1300" b="0" i="0">
                <a:solidFill>
                  <a:srgbClr val="2B3542"/>
                </a:solidFill>
                <a:latin typeface="Calibri"/>
              </a:rPr>
              <a:t>, </a:t>
            </a:r>
            <a:r>
              <a:rPr sz="1150" b="0" i="0">
                <a:solidFill>
                  <a:srgbClr val="16202A"/>
                </a:solidFill>
                <a:latin typeface="Consolas"/>
              </a:rPr>
              <a:t>result</a:t>
            </a:r>
            <a:r>
              <a:rPr sz="1300" b="0" i="0">
                <a:solidFill>
                  <a:srgbClr val="2B3542"/>
                </a:solidFill>
                <a:latin typeface="Calibri"/>
              </a:rPr>
              <a:t>, </a:t>
            </a:r>
            <a:r>
              <a:rPr sz="1150" b="0" i="0">
                <a:solidFill>
                  <a:srgbClr val="16202A"/>
                </a:solidFill>
                <a:latin typeface="Consolas"/>
              </a:rPr>
              <a:t>is_terminal</a:t>
            </a:r>
            <a:r>
              <a:rPr sz="1300" b="0" i="0">
                <a:solidFill>
                  <a:srgbClr val="2B3542"/>
                </a:solidFill>
                <a:latin typeface="Calibri"/>
              </a:rPr>
              <a:t> — and which is the </a:t>
            </a:r>
            <a:r>
              <a:rPr sz="1300" b="1" i="0">
                <a:solidFill>
                  <a:srgbClr val="B54708"/>
                </a:solidFill>
                <a:latin typeface="Calibri"/>
              </a:rPr>
              <a:t>decision procedure</a:t>
            </a:r>
            <a:r>
              <a:rPr sz="1300" b="0" i="0">
                <a:solidFill>
                  <a:srgbClr val="2B3542"/>
                </a:solidFill>
                <a:latin typeface="Calibri"/>
              </a:rPr>
              <a:t>. The goal-based architecture is exactly this separation: a model of how the world works, plus a search that uses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5.13  TWO POSITIONS, TWO REASONS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same program wins when it can and blocks when it must</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46</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Rectangle 22"/>
          <p:cNvSpPr/>
          <p:nvPr/>
        </p:nvSpPr>
        <p:spPr>
          <a:xfrm>
            <a:off x="548640" y="2048256"/>
            <a:ext cx="5295884"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2194560"/>
            <a:ext cx="5295884" cy="238886"/>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Scenario 1 — X can win now</a:t>
            </a:r>
          </a:p>
        </p:txBody>
      </p:sp>
      <p:sp>
        <p:nvSpPr>
          <p:cNvPr id="25" name="Rectangle 24"/>
          <p:cNvSpPr/>
          <p:nvPr/>
        </p:nvSpPr>
        <p:spPr>
          <a:xfrm>
            <a:off x="548640" y="2543175"/>
            <a:ext cx="5295884" cy="1109218"/>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8640" y="2543175"/>
            <a:ext cx="41148" cy="110921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1520" y="2634615"/>
            <a:ext cx="4984988" cy="94462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board = ('X', 'X', None,</a:t>
            </a:r>
          </a:p>
          <a:p>
            <a:pPr algn="l" marL="0" indent="0">
              <a:lnSpc>
                <a:spcPts val="1430"/>
              </a:lnSpc>
              <a:spcBef>
                <a:spcPts val="0"/>
              </a:spcBef>
              <a:spcAft>
                <a:spcPts val="0"/>
              </a:spcAft>
              <a:buNone/>
            </a:pPr>
            <a:r>
              <a:rPr sz="1100" b="0" i="0">
                <a:solidFill>
                  <a:srgbClr val="1F2A37"/>
                </a:solidFill>
                <a:latin typeface="Consolas"/>
              </a:rPr>
              <a:t>         'O', 'O', None,</a:t>
            </a:r>
          </a:p>
          <a:p>
            <a:pPr algn="l" marL="0" indent="0">
              <a:lnSpc>
                <a:spcPts val="1430"/>
              </a:lnSpc>
              <a:spcBef>
                <a:spcPts val="0"/>
              </a:spcBef>
              <a:spcAft>
                <a:spcPts val="0"/>
              </a:spcAft>
              <a:buNone/>
            </a:pPr>
            <a:r>
              <a:rPr sz="1100" b="0" i="0">
                <a:solidFill>
                  <a:srgbClr val="1F2A37"/>
                </a:solidFill>
                <a:latin typeface="Consolas"/>
              </a:rPr>
              <a:t>         None, None, None)</a:t>
            </a:r>
          </a:p>
          <a:p>
            <a:pPr algn="l" marL="0" indent="0">
              <a:lnSpc>
                <a:spcPts val="1430"/>
              </a:lnSpc>
              <a:spcBef>
                <a:spcPts val="0"/>
              </a:spcBef>
              <a:spcAft>
                <a:spcPts val="0"/>
              </a:spcAft>
              <a:buNone/>
            </a:pPr>
            <a:r>
              <a:rPr sz="1100" b="0" i="0">
                <a:solidFill>
                  <a:srgbClr val="1F2A37"/>
                </a:solidFill>
                <a:latin typeface="Consolas"/>
              </a:rPr>
              <a:t>agent = GoalBasedTicTacToeAgent('X')</a:t>
            </a:r>
          </a:p>
          <a:p>
            <a:pPr algn="l" marL="0" indent="0">
              <a:lnSpc>
                <a:spcPts val="1430"/>
              </a:lnSpc>
              <a:spcBef>
                <a:spcPts val="0"/>
              </a:spcBef>
              <a:spcAft>
                <a:spcPts val="0"/>
              </a:spcAft>
              <a:buNone/>
            </a:pPr>
            <a:r>
              <a:rPr sz="1100" b="0" i="0">
                <a:solidFill>
                  <a:srgbClr val="1F2A37"/>
                </a:solidFill>
                <a:latin typeface="Consolas"/>
              </a:rPr>
              <a:t>agent(board)   </a:t>
            </a:r>
            <a:r>
              <a:rPr sz="1100" b="0" i="1">
                <a:solidFill>
                  <a:srgbClr val="768896"/>
                </a:solidFill>
                <a:latin typeface="Consolas"/>
              </a:rPr>
              <a:t># -&gt; 2</a:t>
            </a:r>
          </a:p>
        </p:txBody>
      </p:sp>
      <p:sp>
        <p:nvSpPr>
          <p:cNvPr id="28" name="TextBox 27"/>
          <p:cNvSpPr txBox="1"/>
          <p:nvPr/>
        </p:nvSpPr>
        <p:spPr>
          <a:xfrm>
            <a:off x="548640" y="3816985"/>
            <a:ext cx="5295884"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Position 2 completes the top row: that branch has value +1, higher than any alternative. No rule “take the winning move” was written.</a:t>
            </a:r>
          </a:p>
        </p:txBody>
      </p:sp>
      <p:sp>
        <p:nvSpPr>
          <p:cNvPr id="29" name="Rectangle 28"/>
          <p:cNvSpPr/>
          <p:nvPr/>
        </p:nvSpPr>
        <p:spPr>
          <a:xfrm>
            <a:off x="6347444" y="2048256"/>
            <a:ext cx="5295884"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7444" y="2194560"/>
            <a:ext cx="5295884" cy="238886"/>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6202A"/>
                </a:solidFill>
                <a:latin typeface="Calibri"/>
              </a:rPr>
              <a:t>Scenario 2 — X must block</a:t>
            </a:r>
          </a:p>
        </p:txBody>
      </p:sp>
      <p:sp>
        <p:nvSpPr>
          <p:cNvPr id="31" name="Rectangle 30"/>
          <p:cNvSpPr/>
          <p:nvPr/>
        </p:nvSpPr>
        <p:spPr>
          <a:xfrm>
            <a:off x="6347444" y="2543175"/>
            <a:ext cx="5295884" cy="927608"/>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347444" y="2543175"/>
            <a:ext cx="41148" cy="92760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0324" y="2634615"/>
            <a:ext cx="4984988" cy="76301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0" i="0">
                <a:solidFill>
                  <a:srgbClr val="1F2A37"/>
                </a:solidFill>
                <a:latin typeface="Consolas"/>
              </a:rPr>
              <a:t>board = ('O', 'O', None,</a:t>
            </a:r>
          </a:p>
          <a:p>
            <a:pPr algn="l" marL="0" indent="0">
              <a:lnSpc>
                <a:spcPts val="1430"/>
              </a:lnSpc>
              <a:spcBef>
                <a:spcPts val="0"/>
              </a:spcBef>
              <a:spcAft>
                <a:spcPts val="0"/>
              </a:spcAft>
              <a:buNone/>
            </a:pPr>
            <a:r>
              <a:rPr sz="1100" b="0" i="0">
                <a:solidFill>
                  <a:srgbClr val="1F2A37"/>
                </a:solidFill>
                <a:latin typeface="Consolas"/>
              </a:rPr>
              <a:t>         'X', None, None,</a:t>
            </a:r>
          </a:p>
          <a:p>
            <a:pPr algn="l" marL="0" indent="0">
              <a:lnSpc>
                <a:spcPts val="1430"/>
              </a:lnSpc>
              <a:spcBef>
                <a:spcPts val="0"/>
              </a:spcBef>
              <a:spcAft>
                <a:spcPts val="0"/>
              </a:spcAft>
              <a:buNone/>
            </a:pPr>
            <a:r>
              <a:rPr sz="1100" b="0" i="0">
                <a:solidFill>
                  <a:srgbClr val="1F2A37"/>
                </a:solidFill>
                <a:latin typeface="Consolas"/>
              </a:rPr>
              <a:t>         None, None, 'X')</a:t>
            </a:r>
          </a:p>
          <a:p>
            <a:pPr algn="l" marL="0" indent="0">
              <a:lnSpc>
                <a:spcPts val="1430"/>
              </a:lnSpc>
              <a:spcBef>
                <a:spcPts val="0"/>
              </a:spcBef>
              <a:spcAft>
                <a:spcPts val="0"/>
              </a:spcAft>
              <a:buNone/>
            </a:pPr>
            <a:r>
              <a:rPr sz="1100" b="0" i="0">
                <a:solidFill>
                  <a:srgbClr val="1F2A37"/>
                </a:solidFill>
                <a:latin typeface="Consolas"/>
              </a:rPr>
              <a:t>agent(board)   </a:t>
            </a:r>
            <a:r>
              <a:rPr sz="1100" b="0" i="1">
                <a:solidFill>
                  <a:srgbClr val="768896"/>
                </a:solidFill>
                <a:latin typeface="Consolas"/>
              </a:rPr>
              <a:t># -&gt; 2</a:t>
            </a:r>
          </a:p>
        </p:txBody>
      </p:sp>
      <p:sp>
        <p:nvSpPr>
          <p:cNvPr id="34" name="TextBox 33"/>
          <p:cNvSpPr txBox="1"/>
          <p:nvPr/>
        </p:nvSpPr>
        <p:spPr>
          <a:xfrm>
            <a:off x="6347444" y="3635375"/>
            <a:ext cx="5295884"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The same index, for the opposite reason: every other move lets O complete the top row, giving value −1. Blocking is the only move that avoids a loss.</a:t>
            </a:r>
          </a:p>
        </p:txBody>
      </p:sp>
      <p:sp>
        <p:nvSpPr>
          <p:cNvPr id="35" name="Rectangle 34"/>
          <p:cNvSpPr/>
          <p:nvPr/>
        </p:nvSpPr>
        <p:spPr>
          <a:xfrm>
            <a:off x="548640" y="4420489"/>
            <a:ext cx="11094689" cy="673608"/>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8640" y="4420489"/>
            <a:ext cx="41148" cy="67360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68096" y="4566793"/>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One program, two behaviours that a reflex agent would have needed two separate rules for — and it would still fail on the third case nobody thought of. </a:t>
            </a:r>
            <a:r>
              <a:rPr sz="1250" b="1" i="0">
                <a:solidFill>
                  <a:srgbClr val="2B3542"/>
                </a:solidFill>
                <a:latin typeface="Calibri"/>
              </a:rPr>
              <a:t>This is what “considering future consequences” buys.</a:t>
            </a:r>
          </a:p>
        </p:txBody>
      </p:sp>
      <p:sp>
        <p:nvSpPr>
          <p:cNvPr id="38" name="TextBox 37"/>
          <p:cNvSpPr txBox="1"/>
          <p:nvPr/>
        </p:nvSpPr>
        <p:spPr>
          <a:xfrm>
            <a:off x="548640" y="5295265"/>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WHAT MINIMAX GUARANTEES, AND WHAT IT ASSUMES</a:t>
            </a:r>
          </a:p>
        </p:txBody>
      </p:sp>
      <p:sp>
        <p:nvSpPr>
          <p:cNvPr id="39" name="Rectangle 38"/>
          <p:cNvSpPr/>
          <p:nvPr/>
        </p:nvSpPr>
        <p:spPr>
          <a:xfrm>
            <a:off x="548640" y="5533009"/>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5661025"/>
            <a:ext cx="3490965" cy="6096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It never loses</a:t>
            </a:r>
          </a:p>
          <a:p>
            <a:pPr algn="l" marL="0" indent="0">
              <a:lnSpc>
                <a:spcPts val="1298"/>
              </a:lnSpc>
              <a:spcBef>
                <a:spcPts val="500"/>
              </a:spcBef>
              <a:spcAft>
                <a:spcPts val="0"/>
              </a:spcAft>
              <a:buNone/>
            </a:pPr>
            <a:r>
              <a:rPr sz="1100" b="0" i="0">
                <a:solidFill>
                  <a:srgbClr val="5F6B76"/>
                </a:solidFill>
                <a:latin typeface="Calibri"/>
              </a:rPr>
              <a:t>The backed-up value of the chosen action is its worst case — never −1 from the opening position.</a:t>
            </a:r>
          </a:p>
        </p:txBody>
      </p:sp>
      <p:sp>
        <p:nvSpPr>
          <p:cNvPr id="41" name="Rectangle 40"/>
          <p:cNvSpPr/>
          <p:nvPr/>
        </p:nvSpPr>
        <p:spPr>
          <a:xfrm>
            <a:off x="4350501" y="5533009"/>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350501" y="5661025"/>
            <a:ext cx="3490965" cy="6096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It wins when a win is forced</a:t>
            </a:r>
          </a:p>
          <a:p>
            <a:pPr algn="l" marL="0" indent="0">
              <a:lnSpc>
                <a:spcPts val="1298"/>
              </a:lnSpc>
              <a:spcBef>
                <a:spcPts val="500"/>
              </a:spcBef>
              <a:spcAft>
                <a:spcPts val="0"/>
              </a:spcAft>
              <a:buNone/>
            </a:pPr>
            <a:r>
              <a:rPr sz="1100" b="0" i="0">
                <a:solidFill>
                  <a:srgbClr val="5F6B76"/>
                </a:solidFill>
                <a:latin typeface="Calibri"/>
              </a:rPr>
              <a:t>If a branch has value +1 under optimal opposition, the search finds it. Nothing is approximated.</a:t>
            </a:r>
          </a:p>
        </p:txBody>
      </p:sp>
      <p:sp>
        <p:nvSpPr>
          <p:cNvPr id="43" name="Rectangle 42"/>
          <p:cNvSpPr/>
          <p:nvPr/>
        </p:nvSpPr>
        <p:spPr>
          <a:xfrm>
            <a:off x="8152363" y="5533009"/>
            <a:ext cx="3490965"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52363" y="5661025"/>
            <a:ext cx="3490965" cy="609600"/>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1" i="0">
                <a:solidFill>
                  <a:srgbClr val="16202A"/>
                </a:solidFill>
                <a:latin typeface="Calibri"/>
              </a:rPr>
              <a:t>It assumes a rational opponent</a:t>
            </a:r>
          </a:p>
          <a:p>
            <a:pPr algn="l" marL="0" indent="0">
              <a:lnSpc>
                <a:spcPts val="1298"/>
              </a:lnSpc>
              <a:spcBef>
                <a:spcPts val="500"/>
              </a:spcBef>
              <a:spcAft>
                <a:spcPts val="0"/>
              </a:spcAft>
              <a:buNone/>
            </a:pPr>
            <a:r>
              <a:rPr sz="1100" b="0" i="0">
                <a:solidFill>
                  <a:srgbClr val="5F6B76"/>
                </a:solidFill>
                <a:latin typeface="Calibri"/>
              </a:rPr>
              <a:t>Against a weak opponent it is safe rather than exploitative: it never gambles on a likely mistake.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5.14  THE COST OF LOOKING AHEAD</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Exhaustive search is feasible for Tic-Tac-Toe and for almost nothing else</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47</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Utility-based</a:t>
            </a:r>
          </a:p>
          <a:p>
            <a:pPr algn="l" marL="0" indent="0">
              <a:lnSpc>
                <a:spcPts val="1068"/>
              </a:lnSpc>
              <a:spcBef>
                <a:spcPts val="300"/>
              </a:spcBef>
              <a:spcAft>
                <a:spcPts val="0"/>
              </a:spcAft>
              <a:buNone/>
            </a:pPr>
            <a:r>
              <a:rPr sz="953" b="0" i="0">
                <a:solidFill>
                  <a:srgbClr val="8A959E"/>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121408"/>
            <a:ext cx="11094689" cy="245745"/>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This brute-force minimax explores the entire remaining game tree. That is possible for Tic-Tac-Toe only because the tree is small.</a:t>
            </a:r>
          </a:p>
        </p:txBody>
      </p:sp>
      <p:pic>
        <p:nvPicPr>
          <p:cNvPr id="24" name="Picture 23" descr="eq_ttt_chess.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913047" y="2623184"/>
            <a:ext cx="6365875" cy="409575"/>
          </a:xfrm>
          <a:prstGeom prst="rect">
            <a:avLst/>
          </a:prstGeom>
        </p:spPr>
      </p:pic>
      <p:sp>
        <p:nvSpPr>
          <p:cNvPr id="25" name="Rectangle 24"/>
          <p:cNvSpPr/>
          <p:nvPr/>
        </p:nvSpPr>
        <p:spPr>
          <a:xfrm>
            <a:off x="548640" y="3435095"/>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8640" y="3672839"/>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3819143"/>
            <a:ext cx="3490965" cy="1018054"/>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THE TOY CASE</a:t>
            </a:r>
          </a:p>
          <a:p>
            <a:pPr algn="l" marL="0" indent="0">
              <a:lnSpc>
                <a:spcPts val="1425"/>
              </a:lnSpc>
              <a:spcBef>
                <a:spcPts val="500"/>
              </a:spcBef>
              <a:spcAft>
                <a:spcPts val="0"/>
              </a:spcAft>
              <a:buNone/>
            </a:pPr>
            <a:r>
              <a:rPr sz="1250" b="1" i="0">
                <a:solidFill>
                  <a:srgbClr val="16202A"/>
                </a:solidFill>
                <a:latin typeface="Calibri"/>
              </a:rPr>
              <a:t>Tic-Tac-Toe: about 3.63 × 10⁵ terminal sequences</a:t>
            </a:r>
          </a:p>
          <a:p>
            <a:pPr algn="l" marL="0" indent="0">
              <a:lnSpc>
                <a:spcPts val="1380"/>
              </a:lnSpc>
              <a:spcBef>
                <a:spcPts val="600"/>
              </a:spcBef>
              <a:spcAft>
                <a:spcPts val="0"/>
              </a:spcAft>
              <a:buNone/>
            </a:pPr>
            <a:r>
              <a:rPr sz="1150" b="0" i="0">
                <a:solidFill>
                  <a:srgbClr val="5F6B76"/>
                </a:solidFill>
                <a:latin typeface="Calibri"/>
              </a:rPr>
              <a:t>Small enough to enumerate exhaustively in well under a second. The agent is optimal by construction, and there is nothing to approximate.</a:t>
            </a:r>
          </a:p>
        </p:txBody>
      </p:sp>
      <p:sp>
        <p:nvSpPr>
          <p:cNvPr id="28" name="Rectangle 27"/>
          <p:cNvSpPr/>
          <p:nvPr/>
        </p:nvSpPr>
        <p:spPr>
          <a:xfrm>
            <a:off x="4350501" y="3672839"/>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50501" y="3819143"/>
            <a:ext cx="3490965" cy="1018054"/>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C92A2A"/>
                </a:solidFill>
                <a:latin typeface="Calibri"/>
              </a:rPr>
              <a:t>THE REAL CASE</a:t>
            </a:r>
          </a:p>
          <a:p>
            <a:pPr algn="l" marL="0" indent="0">
              <a:lnSpc>
                <a:spcPts val="1425"/>
              </a:lnSpc>
              <a:spcBef>
                <a:spcPts val="500"/>
              </a:spcBef>
              <a:spcAft>
                <a:spcPts val="0"/>
              </a:spcAft>
              <a:buNone/>
            </a:pPr>
            <a:r>
              <a:rPr sz="1250" b="1" i="0">
                <a:solidFill>
                  <a:srgbClr val="16202A"/>
                </a:solidFill>
                <a:latin typeface="Calibri"/>
              </a:rPr>
              <a:t>Chess: roughly 10¹⁵⁴ possible game sequences</a:t>
            </a:r>
          </a:p>
          <a:p>
            <a:pPr algn="l" marL="0" indent="0">
              <a:lnSpc>
                <a:spcPts val="1380"/>
              </a:lnSpc>
              <a:spcBef>
                <a:spcPts val="600"/>
              </a:spcBef>
              <a:spcAft>
                <a:spcPts val="0"/>
              </a:spcAft>
              <a:buNone/>
            </a:pPr>
            <a:r>
              <a:rPr sz="1150" b="0" i="0">
                <a:solidFill>
                  <a:srgbClr val="5F6B76"/>
                </a:solidFill>
                <a:latin typeface="Calibri"/>
              </a:rPr>
              <a:t>The same argument as Part II, now about the search tree rather than the lookup table. Exhaustive search is not slow here; it is impossible.</a:t>
            </a:r>
          </a:p>
        </p:txBody>
      </p:sp>
      <p:sp>
        <p:nvSpPr>
          <p:cNvPr id="30" name="Rectangle 29"/>
          <p:cNvSpPr/>
          <p:nvPr/>
        </p:nvSpPr>
        <p:spPr>
          <a:xfrm>
            <a:off x="8152363" y="3672839"/>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52363" y="3819143"/>
            <a:ext cx="3490965" cy="1193314"/>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THE PRACTICAL REPAIR</a:t>
            </a:r>
          </a:p>
          <a:p>
            <a:pPr algn="l" marL="0" indent="0">
              <a:lnSpc>
                <a:spcPts val="1425"/>
              </a:lnSpc>
              <a:spcBef>
                <a:spcPts val="500"/>
              </a:spcBef>
              <a:spcAft>
                <a:spcPts val="0"/>
              </a:spcAft>
              <a:buNone/>
            </a:pPr>
            <a:r>
              <a:rPr sz="1250" b="1" i="0">
                <a:solidFill>
                  <a:srgbClr val="16202A"/>
                </a:solidFill>
                <a:latin typeface="Calibri"/>
              </a:rPr>
              <a:t>Prune, and stop early with an estimate</a:t>
            </a:r>
          </a:p>
          <a:p>
            <a:pPr algn="l" marL="0" indent="0">
              <a:lnSpc>
                <a:spcPts val="1380"/>
              </a:lnSpc>
              <a:spcBef>
                <a:spcPts val="600"/>
              </a:spcBef>
              <a:spcAft>
                <a:spcPts val="0"/>
              </a:spcAft>
              <a:buNone/>
            </a:pPr>
            <a:r>
              <a:rPr sz="1150" b="0" i="0">
                <a:solidFill>
                  <a:srgbClr val="5F6B76"/>
                </a:solidFill>
                <a:latin typeface="Calibri"/>
              </a:rPr>
              <a:t>Alpha–beta pruning discards branches that cannot affect the result, and a heuristic evaluation function replaces exact values at a cut-off depth. Both are approximations of the same recursion.</a:t>
            </a:r>
          </a:p>
        </p:txBody>
      </p:sp>
      <p:sp>
        <p:nvSpPr>
          <p:cNvPr id="32" name="Rectangle 31"/>
          <p:cNvSpPr/>
          <p:nvPr/>
        </p:nvSpPr>
        <p:spPr>
          <a:xfrm>
            <a:off x="548640" y="5268490"/>
            <a:ext cx="11094689" cy="67360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48640" y="5268490"/>
            <a:ext cx="41148" cy="673608"/>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68096" y="5414794"/>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The pattern repeats for the third time: an exact method that is correct and infeasible, and an approximation that is feasible and nearly correct. </a:t>
            </a:r>
            <a:r>
              <a:rPr sz="1250" b="1" i="0">
                <a:solidFill>
                  <a:srgbClr val="2B3542"/>
                </a:solidFill>
                <a:latin typeface="Calibri"/>
              </a:rPr>
              <a:t>Reinforcement learning is, in large part, a systematic study of such approximations.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5.15  UTILITY-BASED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A goal is binary; a preference is graded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48</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Utility-based</a:t>
            </a:r>
          </a:p>
          <a:p>
            <a:pPr algn="l" marL="0" indent="0">
              <a:lnSpc>
                <a:spcPts val="1068"/>
              </a:lnSpc>
              <a:spcBef>
                <a:spcPts val="300"/>
              </a:spcBef>
              <a:spcAft>
                <a:spcPts val="0"/>
              </a:spcAft>
              <a:buNone/>
            </a:pPr>
            <a:r>
              <a:rPr sz="953" b="0" i="0">
                <a:solidFill>
                  <a:srgbClr val="5F6B76"/>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630936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Goals alone are often not enough for high-quality behaviour. Many action sequences reach the same goal, but some are faster, safer or cheaper. A goal only distinguishes success from failure; a performance measure says how desirable each outcome is.</a:t>
            </a:r>
          </a:p>
        </p:txBody>
      </p:sp>
      <p:pic>
        <p:nvPicPr>
          <p:cNvPr id="24" name="Picture 23" descr="arch_utility.png"/>
          <p:cNvPicPr>
            <a:picLocks noChangeAspect="1"/>
          </p:cNvPicPr>
          <p:nvPr/>
        </p:nvPicPr>
        <p:blipFill>
          <a:blip r:embed="rId2"/>
          <a:stretch>
            <a:fillRect/>
          </a:stretch>
        </p:blipFill>
        <p:spPr>
          <a:xfrm>
            <a:off x="548640" y="2871978"/>
            <a:ext cx="5595456" cy="2148840"/>
          </a:xfrm>
          <a:prstGeom prst="rect">
            <a:avLst/>
          </a:prstGeom>
        </p:spPr>
      </p:pic>
      <p:sp>
        <p:nvSpPr>
          <p:cNvPr id="25" name="TextBox 24"/>
          <p:cNvSpPr txBox="1"/>
          <p:nvPr/>
        </p:nvSpPr>
        <p:spPr>
          <a:xfrm>
            <a:off x="548640" y="5130546"/>
            <a:ext cx="630936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One more block: predicted outcomes are scored by a utility function before an action is chosen. The diagram has grown monotonically since §5.2 — nothing has been taken away.</a:t>
            </a:r>
          </a:p>
        </p:txBody>
      </p:sp>
      <p:sp>
        <p:nvSpPr>
          <p:cNvPr id="26" name="TextBox 25"/>
          <p:cNvSpPr txBox="1"/>
          <p:nvPr/>
        </p:nvSpPr>
        <p:spPr>
          <a:xfrm>
            <a:off x="7269480" y="2084832"/>
            <a:ext cx="4373849" cy="857410"/>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007" b="1" i="0" spc="120">
                <a:solidFill>
                  <a:srgbClr val="C92A2A"/>
                </a:solidFill>
                <a:latin typeface="Calibri"/>
              </a:rPr>
              <a:t>UTILITY</a:t>
            </a:r>
          </a:p>
          <a:p>
            <a:pPr algn="l" marL="0" indent="0">
              <a:lnSpc>
                <a:spcPts val="1525"/>
              </a:lnSpc>
              <a:spcBef>
                <a:spcPts val="0"/>
              </a:spcBef>
              <a:spcAft>
                <a:spcPts val="0"/>
              </a:spcAft>
              <a:buNone/>
            </a:pPr>
            <a:r>
              <a:rPr sz="1250" b="0" i="0">
                <a:solidFill>
                  <a:srgbClr val="2B3542"/>
                </a:solidFill>
                <a:latin typeface="Calibri"/>
              </a:rPr>
              <a:t>A </a:t>
            </a:r>
            <a:r>
              <a:rPr sz="1250" b="1" i="0">
                <a:solidFill>
                  <a:srgbClr val="16202A"/>
                </a:solidFill>
                <a:latin typeface="Calibri"/>
              </a:rPr>
              <a:t>utility function</a:t>
            </a:r>
            <a:r>
              <a:rPr sz="1250" b="0" i="0">
                <a:solidFill>
                  <a:srgbClr val="2B3542"/>
                </a:solidFill>
                <a:latin typeface="Calibri"/>
              </a:rPr>
              <a:t> assigns a number to each outcome according to how desirable it is, extending a goal from a yes/no test into a ranking.</a:t>
            </a:r>
          </a:p>
        </p:txBody>
      </p:sp>
      <p:sp>
        <p:nvSpPr>
          <p:cNvPr id="27" name="Rectangle 26"/>
          <p:cNvSpPr/>
          <p:nvPr/>
        </p:nvSpPr>
        <p:spPr>
          <a:xfrm>
            <a:off x="7269480" y="3143410"/>
            <a:ext cx="4373849" cy="1024127"/>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269480" y="3143410"/>
            <a:ext cx="41148" cy="1024127"/>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88936" y="3289714"/>
            <a:ext cx="3989801" cy="73151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Utility is the </a:t>
            </a:r>
            <a:r>
              <a:rPr sz="1200" b="1" i="0">
                <a:solidFill>
                  <a:srgbClr val="2B3542"/>
                </a:solidFill>
                <a:latin typeface="Calibri"/>
              </a:rPr>
              <a:t>internalisation of the performance measure</a:t>
            </a:r>
            <a:r>
              <a:rPr sz="1200" b="0" i="0">
                <a:solidFill>
                  <a:srgbClr val="2B3542"/>
                </a:solidFill>
                <a:latin typeface="Calibri"/>
              </a:rPr>
              <a:t>. If it is aligned with the external measure, an agent that maximises utility behaves rationally with respect to that measure — which is the point of introducing it.</a:t>
            </a:r>
          </a:p>
        </p:txBody>
      </p:sp>
      <p:sp>
        <p:nvSpPr>
          <p:cNvPr id="30" name="TextBox 29"/>
          <p:cNvSpPr txBox="1"/>
          <p:nvPr/>
        </p:nvSpPr>
        <p:spPr>
          <a:xfrm>
            <a:off x="7269480" y="4386994"/>
            <a:ext cx="437384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WHY GOALS ALONE ARE INSUFFICIENT</a:t>
            </a:r>
          </a:p>
        </p:txBody>
      </p:sp>
      <p:sp>
        <p:nvSpPr>
          <p:cNvPr id="31" name="TextBox 30"/>
          <p:cNvSpPr txBox="1"/>
          <p:nvPr/>
        </p:nvSpPr>
        <p:spPr>
          <a:xfrm>
            <a:off x="7269480" y="4643026"/>
            <a:ext cx="4373849" cy="1088136"/>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0" i="0">
                <a:solidFill>
                  <a:srgbClr val="2B3542"/>
                </a:solidFill>
                <a:latin typeface="Calibri"/>
              </a:rPr>
              <a:t>Many routes reach the destination; they differ in time, fuel and risk.</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Goals can conflict — arrive quickly, arrive safely. Utility trades them off on one scale.</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Some goals are unreachable with certainty. Utility still ranks the partial outcomes.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5.16  DECIDING UNDER UNCERTAINTY</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Weigh each outcome by how likely it is and by how good it is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49</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Utility-based</a:t>
            </a:r>
          </a:p>
          <a:p>
            <a:pPr algn="l" marL="0" indent="0">
              <a:lnSpc>
                <a:spcPts val="1068"/>
              </a:lnSpc>
              <a:spcBef>
                <a:spcPts val="300"/>
              </a:spcBef>
              <a:spcAft>
                <a:spcPts val="0"/>
              </a:spcAft>
              <a:buNone/>
            </a:pPr>
            <a:r>
              <a:rPr sz="953" b="0" i="0">
                <a:solidFill>
                  <a:srgbClr val="5F6B76"/>
                </a:solidFill>
                <a:latin typeface="Calibri"/>
              </a:rPr>
              <a:t>+ graded preferences</a:t>
            </a:r>
          </a:p>
        </p:txBody>
      </p:sp>
      <p:sp>
        <p:nvSpPr>
          <p:cNvPr id="20" name="Rectangle 19"/>
          <p:cNvSpPr/>
          <p:nvPr/>
        </p:nvSpPr>
        <p:spPr>
          <a:xfrm>
            <a:off x="9497543"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8A959E"/>
                </a:solidFill>
                <a:latin typeface="Calibri"/>
              </a:rPr>
              <a:t>Learning</a:t>
            </a:r>
          </a:p>
          <a:p>
            <a:pPr algn="l" marL="0" indent="0">
              <a:lnSpc>
                <a:spcPts val="1068"/>
              </a:lnSpc>
              <a:spcBef>
                <a:spcPts val="300"/>
              </a:spcBef>
              <a:spcAft>
                <a:spcPts val="0"/>
              </a:spcAft>
              <a:buNone/>
            </a:pPr>
            <a:r>
              <a:rPr sz="953" b="0" i="0">
                <a:solidFill>
                  <a:srgbClr val="8A959E"/>
                </a:solidFill>
                <a:latin typeface="Calibri"/>
              </a:rPr>
              <a:t>+ improvement from feedback</a:t>
            </a:r>
          </a:p>
        </p:txBody>
      </p:sp>
      <p:sp>
        <p:nvSpPr>
          <p:cNvPr id="23" name="TextBox 22"/>
          <p:cNvSpPr txBox="1"/>
          <p:nvPr/>
        </p:nvSpPr>
        <p:spPr>
          <a:xfrm>
            <a:off x="548640" y="2084832"/>
            <a:ext cx="11094689" cy="439419"/>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Partial observability and non-determinism are inherent in real environments, so an action does not determine an outcome. A rational utility-based agent chooses the action that maximises expected utility: the utility it expects on average, weighing both the probability and the desirability of each possible outcome.</a:t>
            </a:r>
          </a:p>
        </p:txBody>
      </p:sp>
      <p:pic>
        <p:nvPicPr>
          <p:cNvPr id="24" name="Picture 23" descr="eq_eu.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68680" y="2761996"/>
            <a:ext cx="5226050" cy="958850"/>
          </a:xfrm>
          <a:prstGeom prst="rect">
            <a:avLst/>
          </a:prstGeom>
        </p:spPr>
      </p:pic>
      <p:sp>
        <p:nvSpPr>
          <p:cNvPr id="25" name="TextBox 24"/>
          <p:cNvSpPr txBox="1"/>
          <p:nvPr/>
        </p:nvSpPr>
        <p:spPr>
          <a:xfrm>
            <a:off x="6812280" y="2853436"/>
            <a:ext cx="483104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C92A2A"/>
                </a:solidFill>
                <a:latin typeface="Calibri"/>
              </a:rPr>
              <a:t>AND THEN ACT</a:t>
            </a:r>
          </a:p>
        </p:txBody>
      </p:sp>
      <p:pic>
        <p:nvPicPr>
          <p:cNvPr id="26" name="Picture 25" descr="eq_eu_act.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812280" y="3182620"/>
            <a:ext cx="2662682" cy="474979"/>
          </a:xfrm>
          <a:prstGeom prst="rect">
            <a:avLst/>
          </a:prstGeom>
        </p:spPr>
      </p:pic>
      <p:sp>
        <p:nvSpPr>
          <p:cNvPr id="27" name="Rectangle 26"/>
          <p:cNvSpPr/>
          <p:nvPr/>
        </p:nvSpPr>
        <p:spPr>
          <a:xfrm>
            <a:off x="548640" y="401345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4251198"/>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8640" y="4397502"/>
            <a:ext cx="3490965" cy="1018054"/>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THE PROBABILITY TERM</a:t>
            </a:r>
          </a:p>
          <a:p>
            <a:pPr algn="l" marL="0" indent="0">
              <a:lnSpc>
                <a:spcPts val="1425"/>
              </a:lnSpc>
              <a:spcBef>
                <a:spcPts val="500"/>
              </a:spcBef>
              <a:spcAft>
                <a:spcPts val="0"/>
              </a:spcAft>
              <a:buNone/>
            </a:pPr>
            <a:r>
              <a:rPr sz="1250" b="1" i="0">
                <a:solidFill>
                  <a:srgbClr val="16202A"/>
                </a:solidFill>
                <a:latin typeface="Calibri"/>
              </a:rPr>
              <a:t>Comes from the transition and sensor models</a:t>
            </a:r>
          </a:p>
          <a:p>
            <a:pPr algn="l" marL="0" indent="0">
              <a:lnSpc>
                <a:spcPts val="1380"/>
              </a:lnSpc>
              <a:spcBef>
                <a:spcPts val="600"/>
              </a:spcBef>
              <a:spcAft>
                <a:spcPts val="0"/>
              </a:spcAft>
              <a:buNone/>
            </a:pPr>
            <a:r>
              <a:rPr sz="1150" b="0" i="0">
                <a:solidFill>
                  <a:srgbClr val="5F6B76"/>
                </a:solidFill>
                <a:latin typeface="Calibri"/>
              </a:rPr>
              <a:t>It is exactly the model-based machinery of §5.6, now used to weigh futures rather than to track the present. Where it is unavailable, it has to be learned.</a:t>
            </a:r>
          </a:p>
        </p:txBody>
      </p:sp>
      <p:sp>
        <p:nvSpPr>
          <p:cNvPr id="30" name="Rectangle 29"/>
          <p:cNvSpPr/>
          <p:nvPr/>
        </p:nvSpPr>
        <p:spPr>
          <a:xfrm>
            <a:off x="4350501" y="4251198"/>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350501" y="4397502"/>
            <a:ext cx="3490965" cy="119902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THE UTILITY TERM</a:t>
            </a:r>
          </a:p>
          <a:p>
            <a:pPr algn="l" marL="0" indent="0">
              <a:lnSpc>
                <a:spcPts val="1425"/>
              </a:lnSpc>
              <a:spcBef>
                <a:spcPts val="500"/>
              </a:spcBef>
              <a:spcAft>
                <a:spcPts val="0"/>
              </a:spcAft>
              <a:buNone/>
            </a:pPr>
            <a:r>
              <a:rPr sz="1250" b="1" i="0">
                <a:solidFill>
                  <a:srgbClr val="16202A"/>
                </a:solidFill>
                <a:latin typeface="Calibri"/>
              </a:rPr>
              <a:t>Comes from the designer, via the performance measure</a:t>
            </a:r>
          </a:p>
          <a:p>
            <a:pPr algn="l" marL="0" indent="0">
              <a:lnSpc>
                <a:spcPts val="1380"/>
              </a:lnSpc>
              <a:spcBef>
                <a:spcPts val="600"/>
              </a:spcBef>
              <a:spcAft>
                <a:spcPts val="0"/>
              </a:spcAft>
              <a:buNone/>
            </a:pPr>
            <a:r>
              <a:rPr sz="1150" b="0" i="0">
                <a:solidFill>
                  <a:srgbClr val="5F6B76"/>
                </a:solidFill>
                <a:latin typeface="Calibri"/>
              </a:rPr>
              <a:t>The same object as Part IV, written inside the agent. Its alignment with the external measure is an assumption, not a theorem.</a:t>
            </a:r>
          </a:p>
        </p:txBody>
      </p:sp>
      <p:sp>
        <p:nvSpPr>
          <p:cNvPr id="32" name="Rectangle 31"/>
          <p:cNvSpPr/>
          <p:nvPr/>
        </p:nvSpPr>
        <p:spPr>
          <a:xfrm>
            <a:off x="8152363" y="4251198"/>
            <a:ext cx="3490965"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152363" y="4397502"/>
            <a:ext cx="3490965" cy="1018054"/>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B54708"/>
                </a:solidFill>
                <a:latin typeface="Calibri"/>
              </a:rPr>
              <a:t>BOUNDED RATIONALITY</a:t>
            </a:r>
          </a:p>
          <a:p>
            <a:pPr algn="l" marL="0" indent="0">
              <a:lnSpc>
                <a:spcPts val="1425"/>
              </a:lnSpc>
              <a:spcBef>
                <a:spcPts val="500"/>
              </a:spcBef>
              <a:spcAft>
                <a:spcPts val="0"/>
              </a:spcAft>
              <a:buNone/>
            </a:pPr>
            <a:r>
              <a:rPr sz="1250" b="1" i="0">
                <a:solidFill>
                  <a:srgbClr val="16202A"/>
                </a:solidFill>
                <a:latin typeface="Calibri"/>
              </a:rPr>
              <a:t>Perfect rationality is usually too expensive</a:t>
            </a:r>
          </a:p>
          <a:p>
            <a:pPr algn="l" marL="0" indent="0">
              <a:lnSpc>
                <a:spcPts val="1380"/>
              </a:lnSpc>
              <a:spcBef>
                <a:spcPts val="600"/>
              </a:spcBef>
              <a:spcAft>
                <a:spcPts val="0"/>
              </a:spcAft>
              <a:buNone/>
            </a:pPr>
            <a:r>
              <a:rPr sz="1150" b="0" i="0">
                <a:solidFill>
                  <a:srgbClr val="5F6B76"/>
                </a:solidFill>
                <a:latin typeface="Calibri"/>
              </a:rPr>
              <a:t>Computing the optimal action may itself be intractable, so AI also studies bounded rationality (Russell, 1997): the best action available given the computation on hand.</a:t>
            </a:r>
          </a:p>
        </p:txBody>
      </p:sp>
      <p:sp>
        <p:nvSpPr>
          <p:cNvPr id="34" name="Rectangle 33"/>
          <p:cNvSpPr/>
          <p:nvPr/>
        </p:nvSpPr>
        <p:spPr>
          <a:xfrm>
            <a:off x="548640" y="5653300"/>
            <a:ext cx="11094689" cy="67360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48640" y="5653300"/>
            <a:ext cx="41148" cy="673608"/>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99604"/>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Many utility-based agents rely on an explicit model of the environment. </a:t>
            </a:r>
            <a:r>
              <a:rPr sz="1250" b="1" i="0">
                <a:solidFill>
                  <a:srgbClr val="2B3542"/>
                </a:solidFill>
                <a:latin typeface="Calibri"/>
              </a:rPr>
              <a:t>Model-free agents do not</a:t>
            </a:r>
            <a:r>
              <a:rPr sz="1250" b="0" i="0">
                <a:solidFill>
                  <a:srgbClr val="2B3542"/>
                </a:solidFill>
                <a:latin typeface="Calibri"/>
              </a:rPr>
              <a:t>: they learn directly from experience which actions maximise utility, without ever representing how their actions change the world. That distinction organises most of this course — Chapters 05 and 06.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5.17  LEARNING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Where the program itself comes from</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50</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Utility-based</a:t>
            </a:r>
          </a:p>
          <a:p>
            <a:pPr algn="l" marL="0" indent="0">
              <a:lnSpc>
                <a:spcPts val="1068"/>
              </a:lnSpc>
              <a:spcBef>
                <a:spcPts val="300"/>
              </a:spcBef>
              <a:spcAft>
                <a:spcPts val="0"/>
              </a:spcAft>
              <a:buNone/>
            </a:pPr>
            <a:r>
              <a:rPr sz="953" b="0" i="0">
                <a:solidFill>
                  <a:srgbClr val="5F6B76"/>
                </a:solidFill>
                <a:latin typeface="Calibri"/>
              </a:rPr>
              <a:t>+ graded preferences</a:t>
            </a:r>
          </a:p>
        </p:txBody>
      </p:sp>
      <p:sp>
        <p:nvSpPr>
          <p:cNvPr id="20" name="Rectangle 19"/>
          <p:cNvSpPr/>
          <p:nvPr/>
        </p:nvSpPr>
        <p:spPr>
          <a:xfrm>
            <a:off x="9497543"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Learning</a:t>
            </a:r>
          </a:p>
          <a:p>
            <a:pPr algn="l" marL="0" indent="0">
              <a:lnSpc>
                <a:spcPts val="1068"/>
              </a:lnSpc>
              <a:spcBef>
                <a:spcPts val="300"/>
              </a:spcBef>
              <a:spcAft>
                <a:spcPts val="0"/>
              </a:spcAft>
              <a:buNone/>
            </a:pPr>
            <a:r>
              <a:rPr sz="953" b="0" i="0">
                <a:solidFill>
                  <a:srgbClr val="5F6B76"/>
                </a:solidFill>
                <a:latin typeface="Calibri"/>
              </a:rPr>
              <a:t>+ improvement from feedback</a:t>
            </a:r>
          </a:p>
        </p:txBody>
      </p:sp>
      <p:sp>
        <p:nvSpPr>
          <p:cNvPr id="23" name="TextBox 22"/>
          <p:cNvSpPr txBox="1"/>
          <p:nvPr/>
        </p:nvSpPr>
        <p:spPr>
          <a:xfrm>
            <a:off x="548640" y="2084832"/>
            <a:ext cx="630936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So far we have described architectures, but not how they are produced. Turing considered programming intelligent behaviour by hand, recognised the limits of that approach, and argued instead for machines that improve through experience.</a:t>
            </a:r>
          </a:p>
        </p:txBody>
      </p:sp>
      <p:pic>
        <p:nvPicPr>
          <p:cNvPr id="24" name="Picture 23" descr="arch_learning.png"/>
          <p:cNvPicPr>
            <a:picLocks noChangeAspect="1"/>
          </p:cNvPicPr>
          <p:nvPr/>
        </p:nvPicPr>
        <p:blipFill>
          <a:blip r:embed="rId2"/>
          <a:stretch>
            <a:fillRect/>
          </a:stretch>
        </p:blipFill>
        <p:spPr>
          <a:xfrm>
            <a:off x="548640" y="2871978"/>
            <a:ext cx="5303520" cy="2194560"/>
          </a:xfrm>
          <a:prstGeom prst="rect">
            <a:avLst/>
          </a:prstGeom>
        </p:spPr>
      </p:pic>
      <p:sp>
        <p:nvSpPr>
          <p:cNvPr id="25" name="TextBox 24"/>
          <p:cNvSpPr txBox="1"/>
          <p:nvPr/>
        </p:nvSpPr>
        <p:spPr>
          <a:xfrm>
            <a:off x="548640" y="5176266"/>
            <a:ext cx="6309360" cy="362711"/>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Everything studied so far is now a single block — the performance element. Three new components surround it, and their job is to change it.</a:t>
            </a:r>
          </a:p>
        </p:txBody>
      </p:sp>
      <p:sp>
        <p:nvSpPr>
          <p:cNvPr id="26" name="TextBox 25"/>
          <p:cNvSpPr txBox="1"/>
          <p:nvPr/>
        </p:nvSpPr>
        <p:spPr>
          <a:xfrm>
            <a:off x="7507224" y="2084832"/>
            <a:ext cx="4136105" cy="63271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Performance element</a:t>
            </a:r>
          </a:p>
          <a:p>
            <a:pPr algn="l" marL="0" indent="0">
              <a:lnSpc>
                <a:spcPts val="1380"/>
              </a:lnSpc>
              <a:spcBef>
                <a:spcPts val="400"/>
              </a:spcBef>
              <a:spcAft>
                <a:spcPts val="0"/>
              </a:spcAft>
              <a:buNone/>
            </a:pPr>
            <a:r>
              <a:rPr sz="1150" b="0" i="0">
                <a:solidFill>
                  <a:srgbClr val="5F6B76"/>
                </a:solidFill>
                <a:latin typeface="Calibri"/>
              </a:rPr>
              <a:t>Selects actions from percepts. This is what we have been calling “the agent” for the whole chapter.</a:t>
            </a:r>
          </a:p>
        </p:txBody>
      </p:sp>
      <p:sp>
        <p:nvSpPr>
          <p:cNvPr id="27" name="Rectangle 26"/>
          <p:cNvSpPr/>
          <p:nvPr/>
        </p:nvSpPr>
        <p:spPr>
          <a:xfrm>
            <a:off x="7269480" y="2084832"/>
            <a:ext cx="41148" cy="596137"/>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07224" y="2900426"/>
            <a:ext cx="4136105" cy="63271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Learning element</a:t>
            </a:r>
          </a:p>
          <a:p>
            <a:pPr algn="l" marL="0" indent="0">
              <a:lnSpc>
                <a:spcPts val="1380"/>
              </a:lnSpc>
              <a:spcBef>
                <a:spcPts val="400"/>
              </a:spcBef>
              <a:spcAft>
                <a:spcPts val="0"/>
              </a:spcAft>
              <a:buNone/>
            </a:pPr>
            <a:r>
              <a:rPr sz="1150" b="0" i="0">
                <a:solidFill>
                  <a:srgbClr val="5F6B76"/>
                </a:solidFill>
                <a:latin typeface="Calibri"/>
              </a:rPr>
              <a:t>Modifies the performance element: its model of the world, the effects of its actions, its goals, its utilities.</a:t>
            </a:r>
          </a:p>
        </p:txBody>
      </p:sp>
      <p:sp>
        <p:nvSpPr>
          <p:cNvPr id="29" name="Rectangle 28"/>
          <p:cNvSpPr/>
          <p:nvPr/>
        </p:nvSpPr>
        <p:spPr>
          <a:xfrm>
            <a:off x="7269480" y="2900426"/>
            <a:ext cx="41148" cy="596137"/>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07224" y="3716020"/>
            <a:ext cx="4136105" cy="63271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Critic</a:t>
            </a:r>
          </a:p>
          <a:p>
            <a:pPr algn="l" marL="0" indent="0">
              <a:lnSpc>
                <a:spcPts val="1380"/>
              </a:lnSpc>
              <a:spcBef>
                <a:spcPts val="400"/>
              </a:spcBef>
              <a:spcAft>
                <a:spcPts val="0"/>
              </a:spcAft>
              <a:buNone/>
            </a:pPr>
            <a:r>
              <a:rPr sz="1150" b="0" i="0">
                <a:solidFill>
                  <a:srgbClr val="5F6B76"/>
                </a:solidFill>
                <a:latin typeface="Calibri"/>
              </a:rPr>
              <a:t>Evaluates behaviour against a fixed performance standard and reports back, typically as reward or penalty.</a:t>
            </a:r>
          </a:p>
        </p:txBody>
      </p:sp>
      <p:sp>
        <p:nvSpPr>
          <p:cNvPr id="31" name="Rectangle 30"/>
          <p:cNvSpPr/>
          <p:nvPr/>
        </p:nvSpPr>
        <p:spPr>
          <a:xfrm>
            <a:off x="7269480" y="3716020"/>
            <a:ext cx="41148" cy="596137"/>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507224" y="4531614"/>
            <a:ext cx="4136105" cy="63271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Problem generator</a:t>
            </a:r>
          </a:p>
          <a:p>
            <a:pPr algn="l" marL="0" indent="0">
              <a:lnSpc>
                <a:spcPts val="1380"/>
              </a:lnSpc>
              <a:spcBef>
                <a:spcPts val="400"/>
              </a:spcBef>
              <a:spcAft>
                <a:spcPts val="0"/>
              </a:spcAft>
              <a:buNone/>
            </a:pPr>
            <a:r>
              <a:rPr sz="1150" b="0" i="0">
                <a:solidFill>
                  <a:srgbClr val="5F6B76"/>
                </a:solidFill>
                <a:latin typeface="Calibri"/>
              </a:rPr>
              <a:t>Suggests actions that differ from the currently preferred ones, so that informative experience is actually obtained.</a:t>
            </a:r>
          </a:p>
        </p:txBody>
      </p:sp>
      <p:sp>
        <p:nvSpPr>
          <p:cNvPr id="33" name="Rectangle 32"/>
          <p:cNvSpPr/>
          <p:nvPr/>
        </p:nvSpPr>
        <p:spPr>
          <a:xfrm>
            <a:off x="7269480" y="4531614"/>
            <a:ext cx="41148" cy="596137"/>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269480" y="5438648"/>
            <a:ext cx="4373849" cy="841247"/>
          </a:xfrm>
          <a:prstGeom prst="rect">
            <a:avLst/>
          </a:prstGeom>
          <a:solidFill>
            <a:srgbClr val="E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269480" y="5438648"/>
            <a:ext cx="41148" cy="841247"/>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88936" y="5584952"/>
            <a:ext cx="3989801" cy="54863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Learning can be added to </a:t>
            </a:r>
            <a:r>
              <a:rPr sz="1200" b="1" i="0">
                <a:solidFill>
                  <a:srgbClr val="2B3542"/>
                </a:solidFill>
                <a:latin typeface="Calibri"/>
              </a:rPr>
              <a:t>any</a:t>
            </a:r>
            <a:r>
              <a:rPr sz="1200" b="0" i="0">
                <a:solidFill>
                  <a:srgbClr val="2B3542"/>
                </a:solidFill>
                <a:latin typeface="Calibri"/>
              </a:rPr>
              <a:t> of the previous architectures. It is not a sixth kind of agent; it is a way of producing the other four.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5.18  THE CRITIC SUPPLIES WHAT PERCEPTS CANNOT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Experience alone does not say whether an outcome was good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 — Agent architectures</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51</a:t>
            </a:r>
          </a:p>
        </p:txBody>
      </p:sp>
      <p:sp>
        <p:nvSpPr>
          <p:cNvPr id="8" name="Rectangle 7"/>
          <p:cNvSpPr/>
          <p:nvPr/>
        </p:nvSpPr>
        <p:spPr>
          <a:xfrm>
            <a:off x="548640"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280160"/>
            <a:ext cx="2145785" cy="25603"/>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Simple reflex</a:t>
            </a:r>
          </a:p>
          <a:p>
            <a:pPr algn="l" marL="0" indent="0">
              <a:lnSpc>
                <a:spcPts val="1068"/>
              </a:lnSpc>
              <a:spcBef>
                <a:spcPts val="300"/>
              </a:spcBef>
              <a:spcAft>
                <a:spcPts val="0"/>
              </a:spcAft>
              <a:buNone/>
            </a:pPr>
            <a:r>
              <a:rPr sz="953" b="0" i="0">
                <a:solidFill>
                  <a:srgbClr val="5F6B76"/>
                </a:solidFill>
                <a:latin typeface="Calibri"/>
              </a:rPr>
              <a:t>current percept only</a:t>
            </a:r>
          </a:p>
        </p:txBody>
      </p:sp>
      <p:sp>
        <p:nvSpPr>
          <p:cNvPr id="11" name="Rectangle 10"/>
          <p:cNvSpPr/>
          <p:nvPr/>
        </p:nvSpPr>
        <p:spPr>
          <a:xfrm>
            <a:off x="2785865"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785865" y="1280160"/>
            <a:ext cx="2145785" cy="25603"/>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593"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Model-based reflex</a:t>
            </a:r>
          </a:p>
          <a:p>
            <a:pPr algn="l" marL="0" indent="0">
              <a:lnSpc>
                <a:spcPts val="1068"/>
              </a:lnSpc>
              <a:spcBef>
                <a:spcPts val="300"/>
              </a:spcBef>
              <a:spcAft>
                <a:spcPts val="0"/>
              </a:spcAft>
              <a:buNone/>
            </a:pPr>
            <a:r>
              <a:rPr sz="953" b="0" i="0">
                <a:solidFill>
                  <a:srgbClr val="5F6B76"/>
                </a:solidFill>
                <a:latin typeface="Calibri"/>
              </a:rPr>
              <a:t>+ internal state</a:t>
            </a:r>
          </a:p>
        </p:txBody>
      </p:sp>
      <p:sp>
        <p:nvSpPr>
          <p:cNvPr id="14" name="Rectangle 13"/>
          <p:cNvSpPr/>
          <p:nvPr/>
        </p:nvSpPr>
        <p:spPr>
          <a:xfrm>
            <a:off x="5023091"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3091" y="1280160"/>
            <a:ext cx="2145785"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32819"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Goal-based</a:t>
            </a:r>
          </a:p>
          <a:p>
            <a:pPr algn="l" marL="0" indent="0">
              <a:lnSpc>
                <a:spcPts val="1068"/>
              </a:lnSpc>
              <a:spcBef>
                <a:spcPts val="300"/>
              </a:spcBef>
              <a:spcAft>
                <a:spcPts val="0"/>
              </a:spcAft>
              <a:buNone/>
            </a:pPr>
            <a:r>
              <a:rPr sz="953" b="0" i="0">
                <a:solidFill>
                  <a:srgbClr val="5F6B76"/>
                </a:solidFill>
                <a:latin typeface="Calibri"/>
              </a:rPr>
              <a:t>+ goal, look ahead</a:t>
            </a:r>
          </a:p>
        </p:txBody>
      </p:sp>
      <p:sp>
        <p:nvSpPr>
          <p:cNvPr id="17" name="Rectangle 16"/>
          <p:cNvSpPr/>
          <p:nvPr/>
        </p:nvSpPr>
        <p:spPr>
          <a:xfrm>
            <a:off x="7260317" y="1280160"/>
            <a:ext cx="2145785" cy="566928"/>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60317" y="1280160"/>
            <a:ext cx="2145785" cy="2560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70045"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0" i="0">
                <a:solidFill>
                  <a:srgbClr val="2B3542"/>
                </a:solidFill>
                <a:latin typeface="Calibri"/>
              </a:rPr>
              <a:t>Utility-based</a:t>
            </a:r>
          </a:p>
          <a:p>
            <a:pPr algn="l" marL="0" indent="0">
              <a:lnSpc>
                <a:spcPts val="1068"/>
              </a:lnSpc>
              <a:spcBef>
                <a:spcPts val="300"/>
              </a:spcBef>
              <a:spcAft>
                <a:spcPts val="0"/>
              </a:spcAft>
              <a:buNone/>
            </a:pPr>
            <a:r>
              <a:rPr sz="953" b="0" i="0">
                <a:solidFill>
                  <a:srgbClr val="5F6B76"/>
                </a:solidFill>
                <a:latin typeface="Calibri"/>
              </a:rPr>
              <a:t>+ graded preferences</a:t>
            </a:r>
          </a:p>
        </p:txBody>
      </p:sp>
      <p:sp>
        <p:nvSpPr>
          <p:cNvPr id="20" name="Rectangle 19"/>
          <p:cNvSpPr/>
          <p:nvPr/>
        </p:nvSpPr>
        <p:spPr>
          <a:xfrm>
            <a:off x="9497543" y="1280160"/>
            <a:ext cx="2145785"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497543" y="1280160"/>
            <a:ext cx="2145785" cy="25603"/>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07271" y="1389888"/>
            <a:ext cx="1926329" cy="375218"/>
          </a:xfrm>
          <a:prstGeom prst="rect">
            <a:avLst/>
          </a:prstGeom>
          <a:noFill/>
        </p:spPr>
        <p:txBody>
          <a:bodyPr wrap="square" lIns="0" rIns="0" tIns="0" bIns="0" anchor="t">
            <a:noAutofit/>
          </a:bodyPr>
          <a:lstStyle/>
          <a:p>
            <a:pPr algn="l" marL="0" indent="0">
              <a:lnSpc>
                <a:spcPts val="1298"/>
              </a:lnSpc>
              <a:spcBef>
                <a:spcPts val="0"/>
              </a:spcBef>
              <a:spcAft>
                <a:spcPts val="0"/>
              </a:spcAft>
              <a:buNone/>
            </a:pPr>
            <a:r>
              <a:rPr sz="1100" b="1" i="0">
                <a:solidFill>
                  <a:srgbClr val="16202A"/>
                </a:solidFill>
                <a:latin typeface="Calibri"/>
              </a:rPr>
              <a:t>Learning</a:t>
            </a:r>
          </a:p>
          <a:p>
            <a:pPr algn="l" marL="0" indent="0">
              <a:lnSpc>
                <a:spcPts val="1068"/>
              </a:lnSpc>
              <a:spcBef>
                <a:spcPts val="300"/>
              </a:spcBef>
              <a:spcAft>
                <a:spcPts val="0"/>
              </a:spcAft>
              <a:buNone/>
            </a:pPr>
            <a:r>
              <a:rPr sz="953" b="0" i="0">
                <a:solidFill>
                  <a:srgbClr val="5F6B76"/>
                </a:solidFill>
                <a:latin typeface="Calibri"/>
              </a:rPr>
              <a:t>+ improvement from feedback</a:t>
            </a:r>
          </a:p>
        </p:txBody>
      </p:sp>
      <p:sp>
        <p:nvSpPr>
          <p:cNvPr id="23" name="TextBox 22"/>
          <p:cNvSpPr txBox="1"/>
          <p:nvPr/>
        </p:nvSpPr>
        <p:spPr>
          <a:xfrm>
            <a:off x="548640" y="2084832"/>
            <a:ext cx="6766560" cy="640842"/>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An agent can learn directly from experience: an autonomous vehicle discovers how braking behaves on different road surfaces. But experience by itself is only a record of what happened, not a judgement about it.</a:t>
            </a:r>
          </a:p>
        </p:txBody>
      </p:sp>
      <p:sp>
        <p:nvSpPr>
          <p:cNvPr id="24" name="TextBox 23"/>
          <p:cNvSpPr txBox="1"/>
          <p:nvPr/>
        </p:nvSpPr>
        <p:spPr>
          <a:xfrm>
            <a:off x="786384" y="2963418"/>
            <a:ext cx="6528816" cy="6606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percepts cannot grade themselves</a:t>
            </a:r>
          </a:p>
          <a:p>
            <a:pPr algn="l" marL="0" indent="0">
              <a:lnSpc>
                <a:spcPts val="1440"/>
              </a:lnSpc>
              <a:spcBef>
                <a:spcPts val="500"/>
              </a:spcBef>
              <a:spcAft>
                <a:spcPts val="0"/>
              </a:spcAft>
              <a:buNone/>
            </a:pPr>
            <a:r>
              <a:rPr sz="1200" b="0" i="0">
                <a:solidFill>
                  <a:srgbClr val="2B3542"/>
                </a:solidFill>
                <a:latin typeface="Calibri"/>
              </a:rPr>
              <a:t>A chess program can recognise checkmate. Nothing in that percept says whether it is a win or a loss: a performance standard external to the percept stream supplies the sign.</a:t>
            </a:r>
          </a:p>
        </p:txBody>
      </p:sp>
      <p:sp>
        <p:nvSpPr>
          <p:cNvPr id="25" name="Rectangle 24"/>
          <p:cNvSpPr/>
          <p:nvPr/>
        </p:nvSpPr>
        <p:spPr>
          <a:xfrm>
            <a:off x="548640" y="2963418"/>
            <a:ext cx="41148" cy="624078"/>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6384" y="3806952"/>
            <a:ext cx="6528816" cy="6606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standard may be built in or acquired</a:t>
            </a:r>
          </a:p>
          <a:p>
            <a:pPr algn="l" marL="0" indent="0">
              <a:lnSpc>
                <a:spcPts val="1440"/>
              </a:lnSpc>
              <a:spcBef>
                <a:spcPts val="500"/>
              </a:spcBef>
              <a:spcAft>
                <a:spcPts val="0"/>
              </a:spcAft>
              <a:buNone/>
            </a:pPr>
            <a:r>
              <a:rPr sz="1200" b="0" i="0">
                <a:solidFill>
                  <a:srgbClr val="2B3542"/>
                </a:solidFill>
                <a:latin typeface="Calibri"/>
              </a:rPr>
              <a:t>It can be hard-wired — pain and hunger in humans — or learned from human behaviour and stated preferences. Either way it comes from outside.</a:t>
            </a:r>
          </a:p>
        </p:txBody>
      </p:sp>
      <p:sp>
        <p:nvSpPr>
          <p:cNvPr id="27" name="Rectangle 26"/>
          <p:cNvSpPr/>
          <p:nvPr/>
        </p:nvSpPr>
        <p:spPr>
          <a:xfrm>
            <a:off x="548640" y="3806952"/>
            <a:ext cx="41148" cy="62407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6384" y="4650486"/>
            <a:ext cx="6528816" cy="66065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problem generator makes learning possible</a:t>
            </a:r>
          </a:p>
          <a:p>
            <a:pPr algn="l" marL="0" indent="0">
              <a:lnSpc>
                <a:spcPts val="1440"/>
              </a:lnSpc>
              <a:spcBef>
                <a:spcPts val="500"/>
              </a:spcBef>
              <a:spcAft>
                <a:spcPts val="0"/>
              </a:spcAft>
              <a:buNone/>
            </a:pPr>
            <a:r>
              <a:rPr sz="1200" b="0" i="0">
                <a:solidFill>
                  <a:srgbClr val="2B3542"/>
                </a:solidFill>
                <a:latin typeface="Calibri"/>
              </a:rPr>
              <a:t>An agent that only ever takes its preferred action never discovers a better one. Suggesting informative actions is what turns experience into improvement — and it costs performance now.</a:t>
            </a:r>
          </a:p>
        </p:txBody>
      </p:sp>
      <p:sp>
        <p:nvSpPr>
          <p:cNvPr id="29" name="Rectangle 28"/>
          <p:cNvSpPr/>
          <p:nvPr/>
        </p:nvSpPr>
        <p:spPr>
          <a:xfrm>
            <a:off x="548640" y="4650486"/>
            <a:ext cx="41148" cy="62407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726679" y="2084832"/>
            <a:ext cx="3916649" cy="1444752"/>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726679" y="2084832"/>
            <a:ext cx="41148" cy="144475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946136" y="2231136"/>
            <a:ext cx="3624041" cy="182880"/>
          </a:xfrm>
          <a:prstGeom prst="rect">
            <a:avLst/>
          </a:prstGeom>
          <a:noFill/>
        </p:spPr>
        <p:txBody>
          <a:bodyPr wrap="square" lIns="0" rIns="0" tIns="0" bIns="0" anchor="t">
            <a:noAutofit/>
          </a:bodyPr>
          <a:lstStyle/>
          <a:p>
            <a:pPr algn="l" marL="0" indent="0">
              <a:lnSpc>
                <a:spcPts val="954"/>
              </a:lnSpc>
              <a:spcBef>
                <a:spcPts val="0"/>
              </a:spcBef>
              <a:spcAft>
                <a:spcPts val="0"/>
              </a:spcAft>
              <a:buNone/>
            </a:pPr>
            <a:r>
              <a:rPr sz="953" b="1" i="0" spc="110">
                <a:solidFill>
                  <a:srgbClr val="1971C2"/>
                </a:solidFill>
                <a:latin typeface="Calibri"/>
              </a:rPr>
              <a:t>LEARNING DIRECTLY FROM EXPERIENCE</a:t>
            </a:r>
          </a:p>
        </p:txBody>
      </p:sp>
      <p:sp>
        <p:nvSpPr>
          <p:cNvPr id="33" name="TextBox 32"/>
          <p:cNvSpPr txBox="1"/>
          <p:nvPr/>
        </p:nvSpPr>
        <p:spPr>
          <a:xfrm>
            <a:off x="7946136" y="2468880"/>
            <a:ext cx="3532601" cy="9144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Samuel’s checkers player (1959) is the classic demonstration: a program that improved by playing, using game outcomes to adjust its evaluation of positions. </a:t>
            </a:r>
            <a:r>
              <a:rPr sz="1200" b="1" i="0">
                <a:solidFill>
                  <a:srgbClr val="2B3542"/>
                </a:solidFill>
                <a:latin typeface="Calibri"/>
              </a:rPr>
              <a:t>That is reinforcement learning, twenty years before the name.</a:t>
            </a:r>
          </a:p>
        </p:txBody>
      </p:sp>
      <p:sp>
        <p:nvSpPr>
          <p:cNvPr id="34" name="TextBox 33"/>
          <p:cNvSpPr txBox="1"/>
          <p:nvPr/>
        </p:nvSpPr>
        <p:spPr>
          <a:xfrm>
            <a:off x="7726679" y="3785616"/>
            <a:ext cx="391664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SHAPE OF THE REST OF THE COURSE</a:t>
            </a:r>
          </a:p>
        </p:txBody>
      </p:sp>
      <p:sp>
        <p:nvSpPr>
          <p:cNvPr id="35" name="TextBox 34"/>
          <p:cNvSpPr txBox="1"/>
          <p:nvPr/>
        </p:nvSpPr>
        <p:spPr>
          <a:xfrm>
            <a:off x="7726679" y="4041648"/>
            <a:ext cx="3916649" cy="1627632"/>
          </a:xfrm>
          <a:prstGeom prst="rect">
            <a:avLst/>
          </a:prstGeom>
          <a:noFill/>
        </p:spPr>
        <p:txBody>
          <a:bodyPr wrap="square" lIns="0" rIns="0" tIns="0" bIns="0" anchor="t">
            <a:noAutofit/>
          </a:bodyPr>
          <a:lstStyle/>
          <a:p>
            <a:pPr algn="l" marL="173736" indent="-173736">
              <a:lnSpc>
                <a:spcPts val="1416"/>
              </a:lnSpc>
              <a:spcBef>
                <a:spcPts val="0"/>
              </a:spcBef>
              <a:spcAft>
                <a:spcPts val="0"/>
              </a:spcAft>
              <a:buClr>
                <a:srgbClr val="1971C2"/>
              </a:buClr>
              <a:buFont typeface="Calibri"/>
              <a:buChar char="–"/>
            </a:pPr>
            <a:r>
              <a:rPr sz="1200" b="0" i="0">
                <a:solidFill>
                  <a:srgbClr val="2B3542"/>
                </a:solidFill>
                <a:latin typeface="Calibri"/>
              </a:rPr>
              <a:t>The critic’s feedback becomes the </a:t>
            </a:r>
            <a:r>
              <a:rPr sz="1200" b="1" i="0">
                <a:solidFill>
                  <a:srgbClr val="16202A"/>
                </a:solidFill>
                <a:latin typeface="Calibri"/>
              </a:rPr>
              <a:t>reward signal</a:t>
            </a:r>
            <a:r>
              <a:rPr sz="1200" b="0" i="0">
                <a:solidFill>
                  <a:srgbClr val="2B3542"/>
                </a:solidFill>
                <a:latin typeface="Calibri"/>
              </a:rPr>
              <a:t> (Chapter 02).</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The problem generator becomes </a:t>
            </a:r>
            <a:r>
              <a:rPr sz="1200" b="1" i="0">
                <a:solidFill>
                  <a:srgbClr val="16202A"/>
                </a:solidFill>
                <a:latin typeface="Calibri"/>
              </a:rPr>
              <a:t>exploration</a:t>
            </a:r>
            <a:r>
              <a:rPr sz="1200" b="0" i="0">
                <a:solidFill>
                  <a:srgbClr val="2B3542"/>
                </a:solidFill>
                <a:latin typeface="Calibri"/>
              </a:rPr>
              <a:t>, and the tension with acting well becomes the exploration–exploitation trade-off.</a:t>
            </a:r>
          </a:p>
          <a:p>
            <a:pPr algn="l" marL="173736" indent="-173736">
              <a:lnSpc>
                <a:spcPts val="1416"/>
              </a:lnSpc>
              <a:spcBef>
                <a:spcPts val="600"/>
              </a:spcBef>
              <a:spcAft>
                <a:spcPts val="0"/>
              </a:spcAft>
              <a:buClr>
                <a:srgbClr val="1971C2"/>
              </a:buClr>
              <a:buFont typeface="Calibri"/>
              <a:buChar char="–"/>
            </a:pPr>
            <a:r>
              <a:rPr sz="1200" b="0" i="0">
                <a:solidFill>
                  <a:srgbClr val="2B3542"/>
                </a:solidFill>
                <a:latin typeface="Calibri"/>
              </a:rPr>
              <a:t>The learning element becomes the </a:t>
            </a:r>
            <a:r>
              <a:rPr sz="1200" b="1" i="0">
                <a:solidFill>
                  <a:srgbClr val="16202A"/>
                </a:solidFill>
                <a:latin typeface="Calibri"/>
              </a:rPr>
              <a:t>update rule</a:t>
            </a:r>
            <a:r>
              <a:rPr sz="1200" b="0" i="0">
                <a:solidFill>
                  <a:srgbClr val="2B3542"/>
                </a:solidFill>
                <a:latin typeface="Calibri"/>
              </a:rPr>
              <a:t> — TD learning, Q-learning, policy gradients (Chapters 05 onwards).</a:t>
            </a:r>
          </a:p>
        </p:txBody>
      </p:sp>
      <p:sp>
        <p:nvSpPr>
          <p:cNvPr id="36" name="Rectangle 35"/>
          <p:cNvSpPr/>
          <p:nvPr/>
        </p:nvSpPr>
        <p:spPr>
          <a:xfrm>
            <a:off x="7726679" y="5852160"/>
            <a:ext cx="3916649" cy="2743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26679" y="5980176"/>
            <a:ext cx="3916649"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1">
                <a:solidFill>
                  <a:srgbClr val="2B3542"/>
                </a:solidFill>
                <a:latin typeface="Calibri"/>
              </a:rPr>
              <a:t>Learning is the adaptation of the agent’s internal components from experience and feedback.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743200" cy="237744"/>
          </a:xfrm>
          <a:prstGeom prst="rect">
            <a:avLst/>
          </a:prstGeom>
          <a:noFill/>
        </p:spPr>
        <p:txBody>
          <a:bodyPr wrap="square" lIns="0" rIns="0" tIns="0" bIns="0" anchor="t">
            <a:noAutofit/>
          </a:bodyPr>
          <a:lstStyle/>
          <a:p>
            <a:pPr algn="l" marL="0" indent="0">
              <a:lnSpc>
                <a:spcPts val="1250"/>
              </a:lnSpc>
              <a:spcBef>
                <a:spcPts val="0"/>
              </a:spcBef>
              <a:spcAft>
                <a:spcPts val="0"/>
              </a:spcAft>
              <a:buNone/>
            </a:pPr>
            <a:r>
              <a:rPr sz="1250" b="1" i="0" spc="180">
                <a:solidFill>
                  <a:srgbClr val="1971C2"/>
                </a:solidFill>
                <a:latin typeface="Calibri"/>
              </a:rPr>
              <a:t>PART VI</a:t>
            </a:r>
          </a:p>
        </p:txBody>
      </p:sp>
      <p:sp>
        <p:nvSpPr>
          <p:cNvPr id="5" name="TextBox 4"/>
          <p:cNvSpPr txBox="1"/>
          <p:nvPr/>
        </p:nvSpPr>
        <p:spPr>
          <a:xfrm>
            <a:off x="960120" y="2130552"/>
            <a:ext cx="6400800" cy="457200"/>
          </a:xfrm>
          <a:prstGeom prst="rect">
            <a:avLst/>
          </a:prstGeom>
          <a:noFill/>
        </p:spPr>
        <p:txBody>
          <a:bodyPr wrap="square" lIns="0" rIns="0" tIns="0" bIns="0" anchor="t">
            <a:noAutofit/>
          </a:bodyPr>
          <a:lstStyle/>
          <a:p>
            <a:pPr algn="l" marL="0" indent="0">
              <a:lnSpc>
                <a:spcPts val="3432"/>
              </a:lnSpc>
              <a:spcBef>
                <a:spcPts val="0"/>
              </a:spcBef>
              <a:spcAft>
                <a:spcPts val="0"/>
              </a:spcAft>
              <a:buNone/>
            </a:pPr>
            <a:r>
              <a:rPr sz="3300" b="1" i="0">
                <a:solidFill>
                  <a:srgbClr val="FFFFFF"/>
                </a:solidFill>
                <a:latin typeface="Calibri"/>
              </a:rPr>
              <a:t>Case study: flocking</a:t>
            </a:r>
          </a:p>
        </p:txBody>
      </p:sp>
      <p:sp>
        <p:nvSpPr>
          <p:cNvPr id="6" name="TextBox 5"/>
          <p:cNvSpPr txBox="1"/>
          <p:nvPr/>
        </p:nvSpPr>
        <p:spPr>
          <a:xfrm>
            <a:off x="960120" y="2840736"/>
            <a:ext cx="5943600" cy="491744"/>
          </a:xfrm>
          <a:prstGeom prst="rect">
            <a:avLst/>
          </a:prstGeom>
          <a:noFill/>
        </p:spPr>
        <p:txBody>
          <a:bodyPr wrap="square" lIns="0" rIns="0" tIns="0" bIns="0" anchor="t">
            <a:noAutofit/>
          </a:bodyPr>
          <a:lstStyle/>
          <a:p>
            <a:pPr algn="l" marL="0" indent="0">
              <a:lnSpc>
                <a:spcPts val="1792"/>
              </a:lnSpc>
              <a:spcBef>
                <a:spcPts val="0"/>
              </a:spcBef>
              <a:spcAft>
                <a:spcPts val="0"/>
              </a:spcAft>
              <a:buNone/>
            </a:pPr>
            <a:r>
              <a:rPr sz="1400" b="0" i="0">
                <a:solidFill>
                  <a:srgbClr val="A9C0D6"/>
                </a:solidFill>
                <a:latin typeface="Calibri"/>
              </a:rPr>
              <a:t>A complete model-based agent, written out in full: percepts, internal state, forces, integration — and emergent collective behaviour.</a:t>
            </a:r>
          </a:p>
        </p:txBody>
      </p:sp>
      <p:sp>
        <p:nvSpPr>
          <p:cNvPr id="7" name="Rectangle 6"/>
          <p:cNvSpPr/>
          <p:nvPr/>
        </p:nvSpPr>
        <p:spPr>
          <a:xfrm>
            <a:off x="960120" y="4828032"/>
            <a:ext cx="32004"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4828032"/>
            <a:ext cx="5760720" cy="640080"/>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120">
                <a:solidFill>
                  <a:srgbClr val="5B8CBE"/>
                </a:solidFill>
                <a:latin typeface="Calibri"/>
              </a:rPr>
              <a:t>KEEP THIS QUESTION IN MIND</a:t>
            </a:r>
          </a:p>
          <a:p>
            <a:pPr algn="l" marL="0" indent="0">
              <a:lnSpc>
                <a:spcPts val="1593"/>
              </a:lnSpc>
              <a:spcBef>
                <a:spcPts val="500"/>
              </a:spcBef>
              <a:spcAft>
                <a:spcPts val="0"/>
              </a:spcAft>
              <a:buNone/>
            </a:pPr>
            <a:r>
              <a:rPr sz="1350" b="0" i="1">
                <a:solidFill>
                  <a:srgbClr val="D2DFEA"/>
                </a:solidFill>
                <a:latin typeface="Calibri"/>
              </a:rPr>
              <a:t>How much global behaviour can purely local rules produce?</a:t>
            </a:r>
          </a:p>
        </p:txBody>
      </p:sp>
      <p:sp>
        <p:nvSpPr>
          <p:cNvPr id="9" name="Rectangle 8"/>
          <p:cNvSpPr/>
          <p:nvPr/>
        </p:nvSpPr>
        <p:spPr>
          <a:xfrm>
            <a:off x="7406640" y="1874519"/>
            <a:ext cx="10972" cy="292608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874519"/>
            <a:ext cx="3657600" cy="2926080"/>
          </a:xfrm>
          <a:prstGeom prst="rect">
            <a:avLst/>
          </a:prstGeom>
          <a:noFill/>
        </p:spPr>
        <p:txBody>
          <a:bodyPr wrap="square" lIns="0" rIns="0" tIns="0" bIns="0" anchor="t">
            <a:noAutofit/>
          </a:bodyPr>
          <a:lstStyle/>
          <a:p>
            <a:pPr algn="l" marL="0" indent="0">
              <a:lnSpc>
                <a:spcPts val="1566"/>
              </a:lnSpc>
              <a:spcBef>
                <a:spcPts val="0"/>
              </a:spcBef>
              <a:spcAft>
                <a:spcPts val="0"/>
              </a:spcAft>
              <a:buNone/>
            </a:pPr>
            <a:r>
              <a:rPr sz="1350" b="1" i="0">
                <a:solidFill>
                  <a:srgbClr val="1971C2"/>
                </a:solidFill>
                <a:latin typeface="Calibri"/>
              </a:rPr>
              <a:t>01   </a:t>
            </a:r>
            <a:r>
              <a:rPr sz="1350" b="0" i="0">
                <a:solidFill>
                  <a:srgbClr val="C4D5E4"/>
                </a:solidFill>
                <a:latin typeface="Calibri"/>
              </a:rPr>
              <a:t>Reynolds’ three rules</a:t>
            </a:r>
          </a:p>
          <a:p>
            <a:pPr algn="l" marL="0" indent="0">
              <a:lnSpc>
                <a:spcPts val="1566"/>
              </a:lnSpc>
              <a:spcBef>
                <a:spcPts val="1400"/>
              </a:spcBef>
              <a:spcAft>
                <a:spcPts val="0"/>
              </a:spcAft>
              <a:buNone/>
            </a:pPr>
            <a:r>
              <a:rPr sz="1350" b="1" i="0">
                <a:solidFill>
                  <a:srgbClr val="1971C2"/>
                </a:solidFill>
                <a:latin typeface="Calibri"/>
              </a:rPr>
              <a:t>02   </a:t>
            </a:r>
            <a:r>
              <a:rPr sz="1350" b="0" i="0">
                <a:solidFill>
                  <a:srgbClr val="C4D5E4"/>
                </a:solidFill>
                <a:latin typeface="Calibri"/>
              </a:rPr>
              <a:t>Forces and their weighted sum</a:t>
            </a:r>
          </a:p>
          <a:p>
            <a:pPr algn="l" marL="0" indent="0">
              <a:lnSpc>
                <a:spcPts val="1566"/>
              </a:lnSpc>
              <a:spcBef>
                <a:spcPts val="1400"/>
              </a:spcBef>
              <a:spcAft>
                <a:spcPts val="0"/>
              </a:spcAft>
              <a:buNone/>
            </a:pPr>
            <a:r>
              <a:rPr sz="1350" b="1" i="0">
                <a:solidFill>
                  <a:srgbClr val="1971C2"/>
                </a:solidFill>
                <a:latin typeface="Calibri"/>
              </a:rPr>
              <a:t>03   </a:t>
            </a:r>
            <a:r>
              <a:rPr sz="1350" b="0" i="0">
                <a:solidFill>
                  <a:srgbClr val="C4D5E4"/>
                </a:solidFill>
                <a:latin typeface="Calibri"/>
              </a:rPr>
              <a:t>Euler integration</a:t>
            </a:r>
          </a:p>
          <a:p>
            <a:pPr algn="l" marL="0" indent="0">
              <a:lnSpc>
                <a:spcPts val="1566"/>
              </a:lnSpc>
              <a:spcBef>
                <a:spcPts val="1400"/>
              </a:spcBef>
              <a:spcAft>
                <a:spcPts val="0"/>
              </a:spcAft>
              <a:buNone/>
            </a:pPr>
            <a:r>
              <a:rPr sz="1350" b="1" i="0">
                <a:solidFill>
                  <a:srgbClr val="1971C2"/>
                </a:solidFill>
                <a:latin typeface="Calibri"/>
              </a:rPr>
              <a:t>04   </a:t>
            </a:r>
            <a:r>
              <a:rPr sz="1350" b="0" i="0">
                <a:solidFill>
                  <a:srgbClr val="C4D5E4"/>
                </a:solidFill>
                <a:latin typeface="Calibri"/>
              </a:rPr>
              <a:t>Emergence in simulation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6.1  REYNOLDS, 1987</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Complex group motion from three purely local rules</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53</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In “Flocks, Herds, and Schools: A Distributed Behavioral Model”, Reynolds simulates the collective behaviour of birds, fish and insects. Each entity — a boid — follows simple local rules based on what it can perceive, and coherent group motion follows.</a:t>
            </a:r>
          </a:p>
        </p:txBody>
      </p:sp>
      <p:pic>
        <p:nvPicPr>
          <p:cNvPr id="9" name="Picture 8" descr="boids_rules.png"/>
          <p:cNvPicPr>
            <a:picLocks noChangeAspect="1"/>
          </p:cNvPicPr>
          <p:nvPr/>
        </p:nvPicPr>
        <p:blipFill>
          <a:blip r:embed="rId2"/>
          <a:stretch>
            <a:fillRect/>
          </a:stretch>
        </p:blipFill>
        <p:spPr>
          <a:xfrm>
            <a:off x="3774424" y="1899666"/>
            <a:ext cx="4643120" cy="1874519"/>
          </a:xfrm>
          <a:prstGeom prst="rect">
            <a:avLst/>
          </a:prstGeom>
        </p:spPr>
      </p:pic>
      <p:sp>
        <p:nvSpPr>
          <p:cNvPr id="10" name="Rectangle 9"/>
          <p:cNvSpPr/>
          <p:nvPr/>
        </p:nvSpPr>
        <p:spPr>
          <a:xfrm>
            <a:off x="548640" y="4011929"/>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4231386"/>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377690"/>
            <a:ext cx="3490965" cy="1052703"/>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C92A2A"/>
                </a:solidFill>
                <a:latin typeface="Calibri"/>
              </a:rPr>
              <a:t>Separation</a:t>
            </a:r>
          </a:p>
          <a:p>
            <a:pPr algn="l" marL="0" indent="0">
              <a:lnSpc>
                <a:spcPts val="1368"/>
              </a:lnSpc>
              <a:spcBef>
                <a:spcPts val="400"/>
              </a:spcBef>
              <a:spcAft>
                <a:spcPts val="0"/>
              </a:spcAft>
              <a:buNone/>
            </a:pPr>
            <a:r>
              <a:rPr sz="1200" b="1" i="0">
                <a:solidFill>
                  <a:srgbClr val="16202A"/>
                </a:solidFill>
                <a:latin typeface="Calibri"/>
              </a:rPr>
              <a:t>Avoid crowding neighbours</a:t>
            </a:r>
          </a:p>
          <a:p>
            <a:pPr algn="l" marL="0" indent="0">
              <a:lnSpc>
                <a:spcPts val="1380"/>
              </a:lnSpc>
              <a:spcBef>
                <a:spcPts val="500"/>
              </a:spcBef>
              <a:spcAft>
                <a:spcPts val="0"/>
              </a:spcAft>
              <a:buNone/>
            </a:pPr>
            <a:r>
              <a:rPr sz="1150" b="0" i="0">
                <a:solidFill>
                  <a:srgbClr val="5F6B76"/>
                </a:solidFill>
                <a:latin typeface="Calibri"/>
              </a:rPr>
              <a:t>Steer away from each neighbour, more strongly the closer it is. Prevents collisions and keeps the flock from collapsing into a point.</a:t>
            </a:r>
          </a:p>
        </p:txBody>
      </p:sp>
      <p:sp>
        <p:nvSpPr>
          <p:cNvPr id="13" name="Rectangle 12"/>
          <p:cNvSpPr/>
          <p:nvPr/>
        </p:nvSpPr>
        <p:spPr>
          <a:xfrm>
            <a:off x="4350501" y="4231386"/>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50501" y="4377690"/>
            <a:ext cx="3490965" cy="1052703"/>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2B8A3E"/>
                </a:solidFill>
                <a:latin typeface="Calibri"/>
              </a:rPr>
              <a:t>Cohesion</a:t>
            </a:r>
          </a:p>
          <a:p>
            <a:pPr algn="l" marL="0" indent="0">
              <a:lnSpc>
                <a:spcPts val="1368"/>
              </a:lnSpc>
              <a:spcBef>
                <a:spcPts val="400"/>
              </a:spcBef>
              <a:spcAft>
                <a:spcPts val="0"/>
              </a:spcAft>
              <a:buNone/>
            </a:pPr>
            <a:r>
              <a:rPr sz="1200" b="1" i="0">
                <a:solidFill>
                  <a:srgbClr val="16202A"/>
                </a:solidFill>
                <a:latin typeface="Calibri"/>
              </a:rPr>
              <a:t>Move toward the average position of neighbours</a:t>
            </a:r>
          </a:p>
          <a:p>
            <a:pPr algn="l" marL="0" indent="0">
              <a:lnSpc>
                <a:spcPts val="1380"/>
              </a:lnSpc>
              <a:spcBef>
                <a:spcPts val="500"/>
              </a:spcBef>
              <a:spcAft>
                <a:spcPts val="0"/>
              </a:spcAft>
              <a:buNone/>
            </a:pPr>
            <a:r>
              <a:rPr sz="1150" b="0" i="0">
                <a:solidFill>
                  <a:srgbClr val="5F6B76"/>
                </a:solidFill>
                <a:latin typeface="Calibri"/>
              </a:rPr>
              <a:t>Steer toward the centre of mass of the perceived neighbours. Keeps the group together and pulls stragglers back in.</a:t>
            </a:r>
          </a:p>
        </p:txBody>
      </p:sp>
      <p:sp>
        <p:nvSpPr>
          <p:cNvPr id="15" name="Rectangle 14"/>
          <p:cNvSpPr/>
          <p:nvPr/>
        </p:nvSpPr>
        <p:spPr>
          <a:xfrm>
            <a:off x="8152363" y="4231386"/>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52363" y="4377690"/>
            <a:ext cx="3490965" cy="1052703"/>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971C2"/>
                </a:solidFill>
                <a:latin typeface="Calibri"/>
              </a:rPr>
              <a:t>Alignment</a:t>
            </a:r>
          </a:p>
          <a:p>
            <a:pPr algn="l" marL="0" indent="0">
              <a:lnSpc>
                <a:spcPts val="1368"/>
              </a:lnSpc>
              <a:spcBef>
                <a:spcPts val="400"/>
              </a:spcBef>
              <a:spcAft>
                <a:spcPts val="0"/>
              </a:spcAft>
              <a:buNone/>
            </a:pPr>
            <a:r>
              <a:rPr sz="1200" b="1" i="0">
                <a:solidFill>
                  <a:srgbClr val="16202A"/>
                </a:solidFill>
                <a:latin typeface="Calibri"/>
              </a:rPr>
              <a:t>Match the average heading of neighbours</a:t>
            </a:r>
          </a:p>
          <a:p>
            <a:pPr algn="l" marL="0" indent="0">
              <a:lnSpc>
                <a:spcPts val="1380"/>
              </a:lnSpc>
              <a:spcBef>
                <a:spcPts val="500"/>
              </a:spcBef>
              <a:spcAft>
                <a:spcPts val="0"/>
              </a:spcAft>
              <a:buNone/>
            </a:pPr>
            <a:r>
              <a:rPr sz="1150" b="0" i="0">
                <a:solidFill>
                  <a:srgbClr val="5F6B76"/>
                </a:solidFill>
                <a:latin typeface="Calibri"/>
              </a:rPr>
              <a:t>Steer so that the velocity approaches the average velocity of the neighbours. The flock then travels as one body rather than as a crowd.</a:t>
            </a:r>
          </a:p>
        </p:txBody>
      </p:sp>
      <p:sp>
        <p:nvSpPr>
          <p:cNvPr id="17" name="Rectangle 16"/>
          <p:cNvSpPr/>
          <p:nvPr/>
        </p:nvSpPr>
        <p:spPr>
          <a:xfrm>
            <a:off x="548640" y="5668137"/>
            <a:ext cx="11094689" cy="673608"/>
          </a:xfrm>
          <a:prstGeom prst="rect">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668137"/>
            <a:ext cx="41148" cy="67360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 y="5814441"/>
            <a:ext cx="10710641" cy="381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a:solidFill>
                  <a:srgbClr val="2B3542"/>
                </a:solidFill>
                <a:latin typeface="Calibri"/>
              </a:rPr>
              <a:t>Two properties do the real work. Perception is </a:t>
            </a:r>
            <a:r>
              <a:rPr sz="1250" b="1" i="0">
                <a:solidFill>
                  <a:srgbClr val="2B3542"/>
                </a:solidFill>
                <a:latin typeface="Calibri"/>
              </a:rPr>
              <a:t>limited to a radius</a:t>
            </a:r>
            <a:r>
              <a:rPr sz="1250" b="0" i="0">
                <a:solidFill>
                  <a:srgbClr val="2B3542"/>
                </a:solidFill>
                <a:latin typeface="Calibri"/>
              </a:rPr>
              <a:t> — a boid never sees the whole flock — and the model is </a:t>
            </a:r>
            <a:r>
              <a:rPr sz="1250" b="1" i="0">
                <a:solidFill>
                  <a:srgbClr val="2B3542"/>
                </a:solidFill>
                <a:latin typeface="Calibri"/>
              </a:rPr>
              <a:t>decentralised</a:t>
            </a:r>
            <a:r>
              <a:rPr sz="1250" b="0" i="0">
                <a:solidFill>
                  <a:srgbClr val="2B3542"/>
                </a:solidFill>
                <a:latin typeface="Calibri"/>
              </a:rPr>
              <a:t>: there is no leader, no shared plan, and no global state. Every boid runs the same program on its own percepts.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6.2  EACH RULE IS AN ACCELERATION REQUEST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Three competing forces, computed from the local neighbourhood</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54</a:t>
            </a:r>
          </a:p>
        </p:txBody>
      </p:sp>
      <p:sp>
        <p:nvSpPr>
          <p:cNvPr id="8" name="TextBox 7"/>
          <p:cNvSpPr txBox="1"/>
          <p:nvPr/>
        </p:nvSpPr>
        <p:spPr>
          <a:xfrm>
            <a:off x="548640" y="1280160"/>
            <a:ext cx="5943600" cy="842264"/>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Each rule is a simple heuristic evaluated over the neighbours within the perception radius. It does not produce an action directly: it produces a force — a request for acceleration. Each force is capped at a maximum magnitude, so that no single rule can overpower the others.</a:t>
            </a:r>
          </a:p>
        </p:txBody>
      </p:sp>
      <p:sp>
        <p:nvSpPr>
          <p:cNvPr id="9" name="TextBox 8"/>
          <p:cNvSpPr txBox="1"/>
          <p:nvPr/>
        </p:nvSpPr>
        <p:spPr>
          <a:xfrm>
            <a:off x="6537960" y="1280160"/>
            <a:ext cx="510536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PERCEPT: WHO COUNTS AS A NEIGHBOUR</a:t>
            </a:r>
          </a:p>
        </p:txBody>
      </p:sp>
      <p:pic>
        <p:nvPicPr>
          <p:cNvPr id="10" name="Picture 9" descr="eq_neighbours.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6537960" y="1554480"/>
            <a:ext cx="3576320" cy="368300"/>
          </a:xfrm>
          <a:prstGeom prst="rect">
            <a:avLst/>
          </a:prstGeom>
        </p:spPr>
      </p:pic>
      <p:sp>
        <p:nvSpPr>
          <p:cNvPr id="11" name="TextBox 10"/>
          <p:cNvSpPr txBox="1"/>
          <p:nvPr/>
        </p:nvSpPr>
        <p:spPr>
          <a:xfrm>
            <a:off x="6537960" y="2069084"/>
            <a:ext cx="5105369" cy="553593"/>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0" i="0">
                <a:solidFill>
                  <a:srgbClr val="5F6B76"/>
                </a:solidFill>
                <a:latin typeface="Calibri"/>
              </a:rPr>
              <a:t>A boid never perceives the flock — only the boids inside a disc of radius r around it. A far-away flock therefore cannot pull it in, and a large velocity mismatch cannot dominate separation.</a:t>
            </a:r>
          </a:p>
        </p:txBody>
      </p:sp>
      <p:sp>
        <p:nvSpPr>
          <p:cNvPr id="12" name="Rectangle 11"/>
          <p:cNvSpPr/>
          <p:nvPr/>
        </p:nvSpPr>
        <p:spPr>
          <a:xfrm>
            <a:off x="548640" y="2878709"/>
            <a:ext cx="3490965" cy="2743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3006725"/>
            <a:ext cx="3490965" cy="238886"/>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C92A2A"/>
                </a:solidFill>
                <a:latin typeface="Calibri"/>
              </a:rPr>
              <a:t>Separation</a:t>
            </a:r>
          </a:p>
        </p:txBody>
      </p:sp>
      <p:pic>
        <p:nvPicPr>
          <p:cNvPr id="14" name="Picture 13" descr="boid_separation.png"/>
          <p:cNvPicPr>
            <a:picLocks noChangeAspect="1"/>
          </p:cNvPicPr>
          <p:nvPr/>
        </p:nvPicPr>
        <p:blipFill>
          <a:blip r:embed="rId4"/>
          <a:stretch>
            <a:fillRect/>
          </a:stretch>
        </p:blipFill>
        <p:spPr>
          <a:xfrm>
            <a:off x="1531305" y="3244469"/>
            <a:ext cx="1525635" cy="1700784"/>
          </a:xfrm>
          <a:prstGeom prst="rect">
            <a:avLst/>
          </a:prstGeom>
        </p:spPr>
      </p:pic>
      <p:pic>
        <p:nvPicPr>
          <p:cNvPr id="15" name="Picture 14" descr="eq_f_sep.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548640" y="5109845"/>
            <a:ext cx="3490965" cy="692134"/>
          </a:xfrm>
          <a:prstGeom prst="rect">
            <a:avLst/>
          </a:prstGeom>
        </p:spPr>
      </p:pic>
      <p:sp>
        <p:nvSpPr>
          <p:cNvPr id="16" name="TextBox 15"/>
          <p:cNvSpPr txBox="1"/>
          <p:nvPr/>
        </p:nvSpPr>
        <p:spPr>
          <a:xfrm>
            <a:off x="548640" y="5984859"/>
            <a:ext cx="3490965" cy="3812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0" i="0">
                <a:solidFill>
                  <a:srgbClr val="5F6B76"/>
                </a:solidFill>
                <a:latin typeface="Calibri"/>
              </a:rPr>
              <a:t>Unit vectors pointing away from each neighbour, scaled by 1/distance: close neighbours push much harder.</a:t>
            </a:r>
          </a:p>
        </p:txBody>
      </p:sp>
      <p:sp>
        <p:nvSpPr>
          <p:cNvPr id="17" name="Rectangle 16"/>
          <p:cNvSpPr/>
          <p:nvPr/>
        </p:nvSpPr>
        <p:spPr>
          <a:xfrm>
            <a:off x="4350501" y="2878709"/>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50501" y="3006725"/>
            <a:ext cx="3490965" cy="238886"/>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2B8A3E"/>
                </a:solidFill>
                <a:latin typeface="Calibri"/>
              </a:rPr>
              <a:t>Cohesion</a:t>
            </a:r>
          </a:p>
        </p:txBody>
      </p:sp>
      <p:pic>
        <p:nvPicPr>
          <p:cNvPr id="19" name="Picture 18" descr="boid_cohesion.png"/>
          <p:cNvPicPr>
            <a:picLocks noChangeAspect="1"/>
          </p:cNvPicPr>
          <p:nvPr/>
        </p:nvPicPr>
        <p:blipFill>
          <a:blip r:embed="rId7"/>
          <a:stretch>
            <a:fillRect/>
          </a:stretch>
        </p:blipFill>
        <p:spPr>
          <a:xfrm>
            <a:off x="5300575" y="3244469"/>
            <a:ext cx="1590819" cy="1700784"/>
          </a:xfrm>
          <a:prstGeom prst="rect">
            <a:avLst/>
          </a:prstGeom>
        </p:spPr>
      </p:pic>
      <p:pic>
        <p:nvPicPr>
          <p:cNvPr id="20" name="Picture 19" descr="eq_f_coh.png"/>
          <p:cNvPicPr>
            <a:picLocks noChangeAspect="1"/>
          </p:cNvPicPr>
          <p:nvPr/>
        </p:nvPicPr>
        <p:blipFill>
          <a:blip r:embed="rId8">
            <a:extLst>
              <a:ext uri="{96DAC541-7B7A-43D3-8B79-37D633B846F1}">
                <ns2:svgBlip xmlns:ns2="http://schemas.microsoft.com/office/drawing/2016/SVG/main" r:embed="rId9"/>
              </a:ext>
            </a:extLst>
          </a:blip>
          <a:stretch>
            <a:fillRect/>
          </a:stretch>
        </p:blipFill>
        <p:spPr>
          <a:xfrm>
            <a:off x="4350501" y="5109845"/>
            <a:ext cx="2644647" cy="675639"/>
          </a:xfrm>
          <a:prstGeom prst="rect">
            <a:avLst/>
          </a:prstGeom>
        </p:spPr>
      </p:pic>
      <p:sp>
        <p:nvSpPr>
          <p:cNvPr id="21" name="TextBox 20"/>
          <p:cNvSpPr txBox="1"/>
          <p:nvPr/>
        </p:nvSpPr>
        <p:spPr>
          <a:xfrm>
            <a:off x="4350501" y="5984859"/>
            <a:ext cx="3490965" cy="3812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0" i="0">
                <a:solidFill>
                  <a:srgbClr val="5F6B76"/>
                </a:solidFill>
                <a:latin typeface="Calibri"/>
              </a:rPr>
              <a:t>The vector from the boid to the centre of mass of its neighbours.</a:t>
            </a:r>
          </a:p>
        </p:txBody>
      </p:sp>
      <p:sp>
        <p:nvSpPr>
          <p:cNvPr id="22" name="Rectangle 21"/>
          <p:cNvSpPr/>
          <p:nvPr/>
        </p:nvSpPr>
        <p:spPr>
          <a:xfrm>
            <a:off x="8152363" y="2878709"/>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52363" y="3006725"/>
            <a:ext cx="3490965" cy="238886"/>
          </a:xfrm>
          <a:prstGeom prst="rect">
            <a:avLst/>
          </a:prstGeom>
          <a:noFill/>
        </p:spPr>
        <p:txBody>
          <a:bodyPr wrap="square" lIns="0" rIns="0" tIns="0" bIns="0" anchor="t">
            <a:noAutofit/>
          </a:bodyPr>
          <a:lstStyle/>
          <a:p>
            <a:pPr algn="l" marL="0" indent="0">
              <a:lnSpc>
                <a:spcPts val="1593"/>
              </a:lnSpc>
              <a:spcBef>
                <a:spcPts val="0"/>
              </a:spcBef>
              <a:spcAft>
                <a:spcPts val="0"/>
              </a:spcAft>
              <a:buNone/>
            </a:pPr>
            <a:r>
              <a:rPr sz="1350" b="1" i="0">
                <a:solidFill>
                  <a:srgbClr val="1971C2"/>
                </a:solidFill>
                <a:latin typeface="Calibri"/>
              </a:rPr>
              <a:t>Alignment</a:t>
            </a:r>
          </a:p>
        </p:txBody>
      </p:sp>
      <p:pic>
        <p:nvPicPr>
          <p:cNvPr id="24" name="Picture 23" descr="boid_alignment.png"/>
          <p:cNvPicPr>
            <a:picLocks noChangeAspect="1"/>
          </p:cNvPicPr>
          <p:nvPr/>
        </p:nvPicPr>
        <p:blipFill>
          <a:blip r:embed="rId10"/>
          <a:stretch>
            <a:fillRect/>
          </a:stretch>
        </p:blipFill>
        <p:spPr>
          <a:xfrm>
            <a:off x="9279151" y="3244469"/>
            <a:ext cx="1237389" cy="1700784"/>
          </a:xfrm>
          <a:prstGeom prst="rect">
            <a:avLst/>
          </a:prstGeom>
        </p:spPr>
      </p:pic>
      <p:pic>
        <p:nvPicPr>
          <p:cNvPr id="25" name="Picture 24" descr="eq_f_ali.png"/>
          <p:cNvPicPr>
            <a:picLocks noChangeAspect="1"/>
          </p:cNvPicPr>
          <p:nvPr/>
        </p:nvPicPr>
        <p:blipFill>
          <a:blip r:embed="rId11">
            <a:extLst>
              <a:ext uri="{96DAC541-7B7A-43D3-8B79-37D633B846F1}">
                <ns3:svgBlip xmlns:ns3="http://schemas.microsoft.com/office/drawing/2016/SVG/main" r:embed="rId12"/>
              </a:ext>
            </a:extLst>
          </a:blip>
          <a:stretch>
            <a:fillRect/>
          </a:stretch>
        </p:blipFill>
        <p:spPr>
          <a:xfrm>
            <a:off x="8152363" y="5109845"/>
            <a:ext cx="2552954" cy="675640"/>
          </a:xfrm>
          <a:prstGeom prst="rect">
            <a:avLst/>
          </a:prstGeom>
        </p:spPr>
      </p:pic>
      <p:sp>
        <p:nvSpPr>
          <p:cNvPr id="26" name="TextBox 25"/>
          <p:cNvSpPr txBox="1"/>
          <p:nvPr/>
        </p:nvSpPr>
        <p:spPr>
          <a:xfrm>
            <a:off x="8152363" y="5984859"/>
            <a:ext cx="3490965" cy="3812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0" i="0">
                <a:solidFill>
                  <a:srgbClr val="5F6B76"/>
                </a:solidFill>
                <a:latin typeface="Calibri"/>
              </a:rPr>
              <a:t>The difference between the average neighbour velocity and the boid’s own velocity.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6.3  COMBINING THE REQUESTS</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Competing accelerations are resolved by a weighted sum</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55</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three rules generally disagree: separation pushes away from the flock while cohesion pulls toward it. They are not arbitrated by a rule; they are simply added, each with its own weight.</a:t>
            </a:r>
          </a:p>
        </p:txBody>
      </p:sp>
      <p:pic>
        <p:nvPicPr>
          <p:cNvPr id="9" name="Picture 8" descr="eq_f_total.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792143" y="2009393"/>
            <a:ext cx="6607682" cy="438912"/>
          </a:xfrm>
          <a:prstGeom prst="rect">
            <a:avLst/>
          </a:prstGeom>
        </p:spPr>
      </p:pic>
      <p:sp>
        <p:nvSpPr>
          <p:cNvPr id="10" name="Rectangle 9"/>
          <p:cNvSpPr/>
          <p:nvPr/>
        </p:nvSpPr>
        <p:spPr>
          <a:xfrm>
            <a:off x="548640" y="2814065"/>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3070098"/>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AN ADDITIONAL FORCE STEERS THE FLOCK</a:t>
            </a:r>
          </a:p>
        </p:txBody>
      </p:sp>
      <p:pic>
        <p:nvPicPr>
          <p:cNvPr id="12" name="Picture 11" descr="eq_f_dir.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85800" y="3326130"/>
            <a:ext cx="1910080" cy="632460"/>
          </a:xfrm>
          <a:prstGeom prst="rect">
            <a:avLst/>
          </a:prstGeom>
        </p:spPr>
      </p:pic>
      <p:sp>
        <p:nvSpPr>
          <p:cNvPr id="13" name="TextBox 12"/>
          <p:cNvSpPr txBox="1"/>
          <p:nvPr/>
        </p:nvSpPr>
        <p:spPr>
          <a:xfrm>
            <a:off x="2880360" y="3344418"/>
            <a:ext cx="4069080" cy="58521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A unit vector toward a target position t. Unlike the three flocking rules it does not depend on the neighbours, and it is not scaled by distance — the boid steers that way however far the target is.</a:t>
            </a:r>
          </a:p>
        </p:txBody>
      </p:sp>
      <p:sp>
        <p:nvSpPr>
          <p:cNvPr id="14" name="Rectangle 13"/>
          <p:cNvSpPr/>
          <p:nvPr/>
        </p:nvSpPr>
        <p:spPr>
          <a:xfrm>
            <a:off x="548640" y="4159757"/>
            <a:ext cx="6400800"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324349"/>
            <a:ext cx="6400800" cy="888619"/>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The weights are the design surface</a:t>
            </a:r>
          </a:p>
          <a:p>
            <a:pPr algn="l" marL="0" indent="0">
              <a:lnSpc>
                <a:spcPts val="1525"/>
              </a:lnSpc>
              <a:spcBef>
                <a:spcPts val="600"/>
              </a:spcBef>
              <a:spcAft>
                <a:spcPts val="0"/>
              </a:spcAft>
              <a:buNone/>
            </a:pPr>
            <a:r>
              <a:rPr sz="1250" b="0" i="0">
                <a:solidFill>
                  <a:srgbClr val="2B3542"/>
                </a:solidFill>
                <a:latin typeface="Calibri"/>
              </a:rPr>
              <a:t>Changing w_sep, w_coh and w_ali changes the character of the flock without changing a line of the rules: tighter or looser formations, faster or slower convergence, more or less willingness to leave the group to reach the target.</a:t>
            </a:r>
          </a:p>
        </p:txBody>
      </p:sp>
      <p:sp>
        <p:nvSpPr>
          <p:cNvPr id="16" name="TextBox 15"/>
          <p:cNvSpPr txBox="1"/>
          <p:nvPr/>
        </p:nvSpPr>
        <p:spPr>
          <a:xfrm>
            <a:off x="786384" y="5432425"/>
            <a:ext cx="6163056" cy="208915"/>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1" i="0">
                <a:solidFill>
                  <a:srgbClr val="16202A"/>
                </a:solidFill>
                <a:latin typeface="Calibri"/>
              </a:rPr>
              <a:t>Separation dominant</a:t>
            </a:r>
            <a:r>
              <a:rPr sz="1150" b="0" i="0">
                <a:solidFill>
                  <a:srgbClr val="8A959E"/>
                </a:solidFill>
                <a:latin typeface="Calibri"/>
              </a:rPr>
              <a:t>  —  </a:t>
            </a:r>
            <a:r>
              <a:rPr sz="1150" b="0" i="0">
                <a:solidFill>
                  <a:srgbClr val="5F6B76"/>
                </a:solidFill>
                <a:latin typeface="Calibri"/>
              </a:rPr>
              <a:t>the flock spreads out and never forms</a:t>
            </a:r>
          </a:p>
        </p:txBody>
      </p:sp>
      <p:sp>
        <p:nvSpPr>
          <p:cNvPr id="17" name="Rectangle 16"/>
          <p:cNvSpPr/>
          <p:nvPr/>
        </p:nvSpPr>
        <p:spPr>
          <a:xfrm>
            <a:off x="548640" y="5432425"/>
            <a:ext cx="41148" cy="172338"/>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5769356"/>
            <a:ext cx="6163056" cy="208915"/>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1" i="0">
                <a:solidFill>
                  <a:srgbClr val="16202A"/>
                </a:solidFill>
                <a:latin typeface="Calibri"/>
              </a:rPr>
              <a:t>Cohesion dominant</a:t>
            </a:r>
            <a:r>
              <a:rPr sz="1150" b="0" i="0">
                <a:solidFill>
                  <a:srgbClr val="8A959E"/>
                </a:solidFill>
                <a:latin typeface="Calibri"/>
              </a:rPr>
              <a:t>  —  </a:t>
            </a:r>
            <a:r>
              <a:rPr sz="1150" b="0" i="0">
                <a:solidFill>
                  <a:srgbClr val="5F6B76"/>
                </a:solidFill>
                <a:latin typeface="Calibri"/>
              </a:rPr>
              <a:t>the flock collapses toward a point and crowds</a:t>
            </a:r>
          </a:p>
        </p:txBody>
      </p:sp>
      <p:sp>
        <p:nvSpPr>
          <p:cNvPr id="19" name="Rectangle 18"/>
          <p:cNvSpPr/>
          <p:nvPr/>
        </p:nvSpPr>
        <p:spPr>
          <a:xfrm>
            <a:off x="548640" y="5769356"/>
            <a:ext cx="41148" cy="17233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6384" y="6106286"/>
            <a:ext cx="6163056" cy="208915"/>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1" i="0">
                <a:solidFill>
                  <a:srgbClr val="16202A"/>
                </a:solidFill>
                <a:latin typeface="Calibri"/>
              </a:rPr>
              <a:t>Alignment dominant</a:t>
            </a:r>
            <a:r>
              <a:rPr sz="1150" b="0" i="0">
                <a:solidFill>
                  <a:srgbClr val="8A959E"/>
                </a:solidFill>
                <a:latin typeface="Calibri"/>
              </a:rPr>
              <a:t>  —  </a:t>
            </a:r>
            <a:r>
              <a:rPr sz="1150" b="0" i="0">
                <a:solidFill>
                  <a:srgbClr val="5F6B76"/>
                </a:solidFill>
                <a:latin typeface="Calibri"/>
              </a:rPr>
              <a:t>headings agree, but spacing is never corrected</a:t>
            </a:r>
          </a:p>
        </p:txBody>
      </p:sp>
      <p:sp>
        <p:nvSpPr>
          <p:cNvPr id="21" name="Rectangle 20"/>
          <p:cNvSpPr/>
          <p:nvPr/>
        </p:nvSpPr>
        <p:spPr>
          <a:xfrm>
            <a:off x="548640" y="6106286"/>
            <a:ext cx="41148" cy="17233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06640" y="3070098"/>
            <a:ext cx="42366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THE PARAMETERS USED IN THE SIMULATION</a:t>
            </a:r>
          </a:p>
        </p:txBody>
      </p:sp>
      <p:sp>
        <p:nvSpPr>
          <p:cNvPr id="23" name="TextBox 22"/>
          <p:cNvSpPr txBox="1"/>
          <p:nvPr/>
        </p:nvSpPr>
        <p:spPr>
          <a:xfrm>
            <a:off x="7406640" y="3362706"/>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w_sep</a:t>
            </a:r>
          </a:p>
        </p:txBody>
      </p:sp>
      <p:sp>
        <p:nvSpPr>
          <p:cNvPr id="24" name="TextBox 23"/>
          <p:cNvSpPr txBox="1"/>
          <p:nvPr/>
        </p:nvSpPr>
        <p:spPr>
          <a:xfrm>
            <a:off x="10033387" y="3362706"/>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C92A2A"/>
                </a:solidFill>
                <a:latin typeface="Consolas"/>
              </a:rPr>
              <a:t>1.2</a:t>
            </a:r>
          </a:p>
        </p:txBody>
      </p:sp>
      <p:sp>
        <p:nvSpPr>
          <p:cNvPr id="25" name="Rectangle 24"/>
          <p:cNvSpPr/>
          <p:nvPr/>
        </p:nvSpPr>
        <p:spPr>
          <a:xfrm>
            <a:off x="7406640" y="3600450"/>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06640" y="3710178"/>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w_coh</a:t>
            </a:r>
          </a:p>
        </p:txBody>
      </p:sp>
      <p:sp>
        <p:nvSpPr>
          <p:cNvPr id="27" name="TextBox 26"/>
          <p:cNvSpPr txBox="1"/>
          <p:nvPr/>
        </p:nvSpPr>
        <p:spPr>
          <a:xfrm>
            <a:off x="10033387" y="3710178"/>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2B8A3E"/>
                </a:solidFill>
                <a:latin typeface="Consolas"/>
              </a:rPr>
              <a:t>0.5</a:t>
            </a:r>
          </a:p>
        </p:txBody>
      </p:sp>
      <p:sp>
        <p:nvSpPr>
          <p:cNvPr id="28" name="Rectangle 27"/>
          <p:cNvSpPr/>
          <p:nvPr/>
        </p:nvSpPr>
        <p:spPr>
          <a:xfrm>
            <a:off x="7406640" y="3947922"/>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06640" y="4057650"/>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w_ali</a:t>
            </a:r>
          </a:p>
        </p:txBody>
      </p:sp>
      <p:sp>
        <p:nvSpPr>
          <p:cNvPr id="30" name="TextBox 29"/>
          <p:cNvSpPr txBox="1"/>
          <p:nvPr/>
        </p:nvSpPr>
        <p:spPr>
          <a:xfrm>
            <a:off x="10033387" y="4057650"/>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1971C2"/>
                </a:solidFill>
                <a:latin typeface="Consolas"/>
              </a:rPr>
              <a:t>1.0</a:t>
            </a:r>
          </a:p>
        </p:txBody>
      </p:sp>
      <p:sp>
        <p:nvSpPr>
          <p:cNvPr id="31" name="Rectangle 30"/>
          <p:cNvSpPr/>
          <p:nvPr/>
        </p:nvSpPr>
        <p:spPr>
          <a:xfrm>
            <a:off x="7406640" y="4295394"/>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06640" y="4405122"/>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w_tgt</a:t>
            </a:r>
          </a:p>
        </p:txBody>
      </p:sp>
      <p:sp>
        <p:nvSpPr>
          <p:cNvPr id="33" name="TextBox 32"/>
          <p:cNvSpPr txBox="1"/>
          <p:nvPr/>
        </p:nvSpPr>
        <p:spPr>
          <a:xfrm>
            <a:off x="10033387" y="4405122"/>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B54708"/>
                </a:solidFill>
                <a:latin typeface="Consolas"/>
              </a:rPr>
              <a:t>0.5</a:t>
            </a:r>
          </a:p>
        </p:txBody>
      </p:sp>
      <p:sp>
        <p:nvSpPr>
          <p:cNvPr id="34" name="Rectangle 33"/>
          <p:cNvSpPr/>
          <p:nvPr/>
        </p:nvSpPr>
        <p:spPr>
          <a:xfrm>
            <a:off x="7406640" y="4642866"/>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06640" y="4752594"/>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radius r</a:t>
            </a:r>
          </a:p>
        </p:txBody>
      </p:sp>
      <p:sp>
        <p:nvSpPr>
          <p:cNvPr id="36" name="TextBox 35"/>
          <p:cNvSpPr txBox="1"/>
          <p:nvPr/>
        </p:nvSpPr>
        <p:spPr>
          <a:xfrm>
            <a:off x="10033387" y="4752594"/>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5F6B76"/>
                </a:solidFill>
                <a:latin typeface="Consolas"/>
              </a:rPr>
              <a:t>10</a:t>
            </a:r>
          </a:p>
        </p:txBody>
      </p:sp>
      <p:sp>
        <p:nvSpPr>
          <p:cNvPr id="37" name="Rectangle 36"/>
          <p:cNvSpPr/>
          <p:nvPr/>
        </p:nvSpPr>
        <p:spPr>
          <a:xfrm>
            <a:off x="7406640" y="4990338"/>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06640" y="5100066"/>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v_max</a:t>
            </a:r>
          </a:p>
        </p:txBody>
      </p:sp>
      <p:sp>
        <p:nvSpPr>
          <p:cNvPr id="39" name="TextBox 38"/>
          <p:cNvSpPr txBox="1"/>
          <p:nvPr/>
        </p:nvSpPr>
        <p:spPr>
          <a:xfrm>
            <a:off x="10033387" y="5100066"/>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5F6B76"/>
                </a:solidFill>
                <a:latin typeface="Consolas"/>
              </a:rPr>
              <a:t>2.0</a:t>
            </a:r>
          </a:p>
        </p:txBody>
      </p:sp>
      <p:sp>
        <p:nvSpPr>
          <p:cNvPr id="40" name="Rectangle 39"/>
          <p:cNvSpPr/>
          <p:nvPr/>
        </p:nvSpPr>
        <p:spPr>
          <a:xfrm>
            <a:off x="7406640" y="5337809"/>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06640" y="5447538"/>
            <a:ext cx="2626747" cy="216408"/>
          </a:xfrm>
          <a:prstGeom prst="rect">
            <a:avLst/>
          </a:prstGeom>
          <a:noFill/>
        </p:spPr>
        <p:txBody>
          <a:bodyPr wrap="square" lIns="0" rIns="0" tIns="0" bIns="0" anchor="t">
            <a:noAutofit/>
          </a:bodyPr>
          <a:lstStyle/>
          <a:p>
            <a:pPr algn="l" marL="0" indent="0">
              <a:lnSpc>
                <a:spcPts val="1416"/>
              </a:lnSpc>
              <a:spcBef>
                <a:spcPts val="0"/>
              </a:spcBef>
              <a:spcAft>
                <a:spcPts val="0"/>
              </a:spcAft>
              <a:buNone/>
            </a:pPr>
            <a:r>
              <a:rPr sz="1200" b="0" i="0">
                <a:solidFill>
                  <a:srgbClr val="2B3542"/>
                </a:solidFill>
                <a:latin typeface="Consolas"/>
              </a:rPr>
              <a:t>damping λ</a:t>
            </a:r>
          </a:p>
        </p:txBody>
      </p:sp>
      <p:sp>
        <p:nvSpPr>
          <p:cNvPr id="42" name="TextBox 41"/>
          <p:cNvSpPr txBox="1"/>
          <p:nvPr/>
        </p:nvSpPr>
        <p:spPr>
          <a:xfrm>
            <a:off x="10033387" y="5447538"/>
            <a:ext cx="1609942" cy="219456"/>
          </a:xfrm>
          <a:prstGeom prst="rect">
            <a:avLst/>
          </a:prstGeom>
          <a:noFill/>
        </p:spPr>
        <p:txBody>
          <a:bodyPr wrap="square" lIns="0" rIns="0" tIns="0" bIns="0" anchor="t">
            <a:noAutofit/>
          </a:bodyPr>
          <a:lstStyle/>
          <a:p>
            <a:pPr algn="r" marL="0" indent="0">
              <a:lnSpc>
                <a:spcPts val="1200"/>
              </a:lnSpc>
              <a:spcBef>
                <a:spcPts val="0"/>
              </a:spcBef>
              <a:spcAft>
                <a:spcPts val="0"/>
              </a:spcAft>
              <a:buNone/>
            </a:pPr>
            <a:r>
              <a:rPr sz="1200" b="1" i="0">
                <a:solidFill>
                  <a:srgbClr val="5F6B76"/>
                </a:solidFill>
                <a:latin typeface="Consolas"/>
              </a:rPr>
              <a:t>0.95</a:t>
            </a:r>
          </a:p>
        </p:txBody>
      </p:sp>
      <p:sp>
        <p:nvSpPr>
          <p:cNvPr id="43" name="Rectangle 42"/>
          <p:cNvSpPr/>
          <p:nvPr/>
        </p:nvSpPr>
        <p:spPr>
          <a:xfrm>
            <a:off x="7406640" y="5685281"/>
            <a:ext cx="4236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6.4  FROM FORCE TO MOTION</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Euler integration, in two steps and one approximation</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56</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The combined force determines the acceleration; the acceleration updates the velocity; the velocity updates the position. Applied at every simulation step, this is the whole of the boid’s physics.</a:t>
            </a:r>
          </a:p>
        </p:txBody>
      </p:sp>
      <p:sp>
        <p:nvSpPr>
          <p:cNvPr id="9" name="Rectangle 8"/>
          <p:cNvSpPr/>
          <p:nvPr/>
        </p:nvSpPr>
        <p:spPr>
          <a:xfrm>
            <a:off x="548640" y="1991106"/>
            <a:ext cx="3478773"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137410"/>
            <a:ext cx="3478773" cy="17159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B54708"/>
                </a:solidFill>
                <a:latin typeface="Calibri"/>
              </a:rPr>
              <a:t>STEP 1 — NEWTON</a:t>
            </a:r>
          </a:p>
        </p:txBody>
      </p:sp>
      <p:pic>
        <p:nvPicPr>
          <p:cNvPr id="11" name="Picture 10" descr="eq_accel.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548640" y="2455313"/>
            <a:ext cx="1544193" cy="629411"/>
          </a:xfrm>
          <a:prstGeom prst="rect">
            <a:avLst/>
          </a:prstGeom>
        </p:spPr>
      </p:pic>
      <p:sp>
        <p:nvSpPr>
          <p:cNvPr id="12" name="TextBox 11"/>
          <p:cNvSpPr txBox="1"/>
          <p:nvPr/>
        </p:nvSpPr>
        <p:spPr>
          <a:xfrm>
            <a:off x="548640" y="3285893"/>
            <a:ext cx="3478773"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The total force divided by the mass gives the acceleration requested this step.</a:t>
            </a:r>
          </a:p>
        </p:txBody>
      </p:sp>
      <p:sp>
        <p:nvSpPr>
          <p:cNvPr id="13" name="Rectangle 12"/>
          <p:cNvSpPr/>
          <p:nvPr/>
        </p:nvSpPr>
        <p:spPr>
          <a:xfrm>
            <a:off x="4356597" y="1991106"/>
            <a:ext cx="3478773"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56597" y="2137410"/>
            <a:ext cx="3478773" cy="17159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1971C2"/>
                </a:solidFill>
                <a:latin typeface="Calibri"/>
              </a:rPr>
              <a:t>STEP 2 — VELOCITY</a:t>
            </a:r>
          </a:p>
        </p:txBody>
      </p:sp>
      <p:pic>
        <p:nvPicPr>
          <p:cNvPr id="15" name="Picture 14" descr="eq_euler_v.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4356597" y="2455313"/>
            <a:ext cx="3478773" cy="658015"/>
          </a:xfrm>
          <a:prstGeom prst="rect">
            <a:avLst/>
          </a:prstGeom>
        </p:spPr>
      </p:pic>
      <p:sp>
        <p:nvSpPr>
          <p:cNvPr id="16" name="TextBox 15"/>
          <p:cNvSpPr txBox="1"/>
          <p:nvPr/>
        </p:nvSpPr>
        <p:spPr>
          <a:xfrm>
            <a:off x="4356597" y="3314497"/>
            <a:ext cx="3478773"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The acceleration, held constant over the interval Δt, changes the velocity.</a:t>
            </a:r>
          </a:p>
        </p:txBody>
      </p:sp>
      <p:sp>
        <p:nvSpPr>
          <p:cNvPr id="17" name="Rectangle 16"/>
          <p:cNvSpPr/>
          <p:nvPr/>
        </p:nvSpPr>
        <p:spPr>
          <a:xfrm>
            <a:off x="8164555" y="1991106"/>
            <a:ext cx="3478773"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4555" y="2137410"/>
            <a:ext cx="3478773" cy="171599"/>
          </a:xfrm>
          <a:prstGeom prst="rect">
            <a:avLst/>
          </a:prstGeom>
          <a:noFill/>
        </p:spPr>
        <p:txBody>
          <a:bodyPr wrap="square" lIns="0" rIns="0" tIns="0" bIns="0" anchor="t">
            <a:noAutofit/>
          </a:bodyPr>
          <a:lstStyle/>
          <a:p>
            <a:pPr algn="l" marL="0" indent="0">
              <a:lnSpc>
                <a:spcPts val="1063"/>
              </a:lnSpc>
              <a:spcBef>
                <a:spcPts val="0"/>
              </a:spcBef>
              <a:spcAft>
                <a:spcPts val="0"/>
              </a:spcAft>
              <a:buNone/>
            </a:pPr>
            <a:r>
              <a:rPr sz="901" b="1" i="0" spc="110">
                <a:solidFill>
                  <a:srgbClr val="2B8A3E"/>
                </a:solidFill>
                <a:latin typeface="Calibri"/>
              </a:rPr>
              <a:t>STEP 3 — POSITION</a:t>
            </a:r>
          </a:p>
        </p:txBody>
      </p:sp>
      <p:pic>
        <p:nvPicPr>
          <p:cNvPr id="19" name="Picture 18" descr="eq_euler_p.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8164555" y="2455313"/>
            <a:ext cx="3478773" cy="691180"/>
          </a:xfrm>
          <a:prstGeom prst="rect">
            <a:avLst/>
          </a:prstGeom>
        </p:spPr>
      </p:pic>
      <p:sp>
        <p:nvSpPr>
          <p:cNvPr id="20" name="TextBox 19"/>
          <p:cNvSpPr txBox="1"/>
          <p:nvPr/>
        </p:nvSpPr>
        <p:spPr>
          <a:xfrm>
            <a:off x="8164555" y="3347662"/>
            <a:ext cx="3478773" cy="40233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5F6B76"/>
                </a:solidFill>
                <a:latin typeface="Calibri"/>
              </a:rPr>
              <a:t>The velocity, held constant over the same interval, moves the boid.</a:t>
            </a:r>
          </a:p>
        </p:txBody>
      </p:sp>
      <p:sp>
        <p:nvSpPr>
          <p:cNvPr id="21" name="Rectangle 20"/>
          <p:cNvSpPr/>
          <p:nvPr/>
        </p:nvSpPr>
        <p:spPr>
          <a:xfrm>
            <a:off x="548640" y="4006030"/>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4207198"/>
            <a:ext cx="5486400"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1971C2"/>
                </a:solidFill>
                <a:latin typeface="Calibri"/>
              </a:rPr>
              <a:t>WHAT THE IMPLEMENTATION ACTUALLY DOES</a:t>
            </a:r>
          </a:p>
        </p:txBody>
      </p:sp>
      <p:pic>
        <p:nvPicPr>
          <p:cNvPr id="23" name="Picture 22" descr="eq_euler_impl.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640080" y="4463230"/>
            <a:ext cx="5684520" cy="289560"/>
          </a:xfrm>
          <a:prstGeom prst="rect">
            <a:avLst/>
          </a:prstGeom>
        </p:spPr>
      </p:pic>
      <p:sp>
        <p:nvSpPr>
          <p:cNvPr id="24" name="TextBox 23"/>
          <p:cNvSpPr txBox="1"/>
          <p:nvPr/>
        </p:nvSpPr>
        <p:spPr>
          <a:xfrm>
            <a:off x="548640" y="4935670"/>
            <a:ext cx="6400800" cy="585216"/>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Mass and time step are both set to one, so force is added directly to velocity. The extra factor λ = 0.95 acts as </a:t>
            </a:r>
            <a:r>
              <a:rPr sz="1200" b="1" i="0">
                <a:solidFill>
                  <a:srgbClr val="16202A"/>
                </a:solidFill>
                <a:latin typeface="Calibri"/>
              </a:rPr>
              <a:t>friction</a:t>
            </a:r>
            <a:r>
              <a:rPr sz="1200" b="0" i="0">
                <a:solidFill>
                  <a:srgbClr val="2B3542"/>
                </a:solidFill>
                <a:latin typeface="Calibri"/>
              </a:rPr>
              <a:t>: without it the velocity is only ever pushed, and combined with the hard speed limit the boid swings between top speed in different directions instead of settling into a smooth heading.</a:t>
            </a:r>
          </a:p>
        </p:txBody>
      </p:sp>
      <p:sp>
        <p:nvSpPr>
          <p:cNvPr id="25" name="Rectangle 24"/>
          <p:cNvSpPr/>
          <p:nvPr/>
        </p:nvSpPr>
        <p:spPr>
          <a:xfrm>
            <a:off x="7406640" y="4262062"/>
            <a:ext cx="4236689" cy="1024127"/>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406640" y="4262062"/>
            <a:ext cx="41148" cy="1024127"/>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26096" y="4408366"/>
            <a:ext cx="3852641" cy="731519"/>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0" i="0">
                <a:solidFill>
                  <a:srgbClr val="2B3542"/>
                </a:solidFill>
                <a:latin typeface="Calibri"/>
              </a:rPr>
              <a:t>Euler integration is the crudest possible integrator: it assumes acceleration and velocity are constant across the step. It is used here because it is </a:t>
            </a:r>
            <a:r>
              <a:rPr sz="1200" b="1" i="0">
                <a:solidFill>
                  <a:srgbClr val="2B3542"/>
                </a:solidFill>
                <a:latin typeface="Calibri"/>
              </a:rPr>
              <a:t>exact enough at Δt = 1 and completely transparent</a:t>
            </a:r>
            <a:r>
              <a:rPr sz="1200" b="0" i="0">
                <a:solidFill>
                  <a:srgbClr val="2B3542"/>
                </a:solidFill>
                <a:latin typeface="Calibri"/>
              </a:rPr>
              <a:t> — the state update is two additions.</a:t>
            </a:r>
          </a:p>
        </p:txBody>
      </p:sp>
      <p:sp>
        <p:nvSpPr>
          <p:cNvPr id="28" name="TextBox 27"/>
          <p:cNvSpPr txBox="1"/>
          <p:nvPr/>
        </p:nvSpPr>
        <p:spPr>
          <a:xfrm>
            <a:off x="7406640" y="5359342"/>
            <a:ext cx="4236689" cy="18288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20">
                <a:solidFill>
                  <a:srgbClr val="B54708"/>
                </a:solidFill>
                <a:latin typeface="Calibri"/>
              </a:rPr>
              <a:t>AND ONE HARD CONSTRAINT</a:t>
            </a:r>
          </a:p>
        </p:txBody>
      </p:sp>
      <p:pic>
        <p:nvPicPr>
          <p:cNvPr id="29" name="Picture 28" descr="eq_speed_cap.png"/>
          <p:cNvPicPr>
            <a:picLocks noChangeAspect="1"/>
          </p:cNvPicPr>
          <p:nvPr/>
        </p:nvPicPr>
        <p:blipFill>
          <a:blip r:embed="rId10">
            <a:extLst>
              <a:ext uri="{96DAC541-7B7A-43D3-8B79-37D633B846F1}">
                <ns4:svgBlip xmlns:ns4="http://schemas.microsoft.com/office/drawing/2016/SVG/main" r:embed="rId11"/>
              </a:ext>
            </a:extLst>
          </a:blip>
          <a:stretch>
            <a:fillRect/>
          </a:stretch>
        </p:blipFill>
        <p:spPr>
          <a:xfrm>
            <a:off x="7498079" y="5597086"/>
            <a:ext cx="1145286" cy="285750"/>
          </a:xfrm>
          <a:prstGeom prst="rect">
            <a:avLst/>
          </a:prstGeom>
        </p:spPr>
      </p:pic>
      <p:sp>
        <p:nvSpPr>
          <p:cNvPr id="30" name="TextBox 29"/>
          <p:cNvSpPr txBox="1"/>
          <p:nvPr/>
        </p:nvSpPr>
        <p:spPr>
          <a:xfrm>
            <a:off x="7406640" y="5962846"/>
            <a:ext cx="4236689" cy="381254"/>
          </a:xfrm>
          <a:prstGeom prst="rect">
            <a:avLst/>
          </a:prstGeom>
          <a:noFill/>
        </p:spPr>
        <p:txBody>
          <a:bodyPr wrap="square" lIns="0" rIns="0" tIns="0" bIns="0" anchor="t">
            <a:noAutofit/>
          </a:bodyPr>
          <a:lstStyle/>
          <a:p>
            <a:pPr algn="l" marL="0" indent="0">
              <a:lnSpc>
                <a:spcPts val="1357"/>
              </a:lnSpc>
              <a:spcBef>
                <a:spcPts val="0"/>
              </a:spcBef>
              <a:spcAft>
                <a:spcPts val="0"/>
              </a:spcAft>
              <a:buNone/>
            </a:pPr>
            <a:r>
              <a:rPr sz="1150" b="0" i="0">
                <a:solidFill>
                  <a:srgbClr val="5F6B76"/>
                </a:solidFill>
                <a:latin typeface="Calibri"/>
              </a:rPr>
              <a:t>Applied after the velocity update: no combination of forces can push a boid past the maximum speed.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6.5  A BOID IS A MODEL-BASED REFLEX AGENT</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The same architecture as §5.6, with the state being position and velocity</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57</a:t>
            </a:r>
          </a:p>
        </p:txBody>
      </p:sp>
      <p:sp>
        <p:nvSpPr>
          <p:cNvPr id="8" name="TextBox 7"/>
          <p:cNvSpPr txBox="1"/>
          <p:nvPr/>
        </p:nvSpPr>
        <p:spPr>
          <a:xfrm>
            <a:off x="548640" y="1280160"/>
            <a:ext cx="11094689" cy="237998"/>
          </a:xfrm>
          <a:prstGeom prst="rect">
            <a:avLst/>
          </a:prstGeom>
          <a:noFill/>
        </p:spPr>
        <p:txBody>
          <a:bodyPr wrap="square" lIns="0" rIns="0" tIns="0" bIns="0" anchor="t">
            <a:noAutofit/>
          </a:bodyPr>
          <a:lstStyle/>
          <a:p>
            <a:pPr algn="l" marL="0" indent="0">
              <a:lnSpc>
                <a:spcPts val="1586"/>
              </a:lnSpc>
              <a:spcBef>
                <a:spcPts val="0"/>
              </a:spcBef>
              <a:spcAft>
                <a:spcPts val="0"/>
              </a:spcAft>
              <a:buNone/>
            </a:pPr>
            <a:r>
              <a:rPr sz="1300" b="0" i="0">
                <a:solidFill>
                  <a:srgbClr val="2B3542"/>
                </a:solidFill>
                <a:latin typeface="Calibri"/>
              </a:rPr>
              <a:t>The implementation maps one-to-one onto the architecture of Part V. Reading the code beside the diagram is the point of this example.</a:t>
            </a:r>
          </a:p>
        </p:txBody>
      </p:sp>
      <p:sp>
        <p:nvSpPr>
          <p:cNvPr id="9" name="Rectangle 8"/>
          <p:cNvSpPr/>
          <p:nvPr/>
        </p:nvSpPr>
        <p:spPr>
          <a:xfrm>
            <a:off x="548640" y="1719326"/>
            <a:ext cx="6720840" cy="4670806"/>
          </a:xfrm>
          <a:prstGeom prst="rect">
            <a:avLst/>
          </a:prstGeom>
          <a:solidFill>
            <a:srgbClr val="F7F9FB"/>
          </a:solidFill>
          <a:ln w="9525">
            <a:solidFill>
              <a:srgbClr val="D6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719326"/>
            <a:ext cx="41148" cy="467080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1801622"/>
            <a:ext cx="6355079"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1" i="0" spc="90">
                <a:solidFill>
                  <a:srgbClr val="5F6B76"/>
                </a:solidFill>
                <a:latin typeface="Calibri"/>
              </a:rPr>
              <a:t>THE BOID, IN FULL</a:t>
            </a:r>
          </a:p>
        </p:txBody>
      </p:sp>
      <p:sp>
        <p:nvSpPr>
          <p:cNvPr id="12" name="TextBox 11"/>
          <p:cNvSpPr txBox="1"/>
          <p:nvPr/>
        </p:nvSpPr>
        <p:spPr>
          <a:xfrm>
            <a:off x="731520" y="2103374"/>
            <a:ext cx="6409944" cy="4213606"/>
          </a:xfrm>
          <a:prstGeom prst="rect">
            <a:avLst/>
          </a:prstGeom>
          <a:noFill/>
        </p:spPr>
        <p:txBody>
          <a:bodyPr wrap="none" lIns="0" rIns="0" tIns="0" bIns="0" anchor="t">
            <a:noAutofit/>
          </a:bodyPr>
          <a:lstStyle/>
          <a:p>
            <a:pPr algn="l" marL="0" indent="0">
              <a:lnSpc>
                <a:spcPts val="1430"/>
              </a:lnSpc>
              <a:spcBef>
                <a:spcPts val="0"/>
              </a:spcBef>
              <a:spcAft>
                <a:spcPts val="0"/>
              </a:spcAft>
              <a:buNone/>
            </a:pPr>
            <a:r>
              <a:rPr sz="1100" b="1" i="0">
                <a:solidFill>
                  <a:srgbClr val="1971C2"/>
                </a:solidFill>
                <a:latin typeface="Consolas"/>
              </a:rPr>
              <a:t>def sensors(boid, boids, radius):         </a:t>
            </a:r>
            <a:r>
              <a:rPr sz="1100" b="0" i="1">
                <a:solidFill>
                  <a:srgbClr val="768896"/>
                </a:solidFill>
                <a:latin typeface="Consolas"/>
              </a:rPr>
              <a:t># the PERCEPT</a:t>
            </a:r>
          </a:p>
          <a:p>
            <a:pPr algn="l" marL="0" indent="0">
              <a:lnSpc>
                <a:spcPts val="1430"/>
              </a:lnSpc>
              <a:spcBef>
                <a:spcPts val="0"/>
              </a:spcBef>
              <a:spcAft>
                <a:spcPts val="0"/>
              </a:spcAft>
              <a:buNone/>
            </a:pPr>
            <a:r>
              <a:rPr sz="1100" b="0" i="0">
                <a:solidFill>
                  <a:srgbClr val="1F2A37"/>
                </a:solidFill>
                <a:latin typeface="Consolas"/>
              </a:rPr>
              <a:t>    return [b for b in boids if b is not boid</a:t>
            </a:r>
          </a:p>
          <a:p>
            <a:pPr algn="l" marL="0" indent="0">
              <a:lnSpc>
                <a:spcPts val="1430"/>
              </a:lnSpc>
              <a:spcBef>
                <a:spcPts val="0"/>
              </a:spcBef>
              <a:spcAft>
                <a:spcPts val="0"/>
              </a:spcAft>
              <a:buNone/>
            </a:pPr>
            <a:r>
              <a:rPr sz="1100" b="0" i="0">
                <a:solidFill>
                  <a:srgbClr val="1F2A37"/>
                </a:solidFill>
                <a:latin typeface="Consolas"/>
              </a:rPr>
              <a:t>            and norm(b['position'] - boid['position']) &lt; radius]</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1" i="0">
                <a:solidFill>
                  <a:srgbClr val="1971C2"/>
                </a:solidFill>
                <a:latin typeface="Consolas"/>
              </a:rPr>
              <a:t>def update_state(boid, percept, model):   </a:t>
            </a:r>
            <a:r>
              <a:rPr sz="1100" b="0" i="1">
                <a:solidFill>
                  <a:srgbClr val="768896"/>
                </a:solidFill>
                <a:latin typeface="Consolas"/>
              </a:rPr>
              <a:t># the STATE UPDATE</a:t>
            </a:r>
          </a:p>
          <a:p>
            <a:pPr algn="l" marL="0" indent="0">
              <a:lnSpc>
                <a:spcPts val="1430"/>
              </a:lnSpc>
              <a:spcBef>
                <a:spcPts val="0"/>
              </a:spcBef>
              <a:spcAft>
                <a:spcPts val="0"/>
              </a:spcAft>
              <a:buNone/>
            </a:pPr>
            <a:r>
              <a:rPr sz="1100" b="0" i="0">
                <a:solidFill>
                  <a:srgbClr val="1F2A37"/>
                </a:solidFill>
                <a:latin typeface="Consolas"/>
              </a:rPr>
              <a:t>    nb = percept['neighbors']</a:t>
            </a:r>
          </a:p>
          <a:p>
            <a:pPr algn="l" marL="0" indent="0">
              <a:lnSpc>
                <a:spcPts val="1430"/>
              </a:lnSpc>
              <a:spcBef>
                <a:spcPts val="0"/>
              </a:spcBef>
              <a:spcAft>
                <a:spcPts val="0"/>
              </a:spcAft>
              <a:buNone/>
            </a:pPr>
            <a:r>
              <a:rPr sz="1100" b="0" i="0">
                <a:solidFill>
                  <a:srgbClr val="1F2A37"/>
                </a:solidFill>
                <a:latin typeface="Consolas"/>
              </a:rPr>
              <a:t>    force = (model['separation_force_factor'] * separation(boid, nb)</a:t>
            </a:r>
          </a:p>
          <a:p>
            <a:pPr algn="l" marL="0" indent="0">
              <a:lnSpc>
                <a:spcPts val="1430"/>
              </a:lnSpc>
              <a:spcBef>
                <a:spcPts val="0"/>
              </a:spcBef>
              <a:spcAft>
                <a:spcPts val="0"/>
              </a:spcAft>
              <a:buNone/>
            </a:pPr>
            <a:r>
              <a:rPr sz="1100" b="0" i="0">
                <a:solidFill>
                  <a:srgbClr val="1F2A37"/>
                </a:solidFill>
                <a:latin typeface="Consolas"/>
              </a:rPr>
              <a:t>           + model['alignment_force_factor']  * alignment(boid, nb)</a:t>
            </a:r>
          </a:p>
          <a:p>
            <a:pPr algn="l" marL="0" indent="0">
              <a:lnSpc>
                <a:spcPts val="1430"/>
              </a:lnSpc>
              <a:spcBef>
                <a:spcPts val="0"/>
              </a:spcBef>
              <a:spcAft>
                <a:spcPts val="0"/>
              </a:spcAft>
              <a:buNone/>
            </a:pPr>
            <a:r>
              <a:rPr sz="1100" b="0" i="0">
                <a:solidFill>
                  <a:srgbClr val="1F2A37"/>
                </a:solidFill>
                <a:latin typeface="Consolas"/>
              </a:rPr>
              <a:t>           + model['cohesion_force_factor']   * cohesion(boid, nb)</a:t>
            </a:r>
          </a:p>
          <a:p>
            <a:pPr algn="l" marL="0" indent="0">
              <a:lnSpc>
                <a:spcPts val="1430"/>
              </a:lnSpc>
              <a:spcBef>
                <a:spcPts val="0"/>
              </a:spcBef>
              <a:spcAft>
                <a:spcPts val="0"/>
              </a:spcAft>
              <a:buNone/>
            </a:pPr>
            <a:r>
              <a:rPr sz="1100" b="0" i="0">
                <a:solidFill>
                  <a:srgbClr val="1F2A37"/>
                </a:solidFill>
                <a:latin typeface="Consolas"/>
              </a:rPr>
              <a:t>           + model['target_force_factor']     * direction(boid, ...))</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0" i="0">
                <a:solidFill>
                  <a:srgbClr val="1F2A37"/>
                </a:solidFill>
                <a:latin typeface="Consolas"/>
              </a:rPr>
              <a:t>    boid['velocity'] = model['damping'] * boid['velocity'] + force</a:t>
            </a:r>
          </a:p>
          <a:p>
            <a:pPr algn="l" marL="0" indent="0">
              <a:lnSpc>
                <a:spcPts val="1430"/>
              </a:lnSpc>
              <a:spcBef>
                <a:spcPts val="0"/>
              </a:spcBef>
              <a:spcAft>
                <a:spcPts val="0"/>
              </a:spcAft>
              <a:buNone/>
            </a:pPr>
            <a:r>
              <a:rPr sz="1100" b="0" i="0">
                <a:solidFill>
                  <a:srgbClr val="1F2A37"/>
                </a:solidFill>
                <a:latin typeface="Consolas"/>
              </a:rPr>
              <a:t>    speed = norm(boid['velocity'])</a:t>
            </a:r>
          </a:p>
          <a:p>
            <a:pPr algn="l" marL="0" indent="0">
              <a:lnSpc>
                <a:spcPts val="1430"/>
              </a:lnSpc>
              <a:spcBef>
                <a:spcPts val="0"/>
              </a:spcBef>
              <a:spcAft>
                <a:spcPts val="0"/>
              </a:spcAft>
              <a:buNone/>
            </a:pPr>
            <a:r>
              <a:rPr sz="1100" b="0" i="0">
                <a:solidFill>
                  <a:srgbClr val="1F2A37"/>
                </a:solidFill>
                <a:latin typeface="Consolas"/>
              </a:rPr>
              <a:t>    if speed &gt; model['max_speed']:        </a:t>
            </a:r>
            <a:r>
              <a:rPr sz="1100" b="0" i="1">
                <a:solidFill>
                  <a:srgbClr val="768896"/>
                </a:solidFill>
                <a:latin typeface="Consolas"/>
              </a:rPr>
              <a:t># speed limiting</a:t>
            </a:r>
          </a:p>
          <a:p>
            <a:pPr algn="l" marL="0" indent="0">
              <a:lnSpc>
                <a:spcPts val="1430"/>
              </a:lnSpc>
              <a:spcBef>
                <a:spcPts val="0"/>
              </a:spcBef>
              <a:spcAft>
                <a:spcPts val="0"/>
              </a:spcAft>
              <a:buNone/>
            </a:pPr>
            <a:r>
              <a:rPr sz="1100" b="0" i="0">
                <a:solidFill>
                  <a:srgbClr val="1F2A37"/>
                </a:solidFill>
                <a:latin typeface="Consolas"/>
              </a:rPr>
              <a:t>        boid['velocity'] *= model['max_speed'] / speed</a:t>
            </a:r>
          </a:p>
          <a:p>
            <a:pPr algn="l" marL="0" indent="0">
              <a:lnSpc>
                <a:spcPts val="1430"/>
              </a:lnSpc>
              <a:spcBef>
                <a:spcPts val="0"/>
              </a:spcBef>
              <a:spcAft>
                <a:spcPts val="0"/>
              </a:spcAft>
              <a:buNone/>
            </a:pPr>
            <a:r>
              <a:rPr sz="1100" b="0" i="0">
                <a:solidFill>
                  <a:srgbClr val="1F2A37"/>
                </a:solidFill>
                <a:latin typeface="Consolas"/>
              </a:rPr>
              <a:t>    boid['position'] += boid['velocity']</a:t>
            </a:r>
          </a:p>
          <a:p>
            <a:pPr algn="l" marL="0" indent="0">
              <a:lnSpc>
                <a:spcPts val="1430"/>
              </a:lnSpc>
              <a:spcBef>
                <a:spcPts val="0"/>
              </a:spcBef>
              <a:spcAft>
                <a:spcPts val="0"/>
              </a:spcAft>
              <a:buNone/>
            </a:pPr>
            <a:r>
              <a:rPr sz="1100" b="0" i="0">
                <a:solidFill>
                  <a:srgbClr val="1F2A37"/>
                </a:solidFill>
                <a:latin typeface="Consolas"/>
              </a:rPr>
              <a:t>    return boid</a:t>
            </a:r>
          </a:p>
          <a:p>
            <a:pPr algn="l" marL="0" indent="0">
              <a:lnSpc>
                <a:spcPts val="1430"/>
              </a:lnSpc>
              <a:spcBef>
                <a:spcPts val="0"/>
              </a:spcBef>
              <a:spcAft>
                <a:spcPts val="0"/>
              </a:spcAft>
              <a:buNone/>
            </a:pPr>
            <a:r>
              <a:rPr sz="1100" b="0" i="0">
                <a:solidFill>
                  <a:srgbClr val="2B3542"/>
                </a:solidFill>
                <a:latin typeface="Consolas"/>
              </a:rPr>
              <a:t> </a:t>
            </a:r>
          </a:p>
          <a:p>
            <a:pPr algn="l" marL="0" indent="0">
              <a:lnSpc>
                <a:spcPts val="1430"/>
              </a:lnSpc>
              <a:spcBef>
                <a:spcPts val="0"/>
              </a:spcBef>
              <a:spcAft>
                <a:spcPts val="0"/>
              </a:spcAft>
              <a:buNone/>
            </a:pPr>
            <a:r>
              <a:rPr sz="1100" b="1" i="0">
                <a:solidFill>
                  <a:srgbClr val="1971C2"/>
                </a:solidFill>
                <a:latin typeface="Consolas"/>
              </a:rPr>
              <a:t>def ModelBasedAgent(update_state, model): </a:t>
            </a:r>
            <a:r>
              <a:rPr sz="1100" b="0" i="1">
                <a:solidFill>
                  <a:srgbClr val="768896"/>
                </a:solidFill>
                <a:latin typeface="Consolas"/>
              </a:rPr>
              <a:t># the AGENT PROGRAM</a:t>
            </a:r>
          </a:p>
          <a:p>
            <a:pPr algn="l" marL="0" indent="0">
              <a:lnSpc>
                <a:spcPts val="1430"/>
              </a:lnSpc>
              <a:spcBef>
                <a:spcPts val="0"/>
              </a:spcBef>
              <a:spcAft>
                <a:spcPts val="0"/>
              </a:spcAft>
              <a:buNone/>
            </a:pPr>
            <a:r>
              <a:rPr sz="1100" b="0" i="0">
                <a:solidFill>
                  <a:srgbClr val="1F2A37"/>
                </a:solidFill>
                <a:latin typeface="Consolas"/>
              </a:rPr>
              <a:t>    def program(percept):</a:t>
            </a:r>
          </a:p>
          <a:p>
            <a:pPr algn="l" marL="0" indent="0">
              <a:lnSpc>
                <a:spcPts val="1430"/>
              </a:lnSpc>
              <a:spcBef>
                <a:spcPts val="0"/>
              </a:spcBef>
              <a:spcAft>
                <a:spcPts val="0"/>
              </a:spcAft>
              <a:buNone/>
            </a:pPr>
            <a:r>
              <a:rPr sz="1100" b="0" i="0">
                <a:solidFill>
                  <a:srgbClr val="1F2A37"/>
                </a:solidFill>
                <a:latin typeface="Consolas"/>
              </a:rPr>
              <a:t>        program.state = update_state(program.state, percept, model)</a:t>
            </a:r>
          </a:p>
          <a:p>
            <a:pPr algn="l" marL="0" indent="0">
              <a:lnSpc>
                <a:spcPts val="1430"/>
              </a:lnSpc>
              <a:spcBef>
                <a:spcPts val="0"/>
              </a:spcBef>
              <a:spcAft>
                <a:spcPts val="0"/>
              </a:spcAft>
              <a:buNone/>
            </a:pPr>
            <a:r>
              <a:rPr sz="1100" b="0" i="0">
                <a:solidFill>
                  <a:srgbClr val="1F2A37"/>
                </a:solidFill>
                <a:latin typeface="Consolas"/>
              </a:rPr>
              <a:t>    program.state = {'position': ..., 'velocity': ...}</a:t>
            </a:r>
          </a:p>
          <a:p>
            <a:pPr algn="l" marL="0" indent="0">
              <a:lnSpc>
                <a:spcPts val="1430"/>
              </a:lnSpc>
              <a:spcBef>
                <a:spcPts val="0"/>
              </a:spcBef>
              <a:spcAft>
                <a:spcPts val="0"/>
              </a:spcAft>
              <a:buNone/>
            </a:pPr>
            <a:r>
              <a:rPr sz="1100" b="0" i="0">
                <a:solidFill>
                  <a:srgbClr val="1F2A37"/>
                </a:solidFill>
                <a:latin typeface="Consolas"/>
              </a:rPr>
              <a:t>    return program</a:t>
            </a:r>
          </a:p>
        </p:txBody>
      </p:sp>
      <p:sp>
        <p:nvSpPr>
          <p:cNvPr id="13" name="TextBox 12"/>
          <p:cNvSpPr txBox="1"/>
          <p:nvPr/>
        </p:nvSpPr>
        <p:spPr>
          <a:xfrm>
            <a:off x="7891271" y="1719326"/>
            <a:ext cx="3752057" cy="604393"/>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Sensors</a:t>
            </a:r>
            <a:r>
              <a:rPr sz="1250" b="0" i="0">
                <a:solidFill>
                  <a:srgbClr val="2B3542"/>
                </a:solidFill>
                <a:latin typeface="Calibri"/>
              </a:rPr>
              <a:t>   </a:t>
            </a:r>
            <a:r>
              <a:rPr sz="1100" b="0" i="0">
                <a:solidFill>
                  <a:srgbClr val="2B8A3E"/>
                </a:solidFill>
                <a:latin typeface="Consolas"/>
              </a:rPr>
              <a:t>sensors(...)</a:t>
            </a:r>
          </a:p>
          <a:p>
            <a:pPr algn="l" marL="0" indent="0">
              <a:lnSpc>
                <a:spcPts val="1298"/>
              </a:lnSpc>
              <a:spcBef>
                <a:spcPts val="400"/>
              </a:spcBef>
              <a:spcAft>
                <a:spcPts val="0"/>
              </a:spcAft>
              <a:buNone/>
            </a:pPr>
            <a:r>
              <a:rPr sz="1100" b="0" i="0">
                <a:solidFill>
                  <a:srgbClr val="5F6B76"/>
                </a:solidFill>
                <a:latin typeface="Calibri"/>
              </a:rPr>
              <a:t>Filters the other boids by distance. The percept is the list of neighbours — never the whole flock.</a:t>
            </a:r>
          </a:p>
        </p:txBody>
      </p:sp>
      <p:sp>
        <p:nvSpPr>
          <p:cNvPr id="14" name="Rectangle 13"/>
          <p:cNvSpPr/>
          <p:nvPr/>
        </p:nvSpPr>
        <p:spPr>
          <a:xfrm>
            <a:off x="7653527" y="1719326"/>
            <a:ext cx="41148" cy="56781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91271" y="2524887"/>
            <a:ext cx="3752057" cy="604393"/>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Internal state</a:t>
            </a:r>
            <a:r>
              <a:rPr sz="1250" b="0" i="0">
                <a:solidFill>
                  <a:srgbClr val="2B3542"/>
                </a:solidFill>
                <a:latin typeface="Calibri"/>
              </a:rPr>
              <a:t>   </a:t>
            </a:r>
            <a:r>
              <a:rPr sz="1100" b="0" i="0">
                <a:solidFill>
                  <a:srgbClr val="1971C2"/>
                </a:solidFill>
                <a:latin typeface="Consolas"/>
              </a:rPr>
              <a:t>program.state</a:t>
            </a:r>
          </a:p>
          <a:p>
            <a:pPr algn="l" marL="0" indent="0">
              <a:lnSpc>
                <a:spcPts val="1298"/>
              </a:lnSpc>
              <a:spcBef>
                <a:spcPts val="400"/>
              </a:spcBef>
              <a:spcAft>
                <a:spcPts val="0"/>
              </a:spcAft>
              <a:buNone/>
            </a:pPr>
            <a:r>
              <a:rPr sz="1100" b="0" i="0">
                <a:solidFill>
                  <a:srgbClr val="5F6B76"/>
                </a:solidFill>
                <a:latin typeface="Calibri"/>
              </a:rPr>
              <a:t>Position and velocity. Not observable from the percept, and carried from step to step.</a:t>
            </a:r>
          </a:p>
        </p:txBody>
      </p:sp>
      <p:sp>
        <p:nvSpPr>
          <p:cNvPr id="16" name="Rectangle 15"/>
          <p:cNvSpPr/>
          <p:nvPr/>
        </p:nvSpPr>
        <p:spPr>
          <a:xfrm>
            <a:off x="7653527" y="2524887"/>
            <a:ext cx="41148" cy="567817"/>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91271" y="3330448"/>
            <a:ext cx="3752057" cy="604393"/>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Transition model</a:t>
            </a:r>
            <a:r>
              <a:rPr sz="1250" b="0" i="0">
                <a:solidFill>
                  <a:srgbClr val="2B3542"/>
                </a:solidFill>
                <a:latin typeface="Calibri"/>
              </a:rPr>
              <a:t>   </a:t>
            </a:r>
            <a:r>
              <a:rPr sz="1100" b="0" i="0">
                <a:solidFill>
                  <a:srgbClr val="B54708"/>
                </a:solidFill>
                <a:latin typeface="Consolas"/>
              </a:rPr>
              <a:t>model[...]</a:t>
            </a:r>
          </a:p>
          <a:p>
            <a:pPr algn="l" marL="0" indent="0">
              <a:lnSpc>
                <a:spcPts val="1298"/>
              </a:lnSpc>
              <a:spcBef>
                <a:spcPts val="400"/>
              </a:spcBef>
              <a:spcAft>
                <a:spcPts val="0"/>
              </a:spcAft>
              <a:buNone/>
            </a:pPr>
            <a:r>
              <a:rPr sz="1100" b="0" i="0">
                <a:solidFill>
                  <a:srgbClr val="5F6B76"/>
                </a:solidFill>
                <a:latin typeface="Calibri"/>
              </a:rPr>
              <a:t>The weights, the perception radius, the speed limit, the damping factor: how the world and the boid evolve.</a:t>
            </a:r>
          </a:p>
        </p:txBody>
      </p:sp>
      <p:sp>
        <p:nvSpPr>
          <p:cNvPr id="18" name="Rectangle 17"/>
          <p:cNvSpPr/>
          <p:nvPr/>
        </p:nvSpPr>
        <p:spPr>
          <a:xfrm>
            <a:off x="7653527" y="3330448"/>
            <a:ext cx="41148" cy="567817"/>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91271" y="4136009"/>
            <a:ext cx="3752057" cy="769239"/>
          </a:xfrm>
          <a:prstGeom prst="rect">
            <a:avLst/>
          </a:prstGeom>
          <a:noFill/>
        </p:spPr>
        <p:txBody>
          <a:bodyPr wrap="square" lIns="0" rIns="0" tIns="0" bIns="0" anchor="t">
            <a:noAutofit/>
          </a:bodyPr>
          <a:lstStyle/>
          <a:p>
            <a:pPr algn="l" marL="0" indent="0">
              <a:lnSpc>
                <a:spcPts val="1475"/>
              </a:lnSpc>
              <a:spcBef>
                <a:spcPts val="0"/>
              </a:spcBef>
              <a:spcAft>
                <a:spcPts val="0"/>
              </a:spcAft>
              <a:buNone/>
            </a:pPr>
            <a:r>
              <a:rPr sz="1250" b="1" i="0">
                <a:solidFill>
                  <a:srgbClr val="16202A"/>
                </a:solidFill>
                <a:latin typeface="Calibri"/>
              </a:rPr>
              <a:t>Agent program</a:t>
            </a:r>
            <a:r>
              <a:rPr sz="1250" b="0" i="0">
                <a:solidFill>
                  <a:srgbClr val="2B3542"/>
                </a:solidFill>
                <a:latin typeface="Calibri"/>
              </a:rPr>
              <a:t>   </a:t>
            </a:r>
            <a:r>
              <a:rPr sz="1100" b="0" i="0">
                <a:solidFill>
                  <a:srgbClr val="C92A2A"/>
                </a:solidFill>
                <a:latin typeface="Consolas"/>
              </a:rPr>
              <a:t>program(percept)</a:t>
            </a:r>
          </a:p>
          <a:p>
            <a:pPr algn="l" marL="0" indent="0">
              <a:lnSpc>
                <a:spcPts val="1298"/>
              </a:lnSpc>
              <a:spcBef>
                <a:spcPts val="400"/>
              </a:spcBef>
              <a:spcAft>
                <a:spcPts val="0"/>
              </a:spcAft>
              <a:buNone/>
            </a:pPr>
            <a:r>
              <a:rPr sz="1100" b="0" i="0">
                <a:solidFill>
                  <a:srgbClr val="5F6B76"/>
                </a:solidFill>
                <a:latin typeface="Calibri"/>
              </a:rPr>
              <a:t>Percept in, state updated, motion out. In this simple case no separate action selection is needed — adding a goal or a utility function is what would extend it.</a:t>
            </a:r>
          </a:p>
        </p:txBody>
      </p:sp>
      <p:sp>
        <p:nvSpPr>
          <p:cNvPr id="20" name="Rectangle 19"/>
          <p:cNvSpPr/>
          <p:nvPr/>
        </p:nvSpPr>
        <p:spPr>
          <a:xfrm>
            <a:off x="7653527" y="4136009"/>
            <a:ext cx="41148" cy="732663"/>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094689" cy="201168"/>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30">
                <a:solidFill>
                  <a:srgbClr val="1971C2"/>
                </a:solidFill>
                <a:latin typeface="Calibri"/>
              </a:rPr>
              <a:t>6.6  EMERGENCE</a:t>
            </a:r>
          </a:p>
        </p:txBody>
      </p:sp>
      <p:sp>
        <p:nvSpPr>
          <p:cNvPr id="3" name="TextBox 2"/>
          <p:cNvSpPr txBox="1"/>
          <p:nvPr/>
        </p:nvSpPr>
        <p:spPr>
          <a:xfrm>
            <a:off x="548640" y="525780"/>
            <a:ext cx="11094689" cy="475488"/>
          </a:xfrm>
          <a:prstGeom prst="rect">
            <a:avLst/>
          </a:prstGeom>
          <a:noFill/>
        </p:spPr>
        <p:txBody>
          <a:bodyPr wrap="square" lIns="0" rIns="0" tIns="0" bIns="0" anchor="t">
            <a:noAutofit/>
          </a:bodyPr>
          <a:lstStyle/>
          <a:p>
            <a:pPr algn="l" marL="0" indent="0">
              <a:lnSpc>
                <a:spcPts val="2450"/>
              </a:lnSpc>
              <a:spcBef>
                <a:spcPts val="0"/>
              </a:spcBef>
              <a:spcAft>
                <a:spcPts val="0"/>
              </a:spcAft>
              <a:buNone/>
            </a:pPr>
            <a:r>
              <a:rPr sz="2500" b="1" i="0">
                <a:solidFill>
                  <a:srgbClr val="16202A"/>
                </a:solidFill>
                <a:latin typeface="Calibri"/>
              </a:rPr>
              <a:t>Nothing in the code describes a flock</a:t>
            </a:r>
          </a:p>
        </p:txBody>
      </p:sp>
      <p:sp>
        <p:nvSpPr>
          <p:cNvPr id="4" name="Rectangle 3"/>
          <p:cNvSpPr/>
          <p:nvPr/>
        </p:nvSpPr>
        <p:spPr>
          <a:xfrm>
            <a:off x="548640" y="1115568"/>
            <a:ext cx="11094689" cy="8229"/>
          </a:xfrm>
          <a:prstGeom prst="rect">
            <a:avLst/>
          </a:prstGeom>
          <a:solidFill>
            <a:srgbClr val="D6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548640" y="6455664"/>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548640" y="6547103"/>
            <a:ext cx="8321017" cy="201168"/>
          </a:xfrm>
          <a:prstGeom prst="rect">
            <a:avLst/>
          </a:prstGeom>
          <a:noFill/>
        </p:spPr>
        <p:txBody>
          <a:bodyPr wrap="square" lIns="0" rIns="0" tIns="0" bIns="0" anchor="t">
            <a:noAutofit/>
          </a:bodyPr>
          <a:lstStyle/>
          <a:p>
            <a:pPr algn="l" marL="0" indent="0">
              <a:lnSpc>
                <a:spcPts val="901"/>
              </a:lnSpc>
              <a:spcBef>
                <a:spcPts val="0"/>
              </a:spcBef>
              <a:spcAft>
                <a:spcPts val="0"/>
              </a:spcAft>
              <a:buNone/>
            </a:pPr>
            <a:r>
              <a:rPr sz="901" b="0" i="0">
                <a:solidFill>
                  <a:srgbClr val="8A959E"/>
                </a:solidFill>
                <a:latin typeface="Calibri"/>
              </a:rPr>
              <a:t>Reinforcement Learning  ·  Chapter 01 — Agent Architectures   ·   Part VI — Case study: flocking</a:t>
            </a:r>
          </a:p>
        </p:txBody>
      </p:sp>
      <p:sp>
        <p:nvSpPr>
          <p:cNvPr id="7" name="FOOTER-num"/>
          <p:cNvSpPr txBox="1"/>
          <p:nvPr/>
        </p:nvSpPr>
        <p:spPr>
          <a:xfrm>
            <a:off x="10546049" y="6547103"/>
            <a:ext cx="1097280" cy="201168"/>
          </a:xfrm>
          <a:prstGeom prst="rect">
            <a:avLst/>
          </a:prstGeom>
          <a:noFill/>
        </p:spPr>
        <p:txBody>
          <a:bodyPr wrap="square" lIns="0" rIns="0" tIns="0" bIns="0" anchor="t">
            <a:noAutofit/>
          </a:bodyPr>
          <a:lstStyle/>
          <a:p>
            <a:pPr algn="r" marL="0" indent="0">
              <a:lnSpc>
                <a:spcPts val="901"/>
              </a:lnSpc>
              <a:spcBef>
                <a:spcPts val="0"/>
              </a:spcBef>
              <a:spcAft>
                <a:spcPts val="0"/>
              </a:spcAft>
              <a:buNone/>
            </a:pPr>
            <a:r>
              <a:rPr sz="901" b="0" i="0">
                <a:solidFill>
                  <a:srgbClr val="8A959E"/>
                </a:solidFill>
                <a:latin typeface="Calibri"/>
              </a:rPr>
              <a:t>58</a:t>
            </a:r>
          </a:p>
        </p:txBody>
      </p:sp>
      <p:sp>
        <p:nvSpPr>
          <p:cNvPr id="8" name="TextBox 7"/>
          <p:cNvSpPr txBox="1"/>
          <p:nvPr/>
        </p:nvSpPr>
        <p:spPr>
          <a:xfrm>
            <a:off x="548640" y="1280160"/>
            <a:ext cx="11094689" cy="454913"/>
          </a:xfrm>
          <a:prstGeom prst="rect">
            <a:avLst/>
          </a:prstGeom>
          <a:noFill/>
        </p:spPr>
        <p:txBody>
          <a:bodyPr wrap="square" lIns="0" rIns="0" tIns="0" bIns="0" anchor="t">
            <a:noAutofit/>
          </a:bodyPr>
          <a:lstStyle/>
          <a:p>
            <a:pPr algn="l" marL="0" indent="0">
              <a:lnSpc>
                <a:spcPts val="1647"/>
              </a:lnSpc>
              <a:spcBef>
                <a:spcPts val="0"/>
              </a:spcBef>
              <a:spcAft>
                <a:spcPts val="0"/>
              </a:spcAft>
              <a:buNone/>
            </a:pPr>
            <a:r>
              <a:rPr sz="1350" b="0" i="0">
                <a:solidFill>
                  <a:srgbClr val="2B3542"/>
                </a:solidFill>
                <a:latin typeface="Calibri"/>
              </a:rPr>
              <a:t>Forty boids, identical programs, random initial positions and headings, each perceiving only what lies within radius 10. No boid represents the flock, and no boid knows where the others are going. Running the simulation of §6.5 with the parameters of §6.3 gives:</a:t>
            </a:r>
          </a:p>
        </p:txBody>
      </p:sp>
      <p:pic>
        <p:nvPicPr>
          <p:cNvPr id="9" name="Picture 8" descr="boids_emergence.png"/>
          <p:cNvPicPr>
            <a:picLocks noChangeAspect="1"/>
          </p:cNvPicPr>
          <p:nvPr/>
        </p:nvPicPr>
        <p:blipFill>
          <a:blip r:embed="rId2"/>
          <a:stretch>
            <a:fillRect/>
          </a:stretch>
        </p:blipFill>
        <p:spPr>
          <a:xfrm>
            <a:off x="1693318" y="1936242"/>
            <a:ext cx="8805333" cy="2377440"/>
          </a:xfrm>
          <a:prstGeom prst="rect">
            <a:avLst/>
          </a:prstGeom>
        </p:spPr>
      </p:pic>
      <p:sp>
        <p:nvSpPr>
          <p:cNvPr id="10" name="TextBox 9"/>
          <p:cNvSpPr txBox="1"/>
          <p:nvPr/>
        </p:nvSpPr>
        <p:spPr>
          <a:xfrm>
            <a:off x="548640" y="4514850"/>
            <a:ext cx="11094689" cy="195072"/>
          </a:xfrm>
          <a:prstGeom prst="rect">
            <a:avLst/>
          </a:prstGeom>
          <a:noFill/>
        </p:spPr>
        <p:txBody>
          <a:bodyPr wrap="square" lIns="0" rIns="0" tIns="0" bIns="0" anchor="t">
            <a:noAutofit/>
          </a:bodyPr>
          <a:lstStyle/>
          <a:p>
            <a:pPr algn="l" marL="0" indent="0">
              <a:lnSpc>
                <a:spcPts val="1320"/>
              </a:lnSpc>
              <a:spcBef>
                <a:spcPts val="0"/>
              </a:spcBef>
              <a:spcAft>
                <a:spcPts val="0"/>
              </a:spcAft>
              <a:buNone/>
            </a:pPr>
            <a:r>
              <a:rPr sz="1100" b="0" i="1">
                <a:solidFill>
                  <a:srgbClr val="5F6B76"/>
                </a:solidFill>
                <a:latin typeface="Calibri"/>
              </a:rPr>
              <a:t>Positions and headings at four time steps; faint lines are trajectories. Produced by running the code of §6.5 unmodified.</a:t>
            </a:r>
          </a:p>
        </p:txBody>
      </p:sp>
      <p:sp>
        <p:nvSpPr>
          <p:cNvPr id="11" name="Rectangle 10"/>
          <p:cNvSpPr/>
          <p:nvPr/>
        </p:nvSpPr>
        <p:spPr>
          <a:xfrm>
            <a:off x="548640" y="4825746"/>
            <a:ext cx="11094689" cy="8229"/>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5045202"/>
            <a:ext cx="3490965" cy="2743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5191506"/>
            <a:ext cx="3490965" cy="64541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What is programmed</a:t>
            </a:r>
          </a:p>
          <a:p>
            <a:pPr algn="l" marL="0" indent="0">
              <a:lnSpc>
                <a:spcPts val="1380"/>
              </a:lnSpc>
              <a:spcBef>
                <a:spcPts val="500"/>
              </a:spcBef>
              <a:spcAft>
                <a:spcPts val="0"/>
              </a:spcAft>
              <a:buNone/>
            </a:pPr>
            <a:r>
              <a:rPr sz="1150" b="0" i="0">
                <a:solidFill>
                  <a:srgbClr val="5F6B76"/>
                </a:solidFill>
                <a:latin typeface="Calibri"/>
              </a:rPr>
              <a:t>Three local heuristics over neighbours within a radius, a steering force toward a target, and two additions per step.</a:t>
            </a:r>
          </a:p>
        </p:txBody>
      </p:sp>
      <p:sp>
        <p:nvSpPr>
          <p:cNvPr id="14" name="Rectangle 13"/>
          <p:cNvSpPr/>
          <p:nvPr/>
        </p:nvSpPr>
        <p:spPr>
          <a:xfrm>
            <a:off x="4350501" y="5045202"/>
            <a:ext cx="3490965" cy="2743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50501" y="5191506"/>
            <a:ext cx="3490965" cy="82067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What is not programmed</a:t>
            </a:r>
          </a:p>
          <a:p>
            <a:pPr algn="l" marL="0" indent="0">
              <a:lnSpc>
                <a:spcPts val="1380"/>
              </a:lnSpc>
              <a:spcBef>
                <a:spcPts val="500"/>
              </a:spcBef>
              <a:spcAft>
                <a:spcPts val="0"/>
              </a:spcAft>
              <a:buNone/>
            </a:pPr>
            <a:r>
              <a:rPr sz="1150" b="0" i="0">
                <a:solidFill>
                  <a:srgbClr val="5F6B76"/>
                </a:solidFill>
                <a:latin typeface="Calibri"/>
              </a:rPr>
              <a:t>Flock formation, a common heading, constant spacing, splitting around an obstacle, merging. None of these appear anywhere in the code.</a:t>
            </a:r>
          </a:p>
        </p:txBody>
      </p:sp>
      <p:sp>
        <p:nvSpPr>
          <p:cNvPr id="16" name="Rectangle 15"/>
          <p:cNvSpPr/>
          <p:nvPr/>
        </p:nvSpPr>
        <p:spPr>
          <a:xfrm>
            <a:off x="8152363" y="5045202"/>
            <a:ext cx="3490965" cy="27432"/>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2363" y="5191506"/>
            <a:ext cx="3490965" cy="995934"/>
          </a:xfrm>
          <a:prstGeom prst="rect">
            <a:avLst/>
          </a:prstGeom>
          <a:noFill/>
        </p:spPr>
        <p:txBody>
          <a:bodyPr wrap="square" lIns="0" rIns="0" tIns="0" bIns="0" anchor="t">
            <a:noAutofit/>
          </a:bodyPr>
          <a:lstStyle/>
          <a:p>
            <a:pPr algn="l" marL="0" indent="0">
              <a:lnSpc>
                <a:spcPts val="1534"/>
              </a:lnSpc>
              <a:spcBef>
                <a:spcPts val="0"/>
              </a:spcBef>
              <a:spcAft>
                <a:spcPts val="0"/>
              </a:spcAft>
              <a:buNone/>
            </a:pPr>
            <a:r>
              <a:rPr sz="1300" b="1" i="0">
                <a:solidFill>
                  <a:srgbClr val="16202A"/>
                </a:solidFill>
                <a:latin typeface="Calibri"/>
              </a:rPr>
              <a:t>Why this matters here</a:t>
            </a:r>
          </a:p>
          <a:p>
            <a:pPr algn="l" marL="0" indent="0">
              <a:lnSpc>
                <a:spcPts val="1380"/>
              </a:lnSpc>
              <a:spcBef>
                <a:spcPts val="500"/>
              </a:spcBef>
              <a:spcAft>
                <a:spcPts val="0"/>
              </a:spcAft>
              <a:buNone/>
            </a:pPr>
            <a:r>
              <a:rPr sz="1150" b="0" i="0">
                <a:solidFill>
                  <a:srgbClr val="5F6B76"/>
                </a:solidFill>
                <a:latin typeface="Calibri"/>
              </a:rPr>
              <a:t>Global behaviour was not designed; it emerged from local interaction. The model has since been used widely in computer graphics, animation and robotics to simulate realistic group motion.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868680"/>
            <a:ext cx="7315200" cy="365760"/>
          </a:xfrm>
          <a:prstGeom prst="rect">
            <a:avLst/>
          </a:prstGeom>
          <a:noFill/>
        </p:spPr>
        <p:txBody>
          <a:bodyPr wrap="square" lIns="0" rIns="0" tIns="0" bIns="0" anchor="t">
            <a:noAutofit/>
          </a:bodyPr>
          <a:lstStyle/>
          <a:p>
            <a:pPr algn="l" marL="0" indent="0">
              <a:lnSpc>
                <a:spcPts val="1150"/>
              </a:lnSpc>
              <a:spcBef>
                <a:spcPts val="0"/>
              </a:spcBef>
              <a:spcAft>
                <a:spcPts val="0"/>
              </a:spcAft>
              <a:buNone/>
            </a:pPr>
            <a:r>
              <a:rPr sz="1150" b="1" i="0" spc="170">
                <a:solidFill>
                  <a:srgbClr val="1971C2"/>
                </a:solidFill>
                <a:latin typeface="Calibri"/>
              </a:rPr>
              <a:t>CHAPTER 01 — SUMMARY</a:t>
            </a:r>
          </a:p>
        </p:txBody>
      </p:sp>
      <p:sp>
        <p:nvSpPr>
          <p:cNvPr id="5" name="TextBox 4"/>
          <p:cNvSpPr txBox="1"/>
          <p:nvPr/>
        </p:nvSpPr>
        <p:spPr>
          <a:xfrm>
            <a:off x="960120" y="1225296"/>
            <a:ext cx="6766560" cy="640080"/>
          </a:xfrm>
          <a:prstGeom prst="rect">
            <a:avLst/>
          </a:prstGeom>
          <a:noFill/>
        </p:spPr>
        <p:txBody>
          <a:bodyPr wrap="square" lIns="0" rIns="0" tIns="0" bIns="0" anchor="t">
            <a:noAutofit/>
          </a:bodyPr>
          <a:lstStyle/>
          <a:p>
            <a:pPr algn="l" marL="0" indent="0">
              <a:lnSpc>
                <a:spcPts val="3060"/>
              </a:lnSpc>
              <a:spcBef>
                <a:spcPts val="0"/>
              </a:spcBef>
              <a:spcAft>
                <a:spcPts val="0"/>
              </a:spcAft>
              <a:buNone/>
            </a:pPr>
            <a:r>
              <a:rPr sz="3000" b="1" i="0">
                <a:solidFill>
                  <a:srgbClr val="FFFFFF"/>
                </a:solidFill>
                <a:latin typeface="Calibri"/>
              </a:rPr>
              <a:t>What to carry into Chapter 02</a:t>
            </a:r>
          </a:p>
        </p:txBody>
      </p:sp>
      <p:sp>
        <p:nvSpPr>
          <p:cNvPr id="6" name="TextBox 5"/>
          <p:cNvSpPr txBox="1"/>
          <p:nvPr/>
        </p:nvSpPr>
        <p:spPr>
          <a:xfrm>
            <a:off x="960120" y="2212848"/>
            <a:ext cx="6400800" cy="3657600"/>
          </a:xfrm>
          <a:prstGeom prst="rect">
            <a:avLst/>
          </a:prstGeom>
          <a:noFill/>
        </p:spPr>
        <p:txBody>
          <a:bodyPr wrap="square" lIns="0" rIns="0" tIns="0" bIns="0" anchor="t">
            <a:noAutofit/>
          </a:bodyPr>
          <a:lstStyle/>
          <a:p>
            <a:pPr algn="l" marL="0" indent="0">
              <a:lnSpc>
                <a:spcPts val="1512"/>
              </a:lnSpc>
              <a:spcBef>
                <a:spcPts val="0"/>
              </a:spcBef>
              <a:spcAft>
                <a:spcPts val="0"/>
              </a:spcAft>
              <a:buNone/>
            </a:pPr>
            <a:r>
              <a:rPr sz="1350" b="1" i="0">
                <a:solidFill>
                  <a:srgbClr val="1971C2"/>
                </a:solidFill>
                <a:latin typeface="Calibri"/>
              </a:rPr>
              <a:t>01   </a:t>
            </a:r>
            <a:r>
              <a:rPr sz="1350" b="1" i="0">
                <a:solidFill>
                  <a:srgbClr val="FFFFFF"/>
                </a:solidFill>
                <a:latin typeface="Calibri"/>
              </a:rPr>
              <a:t>The agent is the unit of analysis.</a:t>
            </a:r>
          </a:p>
          <a:p>
            <a:pPr algn="l" marL="384048" indent="0">
              <a:lnSpc>
                <a:spcPts val="1416"/>
              </a:lnSpc>
              <a:spcBef>
                <a:spcPts val="300"/>
              </a:spcBef>
              <a:spcAft>
                <a:spcPts val="0"/>
              </a:spcAft>
              <a:buNone/>
            </a:pPr>
            <a:r>
              <a:rPr sz="1200" b="0" i="0">
                <a:solidFill>
                  <a:srgbClr val="9FB6CC"/>
                </a:solidFill>
                <a:latin typeface="Calibri"/>
              </a:rPr>
              <a:t>Percepts in, actions out; everything else — memory, models, goals, utility, learning — is internal machinery added to make that mapping computable.</a:t>
            </a:r>
          </a:p>
          <a:p>
            <a:pPr algn="l" marL="0" indent="0">
              <a:lnSpc>
                <a:spcPts val="1512"/>
              </a:lnSpc>
              <a:spcBef>
                <a:spcPts val="1400"/>
              </a:spcBef>
              <a:spcAft>
                <a:spcPts val="0"/>
              </a:spcAft>
              <a:buNone/>
            </a:pPr>
            <a:r>
              <a:rPr sz="1350" b="1" i="0">
                <a:solidFill>
                  <a:srgbClr val="1971C2"/>
                </a:solidFill>
                <a:latin typeface="Calibri"/>
              </a:rPr>
              <a:t>02   </a:t>
            </a:r>
            <a:r>
              <a:rPr sz="1350" b="1" i="0">
                <a:solidFill>
                  <a:srgbClr val="FFFFFF"/>
                </a:solidFill>
                <a:latin typeface="Calibri"/>
              </a:rPr>
              <a:t>Explicit representations of behaviour do not scale.</a:t>
            </a:r>
          </a:p>
          <a:p>
            <a:pPr algn="l" marL="384048" indent="0">
              <a:lnSpc>
                <a:spcPts val="1416"/>
              </a:lnSpc>
              <a:spcBef>
                <a:spcPts val="300"/>
              </a:spcBef>
              <a:spcAft>
                <a:spcPts val="0"/>
              </a:spcAft>
              <a:buNone/>
            </a:pPr>
            <a:r>
              <a:rPr sz="1200" b="0" i="0">
                <a:solidFill>
                  <a:srgbClr val="9FB6CC"/>
                </a:solidFill>
                <a:latin typeface="Calibri"/>
              </a:rPr>
              <a:t>The lookup table is correct and useless: E ≈ P^T. Every architecture in this chapter is a way of compressing that table.</a:t>
            </a:r>
          </a:p>
          <a:p>
            <a:pPr algn="l" marL="0" indent="0">
              <a:lnSpc>
                <a:spcPts val="1512"/>
              </a:lnSpc>
              <a:spcBef>
                <a:spcPts val="1400"/>
              </a:spcBef>
              <a:spcAft>
                <a:spcPts val="0"/>
              </a:spcAft>
              <a:buNone/>
            </a:pPr>
            <a:r>
              <a:rPr sz="1350" b="1" i="0">
                <a:solidFill>
                  <a:srgbClr val="1971C2"/>
                </a:solidFill>
                <a:latin typeface="Calibri"/>
              </a:rPr>
              <a:t>03   </a:t>
            </a:r>
            <a:r>
              <a:rPr sz="1350" b="1" i="0">
                <a:solidFill>
                  <a:srgbClr val="FFFFFF"/>
                </a:solidFill>
                <a:latin typeface="Calibri"/>
              </a:rPr>
              <a:t>The environment dictates the architecture.</a:t>
            </a:r>
          </a:p>
          <a:p>
            <a:pPr algn="l" marL="384048" indent="0">
              <a:lnSpc>
                <a:spcPts val="1416"/>
              </a:lnSpc>
              <a:spcBef>
                <a:spcPts val="300"/>
              </a:spcBef>
              <a:spcAft>
                <a:spcPts val="0"/>
              </a:spcAft>
              <a:buNone/>
            </a:pPr>
            <a:r>
              <a:rPr sz="1200" b="0" i="0">
                <a:solidFill>
                  <a:srgbClr val="9FB6CC"/>
                </a:solidFill>
                <a:latin typeface="Calibri"/>
              </a:rPr>
              <a:t>Partial observability forces internal state; sequentiality forces looking ahead; unknown dynamics force learning.</a:t>
            </a:r>
          </a:p>
          <a:p>
            <a:pPr algn="l" marL="0" indent="0">
              <a:lnSpc>
                <a:spcPts val="1512"/>
              </a:lnSpc>
              <a:spcBef>
                <a:spcPts val="1400"/>
              </a:spcBef>
              <a:spcAft>
                <a:spcPts val="0"/>
              </a:spcAft>
              <a:buNone/>
            </a:pPr>
            <a:r>
              <a:rPr sz="1350" b="1" i="0">
                <a:solidFill>
                  <a:srgbClr val="1971C2"/>
                </a:solidFill>
                <a:latin typeface="Calibri"/>
              </a:rPr>
              <a:t>04   </a:t>
            </a:r>
            <a:r>
              <a:rPr sz="1350" b="1" i="0">
                <a:solidFill>
                  <a:srgbClr val="FFFFFF"/>
                </a:solidFill>
                <a:latin typeface="Calibri"/>
              </a:rPr>
              <a:t>Rationality is defined relative to a performance measure.</a:t>
            </a:r>
          </a:p>
          <a:p>
            <a:pPr algn="l" marL="384048" indent="0">
              <a:lnSpc>
                <a:spcPts val="1416"/>
              </a:lnSpc>
              <a:spcBef>
                <a:spcPts val="300"/>
              </a:spcBef>
              <a:spcAft>
                <a:spcPts val="0"/>
              </a:spcAft>
              <a:buNone/>
            </a:pPr>
            <a:r>
              <a:rPr sz="1200" b="0" i="0">
                <a:solidFill>
                  <a:srgbClr val="9FB6CC"/>
                </a:solidFill>
                <a:latin typeface="Calibri"/>
              </a:rPr>
              <a:t>Specify the outcome you want, not the behaviour you imagine. The agent will optimise exactly what you wrote down.</a:t>
            </a:r>
          </a:p>
          <a:p>
            <a:pPr algn="l" marL="0" indent="0">
              <a:lnSpc>
                <a:spcPts val="1512"/>
              </a:lnSpc>
              <a:spcBef>
                <a:spcPts val="1400"/>
              </a:spcBef>
              <a:spcAft>
                <a:spcPts val="0"/>
              </a:spcAft>
              <a:buNone/>
            </a:pPr>
            <a:r>
              <a:rPr sz="1350" b="1" i="0">
                <a:solidFill>
                  <a:srgbClr val="1971C2"/>
                </a:solidFill>
                <a:latin typeface="Calibri"/>
              </a:rPr>
              <a:t>05   </a:t>
            </a:r>
            <a:r>
              <a:rPr sz="1350" b="1" i="0">
                <a:solidFill>
                  <a:srgbClr val="FFFFFF"/>
                </a:solidFill>
                <a:latin typeface="Calibri"/>
              </a:rPr>
              <a:t>Chapter 02 makes this formal.</a:t>
            </a:r>
          </a:p>
          <a:p>
            <a:pPr algn="l" marL="384048" indent="0">
              <a:lnSpc>
                <a:spcPts val="1416"/>
              </a:lnSpc>
              <a:spcBef>
                <a:spcPts val="300"/>
              </a:spcBef>
              <a:spcAft>
                <a:spcPts val="0"/>
              </a:spcAft>
              <a:buNone/>
            </a:pPr>
            <a:r>
              <a:rPr sz="1200" b="0" i="0">
                <a:solidFill>
                  <a:srgbClr val="9FB6CC"/>
                </a:solidFill>
                <a:latin typeface="Calibri"/>
              </a:rPr>
              <a:t>The sequential, stochastic, partially known environment becomes a Markov Decision Process, and the performance measure becomes a reward signal to be maximised over time.</a:t>
            </a:r>
          </a:p>
        </p:txBody>
      </p:sp>
      <p:sp>
        <p:nvSpPr>
          <p:cNvPr id="7" name="Rectangle 6"/>
          <p:cNvSpPr/>
          <p:nvPr/>
        </p:nvSpPr>
        <p:spPr>
          <a:xfrm>
            <a:off x="7772400" y="1225296"/>
            <a:ext cx="10972" cy="4480560"/>
          </a:xfrm>
          <a:prstGeom prst="rect">
            <a:avLst/>
          </a:prstGeom>
          <a:solidFill>
            <a:srgbClr val="2C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75320" y="1225296"/>
            <a:ext cx="3383280" cy="274320"/>
          </a:xfrm>
          <a:prstGeom prst="rect">
            <a:avLst/>
          </a:prstGeom>
          <a:noFill/>
        </p:spPr>
        <p:txBody>
          <a:bodyPr wrap="square" lIns="0" rIns="0" tIns="0" bIns="0" anchor="t">
            <a:noAutofit/>
          </a:bodyPr>
          <a:lstStyle/>
          <a:p>
            <a:pPr algn="l" marL="0" indent="0">
              <a:lnSpc>
                <a:spcPts val="1007"/>
              </a:lnSpc>
              <a:spcBef>
                <a:spcPts val="0"/>
              </a:spcBef>
              <a:spcAft>
                <a:spcPts val="0"/>
              </a:spcAft>
              <a:buNone/>
            </a:pPr>
            <a:r>
              <a:rPr sz="1007" b="1" i="0" spc="150">
                <a:solidFill>
                  <a:srgbClr val="1971C2"/>
                </a:solidFill>
                <a:latin typeface="Calibri"/>
              </a:rPr>
              <a:t>PRIMARY SOURCES</a:t>
            </a:r>
          </a:p>
        </p:txBody>
      </p:sp>
      <p:sp>
        <p:nvSpPr>
          <p:cNvPr id="9" name="TextBox 8"/>
          <p:cNvSpPr txBox="1"/>
          <p:nvPr/>
        </p:nvSpPr>
        <p:spPr>
          <a:xfrm>
            <a:off x="8275320" y="1609344"/>
            <a:ext cx="3383280" cy="4023360"/>
          </a:xfrm>
          <a:prstGeom prst="rect">
            <a:avLst/>
          </a:prstGeom>
          <a:noFill/>
        </p:spPr>
        <p:txBody>
          <a:bodyPr wrap="square" lIns="0" rIns="0" tIns="0" bIns="0" anchor="t">
            <a:noAutofit/>
          </a:bodyPr>
          <a:lstStyle/>
          <a:p>
            <a:pPr algn="l" marL="0" indent="0">
              <a:lnSpc>
                <a:spcPts val="1296"/>
              </a:lnSpc>
              <a:spcBef>
                <a:spcPts val="0"/>
              </a:spcBef>
              <a:spcAft>
                <a:spcPts val="0"/>
              </a:spcAft>
              <a:buNone/>
            </a:pPr>
            <a:r>
              <a:rPr sz="1200" b="1" i="0">
                <a:solidFill>
                  <a:srgbClr val="D2DFEA"/>
                </a:solidFill>
                <a:latin typeface="Calibri"/>
              </a:rPr>
              <a:t>Turing (1950)</a:t>
            </a:r>
          </a:p>
          <a:p>
            <a:pPr algn="l" marL="0" indent="0">
              <a:lnSpc>
                <a:spcPts val="1254"/>
              </a:lnSpc>
              <a:spcBef>
                <a:spcPts val="100"/>
              </a:spcBef>
              <a:spcAft>
                <a:spcPts val="0"/>
              </a:spcAft>
              <a:buNone/>
            </a:pPr>
            <a:r>
              <a:rPr sz="1100" b="0" i="1">
                <a:solidFill>
                  <a:srgbClr val="8BA4BB"/>
                </a:solidFill>
                <a:latin typeface="Calibri"/>
              </a:rPr>
              <a:t>Computing Machinery and Intelligence</a:t>
            </a:r>
          </a:p>
          <a:p>
            <a:pPr algn="l" marL="0" indent="0">
              <a:lnSpc>
                <a:spcPts val="1296"/>
              </a:lnSpc>
              <a:spcBef>
                <a:spcPts val="1200"/>
              </a:spcBef>
              <a:spcAft>
                <a:spcPts val="0"/>
              </a:spcAft>
              <a:buNone/>
            </a:pPr>
            <a:r>
              <a:rPr sz="1200" b="1" i="0">
                <a:solidFill>
                  <a:srgbClr val="D2DFEA"/>
                </a:solidFill>
                <a:latin typeface="Calibri"/>
              </a:rPr>
              <a:t>Shannon (1950)</a:t>
            </a:r>
          </a:p>
          <a:p>
            <a:pPr algn="l" marL="0" indent="0">
              <a:lnSpc>
                <a:spcPts val="1254"/>
              </a:lnSpc>
              <a:spcBef>
                <a:spcPts val="100"/>
              </a:spcBef>
              <a:spcAft>
                <a:spcPts val="0"/>
              </a:spcAft>
              <a:buNone/>
            </a:pPr>
            <a:r>
              <a:rPr sz="1100" b="0" i="1">
                <a:solidFill>
                  <a:srgbClr val="8BA4BB"/>
                </a:solidFill>
                <a:latin typeface="Calibri"/>
              </a:rPr>
              <a:t>Programming a Computer for Playing Chess</a:t>
            </a:r>
          </a:p>
          <a:p>
            <a:pPr algn="l" marL="0" indent="0">
              <a:lnSpc>
                <a:spcPts val="1296"/>
              </a:lnSpc>
              <a:spcBef>
                <a:spcPts val="1200"/>
              </a:spcBef>
              <a:spcAft>
                <a:spcPts val="0"/>
              </a:spcAft>
              <a:buNone/>
            </a:pPr>
            <a:r>
              <a:rPr sz="1200" b="1" i="0">
                <a:solidFill>
                  <a:srgbClr val="D2DFEA"/>
                </a:solidFill>
                <a:latin typeface="Calibri"/>
              </a:rPr>
              <a:t>Samuel (1959)</a:t>
            </a:r>
          </a:p>
          <a:p>
            <a:pPr algn="l" marL="0" indent="0">
              <a:lnSpc>
                <a:spcPts val="1254"/>
              </a:lnSpc>
              <a:spcBef>
                <a:spcPts val="100"/>
              </a:spcBef>
              <a:spcAft>
                <a:spcPts val="0"/>
              </a:spcAft>
              <a:buNone/>
            </a:pPr>
            <a:r>
              <a:rPr sz="1100" b="0" i="1">
                <a:solidFill>
                  <a:srgbClr val="8BA4BB"/>
                </a:solidFill>
                <a:latin typeface="Calibri"/>
              </a:rPr>
              <a:t>Some Studies in Machine Learning Using the Game of Checkers</a:t>
            </a:r>
          </a:p>
          <a:p>
            <a:pPr algn="l" marL="0" indent="0">
              <a:lnSpc>
                <a:spcPts val="1296"/>
              </a:lnSpc>
              <a:spcBef>
                <a:spcPts val="1200"/>
              </a:spcBef>
              <a:spcAft>
                <a:spcPts val="0"/>
              </a:spcAft>
              <a:buNone/>
            </a:pPr>
            <a:r>
              <a:rPr sz="1200" b="1" i="0">
                <a:solidFill>
                  <a:srgbClr val="D2DFEA"/>
                </a:solidFill>
                <a:latin typeface="Calibri"/>
              </a:rPr>
              <a:t>Reynolds (1987)</a:t>
            </a:r>
          </a:p>
          <a:p>
            <a:pPr algn="l" marL="0" indent="0">
              <a:lnSpc>
                <a:spcPts val="1254"/>
              </a:lnSpc>
              <a:spcBef>
                <a:spcPts val="100"/>
              </a:spcBef>
              <a:spcAft>
                <a:spcPts val="0"/>
              </a:spcAft>
              <a:buNone/>
            </a:pPr>
            <a:r>
              <a:rPr sz="1100" b="0" i="1">
                <a:solidFill>
                  <a:srgbClr val="8BA4BB"/>
                </a:solidFill>
                <a:latin typeface="Calibri"/>
              </a:rPr>
              <a:t>Flocks, Herds, and Schools: A Distributed Behavioral Model</a:t>
            </a:r>
          </a:p>
          <a:p>
            <a:pPr algn="l" marL="0" indent="0">
              <a:lnSpc>
                <a:spcPts val="1296"/>
              </a:lnSpc>
              <a:spcBef>
                <a:spcPts val="1200"/>
              </a:spcBef>
              <a:spcAft>
                <a:spcPts val="0"/>
              </a:spcAft>
              <a:buNone/>
            </a:pPr>
            <a:r>
              <a:rPr sz="1200" b="1" i="0">
                <a:solidFill>
                  <a:srgbClr val="D2DFEA"/>
                </a:solidFill>
                <a:latin typeface="Calibri"/>
              </a:rPr>
              <a:t>Brooks (1991)</a:t>
            </a:r>
          </a:p>
          <a:p>
            <a:pPr algn="l" marL="0" indent="0">
              <a:lnSpc>
                <a:spcPts val="1254"/>
              </a:lnSpc>
              <a:spcBef>
                <a:spcPts val="100"/>
              </a:spcBef>
              <a:spcAft>
                <a:spcPts val="0"/>
              </a:spcAft>
              <a:buNone/>
            </a:pPr>
            <a:r>
              <a:rPr sz="1100" b="0" i="1">
                <a:solidFill>
                  <a:srgbClr val="8BA4BB"/>
                </a:solidFill>
                <a:latin typeface="Calibri"/>
              </a:rPr>
              <a:t>Intelligence without Representation</a:t>
            </a:r>
          </a:p>
          <a:p>
            <a:pPr algn="l" marL="0" indent="0">
              <a:lnSpc>
                <a:spcPts val="1296"/>
              </a:lnSpc>
              <a:spcBef>
                <a:spcPts val="1200"/>
              </a:spcBef>
              <a:spcAft>
                <a:spcPts val="0"/>
              </a:spcAft>
              <a:buNone/>
            </a:pPr>
            <a:r>
              <a:rPr sz="1200" b="1" i="0">
                <a:solidFill>
                  <a:srgbClr val="D2DFEA"/>
                </a:solidFill>
                <a:latin typeface="Calibri"/>
              </a:rPr>
              <a:t>Russell (1997)</a:t>
            </a:r>
          </a:p>
          <a:p>
            <a:pPr algn="l" marL="0" indent="0">
              <a:lnSpc>
                <a:spcPts val="1254"/>
              </a:lnSpc>
              <a:spcBef>
                <a:spcPts val="100"/>
              </a:spcBef>
              <a:spcAft>
                <a:spcPts val="0"/>
              </a:spcAft>
              <a:buNone/>
            </a:pPr>
            <a:r>
              <a:rPr sz="1100" b="0" i="1">
                <a:solidFill>
                  <a:srgbClr val="8BA4BB"/>
                </a:solidFill>
                <a:latin typeface="Calibri"/>
              </a:rPr>
              <a:t>Rationality and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Architectures — Chapter 01</dc:title>
  <dc:subject>Reinforcement Learning, Chapter 01: Agent Architectures</dc:subject>
  <dc:creator>Riccardo Berta</dc:creator>
  <cp:keywords/>
  <dc:description>Companion lecture slides generated from the Chapter 01 lecture notes (notes.ipynb). Figures reused from the notes; mathematics typeset in LaTeX and embedded as vector graphics with raster fallbacks.</dc:description>
  <cp:lastModifiedBy>Steve Canny</cp:lastModifiedBy>
  <cp:revision>1</cp:revision>
  <dcterms:created xsi:type="dcterms:W3CDTF">2013-01-27T09:14:16Z</dcterms:created>
  <dcterms:modified xsi:type="dcterms:W3CDTF">2013-01-27T09:15:58Z</dcterms:modified>
  <cp:category>University lecture slides</cp:category>
</cp:coreProperties>
</file>