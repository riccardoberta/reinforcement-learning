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7"/>
  </p:notesMasterIdLst>
  <p:handoutMasterIdLst>
    <p:handoutMasterId r:id="rId4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01" r:id="rId67"/>
    <p:sldId id="293" r:id="rId39"/>
    <p:sldId id="294" r:id="rId40"/>
    <p:sldId id="302" r:id="rId68"/>
    <p:sldId id="295" r:id="rId41"/>
    <p:sldId id="296" r:id="rId42"/>
    <p:sldId id="297" r:id="rId43"/>
    <p:sldId id="303" r:id="rId69"/>
    <p:sldId id="298" r:id="rId44"/>
    <p:sldId id="304" r:id="rId70"/>
    <p:sldId id="299" r:id="rId45"/>
    <p:sldId id="300" r:id="rId46"/>
  </p:sldIdLst>
  <p:sldSz cx="12192000" cy="6858000"/>
  <p:notesSz cx="6858000" cy="9144000"/>
  <p:embeddedFontLst>
    <p:embeddedFont>
      <p:font typeface="Consolas" panose="020B0609020204030204" pitchFamily="49" charset="0"/>
      <p:regular r:id="rId49"/>
      <p:bold r:id="rId50"/>
      <p:italic r:id="rId51"/>
      <p:boldItalic r:id="rId52"/>
    </p:embeddedFont>
    <p:embeddedFont>
      <p:font typeface="Fira Sans" panose="020B0503050000020004" pitchFamily="34" charset="0"/>
      <p:regular r:id="rId53"/>
      <p:bold r:id="rId54"/>
      <p:italic r:id="rId55"/>
      <p:boldItalic r:id="rId56"/>
    </p:embeddedFont>
    <p:embeddedFont>
      <p:font typeface="Fira Sans Medium" panose="020B0603050000020004" pitchFamily="34" charset="0"/>
      <p:regular r:id="rId57"/>
      <p:italic r:id="rId58"/>
    </p:embeddedFont>
    <p:embeddedFont>
      <p:font typeface="Roboto Slab" pitchFamily="2" charset="0"/>
      <p:regular r:id="rId59"/>
      <p:bold r:id="rId60"/>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294F1A-CBF5-CE4D-9B27-DC0A719B42DB}" v="22" dt="2026-10-07T10:16:15.818"/>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54" autoAdjust="0"/>
    <p:restoredTop sz="86441"/>
  </p:normalViewPr>
  <p:slideViewPr>
    <p:cSldViewPr snapToGrid="0" snapToObjects="1" showGuides="1">
      <p:cViewPr varScale="1">
        <p:scale>
          <a:sx n="127" d="100"/>
          <a:sy n="127" d="100"/>
        </p:scale>
        <p:origin x="944"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56" Type="http://schemas.openxmlformats.org/officeDocument/2006/relationships/font" Target="fonts/font8.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  <Relationship Id="rId67" Type="http://schemas.openxmlformats.org/officeDocument/2006/relationships/slide" Target="slides/slide46.xml"/>
  <Relationship Id="rId68" Type="http://schemas.openxmlformats.org/officeDocument/2006/relationships/slide" Target="slides/slide47.xml"/>
  <Relationship Id="rId69" Type="http://schemas.openxmlformats.org/officeDocument/2006/relationships/slide" Target="slides/slide48.xml"/>
  <Relationship Id="rId70" Type="http://schemas.openxmlformats.org/officeDocument/2006/relationships/slide" Target="slides/slide49.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redo custSel modSld">
      <pc:chgData name="Riccardo Berta" userId="c8694f89-bba4-4576-b0a8-456619ca5a8c" providerId="ADAL" clId="{FDDBFC5A-5EA9-5330-BEB8-433D7E3B4C4E}" dt="2026-10-07T10:49:41.743" v="773" actId="313"/>
      <pc:docMkLst>
        <pc:docMk/>
      </pc:docMkLst>
      <pc:sldChg chg="modSp mod">
        <pc:chgData name="Riccardo Berta" userId="c8694f89-bba4-4576-b0a8-456619ca5a8c" providerId="ADAL" clId="{FDDBFC5A-5EA9-5330-BEB8-433D7E3B4C4E}" dt="2026-10-07T06:10:43.048" v="659" actId="313"/>
        <pc:sldMkLst>
          <pc:docMk/>
          <pc:sldMk cId="0" sldId="256"/>
        </pc:sldMkLst>
        <pc:spChg chg="mod">
          <ac:chgData name="Riccardo Berta" userId="c8694f89-bba4-4576-b0a8-456619ca5a8c" providerId="ADAL" clId="{FDDBFC5A-5EA9-5330-BEB8-433D7E3B4C4E}" dt="2026-10-07T06:10:43.048" v="659" actId="313"/>
          <ac:spMkLst>
            <pc:docMk/>
            <pc:sldMk cId="0" sldId="256"/>
            <ac:spMk id="7" creationId="{00000000-0000-0000-0000-000000000000}"/>
          </ac:spMkLst>
        </pc:spChg>
      </pc:sldChg>
      <pc:sldChg chg="modSp mod">
        <pc:chgData name="Riccardo Berta" userId="c8694f89-bba4-4576-b0a8-456619ca5a8c" providerId="ADAL" clId="{FDDBFC5A-5EA9-5330-BEB8-433D7E3B4C4E}" dt="2026-10-07T04:49:59.353" v="10" actId="1076"/>
        <pc:sldMkLst>
          <pc:docMk/>
          <pc:sldMk cId="0" sldId="257"/>
        </pc:sldMkLst>
        <pc:spChg chg="mod">
          <ac:chgData name="Riccardo Berta" userId="c8694f89-bba4-4576-b0a8-456619ca5a8c" providerId="ADAL" clId="{FDDBFC5A-5EA9-5330-BEB8-433D7E3B4C4E}" dt="2026-10-07T04:49:59.353" v="10" actId="1076"/>
          <ac:spMkLst>
            <pc:docMk/>
            <pc:sldMk cId="0" sldId="257"/>
            <ac:spMk id="2" creationId="{00000000-0000-0000-0000-000000000000}"/>
          </ac:spMkLst>
        </pc:spChg>
        <pc:spChg chg="mod">
          <ac:chgData name="Riccardo Berta" userId="c8694f89-bba4-4576-b0a8-456619ca5a8c" providerId="ADAL" clId="{FDDBFC5A-5EA9-5330-BEB8-433D7E3B4C4E}" dt="2026-10-07T04:49:53.073" v="9" actId="313"/>
          <ac:spMkLst>
            <pc:docMk/>
            <pc:sldMk cId="0" sldId="257"/>
            <ac:spMk id="6" creationId="{00000000-0000-0000-0000-000000000000}"/>
          </ac:spMkLst>
        </pc:spChg>
      </pc:sldChg>
      <pc:sldChg chg="modSp mod">
        <pc:chgData name="Riccardo Berta" userId="c8694f89-bba4-4576-b0a8-456619ca5a8c" providerId="ADAL" clId="{FDDBFC5A-5EA9-5330-BEB8-433D7E3B4C4E}" dt="2026-10-07T04:51:53.463" v="46" actId="1036"/>
        <pc:sldMkLst>
          <pc:docMk/>
          <pc:sldMk cId="0" sldId="258"/>
        </pc:sldMkLst>
        <pc:spChg chg="mod">
          <ac:chgData name="Riccardo Berta" userId="c8694f89-bba4-4576-b0a8-456619ca5a8c" providerId="ADAL" clId="{FDDBFC5A-5EA9-5330-BEB8-433D7E3B4C4E}" dt="2026-10-07T04:51:18.896" v="33" actId="20577"/>
          <ac:spMkLst>
            <pc:docMk/>
            <pc:sldMk cId="0" sldId="258"/>
            <ac:spMk id="12" creationId="{00000000-0000-0000-0000-000000000000}"/>
          </ac:spMkLst>
        </pc:spChg>
        <pc:spChg chg="mod">
          <ac:chgData name="Riccardo Berta" userId="c8694f89-bba4-4576-b0a8-456619ca5a8c" providerId="ADAL" clId="{FDDBFC5A-5EA9-5330-BEB8-433D7E3B4C4E}" dt="2026-10-07T04:51:27.018" v="37" actId="20577"/>
          <ac:spMkLst>
            <pc:docMk/>
            <pc:sldMk cId="0" sldId="258"/>
            <ac:spMk id="16" creationId="{00000000-0000-0000-0000-000000000000}"/>
          </ac:spMkLst>
        </pc:spChg>
        <pc:spChg chg="mod">
          <ac:chgData name="Riccardo Berta" userId="c8694f89-bba4-4576-b0a8-456619ca5a8c" providerId="ADAL" clId="{FDDBFC5A-5EA9-5330-BEB8-433D7E3B4C4E}" dt="2026-10-07T04:50:21.837" v="11" actId="1076"/>
          <ac:spMkLst>
            <pc:docMk/>
            <pc:sldMk cId="0" sldId="258"/>
            <ac:spMk id="20" creationId="{00000000-0000-0000-0000-000000000000}"/>
          </ac:spMkLst>
        </pc:spChg>
        <pc:spChg chg="mod">
          <ac:chgData name="Riccardo Berta" userId="c8694f89-bba4-4576-b0a8-456619ca5a8c" providerId="ADAL" clId="{FDDBFC5A-5EA9-5330-BEB8-433D7E3B4C4E}" dt="2026-10-07T04:51:53.463" v="46" actId="1036"/>
          <ac:spMkLst>
            <pc:docMk/>
            <pc:sldMk cId="0" sldId="258"/>
            <ac:spMk id="21" creationId="{00000000-0000-0000-0000-000000000000}"/>
          </ac:spMkLst>
        </pc:spChg>
        <pc:spChg chg="mod">
          <ac:chgData name="Riccardo Berta" userId="c8694f89-bba4-4576-b0a8-456619ca5a8c" providerId="ADAL" clId="{FDDBFC5A-5EA9-5330-BEB8-433D7E3B4C4E}" dt="2026-10-07T04:51:53.463" v="46" actId="1036"/>
          <ac:spMkLst>
            <pc:docMk/>
            <pc:sldMk cId="0" sldId="258"/>
            <ac:spMk id="22" creationId="{00000000-0000-0000-0000-000000000000}"/>
          </ac:spMkLst>
        </pc:spChg>
        <pc:spChg chg="mod">
          <ac:chgData name="Riccardo Berta" userId="c8694f89-bba4-4576-b0a8-456619ca5a8c" providerId="ADAL" clId="{FDDBFC5A-5EA9-5330-BEB8-433D7E3B4C4E}" dt="2026-10-07T04:51:53.463" v="46" actId="1036"/>
          <ac:spMkLst>
            <pc:docMk/>
            <pc:sldMk cId="0" sldId="258"/>
            <ac:spMk id="23" creationId="{00000000-0000-0000-0000-000000000000}"/>
          </ac:spMkLst>
        </pc:spChg>
        <pc:picChg chg="mod">
          <ac:chgData name="Riccardo Berta" userId="c8694f89-bba4-4576-b0a8-456619ca5a8c" providerId="ADAL" clId="{FDDBFC5A-5EA9-5330-BEB8-433D7E3B4C4E}" dt="2026-10-07T04:50:30.512" v="15" actId="1076"/>
          <ac:picMkLst>
            <pc:docMk/>
            <pc:sldMk cId="0" sldId="258"/>
            <ac:picMk id="11" creationId="{00000000-0000-0000-0000-000000000000}"/>
          </ac:picMkLst>
        </pc:picChg>
        <pc:picChg chg="mod">
          <ac:chgData name="Riccardo Berta" userId="c8694f89-bba4-4576-b0a8-456619ca5a8c" providerId="ADAL" clId="{FDDBFC5A-5EA9-5330-BEB8-433D7E3B4C4E}" dt="2026-10-07T04:50:36.488" v="18" actId="1076"/>
          <ac:picMkLst>
            <pc:docMk/>
            <pc:sldMk cId="0" sldId="258"/>
            <ac:picMk id="15" creationId="{00000000-0000-0000-0000-000000000000}"/>
          </ac:picMkLst>
        </pc:picChg>
        <pc:picChg chg="mod">
          <ac:chgData name="Riccardo Berta" userId="c8694f89-bba4-4576-b0a8-456619ca5a8c" providerId="ADAL" clId="{FDDBFC5A-5EA9-5330-BEB8-433D7E3B4C4E}" dt="2026-10-07T04:50:42.087" v="20" actId="14100"/>
          <ac:picMkLst>
            <pc:docMk/>
            <pc:sldMk cId="0" sldId="258"/>
            <ac:picMk id="19" creationId="{00000000-0000-0000-0000-000000000000}"/>
          </ac:picMkLst>
        </pc:picChg>
      </pc:sldChg>
      <pc:sldChg chg="addSp modSp mod">
        <pc:chgData name="Riccardo Berta" userId="c8694f89-bba4-4576-b0a8-456619ca5a8c" providerId="ADAL" clId="{FDDBFC5A-5EA9-5330-BEB8-433D7E3B4C4E}" dt="2026-10-07T06:41:25.525" v="663" actId="14100"/>
        <pc:sldMkLst>
          <pc:docMk/>
          <pc:sldMk cId="0" sldId="259"/>
        </pc:sldMkLst>
        <pc:spChg chg="mod">
          <ac:chgData name="Riccardo Berta" userId="c8694f89-bba4-4576-b0a8-456619ca5a8c" providerId="ADAL" clId="{FDDBFC5A-5EA9-5330-BEB8-433D7E3B4C4E}" dt="2026-10-07T04:52:38.607" v="76" actId="1036"/>
          <ac:spMkLst>
            <pc:docMk/>
            <pc:sldMk cId="0" sldId="259"/>
            <ac:spMk id="11" creationId="{00000000-0000-0000-0000-000000000000}"/>
          </ac:spMkLst>
        </pc:spChg>
        <pc:spChg chg="mod">
          <ac:chgData name="Riccardo Berta" userId="c8694f89-bba4-4576-b0a8-456619ca5a8c" providerId="ADAL" clId="{FDDBFC5A-5EA9-5330-BEB8-433D7E3B4C4E}" dt="2026-10-07T04:52:38.607" v="76" actId="1036"/>
          <ac:spMkLst>
            <pc:docMk/>
            <pc:sldMk cId="0" sldId="259"/>
            <ac:spMk id="12" creationId="{00000000-0000-0000-0000-000000000000}"/>
          </ac:spMkLst>
        </pc:spChg>
        <pc:spChg chg="mod">
          <ac:chgData name="Riccardo Berta" userId="c8694f89-bba4-4576-b0a8-456619ca5a8c" providerId="ADAL" clId="{FDDBFC5A-5EA9-5330-BEB8-433D7E3B4C4E}" dt="2026-10-07T06:41:25.525" v="663" actId="14100"/>
          <ac:spMkLst>
            <pc:docMk/>
            <pc:sldMk cId="0" sldId="259"/>
            <ac:spMk id="13" creationId="{00000000-0000-0000-0000-000000000000}"/>
          </ac:spMkLst>
        </pc:spChg>
        <pc:spChg chg="mod">
          <ac:chgData name="Riccardo Berta" userId="c8694f89-bba4-4576-b0a8-456619ca5a8c" providerId="ADAL" clId="{FDDBFC5A-5EA9-5330-BEB8-433D7E3B4C4E}" dt="2026-10-07T04:52:32.428" v="61" actId="1036"/>
          <ac:spMkLst>
            <pc:docMk/>
            <pc:sldMk cId="0" sldId="259"/>
            <ac:spMk id="14" creationId="{00000000-0000-0000-0000-000000000000}"/>
          </ac:spMkLst>
        </pc:spChg>
        <pc:spChg chg="mod">
          <ac:chgData name="Riccardo Berta" userId="c8694f89-bba4-4576-b0a8-456619ca5a8c" providerId="ADAL" clId="{FDDBFC5A-5EA9-5330-BEB8-433D7E3B4C4E}" dt="2026-10-07T04:52:32.428" v="61" actId="1036"/>
          <ac:spMkLst>
            <pc:docMk/>
            <pc:sldMk cId="0" sldId="259"/>
            <ac:spMk id="15" creationId="{00000000-0000-0000-0000-000000000000}"/>
          </ac:spMkLst>
        </pc:spChg>
        <pc:spChg chg="mod">
          <ac:chgData name="Riccardo Berta" userId="c8694f89-bba4-4576-b0a8-456619ca5a8c" providerId="ADAL" clId="{FDDBFC5A-5EA9-5330-BEB8-433D7E3B4C4E}" dt="2026-10-07T06:41:25.077" v="662" actId="14100"/>
          <ac:spMkLst>
            <pc:docMk/>
            <pc:sldMk cId="0" sldId="259"/>
            <ac:spMk id="16" creationId="{00000000-0000-0000-0000-000000000000}"/>
          </ac:spMkLst>
        </pc:spChg>
        <pc:spChg chg="mod">
          <ac:chgData name="Riccardo Berta" userId="c8694f89-bba4-4576-b0a8-456619ca5a8c" providerId="ADAL" clId="{FDDBFC5A-5EA9-5330-BEB8-433D7E3B4C4E}" dt="2026-10-07T04:53:40.165" v="93" actId="1076"/>
          <ac:spMkLst>
            <pc:docMk/>
            <pc:sldMk cId="0" sldId="259"/>
            <ac:spMk id="20" creationId="{00000000-0000-0000-0000-000000000000}"/>
          </ac:spMkLst>
        </pc:spChg>
        <pc:spChg chg="mod">
          <ac:chgData name="Riccardo Berta" userId="c8694f89-bba4-4576-b0a8-456619ca5a8c" providerId="ADAL" clId="{FDDBFC5A-5EA9-5330-BEB8-433D7E3B4C4E}" dt="2026-10-07T04:59:47.989" v="103" actId="20577"/>
          <ac:spMkLst>
            <pc:docMk/>
            <pc:sldMk cId="0" sldId="259"/>
            <ac:spMk id="21" creationId="{00000000-0000-0000-0000-000000000000}"/>
          </ac:spMkLst>
        </pc:spChg>
        <pc:spChg chg="mod">
          <ac:chgData name="Riccardo Berta" userId="c8694f89-bba4-4576-b0a8-456619ca5a8c" providerId="ADAL" clId="{FDDBFC5A-5EA9-5330-BEB8-433D7E3B4C4E}" dt="2026-10-07T04:53:35.911" v="92" actId="1076"/>
          <ac:spMkLst>
            <pc:docMk/>
            <pc:sldMk cId="0" sldId="259"/>
            <ac:spMk id="23" creationId="{00000000-0000-0000-0000-000000000000}"/>
          </ac:spMkLst>
        </pc:spChg>
        <pc:spChg chg="mod">
          <ac:chgData name="Riccardo Berta" userId="c8694f89-bba4-4576-b0a8-456619ca5a8c" providerId="ADAL" clId="{FDDBFC5A-5EA9-5330-BEB8-433D7E3B4C4E}" dt="2026-10-07T04:53:35.911" v="92" actId="1076"/>
          <ac:spMkLst>
            <pc:docMk/>
            <pc:sldMk cId="0" sldId="259"/>
            <ac:spMk id="24" creationId="{00000000-0000-0000-0000-000000000000}"/>
          </ac:spMkLst>
        </pc:spChg>
        <pc:spChg chg="mod">
          <ac:chgData name="Riccardo Berta" userId="c8694f89-bba4-4576-b0a8-456619ca5a8c" providerId="ADAL" clId="{FDDBFC5A-5EA9-5330-BEB8-433D7E3B4C4E}" dt="2026-10-07T04:53:31.128" v="91" actId="1076"/>
          <ac:spMkLst>
            <pc:docMk/>
            <pc:sldMk cId="0" sldId="259"/>
            <ac:spMk id="26" creationId="{00000000-0000-0000-0000-000000000000}"/>
          </ac:spMkLst>
        </pc:spChg>
        <pc:spChg chg="mod">
          <ac:chgData name="Riccardo Berta" userId="c8694f89-bba4-4576-b0a8-456619ca5a8c" providerId="ADAL" clId="{FDDBFC5A-5EA9-5330-BEB8-433D7E3B4C4E}" dt="2026-10-07T04:53:31.128" v="91" actId="1076"/>
          <ac:spMkLst>
            <pc:docMk/>
            <pc:sldMk cId="0" sldId="259"/>
            <ac:spMk id="27" creationId="{00000000-0000-0000-0000-000000000000}"/>
          </ac:spMkLst>
        </pc:spChg>
        <pc:spChg chg="mod">
          <ac:chgData name="Riccardo Berta" userId="c8694f89-bba4-4576-b0a8-456619ca5a8c" providerId="ADAL" clId="{FDDBFC5A-5EA9-5330-BEB8-433D7E3B4C4E}" dt="2026-10-07T04:52:57.133" v="82" actId="1076"/>
          <ac:spMkLst>
            <pc:docMk/>
            <pc:sldMk cId="0" sldId="259"/>
            <ac:spMk id="28" creationId="{00000000-0000-0000-0000-000000000000}"/>
          </ac:spMkLst>
        </pc:spChg>
        <pc:spChg chg="mod">
          <ac:chgData name="Riccardo Berta" userId="c8694f89-bba4-4576-b0a8-456619ca5a8c" providerId="ADAL" clId="{FDDBFC5A-5EA9-5330-BEB8-433D7E3B4C4E}" dt="2026-10-07T04:52:57.133" v="82" actId="1076"/>
          <ac:spMkLst>
            <pc:docMk/>
            <pc:sldMk cId="0" sldId="259"/>
            <ac:spMk id="29" creationId="{00000000-0000-0000-0000-000000000000}"/>
          </ac:spMkLst>
        </pc:spChg>
        <pc:spChg chg="mod">
          <ac:chgData name="Riccardo Berta" userId="c8694f89-bba4-4576-b0a8-456619ca5a8c" providerId="ADAL" clId="{FDDBFC5A-5EA9-5330-BEB8-433D7E3B4C4E}" dt="2026-10-07T04:52:57.133" v="82" actId="1076"/>
          <ac:spMkLst>
            <pc:docMk/>
            <pc:sldMk cId="0" sldId="259"/>
            <ac:spMk id="30" creationId="{00000000-0000-0000-0000-000000000000}"/>
          </ac:spMkLst>
        </pc:spChg>
        <pc:spChg chg="add mod">
          <ac:chgData name="Riccardo Berta" userId="c8694f89-bba4-4576-b0a8-456619ca5a8c" providerId="ADAL" clId="{FDDBFC5A-5EA9-5330-BEB8-433D7E3B4C4E}" dt="2026-10-07T04:52:57.133" v="82" actId="1076"/>
          <ac:spMkLst>
            <pc:docMk/>
            <pc:sldMk cId="0" sldId="259"/>
            <ac:spMk id="31" creationId="{3B8DBA51-BC36-19F3-A844-31F1CC40BDAE}"/>
          </ac:spMkLst>
        </pc:spChg>
        <pc:picChg chg="mod">
          <ac:chgData name="Riccardo Berta" userId="c8694f89-bba4-4576-b0a8-456619ca5a8c" providerId="ADAL" clId="{FDDBFC5A-5EA9-5330-BEB8-433D7E3B4C4E}" dt="2026-10-07T04:52:42.381" v="77" actId="1076"/>
          <ac:picMkLst>
            <pc:docMk/>
            <pc:sldMk cId="0" sldId="259"/>
            <ac:picMk id="9" creationId="{00000000-0000-0000-0000-000000000000}"/>
          </ac:picMkLst>
        </pc:picChg>
        <pc:picChg chg="mod">
          <ac:chgData name="Riccardo Berta" userId="c8694f89-bba4-4576-b0a8-456619ca5a8c" providerId="ADAL" clId="{FDDBFC5A-5EA9-5330-BEB8-433D7E3B4C4E}" dt="2026-10-07T04:52:48.304" v="79" actId="14100"/>
          <ac:picMkLst>
            <pc:docMk/>
            <pc:sldMk cId="0" sldId="259"/>
            <ac:picMk id="10" creationId="{00000000-0000-0000-0000-000000000000}"/>
          </ac:picMkLst>
        </pc:picChg>
        <pc:picChg chg="mod">
          <ac:chgData name="Riccardo Berta" userId="c8694f89-bba4-4576-b0a8-456619ca5a8c" providerId="ADAL" clId="{FDDBFC5A-5EA9-5330-BEB8-433D7E3B4C4E}" dt="2026-10-07T04:52:32.428" v="61" actId="1036"/>
          <ac:picMkLst>
            <pc:docMk/>
            <pc:sldMk cId="0" sldId="259"/>
            <ac:picMk id="17" creationId="{00000000-0000-0000-0000-000000000000}"/>
          </ac:picMkLst>
        </pc:picChg>
        <pc:picChg chg="mod">
          <ac:chgData name="Riccardo Berta" userId="c8694f89-bba4-4576-b0a8-456619ca5a8c" providerId="ADAL" clId="{FDDBFC5A-5EA9-5330-BEB8-433D7E3B4C4E}" dt="2026-10-07T04:53:24.962" v="90" actId="14100"/>
          <ac:picMkLst>
            <pc:docMk/>
            <pc:sldMk cId="0" sldId="259"/>
            <ac:picMk id="19" creationId="{00000000-0000-0000-0000-000000000000}"/>
          </ac:picMkLst>
        </pc:picChg>
        <pc:picChg chg="mod">
          <ac:chgData name="Riccardo Berta" userId="c8694f89-bba4-4576-b0a8-456619ca5a8c" providerId="ADAL" clId="{FDDBFC5A-5EA9-5330-BEB8-433D7E3B4C4E}" dt="2026-10-07T04:59:07.184" v="95" actId="1076"/>
          <ac:picMkLst>
            <pc:docMk/>
            <pc:sldMk cId="0" sldId="259"/>
            <ac:picMk id="22" creationId="{00000000-0000-0000-0000-000000000000}"/>
          </ac:picMkLst>
        </pc:picChg>
        <pc:picChg chg="mod">
          <ac:chgData name="Riccardo Berta" userId="c8694f89-bba4-4576-b0a8-456619ca5a8c" providerId="ADAL" clId="{FDDBFC5A-5EA9-5330-BEB8-433D7E3B4C4E}" dt="2026-10-07T04:59:09.667" v="96" actId="1076"/>
          <ac:picMkLst>
            <pc:docMk/>
            <pc:sldMk cId="0" sldId="259"/>
            <ac:picMk id="25" creationId="{00000000-0000-0000-0000-000000000000}"/>
          </ac:picMkLst>
        </pc:picChg>
      </pc:sldChg>
      <pc:sldChg chg="addSp modSp mod">
        <pc:chgData name="Riccardo Berta" userId="c8694f89-bba4-4576-b0a8-456619ca5a8c" providerId="ADAL" clId="{FDDBFC5A-5EA9-5330-BEB8-433D7E3B4C4E}" dt="2026-10-07T06:47:19.999" v="669" actId="14100"/>
        <pc:sldMkLst>
          <pc:docMk/>
          <pc:sldMk cId="0" sldId="260"/>
        </pc:sldMkLst>
        <pc:spChg chg="mod">
          <ac:chgData name="Riccardo Berta" userId="c8694f89-bba4-4576-b0a8-456619ca5a8c" providerId="ADAL" clId="{FDDBFC5A-5EA9-5330-BEB8-433D7E3B4C4E}" dt="2026-10-07T05:11:32.383" v="223" actId="20577"/>
          <ac:spMkLst>
            <pc:docMk/>
            <pc:sldMk cId="0" sldId="260"/>
            <ac:spMk id="3" creationId="{00000000-0000-0000-0000-000000000000}"/>
          </ac:spMkLst>
        </pc:spChg>
        <pc:spChg chg="mod">
          <ac:chgData name="Riccardo Berta" userId="c8694f89-bba4-4576-b0a8-456619ca5a8c" providerId="ADAL" clId="{FDDBFC5A-5EA9-5330-BEB8-433D7E3B4C4E}" dt="2026-10-07T05:00:40.532" v="111" actId="1076"/>
          <ac:spMkLst>
            <pc:docMk/>
            <pc:sldMk cId="0" sldId="260"/>
            <ac:spMk id="8"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9"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10" creationId="{00000000-0000-0000-0000-000000000000}"/>
          </ac:spMkLst>
        </pc:spChg>
        <pc:spChg chg="mod">
          <ac:chgData name="Riccardo Berta" userId="c8694f89-bba4-4576-b0a8-456619ca5a8c" providerId="ADAL" clId="{FDDBFC5A-5EA9-5330-BEB8-433D7E3B4C4E}" dt="2026-10-07T05:03:47.877" v="141" actId="20577"/>
          <ac:spMkLst>
            <pc:docMk/>
            <pc:sldMk cId="0" sldId="260"/>
            <ac:spMk id="12"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13"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14" creationId="{00000000-0000-0000-0000-000000000000}"/>
          </ac:spMkLst>
        </pc:spChg>
        <pc:spChg chg="mod">
          <ac:chgData name="Riccardo Berta" userId="c8694f89-bba4-4576-b0a8-456619ca5a8c" providerId="ADAL" clId="{FDDBFC5A-5EA9-5330-BEB8-433D7E3B4C4E}" dt="2026-10-07T05:01:03.574" v="120" actId="1076"/>
          <ac:spMkLst>
            <pc:docMk/>
            <pc:sldMk cId="0" sldId="260"/>
            <ac:spMk id="16"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17"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18" creationId="{00000000-0000-0000-0000-000000000000}"/>
          </ac:spMkLst>
        </pc:spChg>
        <pc:spChg chg="mod">
          <ac:chgData name="Riccardo Berta" userId="c8694f89-bba4-4576-b0a8-456619ca5a8c" providerId="ADAL" clId="{FDDBFC5A-5EA9-5330-BEB8-433D7E3B4C4E}" dt="2026-10-07T05:01:03.574" v="120" actId="1076"/>
          <ac:spMkLst>
            <pc:docMk/>
            <pc:sldMk cId="0" sldId="260"/>
            <ac:spMk id="20"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21" creationId="{00000000-0000-0000-0000-000000000000}"/>
          </ac:spMkLst>
        </pc:spChg>
        <pc:spChg chg="mod">
          <ac:chgData name="Riccardo Berta" userId="c8694f89-bba4-4576-b0a8-456619ca5a8c" providerId="ADAL" clId="{FDDBFC5A-5EA9-5330-BEB8-433D7E3B4C4E}" dt="2026-10-07T05:00:37.760" v="110" actId="1076"/>
          <ac:spMkLst>
            <pc:docMk/>
            <pc:sldMk cId="0" sldId="260"/>
            <ac:spMk id="22" creationId="{00000000-0000-0000-0000-000000000000}"/>
          </ac:spMkLst>
        </pc:spChg>
        <pc:spChg chg="mod">
          <ac:chgData name="Riccardo Berta" userId="c8694f89-bba4-4576-b0a8-456619ca5a8c" providerId="ADAL" clId="{FDDBFC5A-5EA9-5330-BEB8-433D7E3B4C4E}" dt="2026-10-07T05:01:03.574" v="120" actId="1076"/>
          <ac:spMkLst>
            <pc:docMk/>
            <pc:sldMk cId="0" sldId="260"/>
            <ac:spMk id="24" creationId="{00000000-0000-0000-0000-000000000000}"/>
          </ac:spMkLst>
        </pc:spChg>
        <pc:spChg chg="mod">
          <ac:chgData name="Riccardo Berta" userId="c8694f89-bba4-4576-b0a8-456619ca5a8c" providerId="ADAL" clId="{FDDBFC5A-5EA9-5330-BEB8-433D7E3B4C4E}" dt="2026-10-07T05:00:58.334" v="119" actId="1036"/>
          <ac:spMkLst>
            <pc:docMk/>
            <pc:sldMk cId="0" sldId="260"/>
            <ac:spMk id="25" creationId="{00000000-0000-0000-0000-000000000000}"/>
          </ac:spMkLst>
        </pc:spChg>
        <pc:spChg chg="mod">
          <ac:chgData name="Riccardo Berta" userId="c8694f89-bba4-4576-b0a8-456619ca5a8c" providerId="ADAL" clId="{FDDBFC5A-5EA9-5330-BEB8-433D7E3B4C4E}" dt="2026-10-07T05:00:54.334" v="115" actId="1076"/>
          <ac:spMkLst>
            <pc:docMk/>
            <pc:sldMk cId="0" sldId="260"/>
            <ac:spMk id="27" creationId="{00000000-0000-0000-0000-000000000000}"/>
          </ac:spMkLst>
        </pc:spChg>
        <pc:spChg chg="mod">
          <ac:chgData name="Riccardo Berta" userId="c8694f89-bba4-4576-b0a8-456619ca5a8c" providerId="ADAL" clId="{FDDBFC5A-5EA9-5330-BEB8-433D7E3B4C4E}" dt="2026-10-07T05:04:04.366" v="145" actId="313"/>
          <ac:spMkLst>
            <pc:docMk/>
            <pc:sldMk cId="0" sldId="260"/>
            <ac:spMk id="29" creationId="{00000000-0000-0000-0000-000000000000}"/>
          </ac:spMkLst>
        </pc:spChg>
        <pc:spChg chg="mod">
          <ac:chgData name="Riccardo Berta" userId="c8694f89-bba4-4576-b0a8-456619ca5a8c" providerId="ADAL" clId="{FDDBFC5A-5EA9-5330-BEB8-433D7E3B4C4E}" dt="2026-10-07T05:00:54.334" v="115" actId="1076"/>
          <ac:spMkLst>
            <pc:docMk/>
            <pc:sldMk cId="0" sldId="260"/>
            <ac:spMk id="31" creationId="{00000000-0000-0000-0000-000000000000}"/>
          </ac:spMkLst>
        </pc:spChg>
        <pc:spChg chg="mod">
          <ac:chgData name="Riccardo Berta" userId="c8694f89-bba4-4576-b0a8-456619ca5a8c" providerId="ADAL" clId="{FDDBFC5A-5EA9-5330-BEB8-433D7E3B4C4E}" dt="2026-10-07T05:00:54.334" v="115" actId="1076"/>
          <ac:spMkLst>
            <pc:docMk/>
            <pc:sldMk cId="0" sldId="260"/>
            <ac:spMk id="32" creationId="{00000000-0000-0000-0000-000000000000}"/>
          </ac:spMkLst>
        </pc:spChg>
        <pc:spChg chg="mod">
          <ac:chgData name="Riccardo Berta" userId="c8694f89-bba4-4576-b0a8-456619ca5a8c" providerId="ADAL" clId="{FDDBFC5A-5EA9-5330-BEB8-433D7E3B4C4E}" dt="2026-10-07T05:00:54.334" v="115" actId="1076"/>
          <ac:spMkLst>
            <pc:docMk/>
            <pc:sldMk cId="0" sldId="260"/>
            <ac:spMk id="33" creationId="{00000000-0000-0000-0000-000000000000}"/>
          </ac:spMkLst>
        </pc:spChg>
        <pc:spChg chg="add mod">
          <ac:chgData name="Riccardo Berta" userId="c8694f89-bba4-4576-b0a8-456619ca5a8c" providerId="ADAL" clId="{FDDBFC5A-5EA9-5330-BEB8-433D7E3B4C4E}" dt="2026-10-07T05:00:54.334" v="115" actId="1076"/>
          <ac:spMkLst>
            <pc:docMk/>
            <pc:sldMk cId="0" sldId="260"/>
            <ac:spMk id="34" creationId="{994BB566-315D-1A3C-7A96-4C49F30D2320}"/>
          </ac:spMkLst>
        </pc:spChg>
        <pc:picChg chg="mod modCrop">
          <ac:chgData name="Riccardo Berta" userId="c8694f89-bba4-4576-b0a8-456619ca5a8c" providerId="ADAL" clId="{FDDBFC5A-5EA9-5330-BEB8-433D7E3B4C4E}" dt="2026-10-07T05:02:04.576" v="134" actId="732"/>
          <ac:picMkLst>
            <pc:docMk/>
            <pc:sldMk cId="0" sldId="260"/>
            <ac:picMk id="11" creationId="{00000000-0000-0000-0000-000000000000}"/>
          </ac:picMkLst>
        </pc:picChg>
        <pc:picChg chg="mod">
          <ac:chgData name="Riccardo Berta" userId="c8694f89-bba4-4576-b0a8-456619ca5a8c" providerId="ADAL" clId="{FDDBFC5A-5EA9-5330-BEB8-433D7E3B4C4E}" dt="2026-10-07T05:01:17.266" v="126" actId="1076"/>
          <ac:picMkLst>
            <pc:docMk/>
            <pc:sldMk cId="0" sldId="260"/>
            <ac:picMk id="15" creationId="{00000000-0000-0000-0000-000000000000}"/>
          </ac:picMkLst>
        </pc:picChg>
        <pc:picChg chg="mod modCrop">
          <ac:chgData name="Riccardo Berta" userId="c8694f89-bba4-4576-b0a8-456619ca5a8c" providerId="ADAL" clId="{FDDBFC5A-5EA9-5330-BEB8-433D7E3B4C4E}" dt="2026-10-07T05:02:11.112" v="135" actId="732"/>
          <ac:picMkLst>
            <pc:docMk/>
            <pc:sldMk cId="0" sldId="260"/>
            <ac:picMk id="19" creationId="{00000000-0000-0000-0000-000000000000}"/>
          </ac:picMkLst>
        </pc:picChg>
        <pc:picChg chg="mod modCrop">
          <ac:chgData name="Riccardo Berta" userId="c8694f89-bba4-4576-b0a8-456619ca5a8c" providerId="ADAL" clId="{FDDBFC5A-5EA9-5330-BEB8-433D7E3B4C4E}" dt="2026-10-07T06:47:19.999" v="669" actId="14100"/>
          <ac:picMkLst>
            <pc:docMk/>
            <pc:sldMk cId="0" sldId="260"/>
            <ac:picMk id="23" creationId="{00000000-0000-0000-0000-000000000000}"/>
          </ac:picMkLst>
        </pc:picChg>
      </pc:sldChg>
      <pc:sldChg chg="addSp delSp modSp mod">
        <pc:chgData name="Riccardo Berta" userId="c8694f89-bba4-4576-b0a8-456619ca5a8c" providerId="ADAL" clId="{FDDBFC5A-5EA9-5330-BEB8-433D7E3B4C4E}" dt="2026-10-07T05:05:59.950" v="178" actId="313"/>
        <pc:sldMkLst>
          <pc:docMk/>
          <pc:sldMk cId="0" sldId="261"/>
        </pc:sldMkLst>
        <pc:spChg chg="del mod">
          <ac:chgData name="Riccardo Berta" userId="c8694f89-bba4-4576-b0a8-456619ca5a8c" providerId="ADAL" clId="{FDDBFC5A-5EA9-5330-BEB8-433D7E3B4C4E}" dt="2026-10-07T05:04:54.594" v="165" actId="478"/>
          <ac:spMkLst>
            <pc:docMk/>
            <pc:sldMk cId="0" sldId="261"/>
            <ac:spMk id="10" creationId="{00000000-0000-0000-0000-000000000000}"/>
          </ac:spMkLst>
        </pc:spChg>
        <pc:spChg chg="mod">
          <ac:chgData name="Riccardo Berta" userId="c8694f89-bba4-4576-b0a8-456619ca5a8c" providerId="ADAL" clId="{FDDBFC5A-5EA9-5330-BEB8-433D7E3B4C4E}" dt="2026-10-07T05:05:24.453" v="169" actId="1076"/>
          <ac:spMkLst>
            <pc:docMk/>
            <pc:sldMk cId="0" sldId="261"/>
            <ac:spMk id="13" creationId="{00000000-0000-0000-0000-000000000000}"/>
          </ac:spMkLst>
        </pc:spChg>
        <pc:spChg chg="mod">
          <ac:chgData name="Riccardo Berta" userId="c8694f89-bba4-4576-b0a8-456619ca5a8c" providerId="ADAL" clId="{FDDBFC5A-5EA9-5330-BEB8-433D7E3B4C4E}" dt="2026-10-07T05:05:24.453" v="169" actId="1076"/>
          <ac:spMkLst>
            <pc:docMk/>
            <pc:sldMk cId="0" sldId="261"/>
            <ac:spMk id="14" creationId="{00000000-0000-0000-0000-000000000000}"/>
          </ac:spMkLst>
        </pc:spChg>
        <pc:spChg chg="mod">
          <ac:chgData name="Riccardo Berta" userId="c8694f89-bba4-4576-b0a8-456619ca5a8c" providerId="ADAL" clId="{FDDBFC5A-5EA9-5330-BEB8-433D7E3B4C4E}" dt="2026-10-07T05:05:24.453" v="169" actId="1076"/>
          <ac:spMkLst>
            <pc:docMk/>
            <pc:sldMk cId="0" sldId="261"/>
            <ac:spMk id="15" creationId="{00000000-0000-0000-0000-000000000000}"/>
          </ac:spMkLst>
        </pc:spChg>
        <pc:spChg chg="mod">
          <ac:chgData name="Riccardo Berta" userId="c8694f89-bba4-4576-b0a8-456619ca5a8c" providerId="ADAL" clId="{FDDBFC5A-5EA9-5330-BEB8-433D7E3B4C4E}" dt="2026-10-07T05:05:24.453" v="169" actId="1076"/>
          <ac:spMkLst>
            <pc:docMk/>
            <pc:sldMk cId="0" sldId="261"/>
            <ac:spMk id="18" creationId="{00000000-0000-0000-0000-000000000000}"/>
          </ac:spMkLst>
        </pc:spChg>
        <pc:spChg chg="mod">
          <ac:chgData name="Riccardo Berta" userId="c8694f89-bba4-4576-b0a8-456619ca5a8c" providerId="ADAL" clId="{FDDBFC5A-5EA9-5330-BEB8-433D7E3B4C4E}" dt="2026-10-07T05:05:24.453" v="169" actId="1076"/>
          <ac:spMkLst>
            <pc:docMk/>
            <pc:sldMk cId="0" sldId="261"/>
            <ac:spMk id="19" creationId="{00000000-0000-0000-0000-000000000000}"/>
          </ac:spMkLst>
        </pc:spChg>
        <pc:spChg chg="mod">
          <ac:chgData name="Riccardo Berta" userId="c8694f89-bba4-4576-b0a8-456619ca5a8c" providerId="ADAL" clId="{FDDBFC5A-5EA9-5330-BEB8-433D7E3B4C4E}" dt="2026-10-07T05:05:59.950" v="178" actId="313"/>
          <ac:spMkLst>
            <pc:docMk/>
            <pc:sldMk cId="0" sldId="261"/>
            <ac:spMk id="21" creationId="{00000000-0000-0000-0000-000000000000}"/>
          </ac:spMkLst>
        </pc:spChg>
        <pc:spChg chg="add mod">
          <ac:chgData name="Riccardo Berta" userId="c8694f89-bba4-4576-b0a8-456619ca5a8c" providerId="ADAL" clId="{FDDBFC5A-5EA9-5330-BEB8-433D7E3B4C4E}" dt="2026-10-07T05:04:24.400" v="148" actId="27636"/>
          <ac:spMkLst>
            <pc:docMk/>
            <pc:sldMk cId="0" sldId="261"/>
            <ac:spMk id="22" creationId="{F279D943-EAFC-7E30-3A9B-B58EF607FD29}"/>
          </ac:spMkLst>
        </pc:spChg>
        <pc:picChg chg="mod">
          <ac:chgData name="Riccardo Berta" userId="c8694f89-bba4-4576-b0a8-456619ca5a8c" providerId="ADAL" clId="{FDDBFC5A-5EA9-5330-BEB8-433D7E3B4C4E}" dt="2026-10-07T05:05:36.945" v="175" actId="1076"/>
          <ac:picMkLst>
            <pc:docMk/>
            <pc:sldMk cId="0" sldId="261"/>
            <ac:picMk id="9" creationId="{00000000-0000-0000-0000-000000000000}"/>
          </ac:picMkLst>
        </pc:picChg>
        <pc:picChg chg="mod">
          <ac:chgData name="Riccardo Berta" userId="c8694f89-bba4-4576-b0a8-456619ca5a8c" providerId="ADAL" clId="{FDDBFC5A-5EA9-5330-BEB8-433D7E3B4C4E}" dt="2026-10-07T05:05:31.708" v="173" actId="1076"/>
          <ac:picMkLst>
            <pc:docMk/>
            <pc:sldMk cId="0" sldId="261"/>
            <ac:picMk id="11" creationId="{00000000-0000-0000-0000-000000000000}"/>
          </ac:picMkLst>
        </pc:picChg>
        <pc:picChg chg="mod">
          <ac:chgData name="Riccardo Berta" userId="c8694f89-bba4-4576-b0a8-456619ca5a8c" providerId="ADAL" clId="{FDDBFC5A-5EA9-5330-BEB8-433D7E3B4C4E}" dt="2026-10-07T05:05:30.264" v="172" actId="1076"/>
          <ac:picMkLst>
            <pc:docMk/>
            <pc:sldMk cId="0" sldId="261"/>
            <ac:picMk id="12" creationId="{00000000-0000-0000-0000-000000000000}"/>
          </ac:picMkLst>
        </pc:picChg>
        <pc:picChg chg="mod">
          <ac:chgData name="Riccardo Berta" userId="c8694f89-bba4-4576-b0a8-456619ca5a8c" providerId="ADAL" clId="{FDDBFC5A-5EA9-5330-BEB8-433D7E3B4C4E}" dt="2026-10-07T05:05:14.104" v="168" actId="1076"/>
          <ac:picMkLst>
            <pc:docMk/>
            <pc:sldMk cId="0" sldId="261"/>
            <ac:picMk id="16" creationId="{00000000-0000-0000-0000-000000000000}"/>
          </ac:picMkLst>
        </pc:picChg>
        <pc:picChg chg="mod">
          <ac:chgData name="Riccardo Berta" userId="c8694f89-bba4-4576-b0a8-456619ca5a8c" providerId="ADAL" clId="{FDDBFC5A-5EA9-5330-BEB8-433D7E3B4C4E}" dt="2026-10-07T05:05:14.104" v="168" actId="1076"/>
          <ac:picMkLst>
            <pc:docMk/>
            <pc:sldMk cId="0" sldId="261"/>
            <ac:picMk id="20" creationId="{00000000-0000-0000-0000-000000000000}"/>
          </ac:picMkLst>
        </pc:picChg>
      </pc:sldChg>
      <pc:sldChg chg="modSp mod">
        <pc:chgData name="Riccardo Berta" userId="c8694f89-bba4-4576-b0a8-456619ca5a8c" providerId="ADAL" clId="{FDDBFC5A-5EA9-5330-BEB8-433D7E3B4C4E}" dt="2026-10-07T05:07:34.063" v="187" actId="20577"/>
        <pc:sldMkLst>
          <pc:docMk/>
          <pc:sldMk cId="0" sldId="262"/>
        </pc:sldMkLst>
        <pc:spChg chg="mod">
          <ac:chgData name="Riccardo Berta" userId="c8694f89-bba4-4576-b0a8-456619ca5a8c" providerId="ADAL" clId="{FDDBFC5A-5EA9-5330-BEB8-433D7E3B4C4E}" dt="2026-10-07T05:06:06.445" v="179" actId="1076"/>
          <ac:spMkLst>
            <pc:docMk/>
            <pc:sldMk cId="0" sldId="262"/>
            <ac:spMk id="9" creationId="{00000000-0000-0000-0000-000000000000}"/>
          </ac:spMkLst>
        </pc:spChg>
        <pc:spChg chg="mod">
          <ac:chgData name="Riccardo Berta" userId="c8694f89-bba4-4576-b0a8-456619ca5a8c" providerId="ADAL" clId="{FDDBFC5A-5EA9-5330-BEB8-433D7E3B4C4E}" dt="2026-10-07T05:06:23.072" v="181" actId="20577"/>
          <ac:spMkLst>
            <pc:docMk/>
            <pc:sldMk cId="0" sldId="262"/>
            <ac:spMk id="12" creationId="{00000000-0000-0000-0000-000000000000}"/>
          </ac:spMkLst>
        </pc:spChg>
        <pc:spChg chg="mod">
          <ac:chgData name="Riccardo Berta" userId="c8694f89-bba4-4576-b0a8-456619ca5a8c" providerId="ADAL" clId="{FDDBFC5A-5EA9-5330-BEB8-433D7E3B4C4E}" dt="2026-10-07T05:07:34.063" v="187" actId="20577"/>
          <ac:spMkLst>
            <pc:docMk/>
            <pc:sldMk cId="0" sldId="262"/>
            <ac:spMk id="20" creationId="{00000000-0000-0000-0000-000000000000}"/>
          </ac:spMkLst>
        </pc:spChg>
        <pc:picChg chg="mod">
          <ac:chgData name="Riccardo Berta" userId="c8694f89-bba4-4576-b0a8-456619ca5a8c" providerId="ADAL" clId="{FDDBFC5A-5EA9-5330-BEB8-433D7E3B4C4E}" dt="2026-10-07T05:06:44.285" v="182" actId="1076"/>
          <ac:picMkLst>
            <pc:docMk/>
            <pc:sldMk cId="0" sldId="262"/>
            <ac:picMk id="17" creationId="{00000000-0000-0000-0000-000000000000}"/>
          </ac:picMkLst>
        </pc:picChg>
        <pc:picChg chg="mod">
          <ac:chgData name="Riccardo Berta" userId="c8694f89-bba4-4576-b0a8-456619ca5a8c" providerId="ADAL" clId="{FDDBFC5A-5EA9-5330-BEB8-433D7E3B4C4E}" dt="2026-10-07T05:07:19.855" v="184" actId="1076"/>
          <ac:picMkLst>
            <pc:docMk/>
            <pc:sldMk cId="0" sldId="262"/>
            <ac:picMk id="19" creationId="{00000000-0000-0000-0000-000000000000}"/>
          </ac:picMkLst>
        </pc:picChg>
      </pc:sldChg>
      <pc:sldChg chg="modSp mod">
        <pc:chgData name="Riccardo Berta" userId="c8694f89-bba4-4576-b0a8-456619ca5a8c" providerId="ADAL" clId="{FDDBFC5A-5EA9-5330-BEB8-433D7E3B4C4E}" dt="2026-10-07T05:09:04.703" v="195" actId="20577"/>
        <pc:sldMkLst>
          <pc:docMk/>
          <pc:sldMk cId="0" sldId="264"/>
        </pc:sldMkLst>
        <pc:spChg chg="mod">
          <ac:chgData name="Riccardo Berta" userId="c8694f89-bba4-4576-b0a8-456619ca5a8c" providerId="ADAL" clId="{FDDBFC5A-5EA9-5330-BEB8-433D7E3B4C4E}" dt="2026-10-07T05:08:02.335" v="188" actId="1076"/>
          <ac:spMkLst>
            <pc:docMk/>
            <pc:sldMk cId="0" sldId="264"/>
            <ac:spMk id="10" creationId="{00000000-0000-0000-0000-000000000000}"/>
          </ac:spMkLst>
        </pc:spChg>
        <pc:spChg chg="mod">
          <ac:chgData name="Riccardo Berta" userId="c8694f89-bba4-4576-b0a8-456619ca5a8c" providerId="ADAL" clId="{FDDBFC5A-5EA9-5330-BEB8-433D7E3B4C4E}" dt="2026-10-07T05:08:02.335" v="188" actId="1076"/>
          <ac:spMkLst>
            <pc:docMk/>
            <pc:sldMk cId="0" sldId="264"/>
            <ac:spMk id="12" creationId="{00000000-0000-0000-0000-000000000000}"/>
          </ac:spMkLst>
        </pc:spChg>
        <pc:spChg chg="mod">
          <ac:chgData name="Riccardo Berta" userId="c8694f89-bba4-4576-b0a8-456619ca5a8c" providerId="ADAL" clId="{FDDBFC5A-5EA9-5330-BEB8-433D7E3B4C4E}" dt="2026-10-07T05:08:02.335" v="188" actId="1076"/>
          <ac:spMkLst>
            <pc:docMk/>
            <pc:sldMk cId="0" sldId="264"/>
            <ac:spMk id="13" creationId="{00000000-0000-0000-0000-000000000000}"/>
          </ac:spMkLst>
        </pc:spChg>
        <pc:spChg chg="mod">
          <ac:chgData name="Riccardo Berta" userId="c8694f89-bba4-4576-b0a8-456619ca5a8c" providerId="ADAL" clId="{FDDBFC5A-5EA9-5330-BEB8-433D7E3B4C4E}" dt="2026-10-07T05:09:04.703" v="195" actId="20577"/>
          <ac:spMkLst>
            <pc:docMk/>
            <pc:sldMk cId="0" sldId="264"/>
            <ac:spMk id="14" creationId="{00000000-0000-0000-0000-000000000000}"/>
          </ac:spMkLst>
        </pc:spChg>
        <pc:spChg chg="mod">
          <ac:chgData name="Riccardo Berta" userId="c8694f89-bba4-4576-b0a8-456619ca5a8c" providerId="ADAL" clId="{FDDBFC5A-5EA9-5330-BEB8-433D7E3B4C4E}" dt="2026-10-07T05:08:55" v="193" actId="1076"/>
          <ac:spMkLst>
            <pc:docMk/>
            <pc:sldMk cId="0" sldId="264"/>
            <ac:spMk id="17" creationId="{00000000-0000-0000-0000-000000000000}"/>
          </ac:spMkLst>
        </pc:spChg>
        <pc:spChg chg="mod">
          <ac:chgData name="Riccardo Berta" userId="c8694f89-bba4-4576-b0a8-456619ca5a8c" providerId="ADAL" clId="{FDDBFC5A-5EA9-5330-BEB8-433D7E3B4C4E}" dt="2026-10-07T05:08:55" v="193" actId="1076"/>
          <ac:spMkLst>
            <pc:docMk/>
            <pc:sldMk cId="0" sldId="264"/>
            <ac:spMk id="18" creationId="{00000000-0000-0000-0000-000000000000}"/>
          </ac:spMkLst>
        </pc:spChg>
        <pc:spChg chg="mod">
          <ac:chgData name="Riccardo Berta" userId="c8694f89-bba4-4576-b0a8-456619ca5a8c" providerId="ADAL" clId="{FDDBFC5A-5EA9-5330-BEB8-433D7E3B4C4E}" dt="2026-10-07T05:08:43.327" v="191" actId="1076"/>
          <ac:spMkLst>
            <pc:docMk/>
            <pc:sldMk cId="0" sldId="264"/>
            <ac:spMk id="20" creationId="{00000000-0000-0000-0000-000000000000}"/>
          </ac:spMkLst>
        </pc:spChg>
        <pc:spChg chg="mod">
          <ac:chgData name="Riccardo Berta" userId="c8694f89-bba4-4576-b0a8-456619ca5a8c" providerId="ADAL" clId="{FDDBFC5A-5EA9-5330-BEB8-433D7E3B4C4E}" dt="2026-10-07T05:08:43.327" v="191" actId="1076"/>
          <ac:spMkLst>
            <pc:docMk/>
            <pc:sldMk cId="0" sldId="264"/>
            <ac:spMk id="21" creationId="{00000000-0000-0000-0000-000000000000}"/>
          </ac:spMkLst>
        </pc:spChg>
        <pc:spChg chg="mod">
          <ac:chgData name="Riccardo Berta" userId="c8694f89-bba4-4576-b0a8-456619ca5a8c" providerId="ADAL" clId="{FDDBFC5A-5EA9-5330-BEB8-433D7E3B4C4E}" dt="2026-10-07T05:08:43.327" v="191" actId="1076"/>
          <ac:spMkLst>
            <pc:docMk/>
            <pc:sldMk cId="0" sldId="264"/>
            <ac:spMk id="22" creationId="{00000000-0000-0000-0000-000000000000}"/>
          </ac:spMkLst>
        </pc:spChg>
        <pc:spChg chg="mod">
          <ac:chgData name="Riccardo Berta" userId="c8694f89-bba4-4576-b0a8-456619ca5a8c" providerId="ADAL" clId="{FDDBFC5A-5EA9-5330-BEB8-433D7E3B4C4E}" dt="2026-10-07T05:08:43.327" v="191" actId="1076"/>
          <ac:spMkLst>
            <pc:docMk/>
            <pc:sldMk cId="0" sldId="264"/>
            <ac:spMk id="23" creationId="{00000000-0000-0000-0000-000000000000}"/>
          </ac:spMkLst>
        </pc:spChg>
        <pc:picChg chg="mod">
          <ac:chgData name="Riccardo Berta" userId="c8694f89-bba4-4576-b0a8-456619ca5a8c" providerId="ADAL" clId="{FDDBFC5A-5EA9-5330-BEB8-433D7E3B4C4E}" dt="2026-10-07T05:08:06.844" v="190" actId="14100"/>
          <ac:picMkLst>
            <pc:docMk/>
            <pc:sldMk cId="0" sldId="264"/>
            <ac:picMk id="9" creationId="{00000000-0000-0000-0000-000000000000}"/>
          </ac:picMkLst>
        </pc:picChg>
        <pc:picChg chg="mod">
          <ac:chgData name="Riccardo Berta" userId="c8694f89-bba4-4576-b0a8-456619ca5a8c" providerId="ADAL" clId="{FDDBFC5A-5EA9-5330-BEB8-433D7E3B4C4E}" dt="2026-10-07T05:08:02.335" v="188" actId="1076"/>
          <ac:picMkLst>
            <pc:docMk/>
            <pc:sldMk cId="0" sldId="264"/>
            <ac:picMk id="11" creationId="{00000000-0000-0000-0000-000000000000}"/>
          </ac:picMkLst>
        </pc:picChg>
        <pc:picChg chg="mod">
          <ac:chgData name="Riccardo Berta" userId="c8694f89-bba4-4576-b0a8-456619ca5a8c" providerId="ADAL" clId="{FDDBFC5A-5EA9-5330-BEB8-433D7E3B4C4E}" dt="2026-10-07T05:08:46.605" v="192" actId="1076"/>
          <ac:picMkLst>
            <pc:docMk/>
            <pc:sldMk cId="0" sldId="264"/>
            <ac:picMk id="19" creationId="{00000000-0000-0000-0000-000000000000}"/>
          </ac:picMkLst>
        </pc:picChg>
      </pc:sldChg>
      <pc:sldChg chg="modSp mod">
        <pc:chgData name="Riccardo Berta" userId="c8694f89-bba4-4576-b0a8-456619ca5a8c" providerId="ADAL" clId="{FDDBFC5A-5EA9-5330-BEB8-433D7E3B4C4E}" dt="2026-10-07T05:09:41.289" v="199" actId="20577"/>
        <pc:sldMkLst>
          <pc:docMk/>
          <pc:sldMk cId="0" sldId="265"/>
        </pc:sldMkLst>
        <pc:spChg chg="mod">
          <ac:chgData name="Riccardo Berta" userId="c8694f89-bba4-4576-b0a8-456619ca5a8c" providerId="ADAL" clId="{FDDBFC5A-5EA9-5330-BEB8-433D7E3B4C4E}" dt="2026-10-07T05:09:22.181" v="196" actId="1076"/>
          <ac:spMkLst>
            <pc:docMk/>
            <pc:sldMk cId="0" sldId="265"/>
            <ac:spMk id="8" creationId="{00000000-0000-0000-0000-000000000000}"/>
          </ac:spMkLst>
        </pc:spChg>
        <pc:spChg chg="mod">
          <ac:chgData name="Riccardo Berta" userId="c8694f89-bba4-4576-b0a8-456619ca5a8c" providerId="ADAL" clId="{FDDBFC5A-5EA9-5330-BEB8-433D7E3B4C4E}" dt="2026-10-07T05:09:22.181" v="196" actId="1076"/>
          <ac:spMkLst>
            <pc:docMk/>
            <pc:sldMk cId="0" sldId="265"/>
            <ac:spMk id="9" creationId="{00000000-0000-0000-0000-000000000000}"/>
          </ac:spMkLst>
        </pc:spChg>
        <pc:spChg chg="mod">
          <ac:chgData name="Riccardo Berta" userId="c8694f89-bba4-4576-b0a8-456619ca5a8c" providerId="ADAL" clId="{FDDBFC5A-5EA9-5330-BEB8-433D7E3B4C4E}" dt="2026-10-07T05:09:22.181" v="196" actId="1076"/>
          <ac:spMkLst>
            <pc:docMk/>
            <pc:sldMk cId="0" sldId="265"/>
            <ac:spMk id="10" creationId="{00000000-0000-0000-0000-000000000000}"/>
          </ac:spMkLst>
        </pc:spChg>
        <pc:spChg chg="mod">
          <ac:chgData name="Riccardo Berta" userId="c8694f89-bba4-4576-b0a8-456619ca5a8c" providerId="ADAL" clId="{FDDBFC5A-5EA9-5330-BEB8-433D7E3B4C4E}" dt="2026-10-07T05:09:22.181" v="196" actId="1076"/>
          <ac:spMkLst>
            <pc:docMk/>
            <pc:sldMk cId="0" sldId="265"/>
            <ac:spMk id="11" creationId="{00000000-0000-0000-0000-000000000000}"/>
          </ac:spMkLst>
        </pc:spChg>
        <pc:spChg chg="mod">
          <ac:chgData name="Riccardo Berta" userId="c8694f89-bba4-4576-b0a8-456619ca5a8c" providerId="ADAL" clId="{FDDBFC5A-5EA9-5330-BEB8-433D7E3B4C4E}" dt="2026-10-07T05:09:26.688" v="197" actId="5793"/>
          <ac:spMkLst>
            <pc:docMk/>
            <pc:sldMk cId="0" sldId="265"/>
            <ac:spMk id="13" creationId="{00000000-0000-0000-0000-000000000000}"/>
          </ac:spMkLst>
        </pc:spChg>
        <pc:spChg chg="mod">
          <ac:chgData name="Riccardo Berta" userId="c8694f89-bba4-4576-b0a8-456619ca5a8c" providerId="ADAL" clId="{FDDBFC5A-5EA9-5330-BEB8-433D7E3B4C4E}" dt="2026-10-07T05:09:41.289" v="199" actId="20577"/>
          <ac:spMkLst>
            <pc:docMk/>
            <pc:sldMk cId="0" sldId="265"/>
            <ac:spMk id="20" creationId="{00000000-0000-0000-0000-000000000000}"/>
          </ac:spMkLst>
        </pc:spChg>
      </pc:sldChg>
      <pc:sldChg chg="modSp mod">
        <pc:chgData name="Riccardo Berta" userId="c8694f89-bba4-4576-b0a8-456619ca5a8c" providerId="ADAL" clId="{FDDBFC5A-5EA9-5330-BEB8-433D7E3B4C4E}" dt="2026-10-07T05:12:09.832" v="243" actId="1035"/>
        <pc:sldMkLst>
          <pc:docMk/>
          <pc:sldMk cId="0" sldId="266"/>
        </pc:sldMkLst>
        <pc:spChg chg="mod">
          <ac:chgData name="Riccardo Berta" userId="c8694f89-bba4-4576-b0a8-456619ca5a8c" providerId="ADAL" clId="{FDDBFC5A-5EA9-5330-BEB8-433D7E3B4C4E}" dt="2026-10-07T05:10:54.110" v="218" actId="20577"/>
          <ac:spMkLst>
            <pc:docMk/>
            <pc:sldMk cId="0" sldId="266"/>
            <ac:spMk id="3"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17"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18"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19"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20" creationId="{00000000-0000-0000-0000-000000000000}"/>
          </ac:spMkLst>
        </pc:spChg>
        <pc:spChg chg="mod">
          <ac:chgData name="Riccardo Berta" userId="c8694f89-bba4-4576-b0a8-456619ca5a8c" providerId="ADAL" clId="{FDDBFC5A-5EA9-5330-BEB8-433D7E3B4C4E}" dt="2026-10-07T05:12:09.832" v="243" actId="1035"/>
          <ac:spMkLst>
            <pc:docMk/>
            <pc:sldMk cId="0" sldId="266"/>
            <ac:spMk id="21"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22"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23"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24" creationId="{00000000-0000-0000-0000-000000000000}"/>
          </ac:spMkLst>
        </pc:spChg>
        <pc:spChg chg="mod">
          <ac:chgData name="Riccardo Berta" userId="c8694f89-bba4-4576-b0a8-456619ca5a8c" providerId="ADAL" clId="{FDDBFC5A-5EA9-5330-BEB8-433D7E3B4C4E}" dt="2026-10-07T05:10:17.730" v="201" actId="1076"/>
          <ac:spMkLst>
            <pc:docMk/>
            <pc:sldMk cId="0" sldId="266"/>
            <ac:spMk id="25" creationId="{00000000-0000-0000-0000-000000000000}"/>
          </ac:spMkLst>
        </pc:spChg>
        <pc:picChg chg="mod">
          <ac:chgData name="Riccardo Berta" userId="c8694f89-bba4-4576-b0a8-456619ca5a8c" providerId="ADAL" clId="{FDDBFC5A-5EA9-5330-BEB8-433D7E3B4C4E}" dt="2026-10-07T05:10:23.493" v="203" actId="14100"/>
          <ac:picMkLst>
            <pc:docMk/>
            <pc:sldMk cId="0" sldId="266"/>
            <ac:picMk id="11" creationId="{00000000-0000-0000-0000-000000000000}"/>
          </ac:picMkLst>
        </pc:picChg>
        <pc:picChg chg="mod">
          <ac:chgData name="Riccardo Berta" userId="c8694f89-bba4-4576-b0a8-456619ca5a8c" providerId="ADAL" clId="{FDDBFC5A-5EA9-5330-BEB8-433D7E3B4C4E}" dt="2026-10-07T05:10:20.494" v="202" actId="1076"/>
          <ac:picMkLst>
            <pc:docMk/>
            <pc:sldMk cId="0" sldId="266"/>
            <ac:picMk id="12" creationId="{00000000-0000-0000-0000-000000000000}"/>
          </ac:picMkLst>
        </pc:picChg>
        <pc:picChg chg="mod">
          <ac:chgData name="Riccardo Berta" userId="c8694f89-bba4-4576-b0a8-456619ca5a8c" providerId="ADAL" clId="{FDDBFC5A-5EA9-5330-BEB8-433D7E3B4C4E}" dt="2026-10-07T05:11:39.404" v="224" actId="1076"/>
          <ac:picMkLst>
            <pc:docMk/>
            <pc:sldMk cId="0" sldId="266"/>
            <ac:picMk id="15" creationId="{00000000-0000-0000-0000-000000000000}"/>
          </ac:picMkLst>
        </pc:picChg>
        <pc:picChg chg="mod">
          <ac:chgData name="Riccardo Berta" userId="c8694f89-bba4-4576-b0a8-456619ca5a8c" providerId="ADAL" clId="{FDDBFC5A-5EA9-5330-BEB8-433D7E3B4C4E}" dt="2026-10-07T05:10:29.048" v="204" actId="1076"/>
          <ac:picMkLst>
            <pc:docMk/>
            <pc:sldMk cId="0" sldId="266"/>
            <ac:picMk id="16" creationId="{00000000-0000-0000-0000-000000000000}"/>
          </ac:picMkLst>
        </pc:picChg>
      </pc:sldChg>
      <pc:sldChg chg="addSp modSp mod">
        <pc:chgData name="Riccardo Berta" userId="c8694f89-bba4-4576-b0a8-456619ca5a8c" providerId="ADAL" clId="{FDDBFC5A-5EA9-5330-BEB8-433D7E3B4C4E}" dt="2026-10-07T05:13:13.512" v="270" actId="20577"/>
        <pc:sldMkLst>
          <pc:docMk/>
          <pc:sldMk cId="0" sldId="267"/>
        </pc:sldMkLst>
        <pc:spChg chg="mod">
          <ac:chgData name="Riccardo Berta" userId="c8694f89-bba4-4576-b0a8-456619ca5a8c" providerId="ADAL" clId="{FDDBFC5A-5EA9-5330-BEB8-433D7E3B4C4E}" dt="2026-10-07T05:12:52.410" v="265" actId="20577"/>
          <ac:spMkLst>
            <pc:docMk/>
            <pc:sldMk cId="0" sldId="267"/>
            <ac:spMk id="8" creationId="{00000000-0000-0000-0000-000000000000}"/>
          </ac:spMkLst>
        </pc:spChg>
        <pc:spChg chg="mod">
          <ac:chgData name="Riccardo Berta" userId="c8694f89-bba4-4576-b0a8-456619ca5a8c" providerId="ADAL" clId="{FDDBFC5A-5EA9-5330-BEB8-433D7E3B4C4E}" dt="2026-10-07T05:12:31.596" v="246" actId="1076"/>
          <ac:spMkLst>
            <pc:docMk/>
            <pc:sldMk cId="0" sldId="267"/>
            <ac:spMk id="10" creationId="{00000000-0000-0000-0000-000000000000}"/>
          </ac:spMkLst>
        </pc:spChg>
        <pc:spChg chg="mod">
          <ac:chgData name="Riccardo Berta" userId="c8694f89-bba4-4576-b0a8-456619ca5a8c" providerId="ADAL" clId="{FDDBFC5A-5EA9-5330-BEB8-433D7E3B4C4E}" dt="2026-10-07T05:12:31.596" v="246" actId="1076"/>
          <ac:spMkLst>
            <pc:docMk/>
            <pc:sldMk cId="0" sldId="267"/>
            <ac:spMk id="11" creationId="{00000000-0000-0000-0000-000000000000}"/>
          </ac:spMkLst>
        </pc:spChg>
        <pc:spChg chg="mod">
          <ac:chgData name="Riccardo Berta" userId="c8694f89-bba4-4576-b0a8-456619ca5a8c" providerId="ADAL" clId="{FDDBFC5A-5EA9-5330-BEB8-433D7E3B4C4E}" dt="2026-10-07T05:12:31.596" v="246" actId="1076"/>
          <ac:spMkLst>
            <pc:docMk/>
            <pc:sldMk cId="0" sldId="267"/>
            <ac:spMk id="12" creationId="{00000000-0000-0000-0000-000000000000}"/>
          </ac:spMkLst>
        </pc:spChg>
        <pc:spChg chg="mod">
          <ac:chgData name="Riccardo Berta" userId="c8694f89-bba4-4576-b0a8-456619ca5a8c" providerId="ADAL" clId="{FDDBFC5A-5EA9-5330-BEB8-433D7E3B4C4E}" dt="2026-10-07T05:12:31.596" v="246" actId="1076"/>
          <ac:spMkLst>
            <pc:docMk/>
            <pc:sldMk cId="0" sldId="267"/>
            <ac:spMk id="13" creationId="{00000000-0000-0000-0000-000000000000}"/>
          </ac:spMkLst>
        </pc:spChg>
        <pc:spChg chg="mod">
          <ac:chgData name="Riccardo Berta" userId="c8694f89-bba4-4576-b0a8-456619ca5a8c" providerId="ADAL" clId="{FDDBFC5A-5EA9-5330-BEB8-433D7E3B4C4E}" dt="2026-10-07T05:13:13.512" v="270" actId="20577"/>
          <ac:spMkLst>
            <pc:docMk/>
            <pc:sldMk cId="0" sldId="267"/>
            <ac:spMk id="15" creationId="{00000000-0000-0000-0000-000000000000}"/>
          </ac:spMkLst>
        </pc:spChg>
        <pc:spChg chg="add mod">
          <ac:chgData name="Riccardo Berta" userId="c8694f89-bba4-4576-b0a8-456619ca5a8c" providerId="ADAL" clId="{FDDBFC5A-5EA9-5330-BEB8-433D7E3B4C4E}" dt="2026-10-07T05:12:22.202" v="245" actId="27636"/>
          <ac:spMkLst>
            <pc:docMk/>
            <pc:sldMk cId="0" sldId="267"/>
            <ac:spMk id="24" creationId="{1F96AAAA-1C63-0A50-6851-B4A440017A61}"/>
          </ac:spMkLst>
        </pc:spChg>
        <pc:picChg chg="mod">
          <ac:chgData name="Riccardo Berta" userId="c8694f89-bba4-4576-b0a8-456619ca5a8c" providerId="ADAL" clId="{FDDBFC5A-5EA9-5330-BEB8-433D7E3B4C4E}" dt="2026-10-07T05:12:40.396" v="249" actId="1076"/>
          <ac:picMkLst>
            <pc:docMk/>
            <pc:sldMk cId="0" sldId="267"/>
            <ac:picMk id="9" creationId="{00000000-0000-0000-0000-000000000000}"/>
          </ac:picMkLst>
        </pc:picChg>
      </pc:sldChg>
      <pc:sldChg chg="addSp delSp modSp mod">
        <pc:chgData name="Riccardo Berta" userId="c8694f89-bba4-4576-b0a8-456619ca5a8c" providerId="ADAL" clId="{FDDBFC5A-5EA9-5330-BEB8-433D7E3B4C4E}" dt="2026-10-07T05:14:53.844" v="274" actId="1076"/>
        <pc:sldMkLst>
          <pc:docMk/>
          <pc:sldMk cId="0" sldId="268"/>
        </pc:sldMkLst>
        <pc:spChg chg="mod">
          <ac:chgData name="Riccardo Berta" userId="c8694f89-bba4-4576-b0a8-456619ca5a8c" providerId="ADAL" clId="{FDDBFC5A-5EA9-5330-BEB8-433D7E3B4C4E}" dt="2026-10-07T05:14:53.844" v="274" actId="1076"/>
          <ac:spMkLst>
            <pc:docMk/>
            <pc:sldMk cId="0" sldId="268"/>
            <ac:spMk id="8" creationId="{00000000-0000-0000-0000-000000000000}"/>
          </ac:spMkLst>
        </pc:spChg>
        <pc:spChg chg="mod">
          <ac:chgData name="Riccardo Berta" userId="c8694f89-bba4-4576-b0a8-456619ca5a8c" providerId="ADAL" clId="{FDDBFC5A-5EA9-5330-BEB8-433D7E3B4C4E}" dt="2026-10-07T05:14:53.844" v="274" actId="1076"/>
          <ac:spMkLst>
            <pc:docMk/>
            <pc:sldMk cId="0" sldId="268"/>
            <ac:spMk id="9" creationId="{00000000-0000-0000-0000-000000000000}"/>
          </ac:spMkLst>
        </pc:spChg>
        <pc:spChg chg="mod">
          <ac:chgData name="Riccardo Berta" userId="c8694f89-bba4-4576-b0a8-456619ca5a8c" providerId="ADAL" clId="{FDDBFC5A-5EA9-5330-BEB8-433D7E3B4C4E}" dt="2026-10-07T05:14:53.844" v="274" actId="1076"/>
          <ac:spMkLst>
            <pc:docMk/>
            <pc:sldMk cId="0" sldId="268"/>
            <ac:spMk id="10" creationId="{00000000-0000-0000-0000-000000000000}"/>
          </ac:spMkLst>
        </pc:spChg>
        <pc:spChg chg="mod">
          <ac:chgData name="Riccardo Berta" userId="c8694f89-bba4-4576-b0a8-456619ca5a8c" providerId="ADAL" clId="{FDDBFC5A-5EA9-5330-BEB8-433D7E3B4C4E}" dt="2026-10-07T05:14:53.844" v="274" actId="1076"/>
          <ac:spMkLst>
            <pc:docMk/>
            <pc:sldMk cId="0" sldId="268"/>
            <ac:spMk id="11" creationId="{00000000-0000-0000-0000-000000000000}"/>
          </ac:spMkLst>
        </pc:spChg>
        <pc:spChg chg="add del mod">
          <ac:chgData name="Riccardo Berta" userId="c8694f89-bba4-4576-b0a8-456619ca5a8c" providerId="ADAL" clId="{FDDBFC5A-5EA9-5330-BEB8-433D7E3B4C4E}" dt="2026-10-07T05:14:45.202" v="273" actId="478"/>
          <ac:spMkLst>
            <pc:docMk/>
            <pc:sldMk cId="0" sldId="268"/>
            <ac:spMk id="25" creationId="{1587B0F3-5DA6-6459-9FD1-26B0EF875016}"/>
          </ac:spMkLst>
        </pc:spChg>
      </pc:sldChg>
      <pc:sldChg chg="delSp modSp mod">
        <pc:chgData name="Riccardo Berta" userId="c8694f89-bba4-4576-b0a8-456619ca5a8c" providerId="ADAL" clId="{FDDBFC5A-5EA9-5330-BEB8-433D7E3B4C4E}" dt="2026-10-07T05:16:24.689" v="309" actId="20577"/>
        <pc:sldMkLst>
          <pc:docMk/>
          <pc:sldMk cId="0" sldId="270"/>
        </pc:sldMkLst>
        <pc:spChg chg="mod">
          <ac:chgData name="Riccardo Berta" userId="c8694f89-bba4-4576-b0a8-456619ca5a8c" providerId="ADAL" clId="{FDDBFC5A-5EA9-5330-BEB8-433D7E3B4C4E}" dt="2026-10-07T05:15:27.736" v="278" actId="1035"/>
          <ac:spMkLst>
            <pc:docMk/>
            <pc:sldMk cId="0" sldId="270"/>
            <ac:spMk id="5" creationId="{00000000-0000-0000-0000-000000000000}"/>
          </ac:spMkLst>
        </pc:spChg>
        <pc:spChg chg="del mod">
          <ac:chgData name="Riccardo Berta" userId="c8694f89-bba4-4576-b0a8-456619ca5a8c" providerId="ADAL" clId="{FDDBFC5A-5EA9-5330-BEB8-433D7E3B4C4E}" dt="2026-10-07T05:15:36.287" v="286" actId="478"/>
          <ac:spMkLst>
            <pc:docMk/>
            <pc:sldMk cId="0" sldId="270"/>
            <ac:spMk id="10" creationId="{00000000-0000-0000-0000-000000000000}"/>
          </ac:spMkLst>
        </pc:spChg>
        <pc:spChg chg="mod">
          <ac:chgData name="Riccardo Berta" userId="c8694f89-bba4-4576-b0a8-456619ca5a8c" providerId="ADAL" clId="{FDDBFC5A-5EA9-5330-BEB8-433D7E3B4C4E}" dt="2026-10-07T05:15:38.585" v="292" actId="1036"/>
          <ac:spMkLst>
            <pc:docMk/>
            <pc:sldMk cId="0" sldId="270"/>
            <ac:spMk id="11" creationId="{00000000-0000-0000-0000-000000000000}"/>
          </ac:spMkLst>
        </pc:spChg>
        <pc:spChg chg="mod">
          <ac:chgData name="Riccardo Berta" userId="c8694f89-bba4-4576-b0a8-456619ca5a8c" providerId="ADAL" clId="{FDDBFC5A-5EA9-5330-BEB8-433D7E3B4C4E}" dt="2026-10-07T05:15:31.339" v="284" actId="1036"/>
          <ac:spMkLst>
            <pc:docMk/>
            <pc:sldMk cId="0" sldId="270"/>
            <ac:spMk id="13" creationId="{00000000-0000-0000-0000-000000000000}"/>
          </ac:spMkLst>
        </pc:spChg>
        <pc:spChg chg="mod">
          <ac:chgData name="Riccardo Berta" userId="c8694f89-bba4-4576-b0a8-456619ca5a8c" providerId="ADAL" clId="{FDDBFC5A-5EA9-5330-BEB8-433D7E3B4C4E}" dt="2026-10-07T05:16:10.452" v="299" actId="1076"/>
          <ac:spMkLst>
            <pc:docMk/>
            <pc:sldMk cId="0" sldId="270"/>
            <ac:spMk id="15" creationId="{00000000-0000-0000-0000-000000000000}"/>
          </ac:spMkLst>
        </pc:spChg>
        <pc:spChg chg="mod">
          <ac:chgData name="Riccardo Berta" userId="c8694f89-bba4-4576-b0a8-456619ca5a8c" providerId="ADAL" clId="{FDDBFC5A-5EA9-5330-BEB8-433D7E3B4C4E}" dt="2026-10-07T05:15:31.339" v="284" actId="1036"/>
          <ac:spMkLst>
            <pc:docMk/>
            <pc:sldMk cId="0" sldId="270"/>
            <ac:spMk id="16" creationId="{00000000-0000-0000-0000-000000000000}"/>
          </ac:spMkLst>
        </pc:spChg>
        <pc:spChg chg="mod">
          <ac:chgData name="Riccardo Berta" userId="c8694f89-bba4-4576-b0a8-456619ca5a8c" providerId="ADAL" clId="{FDDBFC5A-5EA9-5330-BEB8-433D7E3B4C4E}" dt="2026-10-07T05:15:31.339" v="284" actId="1036"/>
          <ac:spMkLst>
            <pc:docMk/>
            <pc:sldMk cId="0" sldId="270"/>
            <ac:spMk id="17" creationId="{00000000-0000-0000-0000-000000000000}"/>
          </ac:spMkLst>
        </pc:spChg>
        <pc:spChg chg="mod">
          <ac:chgData name="Riccardo Berta" userId="c8694f89-bba4-4576-b0a8-456619ca5a8c" providerId="ADAL" clId="{FDDBFC5A-5EA9-5330-BEB8-433D7E3B4C4E}" dt="2026-10-07T05:15:31.339" v="284" actId="1036"/>
          <ac:spMkLst>
            <pc:docMk/>
            <pc:sldMk cId="0" sldId="270"/>
            <ac:spMk id="18" creationId="{00000000-0000-0000-0000-000000000000}"/>
          </ac:spMkLst>
        </pc:spChg>
        <pc:spChg chg="mod">
          <ac:chgData name="Riccardo Berta" userId="c8694f89-bba4-4576-b0a8-456619ca5a8c" providerId="ADAL" clId="{FDDBFC5A-5EA9-5330-BEB8-433D7E3B4C4E}" dt="2026-10-07T05:16:16.741" v="304" actId="20577"/>
          <ac:spMkLst>
            <pc:docMk/>
            <pc:sldMk cId="0" sldId="270"/>
            <ac:spMk id="19" creationId="{00000000-0000-0000-0000-000000000000}"/>
          </ac:spMkLst>
        </pc:spChg>
        <pc:spChg chg="mod">
          <ac:chgData name="Riccardo Berta" userId="c8694f89-bba4-4576-b0a8-456619ca5a8c" providerId="ADAL" clId="{FDDBFC5A-5EA9-5330-BEB8-433D7E3B4C4E}" dt="2026-10-07T05:15:31.339" v="284" actId="1036"/>
          <ac:spMkLst>
            <pc:docMk/>
            <pc:sldMk cId="0" sldId="270"/>
            <ac:spMk id="20" creationId="{00000000-0000-0000-0000-000000000000}"/>
          </ac:spMkLst>
        </pc:spChg>
        <pc:spChg chg="mod">
          <ac:chgData name="Riccardo Berta" userId="c8694f89-bba4-4576-b0a8-456619ca5a8c" providerId="ADAL" clId="{FDDBFC5A-5EA9-5330-BEB8-433D7E3B4C4E}" dt="2026-10-07T05:15:31.339" v="284" actId="1036"/>
          <ac:spMkLst>
            <pc:docMk/>
            <pc:sldMk cId="0" sldId="270"/>
            <ac:spMk id="21" creationId="{00000000-0000-0000-0000-000000000000}"/>
          </ac:spMkLst>
        </pc:spChg>
        <pc:spChg chg="mod">
          <ac:chgData name="Riccardo Berta" userId="c8694f89-bba4-4576-b0a8-456619ca5a8c" providerId="ADAL" clId="{FDDBFC5A-5EA9-5330-BEB8-433D7E3B4C4E}" dt="2026-10-07T05:15:31.339" v="284" actId="1036"/>
          <ac:spMkLst>
            <pc:docMk/>
            <pc:sldMk cId="0" sldId="270"/>
            <ac:spMk id="22" creationId="{00000000-0000-0000-0000-000000000000}"/>
          </ac:spMkLst>
        </pc:spChg>
        <pc:spChg chg="mod">
          <ac:chgData name="Riccardo Berta" userId="c8694f89-bba4-4576-b0a8-456619ca5a8c" providerId="ADAL" clId="{FDDBFC5A-5EA9-5330-BEB8-433D7E3B4C4E}" dt="2026-10-07T05:16:24.689" v="309" actId="20577"/>
          <ac:spMkLst>
            <pc:docMk/>
            <pc:sldMk cId="0" sldId="270"/>
            <ac:spMk id="23" creationId="{00000000-0000-0000-0000-000000000000}"/>
          </ac:spMkLst>
        </pc:spChg>
        <pc:picChg chg="mod">
          <ac:chgData name="Riccardo Berta" userId="c8694f89-bba4-4576-b0a8-456619ca5a8c" providerId="ADAL" clId="{FDDBFC5A-5EA9-5330-BEB8-433D7E3B4C4E}" dt="2026-10-07T05:15:47.093" v="295" actId="1076"/>
          <ac:picMkLst>
            <pc:docMk/>
            <pc:sldMk cId="0" sldId="270"/>
            <ac:picMk id="9" creationId="{00000000-0000-0000-0000-000000000000}"/>
          </ac:picMkLst>
        </pc:picChg>
      </pc:sldChg>
      <pc:sldChg chg="modSp mod">
        <pc:chgData name="Riccardo Berta" userId="c8694f89-bba4-4576-b0a8-456619ca5a8c" providerId="ADAL" clId="{FDDBFC5A-5EA9-5330-BEB8-433D7E3B4C4E}" dt="2026-10-07T05:17:54.189" v="325" actId="1076"/>
        <pc:sldMkLst>
          <pc:docMk/>
          <pc:sldMk cId="0" sldId="271"/>
        </pc:sldMkLst>
        <pc:spChg chg="mod">
          <ac:chgData name="Riccardo Berta" userId="c8694f89-bba4-4576-b0a8-456619ca5a8c" providerId="ADAL" clId="{FDDBFC5A-5EA9-5330-BEB8-433D7E3B4C4E}" dt="2026-10-07T05:17:54.189" v="325" actId="1076"/>
          <ac:spMkLst>
            <pc:docMk/>
            <pc:sldMk cId="0" sldId="271"/>
            <ac:spMk id="9" creationId="{00000000-0000-0000-0000-000000000000}"/>
          </ac:spMkLst>
        </pc:spChg>
        <pc:spChg chg="mod">
          <ac:chgData name="Riccardo Berta" userId="c8694f89-bba4-4576-b0a8-456619ca5a8c" providerId="ADAL" clId="{FDDBFC5A-5EA9-5330-BEB8-433D7E3B4C4E}" dt="2026-10-07T05:17:54.189" v="325" actId="1076"/>
          <ac:spMkLst>
            <pc:docMk/>
            <pc:sldMk cId="0" sldId="271"/>
            <ac:spMk id="10" creationId="{00000000-0000-0000-0000-000000000000}"/>
          </ac:spMkLst>
        </pc:spChg>
        <pc:spChg chg="mod">
          <ac:chgData name="Riccardo Berta" userId="c8694f89-bba4-4576-b0a8-456619ca5a8c" providerId="ADAL" clId="{FDDBFC5A-5EA9-5330-BEB8-433D7E3B4C4E}" dt="2026-10-07T05:17:10.953" v="315" actId="1076"/>
          <ac:spMkLst>
            <pc:docMk/>
            <pc:sldMk cId="0" sldId="271"/>
            <ac:spMk id="12" creationId="{00000000-0000-0000-0000-000000000000}"/>
          </ac:spMkLst>
        </pc:spChg>
        <pc:spChg chg="mod">
          <ac:chgData name="Riccardo Berta" userId="c8694f89-bba4-4576-b0a8-456619ca5a8c" providerId="ADAL" clId="{FDDBFC5A-5EA9-5330-BEB8-433D7E3B4C4E}" dt="2026-10-07T05:17:17.689" v="316" actId="1076"/>
          <ac:spMkLst>
            <pc:docMk/>
            <pc:sldMk cId="0" sldId="271"/>
            <ac:spMk id="13" creationId="{00000000-0000-0000-0000-000000000000}"/>
          </ac:spMkLst>
        </pc:spChg>
        <pc:spChg chg="mod">
          <ac:chgData name="Riccardo Berta" userId="c8694f89-bba4-4576-b0a8-456619ca5a8c" providerId="ADAL" clId="{FDDBFC5A-5EA9-5330-BEB8-433D7E3B4C4E}" dt="2026-10-07T05:17:28.966" v="320" actId="20577"/>
          <ac:spMkLst>
            <pc:docMk/>
            <pc:sldMk cId="0" sldId="271"/>
            <ac:spMk id="14" creationId="{00000000-0000-0000-0000-000000000000}"/>
          </ac:spMkLst>
        </pc:spChg>
        <pc:spChg chg="mod">
          <ac:chgData name="Riccardo Berta" userId="c8694f89-bba4-4576-b0a8-456619ca5a8c" providerId="ADAL" clId="{FDDBFC5A-5EA9-5330-BEB8-433D7E3B4C4E}" dt="2026-10-07T05:17:44.579" v="324" actId="20577"/>
          <ac:spMkLst>
            <pc:docMk/>
            <pc:sldMk cId="0" sldId="271"/>
            <ac:spMk id="16" creationId="{00000000-0000-0000-0000-000000000000}"/>
          </ac:spMkLst>
        </pc:spChg>
        <pc:picChg chg="mod">
          <ac:chgData name="Riccardo Berta" userId="c8694f89-bba4-4576-b0a8-456619ca5a8c" providerId="ADAL" clId="{FDDBFC5A-5EA9-5330-BEB8-433D7E3B4C4E}" dt="2026-10-07T05:17:54.189" v="325" actId="1076"/>
          <ac:picMkLst>
            <pc:docMk/>
            <pc:sldMk cId="0" sldId="271"/>
            <ac:picMk id="11" creationId="{00000000-0000-0000-0000-000000000000}"/>
          </ac:picMkLst>
        </pc:picChg>
        <pc:picChg chg="mod">
          <ac:chgData name="Riccardo Berta" userId="c8694f89-bba4-4576-b0a8-456619ca5a8c" providerId="ADAL" clId="{FDDBFC5A-5EA9-5330-BEB8-433D7E3B4C4E}" dt="2026-10-07T05:17:36.235" v="322" actId="14100"/>
          <ac:picMkLst>
            <pc:docMk/>
            <pc:sldMk cId="0" sldId="271"/>
            <ac:picMk id="15" creationId="{00000000-0000-0000-0000-000000000000}"/>
          </ac:picMkLst>
        </pc:picChg>
      </pc:sldChg>
      <pc:sldChg chg="addSp delSp modSp mod">
        <pc:chgData name="Riccardo Berta" userId="c8694f89-bba4-4576-b0a8-456619ca5a8c" providerId="ADAL" clId="{FDDBFC5A-5EA9-5330-BEB8-433D7E3B4C4E}" dt="2026-10-07T05:20:06.741" v="359" actId="14100"/>
        <pc:sldMkLst>
          <pc:docMk/>
          <pc:sldMk cId="0" sldId="272"/>
        </pc:sldMkLst>
        <pc:spChg chg="mod">
          <ac:chgData name="Riccardo Berta" userId="c8694f89-bba4-4576-b0a8-456619ca5a8c" providerId="ADAL" clId="{FDDBFC5A-5EA9-5330-BEB8-433D7E3B4C4E}" dt="2026-10-07T05:18:15.456" v="329" actId="20577"/>
          <ac:spMkLst>
            <pc:docMk/>
            <pc:sldMk cId="0" sldId="272"/>
            <ac:spMk id="8" creationId="{00000000-0000-0000-0000-000000000000}"/>
          </ac:spMkLst>
        </pc:spChg>
        <pc:spChg chg="mod">
          <ac:chgData name="Riccardo Berta" userId="c8694f89-bba4-4576-b0a8-456619ca5a8c" providerId="ADAL" clId="{FDDBFC5A-5EA9-5330-BEB8-433D7E3B4C4E}" dt="2026-10-07T05:19:19.238" v="343" actId="1076"/>
          <ac:spMkLst>
            <pc:docMk/>
            <pc:sldMk cId="0" sldId="272"/>
            <ac:spMk id="11" creationId="{00000000-0000-0000-0000-000000000000}"/>
          </ac:spMkLst>
        </pc:spChg>
        <pc:spChg chg="mod">
          <ac:chgData name="Riccardo Berta" userId="c8694f89-bba4-4576-b0a8-456619ca5a8c" providerId="ADAL" clId="{FDDBFC5A-5EA9-5330-BEB8-433D7E3B4C4E}" dt="2026-10-07T05:19:19.238" v="343" actId="1076"/>
          <ac:spMkLst>
            <pc:docMk/>
            <pc:sldMk cId="0" sldId="272"/>
            <ac:spMk id="14" creationId="{00000000-0000-0000-0000-000000000000}"/>
          </ac:spMkLst>
        </pc:spChg>
        <pc:spChg chg="mod">
          <ac:chgData name="Riccardo Berta" userId="c8694f89-bba4-4576-b0a8-456619ca5a8c" providerId="ADAL" clId="{FDDBFC5A-5EA9-5330-BEB8-433D7E3B4C4E}" dt="2026-10-07T05:19:19.238" v="343" actId="1076"/>
          <ac:spMkLst>
            <pc:docMk/>
            <pc:sldMk cId="0" sldId="272"/>
            <ac:spMk id="17" creationId="{00000000-0000-0000-0000-000000000000}"/>
          </ac:spMkLst>
        </pc:spChg>
        <pc:spChg chg="mod">
          <ac:chgData name="Riccardo Berta" userId="c8694f89-bba4-4576-b0a8-456619ca5a8c" providerId="ADAL" clId="{FDDBFC5A-5EA9-5330-BEB8-433D7E3B4C4E}" dt="2026-10-07T05:19:19.238" v="343" actId="1076"/>
          <ac:spMkLst>
            <pc:docMk/>
            <pc:sldMk cId="0" sldId="272"/>
            <ac:spMk id="20" creationId="{00000000-0000-0000-0000-000000000000}"/>
          </ac:spMkLst>
        </pc:spChg>
        <pc:spChg chg="mod">
          <ac:chgData name="Riccardo Berta" userId="c8694f89-bba4-4576-b0a8-456619ca5a8c" providerId="ADAL" clId="{FDDBFC5A-5EA9-5330-BEB8-433D7E3B4C4E}" dt="2026-10-07T05:19:01.321" v="337" actId="1076"/>
          <ac:spMkLst>
            <pc:docMk/>
            <pc:sldMk cId="0" sldId="272"/>
            <ac:spMk id="21" creationId="{00000000-0000-0000-0000-000000000000}"/>
          </ac:spMkLst>
        </pc:spChg>
        <pc:spChg chg="mod">
          <ac:chgData name="Riccardo Berta" userId="c8694f89-bba4-4576-b0a8-456619ca5a8c" providerId="ADAL" clId="{FDDBFC5A-5EA9-5330-BEB8-433D7E3B4C4E}" dt="2026-10-07T05:19:01.321" v="337" actId="1076"/>
          <ac:spMkLst>
            <pc:docMk/>
            <pc:sldMk cId="0" sldId="272"/>
            <ac:spMk id="22" creationId="{00000000-0000-0000-0000-000000000000}"/>
          </ac:spMkLst>
        </pc:spChg>
        <pc:spChg chg="mod">
          <ac:chgData name="Riccardo Berta" userId="c8694f89-bba4-4576-b0a8-456619ca5a8c" providerId="ADAL" clId="{FDDBFC5A-5EA9-5330-BEB8-433D7E3B4C4E}" dt="2026-10-07T05:19:03.817" v="338" actId="313"/>
          <ac:spMkLst>
            <pc:docMk/>
            <pc:sldMk cId="0" sldId="272"/>
            <ac:spMk id="24" creationId="{00000000-0000-0000-0000-000000000000}"/>
          </ac:spMkLst>
        </pc:spChg>
        <pc:spChg chg="mod">
          <ac:chgData name="Riccardo Berta" userId="c8694f89-bba4-4576-b0a8-456619ca5a8c" providerId="ADAL" clId="{FDDBFC5A-5EA9-5330-BEB8-433D7E3B4C4E}" dt="2026-10-07T05:19:01.321" v="337" actId="1076"/>
          <ac:spMkLst>
            <pc:docMk/>
            <pc:sldMk cId="0" sldId="272"/>
            <ac:spMk id="25" creationId="{00000000-0000-0000-0000-000000000000}"/>
          </ac:spMkLst>
        </pc:spChg>
        <pc:spChg chg="mod">
          <ac:chgData name="Riccardo Berta" userId="c8694f89-bba4-4576-b0a8-456619ca5a8c" providerId="ADAL" clId="{FDDBFC5A-5EA9-5330-BEB8-433D7E3B4C4E}" dt="2026-10-07T05:19:06.392" v="339" actId="313"/>
          <ac:spMkLst>
            <pc:docMk/>
            <pc:sldMk cId="0" sldId="272"/>
            <ac:spMk id="27" creationId="{00000000-0000-0000-0000-000000000000}"/>
          </ac:spMkLst>
        </pc:spChg>
        <pc:spChg chg="mod">
          <ac:chgData name="Riccardo Berta" userId="c8694f89-bba4-4576-b0a8-456619ca5a8c" providerId="ADAL" clId="{FDDBFC5A-5EA9-5330-BEB8-433D7E3B4C4E}" dt="2026-10-07T05:18:35.288" v="331" actId="1076"/>
          <ac:spMkLst>
            <pc:docMk/>
            <pc:sldMk cId="0" sldId="272"/>
            <ac:spMk id="28" creationId="{00000000-0000-0000-0000-000000000000}"/>
          </ac:spMkLst>
        </pc:spChg>
        <pc:spChg chg="add del mod">
          <ac:chgData name="Riccardo Berta" userId="c8694f89-bba4-4576-b0a8-456619ca5a8c" providerId="ADAL" clId="{FDDBFC5A-5EA9-5330-BEB8-433D7E3B4C4E}" dt="2026-10-07T05:19:14.591" v="342" actId="478"/>
          <ac:spMkLst>
            <pc:docMk/>
            <pc:sldMk cId="0" sldId="272"/>
            <ac:spMk id="30" creationId="{3DB93E04-8451-6164-E3F6-6D309DFBB175}"/>
          </ac:spMkLst>
        </pc:spChg>
        <pc:picChg chg="mod">
          <ac:chgData name="Riccardo Berta" userId="c8694f89-bba4-4576-b0a8-456619ca5a8c" providerId="ADAL" clId="{FDDBFC5A-5EA9-5330-BEB8-433D7E3B4C4E}" dt="2026-10-07T05:19:48.254" v="353" actId="14100"/>
          <ac:picMkLst>
            <pc:docMk/>
            <pc:sldMk cId="0" sldId="272"/>
            <ac:picMk id="10" creationId="{00000000-0000-0000-0000-000000000000}"/>
          </ac:picMkLst>
        </pc:picChg>
        <pc:picChg chg="mod">
          <ac:chgData name="Riccardo Berta" userId="c8694f89-bba4-4576-b0a8-456619ca5a8c" providerId="ADAL" clId="{FDDBFC5A-5EA9-5330-BEB8-433D7E3B4C4E}" dt="2026-10-07T05:19:58.758" v="357" actId="1076"/>
          <ac:picMkLst>
            <pc:docMk/>
            <pc:sldMk cId="0" sldId="272"/>
            <ac:picMk id="13" creationId="{00000000-0000-0000-0000-000000000000}"/>
          </ac:picMkLst>
        </pc:picChg>
        <pc:picChg chg="mod">
          <ac:chgData name="Riccardo Berta" userId="c8694f89-bba4-4576-b0a8-456619ca5a8c" providerId="ADAL" clId="{FDDBFC5A-5EA9-5330-BEB8-433D7E3B4C4E}" dt="2026-10-07T05:19:56.496" v="356" actId="14100"/>
          <ac:picMkLst>
            <pc:docMk/>
            <pc:sldMk cId="0" sldId="272"/>
            <ac:picMk id="16" creationId="{00000000-0000-0000-0000-000000000000}"/>
          </ac:picMkLst>
        </pc:picChg>
        <pc:picChg chg="mod">
          <ac:chgData name="Riccardo Berta" userId="c8694f89-bba4-4576-b0a8-456619ca5a8c" providerId="ADAL" clId="{FDDBFC5A-5EA9-5330-BEB8-433D7E3B4C4E}" dt="2026-10-07T05:20:06.741" v="359" actId="14100"/>
          <ac:picMkLst>
            <pc:docMk/>
            <pc:sldMk cId="0" sldId="272"/>
            <ac:picMk id="19" creationId="{00000000-0000-0000-0000-000000000000}"/>
          </ac:picMkLst>
        </pc:picChg>
        <pc:picChg chg="mod">
          <ac:chgData name="Riccardo Berta" userId="c8694f89-bba4-4576-b0a8-456619ca5a8c" providerId="ADAL" clId="{FDDBFC5A-5EA9-5330-BEB8-433D7E3B4C4E}" dt="2026-10-07T05:19:01.321" v="337" actId="1076"/>
          <ac:picMkLst>
            <pc:docMk/>
            <pc:sldMk cId="0" sldId="272"/>
            <ac:picMk id="23" creationId="{00000000-0000-0000-0000-000000000000}"/>
          </ac:picMkLst>
        </pc:picChg>
        <pc:picChg chg="mod">
          <ac:chgData name="Riccardo Berta" userId="c8694f89-bba4-4576-b0a8-456619ca5a8c" providerId="ADAL" clId="{FDDBFC5A-5EA9-5330-BEB8-433D7E3B4C4E}" dt="2026-10-07T05:19:01.321" v="337" actId="1076"/>
          <ac:picMkLst>
            <pc:docMk/>
            <pc:sldMk cId="0" sldId="272"/>
            <ac:picMk id="26" creationId="{00000000-0000-0000-0000-000000000000}"/>
          </ac:picMkLst>
        </pc:picChg>
        <pc:picChg chg="mod">
          <ac:chgData name="Riccardo Berta" userId="c8694f89-bba4-4576-b0a8-456619ca5a8c" providerId="ADAL" clId="{FDDBFC5A-5EA9-5330-BEB8-433D7E3B4C4E}" dt="2026-10-07T05:18:31.205" v="330" actId="1076"/>
          <ac:picMkLst>
            <pc:docMk/>
            <pc:sldMk cId="0" sldId="272"/>
            <ac:picMk id="29" creationId="{00000000-0000-0000-0000-000000000000}"/>
          </ac:picMkLst>
        </pc:picChg>
      </pc:sldChg>
      <pc:sldChg chg="modSp mod">
        <pc:chgData name="Riccardo Berta" userId="c8694f89-bba4-4576-b0a8-456619ca5a8c" providerId="ADAL" clId="{FDDBFC5A-5EA9-5330-BEB8-433D7E3B4C4E}" dt="2026-10-07T08:18:31.769" v="671" actId="1076"/>
        <pc:sldMkLst>
          <pc:docMk/>
          <pc:sldMk cId="0" sldId="273"/>
        </pc:sldMkLst>
        <pc:spChg chg="mod">
          <ac:chgData name="Riccardo Berta" userId="c8694f89-bba4-4576-b0a8-456619ca5a8c" providerId="ADAL" clId="{FDDBFC5A-5EA9-5330-BEB8-433D7E3B4C4E}" dt="2026-10-07T05:20:21.562" v="362" actId="20577"/>
          <ac:spMkLst>
            <pc:docMk/>
            <pc:sldMk cId="0" sldId="273"/>
            <ac:spMk id="8" creationId="{00000000-0000-0000-0000-000000000000}"/>
          </ac:spMkLst>
        </pc:spChg>
        <pc:spChg chg="mod">
          <ac:chgData name="Riccardo Berta" userId="c8694f89-bba4-4576-b0a8-456619ca5a8c" providerId="ADAL" clId="{FDDBFC5A-5EA9-5330-BEB8-433D7E3B4C4E}" dt="2026-10-07T08:18:31.769" v="671" actId="1076"/>
          <ac:spMkLst>
            <pc:docMk/>
            <pc:sldMk cId="0" sldId="273"/>
            <ac:spMk id="9" creationId="{00000000-0000-0000-0000-000000000000}"/>
          </ac:spMkLst>
        </pc:spChg>
        <pc:spChg chg="mod">
          <ac:chgData name="Riccardo Berta" userId="c8694f89-bba4-4576-b0a8-456619ca5a8c" providerId="ADAL" clId="{FDDBFC5A-5EA9-5330-BEB8-433D7E3B4C4E}" dt="2026-10-07T05:21:03.382" v="372" actId="1035"/>
          <ac:spMkLst>
            <pc:docMk/>
            <pc:sldMk cId="0" sldId="273"/>
            <ac:spMk id="19" creationId="{00000000-0000-0000-0000-000000000000}"/>
          </ac:spMkLst>
        </pc:spChg>
        <pc:spChg chg="mod">
          <ac:chgData name="Riccardo Berta" userId="c8694f89-bba4-4576-b0a8-456619ca5a8c" providerId="ADAL" clId="{FDDBFC5A-5EA9-5330-BEB8-433D7E3B4C4E}" dt="2026-10-07T05:21:14.052" v="379" actId="1035"/>
          <ac:spMkLst>
            <pc:docMk/>
            <pc:sldMk cId="0" sldId="273"/>
            <ac:spMk id="22" creationId="{00000000-0000-0000-0000-000000000000}"/>
          </ac:spMkLst>
        </pc:spChg>
        <pc:spChg chg="mod">
          <ac:chgData name="Riccardo Berta" userId="c8694f89-bba4-4576-b0a8-456619ca5a8c" providerId="ADAL" clId="{FDDBFC5A-5EA9-5330-BEB8-433D7E3B4C4E}" dt="2026-10-07T05:21:34.825" v="423" actId="20577"/>
          <ac:spMkLst>
            <pc:docMk/>
            <pc:sldMk cId="0" sldId="273"/>
            <ac:spMk id="25" creationId="{00000000-0000-0000-0000-000000000000}"/>
          </ac:spMkLst>
        </pc:spChg>
      </pc:sldChg>
      <pc:sldChg chg="modSp mod">
        <pc:chgData name="Riccardo Berta" userId="c8694f89-bba4-4576-b0a8-456619ca5a8c" providerId="ADAL" clId="{FDDBFC5A-5EA9-5330-BEB8-433D7E3B4C4E}" dt="2026-10-07T05:23:53.692" v="447" actId="113"/>
        <pc:sldMkLst>
          <pc:docMk/>
          <pc:sldMk cId="0" sldId="274"/>
        </pc:sldMkLst>
        <pc:spChg chg="mod">
          <ac:chgData name="Riccardo Berta" userId="c8694f89-bba4-4576-b0a8-456619ca5a8c" providerId="ADAL" clId="{FDDBFC5A-5EA9-5330-BEB8-433D7E3B4C4E}" dt="2026-10-07T05:21:52.465" v="426" actId="1076"/>
          <ac:spMkLst>
            <pc:docMk/>
            <pc:sldMk cId="0" sldId="274"/>
            <ac:spMk id="11"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14"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17"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18"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19"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21"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22"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24" creationId="{00000000-0000-0000-0000-000000000000}"/>
          </ac:spMkLst>
        </pc:spChg>
        <pc:spChg chg="mod">
          <ac:chgData name="Riccardo Berta" userId="c8694f89-bba4-4576-b0a8-456619ca5a8c" providerId="ADAL" clId="{FDDBFC5A-5EA9-5330-BEB8-433D7E3B4C4E}" dt="2026-10-07T05:21:52.465" v="426" actId="1076"/>
          <ac:spMkLst>
            <pc:docMk/>
            <pc:sldMk cId="0" sldId="274"/>
            <ac:spMk id="25" creationId="{00000000-0000-0000-0000-000000000000}"/>
          </ac:spMkLst>
        </pc:spChg>
        <pc:spChg chg="mod">
          <ac:chgData name="Riccardo Berta" userId="c8694f89-bba4-4576-b0a8-456619ca5a8c" providerId="ADAL" clId="{FDDBFC5A-5EA9-5330-BEB8-433D7E3B4C4E}" dt="2026-10-07T05:23:53.692" v="447" actId="113"/>
          <ac:spMkLst>
            <pc:docMk/>
            <pc:sldMk cId="0" sldId="274"/>
            <ac:spMk id="26" creationId="{00000000-0000-0000-0000-000000000000}"/>
          </ac:spMkLst>
        </pc:spChg>
        <pc:picChg chg="mod">
          <ac:chgData name="Riccardo Berta" userId="c8694f89-bba4-4576-b0a8-456619ca5a8c" providerId="ADAL" clId="{FDDBFC5A-5EA9-5330-BEB8-433D7E3B4C4E}" dt="2026-10-07T05:22:56.655" v="429" actId="1076"/>
          <ac:picMkLst>
            <pc:docMk/>
            <pc:sldMk cId="0" sldId="274"/>
            <ac:picMk id="10" creationId="{00000000-0000-0000-0000-000000000000}"/>
          </ac:picMkLst>
        </pc:picChg>
        <pc:picChg chg="mod">
          <ac:chgData name="Riccardo Berta" userId="c8694f89-bba4-4576-b0a8-456619ca5a8c" providerId="ADAL" clId="{FDDBFC5A-5EA9-5330-BEB8-433D7E3B4C4E}" dt="2026-10-07T05:23:01.999" v="432" actId="1076"/>
          <ac:picMkLst>
            <pc:docMk/>
            <pc:sldMk cId="0" sldId="274"/>
            <ac:picMk id="13" creationId="{00000000-0000-0000-0000-000000000000}"/>
          </ac:picMkLst>
        </pc:picChg>
        <pc:picChg chg="mod">
          <ac:chgData name="Riccardo Berta" userId="c8694f89-bba4-4576-b0a8-456619ca5a8c" providerId="ADAL" clId="{FDDBFC5A-5EA9-5330-BEB8-433D7E3B4C4E}" dt="2026-10-07T05:23:12.464" v="435" actId="14100"/>
          <ac:picMkLst>
            <pc:docMk/>
            <pc:sldMk cId="0" sldId="274"/>
            <ac:picMk id="16" creationId="{00000000-0000-0000-0000-000000000000}"/>
          </ac:picMkLst>
        </pc:picChg>
      </pc:sldChg>
      <pc:sldChg chg="modSp mod">
        <pc:chgData name="Riccardo Berta" userId="c8694f89-bba4-4576-b0a8-456619ca5a8c" providerId="ADAL" clId="{FDDBFC5A-5EA9-5330-BEB8-433D7E3B4C4E}" dt="2026-10-07T08:31:22.081" v="673" actId="14100"/>
        <pc:sldMkLst>
          <pc:docMk/>
          <pc:sldMk cId="0" sldId="276"/>
        </pc:sldMkLst>
        <pc:spChg chg="mod">
          <ac:chgData name="Riccardo Berta" userId="c8694f89-bba4-4576-b0a8-456619ca5a8c" providerId="ADAL" clId="{FDDBFC5A-5EA9-5330-BEB8-433D7E3B4C4E}" dt="2026-10-07T08:31:16.661" v="672" actId="14100"/>
          <ac:spMkLst>
            <pc:docMk/>
            <pc:sldMk cId="0" sldId="276"/>
            <ac:spMk id="8" creationId="{00000000-0000-0000-0000-000000000000}"/>
          </ac:spMkLst>
        </pc:spChg>
        <pc:spChg chg="mod">
          <ac:chgData name="Riccardo Berta" userId="c8694f89-bba4-4576-b0a8-456619ca5a8c" providerId="ADAL" clId="{FDDBFC5A-5EA9-5330-BEB8-433D7E3B4C4E}" dt="2026-10-07T08:31:22.081" v="673" actId="14100"/>
          <ac:spMkLst>
            <pc:docMk/>
            <pc:sldMk cId="0" sldId="276"/>
            <ac:spMk id="9" creationId="{00000000-0000-0000-0000-000000000000}"/>
          </ac:spMkLst>
        </pc:spChg>
      </pc:sldChg>
      <pc:sldChg chg="modSp mod">
        <pc:chgData name="Riccardo Berta" userId="c8694f89-bba4-4576-b0a8-456619ca5a8c" providerId="ADAL" clId="{FDDBFC5A-5EA9-5330-BEB8-433D7E3B4C4E}" dt="2026-10-07T08:41:28.834" v="684" actId="1076"/>
        <pc:sldMkLst>
          <pc:docMk/>
          <pc:sldMk cId="0" sldId="277"/>
        </pc:sldMkLst>
        <pc:spChg chg="mod">
          <ac:chgData name="Riccardo Berta" userId="c8694f89-bba4-4576-b0a8-456619ca5a8c" providerId="ADAL" clId="{FDDBFC5A-5EA9-5330-BEB8-433D7E3B4C4E}" dt="2026-10-07T08:41:28.834" v="684" actId="1076"/>
          <ac:spMkLst>
            <pc:docMk/>
            <pc:sldMk cId="0" sldId="277"/>
            <ac:spMk id="11" creationId="{00000000-0000-0000-0000-000000000000}"/>
          </ac:spMkLst>
        </pc:spChg>
        <pc:picChg chg="mod">
          <ac:chgData name="Riccardo Berta" userId="c8694f89-bba4-4576-b0a8-456619ca5a8c" providerId="ADAL" clId="{FDDBFC5A-5EA9-5330-BEB8-433D7E3B4C4E}" dt="2026-10-07T08:39:26.299" v="679" actId="14100"/>
          <ac:picMkLst>
            <pc:docMk/>
            <pc:sldMk cId="0" sldId="277"/>
            <ac:picMk id="12" creationId="{00000000-0000-0000-0000-000000000000}"/>
          </ac:picMkLst>
        </pc:picChg>
      </pc:sldChg>
      <pc:sldChg chg="modSp mod">
        <pc:chgData name="Riccardo Berta" userId="c8694f89-bba4-4576-b0a8-456619ca5a8c" providerId="ADAL" clId="{FDDBFC5A-5EA9-5330-BEB8-433D7E3B4C4E}" dt="2026-10-07T08:58:22.723" v="693" actId="14100"/>
        <pc:sldMkLst>
          <pc:docMk/>
          <pc:sldMk cId="0" sldId="280"/>
        </pc:sldMkLst>
        <pc:spChg chg="mod">
          <ac:chgData name="Riccardo Berta" userId="c8694f89-bba4-4576-b0a8-456619ca5a8c" providerId="ADAL" clId="{FDDBFC5A-5EA9-5330-BEB8-433D7E3B4C4E}" dt="2026-10-07T05:27:19.928" v="451" actId="1076"/>
          <ac:spMkLst>
            <pc:docMk/>
            <pc:sldMk cId="0" sldId="280"/>
            <ac:spMk id="10" creationId="{00000000-0000-0000-0000-000000000000}"/>
          </ac:spMkLst>
        </pc:spChg>
        <pc:spChg chg="mod">
          <ac:chgData name="Riccardo Berta" userId="c8694f89-bba4-4576-b0a8-456619ca5a8c" providerId="ADAL" clId="{FDDBFC5A-5EA9-5330-BEB8-433D7E3B4C4E}" dt="2026-10-07T05:27:16.151" v="450" actId="1076"/>
          <ac:spMkLst>
            <pc:docMk/>
            <pc:sldMk cId="0" sldId="280"/>
            <ac:spMk id="11" creationId="{00000000-0000-0000-0000-000000000000}"/>
          </ac:spMkLst>
        </pc:spChg>
        <pc:spChg chg="mod">
          <ac:chgData name="Riccardo Berta" userId="c8694f89-bba4-4576-b0a8-456619ca5a8c" providerId="ADAL" clId="{FDDBFC5A-5EA9-5330-BEB8-433D7E3B4C4E}" dt="2026-10-07T05:27:16.151" v="450" actId="1076"/>
          <ac:spMkLst>
            <pc:docMk/>
            <pc:sldMk cId="0" sldId="280"/>
            <ac:spMk id="13" creationId="{00000000-0000-0000-0000-000000000000}"/>
          </ac:spMkLst>
        </pc:spChg>
        <pc:picChg chg="mod">
          <ac:chgData name="Riccardo Berta" userId="c8694f89-bba4-4576-b0a8-456619ca5a8c" providerId="ADAL" clId="{FDDBFC5A-5EA9-5330-BEB8-433D7E3B4C4E}" dt="2026-10-07T05:27:45.680" v="457" actId="1076"/>
          <ac:picMkLst>
            <pc:docMk/>
            <pc:sldMk cId="0" sldId="280"/>
            <ac:picMk id="9" creationId="{00000000-0000-0000-0000-000000000000}"/>
          </ac:picMkLst>
        </pc:picChg>
        <pc:picChg chg="mod">
          <ac:chgData name="Riccardo Berta" userId="c8694f89-bba4-4576-b0a8-456619ca5a8c" providerId="ADAL" clId="{FDDBFC5A-5EA9-5330-BEB8-433D7E3B4C4E}" dt="2026-10-07T08:58:22.723" v="693" actId="14100"/>
          <ac:picMkLst>
            <pc:docMk/>
            <pc:sldMk cId="0" sldId="280"/>
            <ac:picMk id="12" creationId="{00000000-0000-0000-0000-000000000000}"/>
          </ac:picMkLst>
        </pc:picChg>
      </pc:sldChg>
      <pc:sldChg chg="addSp delSp modSp mod">
        <pc:chgData name="Riccardo Berta" userId="c8694f89-bba4-4576-b0a8-456619ca5a8c" providerId="ADAL" clId="{FDDBFC5A-5EA9-5330-BEB8-433D7E3B4C4E}" dt="2026-10-07T05:28:34.553" v="467" actId="1076"/>
        <pc:sldMkLst>
          <pc:docMk/>
          <pc:sldMk cId="0" sldId="281"/>
        </pc:sldMkLst>
        <pc:spChg chg="del">
          <ac:chgData name="Riccardo Berta" userId="c8694f89-bba4-4576-b0a8-456619ca5a8c" providerId="ADAL" clId="{FDDBFC5A-5EA9-5330-BEB8-433D7E3B4C4E}" dt="2026-10-07T05:28:28.463" v="464" actId="478"/>
          <ac:spMkLst>
            <pc:docMk/>
            <pc:sldMk cId="0" sldId="281"/>
            <ac:spMk id="22"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23"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24"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25"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26"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27"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28"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29" creationId="{00000000-0000-0000-0000-000000000000}"/>
          </ac:spMkLst>
        </pc:spChg>
        <pc:spChg chg="mod">
          <ac:chgData name="Riccardo Berta" userId="c8694f89-bba4-4576-b0a8-456619ca5a8c" providerId="ADAL" clId="{FDDBFC5A-5EA9-5330-BEB8-433D7E3B4C4E}" dt="2026-10-07T05:28:24.570" v="462" actId="1076"/>
          <ac:spMkLst>
            <pc:docMk/>
            <pc:sldMk cId="0" sldId="281"/>
            <ac:spMk id="30" creationId="{00000000-0000-0000-0000-000000000000}"/>
          </ac:spMkLst>
        </pc:spChg>
        <pc:spChg chg="add mod">
          <ac:chgData name="Riccardo Berta" userId="c8694f89-bba4-4576-b0a8-456619ca5a8c" providerId="ADAL" clId="{FDDBFC5A-5EA9-5330-BEB8-433D7E3B4C4E}" dt="2026-10-07T05:28:24.570" v="462" actId="1076"/>
          <ac:spMkLst>
            <pc:docMk/>
            <pc:sldMk cId="0" sldId="281"/>
            <ac:spMk id="31" creationId="{39AF3A71-B8BF-AE89-B8BC-DA87BD46AF9C}"/>
          </ac:spMkLst>
        </pc:spChg>
        <pc:picChg chg="mod">
          <ac:chgData name="Riccardo Berta" userId="c8694f89-bba4-4576-b0a8-456619ca5a8c" providerId="ADAL" clId="{FDDBFC5A-5EA9-5330-BEB8-433D7E3B4C4E}" dt="2026-10-07T05:28:34.553" v="467" actId="1076"/>
          <ac:picMkLst>
            <pc:docMk/>
            <pc:sldMk cId="0" sldId="281"/>
            <ac:picMk id="21" creationId="{00000000-0000-0000-0000-000000000000}"/>
          </ac:picMkLst>
        </pc:picChg>
      </pc:sldChg>
      <pc:sldChg chg="modSp mod">
        <pc:chgData name="Riccardo Berta" userId="c8694f89-bba4-4576-b0a8-456619ca5a8c" providerId="ADAL" clId="{FDDBFC5A-5EA9-5330-BEB8-433D7E3B4C4E}" dt="2026-10-07T09:01:31.776" v="699" actId="113"/>
        <pc:sldMkLst>
          <pc:docMk/>
          <pc:sldMk cId="0" sldId="282"/>
        </pc:sldMkLst>
        <pc:spChg chg="mod">
          <ac:chgData name="Riccardo Berta" userId="c8694f89-bba4-4576-b0a8-456619ca5a8c" providerId="ADAL" clId="{FDDBFC5A-5EA9-5330-BEB8-433D7E3B4C4E}" dt="2026-10-07T09:00:23.808" v="695" actId="113"/>
          <ac:spMkLst>
            <pc:docMk/>
            <pc:sldMk cId="0" sldId="282"/>
            <ac:spMk id="15" creationId="{00000000-0000-0000-0000-000000000000}"/>
          </ac:spMkLst>
        </pc:spChg>
        <pc:spChg chg="mod">
          <ac:chgData name="Riccardo Berta" userId="c8694f89-bba4-4576-b0a8-456619ca5a8c" providerId="ADAL" clId="{FDDBFC5A-5EA9-5330-BEB8-433D7E3B4C4E}" dt="2026-10-07T09:00:39.306" v="697" actId="113"/>
          <ac:spMkLst>
            <pc:docMk/>
            <pc:sldMk cId="0" sldId="282"/>
            <ac:spMk id="19" creationId="{00000000-0000-0000-0000-000000000000}"/>
          </ac:spMkLst>
        </pc:spChg>
        <pc:spChg chg="mod">
          <ac:chgData name="Riccardo Berta" userId="c8694f89-bba4-4576-b0a8-456619ca5a8c" providerId="ADAL" clId="{FDDBFC5A-5EA9-5330-BEB8-433D7E3B4C4E}" dt="2026-10-07T09:01:31.776" v="699" actId="113"/>
          <ac:spMkLst>
            <pc:docMk/>
            <pc:sldMk cId="0" sldId="282"/>
            <ac:spMk id="23" creationId="{00000000-0000-0000-0000-000000000000}"/>
          </ac:spMkLst>
        </pc:spChg>
      </pc:sldChg>
      <pc:sldChg chg="modSp mod">
        <pc:chgData name="Riccardo Berta" userId="c8694f89-bba4-4576-b0a8-456619ca5a8c" providerId="ADAL" clId="{FDDBFC5A-5EA9-5330-BEB8-433D7E3B4C4E}" dt="2026-10-07T05:29:01.741" v="472" actId="14100"/>
        <pc:sldMkLst>
          <pc:docMk/>
          <pc:sldMk cId="0" sldId="284"/>
        </pc:sldMkLst>
        <pc:spChg chg="mod">
          <ac:chgData name="Riccardo Berta" userId="c8694f89-bba4-4576-b0a8-456619ca5a8c" providerId="ADAL" clId="{FDDBFC5A-5EA9-5330-BEB8-433D7E3B4C4E}" dt="2026-10-07T05:28:56.116" v="470" actId="1076"/>
          <ac:spMkLst>
            <pc:docMk/>
            <pc:sldMk cId="0" sldId="284"/>
            <ac:spMk id="10" creationId="{00000000-0000-0000-0000-000000000000}"/>
          </ac:spMkLst>
        </pc:spChg>
        <pc:picChg chg="mod">
          <ac:chgData name="Riccardo Berta" userId="c8694f89-bba4-4576-b0a8-456619ca5a8c" providerId="ADAL" clId="{FDDBFC5A-5EA9-5330-BEB8-433D7E3B4C4E}" dt="2026-10-07T05:29:01.741" v="472" actId="14100"/>
          <ac:picMkLst>
            <pc:docMk/>
            <pc:sldMk cId="0" sldId="284"/>
            <ac:picMk id="9" creationId="{00000000-0000-0000-0000-000000000000}"/>
          </ac:picMkLst>
        </pc:picChg>
        <pc:picChg chg="mod">
          <ac:chgData name="Riccardo Berta" userId="c8694f89-bba4-4576-b0a8-456619ca5a8c" providerId="ADAL" clId="{FDDBFC5A-5EA9-5330-BEB8-433D7E3B4C4E}" dt="2026-10-07T05:28:53.206" v="469" actId="1076"/>
          <ac:picMkLst>
            <pc:docMk/>
            <pc:sldMk cId="0" sldId="284"/>
            <ac:picMk id="11" creationId="{00000000-0000-0000-0000-000000000000}"/>
          </ac:picMkLst>
        </pc:picChg>
      </pc:sldChg>
      <pc:sldChg chg="delSp modSp mod">
        <pc:chgData name="Riccardo Berta" userId="c8694f89-bba4-4576-b0a8-456619ca5a8c" providerId="ADAL" clId="{FDDBFC5A-5EA9-5330-BEB8-433D7E3B4C4E}" dt="2026-10-07T05:51:19.515" v="499" actId="313"/>
        <pc:sldMkLst>
          <pc:docMk/>
          <pc:sldMk cId="0" sldId="286"/>
        </pc:sldMkLst>
        <pc:spChg chg="mod">
          <ac:chgData name="Riccardo Berta" userId="c8694f89-bba4-4576-b0a8-456619ca5a8c" providerId="ADAL" clId="{FDDBFC5A-5EA9-5330-BEB8-433D7E3B4C4E}" dt="2026-10-07T05:50:32.821" v="481" actId="14100"/>
          <ac:spMkLst>
            <pc:docMk/>
            <pc:sldMk cId="0" sldId="286"/>
            <ac:spMk id="9" creationId="{00000000-0000-0000-0000-000000000000}"/>
          </ac:spMkLst>
        </pc:spChg>
        <pc:spChg chg="mod">
          <ac:chgData name="Riccardo Berta" userId="c8694f89-bba4-4576-b0a8-456619ca5a8c" providerId="ADAL" clId="{FDDBFC5A-5EA9-5330-BEB8-433D7E3B4C4E}" dt="2026-10-07T05:50:40.009" v="483" actId="14100"/>
          <ac:spMkLst>
            <pc:docMk/>
            <pc:sldMk cId="0" sldId="286"/>
            <ac:spMk id="10" creationId="{00000000-0000-0000-0000-000000000000}"/>
          </ac:spMkLst>
        </pc:spChg>
        <pc:spChg chg="mod">
          <ac:chgData name="Riccardo Berta" userId="c8694f89-bba4-4576-b0a8-456619ca5a8c" providerId="ADAL" clId="{FDDBFC5A-5EA9-5330-BEB8-433D7E3B4C4E}" dt="2026-10-07T05:50:35.645" v="482" actId="14100"/>
          <ac:spMkLst>
            <pc:docMk/>
            <pc:sldMk cId="0" sldId="286"/>
            <ac:spMk id="13" creationId="{00000000-0000-0000-0000-000000000000}"/>
          </ac:spMkLst>
        </pc:spChg>
        <pc:spChg chg="mod">
          <ac:chgData name="Riccardo Berta" userId="c8694f89-bba4-4576-b0a8-456619ca5a8c" providerId="ADAL" clId="{FDDBFC5A-5EA9-5330-BEB8-433D7E3B4C4E}" dt="2026-10-07T05:50:44.399" v="484" actId="14100"/>
          <ac:spMkLst>
            <pc:docMk/>
            <pc:sldMk cId="0" sldId="286"/>
            <ac:spMk id="14" creationId="{00000000-0000-0000-0000-000000000000}"/>
          </ac:spMkLst>
        </pc:spChg>
        <pc:spChg chg="del mod">
          <ac:chgData name="Riccardo Berta" userId="c8694f89-bba4-4576-b0a8-456619ca5a8c" providerId="ADAL" clId="{FDDBFC5A-5EA9-5330-BEB8-433D7E3B4C4E}" dt="2026-10-07T05:51:01.704" v="491" actId="478"/>
          <ac:spMkLst>
            <pc:docMk/>
            <pc:sldMk cId="0" sldId="286"/>
            <ac:spMk id="19" creationId="{00000000-0000-0000-0000-000000000000}"/>
          </ac:spMkLst>
        </pc:spChg>
        <pc:spChg chg="mod">
          <ac:chgData name="Riccardo Berta" userId="c8694f89-bba4-4576-b0a8-456619ca5a8c" providerId="ADAL" clId="{FDDBFC5A-5EA9-5330-BEB8-433D7E3B4C4E}" dt="2026-10-07T05:29:20.578" v="476" actId="1076"/>
          <ac:spMkLst>
            <pc:docMk/>
            <pc:sldMk cId="0" sldId="286"/>
            <ac:spMk id="20" creationId="{00000000-0000-0000-0000-000000000000}"/>
          </ac:spMkLst>
        </pc:spChg>
        <pc:spChg chg="mod">
          <ac:chgData name="Riccardo Berta" userId="c8694f89-bba4-4576-b0a8-456619ca5a8c" providerId="ADAL" clId="{FDDBFC5A-5EA9-5330-BEB8-433D7E3B4C4E}" dt="2026-10-07T05:29:20.578" v="476" actId="1076"/>
          <ac:spMkLst>
            <pc:docMk/>
            <pc:sldMk cId="0" sldId="286"/>
            <ac:spMk id="21" creationId="{00000000-0000-0000-0000-000000000000}"/>
          </ac:spMkLst>
        </pc:spChg>
        <pc:spChg chg="mod">
          <ac:chgData name="Riccardo Berta" userId="c8694f89-bba4-4576-b0a8-456619ca5a8c" providerId="ADAL" clId="{FDDBFC5A-5EA9-5330-BEB8-433D7E3B4C4E}" dt="2026-10-07T05:51:19.515" v="499" actId="313"/>
          <ac:spMkLst>
            <pc:docMk/>
            <pc:sldMk cId="0" sldId="286"/>
            <ac:spMk id="22" creationId="{00000000-0000-0000-0000-000000000000}"/>
          </ac:spMkLst>
        </pc:spChg>
        <pc:picChg chg="mod">
          <ac:chgData name="Riccardo Berta" userId="c8694f89-bba4-4576-b0a8-456619ca5a8c" providerId="ADAL" clId="{FDDBFC5A-5EA9-5330-BEB8-433D7E3B4C4E}" dt="2026-10-07T05:51:07.250" v="493" actId="1076"/>
          <ac:picMkLst>
            <pc:docMk/>
            <pc:sldMk cId="0" sldId="286"/>
            <ac:picMk id="17" creationId="{00000000-0000-0000-0000-000000000000}"/>
          </ac:picMkLst>
        </pc:picChg>
        <pc:picChg chg="mod">
          <ac:chgData name="Riccardo Berta" userId="c8694f89-bba4-4576-b0a8-456619ca5a8c" providerId="ADAL" clId="{FDDBFC5A-5EA9-5330-BEB8-433D7E3B4C4E}" dt="2026-10-07T05:51:04.114" v="492" actId="1076"/>
          <ac:picMkLst>
            <pc:docMk/>
            <pc:sldMk cId="0" sldId="286"/>
            <ac:picMk id="18" creationId="{00000000-0000-0000-0000-000000000000}"/>
          </ac:picMkLst>
        </pc:picChg>
      </pc:sldChg>
      <pc:sldChg chg="modSp mod">
        <pc:chgData name="Riccardo Berta" userId="c8694f89-bba4-4576-b0a8-456619ca5a8c" providerId="ADAL" clId="{FDDBFC5A-5EA9-5330-BEB8-433D7E3B4C4E}" dt="2026-10-07T09:19:57.521" v="701" actId="113"/>
        <pc:sldMkLst>
          <pc:docMk/>
          <pc:sldMk cId="0" sldId="287"/>
        </pc:sldMkLst>
        <pc:spChg chg="mod">
          <ac:chgData name="Riccardo Berta" userId="c8694f89-bba4-4576-b0a8-456619ca5a8c" providerId="ADAL" clId="{FDDBFC5A-5EA9-5330-BEB8-433D7E3B4C4E}" dt="2026-10-07T05:51:31.578" v="502" actId="14100"/>
          <ac:spMkLst>
            <pc:docMk/>
            <pc:sldMk cId="0" sldId="287"/>
            <ac:spMk id="10" creationId="{00000000-0000-0000-0000-000000000000}"/>
          </ac:spMkLst>
        </pc:spChg>
        <pc:spChg chg="mod">
          <ac:chgData name="Riccardo Berta" userId="c8694f89-bba4-4576-b0a8-456619ca5a8c" providerId="ADAL" clId="{FDDBFC5A-5EA9-5330-BEB8-433D7E3B4C4E}" dt="2026-10-07T05:51:36.211" v="503" actId="14100"/>
          <ac:spMkLst>
            <pc:docMk/>
            <pc:sldMk cId="0" sldId="287"/>
            <ac:spMk id="11" creationId="{00000000-0000-0000-0000-000000000000}"/>
          </ac:spMkLst>
        </pc:spChg>
        <pc:spChg chg="mod">
          <ac:chgData name="Riccardo Berta" userId="c8694f89-bba4-4576-b0a8-456619ca5a8c" providerId="ADAL" clId="{FDDBFC5A-5EA9-5330-BEB8-433D7E3B4C4E}" dt="2026-10-07T09:19:57.521" v="701" actId="113"/>
          <ac:spMkLst>
            <pc:docMk/>
            <pc:sldMk cId="0" sldId="287"/>
            <ac:spMk id="15" creationId="{00000000-0000-0000-0000-000000000000}"/>
          </ac:spMkLst>
        </pc:spChg>
        <pc:spChg chg="mod">
          <ac:chgData name="Riccardo Berta" userId="c8694f89-bba4-4576-b0a8-456619ca5a8c" providerId="ADAL" clId="{FDDBFC5A-5EA9-5330-BEB8-433D7E3B4C4E}" dt="2026-10-07T05:51:59.819" v="512" actId="20577"/>
          <ac:spMkLst>
            <pc:docMk/>
            <pc:sldMk cId="0" sldId="287"/>
            <ac:spMk id="18" creationId="{00000000-0000-0000-0000-000000000000}"/>
          </ac:spMkLst>
        </pc:spChg>
        <pc:picChg chg="mod">
          <ac:chgData name="Riccardo Berta" userId="c8694f89-bba4-4576-b0a8-456619ca5a8c" providerId="ADAL" clId="{FDDBFC5A-5EA9-5330-BEB8-433D7E3B4C4E}" dt="2026-10-07T05:51:25.634" v="501" actId="1076"/>
          <ac:picMkLst>
            <pc:docMk/>
            <pc:sldMk cId="0" sldId="287"/>
            <ac:picMk id="9" creationId="{00000000-0000-0000-0000-000000000000}"/>
          </ac:picMkLst>
        </pc:picChg>
      </pc:sldChg>
      <pc:sldChg chg="modSp mod">
        <pc:chgData name="Riccardo Berta" userId="c8694f89-bba4-4576-b0a8-456619ca5a8c" providerId="ADAL" clId="{FDDBFC5A-5EA9-5330-BEB8-433D7E3B4C4E}" dt="2026-10-07T05:52:35.237" v="522" actId="14100"/>
        <pc:sldMkLst>
          <pc:docMk/>
          <pc:sldMk cId="0" sldId="288"/>
        </pc:sldMkLst>
        <pc:spChg chg="mod">
          <ac:chgData name="Riccardo Berta" userId="c8694f89-bba4-4576-b0a8-456619ca5a8c" providerId="ADAL" clId="{FDDBFC5A-5EA9-5330-BEB8-433D7E3B4C4E}" dt="2026-10-07T05:52:15.626" v="517" actId="20577"/>
          <ac:spMkLst>
            <pc:docMk/>
            <pc:sldMk cId="0" sldId="288"/>
            <ac:spMk id="8" creationId="{00000000-0000-0000-0000-000000000000}"/>
          </ac:spMkLst>
        </pc:spChg>
        <pc:spChg chg="mod">
          <ac:chgData name="Riccardo Berta" userId="c8694f89-bba4-4576-b0a8-456619ca5a8c" providerId="ADAL" clId="{FDDBFC5A-5EA9-5330-BEB8-433D7E3B4C4E}" dt="2026-10-07T05:52:31.023" v="520" actId="1076"/>
          <ac:spMkLst>
            <pc:docMk/>
            <pc:sldMk cId="0" sldId="288"/>
            <ac:spMk id="11" creationId="{00000000-0000-0000-0000-000000000000}"/>
          </ac:spMkLst>
        </pc:spChg>
        <pc:spChg chg="mod">
          <ac:chgData name="Riccardo Berta" userId="c8694f89-bba4-4576-b0a8-456619ca5a8c" providerId="ADAL" clId="{FDDBFC5A-5EA9-5330-BEB8-433D7E3B4C4E}" dt="2026-10-07T05:52:31.023" v="520" actId="1076"/>
          <ac:spMkLst>
            <pc:docMk/>
            <pc:sldMk cId="0" sldId="288"/>
            <ac:spMk id="12" creationId="{00000000-0000-0000-0000-000000000000}"/>
          </ac:spMkLst>
        </pc:spChg>
        <pc:spChg chg="mod">
          <ac:chgData name="Riccardo Berta" userId="c8694f89-bba4-4576-b0a8-456619ca5a8c" providerId="ADAL" clId="{FDDBFC5A-5EA9-5330-BEB8-433D7E3B4C4E}" dt="2026-10-07T05:52:31.023" v="520" actId="1076"/>
          <ac:spMkLst>
            <pc:docMk/>
            <pc:sldMk cId="0" sldId="288"/>
            <ac:spMk id="13" creationId="{00000000-0000-0000-0000-000000000000}"/>
          </ac:spMkLst>
        </pc:spChg>
        <pc:spChg chg="mod">
          <ac:chgData name="Riccardo Berta" userId="c8694f89-bba4-4576-b0a8-456619ca5a8c" providerId="ADAL" clId="{FDDBFC5A-5EA9-5330-BEB8-433D7E3B4C4E}" dt="2026-10-07T05:52:31.023" v="520" actId="1076"/>
          <ac:spMkLst>
            <pc:docMk/>
            <pc:sldMk cId="0" sldId="288"/>
            <ac:spMk id="14" creationId="{00000000-0000-0000-0000-000000000000}"/>
          </ac:spMkLst>
        </pc:spChg>
        <pc:picChg chg="mod">
          <ac:chgData name="Riccardo Berta" userId="c8694f89-bba4-4576-b0a8-456619ca5a8c" providerId="ADAL" clId="{FDDBFC5A-5EA9-5330-BEB8-433D7E3B4C4E}" dt="2026-10-07T05:52:23.979" v="518" actId="14100"/>
          <ac:picMkLst>
            <pc:docMk/>
            <pc:sldMk cId="0" sldId="288"/>
            <ac:picMk id="9" creationId="{00000000-0000-0000-0000-000000000000}"/>
          </ac:picMkLst>
        </pc:picChg>
        <pc:picChg chg="mod">
          <ac:chgData name="Riccardo Berta" userId="c8694f89-bba4-4576-b0a8-456619ca5a8c" providerId="ADAL" clId="{FDDBFC5A-5EA9-5330-BEB8-433D7E3B4C4E}" dt="2026-10-07T05:52:35.237" v="522" actId="14100"/>
          <ac:picMkLst>
            <pc:docMk/>
            <pc:sldMk cId="0" sldId="288"/>
            <ac:picMk id="10" creationId="{00000000-0000-0000-0000-000000000000}"/>
          </ac:picMkLst>
        </pc:picChg>
      </pc:sldChg>
      <pc:sldChg chg="modSp mod">
        <pc:chgData name="Riccardo Berta" userId="c8694f89-bba4-4576-b0a8-456619ca5a8c" providerId="ADAL" clId="{FDDBFC5A-5EA9-5330-BEB8-433D7E3B4C4E}" dt="2026-10-07T09:25:20.233" v="705" actId="1076"/>
        <pc:sldMkLst>
          <pc:docMk/>
          <pc:sldMk cId="0" sldId="289"/>
        </pc:sldMkLst>
        <pc:spChg chg="mod">
          <ac:chgData name="Riccardo Berta" userId="c8694f89-bba4-4576-b0a8-456619ca5a8c" providerId="ADAL" clId="{FDDBFC5A-5EA9-5330-BEB8-433D7E3B4C4E}" dt="2026-10-07T05:53:33.461" v="535" actId="20577"/>
          <ac:spMkLst>
            <pc:docMk/>
            <pc:sldMk cId="0" sldId="289"/>
            <ac:spMk id="3" creationId="{00000000-0000-0000-0000-000000000000}"/>
          </ac:spMkLst>
        </pc:spChg>
        <pc:spChg chg="mod">
          <ac:chgData name="Riccardo Berta" userId="c8694f89-bba4-4576-b0a8-456619ca5a8c" providerId="ADAL" clId="{FDDBFC5A-5EA9-5330-BEB8-433D7E3B4C4E}" dt="2026-10-07T05:52:58.714" v="524" actId="14100"/>
          <ac:spMkLst>
            <pc:docMk/>
            <pc:sldMk cId="0" sldId="289"/>
            <ac:spMk id="8" creationId="{00000000-0000-0000-0000-000000000000}"/>
          </ac:spMkLst>
        </pc:spChg>
        <pc:spChg chg="mod">
          <ac:chgData name="Riccardo Berta" userId="c8694f89-bba4-4576-b0a8-456619ca5a8c" providerId="ADAL" clId="{FDDBFC5A-5EA9-5330-BEB8-433D7E3B4C4E}" dt="2026-10-07T05:53:12.275" v="529" actId="1076"/>
          <ac:spMkLst>
            <pc:docMk/>
            <pc:sldMk cId="0" sldId="289"/>
            <ac:spMk id="13" creationId="{00000000-0000-0000-0000-000000000000}"/>
          </ac:spMkLst>
        </pc:spChg>
        <pc:spChg chg="mod">
          <ac:chgData name="Riccardo Berta" userId="c8694f89-bba4-4576-b0a8-456619ca5a8c" providerId="ADAL" clId="{FDDBFC5A-5EA9-5330-BEB8-433D7E3B4C4E}" dt="2026-10-07T05:53:12.275" v="529" actId="1076"/>
          <ac:spMkLst>
            <pc:docMk/>
            <pc:sldMk cId="0" sldId="289"/>
            <ac:spMk id="14" creationId="{00000000-0000-0000-0000-000000000000}"/>
          </ac:spMkLst>
        </pc:spChg>
        <pc:spChg chg="mod">
          <ac:chgData name="Riccardo Berta" userId="c8694f89-bba4-4576-b0a8-456619ca5a8c" providerId="ADAL" clId="{FDDBFC5A-5EA9-5330-BEB8-433D7E3B4C4E}" dt="2026-10-07T05:53:12.275" v="529" actId="1076"/>
          <ac:spMkLst>
            <pc:docMk/>
            <pc:sldMk cId="0" sldId="289"/>
            <ac:spMk id="15" creationId="{00000000-0000-0000-0000-000000000000}"/>
          </ac:spMkLst>
        </pc:spChg>
        <pc:spChg chg="mod">
          <ac:chgData name="Riccardo Berta" userId="c8694f89-bba4-4576-b0a8-456619ca5a8c" providerId="ADAL" clId="{FDDBFC5A-5EA9-5330-BEB8-433D7E3B4C4E}" dt="2026-10-07T05:53:12.275" v="529" actId="1076"/>
          <ac:spMkLst>
            <pc:docMk/>
            <pc:sldMk cId="0" sldId="289"/>
            <ac:spMk id="16" creationId="{00000000-0000-0000-0000-000000000000}"/>
          </ac:spMkLst>
        </pc:spChg>
        <pc:spChg chg="mod">
          <ac:chgData name="Riccardo Berta" userId="c8694f89-bba4-4576-b0a8-456619ca5a8c" providerId="ADAL" clId="{FDDBFC5A-5EA9-5330-BEB8-433D7E3B4C4E}" dt="2026-10-07T05:53:12.275" v="529" actId="1076"/>
          <ac:spMkLst>
            <pc:docMk/>
            <pc:sldMk cId="0" sldId="289"/>
            <ac:spMk id="17" creationId="{00000000-0000-0000-0000-000000000000}"/>
          </ac:spMkLst>
        </pc:spChg>
        <pc:spChg chg="mod">
          <ac:chgData name="Riccardo Berta" userId="c8694f89-bba4-4576-b0a8-456619ca5a8c" providerId="ADAL" clId="{FDDBFC5A-5EA9-5330-BEB8-433D7E3B4C4E}" dt="2026-10-07T05:53:12.275" v="529" actId="1076"/>
          <ac:spMkLst>
            <pc:docMk/>
            <pc:sldMk cId="0" sldId="289"/>
            <ac:spMk id="18" creationId="{00000000-0000-0000-0000-000000000000}"/>
          </ac:spMkLst>
        </pc:spChg>
        <pc:picChg chg="mod">
          <ac:chgData name="Riccardo Berta" userId="c8694f89-bba4-4576-b0a8-456619ca5a8c" providerId="ADAL" clId="{FDDBFC5A-5EA9-5330-BEB8-433D7E3B4C4E}" dt="2026-10-07T09:25:20.233" v="705" actId="1076"/>
          <ac:picMkLst>
            <pc:docMk/>
            <pc:sldMk cId="0" sldId="289"/>
            <ac:picMk id="12" creationId="{00000000-0000-0000-0000-000000000000}"/>
          </ac:picMkLst>
        </pc:picChg>
      </pc:sldChg>
      <pc:sldChg chg="delSp modSp mod">
        <pc:chgData name="Riccardo Berta" userId="c8694f89-bba4-4576-b0a8-456619ca5a8c" providerId="ADAL" clId="{FDDBFC5A-5EA9-5330-BEB8-433D7E3B4C4E}" dt="2026-10-07T05:54:51.087" v="553" actId="20577"/>
        <pc:sldMkLst>
          <pc:docMk/>
          <pc:sldMk cId="0" sldId="290"/>
        </pc:sldMkLst>
        <pc:spChg chg="mod">
          <ac:chgData name="Riccardo Berta" userId="c8694f89-bba4-4576-b0a8-456619ca5a8c" providerId="ADAL" clId="{FDDBFC5A-5EA9-5330-BEB8-433D7E3B4C4E}" dt="2026-10-07T05:54:22.069" v="549" actId="20577"/>
          <ac:spMkLst>
            <pc:docMk/>
            <pc:sldMk cId="0" sldId="290"/>
            <ac:spMk id="8" creationId="{00000000-0000-0000-0000-000000000000}"/>
          </ac:spMkLst>
        </pc:spChg>
        <pc:spChg chg="del">
          <ac:chgData name="Riccardo Berta" userId="c8694f89-bba4-4576-b0a8-456619ca5a8c" providerId="ADAL" clId="{FDDBFC5A-5EA9-5330-BEB8-433D7E3B4C4E}" dt="2026-10-07T05:54:03.400" v="539" actId="478"/>
          <ac:spMkLst>
            <pc:docMk/>
            <pc:sldMk cId="0" sldId="290"/>
            <ac:spMk id="10" creationId="{00000000-0000-0000-0000-000000000000}"/>
          </ac:spMkLst>
        </pc:spChg>
        <pc:spChg chg="del mod">
          <ac:chgData name="Riccardo Berta" userId="c8694f89-bba4-4576-b0a8-456619ca5a8c" providerId="ADAL" clId="{FDDBFC5A-5EA9-5330-BEB8-433D7E3B4C4E}" dt="2026-10-07T05:54:07.551" v="541" actId="478"/>
          <ac:spMkLst>
            <pc:docMk/>
            <pc:sldMk cId="0" sldId="290"/>
            <ac:spMk id="12" creationId="{00000000-0000-0000-0000-000000000000}"/>
          </ac:spMkLst>
        </pc:spChg>
        <pc:spChg chg="mod">
          <ac:chgData name="Riccardo Berta" userId="c8694f89-bba4-4576-b0a8-456619ca5a8c" providerId="ADAL" clId="{FDDBFC5A-5EA9-5330-BEB8-433D7E3B4C4E}" dt="2026-10-07T05:54:31.253" v="551" actId="20577"/>
          <ac:spMkLst>
            <pc:docMk/>
            <pc:sldMk cId="0" sldId="290"/>
            <ac:spMk id="33" creationId="{00000000-0000-0000-0000-000000000000}"/>
          </ac:spMkLst>
        </pc:spChg>
        <pc:spChg chg="mod">
          <ac:chgData name="Riccardo Berta" userId="c8694f89-bba4-4576-b0a8-456619ca5a8c" providerId="ADAL" clId="{FDDBFC5A-5EA9-5330-BEB8-433D7E3B4C4E}" dt="2026-10-07T05:54:51.087" v="553" actId="20577"/>
          <ac:spMkLst>
            <pc:docMk/>
            <pc:sldMk cId="0" sldId="290"/>
            <ac:spMk id="38" creationId="{00000000-0000-0000-0000-000000000000}"/>
          </ac:spMkLst>
        </pc:spChg>
        <pc:picChg chg="mod">
          <ac:chgData name="Riccardo Berta" userId="c8694f89-bba4-4576-b0a8-456619ca5a8c" providerId="ADAL" clId="{FDDBFC5A-5EA9-5330-BEB8-433D7E3B4C4E}" dt="2026-10-07T05:54:15.741" v="544" actId="1076"/>
          <ac:picMkLst>
            <pc:docMk/>
            <pc:sldMk cId="0" sldId="290"/>
            <ac:picMk id="9" creationId="{00000000-0000-0000-0000-000000000000}"/>
          </ac:picMkLst>
        </pc:picChg>
        <pc:picChg chg="del">
          <ac:chgData name="Riccardo Berta" userId="c8694f89-bba4-4576-b0a8-456619ca5a8c" providerId="ADAL" clId="{FDDBFC5A-5EA9-5330-BEB8-433D7E3B4C4E}" dt="2026-10-07T05:54:00.773" v="538" actId="478"/>
          <ac:picMkLst>
            <pc:docMk/>
            <pc:sldMk cId="0" sldId="290"/>
            <ac:picMk id="11" creationId="{00000000-0000-0000-0000-000000000000}"/>
          </ac:picMkLst>
        </pc:picChg>
      </pc:sldChg>
      <pc:sldChg chg="addSp modSp mod">
        <pc:chgData name="Riccardo Berta" userId="c8694f89-bba4-4576-b0a8-456619ca5a8c" providerId="ADAL" clId="{FDDBFC5A-5EA9-5330-BEB8-433D7E3B4C4E}" dt="2026-10-07T05:55:51.507" v="571" actId="20577"/>
        <pc:sldMkLst>
          <pc:docMk/>
          <pc:sldMk cId="0" sldId="292"/>
        </pc:sldMkLst>
        <pc:spChg chg="mod">
          <ac:chgData name="Riccardo Berta" userId="c8694f89-bba4-4576-b0a8-456619ca5a8c" providerId="ADAL" clId="{FDDBFC5A-5EA9-5330-BEB8-433D7E3B4C4E}" dt="2026-10-07T05:55:23.464" v="559" actId="1076"/>
          <ac:spMkLst>
            <pc:docMk/>
            <pc:sldMk cId="0" sldId="292"/>
            <ac:spMk id="11" creationId="{00000000-0000-0000-0000-000000000000}"/>
          </ac:spMkLst>
        </pc:spChg>
        <pc:spChg chg="mod">
          <ac:chgData name="Riccardo Berta" userId="c8694f89-bba4-4576-b0a8-456619ca5a8c" providerId="ADAL" clId="{FDDBFC5A-5EA9-5330-BEB8-433D7E3B4C4E}" dt="2026-10-07T05:55:23.464" v="559" actId="1076"/>
          <ac:spMkLst>
            <pc:docMk/>
            <pc:sldMk cId="0" sldId="292"/>
            <ac:spMk id="12" creationId="{00000000-0000-0000-0000-000000000000}"/>
          </ac:spMkLst>
        </pc:spChg>
        <pc:spChg chg="mod">
          <ac:chgData name="Riccardo Berta" userId="c8694f89-bba4-4576-b0a8-456619ca5a8c" providerId="ADAL" clId="{FDDBFC5A-5EA9-5330-BEB8-433D7E3B4C4E}" dt="2026-10-07T05:55:38.469" v="562" actId="1076"/>
          <ac:spMkLst>
            <pc:docMk/>
            <pc:sldMk cId="0" sldId="292"/>
            <ac:spMk id="15" creationId="{00000000-0000-0000-0000-000000000000}"/>
          </ac:spMkLst>
        </pc:spChg>
        <pc:spChg chg="mod">
          <ac:chgData name="Riccardo Berta" userId="c8694f89-bba4-4576-b0a8-456619ca5a8c" providerId="ADAL" clId="{FDDBFC5A-5EA9-5330-BEB8-433D7E3B4C4E}" dt="2026-10-07T05:55:51.507" v="571" actId="20577"/>
          <ac:spMkLst>
            <pc:docMk/>
            <pc:sldMk cId="0" sldId="292"/>
            <ac:spMk id="20" creationId="{00000000-0000-0000-0000-000000000000}"/>
          </ac:spMkLst>
        </pc:spChg>
        <pc:spChg chg="add mod">
          <ac:chgData name="Riccardo Berta" userId="c8694f89-bba4-4576-b0a8-456619ca5a8c" providerId="ADAL" clId="{FDDBFC5A-5EA9-5330-BEB8-433D7E3B4C4E}" dt="2026-10-07T05:55:16.140" v="558" actId="27636"/>
          <ac:spMkLst>
            <pc:docMk/>
            <pc:sldMk cId="0" sldId="292"/>
            <ac:spMk id="21" creationId="{8C877D44-8D9F-67DE-DBDE-7C513CDCAEFD}"/>
          </ac:spMkLst>
        </pc:spChg>
        <pc:picChg chg="mod">
          <ac:chgData name="Riccardo Berta" userId="c8694f89-bba4-4576-b0a8-456619ca5a8c" providerId="ADAL" clId="{FDDBFC5A-5EA9-5330-BEB8-433D7E3B4C4E}" dt="2026-10-07T05:55:23.464" v="559" actId="1076"/>
          <ac:picMkLst>
            <pc:docMk/>
            <pc:sldMk cId="0" sldId="292"/>
            <ac:picMk id="13" creationId="{00000000-0000-0000-0000-000000000000}"/>
          </ac:picMkLst>
        </pc:picChg>
        <pc:picChg chg="mod">
          <ac:chgData name="Riccardo Berta" userId="c8694f89-bba4-4576-b0a8-456619ca5a8c" providerId="ADAL" clId="{FDDBFC5A-5EA9-5330-BEB8-433D7E3B4C4E}" dt="2026-10-07T05:55:43.358" v="564" actId="14100"/>
          <ac:picMkLst>
            <pc:docMk/>
            <pc:sldMk cId="0" sldId="292"/>
            <ac:picMk id="16" creationId="{00000000-0000-0000-0000-000000000000}"/>
          </ac:picMkLst>
        </pc:picChg>
      </pc:sldChg>
      <pc:sldChg chg="modSp mod">
        <pc:chgData name="Riccardo Berta" userId="c8694f89-bba4-4576-b0a8-456619ca5a8c" providerId="ADAL" clId="{FDDBFC5A-5EA9-5330-BEB8-433D7E3B4C4E}" dt="2026-10-07T09:40:09.464" v="708" actId="14100"/>
        <pc:sldMkLst>
          <pc:docMk/>
          <pc:sldMk cId="0" sldId="293"/>
        </pc:sldMkLst>
        <pc:spChg chg="mod">
          <ac:chgData name="Riccardo Berta" userId="c8694f89-bba4-4576-b0a8-456619ca5a8c" providerId="ADAL" clId="{FDDBFC5A-5EA9-5330-BEB8-433D7E3B4C4E}" dt="2026-10-07T05:56:17.232" v="574" actId="1076"/>
          <ac:spMkLst>
            <pc:docMk/>
            <pc:sldMk cId="0" sldId="293"/>
            <ac:spMk id="15" creationId="{00000000-0000-0000-0000-000000000000}"/>
          </ac:spMkLst>
        </pc:spChg>
        <pc:picChg chg="mod">
          <ac:chgData name="Riccardo Berta" userId="c8694f89-bba4-4576-b0a8-456619ca5a8c" providerId="ADAL" clId="{FDDBFC5A-5EA9-5330-BEB8-433D7E3B4C4E}" dt="2026-10-07T09:40:09.464" v="708" actId="14100"/>
          <ac:picMkLst>
            <pc:docMk/>
            <pc:sldMk cId="0" sldId="293"/>
            <ac:picMk id="20" creationId="{00000000-0000-0000-0000-000000000000}"/>
          </ac:picMkLst>
        </pc:picChg>
      </pc:sldChg>
      <pc:sldChg chg="modSp mod">
        <pc:chgData name="Riccardo Berta" userId="c8694f89-bba4-4576-b0a8-456619ca5a8c" providerId="ADAL" clId="{FDDBFC5A-5EA9-5330-BEB8-433D7E3B4C4E}" dt="2026-10-07T05:56:48.378" v="583" actId="1076"/>
        <pc:sldMkLst>
          <pc:docMk/>
          <pc:sldMk cId="0" sldId="294"/>
        </pc:sldMkLst>
        <pc:spChg chg="mod">
          <ac:chgData name="Riccardo Berta" userId="c8694f89-bba4-4576-b0a8-456619ca5a8c" providerId="ADAL" clId="{FDDBFC5A-5EA9-5330-BEB8-433D7E3B4C4E}" dt="2026-10-07T05:56:32.326" v="579" actId="20577"/>
          <ac:spMkLst>
            <pc:docMk/>
            <pc:sldMk cId="0" sldId="294"/>
            <ac:spMk id="8"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11"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12"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14"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15"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16"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18"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19"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20" creationId="{00000000-0000-0000-0000-000000000000}"/>
          </ac:spMkLst>
        </pc:spChg>
        <pc:spChg chg="mod">
          <ac:chgData name="Riccardo Berta" userId="c8694f89-bba4-4576-b0a8-456619ca5a8c" providerId="ADAL" clId="{FDDBFC5A-5EA9-5330-BEB8-433D7E3B4C4E}" dt="2026-10-07T05:56:40.864" v="580" actId="1076"/>
          <ac:spMkLst>
            <pc:docMk/>
            <pc:sldMk cId="0" sldId="294"/>
            <ac:spMk id="22" creationId="{00000000-0000-0000-0000-000000000000}"/>
          </ac:spMkLst>
        </pc:spChg>
        <pc:picChg chg="mod">
          <ac:chgData name="Riccardo Berta" userId="c8694f89-bba4-4576-b0a8-456619ca5a8c" providerId="ADAL" clId="{FDDBFC5A-5EA9-5330-BEB8-433D7E3B4C4E}" dt="2026-10-07T05:56:48.378" v="583" actId="1076"/>
          <ac:picMkLst>
            <pc:docMk/>
            <pc:sldMk cId="0" sldId="294"/>
            <ac:picMk id="10" creationId="{00000000-0000-0000-0000-000000000000}"/>
          </ac:picMkLst>
        </pc:picChg>
        <pc:picChg chg="mod">
          <ac:chgData name="Riccardo Berta" userId="c8694f89-bba4-4576-b0a8-456619ca5a8c" providerId="ADAL" clId="{FDDBFC5A-5EA9-5330-BEB8-433D7E3B4C4E}" dt="2026-10-07T05:56:40.864" v="580" actId="1076"/>
          <ac:picMkLst>
            <pc:docMk/>
            <pc:sldMk cId="0" sldId="294"/>
            <ac:picMk id="13" creationId="{00000000-0000-0000-0000-000000000000}"/>
          </ac:picMkLst>
        </pc:picChg>
      </pc:sldChg>
      <pc:sldChg chg="modSp mod">
        <pc:chgData name="Riccardo Berta" userId="c8694f89-bba4-4576-b0a8-456619ca5a8c" providerId="ADAL" clId="{FDDBFC5A-5EA9-5330-BEB8-433D7E3B4C4E}" dt="2026-10-07T09:52:34.621" v="713" actId="14100"/>
        <pc:sldMkLst>
          <pc:docMk/>
          <pc:sldMk cId="0" sldId="295"/>
        </pc:sldMkLst>
        <pc:picChg chg="mod">
          <ac:chgData name="Riccardo Berta" userId="c8694f89-bba4-4576-b0a8-456619ca5a8c" providerId="ADAL" clId="{FDDBFC5A-5EA9-5330-BEB8-433D7E3B4C4E}" dt="2026-10-07T09:52:34.621" v="713" actId="14100"/>
          <ac:picMkLst>
            <pc:docMk/>
            <pc:sldMk cId="0" sldId="295"/>
            <ac:picMk id="20" creationId="{00000000-0000-0000-0000-000000000000}"/>
          </ac:picMkLst>
        </pc:picChg>
      </pc:sldChg>
      <pc:sldChg chg="delSp modSp mod">
        <pc:chgData name="Riccardo Berta" userId="c8694f89-bba4-4576-b0a8-456619ca5a8c" providerId="ADAL" clId="{FDDBFC5A-5EA9-5330-BEB8-433D7E3B4C4E}" dt="2026-10-07T05:58:30.551" v="600" actId="1076"/>
        <pc:sldMkLst>
          <pc:docMk/>
          <pc:sldMk cId="0" sldId="296"/>
        </pc:sldMkLst>
        <pc:spChg chg="mod">
          <ac:chgData name="Riccardo Berta" userId="c8694f89-bba4-4576-b0a8-456619ca5a8c" providerId="ADAL" clId="{FDDBFC5A-5EA9-5330-BEB8-433D7E3B4C4E}" dt="2026-10-07T05:57:56.551" v="588" actId="1076"/>
          <ac:spMkLst>
            <pc:docMk/>
            <pc:sldMk cId="0" sldId="296"/>
            <ac:spMk id="25" creationId="{00000000-0000-0000-0000-000000000000}"/>
          </ac:spMkLst>
        </pc:spChg>
        <pc:spChg chg="mod">
          <ac:chgData name="Riccardo Berta" userId="c8694f89-bba4-4576-b0a8-456619ca5a8c" providerId="ADAL" clId="{FDDBFC5A-5EA9-5330-BEB8-433D7E3B4C4E}" dt="2026-10-07T05:58:17.976" v="594" actId="1076"/>
          <ac:spMkLst>
            <pc:docMk/>
            <pc:sldMk cId="0" sldId="296"/>
            <ac:spMk id="26" creationId="{00000000-0000-0000-0000-000000000000}"/>
          </ac:spMkLst>
        </pc:spChg>
        <pc:spChg chg="del">
          <ac:chgData name="Riccardo Berta" userId="c8694f89-bba4-4576-b0a8-456619ca5a8c" providerId="ADAL" clId="{FDDBFC5A-5EA9-5330-BEB8-433D7E3B4C4E}" dt="2026-10-07T05:58:24.290" v="597" actId="478"/>
          <ac:spMkLst>
            <pc:docMk/>
            <pc:sldMk cId="0" sldId="296"/>
            <ac:spMk id="29" creationId="{00000000-0000-0000-0000-000000000000}"/>
          </ac:spMkLst>
        </pc:spChg>
        <pc:picChg chg="mod">
          <ac:chgData name="Riccardo Berta" userId="c8694f89-bba4-4576-b0a8-456619ca5a8c" providerId="ADAL" clId="{FDDBFC5A-5EA9-5330-BEB8-433D7E3B4C4E}" dt="2026-10-07T05:57:24.397" v="585" actId="14100"/>
          <ac:picMkLst>
            <pc:docMk/>
            <pc:sldMk cId="0" sldId="296"/>
            <ac:picMk id="10" creationId="{00000000-0000-0000-0000-000000000000}"/>
          </ac:picMkLst>
        </pc:picChg>
        <pc:picChg chg="mod modCrop">
          <ac:chgData name="Riccardo Berta" userId="c8694f89-bba4-4576-b0a8-456619ca5a8c" providerId="ADAL" clId="{FDDBFC5A-5EA9-5330-BEB8-433D7E3B4C4E}" dt="2026-10-07T05:58:05.801" v="591" actId="14100"/>
          <ac:picMkLst>
            <pc:docMk/>
            <pc:sldMk cId="0" sldId="296"/>
            <ac:picMk id="23" creationId="{00000000-0000-0000-0000-000000000000}"/>
          </ac:picMkLst>
        </pc:picChg>
        <pc:picChg chg="mod modCrop">
          <ac:chgData name="Riccardo Berta" userId="c8694f89-bba4-4576-b0a8-456619ca5a8c" providerId="ADAL" clId="{FDDBFC5A-5EA9-5330-BEB8-433D7E3B4C4E}" dt="2026-10-07T05:58:21.067" v="595" actId="14100"/>
          <ac:picMkLst>
            <pc:docMk/>
            <pc:sldMk cId="0" sldId="296"/>
            <ac:picMk id="24" creationId="{00000000-0000-0000-0000-000000000000}"/>
          </ac:picMkLst>
        </pc:picChg>
        <pc:picChg chg="mod">
          <ac:chgData name="Riccardo Berta" userId="c8694f89-bba4-4576-b0a8-456619ca5a8c" providerId="ADAL" clId="{FDDBFC5A-5EA9-5330-BEB8-433D7E3B4C4E}" dt="2026-10-07T05:58:30.551" v="600" actId="1076"/>
          <ac:picMkLst>
            <pc:docMk/>
            <pc:sldMk cId="0" sldId="296"/>
            <ac:picMk id="28" creationId="{00000000-0000-0000-0000-000000000000}"/>
          </ac:picMkLst>
        </pc:picChg>
      </pc:sldChg>
      <pc:sldChg chg="delSp modSp mod">
        <pc:chgData name="Riccardo Berta" userId="c8694f89-bba4-4576-b0a8-456619ca5a8c" providerId="ADAL" clId="{FDDBFC5A-5EA9-5330-BEB8-433D7E3B4C4E}" dt="2026-10-07T10:16:16.702" v="771" actId="14100"/>
        <pc:sldMkLst>
          <pc:docMk/>
          <pc:sldMk cId="0" sldId="297"/>
        </pc:sldMkLst>
        <pc:spChg chg="mod">
          <ac:chgData name="Riccardo Berta" userId="c8694f89-bba4-4576-b0a8-456619ca5a8c" providerId="ADAL" clId="{FDDBFC5A-5EA9-5330-BEB8-433D7E3B4C4E}" dt="2026-10-07T05:59:15.218" v="615" actId="20577"/>
          <ac:spMkLst>
            <pc:docMk/>
            <pc:sldMk cId="0" sldId="297"/>
            <ac:spMk id="3" creationId="{00000000-0000-0000-0000-000000000000}"/>
          </ac:spMkLst>
        </pc:spChg>
        <pc:spChg chg="mod">
          <ac:chgData name="Riccardo Berta" userId="c8694f89-bba4-4576-b0a8-456619ca5a8c" providerId="ADAL" clId="{FDDBFC5A-5EA9-5330-BEB8-433D7E3B4C4E}" dt="2026-10-07T05:58:47.684" v="604" actId="14100"/>
          <ac:spMkLst>
            <pc:docMk/>
            <pc:sldMk cId="0" sldId="297"/>
            <ac:spMk id="16" creationId="{00000000-0000-0000-0000-000000000000}"/>
          </ac:spMkLst>
        </pc:spChg>
        <pc:spChg chg="del mod">
          <ac:chgData name="Riccardo Berta" userId="c8694f89-bba4-4576-b0a8-456619ca5a8c" providerId="ADAL" clId="{FDDBFC5A-5EA9-5330-BEB8-433D7E3B4C4E}" dt="2026-10-07T05:59:03.898" v="608" actId="478"/>
          <ac:spMkLst>
            <pc:docMk/>
            <pc:sldMk cId="0" sldId="297"/>
            <ac:spMk id="23" creationId="{00000000-0000-0000-0000-000000000000}"/>
          </ac:spMkLst>
        </pc:spChg>
        <pc:spChg chg="mod">
          <ac:chgData name="Riccardo Berta" userId="c8694f89-bba4-4576-b0a8-456619ca5a8c" providerId="ADAL" clId="{FDDBFC5A-5EA9-5330-BEB8-433D7E3B4C4E}" dt="2026-10-07T05:59:00.868" v="606" actId="1076"/>
          <ac:spMkLst>
            <pc:docMk/>
            <pc:sldMk cId="0" sldId="297"/>
            <ac:spMk id="24" creationId="{00000000-0000-0000-0000-000000000000}"/>
          </ac:spMkLst>
        </pc:spChg>
        <pc:spChg chg="mod">
          <ac:chgData name="Riccardo Berta" userId="c8694f89-bba4-4576-b0a8-456619ca5a8c" providerId="ADAL" clId="{FDDBFC5A-5EA9-5330-BEB8-433D7E3B4C4E}" dt="2026-10-07T05:59:00.868" v="606" actId="1076"/>
          <ac:spMkLst>
            <pc:docMk/>
            <pc:sldMk cId="0" sldId="297"/>
            <ac:spMk id="25" creationId="{00000000-0000-0000-0000-000000000000}"/>
          </ac:spMkLst>
        </pc:spChg>
        <pc:spChg chg="mod">
          <ac:chgData name="Riccardo Berta" userId="c8694f89-bba4-4576-b0a8-456619ca5a8c" providerId="ADAL" clId="{FDDBFC5A-5EA9-5330-BEB8-433D7E3B4C4E}" dt="2026-10-07T05:59:00.868" v="606" actId="1076"/>
          <ac:spMkLst>
            <pc:docMk/>
            <pc:sldMk cId="0" sldId="297"/>
            <ac:spMk id="26" creationId="{00000000-0000-0000-0000-000000000000}"/>
          </ac:spMkLst>
        </pc:spChg>
        <pc:spChg chg="mod">
          <ac:chgData name="Riccardo Berta" userId="c8694f89-bba4-4576-b0a8-456619ca5a8c" providerId="ADAL" clId="{FDDBFC5A-5EA9-5330-BEB8-433D7E3B4C4E}" dt="2026-10-07T05:59:00.868" v="606" actId="1076"/>
          <ac:spMkLst>
            <pc:docMk/>
            <pc:sldMk cId="0" sldId="297"/>
            <ac:spMk id="27" creationId="{00000000-0000-0000-0000-000000000000}"/>
          </ac:spMkLst>
        </pc:spChg>
        <pc:spChg chg="del">
          <ac:chgData name="Riccardo Berta" userId="c8694f89-bba4-4576-b0a8-456619ca5a8c" providerId="ADAL" clId="{FDDBFC5A-5EA9-5330-BEB8-433D7E3B4C4E}" dt="2026-10-07T05:58:55.248" v="605" actId="478"/>
          <ac:spMkLst>
            <pc:docMk/>
            <pc:sldMk cId="0" sldId="297"/>
            <ac:spMk id="28" creationId="{00000000-0000-0000-0000-000000000000}"/>
          </ac:spMkLst>
        </pc:spChg>
        <pc:spChg chg="del">
          <ac:chgData name="Riccardo Berta" userId="c8694f89-bba4-4576-b0a8-456619ca5a8c" providerId="ADAL" clId="{FDDBFC5A-5EA9-5330-BEB8-433D7E3B4C4E}" dt="2026-10-07T05:58:55.248" v="605" actId="478"/>
          <ac:spMkLst>
            <pc:docMk/>
            <pc:sldMk cId="0" sldId="297"/>
            <ac:spMk id="29" creationId="{00000000-0000-0000-0000-000000000000}"/>
          </ac:spMkLst>
        </pc:spChg>
        <pc:spChg chg="del">
          <ac:chgData name="Riccardo Berta" userId="c8694f89-bba4-4576-b0a8-456619ca5a8c" providerId="ADAL" clId="{FDDBFC5A-5EA9-5330-BEB8-433D7E3B4C4E}" dt="2026-10-07T05:58:55.248" v="605" actId="478"/>
          <ac:spMkLst>
            <pc:docMk/>
            <pc:sldMk cId="0" sldId="297"/>
            <ac:spMk id="30" creationId="{00000000-0000-0000-0000-000000000000}"/>
          </ac:spMkLst>
        </pc:spChg>
        <pc:picChg chg="mod">
          <ac:chgData name="Riccardo Berta" userId="c8694f89-bba4-4576-b0a8-456619ca5a8c" providerId="ADAL" clId="{FDDBFC5A-5EA9-5330-BEB8-433D7E3B4C4E}" dt="2026-10-07T05:58:44.118" v="603" actId="1076"/>
          <ac:picMkLst>
            <pc:docMk/>
            <pc:sldMk cId="0" sldId="297"/>
            <ac:picMk id="18" creationId="{00000000-0000-0000-0000-000000000000}"/>
          </ac:picMkLst>
        </pc:picChg>
        <pc:picChg chg="mod">
          <ac:chgData name="Riccardo Berta" userId="c8694f89-bba4-4576-b0a8-456619ca5a8c" providerId="ADAL" clId="{FDDBFC5A-5EA9-5330-BEB8-433D7E3B4C4E}" dt="2026-10-07T10:16:16.702" v="771" actId="14100"/>
          <ac:picMkLst>
            <pc:docMk/>
            <pc:sldMk cId="0" sldId="297"/>
            <ac:picMk id="22" creationId="{00000000-0000-0000-0000-000000000000}"/>
          </ac:picMkLst>
        </pc:picChg>
      </pc:sldChg>
      <pc:sldChg chg="delSp modSp mod">
        <pc:chgData name="Riccardo Berta" userId="c8694f89-bba4-4576-b0a8-456619ca5a8c" providerId="ADAL" clId="{FDDBFC5A-5EA9-5330-BEB8-433D7E3B4C4E}" dt="2026-10-07T05:59:39.765" v="623" actId="1076"/>
        <pc:sldMkLst>
          <pc:docMk/>
          <pc:sldMk cId="0" sldId="298"/>
        </pc:sldMkLst>
        <pc:spChg chg="del mod">
          <ac:chgData name="Riccardo Berta" userId="c8694f89-bba4-4576-b0a8-456619ca5a8c" providerId="ADAL" clId="{FDDBFC5A-5EA9-5330-BEB8-433D7E3B4C4E}" dt="2026-10-07T05:59:24.250" v="618" actId="478"/>
          <ac:spMkLst>
            <pc:docMk/>
            <pc:sldMk cId="0" sldId="298"/>
            <ac:spMk id="10" creationId="{00000000-0000-0000-0000-000000000000}"/>
          </ac:spMkLst>
        </pc:spChg>
        <pc:spChg chg="del">
          <ac:chgData name="Riccardo Berta" userId="c8694f89-bba4-4576-b0a8-456619ca5a8c" providerId="ADAL" clId="{FDDBFC5A-5EA9-5330-BEB8-433D7E3B4C4E}" dt="2026-10-07T05:59:27.986" v="620" actId="478"/>
          <ac:spMkLst>
            <pc:docMk/>
            <pc:sldMk cId="0" sldId="298"/>
            <ac:spMk id="12" creationId="{00000000-0000-0000-0000-000000000000}"/>
          </ac:spMkLst>
        </pc:spChg>
        <pc:picChg chg="mod">
          <ac:chgData name="Riccardo Berta" userId="c8694f89-bba4-4576-b0a8-456619ca5a8c" providerId="ADAL" clId="{FDDBFC5A-5EA9-5330-BEB8-433D7E3B4C4E}" dt="2026-10-07T05:59:39.765" v="623" actId="1076"/>
          <ac:picMkLst>
            <pc:docMk/>
            <pc:sldMk cId="0" sldId="298"/>
            <ac:picMk id="9" creationId="{00000000-0000-0000-0000-000000000000}"/>
          </ac:picMkLst>
        </pc:picChg>
        <pc:picChg chg="del">
          <ac:chgData name="Riccardo Berta" userId="c8694f89-bba4-4576-b0a8-456619ca5a8c" providerId="ADAL" clId="{FDDBFC5A-5EA9-5330-BEB8-433D7E3B4C4E}" dt="2026-10-07T05:59:25.424" v="619" actId="478"/>
          <ac:picMkLst>
            <pc:docMk/>
            <pc:sldMk cId="0" sldId="298"/>
            <ac:picMk id="11" creationId="{00000000-0000-0000-0000-000000000000}"/>
          </ac:picMkLst>
        </pc:picChg>
      </pc:sldChg>
      <pc:sldChg chg="modSp mod">
        <pc:chgData name="Riccardo Berta" userId="c8694f89-bba4-4576-b0a8-456619ca5a8c" providerId="ADAL" clId="{FDDBFC5A-5EA9-5330-BEB8-433D7E3B4C4E}" dt="2026-10-07T09:54:34.638" v="750" actId="20577"/>
        <pc:sldMkLst>
          <pc:docMk/>
          <pc:sldMk cId="0" sldId="299"/>
        </pc:sldMkLst>
        <pc:spChg chg="mod">
          <ac:chgData name="Riccardo Berta" userId="c8694f89-bba4-4576-b0a8-456619ca5a8c" providerId="ADAL" clId="{FDDBFC5A-5EA9-5330-BEB8-433D7E3B4C4E}" dt="2026-10-07T06:00:30.606" v="640" actId="20577"/>
          <ac:spMkLst>
            <pc:docMk/>
            <pc:sldMk cId="0" sldId="299"/>
            <ac:spMk id="8" creationId="{00000000-0000-0000-0000-000000000000}"/>
          </ac:spMkLst>
        </pc:spChg>
        <pc:spChg chg="mod">
          <ac:chgData name="Riccardo Berta" userId="c8694f89-bba4-4576-b0a8-456619ca5a8c" providerId="ADAL" clId="{FDDBFC5A-5EA9-5330-BEB8-433D7E3B4C4E}" dt="2026-10-07T05:59:50.986" v="624" actId="1076"/>
          <ac:spMkLst>
            <pc:docMk/>
            <pc:sldMk cId="0" sldId="299"/>
            <ac:spMk id="9" creationId="{00000000-0000-0000-0000-000000000000}"/>
          </ac:spMkLst>
        </pc:spChg>
        <pc:spChg chg="mod">
          <ac:chgData name="Riccardo Berta" userId="c8694f89-bba4-4576-b0a8-456619ca5a8c" providerId="ADAL" clId="{FDDBFC5A-5EA9-5330-BEB8-433D7E3B4C4E}" dt="2026-10-07T05:59:50.986" v="624" actId="1076"/>
          <ac:spMkLst>
            <pc:docMk/>
            <pc:sldMk cId="0" sldId="299"/>
            <ac:spMk id="10" creationId="{00000000-0000-0000-0000-000000000000}"/>
          </ac:spMkLst>
        </pc:spChg>
        <pc:spChg chg="mod">
          <ac:chgData name="Riccardo Berta" userId="c8694f89-bba4-4576-b0a8-456619ca5a8c" providerId="ADAL" clId="{FDDBFC5A-5EA9-5330-BEB8-433D7E3B4C4E}" dt="2026-10-07T09:53:54.897" v="722" actId="20577"/>
          <ac:spMkLst>
            <pc:docMk/>
            <pc:sldMk cId="0" sldId="299"/>
            <ac:spMk id="11" creationId="{00000000-0000-0000-0000-000000000000}"/>
          </ac:spMkLst>
        </pc:spChg>
        <pc:spChg chg="mod">
          <ac:chgData name="Riccardo Berta" userId="c8694f89-bba4-4576-b0a8-456619ca5a8c" providerId="ADAL" clId="{FDDBFC5A-5EA9-5330-BEB8-433D7E3B4C4E}" dt="2026-10-07T05:59:50.986" v="624" actId="1076"/>
          <ac:spMkLst>
            <pc:docMk/>
            <pc:sldMk cId="0" sldId="299"/>
            <ac:spMk id="12" creationId="{00000000-0000-0000-0000-000000000000}"/>
          </ac:spMkLst>
        </pc:spChg>
        <pc:spChg chg="mod">
          <ac:chgData name="Riccardo Berta" userId="c8694f89-bba4-4576-b0a8-456619ca5a8c" providerId="ADAL" clId="{FDDBFC5A-5EA9-5330-BEB8-433D7E3B4C4E}" dt="2026-10-07T05:59:50.986" v="624" actId="1076"/>
          <ac:spMkLst>
            <pc:docMk/>
            <pc:sldMk cId="0" sldId="299"/>
            <ac:spMk id="13" creationId="{00000000-0000-0000-0000-000000000000}"/>
          </ac:spMkLst>
        </pc:spChg>
        <pc:spChg chg="mod">
          <ac:chgData name="Riccardo Berta" userId="c8694f89-bba4-4576-b0a8-456619ca5a8c" providerId="ADAL" clId="{FDDBFC5A-5EA9-5330-BEB8-433D7E3B4C4E}" dt="2026-10-07T09:54:34.638" v="750" actId="20577"/>
          <ac:spMkLst>
            <pc:docMk/>
            <pc:sldMk cId="0" sldId="299"/>
            <ac:spMk id="14" creationId="{00000000-0000-0000-0000-000000000000}"/>
          </ac:spMkLst>
        </pc:spChg>
        <pc:spChg chg="mod">
          <ac:chgData name="Riccardo Berta" userId="c8694f89-bba4-4576-b0a8-456619ca5a8c" providerId="ADAL" clId="{FDDBFC5A-5EA9-5330-BEB8-433D7E3B4C4E}" dt="2026-10-07T05:59:50.986" v="624" actId="1076"/>
          <ac:spMkLst>
            <pc:docMk/>
            <pc:sldMk cId="0" sldId="299"/>
            <ac:spMk id="15" creationId="{00000000-0000-0000-0000-000000000000}"/>
          </ac:spMkLst>
        </pc:spChg>
        <pc:spChg chg="mod">
          <ac:chgData name="Riccardo Berta" userId="c8694f89-bba4-4576-b0a8-456619ca5a8c" providerId="ADAL" clId="{FDDBFC5A-5EA9-5330-BEB8-433D7E3B4C4E}" dt="2026-10-07T05:59:50.986" v="624" actId="1076"/>
          <ac:spMkLst>
            <pc:docMk/>
            <pc:sldMk cId="0" sldId="299"/>
            <ac:spMk id="16" creationId="{00000000-0000-0000-0000-000000000000}"/>
          </ac:spMkLst>
        </pc:spChg>
        <pc:spChg chg="mod">
          <ac:chgData name="Riccardo Berta" userId="c8694f89-bba4-4576-b0a8-456619ca5a8c" providerId="ADAL" clId="{FDDBFC5A-5EA9-5330-BEB8-433D7E3B4C4E}" dt="2026-10-07T05:59:50.986" v="624" actId="1076"/>
          <ac:spMkLst>
            <pc:docMk/>
            <pc:sldMk cId="0" sldId="299"/>
            <ac:spMk id="17" creationId="{00000000-0000-0000-0000-000000000000}"/>
          </ac:spMkLst>
        </pc:spChg>
        <pc:spChg chg="mod">
          <ac:chgData name="Riccardo Berta" userId="c8694f89-bba4-4576-b0a8-456619ca5a8c" providerId="ADAL" clId="{FDDBFC5A-5EA9-5330-BEB8-433D7E3B4C4E}" dt="2026-10-07T06:00:10.157" v="633" actId="20577"/>
          <ac:spMkLst>
            <pc:docMk/>
            <pc:sldMk cId="0" sldId="299"/>
            <ac:spMk id="26" creationId="{00000000-0000-0000-0000-000000000000}"/>
          </ac:spMkLst>
        </pc:spChg>
      </pc:sldChg>
      <pc:sldChg chg="modSp mod">
        <pc:chgData name="Riccardo Berta" userId="c8694f89-bba4-4576-b0a8-456619ca5a8c" providerId="ADAL" clId="{FDDBFC5A-5EA9-5330-BEB8-433D7E3B4C4E}" dt="2026-10-07T10:49:41.743" v="773" actId="313"/>
        <pc:sldMkLst>
          <pc:docMk/>
          <pc:sldMk cId="0" sldId="300"/>
        </pc:sldMkLst>
        <pc:spChg chg="mod">
          <ac:chgData name="Riccardo Berta" userId="c8694f89-bba4-4576-b0a8-456619ca5a8c" providerId="ADAL" clId="{FDDBFC5A-5EA9-5330-BEB8-433D7E3B4C4E}" dt="2026-10-07T06:00:38.370" v="656" actId="20577"/>
          <ac:spMkLst>
            <pc:docMk/>
            <pc:sldMk cId="0" sldId="300"/>
            <ac:spMk id="4" creationId="{00000000-0000-0000-0000-000000000000}"/>
          </ac:spMkLst>
        </pc:spChg>
        <pc:spChg chg="mod">
          <ac:chgData name="Riccardo Berta" userId="c8694f89-bba4-4576-b0a8-456619ca5a8c" providerId="ADAL" clId="{FDDBFC5A-5EA9-5330-BEB8-433D7E3B4C4E}" dt="2026-10-07T10:49:41.743" v="773" actId="313"/>
          <ac:spMkLst>
            <pc:docMk/>
            <pc:sldMk cId="0" sldId="300"/>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20/10/26</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‹N›</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20/10/26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‹N›</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‹N›</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‹N›</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‹N›</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‹N›</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‹N›</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slideLayout" Target="../slideLayouts/slideLayout7.xml"/><Relationship Id="rId4" Type="http://schemas.openxmlformats.org/officeDocument/2006/relationships/image" Target="../media/image49.sv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 Id="rId3" Type="http://schemas.openxmlformats.org/officeDocument/2006/relationships/image" Target="../media/image94.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9.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4.sv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 Id="rId3" Type="http://schemas.openxmlformats.org/officeDocument/2006/relationships/image" Target="../media/image95.pn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svg"/><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svg"/><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39.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svg"/><Relationship Id="rId1" Type="http://schemas.openxmlformats.org/officeDocument/2006/relationships/slideLayout" Target="../slideLayouts/slideLayout7.xml"/><Relationship Id="rId5" Type="http://schemas.openxmlformats.org/officeDocument/2006/relationships/image" Target="../media/image77.svg"/><Relationship Id="rId4" Type="http://schemas.openxmlformats.org/officeDocument/2006/relationships/image" Target="../media/image76.svg"/></Relationships>
</file>

<file path=ppt/slides/_rels/slide40.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svg"/><Relationship Id="rId1" Type="http://schemas.openxmlformats.org/officeDocument/2006/relationships/slideLayout" Target="../slideLayouts/slideLayout7.xml"/><Relationship Id="rId5" Type="http://schemas.openxmlformats.org/officeDocument/2006/relationships/image" Target="../media/image81.png"/><Relationship Id="rId4" Type="http://schemas.openxmlformats.org/officeDocument/2006/relationships/image" Target="../media/image80.svg"/><Relationship Id="rId6" Type="http://schemas.openxmlformats.org/officeDocument/2006/relationships/image" Target="../media/image103.png"/></Relationships>
</file>

<file path=ppt/slides/_rels/slide4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svg"/><Relationship Id="rId7" Type="http://schemas.openxmlformats.org/officeDocument/2006/relationships/image" Target="../media/image87.png"/><Relationship Id="rId2" Type="http://schemas.openxmlformats.org/officeDocument/2006/relationships/image" Target="../media/image82.sv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svg"/></Relationships>
</file>

<file path=ppt/slides/_rels/slide42.xml.rels><?xml version='1.0' encoding='UTF-8' standalone='yes'?>
<Relationships xmlns="http://schemas.openxmlformats.org/package/2006/relationships"><Relationship Id="rId3" Type="http://schemas.openxmlformats.org/officeDocument/2006/relationships/image" Target="../media/image90.svg"/><Relationship Id="rId2" Type="http://schemas.openxmlformats.org/officeDocument/2006/relationships/image" Target="../media/image89.svg"/><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svg"/></Relationships>
</file>

<file path=ppt/slides/_rels/slide4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 Id="rId3" Type="http://schemas.openxmlformats.org/officeDocument/2006/relationships/image" Target="../media/image10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svg"/><Relationship Id="rId5" Type="http://schemas.openxmlformats.org/officeDocument/2006/relationships/image" Target="../media/image96.png"/><Relationship Id="rId6" Type="http://schemas.openxmlformats.org/officeDocument/2006/relationships/image" Target="../media/image97.svg"/><Relationship Id="rId7" Type="http://schemas.openxmlformats.org/officeDocument/2006/relationships/image" Target="../media/image98.svg"/></Relationships>
</file>

<file path=ppt/slides/_rels/slide4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svg"/><Relationship Id="rId5" Type="http://schemas.openxmlformats.org/officeDocument/2006/relationships/image" Target="../media/image100.png"/><Relationship Id="rId6" Type="http://schemas.openxmlformats.org/officeDocument/2006/relationships/image" Target="../media/image101.svg"/><Relationship Id="rId7" Type="http://schemas.openxmlformats.org/officeDocument/2006/relationships/image" Target="../media/image102.svg"/></Relationships>
</file>

<file path=ppt/slides/_rels/slide4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svg"/><Relationship Id="rId5" Type="http://schemas.openxmlformats.org/officeDocument/2006/relationships/image" Target="../media/image104.png"/><Relationship Id="rId6" Type="http://schemas.openxmlformats.org/officeDocument/2006/relationships/image" Target="../media/image105.svg"/><Relationship Id="rId7" Type="http://schemas.openxmlformats.org/officeDocument/2006/relationships/image" Target="../media/image106.svg"/></Relationships>
</file>

<file path=ppt/slides/_rels/slide4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 Id="rId3" Type="http://schemas.openxmlformats.org/officeDocument/2006/relationships/image" Target="../media/image1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REINFORCEMENT LEARNING   ·   CHAPTER 07</a:t>
            </a:r>
          </a:p>
        </p:txBody>
      </p:sp>
      <p:sp>
        <p:nvSpPr>
          <p:cNvPr id="5" name="TextBox 4"/>
          <p:cNvSpPr txBox="1"/>
          <p:nvPr/>
        </p:nvSpPr>
        <p:spPr>
          <a:xfrm>
            <a:off x="859536" y="2139696"/>
            <a:ext cx="6766560" cy="1005840"/>
          </a:xfrm>
          <a:prstGeom prst="rect">
            <a:avLst/>
          </a:prstGeom>
          <a:noFill/>
        </p:spPr>
        <p:txBody>
          <a:bodyPr wrap="square" lIns="0" tIns="0" rIns="0" bIns="0" anchor="t">
            <a:noAutofit/>
          </a:bodyPr>
          <a:lstStyle/>
          <a:p>
            <a:pPr marL="0" indent="0" algn="l">
              <a:lnSpc>
                <a:spcPts val="3587"/>
              </a:lnSpc>
              <a:spcBef>
                <a:spcPts val="0"/>
              </a:spcBef>
              <a:spcAft>
                <a:spcPts val="0"/>
              </a:spcAft>
              <a:buNone/>
            </a:pPr>
            <a:r>
              <a:rPr sz="3384" b="1" i="0">
                <a:solidFill>
                  <a:srgbClr val="FFFFFF"/>
                </a:solidFill>
                <a:latin typeface="Roboto Slab"/>
              </a:rPr>
              <a:t>Generalizing with</a:t>
            </a:r>
          </a:p>
          <a:p>
            <a:pPr marL="0" indent="0" algn="l">
              <a:lnSpc>
                <a:spcPts val="3587"/>
              </a:lnSpc>
              <a:spcBef>
                <a:spcPts val="0"/>
              </a:spcBef>
              <a:spcAft>
                <a:spcPts val="0"/>
              </a:spcAft>
              <a:buNone/>
            </a:pPr>
            <a:r>
              <a:rPr sz="3384" b="1" i="0">
                <a:solidFill>
                  <a:srgbClr val="FFFFFF"/>
                </a:solidFill>
                <a:latin typeface="Roboto Slab"/>
              </a:rPr>
              <a:t>Neural Networks</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3602736"/>
            <a:ext cx="6126480" cy="1371600"/>
          </a:xfrm>
          <a:prstGeom prst="rect">
            <a:avLst/>
          </a:prstGeom>
          <a:noFill/>
        </p:spPr>
        <p:txBody>
          <a:bodyPr wrap="square" lIns="0" tIns="0" rIns="0" bIns="0" anchor="t">
            <a:noAutofit/>
          </a:bodyPr>
          <a:lstStyle/>
          <a:p>
            <a:pPr marL="0" indent="0" algn="l">
              <a:lnSpc>
                <a:spcPts val="1799"/>
              </a:lnSpc>
              <a:spcBef>
                <a:spcPts val="0"/>
              </a:spcBef>
              <a:spcAft>
                <a:spcPts val="0"/>
              </a:spcAft>
              <a:buNone/>
            </a:pPr>
            <a:r>
              <a:rPr sz="1363" b="0" i="0" dirty="0">
                <a:solidFill>
                  <a:srgbClr val="D6D0E0"/>
                </a:solidFill>
                <a:latin typeface="Fira Sans"/>
              </a:rPr>
              <a:t>Replacing the value table by a parametric function: linear features, then neural networks. Neural Fitted Q, the instability it exposes, and the mechanisms </a:t>
            </a:r>
            <a:r>
              <a:rPr lang="it-IT" sz="1363" b="0" i="0" dirty="0">
                <a:solidFill>
                  <a:srgbClr val="D6D0E0"/>
                </a:solidFill>
                <a:latin typeface="Fira Sans"/>
              </a:rPr>
              <a:t>(</a:t>
            </a:r>
            <a:r>
              <a:rPr sz="1363" b="0" i="0" dirty="0">
                <a:solidFill>
                  <a:srgbClr val="D6D0E0"/>
                </a:solidFill>
                <a:latin typeface="Fira Sans"/>
              </a:rPr>
              <a:t>replay, target networks, double learning, prioritization, dueling</a:t>
            </a:r>
            <a:r>
              <a:rPr lang="it-IT" sz="1363" dirty="0">
                <a:solidFill>
                  <a:srgbClr val="D6D0E0"/>
                </a:solidFill>
                <a:latin typeface="Fira Sans"/>
              </a:rPr>
              <a:t>)</a:t>
            </a:r>
            <a:r>
              <a:rPr sz="1363" b="0" i="0" dirty="0">
                <a:solidFill>
                  <a:srgbClr val="D6D0E0"/>
                </a:solidFill>
                <a:latin typeface="Fira Sans"/>
              </a:rPr>
              <a:t> that contain it.</a:t>
            </a:r>
          </a:p>
        </p:txBody>
      </p:sp>
      <p:sp>
        <p:nvSpPr>
          <p:cNvPr id="8" name="TextBox 7"/>
          <p:cNvSpPr txBox="1"/>
          <p:nvPr/>
        </p:nvSpPr>
        <p:spPr>
          <a:xfrm>
            <a:off x="859536" y="5522976"/>
            <a:ext cx="6309360" cy="566928"/>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0" i="0">
                <a:solidFill>
                  <a:srgbClr val="B2A7C4"/>
                </a:solidFill>
                <a:latin typeface="Fira Sans"/>
              </a:rPr>
              <a:t>Università degli Studi di Genova  ·  DITEN — ELIOS Lab</a:t>
            </a:r>
          </a:p>
          <a:p>
            <a:pPr marL="0" indent="0" algn="l">
              <a:lnSpc>
                <a:spcPts val="1092"/>
              </a:lnSpc>
              <a:spcBef>
                <a:spcPts val="300"/>
              </a:spcBef>
              <a:spcAft>
                <a:spcPts val="0"/>
              </a:spcAft>
              <a:buNone/>
            </a:pPr>
            <a:r>
              <a:rPr sz="1092" b="0" i="0">
                <a:solidFill>
                  <a:srgbClr val="9486AC"/>
                </a:solidFill>
                <a:latin typeface="Fira Sans"/>
              </a:rPr>
              <a:t>Lecture notes, Chapter 07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1773936"/>
            <a:ext cx="338328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80" dirty="0">
                <a:solidFill>
                  <a:srgbClr val="9486AC"/>
                </a:solidFill>
                <a:latin typeface="Fira Sans"/>
              </a:rPr>
              <a:t>PART I   </a:t>
            </a:r>
          </a:p>
          <a:p>
            <a:pPr marL="0" indent="0" algn="l">
              <a:lnSpc>
                <a:spcPts val="1283"/>
              </a:lnSpc>
              <a:spcBef>
                <a:spcPts val="200"/>
              </a:spcBef>
              <a:spcAft>
                <a:spcPts val="0"/>
              </a:spcAft>
              <a:buNone/>
            </a:pPr>
            <a:r>
              <a:rPr sz="1188" b="0" i="0" dirty="0">
                <a:solidFill>
                  <a:srgbClr val="FFFFFF"/>
                </a:solidFill>
                <a:latin typeface="Fira Sans Medium"/>
              </a:rPr>
              <a:t>Why tables stop working</a:t>
            </a:r>
          </a:p>
          <a:p>
            <a:pPr marL="0" indent="0" algn="l">
              <a:lnSpc>
                <a:spcPts val="882"/>
              </a:lnSpc>
              <a:spcBef>
                <a:spcPts val="1200"/>
              </a:spcBef>
              <a:spcAft>
                <a:spcPts val="0"/>
              </a:spcAft>
              <a:buNone/>
            </a:pPr>
            <a:r>
              <a:rPr sz="882" b="1" i="0" spc="80" dirty="0">
                <a:solidFill>
                  <a:srgbClr val="9486AC"/>
                </a:solidFill>
                <a:latin typeface="Fira Sans"/>
              </a:rPr>
              <a:t>PART II  </a:t>
            </a:r>
          </a:p>
          <a:p>
            <a:pPr marL="0" indent="0" algn="l">
              <a:lnSpc>
                <a:spcPts val="1283"/>
              </a:lnSpc>
              <a:spcBef>
                <a:spcPts val="200"/>
              </a:spcBef>
              <a:spcAft>
                <a:spcPts val="0"/>
              </a:spcAft>
              <a:buNone/>
            </a:pPr>
            <a:r>
              <a:rPr sz="1188" b="0" i="0" dirty="0">
                <a:solidFill>
                  <a:srgbClr val="FFFFFF"/>
                </a:solidFill>
                <a:latin typeface="Fira Sans Medium"/>
              </a:rPr>
              <a:t>Cart-Pole and the Q-network</a:t>
            </a:r>
          </a:p>
          <a:p>
            <a:pPr marL="0" indent="0" algn="l">
              <a:lnSpc>
                <a:spcPts val="882"/>
              </a:lnSpc>
              <a:spcBef>
                <a:spcPts val="1200"/>
              </a:spcBef>
              <a:spcAft>
                <a:spcPts val="0"/>
              </a:spcAft>
              <a:buNone/>
            </a:pPr>
            <a:r>
              <a:rPr sz="882" b="1" i="0" spc="80" dirty="0">
                <a:solidFill>
                  <a:srgbClr val="9486AC"/>
                </a:solidFill>
                <a:latin typeface="Fira Sans"/>
              </a:rPr>
              <a:t>PART III </a:t>
            </a:r>
          </a:p>
          <a:p>
            <a:pPr marL="0" indent="0" algn="l">
              <a:lnSpc>
                <a:spcPts val="1283"/>
              </a:lnSpc>
              <a:spcBef>
                <a:spcPts val="200"/>
              </a:spcBef>
              <a:spcAft>
                <a:spcPts val="0"/>
              </a:spcAft>
              <a:buNone/>
            </a:pPr>
            <a:r>
              <a:rPr sz="1188" b="0" i="0" dirty="0">
                <a:solidFill>
                  <a:srgbClr val="FFFFFF"/>
                </a:solidFill>
                <a:latin typeface="Fira Sans Medium"/>
              </a:rPr>
              <a:t>Neural Fitted Q</a:t>
            </a:r>
          </a:p>
          <a:p>
            <a:pPr marL="0" indent="0" algn="l">
              <a:lnSpc>
                <a:spcPts val="882"/>
              </a:lnSpc>
              <a:spcBef>
                <a:spcPts val="1200"/>
              </a:spcBef>
              <a:spcAft>
                <a:spcPts val="0"/>
              </a:spcAft>
              <a:buNone/>
            </a:pPr>
            <a:r>
              <a:rPr sz="882" b="1" i="0" spc="80" dirty="0">
                <a:solidFill>
                  <a:srgbClr val="9486AC"/>
                </a:solidFill>
                <a:latin typeface="Fira Sans"/>
              </a:rPr>
              <a:t>PART IV  </a:t>
            </a:r>
          </a:p>
          <a:p>
            <a:pPr marL="0" indent="0" algn="l">
              <a:lnSpc>
                <a:spcPts val="1283"/>
              </a:lnSpc>
              <a:spcBef>
                <a:spcPts val="200"/>
              </a:spcBef>
              <a:spcAft>
                <a:spcPts val="0"/>
              </a:spcAft>
              <a:buNone/>
            </a:pPr>
            <a:r>
              <a:rPr sz="1188" b="0" i="0" dirty="0">
                <a:solidFill>
                  <a:srgbClr val="FFFFFF"/>
                </a:solidFill>
                <a:latin typeface="Fira Sans Medium"/>
              </a:rPr>
              <a:t>Why it does not hold together</a:t>
            </a:r>
          </a:p>
          <a:p>
            <a:pPr marL="0" indent="0" algn="l">
              <a:lnSpc>
                <a:spcPts val="882"/>
              </a:lnSpc>
              <a:spcBef>
                <a:spcPts val="1200"/>
              </a:spcBef>
              <a:spcAft>
                <a:spcPts val="0"/>
              </a:spcAft>
              <a:buNone/>
            </a:pPr>
            <a:r>
              <a:rPr sz="882" b="1" i="0" spc="80" dirty="0">
                <a:solidFill>
                  <a:srgbClr val="9486AC"/>
                </a:solidFill>
                <a:latin typeface="Fira Sans"/>
              </a:rPr>
              <a:t>PART V   </a:t>
            </a:r>
          </a:p>
          <a:p>
            <a:pPr marL="0" indent="0" algn="l">
              <a:lnSpc>
                <a:spcPts val="1283"/>
              </a:lnSpc>
              <a:spcBef>
                <a:spcPts val="200"/>
              </a:spcBef>
              <a:spcAft>
                <a:spcPts val="0"/>
              </a:spcAft>
              <a:buNone/>
            </a:pPr>
            <a:r>
              <a:rPr sz="1188" b="0" i="0" dirty="0">
                <a:solidFill>
                  <a:srgbClr val="FFFFFF"/>
                </a:solidFill>
                <a:latin typeface="Fira Sans Medium"/>
              </a:rPr>
              <a:t>Deep Q-Networks</a:t>
            </a:r>
          </a:p>
          <a:p>
            <a:pPr marL="0" indent="0" algn="l">
              <a:lnSpc>
                <a:spcPts val="882"/>
              </a:lnSpc>
              <a:spcBef>
                <a:spcPts val="1200"/>
              </a:spcBef>
              <a:spcAft>
                <a:spcPts val="0"/>
              </a:spcAft>
              <a:buNone/>
            </a:pPr>
            <a:r>
              <a:rPr sz="882" b="1" i="0" spc="80" dirty="0">
                <a:solidFill>
                  <a:srgbClr val="9486AC"/>
                </a:solidFill>
                <a:latin typeface="Fira Sans"/>
              </a:rPr>
              <a:t>PART VI  </a:t>
            </a:r>
          </a:p>
          <a:p>
            <a:pPr marL="0" indent="0" algn="l">
              <a:lnSpc>
                <a:spcPts val="1283"/>
              </a:lnSpc>
              <a:spcBef>
                <a:spcPts val="200"/>
              </a:spcBef>
              <a:spcAft>
                <a:spcPts val="0"/>
              </a:spcAft>
              <a:buNone/>
            </a:pPr>
            <a:r>
              <a:rPr sz="1188" b="0" i="0" dirty="0">
                <a:solidFill>
                  <a:srgbClr val="FFFFFF"/>
                </a:solidFill>
                <a:latin typeface="Fira Sans Medium"/>
              </a:rPr>
              <a:t>Refinements, and what remains broken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6688"/>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Why tables stop working</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Everything so far stored one number per state or per state–action pair. That representation runs out long before the problems get interesting  and it cannot generalize at all.</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does an agent gain the moment two different states are allowed to share a parameter?</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Delayed, evaluative, sampled</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size of the table</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Discretising does not save us</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From a table to a parameter vector</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The parametric update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1.1  WHAT MAKES REINFORCEMENT LEARNING HARD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Three properties of the feedback, each absent from supervised learning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 — Why tables stop working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Before asking how to generalise, it is worth being precise about what the agent is learning from. Reinforcement-learning feedback is </a:t>
            </a:r>
            <a:r>
              <a:rPr sz="1282" b="1" i="0">
                <a:solidFill>
                  <a:srgbClr val="25282A"/>
                </a:solidFill>
                <a:latin typeface="Fira Sans"/>
              </a:rPr>
              <a:t>delayed, evaluative and sampled</a:t>
            </a:r>
            <a:r>
              <a:rPr sz="1282" b="0" i="0">
                <a:solidFill>
                  <a:srgbClr val="333639"/>
                </a:solidFill>
                <a:latin typeface="Fira Sans"/>
              </a:rPr>
              <a:t> at the same time. Each property has an opposite that supervised learning enjoys.</a:t>
            </a:r>
          </a:p>
        </p:txBody>
      </p:sp>
      <p:sp>
        <p:nvSpPr>
          <p:cNvPr id="9" name="Rectangle 8"/>
          <p:cNvSpPr/>
          <p:nvPr/>
        </p:nvSpPr>
        <p:spPr>
          <a:xfrm>
            <a:off x="841248" y="1970034"/>
            <a:ext cx="3322320"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16338"/>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C8102E"/>
                </a:solidFill>
                <a:latin typeface="Fira Sans"/>
              </a:rPr>
              <a:t>DELAYED</a:t>
            </a:r>
          </a:p>
        </p:txBody>
      </p:sp>
      <p:pic>
        <p:nvPicPr>
          <p:cNvPr id="11" name="Picture 10" descr="fb_delayed.png"/>
          <p:cNvPicPr>
            <a:picLocks noChangeAspect="1"/>
          </p:cNvPicPr>
          <p:nvPr/>
        </p:nvPicPr>
        <p:blipFill>
          <a:blip r:embed="rId2"/>
          <a:stretch>
            <a:fillRect/>
          </a:stretch>
        </p:blipFill>
        <p:spPr>
          <a:xfrm>
            <a:off x="823831" y="2578607"/>
            <a:ext cx="3160916" cy="1541679"/>
          </a:xfrm>
          <a:prstGeom prst="rect">
            <a:avLst/>
          </a:prstGeom>
        </p:spPr>
      </p:pic>
      <p:sp>
        <p:nvSpPr>
          <p:cNvPr id="12" name="TextBox 11"/>
          <p:cNvSpPr txBox="1"/>
          <p:nvPr/>
        </p:nvSpPr>
        <p:spPr>
          <a:xfrm>
            <a:off x="841248" y="4394607"/>
            <a:ext cx="3322320" cy="90207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Consequences appear long after the decision that caused them</a:t>
            </a:r>
            <a:r>
              <a:rPr lang="it-IT" sz="1045" b="0" i="0" dirty="0">
                <a:solidFill>
                  <a:srgbClr val="333639"/>
                </a:solidFill>
                <a:latin typeface="Fira Sans"/>
              </a:rPr>
              <a:t>, </a:t>
            </a:r>
            <a:r>
              <a:rPr sz="1045" b="0" i="0" dirty="0">
                <a:solidFill>
                  <a:srgbClr val="333639"/>
                </a:solidFill>
                <a:latin typeface="Fira Sans"/>
              </a:rPr>
              <a:t>the temporal credit assignment problem.</a:t>
            </a:r>
          </a:p>
          <a:p>
            <a:pPr marL="0" indent="0" algn="l">
              <a:lnSpc>
                <a:spcPts val="1176"/>
              </a:lnSpc>
              <a:spcBef>
                <a:spcPts val="700"/>
              </a:spcBef>
              <a:spcAft>
                <a:spcPts val="0"/>
              </a:spcAft>
              <a:buNone/>
            </a:pPr>
            <a:r>
              <a:rPr sz="997" b="0" i="0" dirty="0">
                <a:solidFill>
                  <a:srgbClr val="626669"/>
                </a:solidFill>
                <a:latin typeface="Fira Sans"/>
              </a:rPr>
              <a:t>Opposite: immediate feedback. A misclassified image does not change the next image.</a:t>
            </a:r>
          </a:p>
        </p:txBody>
      </p:sp>
      <p:sp>
        <p:nvSpPr>
          <p:cNvPr id="13" name="Rectangle 12"/>
          <p:cNvSpPr/>
          <p:nvPr/>
        </p:nvSpPr>
        <p:spPr>
          <a:xfrm>
            <a:off x="4437888" y="1970034"/>
            <a:ext cx="3322320"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37888" y="2116338"/>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8A5100"/>
                </a:solidFill>
                <a:latin typeface="Fira Sans"/>
              </a:rPr>
              <a:t>EVALUATIVE</a:t>
            </a:r>
          </a:p>
        </p:txBody>
      </p:sp>
      <p:pic>
        <p:nvPicPr>
          <p:cNvPr id="15" name="Picture 14" descr="fb_evaluative.png"/>
          <p:cNvPicPr>
            <a:picLocks noChangeAspect="1"/>
          </p:cNvPicPr>
          <p:nvPr/>
        </p:nvPicPr>
        <p:blipFill>
          <a:blip r:embed="rId3"/>
          <a:stretch>
            <a:fillRect/>
          </a:stretch>
        </p:blipFill>
        <p:spPr>
          <a:xfrm>
            <a:off x="4524012" y="2368935"/>
            <a:ext cx="3143976" cy="1884162"/>
          </a:xfrm>
          <a:prstGeom prst="rect">
            <a:avLst/>
          </a:prstGeom>
        </p:spPr>
      </p:pic>
      <p:sp>
        <p:nvSpPr>
          <p:cNvPr id="16" name="TextBox 15"/>
          <p:cNvSpPr txBox="1"/>
          <p:nvPr/>
        </p:nvSpPr>
        <p:spPr>
          <a:xfrm>
            <a:off x="4437888" y="4394607"/>
            <a:ext cx="3322320" cy="90207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The agent is told how good its action was, never what the best action would have been, and it does not know the dynamics.</a:t>
            </a:r>
          </a:p>
          <a:p>
            <a:pPr marL="0" indent="0" algn="l">
              <a:lnSpc>
                <a:spcPts val="1176"/>
              </a:lnSpc>
              <a:spcBef>
                <a:spcPts val="700"/>
              </a:spcBef>
              <a:spcAft>
                <a:spcPts val="0"/>
              </a:spcAft>
              <a:buNone/>
            </a:pPr>
            <a:r>
              <a:rPr sz="997" b="0" i="0" dirty="0">
                <a:solidFill>
                  <a:srgbClr val="626669"/>
                </a:solidFill>
                <a:latin typeface="Fira Sans"/>
              </a:rPr>
              <a:t>Opposite: supervised feedback</a:t>
            </a:r>
            <a:r>
              <a:rPr lang="it-IT" sz="997" b="0" i="0" dirty="0">
                <a:solidFill>
                  <a:srgbClr val="626669"/>
                </a:solidFill>
                <a:latin typeface="Fira Sans"/>
              </a:rPr>
              <a:t>, </a:t>
            </a:r>
            <a:r>
              <a:rPr sz="997" b="0" i="0" dirty="0">
                <a:solidFill>
                  <a:srgbClr val="626669"/>
                </a:solidFill>
                <a:latin typeface="Fira Sans"/>
              </a:rPr>
              <a:t> the correct label is given, no trial and error needed.</a:t>
            </a:r>
          </a:p>
        </p:txBody>
      </p:sp>
      <p:sp>
        <p:nvSpPr>
          <p:cNvPr id="17" name="Rectangle 16"/>
          <p:cNvSpPr/>
          <p:nvPr/>
        </p:nvSpPr>
        <p:spPr>
          <a:xfrm>
            <a:off x="8034528" y="1970034"/>
            <a:ext cx="3322320"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34528" y="2116338"/>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SAMPLED</a:t>
            </a:r>
          </a:p>
        </p:txBody>
      </p:sp>
      <p:pic>
        <p:nvPicPr>
          <p:cNvPr id="19" name="Picture 18" descr="fb_sampled.png"/>
          <p:cNvPicPr>
            <a:picLocks noChangeAspect="1"/>
          </p:cNvPicPr>
          <p:nvPr/>
        </p:nvPicPr>
        <p:blipFill>
          <a:blip r:embed="rId4"/>
          <a:stretch>
            <a:fillRect/>
          </a:stretch>
        </p:blipFill>
        <p:spPr>
          <a:xfrm>
            <a:off x="8034527" y="2368935"/>
            <a:ext cx="2807643" cy="1912090"/>
          </a:xfrm>
          <a:prstGeom prst="rect">
            <a:avLst/>
          </a:prstGeom>
        </p:spPr>
      </p:pic>
      <p:sp>
        <p:nvSpPr>
          <p:cNvPr id="20" name="TextBox 19"/>
          <p:cNvSpPr txBox="1"/>
          <p:nvPr/>
        </p:nvSpPr>
        <p:spPr>
          <a:xfrm>
            <a:off x="8034528" y="4394607"/>
            <a:ext cx="3322320" cy="89222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Only a finite set of experiences is ever observed, a vanishing fraction of what is possible.</a:t>
            </a:r>
          </a:p>
          <a:p>
            <a:pPr marL="0" indent="0" algn="l">
              <a:lnSpc>
                <a:spcPts val="1176"/>
              </a:lnSpc>
              <a:spcBef>
                <a:spcPts val="700"/>
              </a:spcBef>
              <a:spcAft>
                <a:spcPts val="0"/>
              </a:spcAft>
              <a:buNone/>
            </a:pPr>
            <a:r>
              <a:rPr sz="997" b="0" i="0" dirty="0">
                <a:solidFill>
                  <a:srgbClr val="626669"/>
                </a:solidFill>
                <a:latin typeface="Fira Sans"/>
              </a:rPr>
              <a:t>Opposite: exhaustive feedback. “Every pair visited infinitely often” is reasonable in a small grid world and nowhere else.</a:t>
            </a:r>
          </a:p>
        </p:txBody>
      </p:sp>
      <p:sp>
        <p:nvSpPr>
          <p:cNvPr id="21" name="Rectangle 20"/>
          <p:cNvSpPr/>
          <p:nvPr/>
        </p:nvSpPr>
        <p:spPr>
          <a:xfrm>
            <a:off x="841248" y="5469576"/>
            <a:ext cx="10515600" cy="62544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41248" y="5469576"/>
            <a:ext cx="41148" cy="62544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60704" y="5615880"/>
            <a:ext cx="1013155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chapter is about the third property. </a:t>
            </a:r>
            <a:r>
              <a:rPr sz="1092" b="1" i="0">
                <a:solidFill>
                  <a:srgbClr val="333639"/>
                </a:solidFill>
                <a:latin typeface="Fira Sans"/>
              </a:rPr>
              <a:t>Sampled feedback is what forces generalisation</a:t>
            </a:r>
            <a:r>
              <a:rPr sz="1092" b="0" i="0">
                <a:solidFill>
                  <a:srgbClr val="333639"/>
                </a:solidFill>
                <a:latin typeface="Fira Sans"/>
              </a:rPr>
              <a:t>: the agent must act sensibly in states it has never seen, using experience gathered in states that are merely similar.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1.2  THE SIZE OF THE TABLE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number per state–action pair is a promise we cannot keep</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 — Why tables stop working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Everything up to Chapter 06 stored the action-value function as a matrix indexed by states and actions. The representation is exact, and that is precisely the problem: it needs one independent number for every pair.</a:t>
            </a:r>
          </a:p>
        </p:txBody>
      </p:sp>
      <p:pic>
        <p:nvPicPr>
          <p:cNvPr id="9" name="Picture 8" descr="q_tabl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8232" y="1979561"/>
            <a:ext cx="1770380" cy="304419"/>
          </a:xfrm>
          <a:prstGeom prst="rect">
            <a:avLst/>
          </a:prstGeom>
        </p:spPr>
      </p:pic>
      <p:pic>
        <p:nvPicPr>
          <p:cNvPr id="10" name="Picture 9" descr="q_table.png"/>
          <p:cNvPicPr>
            <a:picLocks noChangeAspect="1"/>
          </p:cNvPicPr>
          <p:nvPr/>
        </p:nvPicPr>
        <p:blipFill>
          <a:blip r:embed="rId3"/>
          <a:stretch>
            <a:fillRect/>
          </a:stretch>
        </p:blipFill>
        <p:spPr>
          <a:xfrm>
            <a:off x="961256" y="2400336"/>
            <a:ext cx="5237838" cy="2142752"/>
          </a:xfrm>
          <a:prstGeom prst="rect">
            <a:avLst/>
          </a:prstGeom>
        </p:spPr>
      </p:pic>
      <p:sp>
        <p:nvSpPr>
          <p:cNvPr id="11" name="TextBox 10"/>
          <p:cNvSpPr txBox="1"/>
          <p:nvPr/>
        </p:nvSpPr>
        <p:spPr>
          <a:xfrm>
            <a:off x="841248" y="4689344"/>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The tabular action-value function: a row per action, a column per state.</a:t>
            </a:r>
          </a:p>
        </p:txBody>
      </p:sp>
      <p:sp>
        <p:nvSpPr>
          <p:cNvPr id="12" name="Rectangle 11"/>
          <p:cNvSpPr/>
          <p:nvPr/>
        </p:nvSpPr>
        <p:spPr>
          <a:xfrm>
            <a:off x="841248" y="491375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007345"/>
            <a:ext cx="6543446" cy="1241552"/>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4" name="Rectangle 13"/>
          <p:cNvSpPr/>
          <p:nvPr/>
        </p:nvSpPr>
        <p:spPr>
          <a:xfrm>
            <a:off x="841248" y="5007345"/>
            <a:ext cx="54864" cy="12415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0704" y="5153649"/>
            <a:ext cx="6250838"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A NUMBER WORTH SAYING OUT LOUD</a:t>
            </a:r>
          </a:p>
        </p:txBody>
      </p:sp>
      <p:sp>
        <p:nvSpPr>
          <p:cNvPr id="16" name="TextBox 15"/>
          <p:cNvSpPr txBox="1"/>
          <p:nvPr/>
        </p:nvSpPr>
        <p:spPr>
          <a:xfrm>
            <a:off x="1060704" y="5391393"/>
            <a:ext cx="6159398"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For Atari, a state is a 210×160 image with three 8-bit channels. The number of distinct states is </a:t>
            </a:r>
            <a:r>
              <a:rPr sz="1092" b="1" i="0" dirty="0">
                <a:solidFill>
                  <a:srgbClr val="333639"/>
                </a:solidFill>
                <a:latin typeface="Fira Sans"/>
              </a:rPr>
              <a:t>larger than the number of atoms in the observable universe</a:t>
            </a:r>
            <a:r>
              <a:rPr sz="1092" b="0" i="0" dirty="0">
                <a:solidFill>
                  <a:srgbClr val="333639"/>
                </a:solidFill>
                <a:latin typeface="Fira Sans"/>
              </a:rPr>
              <a:t> and the table would need one cell for each of them.</a:t>
            </a:r>
          </a:p>
        </p:txBody>
      </p:sp>
      <p:pic>
        <p:nvPicPr>
          <p:cNvPr id="17" name="Picture 16" descr="atari.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5683" y="5921745"/>
            <a:ext cx="1814576" cy="327152"/>
          </a:xfrm>
          <a:prstGeom prst="rect">
            <a:avLst/>
          </a:prstGeom>
        </p:spPr>
      </p:pic>
      <p:sp>
        <p:nvSpPr>
          <p:cNvPr id="18" name="TextBox 17"/>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THREE WAYS A STATE SPACE GETS OUT OF HAND</a:t>
            </a:r>
          </a:p>
        </p:txBody>
      </p:sp>
      <p:pic>
        <p:nvPicPr>
          <p:cNvPr id="19" name="Picture 18" descr="ss_comb.png"/>
          <p:cNvPicPr>
            <a:picLocks noChangeAspect="1"/>
          </p:cNvPicPr>
          <p:nvPr/>
        </p:nvPicPr>
        <p:blipFill>
          <a:blip r:embed="rId5"/>
          <a:stretch>
            <a:fillRect/>
          </a:stretch>
        </p:blipFill>
        <p:spPr>
          <a:xfrm>
            <a:off x="7618779" y="1572768"/>
            <a:ext cx="1367775" cy="1110546"/>
          </a:xfrm>
          <a:prstGeom prst="rect">
            <a:avLst/>
          </a:prstGeom>
        </p:spPr>
      </p:pic>
      <p:sp>
        <p:nvSpPr>
          <p:cNvPr id="20" name="TextBox 19"/>
          <p:cNvSpPr txBox="1"/>
          <p:nvPr/>
        </p:nvSpPr>
        <p:spPr>
          <a:xfrm>
            <a:off x="9335473" y="1821049"/>
            <a:ext cx="2015247" cy="219456"/>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1" i="0">
                <a:solidFill>
                  <a:srgbClr val="25282A"/>
                </a:solidFill>
                <a:latin typeface="Fira Sans"/>
              </a:rPr>
              <a:t>Combinatorial</a:t>
            </a:r>
          </a:p>
        </p:txBody>
      </p:sp>
      <p:sp>
        <p:nvSpPr>
          <p:cNvPr id="21" name="TextBox 20"/>
          <p:cNvSpPr txBox="1"/>
          <p:nvPr/>
        </p:nvSpPr>
        <p:spPr>
          <a:xfrm>
            <a:off x="9335473" y="2077081"/>
            <a:ext cx="2015247"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Exponentially many configurations</a:t>
            </a:r>
            <a:r>
              <a:rPr lang="it-IT" sz="997" b="0" i="0" dirty="0">
                <a:solidFill>
                  <a:srgbClr val="626669"/>
                </a:solidFill>
                <a:latin typeface="Fira Sans"/>
              </a:rPr>
              <a:t>, </a:t>
            </a:r>
            <a:r>
              <a:rPr sz="997" b="0" i="0" dirty="0">
                <a:solidFill>
                  <a:srgbClr val="626669"/>
                </a:solidFill>
                <a:latin typeface="Fira Sans"/>
              </a:rPr>
              <a:t>chess has about 10⁴⁷.</a:t>
            </a:r>
          </a:p>
        </p:txBody>
      </p:sp>
      <p:pic>
        <p:nvPicPr>
          <p:cNvPr id="22" name="Picture 21" descr="ss_highdim.png"/>
          <p:cNvPicPr>
            <a:picLocks noChangeAspect="1"/>
          </p:cNvPicPr>
          <p:nvPr/>
        </p:nvPicPr>
        <p:blipFill>
          <a:blip r:embed="rId6"/>
          <a:stretch>
            <a:fillRect/>
          </a:stretch>
        </p:blipFill>
        <p:spPr>
          <a:xfrm>
            <a:off x="7659928" y="2844575"/>
            <a:ext cx="1238543" cy="1143458"/>
          </a:xfrm>
          <a:prstGeom prst="rect">
            <a:avLst/>
          </a:prstGeom>
        </p:spPr>
      </p:pic>
      <p:sp>
        <p:nvSpPr>
          <p:cNvPr id="23" name="TextBox 22"/>
          <p:cNvSpPr txBox="1"/>
          <p:nvPr/>
        </p:nvSpPr>
        <p:spPr>
          <a:xfrm>
            <a:off x="9310531" y="3217614"/>
            <a:ext cx="2015247" cy="219456"/>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1" i="0">
                <a:solidFill>
                  <a:srgbClr val="25282A"/>
                </a:solidFill>
                <a:latin typeface="Fira Sans"/>
              </a:rPr>
              <a:t>High-dimensional</a:t>
            </a:r>
          </a:p>
        </p:txBody>
      </p:sp>
      <p:sp>
        <p:nvSpPr>
          <p:cNvPr id="24" name="TextBox 23"/>
          <p:cNvSpPr txBox="1"/>
          <p:nvPr/>
        </p:nvSpPr>
        <p:spPr>
          <a:xfrm>
            <a:off x="9310531" y="3473646"/>
            <a:ext cx="2015247"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Each state is described by very many variables: pixels, sensors.</a:t>
            </a:r>
          </a:p>
        </p:txBody>
      </p:sp>
      <p:pic>
        <p:nvPicPr>
          <p:cNvPr id="25" name="Picture 24" descr="ss_cont.png"/>
          <p:cNvPicPr>
            <a:picLocks noChangeAspect="1"/>
          </p:cNvPicPr>
          <p:nvPr/>
        </p:nvPicPr>
        <p:blipFill>
          <a:blip r:embed="rId7"/>
          <a:stretch>
            <a:fillRect/>
          </a:stretch>
        </p:blipFill>
        <p:spPr>
          <a:xfrm>
            <a:off x="7659928" y="4188828"/>
            <a:ext cx="1034191" cy="1147701"/>
          </a:xfrm>
          <a:prstGeom prst="rect">
            <a:avLst/>
          </a:prstGeom>
        </p:spPr>
      </p:pic>
      <p:sp>
        <p:nvSpPr>
          <p:cNvPr id="26" name="TextBox 25"/>
          <p:cNvSpPr txBox="1"/>
          <p:nvPr/>
        </p:nvSpPr>
        <p:spPr>
          <a:xfrm>
            <a:off x="9335473" y="4657721"/>
            <a:ext cx="2015247" cy="219456"/>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1" i="0">
                <a:solidFill>
                  <a:srgbClr val="25282A"/>
                </a:solidFill>
                <a:latin typeface="Fira Sans"/>
              </a:rPr>
              <a:t>Continuous</a:t>
            </a:r>
          </a:p>
        </p:txBody>
      </p:sp>
      <p:sp>
        <p:nvSpPr>
          <p:cNvPr id="27" name="TextBox 26"/>
          <p:cNvSpPr txBox="1"/>
          <p:nvPr/>
        </p:nvSpPr>
        <p:spPr>
          <a:xfrm>
            <a:off x="9335473" y="4913753"/>
            <a:ext cx="2015247"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 single variable already takes infinitely many values.</a:t>
            </a:r>
          </a:p>
        </p:txBody>
      </p:sp>
      <p:sp>
        <p:nvSpPr>
          <p:cNvPr id="28" name="Rectangle 27"/>
          <p:cNvSpPr/>
          <p:nvPr/>
        </p:nvSpPr>
        <p:spPr>
          <a:xfrm>
            <a:off x="7618780" y="5498367"/>
            <a:ext cx="3731940" cy="770382"/>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7618780" y="5498367"/>
            <a:ext cx="41148" cy="77038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838236" y="5644671"/>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These are not exotic cases. Cart-Pole, the small benchmark of this chapter, is already continuous in all four of its state variables.</a:t>
            </a:r>
          </a:p>
        </p:txBody>
      </p:sp>
      <p:sp>
        <p:nvSpPr>
          <p:cNvPr id="31" name="CasellaDiTesto 30">
            <a:extLst>
              <a:ext uri="{FF2B5EF4-FFF2-40B4-BE49-F238E27FC236}">
                <a16:creationId xmlns:a16="http://schemas.microsoft.com/office/drawing/2014/main" id="{3B8DBA51-BC36-19F3-A844-31F1CC40BDAE}"/>
              </a:ext>
            </a:extLst>
          </p:cNvPr>
          <p:cNvSpPr txBox="1"/>
          <p:nvPr/>
        </p:nvSpPr>
        <p:spPr>
          <a:xfrm>
            <a:off x="7409329" y="5337002"/>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1.3  DISCRETISING DOES NOT SAVE US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The obstacle is not only memory</a:t>
            </a:r>
            <a:r>
              <a:rPr lang="it-IT" sz="2162" b="1" i="0" dirty="0">
                <a:solidFill>
                  <a:srgbClr val="25282A"/>
                </a:solidFill>
                <a:latin typeface="Roboto Slab"/>
              </a:rPr>
              <a:t>,</a:t>
            </a:r>
            <a:r>
              <a:rPr sz="2162" b="1" i="0" dirty="0">
                <a:solidFill>
                  <a:srgbClr val="25282A"/>
                </a:solidFill>
                <a:latin typeface="Roboto Slab"/>
              </a:rPr>
              <a:t> it is the experience needed to fill the cells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 — Why tables stop working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38200" y="1281837"/>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obvious repair is to chop each continuous variable into bins and keep a table over the resulting grid. It works in principle, and fails in practice for reasons that compound one another.</a:t>
            </a:r>
          </a:p>
        </p:txBody>
      </p:sp>
      <p:sp>
        <p:nvSpPr>
          <p:cNvPr id="9" name="Rectangle 8"/>
          <p:cNvSpPr/>
          <p:nvPr/>
        </p:nvSpPr>
        <p:spPr>
          <a:xfrm>
            <a:off x="822960" y="1808623"/>
            <a:ext cx="2450592"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1954927"/>
            <a:ext cx="245059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574676"/>
                </a:solidFill>
                <a:latin typeface="Fira Sans"/>
              </a:rPr>
              <a:t>DISCRETISE</a:t>
            </a:r>
          </a:p>
        </p:txBody>
      </p:sp>
      <p:pic>
        <p:nvPicPr>
          <p:cNvPr id="11" name="Picture 10" descr="dz_grid.png"/>
          <p:cNvPicPr>
            <a:picLocks noChangeAspect="1"/>
          </p:cNvPicPr>
          <p:nvPr/>
        </p:nvPicPr>
        <p:blipFill>
          <a:blip r:embed="rId2"/>
          <a:srcRect r="5423"/>
          <a:stretch>
            <a:fillRect/>
          </a:stretch>
        </p:blipFill>
        <p:spPr>
          <a:xfrm>
            <a:off x="1057656" y="2118871"/>
            <a:ext cx="1345785" cy="2220077"/>
          </a:xfrm>
          <a:prstGeom prst="rect">
            <a:avLst/>
          </a:prstGeom>
        </p:spPr>
      </p:pic>
      <p:sp>
        <p:nvSpPr>
          <p:cNvPr id="12" name="TextBox 11"/>
          <p:cNvSpPr txBox="1"/>
          <p:nvPr/>
        </p:nvSpPr>
        <p:spPr>
          <a:xfrm>
            <a:off x="822960" y="4403763"/>
            <a:ext cx="2450592" cy="34046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626669"/>
                </a:solidFill>
                <a:latin typeface="Fira Sans"/>
              </a:rPr>
              <a:t>A continuous space becomes a finite set of cells</a:t>
            </a:r>
            <a:r>
              <a:rPr lang="it-IT" sz="997" b="0" i="0" dirty="0">
                <a:solidFill>
                  <a:srgbClr val="626669"/>
                </a:solidFill>
                <a:latin typeface="Fira Sans"/>
              </a:rPr>
              <a:t>: </a:t>
            </a:r>
            <a:r>
              <a:rPr sz="997" b="0" i="0" dirty="0">
                <a:solidFill>
                  <a:srgbClr val="626669"/>
                </a:solidFill>
                <a:latin typeface="Fira Sans"/>
              </a:rPr>
              <a:t>one table entry per cell.</a:t>
            </a:r>
          </a:p>
        </p:txBody>
      </p:sp>
      <p:sp>
        <p:nvSpPr>
          <p:cNvPr id="13" name="Rectangle 12"/>
          <p:cNvSpPr/>
          <p:nvPr/>
        </p:nvSpPr>
        <p:spPr>
          <a:xfrm>
            <a:off x="3511296" y="1808623"/>
            <a:ext cx="2450592"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511296" y="1954927"/>
            <a:ext cx="245059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8A5100"/>
                </a:solidFill>
                <a:latin typeface="Fira Sans"/>
              </a:rPr>
              <a:t>STILL EXPONENTIAL</a:t>
            </a:r>
          </a:p>
        </p:txBody>
      </p:sp>
      <p:pic>
        <p:nvPicPr>
          <p:cNvPr id="15" name="Picture 14" descr="dz_large.png"/>
          <p:cNvPicPr>
            <a:picLocks noChangeAspect="1"/>
          </p:cNvPicPr>
          <p:nvPr/>
        </p:nvPicPr>
        <p:blipFill>
          <a:blip r:embed="rId3"/>
          <a:stretch>
            <a:fillRect/>
          </a:stretch>
        </p:blipFill>
        <p:spPr>
          <a:xfrm>
            <a:off x="3681612" y="2116860"/>
            <a:ext cx="1260650" cy="2171285"/>
          </a:xfrm>
          <a:prstGeom prst="rect">
            <a:avLst/>
          </a:prstGeom>
        </p:spPr>
      </p:pic>
      <p:sp>
        <p:nvSpPr>
          <p:cNvPr id="16" name="TextBox 15"/>
          <p:cNvSpPr txBox="1"/>
          <p:nvPr/>
        </p:nvSpPr>
        <p:spPr>
          <a:xfrm>
            <a:off x="3511296" y="4403763"/>
            <a:ext cx="2450592" cy="49240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With 100 bins per variable and four variables, that is 10⁸ cells. Each one needs its own estimate.</a:t>
            </a:r>
          </a:p>
        </p:txBody>
      </p:sp>
      <p:sp>
        <p:nvSpPr>
          <p:cNvPr id="17" name="Rectangle 16"/>
          <p:cNvSpPr/>
          <p:nvPr/>
        </p:nvSpPr>
        <p:spPr>
          <a:xfrm>
            <a:off x="6199632" y="1808623"/>
            <a:ext cx="2450592"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199632" y="1954927"/>
            <a:ext cx="245059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C8102E"/>
                </a:solidFill>
                <a:latin typeface="Fira Sans"/>
              </a:rPr>
              <a:t>MOST STATES ARE NEW</a:t>
            </a:r>
          </a:p>
        </p:txBody>
      </p:sp>
      <p:pic>
        <p:nvPicPr>
          <p:cNvPr id="19" name="Picture 18" descr="dz_new.png"/>
          <p:cNvPicPr>
            <a:picLocks noChangeAspect="1"/>
          </p:cNvPicPr>
          <p:nvPr/>
        </p:nvPicPr>
        <p:blipFill>
          <a:blip r:embed="rId4"/>
          <a:srcRect l="6326"/>
          <a:stretch>
            <a:fillRect/>
          </a:stretch>
        </p:blipFill>
        <p:spPr>
          <a:xfrm>
            <a:off x="6578333" y="2116860"/>
            <a:ext cx="1260650" cy="2192376"/>
          </a:xfrm>
          <a:prstGeom prst="rect">
            <a:avLst/>
          </a:prstGeom>
        </p:spPr>
      </p:pic>
      <p:sp>
        <p:nvSpPr>
          <p:cNvPr id="20" name="TextBox 19"/>
          <p:cNvSpPr txBox="1"/>
          <p:nvPr/>
        </p:nvSpPr>
        <p:spPr>
          <a:xfrm>
            <a:off x="6199632" y="4403763"/>
            <a:ext cx="2450592" cy="49240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A trajectory touches a vanishing fraction of the grid. Almost every state the agent meets is one it has never visited.</a:t>
            </a:r>
          </a:p>
        </p:txBody>
      </p:sp>
      <p:sp>
        <p:nvSpPr>
          <p:cNvPr id="21" name="Rectangle 20"/>
          <p:cNvSpPr/>
          <p:nvPr/>
        </p:nvSpPr>
        <p:spPr>
          <a:xfrm>
            <a:off x="8887968" y="1808623"/>
            <a:ext cx="2450592"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887968" y="1954927"/>
            <a:ext cx="245059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dirty="0">
                <a:solidFill>
                  <a:srgbClr val="2B7A3E"/>
                </a:solidFill>
                <a:latin typeface="Fira Sans"/>
              </a:rPr>
              <a:t>SO: GENERALISE</a:t>
            </a:r>
          </a:p>
        </p:txBody>
      </p:sp>
      <p:pic>
        <p:nvPicPr>
          <p:cNvPr id="23" name="Picture 22" descr="dz_gen.png"/>
          <p:cNvPicPr>
            <a:picLocks noChangeAspect="1"/>
          </p:cNvPicPr>
          <p:nvPr/>
        </p:nvPicPr>
        <p:blipFill>
          <a:blip r:embed="rId5"/>
          <a:srcRect l="3626"/>
          <a:stretch>
            <a:fillRect/>
          </a:stretch>
        </p:blipFill>
        <p:spPr>
          <a:xfrm>
            <a:off x="9117154" y="2116860"/>
            <a:ext cx="1477648" cy="2212454"/>
          </a:xfrm>
          <a:prstGeom prst="rect">
            <a:avLst/>
          </a:prstGeom>
        </p:spPr>
      </p:pic>
      <p:sp>
        <p:nvSpPr>
          <p:cNvPr id="24" name="TextBox 23"/>
          <p:cNvSpPr txBox="1"/>
          <p:nvPr/>
        </p:nvSpPr>
        <p:spPr>
          <a:xfrm>
            <a:off x="8887968" y="4403763"/>
            <a:ext cx="2450592" cy="49240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626669"/>
                </a:solidFill>
                <a:latin typeface="Fira Sans"/>
              </a:rPr>
              <a:t>Tabular methods keep every cell separate. We want nearby states to inform one another.</a:t>
            </a:r>
          </a:p>
        </p:txBody>
      </p:sp>
      <p:sp>
        <p:nvSpPr>
          <p:cNvPr id="25" name="Rectangle 24"/>
          <p:cNvSpPr/>
          <p:nvPr/>
        </p:nvSpPr>
        <p:spPr>
          <a:xfrm>
            <a:off x="838200" y="492857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38200" y="5094230"/>
            <a:ext cx="5120640" cy="1196035"/>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38200" y="5094230"/>
            <a:ext cx="41148" cy="119603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57656" y="5240534"/>
            <a:ext cx="482803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WE DO NOT NEED A NEW IDEA</a:t>
            </a:r>
          </a:p>
        </p:txBody>
      </p:sp>
      <p:sp>
        <p:nvSpPr>
          <p:cNvPr id="29" name="TextBox 28"/>
          <p:cNvSpPr txBox="1"/>
          <p:nvPr/>
        </p:nvSpPr>
        <p:spPr>
          <a:xfrm>
            <a:off x="1057656" y="5478278"/>
            <a:ext cx="47365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Generalization from examples is not a new problem</a:t>
            </a:r>
            <a:r>
              <a:rPr lang="it-IT" sz="1092" b="0" i="0" dirty="0">
                <a:solidFill>
                  <a:srgbClr val="333639"/>
                </a:solidFill>
                <a:latin typeface="Fira Sans"/>
              </a:rPr>
              <a:t>,</a:t>
            </a:r>
            <a:r>
              <a:rPr sz="1092" b="0" i="0" dirty="0">
                <a:solidFill>
                  <a:srgbClr val="333639"/>
                </a:solidFill>
                <a:latin typeface="Fira Sans"/>
              </a:rPr>
              <a:t> it is supervised learning. We therefore do not invent a new method; we plug an existing </a:t>
            </a:r>
            <a:r>
              <a:rPr sz="1092" b="1" i="0" dirty="0">
                <a:solidFill>
                  <a:srgbClr val="333639"/>
                </a:solidFill>
                <a:latin typeface="Fira Sans"/>
              </a:rPr>
              <a:t>function approximator</a:t>
            </a:r>
            <a:r>
              <a:rPr sz="1092" b="0" i="0" dirty="0">
                <a:solidFill>
                  <a:srgbClr val="333639"/>
                </a:solidFill>
                <a:latin typeface="Fira Sans"/>
              </a:rPr>
              <a:t> into the reinforcement-learning algorithms we already have.</a:t>
            </a:r>
          </a:p>
        </p:txBody>
      </p:sp>
      <p:sp>
        <p:nvSpPr>
          <p:cNvPr id="30" name="Rectangle 29"/>
          <p:cNvSpPr/>
          <p:nvPr/>
        </p:nvSpPr>
        <p:spPr>
          <a:xfrm>
            <a:off x="6233159" y="5094230"/>
            <a:ext cx="5120640" cy="102961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6233159" y="5094230"/>
            <a:ext cx="41148" cy="102961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452616" y="5240534"/>
            <a:ext cx="482803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A CHANGE OF GOAL</a:t>
            </a:r>
          </a:p>
        </p:txBody>
      </p:sp>
      <p:sp>
        <p:nvSpPr>
          <p:cNvPr id="33" name="TextBox 32"/>
          <p:cNvSpPr txBox="1"/>
          <p:nvPr/>
        </p:nvSpPr>
        <p:spPr>
          <a:xfrm>
            <a:off x="6452616" y="5478278"/>
            <a:ext cx="4736592"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And we lower our expectations. In a large state space the goal is no longer the optimal policy, but a </a:t>
            </a:r>
            <a:r>
              <a:rPr sz="1092" b="1" i="0">
                <a:solidFill>
                  <a:srgbClr val="333639"/>
                </a:solidFill>
                <a:latin typeface="Fira Sans"/>
              </a:rPr>
              <a:t>good approximate solution with limited computation</a:t>
            </a:r>
            <a:r>
              <a:rPr sz="1092" b="0" i="0">
                <a:solidFill>
                  <a:srgbClr val="333639"/>
                </a:solidFill>
                <a:latin typeface="Fira Sans"/>
              </a:rPr>
              <a:t>.</a:t>
            </a:r>
          </a:p>
        </p:txBody>
      </p:sp>
      <p:sp>
        <p:nvSpPr>
          <p:cNvPr id="34" name="CasellaDiTesto 33">
            <a:extLst>
              <a:ext uri="{FF2B5EF4-FFF2-40B4-BE49-F238E27FC236}">
                <a16:creationId xmlns:a16="http://schemas.microsoft.com/office/drawing/2014/main" id="{994BB566-315D-1A3C-7A96-4C49F30D2320}"/>
              </a:ext>
            </a:extLst>
          </p:cNvPr>
          <p:cNvSpPr txBox="1"/>
          <p:nvPr/>
        </p:nvSpPr>
        <p:spPr>
          <a:xfrm>
            <a:off x="636144" y="4189339"/>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1.4  FROM A TABLE TO A PARAMETER VECTOR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Describe the pair by features, and store weights instead of values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 — Why tables stop working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Instead of one number per state–action pair, describe the pair by a feature vector and compute its value as a weighted combination of those features.</a:t>
            </a:r>
          </a:p>
        </p:txBody>
      </p:sp>
      <p:pic>
        <p:nvPicPr>
          <p:cNvPr id="9" name="Picture 8" descr="table_vs_param.png"/>
          <p:cNvPicPr>
            <a:picLocks noChangeAspect="1"/>
          </p:cNvPicPr>
          <p:nvPr/>
        </p:nvPicPr>
        <p:blipFill>
          <a:blip r:embed="rId2"/>
          <a:stretch>
            <a:fillRect/>
          </a:stretch>
        </p:blipFill>
        <p:spPr>
          <a:xfrm>
            <a:off x="2102422" y="1719314"/>
            <a:ext cx="7069452" cy="2490662"/>
          </a:xfrm>
          <a:prstGeom prst="rect">
            <a:avLst/>
          </a:prstGeom>
        </p:spPr>
      </p:pic>
      <p:pic>
        <p:nvPicPr>
          <p:cNvPr id="11" name="Picture 10" descr="phi.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1361" y="4538701"/>
            <a:ext cx="1308354" cy="269875"/>
          </a:xfrm>
          <a:prstGeom prst="rect">
            <a:avLst/>
          </a:prstGeom>
        </p:spPr>
      </p:pic>
      <p:pic>
        <p:nvPicPr>
          <p:cNvPr id="12" name="Picture 11" descr="linear.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80008" y="4286156"/>
            <a:ext cx="3826763" cy="717803"/>
          </a:xfrm>
          <a:prstGeom prst="rect">
            <a:avLst/>
          </a:prstGeom>
        </p:spPr>
      </p:pic>
      <p:sp>
        <p:nvSpPr>
          <p:cNvPr id="13" name="Rectangle 12"/>
          <p:cNvSpPr/>
          <p:nvPr/>
        </p:nvSpPr>
        <p:spPr>
          <a:xfrm>
            <a:off x="841248" y="502534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5146075"/>
            <a:ext cx="5102352" cy="29260"/>
          </a:xfrm>
          <a:prstGeom prst="rect">
            <a:avLst/>
          </a:prstGeom>
          <a:solidFill>
            <a:srgbClr val="626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5292379"/>
            <a:ext cx="510235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626669"/>
                </a:solidFill>
                <a:latin typeface="Fira Sans"/>
              </a:rPr>
              <a:t>A TABLE IS A SPECIAL CASE</a:t>
            </a:r>
          </a:p>
        </p:txBody>
      </p:sp>
      <p:pic>
        <p:nvPicPr>
          <p:cNvPr id="16" name="Picture 15" descr="tabular_n.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248" y="5469332"/>
            <a:ext cx="2995929" cy="222250"/>
          </a:xfrm>
          <a:prstGeom prst="rect">
            <a:avLst/>
          </a:prstGeom>
        </p:spPr>
      </p:pic>
      <p:sp>
        <p:nvSpPr>
          <p:cNvPr id="17" name="TextBox 16"/>
          <p:cNvSpPr txBox="1"/>
          <p:nvPr/>
        </p:nvSpPr>
        <p:spPr>
          <a:xfrm>
            <a:off x="841248" y="5767842"/>
            <a:ext cx="5102352"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With a one-hot feature vector the weighted sum selects one entry. Updating one pair changes that pair and nothing else.</a:t>
            </a:r>
          </a:p>
        </p:txBody>
      </p:sp>
      <p:sp>
        <p:nvSpPr>
          <p:cNvPr id="18" name="Rectangle 17"/>
          <p:cNvSpPr/>
          <p:nvPr/>
        </p:nvSpPr>
        <p:spPr>
          <a:xfrm>
            <a:off x="6254496" y="5146075"/>
            <a:ext cx="5102352"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54496" y="5292379"/>
            <a:ext cx="510235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2B7A3E"/>
                </a:solidFill>
                <a:latin typeface="Fira Sans"/>
              </a:rPr>
              <a:t>FEWER PARAMETERS THAN PAIRS</a:t>
            </a:r>
          </a:p>
        </p:txBody>
      </p:sp>
      <p:pic>
        <p:nvPicPr>
          <p:cNvPr id="20" name="Picture 19" descr="fewer_n.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54496" y="5469332"/>
            <a:ext cx="4395216" cy="222250"/>
          </a:xfrm>
          <a:prstGeom prst="rect">
            <a:avLst/>
          </a:prstGeom>
        </p:spPr>
      </p:pic>
      <p:sp>
        <p:nvSpPr>
          <p:cNvPr id="21" name="TextBox 20"/>
          <p:cNvSpPr txBox="1"/>
          <p:nvPr/>
        </p:nvSpPr>
        <p:spPr>
          <a:xfrm>
            <a:off x="6254496" y="5767842"/>
            <a:ext cx="5102352"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Pairs now share features, and therefore share parameters: one update moves every similar pair. </a:t>
            </a:r>
            <a:r>
              <a:rPr sz="1045" b="1" i="0" dirty="0">
                <a:solidFill>
                  <a:srgbClr val="25282A"/>
                </a:solidFill>
                <a:latin typeface="Fira Sans"/>
              </a:rPr>
              <a:t>That is the generalization we wanted and the coupling that causes trouble later.</a:t>
            </a:r>
          </a:p>
        </p:txBody>
      </p:sp>
      <p:sp>
        <p:nvSpPr>
          <p:cNvPr id="22" name="CasellaDiTesto 21">
            <a:extLst>
              <a:ext uri="{FF2B5EF4-FFF2-40B4-BE49-F238E27FC236}">
                <a16:creationId xmlns:a16="http://schemas.microsoft.com/office/drawing/2014/main" id="{F279D943-EAFC-7E30-3A9B-B58EF607FD29}"/>
              </a:ext>
            </a:extLst>
          </p:cNvPr>
          <p:cNvSpPr txBox="1"/>
          <p:nvPr/>
        </p:nvSpPr>
        <p:spPr>
          <a:xfrm>
            <a:off x="577049" y="3284738"/>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1.5  THE UPDATE, REWRITTEN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incremental pattern, but there is no longer a cell to overwrite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 — Why tables stop working</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7</a:t>
            </a:r>
          </a:p>
        </p:txBody>
      </p:sp>
      <p:sp>
        <p:nvSpPr>
          <p:cNvPr id="8" name="TextBox 7"/>
          <p:cNvSpPr txBox="1"/>
          <p:nvPr/>
        </p:nvSpPr>
        <p:spPr>
          <a:xfrm>
            <a:off x="841248" y="1316736"/>
            <a:ext cx="10515600" cy="235209"/>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Every algorithm in this course has had the same shape. What changes is the meaning of “old estimate”.</a:t>
            </a:r>
          </a:p>
        </p:txBody>
      </p:sp>
      <p:sp>
        <p:nvSpPr>
          <p:cNvPr id="9" name="Rectangle 8"/>
          <p:cNvSpPr/>
          <p:nvPr/>
        </p:nvSpPr>
        <p:spPr>
          <a:xfrm>
            <a:off x="2988183" y="1743969"/>
            <a:ext cx="6126480" cy="6583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patter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68936" y="1954281"/>
            <a:ext cx="3054096" cy="294639"/>
          </a:xfrm>
          <a:prstGeom prst="rect">
            <a:avLst/>
          </a:prstGeom>
        </p:spPr>
      </p:pic>
      <p:sp>
        <p:nvSpPr>
          <p:cNvPr id="11" name="TextBox 10"/>
          <p:cNvSpPr txBox="1"/>
          <p:nvPr/>
        </p:nvSpPr>
        <p:spPr>
          <a:xfrm>
            <a:off x="841248" y="2594361"/>
            <a:ext cx="5102352" cy="384048"/>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1" i="0">
                <a:solidFill>
                  <a:srgbClr val="25282A"/>
                </a:solidFill>
                <a:latin typeface="Fira Sans"/>
              </a:rPr>
              <a:t>Tabular</a:t>
            </a:r>
            <a:r>
              <a:rPr sz="1140" b="0" i="0">
                <a:solidFill>
                  <a:srgbClr val="333639"/>
                </a:solidFill>
                <a:latin typeface="Fira Sans"/>
              </a:rPr>
              <a:t>: the old estimate is one cell of the table. We overwrite it, and nothing else moves.</a:t>
            </a:r>
          </a:p>
        </p:txBody>
      </p:sp>
      <p:sp>
        <p:nvSpPr>
          <p:cNvPr id="12" name="TextBox 11"/>
          <p:cNvSpPr txBox="1"/>
          <p:nvPr/>
        </p:nvSpPr>
        <p:spPr>
          <a:xfrm>
            <a:off x="6254496" y="2594361"/>
            <a:ext cx="5102352" cy="557784"/>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1" i="0" dirty="0">
                <a:solidFill>
                  <a:srgbClr val="574676"/>
                </a:solidFill>
                <a:latin typeface="Fira Sans"/>
              </a:rPr>
              <a:t>Parametric</a:t>
            </a:r>
            <a:r>
              <a:rPr sz="1140" b="0" i="0" dirty="0">
                <a:solidFill>
                  <a:srgbClr val="333639"/>
                </a:solidFill>
                <a:latin typeface="Fira Sans"/>
              </a:rPr>
              <a:t>: the estimate is computed from </a:t>
            </a:r>
            <a:r>
              <a:rPr sz="1140" b="0" i="0" dirty="0" err="1">
                <a:solidFill>
                  <a:srgbClr val="333639"/>
                </a:solidFill>
                <a:latin typeface="Fira Sans"/>
              </a:rPr>
              <a:t>θ</a:t>
            </a:r>
            <a:r>
              <a:rPr sz="1140" b="0" i="0" dirty="0">
                <a:solidFill>
                  <a:srgbClr val="333639"/>
                </a:solidFill>
                <a:latin typeface="Fira Sans"/>
              </a:rPr>
              <a:t>. There is no cell to overwrite we must change </a:t>
            </a:r>
            <a:r>
              <a:rPr sz="1140" b="0" i="0" dirty="0" err="1">
                <a:solidFill>
                  <a:srgbClr val="333639"/>
                </a:solidFill>
                <a:latin typeface="Fira Sans"/>
              </a:rPr>
              <a:t>θ</a:t>
            </a:r>
            <a:r>
              <a:rPr sz="1140" b="0" i="0" dirty="0">
                <a:solidFill>
                  <a:srgbClr val="333639"/>
                </a:solidFill>
                <a:latin typeface="Fira Sans"/>
              </a:rPr>
              <a:t> so that the prediction for this pair moves toward the target.</a:t>
            </a:r>
          </a:p>
        </p:txBody>
      </p:sp>
      <p:sp>
        <p:nvSpPr>
          <p:cNvPr id="13" name="TextBox 12"/>
          <p:cNvSpPr txBox="1"/>
          <p:nvPr/>
        </p:nvSpPr>
        <p:spPr>
          <a:xfrm>
            <a:off x="841248" y="328930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FOR A LINEAR APPROXIMATOR THE GRADIENT IS JUST THE FEATURE VECTOR</a:t>
            </a:r>
          </a:p>
        </p:txBody>
      </p:sp>
      <p:pic>
        <p:nvPicPr>
          <p:cNvPr id="14" name="Picture 13" descr="grad_li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48603" y="3563625"/>
            <a:ext cx="2294762" cy="301625"/>
          </a:xfrm>
          <a:prstGeom prst="rect">
            <a:avLst/>
          </a:prstGeom>
        </p:spPr>
      </p:pic>
      <p:sp>
        <p:nvSpPr>
          <p:cNvPr id="15" name="Rectangle 14"/>
          <p:cNvSpPr/>
          <p:nvPr/>
        </p:nvSpPr>
        <p:spPr>
          <a:xfrm>
            <a:off x="841248" y="4102994"/>
            <a:ext cx="10515600" cy="1042415"/>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6" name="Rectangle 15"/>
          <p:cNvSpPr/>
          <p:nvPr/>
        </p:nvSpPr>
        <p:spPr>
          <a:xfrm>
            <a:off x="841248" y="4102994"/>
            <a:ext cx="41148" cy="104241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lin_upd_ann.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6520" y="4384172"/>
            <a:ext cx="4935855" cy="556260"/>
          </a:xfrm>
          <a:prstGeom prst="rect">
            <a:avLst/>
          </a:prstGeom>
        </p:spPr>
      </p:pic>
      <p:sp>
        <p:nvSpPr>
          <p:cNvPr id="18" name="Rectangle 17"/>
          <p:cNvSpPr/>
          <p:nvPr/>
        </p:nvSpPr>
        <p:spPr>
          <a:xfrm>
            <a:off x="841248" y="529171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nn_update.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09952" y="5558536"/>
            <a:ext cx="3917696" cy="294639"/>
          </a:xfrm>
          <a:prstGeom prst="rect">
            <a:avLst/>
          </a:prstGeom>
        </p:spPr>
      </p:pic>
      <p:sp>
        <p:nvSpPr>
          <p:cNvPr id="20" name="TextBox 19"/>
          <p:cNvSpPr txBox="1"/>
          <p:nvPr/>
        </p:nvSpPr>
        <p:spPr>
          <a:xfrm>
            <a:off x="6949973" y="5433268"/>
            <a:ext cx="3474720" cy="662990"/>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dirty="0">
                <a:solidFill>
                  <a:srgbClr val="333639"/>
                </a:solidFill>
                <a:latin typeface="Fira Sans"/>
              </a:rPr>
              <a:t>Same update, different gradient. A network’s features are </a:t>
            </a:r>
            <a:r>
              <a:rPr sz="1045" b="1" i="0" dirty="0">
                <a:solidFill>
                  <a:srgbClr val="25282A"/>
                </a:solidFill>
                <a:latin typeface="Fira Sans"/>
              </a:rPr>
              <a:t>learned by the hidden layers</a:t>
            </a:r>
            <a:r>
              <a:rPr sz="1045" b="0" i="0" dirty="0">
                <a:solidFill>
                  <a:srgbClr val="333639"/>
                </a:solidFill>
                <a:latin typeface="Fira Sans"/>
              </a:rPr>
              <a:t> and the gradient comes from backpropagation at the price of the linear case’s convergence guarantees.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Cart-Pole and the Q-network</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A continuous four-dimensional state space, two actions, and a neural network that maps the state to one value per action. The benchmark and the approximator we will use throughout.</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feed only the state to the network, when the table was indexed by state AND action?</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Cart-Pole environment</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Evaluating a policy, and the random baseline</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Two possible architectures</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Universal approximation</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The network in PyTorch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2.1  THE CART-POLE ENVIRONMENT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Small enough to train in minutes, continuous enough to break a table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 — Cart-Pole and the Q-network</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9</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pole is hinged to a cart on a frictionless track. The pole starts upright; the agent must keep it from falling by pushing the cart left or right with a fixed force of 10 N. It chooses only the </a:t>
            </a:r>
            <a:r>
              <a:rPr sz="1235" b="1" i="0">
                <a:solidFill>
                  <a:srgbClr val="25282A"/>
                </a:solidFill>
                <a:latin typeface="Fira Sans"/>
              </a:rPr>
              <a:t>direction</a:t>
            </a:r>
            <a:r>
              <a:rPr sz="1235" b="0" i="0">
                <a:solidFill>
                  <a:srgbClr val="333639"/>
                </a:solidFill>
                <a:latin typeface="Fira Sans"/>
              </a:rPr>
              <a:t> of the push.</a:t>
            </a:r>
          </a:p>
        </p:txBody>
      </p:sp>
      <p:pic>
        <p:nvPicPr>
          <p:cNvPr id="9" name="Picture 8" descr="cartpole.png"/>
          <p:cNvPicPr>
            <a:picLocks noChangeAspect="1"/>
          </p:cNvPicPr>
          <p:nvPr/>
        </p:nvPicPr>
        <p:blipFill>
          <a:blip r:embed="rId2"/>
          <a:stretch>
            <a:fillRect/>
          </a:stretch>
        </p:blipFill>
        <p:spPr>
          <a:xfrm>
            <a:off x="1550100" y="1899021"/>
            <a:ext cx="5424474" cy="2587957"/>
          </a:xfrm>
          <a:prstGeom prst="rect">
            <a:avLst/>
          </a:prstGeom>
        </p:spPr>
      </p:pic>
      <p:sp>
        <p:nvSpPr>
          <p:cNvPr id="10" name="TextBox 9"/>
          <p:cNvSpPr txBox="1"/>
          <p:nvPr/>
        </p:nvSpPr>
        <p:spPr>
          <a:xfrm>
            <a:off x="841248" y="4633283"/>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cart moves along the track; the pole rotates about its hinge.</a:t>
            </a:r>
          </a:p>
        </p:txBody>
      </p:sp>
      <p:pic>
        <p:nvPicPr>
          <p:cNvPr id="11" name="Picture 10" descr="cp_stat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5006663"/>
            <a:ext cx="2400807" cy="330326"/>
          </a:xfrm>
          <a:prstGeom prst="rect">
            <a:avLst/>
          </a:prstGeom>
        </p:spPr>
      </p:pic>
      <p:sp>
        <p:nvSpPr>
          <p:cNvPr id="12" name="Rectangle 11"/>
          <p:cNvSpPr/>
          <p:nvPr/>
        </p:nvSpPr>
        <p:spPr>
          <a:xfrm>
            <a:off x="841248" y="5519870"/>
            <a:ext cx="6543446" cy="62544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519870"/>
            <a:ext cx="41148" cy="62544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5666174"/>
            <a:ext cx="6159398"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Four continuous variables, two actions. The state space is only four-dimensional and already </a:t>
            </a:r>
            <a:r>
              <a:rPr sz="1092" b="1" i="0" dirty="0">
                <a:solidFill>
                  <a:srgbClr val="333639"/>
                </a:solidFill>
                <a:latin typeface="Fira Sans"/>
              </a:rPr>
              <a:t>uncountable</a:t>
            </a:r>
            <a:r>
              <a:rPr sz="1092" b="0" i="0" dirty="0">
                <a:solidFill>
                  <a:srgbClr val="333639"/>
                </a:solidFill>
                <a:latin typeface="Fira Sans"/>
              </a:rPr>
              <a:t>, which is enough to make a table awkward.</a:t>
            </a:r>
          </a:p>
        </p:txBody>
      </p:sp>
      <p:sp>
        <p:nvSpPr>
          <p:cNvPr id="15" name="TextBox 14"/>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STATE VECTOR</a:t>
            </a:r>
          </a:p>
        </p:txBody>
      </p:sp>
      <p:sp>
        <p:nvSpPr>
          <p:cNvPr id="16" name="TextBox 15"/>
          <p:cNvSpPr txBox="1"/>
          <p:nvPr/>
        </p:nvSpPr>
        <p:spPr>
          <a:xfrm>
            <a:off x="7618780" y="1572768"/>
            <a:ext cx="3731940" cy="857524"/>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1" i="1">
                <a:solidFill>
                  <a:srgbClr val="25282A"/>
                </a:solidFill>
                <a:latin typeface="Fira Sans"/>
              </a:rPr>
              <a:t>x</a:t>
            </a:r>
            <a:r>
              <a:rPr sz="1092" b="0" i="0">
                <a:solidFill>
                  <a:srgbClr val="333639"/>
                </a:solidFill>
                <a:latin typeface="Fira Sans"/>
              </a:rPr>
              <a:t> — cart position on the track</a:t>
            </a:r>
          </a:p>
          <a:p>
            <a:pPr marL="182880" indent="-182880" algn="l">
              <a:lnSpc>
                <a:spcPts val="1223"/>
              </a:lnSpc>
              <a:spcBef>
                <a:spcPts val="500"/>
              </a:spcBef>
              <a:spcAft>
                <a:spcPts val="0"/>
              </a:spcAft>
              <a:buClr>
                <a:srgbClr val="1971C2"/>
              </a:buClr>
              <a:buFont typeface="Fira Sans"/>
              <a:buChar char="–"/>
            </a:pPr>
            <a:r>
              <a:rPr sz="1092" b="1" i="1">
                <a:solidFill>
                  <a:srgbClr val="25282A"/>
                </a:solidFill>
                <a:latin typeface="Fira Sans"/>
              </a:rPr>
              <a:t>ẋ</a:t>
            </a:r>
            <a:r>
              <a:rPr sz="1092" b="0" i="0">
                <a:solidFill>
                  <a:srgbClr val="333639"/>
                </a:solidFill>
                <a:latin typeface="Fira Sans"/>
              </a:rPr>
              <a:t> — cart velocity</a:t>
            </a:r>
          </a:p>
          <a:p>
            <a:pPr marL="182880" indent="-182880" algn="l">
              <a:lnSpc>
                <a:spcPts val="1223"/>
              </a:lnSpc>
              <a:spcBef>
                <a:spcPts val="500"/>
              </a:spcBef>
              <a:spcAft>
                <a:spcPts val="0"/>
              </a:spcAft>
              <a:buClr>
                <a:srgbClr val="1971C2"/>
              </a:buClr>
              <a:buFont typeface="Fira Sans"/>
              <a:buChar char="–"/>
            </a:pPr>
            <a:r>
              <a:rPr sz="1092" b="1" i="1">
                <a:solidFill>
                  <a:srgbClr val="25282A"/>
                </a:solidFill>
                <a:latin typeface="Fira Sans"/>
              </a:rPr>
              <a:t>ϑ</a:t>
            </a:r>
            <a:r>
              <a:rPr sz="1092" b="0" i="0">
                <a:solidFill>
                  <a:srgbClr val="333639"/>
                </a:solidFill>
                <a:latin typeface="Fira Sans"/>
              </a:rPr>
              <a:t> — pole angle from the vertical</a:t>
            </a:r>
          </a:p>
          <a:p>
            <a:pPr marL="182880" indent="-182880" algn="l">
              <a:lnSpc>
                <a:spcPts val="1223"/>
              </a:lnSpc>
              <a:spcBef>
                <a:spcPts val="500"/>
              </a:spcBef>
              <a:spcAft>
                <a:spcPts val="0"/>
              </a:spcAft>
              <a:buClr>
                <a:srgbClr val="1971C2"/>
              </a:buClr>
              <a:buFont typeface="Fira Sans"/>
              <a:buChar char="–"/>
            </a:pPr>
            <a:r>
              <a:rPr sz="1092" b="1" i="1">
                <a:solidFill>
                  <a:srgbClr val="25282A"/>
                </a:solidFill>
                <a:latin typeface="Fira Sans"/>
              </a:rPr>
              <a:t>ϑ̇</a:t>
            </a:r>
            <a:r>
              <a:rPr sz="1092" b="0" i="0">
                <a:solidFill>
                  <a:srgbClr val="333639"/>
                </a:solidFill>
                <a:latin typeface="Fira Sans"/>
              </a:rPr>
              <a:t> — pole angular velocity</a:t>
            </a:r>
          </a:p>
        </p:txBody>
      </p:sp>
      <p:sp>
        <p:nvSpPr>
          <p:cNvPr id="17" name="TextBox 16"/>
          <p:cNvSpPr txBox="1"/>
          <p:nvPr/>
        </p:nvSpPr>
        <p:spPr>
          <a:xfrm>
            <a:off x="7618780" y="3025650"/>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REWARD AND TERMINATION</a:t>
            </a:r>
          </a:p>
        </p:txBody>
      </p:sp>
      <p:sp>
        <p:nvSpPr>
          <p:cNvPr id="18" name="TextBox 17"/>
          <p:cNvSpPr txBox="1"/>
          <p:nvPr/>
        </p:nvSpPr>
        <p:spPr>
          <a:xfrm>
            <a:off x="7618780" y="3263394"/>
            <a:ext cx="3731940" cy="716483"/>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dirty="0">
                <a:solidFill>
                  <a:srgbClr val="333639"/>
                </a:solidFill>
                <a:latin typeface="Fira Sans"/>
              </a:rPr>
              <a:t>Reward </a:t>
            </a:r>
            <a:r>
              <a:rPr sz="1045" b="1" i="0" dirty="0">
                <a:solidFill>
                  <a:srgbClr val="2B7A3E"/>
                </a:solidFill>
                <a:latin typeface="Fira Sans"/>
              </a:rPr>
              <a:t>+1 at every step</a:t>
            </a:r>
            <a:r>
              <a:rPr sz="1045" b="0" i="0" dirty="0">
                <a:solidFill>
                  <a:srgbClr val="333639"/>
                </a:solidFill>
                <a:latin typeface="Fira Sans"/>
              </a:rPr>
              <a:t>, including the last. With no discounting the return of an episode is simply its length.</a:t>
            </a:r>
          </a:p>
          <a:p>
            <a:pPr marL="182880" indent="-182880" algn="l">
              <a:lnSpc>
                <a:spcPts val="1170"/>
              </a:lnSpc>
              <a:spcBef>
                <a:spcPts val="600"/>
              </a:spcBef>
              <a:spcAft>
                <a:spcPts val="0"/>
              </a:spcAft>
              <a:buClr>
                <a:srgbClr val="1971C2"/>
              </a:buClr>
              <a:buFont typeface="Fira Sans"/>
              <a:buChar char="–"/>
            </a:pPr>
            <a:r>
              <a:rPr sz="1045" b="0" i="0" dirty="0">
                <a:solidFill>
                  <a:srgbClr val="333639"/>
                </a:solidFill>
                <a:latin typeface="Fira Sans"/>
              </a:rPr>
              <a:t>The episode ends when the pole angle or the cart position leaves its allowed range — or after 500 steps.</a:t>
            </a:r>
          </a:p>
        </p:txBody>
      </p:sp>
      <p:pic>
        <p:nvPicPr>
          <p:cNvPr id="19" name="Picture 18" descr="cp_return.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39354" y="4237591"/>
            <a:ext cx="3648710" cy="544830"/>
          </a:xfrm>
          <a:prstGeom prst="rect">
            <a:avLst/>
          </a:prstGeom>
        </p:spPr>
      </p:pic>
      <p:sp>
        <p:nvSpPr>
          <p:cNvPr id="20" name="Rectangle 19"/>
          <p:cNvSpPr/>
          <p:nvPr/>
        </p:nvSpPr>
        <p:spPr>
          <a:xfrm>
            <a:off x="7618780" y="5138494"/>
            <a:ext cx="3731940" cy="100812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5138494"/>
            <a:ext cx="41148" cy="100812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528479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TARGET</a:t>
            </a:r>
          </a:p>
        </p:txBody>
      </p:sp>
      <p:sp>
        <p:nvSpPr>
          <p:cNvPr id="23" name="TextBox 22"/>
          <p:cNvSpPr txBox="1"/>
          <p:nvPr/>
        </p:nvSpPr>
        <p:spPr>
          <a:xfrm>
            <a:off x="7838236" y="5522542"/>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Maximum score 500. The environment is conventionally considered </a:t>
            </a:r>
            <a:r>
              <a:rPr sz="1045" b="1" i="0">
                <a:solidFill>
                  <a:srgbClr val="333639"/>
                </a:solidFill>
                <a:latin typeface="Fira Sans"/>
              </a:rPr>
              <a:t>solved above an average of 475</a:t>
            </a:r>
            <a:r>
              <a:rPr sz="1045" b="0" i="0">
                <a:solidFill>
                  <a:srgbClr val="333639"/>
                </a:solidFill>
                <a:latin typeface="Fira San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2.2  EVALUATING A POLICY, AND THE RANDOM BASELINE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number, measured the same way for every agent in the chapter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 — Cart-Pole and the Q-network</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10</a:t>
            </a:r>
          </a:p>
        </p:txBody>
      </p:sp>
      <p:sp>
        <p:nvSpPr>
          <p:cNvPr id="8" name="Rectangle 7"/>
          <p:cNvSpPr/>
          <p:nvPr/>
        </p:nvSpPr>
        <p:spPr>
          <a:xfrm>
            <a:off x="841248" y="1583649"/>
            <a:ext cx="6492240" cy="369737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583649"/>
            <a:ext cx="41148" cy="369737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665945"/>
            <a:ext cx="6126479"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evaluate</a:t>
            </a:r>
          </a:p>
        </p:txBody>
      </p:sp>
      <p:sp>
        <p:nvSpPr>
          <p:cNvPr id="11" name="TextBox 10"/>
          <p:cNvSpPr txBox="1"/>
          <p:nvPr/>
        </p:nvSpPr>
        <p:spPr>
          <a:xfrm>
            <a:off x="1024128" y="1967697"/>
            <a:ext cx="6181344" cy="3240176"/>
          </a:xfrm>
          <a:prstGeom prst="rect">
            <a:avLst/>
          </a:prstGeom>
          <a:noFill/>
        </p:spPr>
        <p:txBody>
          <a:bodyPr wrap="none" lIns="0" tIns="0" rIns="0" bIns="0" anchor="t">
            <a:noAutofit/>
          </a:bodyPr>
          <a:lstStyle/>
          <a:p>
            <a:pPr marL="0" indent="0" algn="l">
              <a:lnSpc>
                <a:spcPts val="1147"/>
              </a:lnSpc>
              <a:spcBef>
                <a:spcPts val="0"/>
              </a:spcBef>
              <a:spcAft>
                <a:spcPts val="0"/>
              </a:spcAft>
              <a:buNone/>
            </a:pPr>
            <a:r>
              <a:rPr sz="882" b="0" i="0">
                <a:solidFill>
                  <a:srgbClr val="1F2A37"/>
                </a:solidFill>
                <a:latin typeface="Consolas"/>
              </a:rPr>
              <a:t xml:space="preserve">def evaluate(env, policy, episodes=1):</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    rewards = []</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    for episode in range(episodes):</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        state, _ = env.reset()</a:t>
            </a:r>
          </a:p>
          <a:p>
            <a:pPr marL="0" indent="0" algn="l">
              <a:lnSpc>
                <a:spcPts val="1147"/>
              </a:lnSpc>
              <a:spcBef>
                <a:spcPts val="0"/>
              </a:spcBef>
              <a:spcAft>
                <a:spcPts val="0"/>
              </a:spcAft>
              <a:buNone/>
            </a:pPr>
            <a:r>
              <a:rPr sz="882" b="0" i="0">
                <a:solidFill>
                  <a:srgbClr val="1F2A37"/>
                </a:solidFill>
                <a:latin typeface="Consolas"/>
              </a:rPr>
              <a:t xml:space="preserve">        done = False</a:t>
            </a:r>
          </a:p>
          <a:p>
            <a:pPr marL="0" indent="0" algn="l">
              <a:lnSpc>
                <a:spcPts val="1147"/>
              </a:lnSpc>
              <a:spcBef>
                <a:spcPts val="0"/>
              </a:spcBef>
              <a:spcAft>
                <a:spcPts val="0"/>
              </a:spcAft>
              <a:buNone/>
            </a:pPr>
            <a:r>
              <a:rPr sz="882" b="0" i="0">
                <a:solidFill>
                  <a:srgbClr val="1F2A37"/>
                </a:solidFill>
                <a:latin typeface="Consolas"/>
              </a:rPr>
              <a:t xml:space="preserve">        total_reward = 0.0</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768896"/>
                </a:solidFill>
                <a:latin typeface="Consolas"/>
              </a:rPr>
              <a:t xml:space="preserve">        # run one complete episode with the policy's own action choice</a:t>
            </a:r>
          </a:p>
          <a:p>
            <a:pPr marL="0" indent="0" algn="l">
              <a:lnSpc>
                <a:spcPts val="1147"/>
              </a:lnSpc>
              <a:spcBef>
                <a:spcPts val="0"/>
              </a:spcBef>
              <a:spcAft>
                <a:spcPts val="0"/>
              </a:spcAft>
              <a:buNone/>
            </a:pPr>
            <a:r>
              <a:rPr sz="882" b="0" i="0">
                <a:solidFill>
                  <a:srgbClr val="1F2A37"/>
                </a:solidFill>
                <a:latin typeface="Consolas"/>
              </a:rPr>
              <a:t xml:space="preserve">        while not done:</a:t>
            </a:r>
          </a:p>
          <a:p>
            <a:pPr marL="0" indent="0" algn="l">
              <a:lnSpc>
                <a:spcPts val="1147"/>
              </a:lnSpc>
              <a:spcBef>
                <a:spcPts val="0"/>
              </a:spcBef>
              <a:spcAft>
                <a:spcPts val="0"/>
              </a:spcAft>
              <a:buNone/>
            </a:pPr>
            <a:r>
              <a:rPr sz="882" b="0" i="0">
                <a:solidFill>
                  <a:srgbClr val="1F2A37"/>
                </a:solidFill>
                <a:latin typeface="Consolas"/>
              </a:rPr>
              <a:t xml:space="preserve">            action = policy.select_action(state)</a:t>
            </a:r>
          </a:p>
          <a:p>
            <a:pPr marL="0" indent="0" algn="l">
              <a:lnSpc>
                <a:spcPts val="1147"/>
              </a:lnSpc>
              <a:spcBef>
                <a:spcPts val="0"/>
              </a:spcBef>
              <a:spcAft>
                <a:spcPts val="0"/>
              </a:spcAft>
              <a:buNone/>
            </a:pPr>
            <a:r>
              <a:rPr sz="882" b="0" i="0">
                <a:solidFill>
                  <a:srgbClr val="1F2A37"/>
                </a:solidFill>
                <a:latin typeface="Consolas"/>
              </a:rPr>
              <a:t xml:space="preserve">            state, reward, terminated, truncated, _ = env.step(action)</a:t>
            </a:r>
          </a:p>
          <a:p>
            <a:pPr marL="0" indent="0" algn="l">
              <a:lnSpc>
                <a:spcPts val="1147"/>
              </a:lnSpc>
              <a:spcBef>
                <a:spcPts val="0"/>
              </a:spcBef>
              <a:spcAft>
                <a:spcPts val="0"/>
              </a:spcAft>
              <a:buNone/>
            </a:pPr>
            <a:r>
              <a:rPr sz="882" b="0" i="0">
                <a:solidFill>
                  <a:srgbClr val="1F2A37"/>
                </a:solidFill>
                <a:latin typeface="Consolas"/>
              </a:rPr>
              <a:t xml:space="preserve">            total_reward += reward</a:t>
            </a:r>
          </a:p>
          <a:p>
            <a:pPr marL="0" indent="0" algn="l">
              <a:lnSpc>
                <a:spcPts val="1147"/>
              </a:lnSpc>
              <a:spcBef>
                <a:spcPts val="0"/>
              </a:spcBef>
              <a:spcAft>
                <a:spcPts val="0"/>
              </a:spcAft>
              <a:buNone/>
            </a:pPr>
            <a:r>
              <a:rPr sz="882" b="0" i="0">
                <a:solidFill>
                  <a:srgbClr val="1F2A37"/>
                </a:solidFill>
                <a:latin typeface="Consolas"/>
              </a:rPr>
              <a:t xml:space="preserve">            done = terminated or truncated</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        rewards.append(total_reward)</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768896"/>
                </a:solidFill>
                <a:latin typeface="Consolas"/>
              </a:rPr>
              <a:t xml:space="preserve">    # average return over the evaluation episodes</a:t>
            </a:r>
          </a:p>
          <a:p>
            <a:pPr marL="0" indent="0" algn="l">
              <a:lnSpc>
                <a:spcPts val="1147"/>
              </a:lnSpc>
              <a:spcBef>
                <a:spcPts val="0"/>
              </a:spcBef>
              <a:spcAft>
                <a:spcPts val="0"/>
              </a:spcAft>
              <a:buNone/>
            </a:pPr>
            <a:r>
              <a:rPr sz="882" b="0" i="0">
                <a:solidFill>
                  <a:srgbClr val="1F2A37"/>
                </a:solidFill>
                <a:latin typeface="Consolas"/>
              </a:rPr>
              <a:t xml:space="preserve">    return float(np.mean(rewards))</a:t>
            </a:r>
          </a:p>
        </p:txBody>
      </p:sp>
      <p:sp>
        <p:nvSpPr>
          <p:cNvPr id="12" name="TextBox 11"/>
          <p:cNvSpPr txBox="1"/>
          <p:nvPr/>
        </p:nvSpPr>
        <p:spPr>
          <a:xfrm>
            <a:off x="7571232" y="1316736"/>
            <a:ext cx="377948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BASELINE TO BEAT</a:t>
            </a:r>
          </a:p>
        </p:txBody>
      </p:sp>
      <p:sp>
        <p:nvSpPr>
          <p:cNvPr id="13" name="TextBox 12"/>
          <p:cNvSpPr txBox="1"/>
          <p:nvPr/>
        </p:nvSpPr>
        <p:spPr>
          <a:xfrm>
            <a:off x="7571232" y="1554480"/>
            <a:ext cx="3779489" cy="511698"/>
          </a:xfrm>
          <a:prstGeom prst="rect">
            <a:avLst/>
          </a:prstGeom>
          <a:noFill/>
        </p:spPr>
        <p:txBody>
          <a:bodyPr wrap="square" lIns="0" tIns="0" rIns="0" bIns="0" anchor="t">
            <a:noAutofit/>
          </a:bodyPr>
          <a:lstStyle/>
          <a:p>
            <a:pPr algn="l">
              <a:lnSpc>
                <a:spcPts val="1223"/>
              </a:lnSpc>
              <a:spcBef>
                <a:spcPts val="0"/>
              </a:spcBef>
              <a:spcAft>
                <a:spcPts val="0"/>
              </a:spcAft>
              <a:buClr>
                <a:srgbClr val="1971C2"/>
              </a:buClr>
            </a:pPr>
            <a:r>
              <a:rPr sz="1092" b="0" i="0" dirty="0">
                <a:solidFill>
                  <a:srgbClr val="333639"/>
                </a:solidFill>
                <a:latin typeface="Fira Sans"/>
              </a:rPr>
              <a:t>A </a:t>
            </a:r>
            <a:r>
              <a:rPr sz="1092" b="1" i="0" dirty="0">
                <a:solidFill>
                  <a:srgbClr val="25282A"/>
                </a:solidFill>
                <a:latin typeface="Fira Sans"/>
              </a:rPr>
              <a:t>random policy</a:t>
            </a:r>
            <a:r>
              <a:rPr sz="1092" b="0" i="0" dirty="0">
                <a:solidFill>
                  <a:srgbClr val="333639"/>
                </a:solidFill>
                <a:latin typeface="Fira Sans"/>
              </a:rPr>
              <a:t> samples uniformly from the two actions. It never learns, but it tells us what “no control at all” scores.</a:t>
            </a:r>
          </a:p>
        </p:txBody>
      </p:sp>
      <p:sp>
        <p:nvSpPr>
          <p:cNvPr id="14" name="Rectangle 13"/>
          <p:cNvSpPr/>
          <p:nvPr/>
        </p:nvSpPr>
        <p:spPr>
          <a:xfrm>
            <a:off x="7571232" y="2157618"/>
            <a:ext cx="3779489" cy="786384"/>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571232" y="2157618"/>
            <a:ext cx="41148" cy="7863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90688" y="2285634"/>
            <a:ext cx="3340577" cy="27432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00">
                <a:solidFill>
                  <a:srgbClr val="C8102E"/>
                </a:solidFill>
                <a:latin typeface="Fira Sans"/>
              </a:rPr>
              <a:t>RANDOM POLICY, 1000 EPISODES</a:t>
            </a:r>
          </a:p>
        </p:txBody>
      </p:sp>
      <p:sp>
        <p:nvSpPr>
          <p:cNvPr id="17" name="TextBox 16"/>
          <p:cNvSpPr txBox="1"/>
          <p:nvPr/>
        </p:nvSpPr>
        <p:spPr>
          <a:xfrm>
            <a:off x="7790688" y="2523378"/>
            <a:ext cx="3340577" cy="347472"/>
          </a:xfrm>
          <a:prstGeom prst="rect">
            <a:avLst/>
          </a:prstGeom>
          <a:noFill/>
        </p:spPr>
        <p:txBody>
          <a:bodyPr wrap="square" lIns="0" tIns="0" rIns="0" bIns="0" anchor="t">
            <a:noAutofit/>
          </a:bodyPr>
          <a:lstStyle/>
          <a:p>
            <a:pPr marL="0" indent="0" algn="l">
              <a:lnSpc>
                <a:spcPts val="2256"/>
              </a:lnSpc>
              <a:spcBef>
                <a:spcPts val="0"/>
              </a:spcBef>
              <a:spcAft>
                <a:spcPts val="0"/>
              </a:spcAft>
              <a:buNone/>
            </a:pPr>
            <a:r>
              <a:rPr sz="2256" b="1" i="0">
                <a:solidFill>
                  <a:srgbClr val="C8102E"/>
                </a:solidFill>
                <a:latin typeface="Roboto Slab"/>
              </a:rPr>
              <a:t>21.9</a:t>
            </a:r>
            <a:r>
              <a:rPr sz="1045" b="0" i="0">
                <a:solidFill>
                  <a:srgbClr val="626669"/>
                </a:solidFill>
                <a:latin typeface="Roboto Slab"/>
              </a:rPr>
              <a:t>   of a possible 500</a:t>
            </a:r>
          </a:p>
        </p:txBody>
      </p:sp>
      <p:sp>
        <p:nvSpPr>
          <p:cNvPr id="18" name="Rectangle 17"/>
          <p:cNvSpPr/>
          <p:nvPr/>
        </p:nvSpPr>
        <p:spPr>
          <a:xfrm>
            <a:off x="7571232" y="3108594"/>
            <a:ext cx="3779489" cy="77038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571232" y="3108594"/>
            <a:ext cx="41148" cy="770382"/>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90688" y="3254898"/>
            <a:ext cx="3395441"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The pole falls after about twenty steps. Balancing it is not something that happens by accident which is what makes the environment a fair test.</a:t>
            </a:r>
          </a:p>
        </p:txBody>
      </p:sp>
      <p:sp>
        <p:nvSpPr>
          <p:cNvPr id="21" name="Rectangle 20"/>
          <p:cNvSpPr/>
          <p:nvPr/>
        </p:nvSpPr>
        <p:spPr>
          <a:xfrm>
            <a:off x="7571232" y="4061856"/>
            <a:ext cx="3779489" cy="169164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571232" y="4061856"/>
            <a:ext cx="41148" cy="169164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90688" y="4208160"/>
            <a:ext cx="348688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WHAT EXACTLY IS BEING MEASURED</a:t>
            </a:r>
          </a:p>
        </p:txBody>
      </p:sp>
      <p:sp>
        <p:nvSpPr>
          <p:cNvPr id="24" name="TextBox 23"/>
          <p:cNvSpPr txBox="1"/>
          <p:nvPr/>
        </p:nvSpPr>
        <p:spPr>
          <a:xfrm>
            <a:off x="7790688" y="4445904"/>
            <a:ext cx="3395441" cy="11430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Note that </a:t>
            </a:r>
            <a:r>
              <a:rPr sz="1045" b="1" i="0">
                <a:solidFill>
                  <a:srgbClr val="25282A"/>
                </a:solidFill>
                <a:latin typeface="Fira Sans"/>
              </a:rPr>
              <a:t>evaluation is always greedy</a:t>
            </a:r>
            <a:r>
              <a:rPr sz="1045" b="0" i="0">
                <a:solidFill>
                  <a:srgbClr val="333639"/>
                </a:solidFill>
                <a:latin typeface="Fira Sans"/>
              </a:rPr>
              <a:t xml:space="preserve">, with no exploration. Throughout the chapter the agent explores while collecting data and is then scored on the policy it would actually deploy. Every policy exposes the same </a:t>
            </a:r>
            <a:r>
              <a:rPr sz="1045" b="0" i="0">
                <a:solidFill>
                  <a:srgbClr val="333639"/>
                </a:solidFill>
                <a:latin typeface="Consolas"/>
              </a:rPr>
              <a:t>select_action</a:t>
            </a:r>
            <a:r>
              <a:rPr sz="1045" b="0" i="0">
                <a:solidFill>
                  <a:srgbClr val="333639"/>
                </a:solidFill>
                <a:latin typeface="Fira Sans"/>
              </a:rPr>
              <a:t xml:space="preserve"> method, so one function scores them all. Unless a slide says otherwise, a score is an average over 10 such episodes.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2.3  TWO WAYS TO WIRE THE NETWORK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The table was indexed by (state, action)</a:t>
            </a:r>
            <a:r>
              <a:rPr lang="it-IT" sz="2162" b="1" dirty="0">
                <a:solidFill>
                  <a:srgbClr val="25282A"/>
                </a:solidFill>
                <a:latin typeface="Roboto Slab"/>
              </a:rPr>
              <a:t>,</a:t>
            </a:r>
            <a:r>
              <a:rPr sz="2162" b="1" i="0" dirty="0">
                <a:solidFill>
                  <a:srgbClr val="25282A"/>
                </a:solidFill>
                <a:latin typeface="Roboto Slab"/>
              </a:rPr>
              <a:t> the network need n</a:t>
            </a:r>
            <a:r>
              <a:rPr lang="it-IT" sz="2162" b="1" i="0" dirty="0" err="1">
                <a:solidFill>
                  <a:srgbClr val="25282A"/>
                </a:solidFill>
                <a:latin typeface="Roboto Slab"/>
              </a:rPr>
              <a:t>ot</a:t>
            </a:r>
            <a:r>
              <a:rPr lang="it-IT" sz="2162" b="1" i="0" dirty="0">
                <a:solidFill>
                  <a:srgbClr val="25282A"/>
                </a:solidFill>
                <a:latin typeface="Roboto Slab"/>
              </a:rPr>
              <a:t> be</a:t>
            </a:r>
            <a:endParaRPr sz="2162" b="1" i="0" dirty="0">
              <a:solidFill>
                <a:srgbClr val="25282A"/>
              </a:solidFill>
              <a:latin typeface="Roboto Slab"/>
            </a:endParaRP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 — Cart-Pole and the Q-network</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tabular representation suggests the first design: feed the state and a candidate action, read off one number. It is valid. The second design is better.</a:t>
            </a:r>
          </a:p>
        </p:txBody>
      </p:sp>
      <p:sp>
        <p:nvSpPr>
          <p:cNvPr id="9" name="Rectangle 8"/>
          <p:cNvSpPr/>
          <p:nvPr/>
        </p:nvSpPr>
        <p:spPr>
          <a:xfrm>
            <a:off x="841248" y="1970034"/>
            <a:ext cx="5074920" cy="31089"/>
          </a:xfrm>
          <a:prstGeom prst="rect">
            <a:avLst/>
          </a:prstGeom>
          <a:solidFill>
            <a:srgbClr val="626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16338"/>
            <a:ext cx="50749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626669"/>
                </a:solidFill>
                <a:latin typeface="Fira Sans"/>
              </a:rPr>
              <a:t>A  ·  THE DIRECT ANALOGUE OF A TABLE</a:t>
            </a:r>
          </a:p>
        </p:txBody>
      </p:sp>
      <p:pic>
        <p:nvPicPr>
          <p:cNvPr id="11" name="Picture 10" descr="arch_sa.png"/>
          <p:cNvPicPr>
            <a:picLocks noChangeAspect="1"/>
          </p:cNvPicPr>
          <p:nvPr/>
        </p:nvPicPr>
        <p:blipFill>
          <a:blip r:embed="rId2"/>
          <a:stretch>
            <a:fillRect/>
          </a:stretch>
        </p:blipFill>
        <p:spPr>
          <a:xfrm>
            <a:off x="1060704" y="2364645"/>
            <a:ext cx="3742115" cy="2324051"/>
          </a:xfrm>
          <a:prstGeom prst="rect">
            <a:avLst/>
          </a:prstGeom>
        </p:spPr>
      </p:pic>
      <p:pic>
        <p:nvPicPr>
          <p:cNvPr id="12" name="Picture 11" descr="arch_a.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22911" y="4745685"/>
            <a:ext cx="1982470" cy="222250"/>
          </a:xfrm>
          <a:prstGeom prst="rect">
            <a:avLst/>
          </a:prstGeom>
        </p:spPr>
      </p:pic>
      <p:sp>
        <p:nvSpPr>
          <p:cNvPr id="13" name="Rectangle 12"/>
          <p:cNvSpPr/>
          <p:nvPr/>
        </p:nvSpPr>
        <p:spPr>
          <a:xfrm>
            <a:off x="6281928" y="1970034"/>
            <a:ext cx="5074920"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281928" y="2116338"/>
            <a:ext cx="50749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2B7A3E"/>
                </a:solidFill>
                <a:latin typeface="Fira Sans"/>
              </a:rPr>
              <a:t>B  ·  ONE OUTPUT PER ACTION</a:t>
            </a:r>
          </a:p>
        </p:txBody>
      </p:sp>
      <p:pic>
        <p:nvPicPr>
          <p:cNvPr id="15" name="Picture 14" descr="arch_s.png"/>
          <p:cNvPicPr>
            <a:picLocks noChangeAspect="1"/>
          </p:cNvPicPr>
          <p:nvPr/>
        </p:nvPicPr>
        <p:blipFill>
          <a:blip r:embed="rId4"/>
          <a:stretch>
            <a:fillRect/>
          </a:stretch>
        </p:blipFill>
        <p:spPr>
          <a:xfrm>
            <a:off x="6420312" y="2302459"/>
            <a:ext cx="4638354" cy="2312517"/>
          </a:xfrm>
          <a:prstGeom prst="rect">
            <a:avLst/>
          </a:prstGeom>
        </p:spPr>
      </p:pic>
      <p:pic>
        <p:nvPicPr>
          <p:cNvPr id="16" name="Picture 15" descr="arch_b.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58390" y="4688128"/>
            <a:ext cx="3362198" cy="268478"/>
          </a:xfrm>
          <a:prstGeom prst="rect">
            <a:avLst/>
          </a:prstGeom>
        </p:spPr>
      </p:pic>
      <p:sp>
        <p:nvSpPr>
          <p:cNvPr id="17" name="Rectangle 16"/>
          <p:cNvSpPr/>
          <p:nvPr/>
        </p:nvSpPr>
        <p:spPr>
          <a:xfrm>
            <a:off x="841248" y="502279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223967"/>
            <a:ext cx="5102352" cy="102961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41248" y="5223967"/>
            <a:ext cx="41148" cy="102961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60704" y="5370271"/>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B WINS</a:t>
            </a:r>
          </a:p>
        </p:txBody>
      </p:sp>
      <p:sp>
        <p:nvSpPr>
          <p:cNvPr id="21" name="TextBox 20"/>
          <p:cNvSpPr txBox="1"/>
          <p:nvPr/>
        </p:nvSpPr>
        <p:spPr>
          <a:xfrm>
            <a:off x="1060704" y="5528115"/>
            <a:ext cx="4718304" cy="63733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Architecture B needs </a:t>
            </a:r>
            <a:r>
              <a:rPr sz="1092" b="1" i="0" dirty="0">
                <a:solidFill>
                  <a:srgbClr val="333639"/>
                </a:solidFill>
                <a:latin typeface="Fira Sans"/>
              </a:rPr>
              <a:t>one forward pass to value every action</a:t>
            </a:r>
            <a:r>
              <a:rPr sz="1092" b="0" i="0" dirty="0">
                <a:solidFill>
                  <a:srgbClr val="333639"/>
                </a:solidFill>
                <a:latin typeface="Fira Sans"/>
              </a:rPr>
              <a:t> in a state. Architecture A needs |𝒜| passes </a:t>
            </a:r>
            <a:r>
              <a:rPr lang="it-IT" sz="1092" dirty="0">
                <a:solidFill>
                  <a:srgbClr val="333639"/>
                </a:solidFill>
                <a:latin typeface="Fira Sans"/>
              </a:rPr>
              <a:t>(</a:t>
            </a:r>
            <a:r>
              <a:rPr sz="1092" b="0" i="0" dirty="0">
                <a:solidFill>
                  <a:srgbClr val="333639"/>
                </a:solidFill>
                <a:latin typeface="Fira Sans"/>
              </a:rPr>
              <a:t>once per candidate</a:t>
            </a:r>
            <a:r>
              <a:rPr lang="it-IT" sz="1092" b="0" i="0" dirty="0">
                <a:solidFill>
                  <a:srgbClr val="333639"/>
                </a:solidFill>
                <a:latin typeface="Fira Sans"/>
              </a:rPr>
              <a:t>)</a:t>
            </a:r>
            <a:r>
              <a:rPr sz="1092" b="0" i="0" dirty="0">
                <a:solidFill>
                  <a:srgbClr val="333639"/>
                </a:solidFill>
                <a:latin typeface="Fira Sans"/>
              </a:rPr>
              <a:t>. </a:t>
            </a:r>
            <a:r>
              <a:rPr lang="it-IT" sz="1092" dirty="0">
                <a:solidFill>
                  <a:srgbClr val="333639"/>
                </a:solidFill>
                <a:latin typeface="Fira Sans"/>
              </a:rPr>
              <a:t>epsilon</a:t>
            </a:r>
            <a:r>
              <a:rPr sz="1092" b="0" i="0" dirty="0">
                <a:solidFill>
                  <a:srgbClr val="333639"/>
                </a:solidFill>
                <a:latin typeface="Fira Sans"/>
              </a:rPr>
              <a:t>-greedy, </a:t>
            </a:r>
            <a:r>
              <a:rPr sz="1092" b="0" i="0" dirty="0" err="1">
                <a:solidFill>
                  <a:srgbClr val="333639"/>
                </a:solidFill>
                <a:latin typeface="Fira Sans"/>
              </a:rPr>
              <a:t>softmax</a:t>
            </a:r>
            <a:r>
              <a:rPr sz="1092" b="0" i="0" dirty="0">
                <a:solidFill>
                  <a:srgbClr val="333639"/>
                </a:solidFill>
                <a:latin typeface="Fira Sans"/>
              </a:rPr>
              <a:t> and the max in the Q-learning target all ask for exactly that set of values.</a:t>
            </a:r>
          </a:p>
        </p:txBody>
      </p:sp>
      <p:sp>
        <p:nvSpPr>
          <p:cNvPr id="22" name="Rectangle 21"/>
          <p:cNvSpPr/>
          <p:nvPr/>
        </p:nvSpPr>
        <p:spPr>
          <a:xfrm>
            <a:off x="6254496" y="5223967"/>
            <a:ext cx="5102352" cy="102961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6254496" y="5223967"/>
            <a:ext cx="41148" cy="102961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73952" y="5370271"/>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NO POLICY IS STORED</a:t>
            </a:r>
          </a:p>
        </p:txBody>
      </p:sp>
      <p:sp>
        <p:nvSpPr>
          <p:cNvPr id="25" name="TextBox 24"/>
          <p:cNvSpPr txBox="1"/>
          <p:nvPr/>
        </p:nvSpPr>
        <p:spPr>
          <a:xfrm>
            <a:off x="6473952" y="5608015"/>
            <a:ext cx="4718304"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policy stays </a:t>
            </a:r>
            <a:r>
              <a:rPr sz="1092" b="1" i="0">
                <a:solidFill>
                  <a:srgbClr val="333639"/>
                </a:solidFill>
                <a:latin typeface="Fira Sans"/>
              </a:rPr>
              <a:t>implicit</a:t>
            </a:r>
            <a:r>
              <a:rPr sz="1092" b="0" i="0">
                <a:solidFill>
                  <a:srgbClr val="333639"/>
                </a:solidFill>
                <a:latin typeface="Fira Sans"/>
              </a:rPr>
              <a:t>, exactly as in tabular Q-learning: the agent acts greedily with respect to the network output, so improving the estimates improves the policy with no separate step.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2.4  UNIVERSAL APPROXIMATION, AND WHAT IT DOES NOT PROMISE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 existence result is not a learning guarantee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 — Cart-Pole and the Q-network</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12</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The use of a neural network here rests on the </a:t>
            </a:r>
            <a:r>
              <a:rPr sz="1235" b="1" i="0" dirty="0">
                <a:solidFill>
                  <a:srgbClr val="25282A"/>
                </a:solidFill>
                <a:latin typeface="Fira Sans"/>
              </a:rPr>
              <a:t>universal approximation theorem</a:t>
            </a:r>
            <a:r>
              <a:rPr sz="1235" b="0" i="0" dirty="0">
                <a:solidFill>
                  <a:srgbClr val="333639"/>
                </a:solidFill>
                <a:latin typeface="Fira Sans"/>
              </a:rPr>
              <a:t>: a feed-forward network with one hidden layer and enough units can approximate any continuous function on a compact set to arbitrary accuracy.</a:t>
            </a:r>
          </a:p>
        </p:txBody>
      </p:sp>
      <p:pic>
        <p:nvPicPr>
          <p:cNvPr id="9" name="Picture 8" descr="agent_loop.png"/>
          <p:cNvPicPr>
            <a:picLocks noChangeAspect="1"/>
          </p:cNvPicPr>
          <p:nvPr/>
        </p:nvPicPr>
        <p:blipFill>
          <a:blip r:embed="rId2"/>
          <a:stretch>
            <a:fillRect/>
          </a:stretch>
        </p:blipFill>
        <p:spPr>
          <a:xfrm>
            <a:off x="580541" y="2242869"/>
            <a:ext cx="6926920" cy="2514803"/>
          </a:xfrm>
          <a:prstGeom prst="rect">
            <a:avLst/>
          </a:prstGeom>
        </p:spPr>
      </p:pic>
      <p:sp>
        <p:nvSpPr>
          <p:cNvPr id="10" name="TextBox 9"/>
          <p:cNvSpPr txBox="1"/>
          <p:nvPr/>
        </p:nvSpPr>
        <p:spPr>
          <a:xfrm>
            <a:off x="841248" y="5132476"/>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network sits inside the agent: state in, action values out, action chosen, environment responds.</a:t>
            </a:r>
          </a:p>
        </p:txBody>
      </p:sp>
      <p:sp>
        <p:nvSpPr>
          <p:cNvPr id="11" name="Rectangle 10"/>
          <p:cNvSpPr/>
          <p:nvPr/>
        </p:nvSpPr>
        <p:spPr>
          <a:xfrm>
            <a:off x="841248" y="5505856"/>
            <a:ext cx="6543446" cy="625449"/>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505856"/>
            <a:ext cx="41148" cy="625449"/>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652160"/>
            <a:ext cx="6159398"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As the parameters are updated the value estimates improve, and so does the policy read off from them. Nothing else in the agent has to change.</a:t>
            </a:r>
          </a:p>
        </p:txBody>
      </p:sp>
      <p:sp>
        <p:nvSpPr>
          <p:cNvPr id="14" name="TextBox 13"/>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READ THE THEOREM CAREFULLY</a:t>
            </a:r>
          </a:p>
        </p:txBody>
      </p:sp>
      <p:sp>
        <p:nvSpPr>
          <p:cNvPr id="15" name="TextBox 14"/>
          <p:cNvSpPr txBox="1"/>
          <p:nvPr/>
        </p:nvSpPr>
        <p:spPr>
          <a:xfrm>
            <a:off x="7618780" y="1572768"/>
            <a:ext cx="3731940" cy="1000150"/>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It says a good approximation </a:t>
            </a:r>
            <a:r>
              <a:rPr sz="1092" b="1" i="1" dirty="0">
                <a:solidFill>
                  <a:srgbClr val="25282A"/>
                </a:solidFill>
                <a:latin typeface="Fira Sans"/>
              </a:rPr>
              <a:t>exists</a:t>
            </a:r>
            <a:r>
              <a:rPr sz="1092" b="0" i="0" dirty="0">
                <a:solidFill>
                  <a:srgbClr val="333639"/>
                </a:solidFill>
                <a:latin typeface="Fira Sans"/>
              </a:rPr>
              <a:t>.</a:t>
            </a:r>
          </a:p>
          <a:p>
            <a:pPr marL="182880" indent="-182880" algn="l">
              <a:lnSpc>
                <a:spcPts val="1223"/>
              </a:lnSpc>
              <a:spcBef>
                <a:spcPts val="700"/>
              </a:spcBef>
              <a:spcAft>
                <a:spcPts val="0"/>
              </a:spcAft>
              <a:buClr>
                <a:srgbClr val="1971C2"/>
              </a:buClr>
              <a:buFont typeface="Fira Sans"/>
              <a:buChar char="–"/>
            </a:pPr>
            <a:r>
              <a:rPr sz="1092" b="0" i="0" dirty="0">
                <a:solidFill>
                  <a:srgbClr val="333639"/>
                </a:solidFill>
                <a:latin typeface="Fira Sans"/>
              </a:rPr>
              <a:t>It does not say gradient descent will find it.</a:t>
            </a:r>
          </a:p>
          <a:p>
            <a:pPr marL="182880" indent="-182880" algn="l">
              <a:lnSpc>
                <a:spcPts val="1223"/>
              </a:lnSpc>
              <a:spcBef>
                <a:spcPts val="700"/>
              </a:spcBef>
              <a:spcAft>
                <a:spcPts val="0"/>
              </a:spcAft>
              <a:buClr>
                <a:srgbClr val="1971C2"/>
              </a:buClr>
              <a:buFont typeface="Fira Sans"/>
              <a:buChar char="–"/>
            </a:pPr>
            <a:r>
              <a:rPr sz="1092" b="0" i="0" dirty="0">
                <a:solidFill>
                  <a:srgbClr val="333639"/>
                </a:solidFill>
                <a:latin typeface="Fira Sans"/>
              </a:rPr>
              <a:t>It says nothing at all about the targets we are about to use</a:t>
            </a:r>
            <a:r>
              <a:rPr lang="it-IT" sz="1092" b="0" i="0" dirty="0">
                <a:solidFill>
                  <a:srgbClr val="333639"/>
                </a:solidFill>
                <a:latin typeface="Fira Sans"/>
              </a:rPr>
              <a:t>, </a:t>
            </a:r>
            <a:r>
              <a:rPr sz="1092" b="0" i="0" dirty="0">
                <a:solidFill>
                  <a:srgbClr val="333639"/>
                </a:solidFill>
                <a:latin typeface="Fira Sans"/>
              </a:rPr>
              <a:t>which are not fixed labels but the network’s own predictions.</a:t>
            </a:r>
          </a:p>
        </p:txBody>
      </p:sp>
      <p:sp>
        <p:nvSpPr>
          <p:cNvPr id="16" name="Rectangle 15"/>
          <p:cNvSpPr/>
          <p:nvPr/>
        </p:nvSpPr>
        <p:spPr>
          <a:xfrm>
            <a:off x="7618780" y="2774086"/>
            <a:ext cx="3731940" cy="116738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618780" y="2774086"/>
            <a:ext cx="41148" cy="116738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838236" y="2920390"/>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GAP THE THEOREM LEAVES</a:t>
            </a:r>
          </a:p>
        </p:txBody>
      </p:sp>
      <p:sp>
        <p:nvSpPr>
          <p:cNvPr id="19" name="TextBox 18"/>
          <p:cNvSpPr txBox="1"/>
          <p:nvPr/>
        </p:nvSpPr>
        <p:spPr>
          <a:xfrm>
            <a:off x="7838236" y="3158134"/>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Three things have to go right: the function must be </a:t>
            </a:r>
            <a:r>
              <a:rPr sz="1045" b="1" i="0">
                <a:solidFill>
                  <a:srgbClr val="333639"/>
                </a:solidFill>
                <a:latin typeface="Fira Sans"/>
              </a:rPr>
              <a:t>representable</a:t>
            </a:r>
            <a:r>
              <a:rPr sz="1045" b="0" i="0">
                <a:solidFill>
                  <a:srgbClr val="333639"/>
                </a:solidFill>
                <a:latin typeface="Fira Sans"/>
              </a:rPr>
              <a:t>, the optimiser must </a:t>
            </a:r>
            <a:r>
              <a:rPr sz="1045" b="1" i="0">
                <a:solidFill>
                  <a:srgbClr val="333639"/>
                </a:solidFill>
                <a:latin typeface="Fira Sans"/>
              </a:rPr>
              <a:t>find it</a:t>
            </a:r>
            <a:r>
              <a:rPr sz="1045" b="0" i="0">
                <a:solidFill>
                  <a:srgbClr val="333639"/>
                </a:solidFill>
                <a:latin typeface="Fira Sans"/>
              </a:rPr>
              <a:t>, and the data must </a:t>
            </a:r>
            <a:r>
              <a:rPr sz="1045" b="1" i="0">
                <a:solidFill>
                  <a:srgbClr val="333639"/>
                </a:solidFill>
                <a:latin typeface="Fira Sans"/>
              </a:rPr>
              <a:t>support it</a:t>
            </a:r>
            <a:r>
              <a:rPr sz="1045" b="0" i="0">
                <a:solidFill>
                  <a:srgbClr val="333639"/>
                </a:solidFill>
                <a:latin typeface="Fira Sans"/>
              </a:rPr>
              <a:t>. The theorem covers only the first. The rest of this chapter is about the other two.</a:t>
            </a:r>
          </a:p>
        </p:txBody>
      </p:sp>
      <p:sp>
        <p:nvSpPr>
          <p:cNvPr id="20" name="Rectangle 19"/>
          <p:cNvSpPr/>
          <p:nvPr/>
        </p:nvSpPr>
        <p:spPr>
          <a:xfrm>
            <a:off x="7618780" y="4124350"/>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4124350"/>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427065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WHAT WE WILL ACTUALLY USE</a:t>
            </a:r>
          </a:p>
        </p:txBody>
      </p:sp>
      <p:sp>
        <p:nvSpPr>
          <p:cNvPr id="23" name="TextBox 22"/>
          <p:cNvSpPr txBox="1"/>
          <p:nvPr/>
        </p:nvSpPr>
        <p:spPr>
          <a:xfrm>
            <a:off x="7838236" y="4508398"/>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For Cart-Pole a small network is ample: two hidden layers, ReLU activations, a linear output with one unit per action.</a:t>
            </a:r>
          </a:p>
        </p:txBody>
      </p:sp>
      <p:sp>
        <p:nvSpPr>
          <p:cNvPr id="24" name="CasellaDiTesto 23">
            <a:extLst>
              <a:ext uri="{FF2B5EF4-FFF2-40B4-BE49-F238E27FC236}">
                <a16:creationId xmlns:a16="http://schemas.microsoft.com/office/drawing/2014/main" id="{1F96AAAA-1C63-0A50-6851-B4A440017A61}"/>
              </a:ext>
            </a:extLst>
          </p:cNvPr>
          <p:cNvSpPr txBox="1"/>
          <p:nvPr/>
        </p:nvSpPr>
        <p:spPr>
          <a:xfrm>
            <a:off x="665825" y="4172505"/>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2.5  THE APPROXIMATOR IN PYTORCH</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Four inputs, two hidden layers, one output per action — and a greedy policy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 — Cart-Pole and the Q-network</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13</a:t>
            </a:r>
          </a:p>
        </p:txBody>
      </p:sp>
      <p:sp>
        <p:nvSpPr>
          <p:cNvPr id="8" name="Rectangle 7"/>
          <p:cNvSpPr/>
          <p:nvPr/>
        </p:nvSpPr>
        <p:spPr>
          <a:xfrm>
            <a:off x="841248" y="1845602"/>
            <a:ext cx="6492240" cy="355175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845602"/>
            <a:ext cx="41148" cy="355175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927898"/>
            <a:ext cx="6126479"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create_network</a:t>
            </a:r>
          </a:p>
        </p:txBody>
      </p:sp>
      <p:sp>
        <p:nvSpPr>
          <p:cNvPr id="11" name="TextBox 10"/>
          <p:cNvSpPr txBox="1"/>
          <p:nvPr/>
        </p:nvSpPr>
        <p:spPr>
          <a:xfrm>
            <a:off x="1024128" y="2229650"/>
            <a:ext cx="6181344" cy="3094558"/>
          </a:xfrm>
          <a:prstGeom prst="rect">
            <a:avLst/>
          </a:prstGeom>
          <a:noFill/>
        </p:spPr>
        <p:txBody>
          <a:bodyPr wrap="none" lIns="0" tIns="0" rIns="0" bIns="0" anchor="t">
            <a:noAutofit/>
          </a:bodyPr>
          <a:lstStyle/>
          <a:p>
            <a:pPr marL="0" indent="0" algn="l">
              <a:lnSpc>
                <a:spcPts val="1147"/>
              </a:lnSpc>
              <a:spcBef>
                <a:spcPts val="0"/>
              </a:spcBef>
              <a:spcAft>
                <a:spcPts val="0"/>
              </a:spcAft>
              <a:buNone/>
            </a:pPr>
            <a:r>
              <a:rPr sz="882" b="0" i="0">
                <a:solidFill>
                  <a:srgbClr val="1F2A37"/>
                </a:solidFill>
                <a:latin typeface="Consolas"/>
              </a:rPr>
              <a:t xml:space="preserve">def create_network(env, hidden_sizes=(512, 128)):</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    first_hidden, second_hidden = hidden_sizes</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    return torch.nn.Sequential(</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768896"/>
                </a:solidFill>
                <a:latin typeface="Consolas"/>
              </a:rPr>
              <a:t xml:space="preserve">        # one input unit per state variable</a:t>
            </a:r>
          </a:p>
          <a:p>
            <a:pPr marL="0" indent="0" algn="l">
              <a:lnSpc>
                <a:spcPts val="1147"/>
              </a:lnSpc>
              <a:spcBef>
                <a:spcPts val="0"/>
              </a:spcBef>
              <a:spcAft>
                <a:spcPts val="0"/>
              </a:spcAft>
              <a:buNone/>
            </a:pPr>
            <a:r>
              <a:rPr sz="882" b="0" i="0">
                <a:solidFill>
                  <a:srgbClr val="1F2A37"/>
                </a:solidFill>
                <a:latin typeface="Consolas"/>
              </a:rPr>
              <a:t xml:space="preserve">        torch.nn.Linear(env.observation_space.shape[0], first_hidden),</a:t>
            </a:r>
          </a:p>
          <a:p>
            <a:pPr marL="0" indent="0" algn="l">
              <a:lnSpc>
                <a:spcPts val="1147"/>
              </a:lnSpc>
              <a:spcBef>
                <a:spcPts val="0"/>
              </a:spcBef>
              <a:spcAft>
                <a:spcPts val="0"/>
              </a:spcAft>
              <a:buNone/>
            </a:pPr>
            <a:r>
              <a:rPr sz="882" b="0" i="0">
                <a:solidFill>
                  <a:srgbClr val="1F2A37"/>
                </a:solidFill>
                <a:latin typeface="Consolas"/>
              </a:rPr>
              <a:t xml:space="preserve">        torch.nn.ReLU(),</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        torch.nn.Linear(first_hidden, second_hidden),</a:t>
            </a:r>
          </a:p>
          <a:p>
            <a:pPr marL="0" indent="0" algn="l">
              <a:lnSpc>
                <a:spcPts val="1147"/>
              </a:lnSpc>
              <a:spcBef>
                <a:spcPts val="0"/>
              </a:spcBef>
              <a:spcAft>
                <a:spcPts val="0"/>
              </a:spcAft>
              <a:buNone/>
            </a:pPr>
            <a:r>
              <a:rPr sz="882" b="0" i="0">
                <a:solidFill>
                  <a:srgbClr val="1F2A37"/>
                </a:solidFill>
                <a:latin typeface="Consolas"/>
              </a:rPr>
              <a:t xml:space="preserve">        torch.nn.ReLU(),</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768896"/>
                </a:solidFill>
                <a:latin typeface="Consolas"/>
              </a:rPr>
              <a:t xml:space="preserve">        # linear output: one Q-value per action, unbounded</a:t>
            </a:r>
          </a:p>
          <a:p>
            <a:pPr marL="0" indent="0" algn="l">
              <a:lnSpc>
                <a:spcPts val="1147"/>
              </a:lnSpc>
              <a:spcBef>
                <a:spcPts val="0"/>
              </a:spcBef>
              <a:spcAft>
                <a:spcPts val="0"/>
              </a:spcAft>
              <a:buNone/>
            </a:pPr>
            <a:r>
              <a:rPr sz="882" b="0" i="0">
                <a:solidFill>
                  <a:srgbClr val="1F2A37"/>
                </a:solidFill>
                <a:latin typeface="Consolas"/>
              </a:rPr>
              <a:t xml:space="preserve">        torch.nn.Linear(second_hidden, env.action_space.n),</a:t>
            </a:r>
          </a:p>
          <a:p>
            <a:pPr marL="0" indent="0" algn="l">
              <a:lnSpc>
                <a:spcPts val="1147"/>
              </a:lnSpc>
              <a:spcBef>
                <a:spcPts val="0"/>
              </a:spcBef>
              <a:spcAft>
                <a:spcPts val="0"/>
              </a:spcAft>
              <a:buNone/>
            </a:pPr>
            <a:r>
              <a:rPr sz="882" b="0" i="0">
                <a:solidFill>
                  <a:srgbClr val="1F2A37"/>
                </a:solidFill>
                <a:latin typeface="Consolas"/>
              </a:rPr>
              <a:t xml:space="preserve">    )</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333639"/>
                </a:solidFill>
                <a:latin typeface="Consolas"/>
              </a:rPr>
              <a:t xml:space="preserve"> </a:t>
            </a:r>
          </a:p>
          <a:p>
            <a:pPr marL="0" indent="0" algn="l">
              <a:lnSpc>
                <a:spcPts val="1147"/>
              </a:lnSpc>
              <a:spcBef>
                <a:spcPts val="0"/>
              </a:spcBef>
              <a:spcAft>
                <a:spcPts val="0"/>
              </a:spcAft>
              <a:buNone/>
            </a:pPr>
            <a:r>
              <a:rPr sz="882" b="0" i="0">
                <a:solidFill>
                  <a:srgbClr val="1F2A37"/>
                </a:solidFill>
                <a:latin typeface="Consolas"/>
              </a:rPr>
              <a:t xml:space="preserve">q = create_network(cart_pole, hidden_sizes=(512, 128))</a:t>
            </a:r>
          </a:p>
        </p:txBody>
      </p:sp>
      <p:sp>
        <p:nvSpPr>
          <p:cNvPr id="12" name="TextBox 11"/>
          <p:cNvSpPr txBox="1"/>
          <p:nvPr/>
        </p:nvSpPr>
        <p:spPr>
          <a:xfrm>
            <a:off x="7571232" y="1316736"/>
            <a:ext cx="3779489"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POLICY IT INDUCES</a:t>
            </a:r>
          </a:p>
        </p:txBody>
      </p:sp>
      <p:pic>
        <p:nvPicPr>
          <p:cNvPr id="13" name="Picture 12" descr="greedy.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71232" y="1572768"/>
            <a:ext cx="2103120" cy="323849"/>
          </a:xfrm>
          <a:prstGeom prst="rect">
            <a:avLst/>
          </a:prstGeom>
        </p:spPr>
      </p:pic>
      <p:sp>
        <p:nvSpPr>
          <p:cNvPr id="14" name="Rectangle 13"/>
          <p:cNvSpPr/>
          <p:nvPr/>
        </p:nvSpPr>
        <p:spPr>
          <a:xfrm>
            <a:off x="7571232" y="2079498"/>
            <a:ext cx="3779489" cy="202996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571232" y="2079498"/>
            <a:ext cx="41148" cy="202996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54112" y="2161794"/>
            <a:ext cx="3413729"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GreedyPolicy</a:t>
            </a:r>
          </a:p>
        </p:txBody>
      </p:sp>
      <p:sp>
        <p:nvSpPr>
          <p:cNvPr id="17" name="TextBox 16"/>
          <p:cNvSpPr txBox="1"/>
          <p:nvPr/>
        </p:nvSpPr>
        <p:spPr>
          <a:xfrm>
            <a:off x="7754112" y="2463546"/>
            <a:ext cx="3468593" cy="1572768"/>
          </a:xfrm>
          <a:prstGeom prst="rect">
            <a:avLst/>
          </a:prstGeom>
          <a:noFill/>
        </p:spPr>
        <p:txBody>
          <a:bodyPr wrap="none" lIns="0" tIns="0" rIns="0" bIns="0" anchor="t">
            <a:noAutofit/>
          </a:bodyPr>
          <a:lstStyle/>
          <a:p>
            <a:pPr marL="0" indent="0" algn="l">
              <a:lnSpc>
                <a:spcPts val="1096"/>
              </a:lnSpc>
              <a:spcBef>
                <a:spcPts val="0"/>
              </a:spcBef>
              <a:spcAft>
                <a:spcPts val="0"/>
              </a:spcAft>
              <a:buNone/>
            </a:pPr>
            <a:r>
              <a:rPr sz="843" b="0" i="0">
                <a:solidFill>
                  <a:srgbClr val="1F2A37"/>
                </a:solidFill>
                <a:latin typeface="Consolas"/>
              </a:rPr>
              <a:t xml:space="preserve">class GreedyPolicy:</a:t>
            </a:r>
          </a:p>
          <a:p>
            <a:pPr marL="0" indent="0" algn="l">
              <a:lnSpc>
                <a:spcPts val="1096"/>
              </a:lnSpc>
              <a:spcBef>
                <a:spcPts val="0"/>
              </a:spcBef>
              <a:spcAft>
                <a:spcPts val="0"/>
              </a:spcAft>
              <a:buNone/>
            </a:pPr>
            <a:r>
              <a:rPr sz="843" b="0" i="0">
                <a:solidFill>
                  <a:srgbClr val="333639"/>
                </a:solidFill>
                <a:latin typeface="Consolas"/>
              </a:rPr>
              <a:t xml:space="preserve"> </a:t>
            </a:r>
          </a:p>
          <a:p>
            <a:pPr marL="0" indent="0" algn="l">
              <a:lnSpc>
                <a:spcPts val="1096"/>
              </a:lnSpc>
              <a:spcBef>
                <a:spcPts val="0"/>
              </a:spcBef>
              <a:spcAft>
                <a:spcPts val="0"/>
              </a:spcAft>
              <a:buNone/>
            </a:pPr>
            <a:r>
              <a:rPr sz="843" b="0" i="0">
                <a:solidFill>
                  <a:srgbClr val="1F2A37"/>
                </a:solidFill>
                <a:latin typeface="Consolas"/>
              </a:rPr>
              <a:t xml:space="preserve">    def __init__(self, q):</a:t>
            </a:r>
          </a:p>
          <a:p>
            <a:pPr marL="0" indent="0" algn="l">
              <a:lnSpc>
                <a:spcPts val="1096"/>
              </a:lnSpc>
              <a:spcBef>
                <a:spcPts val="0"/>
              </a:spcBef>
              <a:spcAft>
                <a:spcPts val="0"/>
              </a:spcAft>
              <a:buNone/>
            </a:pPr>
            <a:r>
              <a:rPr sz="843" b="0" i="0">
                <a:solidFill>
                  <a:srgbClr val="1F2A37"/>
                </a:solidFill>
                <a:latin typeface="Consolas"/>
              </a:rPr>
              <a:t xml:space="preserve">        self.q = q</a:t>
            </a:r>
          </a:p>
          <a:p>
            <a:pPr marL="0" indent="0" algn="l">
              <a:lnSpc>
                <a:spcPts val="1096"/>
              </a:lnSpc>
              <a:spcBef>
                <a:spcPts val="0"/>
              </a:spcBef>
              <a:spcAft>
                <a:spcPts val="0"/>
              </a:spcAft>
              <a:buNone/>
            </a:pPr>
            <a:r>
              <a:rPr sz="843" b="0" i="0">
                <a:solidFill>
                  <a:srgbClr val="333639"/>
                </a:solidFill>
                <a:latin typeface="Consolas"/>
              </a:rPr>
              <a:t xml:space="preserve"> </a:t>
            </a:r>
          </a:p>
          <a:p>
            <a:pPr marL="0" indent="0" algn="l">
              <a:lnSpc>
                <a:spcPts val="1096"/>
              </a:lnSpc>
              <a:spcBef>
                <a:spcPts val="0"/>
              </a:spcBef>
              <a:spcAft>
                <a:spcPts val="0"/>
              </a:spcAft>
              <a:buNone/>
            </a:pPr>
            <a:r>
              <a:rPr sz="843" b="0" i="0">
                <a:solidFill>
                  <a:srgbClr val="1F2A37"/>
                </a:solidFill>
                <a:latin typeface="Consolas"/>
              </a:rPr>
              <a:t xml:space="preserve">    def select_action(self, state):</a:t>
            </a:r>
          </a:p>
          <a:p>
            <a:pPr marL="0" indent="0" algn="l">
              <a:lnSpc>
                <a:spcPts val="1096"/>
              </a:lnSpc>
              <a:spcBef>
                <a:spcPts val="0"/>
              </a:spcBef>
              <a:spcAft>
                <a:spcPts val="0"/>
              </a:spcAft>
              <a:buNone/>
            </a:pPr>
            <a:r>
              <a:rPr sz="843" b="0" i="0">
                <a:solidFill>
                  <a:srgbClr val="1F2A37"/>
                </a:solidFill>
                <a:latin typeface="Consolas"/>
              </a:rPr>
              <a:t xml:space="preserve">        state = torch.as_tensor(state,</a:t>
            </a:r>
          </a:p>
          <a:p>
            <a:pPr marL="0" indent="0" algn="l">
              <a:lnSpc>
                <a:spcPts val="1096"/>
              </a:lnSpc>
              <a:spcBef>
                <a:spcPts val="0"/>
              </a:spcBef>
              <a:spcAft>
                <a:spcPts val="0"/>
              </a:spcAft>
              <a:buNone/>
            </a:pPr>
            <a:r>
              <a:rPr sz="843" b="0" i="0">
                <a:solidFill>
                  <a:srgbClr val="1F2A37"/>
                </a:solidFill>
                <a:latin typeface="Consolas"/>
              </a:rPr>
              <a:t xml:space="preserve">                                dtype=torch.float32)</a:t>
            </a:r>
          </a:p>
          <a:p>
            <a:pPr marL="0" indent="0" algn="l">
              <a:lnSpc>
                <a:spcPts val="1096"/>
              </a:lnSpc>
              <a:spcBef>
                <a:spcPts val="0"/>
              </a:spcBef>
              <a:spcAft>
                <a:spcPts val="0"/>
              </a:spcAft>
              <a:buNone/>
            </a:pPr>
            <a:r>
              <a:rPr sz="843" b="0" i="0">
                <a:solidFill>
                  <a:srgbClr val="1F2A37"/>
                </a:solidFill>
                <a:latin typeface="Consolas"/>
              </a:rPr>
              <a:t xml:space="preserve">        with torch.no_grad():  </a:t>
            </a:r>
            <a:r>
              <a:rPr sz="843" b="0" i="0">
                <a:solidFill>
                  <a:srgbClr val="768896"/>
                </a:solidFill>
                <a:latin typeface="Consolas"/>
              </a:rPr>
              <a:t xml:space="preserve">  # only acting</a:t>
            </a:r>
          </a:p>
          <a:p>
            <a:pPr marL="0" indent="0" algn="l">
              <a:lnSpc>
                <a:spcPts val="1096"/>
              </a:lnSpc>
              <a:spcBef>
                <a:spcPts val="0"/>
              </a:spcBef>
              <a:spcAft>
                <a:spcPts val="0"/>
              </a:spcAft>
              <a:buNone/>
            </a:pPr>
            <a:r>
              <a:rPr sz="843" b="0" i="0">
                <a:solidFill>
                  <a:srgbClr val="1F2A37"/>
                </a:solidFill>
                <a:latin typeface="Consolas"/>
              </a:rPr>
              <a:t xml:space="preserve">            q_values = self.q(state)</a:t>
            </a:r>
          </a:p>
          <a:p>
            <a:pPr marL="0" indent="0" algn="l">
              <a:lnSpc>
                <a:spcPts val="1096"/>
              </a:lnSpc>
              <a:spcBef>
                <a:spcPts val="0"/>
              </a:spcBef>
              <a:spcAft>
                <a:spcPts val="0"/>
              </a:spcAft>
              <a:buNone/>
            </a:pPr>
            <a:r>
              <a:rPr sz="843" b="0" i="0">
                <a:solidFill>
                  <a:srgbClr val="1F2A37"/>
                </a:solidFill>
                <a:latin typeface="Consolas"/>
              </a:rPr>
              <a:t xml:space="preserve">        return int(q_values.argmax(dim=-1).item())</a:t>
            </a:r>
          </a:p>
        </p:txBody>
      </p:sp>
      <p:sp>
        <p:nvSpPr>
          <p:cNvPr id="18" name="Rectangle 17"/>
          <p:cNvSpPr/>
          <p:nvPr/>
        </p:nvSpPr>
        <p:spPr>
          <a:xfrm>
            <a:off x="7571232" y="4166234"/>
            <a:ext cx="3779489" cy="113812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571232" y="4166234"/>
            <a:ext cx="41148" cy="113812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90688" y="4312539"/>
            <a:ext cx="3486881"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ONE DETAIL THAT MATTERS</a:t>
            </a:r>
          </a:p>
        </p:txBody>
      </p:sp>
      <p:sp>
        <p:nvSpPr>
          <p:cNvPr id="21" name="TextBox 20"/>
          <p:cNvSpPr txBox="1"/>
          <p:nvPr/>
        </p:nvSpPr>
        <p:spPr>
          <a:xfrm>
            <a:off x="7790688" y="4550282"/>
            <a:ext cx="3395441"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output layer is </a:t>
            </a:r>
            <a:r>
              <a:rPr sz="997" b="1" i="0">
                <a:solidFill>
                  <a:srgbClr val="333639"/>
                </a:solidFill>
                <a:latin typeface="Fira Sans"/>
              </a:rPr>
              <a:t>linear, not ReLU</a:t>
            </a:r>
            <a:r>
              <a:rPr sz="997" b="0" i="0">
                <a:solidFill>
                  <a:srgbClr val="333639"/>
                </a:solidFill>
                <a:latin typeface="Fira Sans"/>
              </a:rPr>
              <a:t>: an action value may be any real number, and on Cart-Pole it is large and positive (up to ≈ 100 with γ = 0.99), so clipping it at zero would be fatal.</a:t>
            </a:r>
          </a:p>
        </p:txBody>
      </p:sp>
      <p:sp>
        <p:nvSpPr>
          <p:cNvPr id="22" name="Rectangle 21"/>
          <p:cNvSpPr/>
          <p:nvPr/>
        </p:nvSpPr>
        <p:spPr>
          <a:xfrm>
            <a:off x="7571232" y="5468950"/>
            <a:ext cx="3779489" cy="74843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571232" y="5468950"/>
            <a:ext cx="41148" cy="74843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90688" y="5615254"/>
            <a:ext cx="3395441"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512 and 128 units for four inputs is generous; the tuned experiment later uses 256 and a much smaller learning rate.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Neural Fitted Q</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The loss we would like to minimise does not exist, so we bootstrap one. Semi-gradient descent, a batch of collected transitions, and a few epochs of ordinary supervised fitting.</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If the labels are produced by the same network we are training, what are we converging to?</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loss we cannot write</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bootstrapped target</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Choosing the target: off-policy</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Semi-gradient descent</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Optimisers and the IID assumption</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From online updates to batch fitting</a:t>
            </a:r>
          </a:p>
          <a:p>
            <a:pPr marL="0" indent="0" algn="l">
              <a:lnSpc>
                <a:spcPts val="1378"/>
              </a:lnSpc>
              <a:spcBef>
                <a:spcPts val="1300"/>
              </a:spcBef>
              <a:spcAft>
                <a:spcPts val="0"/>
              </a:spcAft>
              <a:buNone/>
            </a:pPr>
            <a:r>
              <a:rPr sz="1188" b="1" i="0">
                <a:solidFill>
                  <a:srgbClr val="B2A7C4"/>
                </a:solidFill>
                <a:latin typeface="Fira Sans"/>
              </a:rPr>
              <a:t>07   </a:t>
            </a:r>
            <a:r>
              <a:rPr sz="1188" b="0" i="0">
                <a:solidFill>
                  <a:srgbClr val="FFFFFF"/>
                </a:solidFill>
                <a:latin typeface="Fira Sans"/>
              </a:rPr>
              <a:t>The algorithm</a:t>
            </a:r>
          </a:p>
          <a:p>
            <a:pPr marL="0" indent="0" algn="l">
              <a:lnSpc>
                <a:spcPts val="1378"/>
              </a:lnSpc>
              <a:spcBef>
                <a:spcPts val="1300"/>
              </a:spcBef>
              <a:spcAft>
                <a:spcPts val="0"/>
              </a:spcAft>
              <a:buNone/>
            </a:pPr>
            <a:r>
              <a:rPr sz="1188" b="1" i="0">
                <a:solidFill>
                  <a:srgbClr val="B2A7C4"/>
                </a:solidFill>
                <a:latin typeface="Fira Sans"/>
              </a:rPr>
              <a:t>08   </a:t>
            </a:r>
            <a:r>
              <a:rPr sz="1188" b="0" i="0">
                <a:solidFill>
                  <a:srgbClr val="FFFFFF"/>
                </a:solidFill>
                <a:latin typeface="Fira Sans"/>
              </a:rPr>
              <a:t>Cart-Pole results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  THE LOSS WE CANNOT WRITE DOWN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Supervised learning starts with labels; here there are none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7283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15</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Training a network needs a loss. In regression that is easy: a dataset is given, each example carries its correct output, and the loss is the squared distance between prediction and label. Reinforcement learning has neither ingredient.</a:t>
            </a:r>
          </a:p>
        </p:txBody>
      </p:sp>
      <p:pic>
        <p:nvPicPr>
          <p:cNvPr id="9" name="Picture 8" descr="sl_vs_rl.png"/>
          <p:cNvPicPr>
            <a:picLocks noChangeAspect="1"/>
          </p:cNvPicPr>
          <p:nvPr/>
        </p:nvPicPr>
        <p:blipFill>
          <a:blip r:embed="rId2"/>
          <a:stretch>
            <a:fillRect/>
          </a:stretch>
        </p:blipFill>
        <p:spPr>
          <a:xfrm>
            <a:off x="2313964" y="1876533"/>
            <a:ext cx="7533591" cy="2083661"/>
          </a:xfrm>
          <a:prstGeom prst="rect">
            <a:avLst/>
          </a:prstGeom>
        </p:spPr>
      </p:pic>
      <p:sp>
        <p:nvSpPr>
          <p:cNvPr id="11" name="TextBox 10"/>
          <p:cNvSpPr txBox="1"/>
          <p:nvPr/>
        </p:nvSpPr>
        <p:spPr>
          <a:xfrm>
            <a:off x="841248" y="409480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LOSS WE WOULD LIKE TO MINIMISE</a:t>
            </a:r>
          </a:p>
        </p:txBody>
      </p:sp>
      <p:sp>
        <p:nvSpPr>
          <p:cNvPr id="12" name="Rectangle 11"/>
          <p:cNvSpPr/>
          <p:nvPr/>
        </p:nvSpPr>
        <p:spPr>
          <a:xfrm>
            <a:off x="841248" y="4316390"/>
            <a:ext cx="10515600" cy="786384"/>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4316390"/>
            <a:ext cx="41148" cy="7863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loss_ideal.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4517558"/>
            <a:ext cx="3355086" cy="442595"/>
          </a:xfrm>
          <a:prstGeom prst="rect">
            <a:avLst/>
          </a:prstGeom>
        </p:spPr>
      </p:pic>
      <p:sp>
        <p:nvSpPr>
          <p:cNvPr id="15" name="TextBox 14"/>
          <p:cNvSpPr txBox="1"/>
          <p:nvPr/>
        </p:nvSpPr>
        <p:spPr>
          <a:xfrm>
            <a:off x="6327648" y="4630121"/>
            <a:ext cx="4608576" cy="36387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0" i="0" dirty="0">
                <a:solidFill>
                  <a:srgbClr val="C8102E"/>
                </a:solidFill>
                <a:latin typeface="Fira Sans"/>
              </a:rPr>
              <a:t>We do not have </a:t>
            </a:r>
            <a:r>
              <a:rPr sz="1092" b="0" i="1" dirty="0">
                <a:solidFill>
                  <a:srgbClr val="C8102E"/>
                </a:solidFill>
                <a:latin typeface="Fira Sans"/>
              </a:rPr>
              <a:t>q</a:t>
            </a:r>
            <a:r>
              <a:rPr sz="784" b="0" i="0" dirty="0">
                <a:solidFill>
                  <a:srgbClr val="C8102E"/>
                </a:solidFill>
                <a:latin typeface="Fira Sans"/>
              </a:rPr>
              <a:t>*</a:t>
            </a:r>
            <a:r>
              <a:rPr sz="1092" b="0" i="0" dirty="0">
                <a:solidFill>
                  <a:srgbClr val="C8102E"/>
                </a:solidFill>
                <a:latin typeface="Fira Sans"/>
              </a:rPr>
              <a:t> and if we did there would be nothing left to learn.</a:t>
            </a:r>
          </a:p>
        </p:txBody>
      </p:sp>
      <p:sp>
        <p:nvSpPr>
          <p:cNvPr id="16" name="Rectangle 15"/>
          <p:cNvSpPr/>
          <p:nvPr/>
        </p:nvSpPr>
        <p:spPr>
          <a:xfrm>
            <a:off x="841248" y="5249078"/>
            <a:ext cx="5102352" cy="863193"/>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5249078"/>
            <a:ext cx="41148" cy="8631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60704" y="5395382"/>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PROBLEM 1</a:t>
            </a:r>
          </a:p>
        </p:txBody>
      </p:sp>
      <p:sp>
        <p:nvSpPr>
          <p:cNvPr id="19" name="TextBox 18"/>
          <p:cNvSpPr txBox="1"/>
          <p:nvPr/>
        </p:nvSpPr>
        <p:spPr>
          <a:xfrm>
            <a:off x="1060704" y="5633126"/>
            <a:ext cx="4718304"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333639"/>
                </a:solidFill>
                <a:latin typeface="Fira Sans"/>
              </a:rPr>
              <a:t>No fixed dataset</a:t>
            </a:r>
            <a:r>
              <a:rPr lang="it-IT" sz="1092" dirty="0">
                <a:solidFill>
                  <a:srgbClr val="333639"/>
                </a:solidFill>
                <a:latin typeface="Fira Sans"/>
              </a:rPr>
              <a:t>: </a:t>
            </a:r>
            <a:r>
              <a:rPr sz="1092" b="0" i="0" dirty="0">
                <a:solidFill>
                  <a:srgbClr val="333639"/>
                </a:solidFill>
                <a:latin typeface="Fira Sans"/>
              </a:rPr>
              <a:t>the agent has to produce its own training data by interacting, and the distribution of that data changes as it improves.</a:t>
            </a:r>
          </a:p>
        </p:txBody>
      </p:sp>
      <p:sp>
        <p:nvSpPr>
          <p:cNvPr id="20" name="Rectangle 19"/>
          <p:cNvSpPr/>
          <p:nvPr/>
        </p:nvSpPr>
        <p:spPr>
          <a:xfrm>
            <a:off x="6254496" y="5249078"/>
            <a:ext cx="5102352" cy="1029614"/>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6254496" y="5249078"/>
            <a:ext cx="41148" cy="102961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473952" y="5395382"/>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PROBLEM 2</a:t>
            </a:r>
          </a:p>
        </p:txBody>
      </p:sp>
      <p:sp>
        <p:nvSpPr>
          <p:cNvPr id="23" name="TextBox 22"/>
          <p:cNvSpPr txBox="1"/>
          <p:nvPr/>
        </p:nvSpPr>
        <p:spPr>
          <a:xfrm>
            <a:off x="6473952" y="5633126"/>
            <a:ext cx="4718304"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333639"/>
                </a:solidFill>
                <a:latin typeface="Fira Sans"/>
              </a:rPr>
              <a:t>No labels</a:t>
            </a:r>
            <a:r>
              <a:rPr lang="it-IT" sz="1092" dirty="0">
                <a:solidFill>
                  <a:srgbClr val="333639"/>
                </a:solidFill>
                <a:latin typeface="Fira Sans"/>
              </a:rPr>
              <a:t>: </a:t>
            </a:r>
            <a:r>
              <a:rPr sz="1092" b="0" i="0" dirty="0">
                <a:solidFill>
                  <a:srgbClr val="333639"/>
                </a:solidFill>
                <a:latin typeface="Fira Sans"/>
              </a:rPr>
              <a:t>nobody tells the agent what the value of a state–action pair should have been. The target has to be manufactured from what it already believes.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3.2  MANUFACTURE THE TARGET BY BOOTSTRAPPING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device as Q-learning — and the circularity it creates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After a transition we treat the immediate reward plus the discounted value of the next state as a </a:t>
            </a:r>
            <a:r>
              <a:rPr sz="1235" b="1" i="0">
                <a:solidFill>
                  <a:srgbClr val="25282A"/>
                </a:solidFill>
                <a:latin typeface="Fira Sans"/>
              </a:rPr>
              <a:t>temporary target</a:t>
            </a:r>
            <a:r>
              <a:rPr sz="1235" b="0" i="0">
                <a:solidFill>
                  <a:srgbClr val="333639"/>
                </a:solidFill>
                <a:latin typeface="Fira Sans"/>
              </a:rPr>
              <a:t> for the current prediction. Because we want the optimal action-value function, the next-state value is a maximum over actions.</a:t>
            </a:r>
          </a:p>
        </p:txBody>
      </p:sp>
      <p:sp>
        <p:nvSpPr>
          <p:cNvPr id="9" name="Rectangle 8"/>
          <p:cNvSpPr/>
          <p:nvPr/>
        </p:nvSpPr>
        <p:spPr>
          <a:xfrm>
            <a:off x="841248" y="2349035"/>
            <a:ext cx="6543446" cy="73152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349035"/>
            <a:ext cx="41148" cy="73152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termina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97280" y="2568491"/>
            <a:ext cx="3017520" cy="348615"/>
          </a:xfrm>
          <a:prstGeom prst="rect">
            <a:avLst/>
          </a:prstGeom>
        </p:spPr>
      </p:pic>
      <p:sp>
        <p:nvSpPr>
          <p:cNvPr id="12" name="TextBox 11"/>
          <p:cNvSpPr txBox="1"/>
          <p:nvPr/>
        </p:nvSpPr>
        <p:spPr>
          <a:xfrm>
            <a:off x="841248" y="3316376"/>
            <a:ext cx="654344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The factor (1 − d) is not decoration: a </a:t>
            </a:r>
            <a:r>
              <a:rPr sz="1092" b="1" i="0" dirty="0">
                <a:solidFill>
                  <a:srgbClr val="25282A"/>
                </a:solidFill>
                <a:latin typeface="Fira Sans"/>
              </a:rPr>
              <a:t>terminal state has no future</a:t>
            </a:r>
            <a:r>
              <a:rPr sz="1092" b="0" i="0" dirty="0">
                <a:solidFill>
                  <a:srgbClr val="333639"/>
                </a:solidFill>
                <a:latin typeface="Fira Sans"/>
              </a:rPr>
              <a:t>, so nothing may be bootstrapped from it. Note that d records </a:t>
            </a:r>
            <a:r>
              <a:rPr sz="1092" b="0" i="1" dirty="0">
                <a:solidFill>
                  <a:srgbClr val="333639"/>
                </a:solidFill>
                <a:latin typeface="Fira Sans"/>
              </a:rPr>
              <a:t>termination</a:t>
            </a:r>
            <a:r>
              <a:rPr sz="1092" b="0" i="0" dirty="0">
                <a:solidFill>
                  <a:srgbClr val="333639"/>
                </a:solidFill>
                <a:latin typeface="Fira Sans"/>
              </a:rPr>
              <a:t>, not truncation</a:t>
            </a:r>
            <a:r>
              <a:rPr lang="it-IT" sz="1092" b="0" i="0" dirty="0">
                <a:solidFill>
                  <a:srgbClr val="333639"/>
                </a:solidFill>
                <a:latin typeface="Fira Sans"/>
              </a:rPr>
              <a:t>: </a:t>
            </a:r>
            <a:r>
              <a:rPr sz="1092" b="0" i="0" dirty="0">
                <a:solidFill>
                  <a:srgbClr val="333639"/>
                </a:solidFill>
                <a:latin typeface="Fira Sans"/>
              </a:rPr>
              <a:t>an episode cut off at step 500 has a future, it simply was not observed.</a:t>
            </a:r>
          </a:p>
        </p:txBody>
      </p:sp>
      <p:sp>
        <p:nvSpPr>
          <p:cNvPr id="13" name="TextBox 12"/>
          <p:cNvSpPr txBox="1"/>
          <p:nvPr/>
        </p:nvSpPr>
        <p:spPr>
          <a:xfrm>
            <a:off x="841248" y="438643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THIS IS GENERALIZED POLICY ITERATION, COMPRESSED INTO ONE EXPRESSION</a:t>
            </a:r>
          </a:p>
        </p:txBody>
      </p:sp>
      <p:sp>
        <p:nvSpPr>
          <p:cNvPr id="14" name="TextBox 13"/>
          <p:cNvSpPr txBox="1"/>
          <p:nvPr/>
        </p:nvSpPr>
        <p:spPr>
          <a:xfrm>
            <a:off x="841248" y="4660756"/>
            <a:ext cx="6543446"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dirty="0">
                <a:solidFill>
                  <a:srgbClr val="574676"/>
                </a:solidFill>
                <a:latin typeface="Fira Sans"/>
              </a:rPr>
              <a:t>Evaluation</a:t>
            </a:r>
            <a:r>
              <a:rPr sz="1092" b="0" i="0" dirty="0">
                <a:solidFill>
                  <a:srgbClr val="333639"/>
                </a:solidFill>
                <a:latin typeface="Fira Sans"/>
              </a:rPr>
              <a:t>: the network is trained to match the bootstrapped target. </a:t>
            </a:r>
            <a:r>
              <a:rPr sz="1092" b="1" i="0" dirty="0">
                <a:solidFill>
                  <a:srgbClr val="2B7A3E"/>
                </a:solidFill>
                <a:latin typeface="Fira Sans"/>
              </a:rPr>
              <a:t>Improvement</a:t>
            </a:r>
            <a:r>
              <a:rPr sz="1092" b="0" i="0" dirty="0">
                <a:solidFill>
                  <a:srgbClr val="333639"/>
                </a:solidFill>
                <a:latin typeface="Fira Sans"/>
              </a:rPr>
              <a:t>: the target already assumes greedy </a:t>
            </a:r>
            <a:r>
              <a:rPr sz="1092" b="0" i="0" dirty="0" err="1">
                <a:solidFill>
                  <a:srgbClr val="333639"/>
                </a:solidFill>
                <a:latin typeface="Fira Sans"/>
              </a:rPr>
              <a:t>behaviour</a:t>
            </a:r>
            <a:r>
              <a:rPr sz="1092" b="0" i="0" dirty="0">
                <a:solidFill>
                  <a:srgbClr val="333639"/>
                </a:solidFill>
                <a:latin typeface="Fira Sans"/>
              </a:rPr>
              <a:t> in the next state. There is no separate improvement step</a:t>
            </a:r>
            <a:r>
              <a:rPr lang="it-IT" sz="1092" b="0" i="0" dirty="0">
                <a:solidFill>
                  <a:srgbClr val="333639"/>
                </a:solidFill>
                <a:latin typeface="Fira Sans"/>
              </a:rPr>
              <a:t>, </a:t>
            </a:r>
            <a:r>
              <a:rPr sz="1092" b="0" i="0" dirty="0">
                <a:solidFill>
                  <a:srgbClr val="333639"/>
                </a:solidFill>
                <a:latin typeface="Fira Sans"/>
              </a:rPr>
              <a:t>the max does it.</a:t>
            </a:r>
          </a:p>
        </p:txBody>
      </p:sp>
      <p:pic>
        <p:nvPicPr>
          <p:cNvPr id="15" name="Picture 14" descr="circular.png"/>
          <p:cNvPicPr>
            <a:picLocks noChangeAspect="1"/>
          </p:cNvPicPr>
          <p:nvPr/>
        </p:nvPicPr>
        <p:blipFill>
          <a:blip r:embed="rId3"/>
          <a:stretch>
            <a:fillRect/>
          </a:stretch>
        </p:blipFill>
        <p:spPr>
          <a:xfrm>
            <a:off x="7510272" y="1313354"/>
            <a:ext cx="3810668" cy="1905334"/>
          </a:xfrm>
          <a:prstGeom prst="rect">
            <a:avLst/>
          </a:prstGeom>
        </p:spPr>
      </p:pic>
      <p:sp>
        <p:nvSpPr>
          <p:cNvPr id="16" name="TextBox 15"/>
          <p:cNvSpPr txBox="1"/>
          <p:nvPr/>
        </p:nvSpPr>
        <p:spPr>
          <a:xfrm>
            <a:off x="7618780" y="3273552"/>
            <a:ext cx="3731940" cy="453085"/>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dirty="0">
                <a:solidFill>
                  <a:srgbClr val="626669"/>
                </a:solidFill>
                <a:latin typeface="Fira Sans"/>
              </a:rPr>
              <a:t>Data produces the action-value function, which produces the policy, which produces the data and the targets come from the function itself.</a:t>
            </a:r>
          </a:p>
        </p:txBody>
      </p:sp>
      <p:sp>
        <p:nvSpPr>
          <p:cNvPr id="17" name="Rectangle 16"/>
          <p:cNvSpPr/>
          <p:nvPr/>
        </p:nvSpPr>
        <p:spPr>
          <a:xfrm>
            <a:off x="7618780" y="3891229"/>
            <a:ext cx="3731940" cy="1167384"/>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3891229"/>
            <a:ext cx="41148" cy="11673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4037533"/>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THE CIRCULAR DEPENDENCY</a:t>
            </a:r>
          </a:p>
        </p:txBody>
      </p:sp>
      <p:sp>
        <p:nvSpPr>
          <p:cNvPr id="20" name="TextBox 19"/>
          <p:cNvSpPr txBox="1"/>
          <p:nvPr/>
        </p:nvSpPr>
        <p:spPr>
          <a:xfrm>
            <a:off x="7838236" y="4275277"/>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In supervised learning the labels sit still. Here they are </a:t>
            </a:r>
            <a:r>
              <a:rPr sz="1045" b="1" i="0">
                <a:solidFill>
                  <a:srgbClr val="333639"/>
                </a:solidFill>
                <a:latin typeface="Fira Sans"/>
              </a:rPr>
              <a:t>computed by the very network being trained</a:t>
            </a:r>
            <a:r>
              <a:rPr sz="1045" b="0" i="0">
                <a:solidFill>
                  <a:srgbClr val="333639"/>
                </a:solidFill>
                <a:latin typeface="Fira Sans"/>
              </a:rPr>
              <a:t>, so every update changes them. The convergence guarantees of tabular Q-learning do not survive this.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3.3  WHICH TARGET? NFQ TAKES THE OFF-POLICY ONE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Any of the targets from Chapter 05 would fit here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Nothing so far forces a particular choice of target. The whole family from Chapter 05 is available</a:t>
            </a:r>
            <a:r>
              <a:rPr lang="it-IT" sz="1282" b="0" i="0" dirty="0">
                <a:solidFill>
                  <a:srgbClr val="333639"/>
                </a:solidFill>
                <a:latin typeface="Fira Sans"/>
              </a:rPr>
              <a:t>, </a:t>
            </a:r>
            <a:r>
              <a:rPr sz="1282" b="0" i="0" dirty="0">
                <a:solidFill>
                  <a:srgbClr val="333639"/>
                </a:solidFill>
                <a:latin typeface="Fira Sans"/>
              </a:rPr>
              <a:t> the question is only where to stop following real rewards and start trusting an estimate.</a:t>
            </a:r>
          </a:p>
        </p:txBody>
      </p:sp>
      <p:sp>
        <p:nvSpPr>
          <p:cNvPr id="9" name="TextBox 8"/>
          <p:cNvSpPr txBox="1"/>
          <p:nvPr/>
        </p:nvSpPr>
        <p:spPr>
          <a:xfrm>
            <a:off x="841248" y="1951746"/>
            <a:ext cx="242316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MC</a:t>
            </a:r>
          </a:p>
        </p:txBody>
      </p:sp>
      <p:pic>
        <p:nvPicPr>
          <p:cNvPr id="10" name="Picture 9" descr="tg_mc.png"/>
          <p:cNvPicPr>
            <a:picLocks noChangeAspect="1"/>
          </p:cNvPicPr>
          <p:nvPr/>
        </p:nvPicPr>
        <p:blipFill>
          <a:blip r:embed="rId2"/>
          <a:stretch>
            <a:fillRect/>
          </a:stretch>
        </p:blipFill>
        <p:spPr>
          <a:xfrm>
            <a:off x="1447091" y="1896710"/>
            <a:ext cx="578471" cy="2371904"/>
          </a:xfrm>
          <a:prstGeom prst="rect">
            <a:avLst/>
          </a:prstGeom>
        </p:spPr>
      </p:pic>
      <p:sp>
        <p:nvSpPr>
          <p:cNvPr id="11" name="TextBox 10"/>
          <p:cNvSpPr txBox="1"/>
          <p:nvPr/>
        </p:nvSpPr>
        <p:spPr>
          <a:xfrm>
            <a:off x="841248" y="4339708"/>
            <a:ext cx="2423160"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every reward to the terminal state; no bootstrapping</a:t>
            </a:r>
          </a:p>
        </p:txBody>
      </p:sp>
      <p:sp>
        <p:nvSpPr>
          <p:cNvPr id="12" name="TextBox 11"/>
          <p:cNvSpPr txBox="1"/>
          <p:nvPr/>
        </p:nvSpPr>
        <p:spPr>
          <a:xfrm>
            <a:off x="3538727" y="1951746"/>
            <a:ext cx="242316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TD</a:t>
            </a:r>
          </a:p>
        </p:txBody>
      </p:sp>
      <p:pic>
        <p:nvPicPr>
          <p:cNvPr id="13" name="Picture 12" descr="tg_td.png"/>
          <p:cNvPicPr>
            <a:picLocks noChangeAspect="1"/>
          </p:cNvPicPr>
          <p:nvPr/>
        </p:nvPicPr>
        <p:blipFill>
          <a:blip r:embed="rId3"/>
          <a:stretch>
            <a:fillRect/>
          </a:stretch>
        </p:blipFill>
        <p:spPr>
          <a:xfrm>
            <a:off x="4253343" y="1906941"/>
            <a:ext cx="700245" cy="1630804"/>
          </a:xfrm>
          <a:prstGeom prst="rect">
            <a:avLst/>
          </a:prstGeom>
        </p:spPr>
      </p:pic>
      <p:sp>
        <p:nvSpPr>
          <p:cNvPr id="14" name="TextBox 13"/>
          <p:cNvSpPr txBox="1"/>
          <p:nvPr/>
        </p:nvSpPr>
        <p:spPr>
          <a:xfrm>
            <a:off x="3538727" y="4339708"/>
            <a:ext cx="2423160"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one reward, then the value of the next state</a:t>
            </a:r>
          </a:p>
        </p:txBody>
      </p:sp>
      <p:sp>
        <p:nvSpPr>
          <p:cNvPr id="15" name="TextBox 14"/>
          <p:cNvSpPr txBox="1"/>
          <p:nvPr/>
        </p:nvSpPr>
        <p:spPr>
          <a:xfrm>
            <a:off x="6236207" y="1951746"/>
            <a:ext cx="242316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N-STEP</a:t>
            </a:r>
          </a:p>
        </p:txBody>
      </p:sp>
      <p:pic>
        <p:nvPicPr>
          <p:cNvPr id="16" name="Picture 15" descr="tg_nstep.png"/>
          <p:cNvPicPr>
            <a:picLocks noChangeAspect="1"/>
          </p:cNvPicPr>
          <p:nvPr/>
        </p:nvPicPr>
        <p:blipFill>
          <a:blip r:embed="rId4"/>
          <a:stretch>
            <a:fillRect/>
          </a:stretch>
        </p:blipFill>
        <p:spPr>
          <a:xfrm>
            <a:off x="7181369" y="1942507"/>
            <a:ext cx="578471" cy="2188519"/>
          </a:xfrm>
          <a:prstGeom prst="rect">
            <a:avLst/>
          </a:prstGeom>
        </p:spPr>
      </p:pic>
      <p:sp>
        <p:nvSpPr>
          <p:cNvPr id="17" name="TextBox 16"/>
          <p:cNvSpPr txBox="1"/>
          <p:nvPr/>
        </p:nvSpPr>
        <p:spPr>
          <a:xfrm>
            <a:off x="6236207" y="4339708"/>
            <a:ext cx="2423160" cy="18598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n real rewards before bootstrapping</a:t>
            </a:r>
          </a:p>
        </p:txBody>
      </p:sp>
      <p:sp>
        <p:nvSpPr>
          <p:cNvPr id="18" name="TextBox 17"/>
          <p:cNvSpPr txBox="1"/>
          <p:nvPr/>
        </p:nvSpPr>
        <p:spPr>
          <a:xfrm>
            <a:off x="8933688" y="1951746"/>
            <a:ext cx="242316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Λ</a:t>
            </a:r>
          </a:p>
        </p:txBody>
      </p:sp>
      <p:pic>
        <p:nvPicPr>
          <p:cNvPr id="19" name="Picture 18" descr="tg_lambda.png"/>
          <p:cNvPicPr>
            <a:picLocks noChangeAspect="1"/>
          </p:cNvPicPr>
          <p:nvPr/>
        </p:nvPicPr>
        <p:blipFill>
          <a:blip r:embed="rId5"/>
          <a:stretch>
            <a:fillRect/>
          </a:stretch>
        </p:blipFill>
        <p:spPr>
          <a:xfrm>
            <a:off x="9616366" y="1949050"/>
            <a:ext cx="717241" cy="2402532"/>
          </a:xfrm>
          <a:prstGeom prst="rect">
            <a:avLst/>
          </a:prstGeom>
        </p:spPr>
      </p:pic>
      <p:sp>
        <p:nvSpPr>
          <p:cNvPr id="20" name="TextBox 19"/>
          <p:cNvSpPr txBox="1"/>
          <p:nvPr/>
        </p:nvSpPr>
        <p:spPr>
          <a:xfrm>
            <a:off x="8933688" y="4339708"/>
            <a:ext cx="2423160"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an exponentially weighted mixture of all of them</a:t>
            </a:r>
          </a:p>
        </p:txBody>
      </p:sp>
      <p:sp>
        <p:nvSpPr>
          <p:cNvPr id="21" name="Rectangle 20"/>
          <p:cNvSpPr/>
          <p:nvPr/>
        </p:nvSpPr>
        <p:spPr>
          <a:xfrm>
            <a:off x="841248" y="474619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8" y="4884917"/>
            <a:ext cx="510235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8A5100"/>
                </a:solidFill>
                <a:latin typeface="Fira Sans"/>
              </a:rPr>
              <a:t>ON-POLICY  ·  SARSA</a:t>
            </a:r>
          </a:p>
        </p:txBody>
      </p:sp>
      <p:pic>
        <p:nvPicPr>
          <p:cNvPr id="23" name="Picture 22" descr="sarsa_tab.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248" y="5076847"/>
            <a:ext cx="4551807" cy="239394"/>
          </a:xfrm>
          <a:prstGeom prst="rect">
            <a:avLst/>
          </a:prstGeom>
        </p:spPr>
      </p:pic>
      <p:sp>
        <p:nvSpPr>
          <p:cNvPr id="24" name="TextBox 23"/>
          <p:cNvSpPr txBox="1"/>
          <p:nvPr/>
        </p:nvSpPr>
        <p:spPr>
          <a:xfrm>
            <a:off x="841248" y="5398437"/>
            <a:ext cx="5102352" cy="18598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Bootstraps from the action behavior will actually take next.</a:t>
            </a:r>
          </a:p>
        </p:txBody>
      </p:sp>
      <p:sp>
        <p:nvSpPr>
          <p:cNvPr id="25" name="TextBox 24"/>
          <p:cNvSpPr txBox="1"/>
          <p:nvPr/>
        </p:nvSpPr>
        <p:spPr>
          <a:xfrm>
            <a:off x="6248402" y="4884917"/>
            <a:ext cx="5102352"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dirty="0">
                <a:solidFill>
                  <a:srgbClr val="2B7A3E"/>
                </a:solidFill>
                <a:latin typeface="Fira Sans"/>
              </a:rPr>
              <a:t>OFF-POLICY  ·  Q-LEARNING</a:t>
            </a:r>
          </a:p>
        </p:txBody>
      </p:sp>
      <p:pic>
        <p:nvPicPr>
          <p:cNvPr id="26" name="Picture 25" descr="ql_tab.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54496" y="5076847"/>
            <a:ext cx="4683887" cy="302133"/>
          </a:xfrm>
          <a:prstGeom prst="rect">
            <a:avLst/>
          </a:prstGeom>
        </p:spPr>
      </p:pic>
      <p:sp>
        <p:nvSpPr>
          <p:cNvPr id="27" name="TextBox 26"/>
          <p:cNvSpPr txBox="1"/>
          <p:nvPr/>
        </p:nvSpPr>
        <p:spPr>
          <a:xfrm>
            <a:off x="6236207" y="5398437"/>
            <a:ext cx="5102352" cy="18598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dirty="0">
                <a:solidFill>
                  <a:srgbClr val="626669"/>
                </a:solidFill>
                <a:latin typeface="Fira Sans"/>
              </a:rPr>
              <a:t>Bootstraps from the best action available — whatever behavior does.</a:t>
            </a:r>
          </a:p>
        </p:txBody>
      </p:sp>
      <p:sp>
        <p:nvSpPr>
          <p:cNvPr id="28" name="TextBox 27"/>
          <p:cNvSpPr txBox="1"/>
          <p:nvPr/>
        </p:nvSpPr>
        <p:spPr>
          <a:xfrm>
            <a:off x="841248" y="576990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NFQ USES THE Q-LEARNING TARGET, SO ITS LOSS IS</a:t>
            </a:r>
          </a:p>
        </p:txBody>
      </p:sp>
      <p:pic>
        <p:nvPicPr>
          <p:cNvPr id="29" name="Picture 28" descr="nfq_loss.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64848" y="5912095"/>
            <a:ext cx="4462272" cy="4328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3.4  SEMI-GRADIENT DESCENT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We differentiate only half of the expression we wrote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 target contains </a:t>
            </a:r>
            <a:r>
              <a:rPr sz="1282" b="0" i="0" dirty="0" err="1">
                <a:solidFill>
                  <a:srgbClr val="333639"/>
                </a:solidFill>
                <a:latin typeface="Fira Sans"/>
              </a:rPr>
              <a:t>θ</a:t>
            </a:r>
            <a:r>
              <a:rPr sz="1282" b="0" i="0" dirty="0">
                <a:solidFill>
                  <a:srgbClr val="333639"/>
                </a:solidFill>
                <a:latin typeface="Fira Sans"/>
              </a:rPr>
              <a:t> as well</a:t>
            </a:r>
            <a:r>
              <a:rPr lang="it-IT" sz="1282" b="0" i="0" dirty="0">
                <a:solidFill>
                  <a:srgbClr val="333639"/>
                </a:solidFill>
                <a:latin typeface="Fira Sans"/>
              </a:rPr>
              <a:t>:</a:t>
            </a:r>
            <a:r>
              <a:rPr sz="1282" b="0" i="0" dirty="0">
                <a:solidFill>
                  <a:srgbClr val="333639"/>
                </a:solidFill>
                <a:latin typeface="Fira Sans"/>
              </a:rPr>
              <a:t> it is built from the same network. In principle the gradient should pass through both terms. </a:t>
            </a:r>
            <a:r>
              <a:rPr sz="1282" b="1" i="0" dirty="0">
                <a:solidFill>
                  <a:srgbClr val="C8102E"/>
                </a:solidFill>
                <a:latin typeface="Fira Sans"/>
              </a:rPr>
              <a:t>We deliberately do not let it.</a:t>
            </a:r>
          </a:p>
        </p:txBody>
      </p:sp>
      <p:sp>
        <p:nvSpPr>
          <p:cNvPr id="9" name="Rectangle 8"/>
          <p:cNvSpPr/>
          <p:nvPr/>
        </p:nvSpPr>
        <p:spPr>
          <a:xfrm>
            <a:off x="841248" y="1883624"/>
            <a:ext cx="10515600" cy="115214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pic>
        <p:nvPicPr>
          <p:cNvPr id="10" name="Picture 9" descr="nfq_loss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52914"/>
            <a:ext cx="4143375" cy="685800"/>
          </a:xfrm>
          <a:prstGeom prst="rect">
            <a:avLst/>
          </a:prstGeom>
        </p:spPr>
      </p:pic>
      <p:sp>
        <p:nvSpPr>
          <p:cNvPr id="11" name="TextBox 10"/>
          <p:cNvSpPr txBox="1"/>
          <p:nvPr/>
        </p:nvSpPr>
        <p:spPr>
          <a:xfrm>
            <a:off x="841248" y="3268482"/>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WITH THAT CONVENTION THE GRADIENT IS</a:t>
            </a:r>
          </a:p>
        </p:txBody>
      </p:sp>
      <p:pic>
        <p:nvPicPr>
          <p:cNvPr id="12" name="Picture 11" descr="semi_gra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402" y="3542802"/>
            <a:ext cx="5511164" cy="405765"/>
          </a:xfrm>
          <a:prstGeom prst="rect">
            <a:avLst/>
          </a:prstGeom>
        </p:spPr>
      </p:pic>
      <p:sp>
        <p:nvSpPr>
          <p:cNvPr id="13" name="Rectangle 12"/>
          <p:cNvSpPr/>
          <p:nvPr/>
        </p:nvSpPr>
        <p:spPr>
          <a:xfrm>
            <a:off x="1938528" y="4149735"/>
            <a:ext cx="8321040" cy="713232"/>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1938528" y="4149735"/>
            <a:ext cx="41148" cy="7132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semi_up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12848" y="4350903"/>
            <a:ext cx="4650105" cy="348615"/>
          </a:xfrm>
          <a:prstGeom prst="rect">
            <a:avLst/>
          </a:prstGeom>
        </p:spPr>
      </p:pic>
      <p:sp>
        <p:nvSpPr>
          <p:cNvPr id="16" name="Rectangle 15"/>
          <p:cNvSpPr/>
          <p:nvPr/>
        </p:nvSpPr>
        <p:spPr>
          <a:xfrm>
            <a:off x="841248" y="499098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5173863"/>
            <a:ext cx="3322320"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 y="5320167"/>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574676"/>
                </a:solidFill>
                <a:latin typeface="Fira Sans"/>
              </a:rPr>
              <a:t>WHY “SEMI”</a:t>
            </a:r>
          </a:p>
        </p:txBody>
      </p:sp>
      <p:sp>
        <p:nvSpPr>
          <p:cNvPr id="19" name="TextBox 18"/>
          <p:cNvSpPr txBox="1"/>
          <p:nvPr/>
        </p:nvSpPr>
        <p:spPr>
          <a:xfrm>
            <a:off x="841248" y="5506242"/>
            <a:ext cx="3322320"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Because the dependence of the target on </a:t>
            </a:r>
            <a:r>
              <a:rPr sz="1045" b="0" i="0" dirty="0" err="1">
                <a:solidFill>
                  <a:srgbClr val="626669"/>
                </a:solidFill>
                <a:latin typeface="Fira Sans"/>
              </a:rPr>
              <a:t>θ</a:t>
            </a:r>
            <a:r>
              <a:rPr sz="1045" b="0" i="0" dirty="0">
                <a:solidFill>
                  <a:srgbClr val="626669"/>
                </a:solidFill>
                <a:latin typeface="Fira Sans"/>
              </a:rPr>
              <a:t> is ignored, this is not the gradient of any loss function. It is a legitimate update rule, but calling it gradient descent is an abuse of language.</a:t>
            </a:r>
          </a:p>
        </p:txBody>
      </p:sp>
      <p:sp>
        <p:nvSpPr>
          <p:cNvPr id="20" name="Rectangle 19"/>
          <p:cNvSpPr/>
          <p:nvPr/>
        </p:nvSpPr>
        <p:spPr>
          <a:xfrm>
            <a:off x="4437888" y="5173863"/>
            <a:ext cx="3322320"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37888" y="5320167"/>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2B7A3E"/>
                </a:solidFill>
                <a:latin typeface="Fira Sans"/>
              </a:rPr>
              <a:t>IN PYTORCH</a:t>
            </a:r>
          </a:p>
        </p:txBody>
      </p:sp>
      <p:sp>
        <p:nvSpPr>
          <p:cNvPr id="22" name="TextBox 21"/>
          <p:cNvSpPr txBox="1"/>
          <p:nvPr/>
        </p:nvSpPr>
        <p:spPr>
          <a:xfrm>
            <a:off x="4437888" y="5523998"/>
            <a:ext cx="3322320"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This is what .detach() and </a:t>
            </a:r>
            <a:r>
              <a:rPr sz="1045" b="0" i="0" dirty="0" err="1">
                <a:solidFill>
                  <a:srgbClr val="626669"/>
                </a:solidFill>
                <a:latin typeface="Fira Sans"/>
              </a:rPr>
              <a:t>torch.no_grad</a:t>
            </a:r>
            <a:r>
              <a:rPr sz="1045" b="0" i="0" dirty="0">
                <a:solidFill>
                  <a:srgbClr val="626669"/>
                </a:solidFill>
                <a:latin typeface="Fira Sans"/>
              </a:rPr>
              <a:t>() are for: they stop the computational graph at the target, so backpropagation touches only the prediction.</a:t>
            </a:r>
          </a:p>
        </p:txBody>
      </p:sp>
      <p:sp>
        <p:nvSpPr>
          <p:cNvPr id="23" name="Rectangle 22"/>
          <p:cNvSpPr/>
          <p:nvPr/>
        </p:nvSpPr>
        <p:spPr>
          <a:xfrm>
            <a:off x="8034528" y="5173863"/>
            <a:ext cx="3322320"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034528" y="5320167"/>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8A5100"/>
                </a:solidFill>
                <a:latin typeface="Fira Sans"/>
              </a:rPr>
              <a:t>WHAT IT COSTS</a:t>
            </a:r>
          </a:p>
        </p:txBody>
      </p:sp>
      <p:sp>
        <p:nvSpPr>
          <p:cNvPr id="25" name="TextBox 24"/>
          <p:cNvSpPr txBox="1"/>
          <p:nvPr/>
        </p:nvSpPr>
        <p:spPr>
          <a:xfrm>
            <a:off x="8034528" y="5541752"/>
            <a:ext cx="3322320"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fixed-point argument behind tabular Q-learning no longer applies. In practice the update usually works</a:t>
            </a:r>
            <a:r>
              <a:rPr lang="it-IT" sz="1045" dirty="0">
                <a:solidFill>
                  <a:srgbClr val="626669"/>
                </a:solidFill>
                <a:latin typeface="Fira Sans"/>
              </a:rPr>
              <a:t>.</a:t>
            </a:r>
            <a:endParaRPr sz="1045" b="0" i="0" dirty="0">
              <a:solidFill>
                <a:srgbClr val="626669"/>
              </a:solidFill>
              <a:latin typeface="Fir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3.5  OPTIMISERS, AND THE ASSUMPTIONS THEY ARE BUILT 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Every one of those assumptions is false here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Minimising the loss uses the ordinary machinery of supervised learning. The question is not which optimiser is best, but whether the conditions they are analysed under hold at all.</a:t>
            </a:r>
          </a:p>
        </p:txBody>
      </p:sp>
      <p:sp>
        <p:nvSpPr>
          <p:cNvPr id="9" name="TextBox 8"/>
          <p:cNvSpPr txBox="1"/>
          <p:nvPr/>
        </p:nvSpPr>
        <p:spPr>
          <a:xfrm>
            <a:off x="841248" y="1970034"/>
            <a:ext cx="3322320" cy="219456"/>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1140" b="1" i="0">
                <a:solidFill>
                  <a:srgbClr val="25282A"/>
                </a:solidFill>
                <a:latin typeface="Fira Sans"/>
              </a:rPr>
              <a:t>Batch gradient descent</a:t>
            </a:r>
          </a:p>
        </p:txBody>
      </p:sp>
      <p:pic>
        <p:nvPicPr>
          <p:cNvPr id="10" name="Picture 9" descr="gd_batch.png"/>
          <p:cNvPicPr>
            <a:picLocks noChangeAspect="1"/>
          </p:cNvPicPr>
          <p:nvPr/>
        </p:nvPicPr>
        <p:blipFill>
          <a:blip r:embed="rId2"/>
          <a:stretch>
            <a:fillRect/>
          </a:stretch>
        </p:blipFill>
        <p:spPr>
          <a:xfrm>
            <a:off x="789671" y="2582181"/>
            <a:ext cx="3275374" cy="1322527"/>
          </a:xfrm>
          <a:prstGeom prst="rect">
            <a:avLst/>
          </a:prstGeom>
        </p:spPr>
      </p:pic>
      <p:sp>
        <p:nvSpPr>
          <p:cNvPr id="11" name="TextBox 10"/>
          <p:cNvSpPr txBox="1"/>
          <p:nvPr/>
        </p:nvSpPr>
        <p:spPr>
          <a:xfrm>
            <a:off x="816043" y="4316707"/>
            <a:ext cx="3322320"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The gradient over the whole dataset before each step: low variance, smooth descent, and one very expensive update.</a:t>
            </a:r>
          </a:p>
        </p:txBody>
      </p:sp>
      <p:sp>
        <p:nvSpPr>
          <p:cNvPr id="12" name="TextBox 11"/>
          <p:cNvSpPr txBox="1"/>
          <p:nvPr/>
        </p:nvSpPr>
        <p:spPr>
          <a:xfrm>
            <a:off x="4437888" y="1970034"/>
            <a:ext cx="3322320" cy="219456"/>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1140" b="1" i="0">
                <a:solidFill>
                  <a:srgbClr val="25282A"/>
                </a:solidFill>
                <a:latin typeface="Fira Sans"/>
              </a:rPr>
              <a:t>Mini-batch / SGD</a:t>
            </a:r>
          </a:p>
        </p:txBody>
      </p:sp>
      <p:pic>
        <p:nvPicPr>
          <p:cNvPr id="13" name="Picture 12" descr="gd_mini.png"/>
          <p:cNvPicPr>
            <a:picLocks noChangeAspect="1"/>
          </p:cNvPicPr>
          <p:nvPr/>
        </p:nvPicPr>
        <p:blipFill>
          <a:blip r:embed="rId3"/>
          <a:stretch>
            <a:fillRect/>
          </a:stretch>
        </p:blipFill>
        <p:spPr>
          <a:xfrm>
            <a:off x="4221930" y="2613424"/>
            <a:ext cx="3538278" cy="1322526"/>
          </a:xfrm>
          <a:prstGeom prst="rect">
            <a:avLst/>
          </a:prstGeom>
        </p:spPr>
      </p:pic>
      <p:sp>
        <p:nvSpPr>
          <p:cNvPr id="14" name="TextBox 13"/>
          <p:cNvSpPr txBox="1"/>
          <p:nvPr/>
        </p:nvSpPr>
        <p:spPr>
          <a:xfrm>
            <a:off x="4412683" y="4316707"/>
            <a:ext cx="3322320"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 subset per step — noisier updates, far more of them. One sample is stochastic gradient descent.</a:t>
            </a:r>
          </a:p>
        </p:txBody>
      </p:sp>
      <p:sp>
        <p:nvSpPr>
          <p:cNvPr id="15" name="TextBox 14"/>
          <p:cNvSpPr txBox="1"/>
          <p:nvPr/>
        </p:nvSpPr>
        <p:spPr>
          <a:xfrm>
            <a:off x="8034528" y="1970034"/>
            <a:ext cx="3322320" cy="219456"/>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1140" b="1" i="0">
                <a:solidFill>
                  <a:srgbClr val="25282A"/>
                </a:solidFill>
                <a:latin typeface="Fira Sans"/>
              </a:rPr>
              <a:t>Momentum, RMSprop, Adam</a:t>
            </a:r>
          </a:p>
        </p:txBody>
      </p:sp>
      <p:pic>
        <p:nvPicPr>
          <p:cNvPr id="16" name="Picture 15" descr="gd_momentum.png"/>
          <p:cNvPicPr>
            <a:picLocks noChangeAspect="1"/>
          </p:cNvPicPr>
          <p:nvPr/>
        </p:nvPicPr>
        <p:blipFill>
          <a:blip r:embed="rId4"/>
          <a:stretch>
            <a:fillRect/>
          </a:stretch>
        </p:blipFill>
        <p:spPr>
          <a:xfrm>
            <a:off x="8009047" y="2524878"/>
            <a:ext cx="3479608" cy="1322525"/>
          </a:xfrm>
          <a:prstGeom prst="rect">
            <a:avLst/>
          </a:prstGeom>
        </p:spPr>
      </p:pic>
      <p:sp>
        <p:nvSpPr>
          <p:cNvPr id="17" name="TextBox 16"/>
          <p:cNvSpPr txBox="1"/>
          <p:nvPr/>
        </p:nvSpPr>
        <p:spPr>
          <a:xfrm>
            <a:off x="8009323" y="4316707"/>
            <a:ext cx="3322320"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Momentum averages past gradients; RMSprop scales each parameter by its recent gradient magnitude; Adam does both.</a:t>
            </a:r>
          </a:p>
        </p:txBody>
      </p:sp>
      <p:sp>
        <p:nvSpPr>
          <p:cNvPr id="18" name="Rectangle 17"/>
          <p:cNvSpPr/>
          <p:nvPr/>
        </p:nvSpPr>
        <p:spPr>
          <a:xfrm>
            <a:off x="816043" y="493382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16043" y="5057546"/>
            <a:ext cx="5102352" cy="1196035"/>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16043" y="5057546"/>
            <a:ext cx="41148" cy="119603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35499" y="5203850"/>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THREE ASSUMPTIONS, ALL VIOLATED</a:t>
            </a:r>
          </a:p>
        </p:txBody>
      </p:sp>
      <p:sp>
        <p:nvSpPr>
          <p:cNvPr id="22" name="TextBox 21"/>
          <p:cNvSpPr txBox="1"/>
          <p:nvPr/>
        </p:nvSpPr>
        <p:spPr>
          <a:xfrm>
            <a:off x="1035499" y="5441594"/>
            <a:ext cx="4718304"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Standard analysis assumes samples are </a:t>
            </a:r>
            <a:r>
              <a:rPr sz="1092" b="1" i="0">
                <a:solidFill>
                  <a:srgbClr val="333639"/>
                </a:solidFill>
                <a:latin typeface="Fira Sans"/>
              </a:rPr>
              <a:t>independent and identically distributed</a:t>
            </a:r>
            <a:r>
              <a:rPr sz="1092" b="0" i="0">
                <a:solidFill>
                  <a:srgbClr val="333639"/>
                </a:solidFill>
                <a:latin typeface="Fira Sans"/>
              </a:rPr>
              <a:t> and targets are </a:t>
            </a:r>
            <a:r>
              <a:rPr sz="1092" b="1" i="0">
                <a:solidFill>
                  <a:srgbClr val="333639"/>
                </a:solidFill>
                <a:latin typeface="Fira Sans"/>
              </a:rPr>
              <a:t>stationary</a:t>
            </a:r>
            <a:r>
              <a:rPr sz="1092" b="0" i="0">
                <a:solidFill>
                  <a:srgbClr val="333639"/>
                </a:solidFill>
                <a:latin typeface="Fira Sans"/>
              </a:rPr>
              <a:t>. In RL consecutive transitions are strongly correlated, the data distribution shifts as the policy changes, and the targets move as the network is updated.</a:t>
            </a:r>
          </a:p>
        </p:txBody>
      </p:sp>
      <p:sp>
        <p:nvSpPr>
          <p:cNvPr id="23" name="Rectangle 22"/>
          <p:cNvSpPr/>
          <p:nvPr/>
        </p:nvSpPr>
        <p:spPr>
          <a:xfrm>
            <a:off x="6229291" y="5057546"/>
            <a:ext cx="5102352" cy="102961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6229291" y="5057546"/>
            <a:ext cx="41148" cy="102961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448747" y="5203850"/>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A PRACTICAL CONSEQUENCE</a:t>
            </a:r>
          </a:p>
        </p:txBody>
      </p:sp>
      <p:sp>
        <p:nvSpPr>
          <p:cNvPr id="26" name="TextBox 25"/>
          <p:cNvSpPr txBox="1"/>
          <p:nvPr/>
        </p:nvSpPr>
        <p:spPr>
          <a:xfrm>
            <a:off x="6448747" y="5441594"/>
            <a:ext cx="4718304"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Because of this the choice of </a:t>
            </a:r>
            <a:r>
              <a:rPr sz="1092" b="0" i="0" dirty="0" err="1">
                <a:solidFill>
                  <a:srgbClr val="333639"/>
                </a:solidFill>
                <a:latin typeface="Fira Sans"/>
              </a:rPr>
              <a:t>optimiser</a:t>
            </a:r>
            <a:r>
              <a:rPr sz="1092" b="0" i="0" dirty="0">
                <a:solidFill>
                  <a:srgbClr val="333639"/>
                </a:solidFill>
                <a:latin typeface="Fira Sans"/>
              </a:rPr>
              <a:t> matters more than it would in supervised learning. Robust adaptive methods</a:t>
            </a:r>
            <a:r>
              <a:rPr lang="it-IT" sz="1092" b="0" i="0" dirty="0">
                <a:solidFill>
                  <a:srgbClr val="333639"/>
                </a:solidFill>
                <a:latin typeface="Fira Sans"/>
              </a:rPr>
              <a:t>, like</a:t>
            </a:r>
            <a:r>
              <a:rPr sz="1092" b="0" i="0" dirty="0">
                <a:solidFill>
                  <a:srgbClr val="333639"/>
                </a:solidFill>
                <a:latin typeface="Fira Sans"/>
              </a:rPr>
              <a:t> </a:t>
            </a:r>
            <a:r>
              <a:rPr sz="1092" b="1" i="0" dirty="0">
                <a:solidFill>
                  <a:srgbClr val="333639"/>
                </a:solidFill>
                <a:latin typeface="Fira Sans"/>
              </a:rPr>
              <a:t>RMSprop and Adam</a:t>
            </a:r>
            <a:r>
              <a:rPr lang="it-IT" sz="1092" b="1" dirty="0">
                <a:solidFill>
                  <a:srgbClr val="333639"/>
                </a:solidFill>
                <a:latin typeface="Fira Sans"/>
              </a:rPr>
              <a:t>,</a:t>
            </a:r>
            <a:r>
              <a:rPr sz="1092" b="0" i="0" dirty="0">
                <a:solidFill>
                  <a:srgbClr val="333639"/>
                </a:solidFill>
                <a:latin typeface="Fira Sans"/>
              </a:rPr>
              <a:t> are the usual choices. The notebook uses RMSprop throughout.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3.6  WHY NOT JUST UPDATE AFTER EVERY TRANSITION?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Shared parameters are a gift and a hazard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most faithful imitation of tabular Q-learning would update the network after every single transition. With a table that is harmless, because each update touches one cell. With a network it is not.</a:t>
            </a:r>
          </a:p>
        </p:txBody>
      </p:sp>
      <p:sp>
        <p:nvSpPr>
          <p:cNvPr id="9" name="Rectangle 8"/>
          <p:cNvSpPr/>
          <p:nvPr/>
        </p:nvSpPr>
        <p:spPr>
          <a:xfrm>
            <a:off x="841248" y="1988322"/>
            <a:ext cx="5102352"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88322"/>
            <a:ext cx="5102352"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42416" y="2152914"/>
            <a:ext cx="470001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2B7A3E"/>
                </a:solidFill>
                <a:latin typeface="Fira Sans"/>
              </a:rPr>
              <a:t>THE GIFT</a:t>
            </a:r>
          </a:p>
        </p:txBody>
      </p:sp>
      <p:sp>
        <p:nvSpPr>
          <p:cNvPr id="12" name="TextBox 11"/>
          <p:cNvSpPr txBox="1"/>
          <p:nvPr/>
        </p:nvSpPr>
        <p:spPr>
          <a:xfrm>
            <a:off x="1042416" y="2463810"/>
            <a:ext cx="470001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same parameters serve many states, so an update learned in one part of the state space moves the estimates everywhere nearby. This sharing is exactly the generalisation we came for.</a:t>
            </a:r>
          </a:p>
        </p:txBody>
      </p:sp>
      <p:sp>
        <p:nvSpPr>
          <p:cNvPr id="13" name="Rectangle 12"/>
          <p:cNvSpPr/>
          <p:nvPr/>
        </p:nvSpPr>
        <p:spPr>
          <a:xfrm>
            <a:off x="6254496" y="1988322"/>
            <a:ext cx="5102352"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254496" y="1988322"/>
            <a:ext cx="5102352"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55664" y="2152914"/>
            <a:ext cx="470001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C8102E"/>
                </a:solidFill>
                <a:latin typeface="Fira Sans"/>
              </a:rPr>
              <a:t>THE HAZARD</a:t>
            </a:r>
          </a:p>
        </p:txBody>
      </p:sp>
      <p:sp>
        <p:nvSpPr>
          <p:cNvPr id="16" name="TextBox 15"/>
          <p:cNvSpPr txBox="1"/>
          <p:nvPr/>
        </p:nvSpPr>
        <p:spPr>
          <a:xfrm>
            <a:off x="6455664" y="2463810"/>
            <a:ext cx="470001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same sharing means each new experience can partially undo what the previous ones taught. Online, one transition at a time, learning becomes slow and unstable.</a:t>
            </a:r>
          </a:p>
        </p:txBody>
      </p:sp>
      <p:sp>
        <p:nvSpPr>
          <p:cNvPr id="17" name="TextBox 16"/>
          <p:cNvSpPr txBox="1"/>
          <p:nvPr/>
        </p:nvSpPr>
        <p:spPr>
          <a:xfrm>
            <a:off x="841248" y="378054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NFQ’S ANSWER: STOP LEARNING ONLINE, FIT A BATCH OFFLINE</a:t>
            </a:r>
          </a:p>
        </p:txBody>
      </p:sp>
      <p:sp>
        <p:nvSpPr>
          <p:cNvPr id="18" name="Rectangle 17"/>
          <p:cNvSpPr/>
          <p:nvPr/>
        </p:nvSpPr>
        <p:spPr>
          <a:xfrm>
            <a:off x="841248" y="4073154"/>
            <a:ext cx="5852160" cy="166420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41248" y="4073154"/>
            <a:ext cx="41148" cy="166420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24128" y="4155450"/>
            <a:ext cx="54864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create_experience_type</a:t>
            </a:r>
          </a:p>
        </p:txBody>
      </p:sp>
      <p:sp>
        <p:nvSpPr>
          <p:cNvPr id="21" name="TextBox 20"/>
          <p:cNvSpPr txBox="1"/>
          <p:nvPr/>
        </p:nvSpPr>
        <p:spPr>
          <a:xfrm>
            <a:off x="1024128" y="4457202"/>
            <a:ext cx="5541264" cy="1243584"/>
          </a:xfrm>
          <a:prstGeom prst="rect">
            <a:avLst/>
          </a:prstGeom>
          <a:noFill/>
        </p:spPr>
        <p:txBody>
          <a:bodyPr wrap="none" lIns="0" tIns="0" rIns="0" bIns="0" anchor="t">
            <a:noAutofit/>
          </a:bodyPr>
          <a:lstStyle/>
          <a:p>
            <a:pPr marL="0" indent="0" algn="l">
              <a:lnSpc>
                <a:spcPts val="1096"/>
              </a:lnSpc>
              <a:spcBef>
                <a:spcPts val="0"/>
              </a:spcBef>
              <a:spcAft>
                <a:spcPts val="0"/>
              </a:spcAft>
              <a:buNone/>
            </a:pPr>
            <a:r>
              <a:rPr sz="843" b="0" i="0">
                <a:solidFill>
                  <a:srgbClr val="1F2A37"/>
                </a:solidFill>
                <a:latin typeface="Consolas"/>
              </a:rPr>
              <a:t xml:space="preserve">def create_experience_type(env):</a:t>
            </a:r>
          </a:p>
          <a:p>
            <a:pPr marL="0" indent="0" algn="l">
              <a:lnSpc>
                <a:spcPts val="1096"/>
              </a:lnSpc>
              <a:spcBef>
                <a:spcPts val="0"/>
              </a:spcBef>
              <a:spcAft>
                <a:spcPts val="0"/>
              </a:spcAft>
              <a:buNone/>
            </a:pPr>
            <a:r>
              <a:rPr sz="843" b="0" i="0">
                <a:solidFill>
                  <a:srgbClr val="1F2A37"/>
                </a:solidFill>
                <a:latin typeface="Consolas"/>
              </a:rPr>
              <a:t xml:space="preserve">    state_shape = env.observation_space.shape</a:t>
            </a:r>
          </a:p>
          <a:p>
            <a:pPr marL="0" indent="0" algn="l">
              <a:lnSpc>
                <a:spcPts val="1096"/>
              </a:lnSpc>
              <a:spcBef>
                <a:spcPts val="0"/>
              </a:spcBef>
              <a:spcAft>
                <a:spcPts val="0"/>
              </a:spcAft>
              <a:buNone/>
            </a:pPr>
            <a:r>
              <a:rPr sz="843" b="0" i="0">
                <a:solidFill>
                  <a:srgbClr val="1F2A37"/>
                </a:solidFill>
                <a:latin typeface="Consolas"/>
              </a:rPr>
              <a:t xml:space="preserve">    return np.dtype([</a:t>
            </a:r>
          </a:p>
          <a:p>
            <a:pPr marL="0" indent="0" algn="l">
              <a:lnSpc>
                <a:spcPts val="1096"/>
              </a:lnSpc>
              <a:spcBef>
                <a:spcPts val="0"/>
              </a:spcBef>
              <a:spcAft>
                <a:spcPts val="0"/>
              </a:spcAft>
              <a:buNone/>
            </a:pPr>
            <a:r>
              <a:rPr sz="843" b="0" i="0">
                <a:solidFill>
                  <a:srgbClr val="1F2A37"/>
                </a:solidFill>
                <a:latin typeface="Consolas"/>
              </a:rPr>
              <a:t xml:space="preserve">        ("state",      np.float32, state_shape),</a:t>
            </a:r>
            <a:r>
              <a:rPr sz="843" b="0" i="0">
                <a:solidFill>
                  <a:srgbClr val="768896"/>
                </a:solidFill>
                <a:latin typeface="Consolas"/>
              </a:rPr>
              <a:t xml:space="preserve">  # observation before the action</a:t>
            </a:r>
          </a:p>
          <a:p>
            <a:pPr marL="0" indent="0" algn="l">
              <a:lnSpc>
                <a:spcPts val="1096"/>
              </a:lnSpc>
              <a:spcBef>
                <a:spcPts val="0"/>
              </a:spcBef>
              <a:spcAft>
                <a:spcPts val="0"/>
              </a:spcAft>
              <a:buNone/>
            </a:pPr>
            <a:r>
              <a:rPr sz="843" b="0" i="0">
                <a:solidFill>
                  <a:srgbClr val="1F2A37"/>
                </a:solidFill>
                <a:latin typeface="Consolas"/>
              </a:rPr>
              <a:t xml:space="preserve">        ("action",     np.int8),                </a:t>
            </a:r>
            <a:r>
              <a:rPr sz="843" b="0" i="0">
                <a:solidFill>
                  <a:srgbClr val="768896"/>
                </a:solidFill>
                <a:latin typeface="Consolas"/>
              </a:rPr>
              <a:t xml:space="preserve">  # discrete action selected</a:t>
            </a:r>
          </a:p>
          <a:p>
            <a:pPr marL="0" indent="0" algn="l">
              <a:lnSpc>
                <a:spcPts val="1096"/>
              </a:lnSpc>
              <a:spcBef>
                <a:spcPts val="0"/>
              </a:spcBef>
              <a:spcAft>
                <a:spcPts val="0"/>
              </a:spcAft>
              <a:buNone/>
            </a:pPr>
            <a:r>
              <a:rPr sz="843" b="0" i="0">
                <a:solidFill>
                  <a:srgbClr val="1F2A37"/>
                </a:solidFill>
                <a:latin typeface="Consolas"/>
              </a:rPr>
              <a:t xml:space="preserve">        ("reward",     np.float32),             </a:t>
            </a:r>
            <a:r>
              <a:rPr sz="843" b="0" i="0">
                <a:solidFill>
                  <a:srgbClr val="768896"/>
                </a:solidFill>
                <a:latin typeface="Consolas"/>
              </a:rPr>
              <a:t xml:space="preserve">  # immediate reward received</a:t>
            </a:r>
          </a:p>
          <a:p>
            <a:pPr marL="0" indent="0" algn="l">
              <a:lnSpc>
                <a:spcPts val="1096"/>
              </a:lnSpc>
              <a:spcBef>
                <a:spcPts val="0"/>
              </a:spcBef>
              <a:spcAft>
                <a:spcPts val="0"/>
              </a:spcAft>
              <a:buNone/>
            </a:pPr>
            <a:r>
              <a:rPr sz="843" b="0" i="0">
                <a:solidFill>
                  <a:srgbClr val="1F2A37"/>
                </a:solidFill>
                <a:latin typeface="Consolas"/>
              </a:rPr>
              <a:t xml:space="preserve">        ("next_state", np.float32, state_shape),</a:t>
            </a:r>
            <a:r>
              <a:rPr sz="843" b="0" i="0">
                <a:solidFill>
                  <a:srgbClr val="768896"/>
                </a:solidFill>
                <a:latin typeface="Consolas"/>
              </a:rPr>
              <a:t xml:space="preserve">  # observation after the action</a:t>
            </a:r>
          </a:p>
          <a:p>
            <a:pPr marL="0" indent="0" algn="l">
              <a:lnSpc>
                <a:spcPts val="1096"/>
              </a:lnSpc>
              <a:spcBef>
                <a:spcPts val="0"/>
              </a:spcBef>
              <a:spcAft>
                <a:spcPts val="0"/>
              </a:spcAft>
              <a:buNone/>
            </a:pPr>
            <a:r>
              <a:rPr sz="843" b="0" i="0">
                <a:solidFill>
                  <a:srgbClr val="1F2A37"/>
                </a:solidFill>
                <a:latin typeface="Consolas"/>
              </a:rPr>
              <a:t xml:space="preserve">        ("failure",    np.int8),                </a:t>
            </a:r>
            <a:r>
              <a:rPr sz="843" b="0" i="0">
                <a:solidFill>
                  <a:srgbClr val="768896"/>
                </a:solidFill>
                <a:latin typeface="Consolas"/>
              </a:rPr>
              <a:t xml:space="preserve">  # 1 if terminated, 0 otherwise</a:t>
            </a:r>
          </a:p>
          <a:p>
            <a:pPr marL="0" indent="0" algn="l">
              <a:lnSpc>
                <a:spcPts val="1096"/>
              </a:lnSpc>
              <a:spcBef>
                <a:spcPts val="0"/>
              </a:spcBef>
              <a:spcAft>
                <a:spcPts val="0"/>
              </a:spcAft>
              <a:buNone/>
            </a:pPr>
            <a:r>
              <a:rPr sz="843" b="0" i="0">
                <a:solidFill>
                  <a:srgbClr val="1F2A37"/>
                </a:solidFill>
                <a:latin typeface="Consolas"/>
              </a:rPr>
              <a:t xml:space="preserve">    ])</a:t>
            </a:r>
          </a:p>
        </p:txBody>
      </p:sp>
      <p:sp>
        <p:nvSpPr>
          <p:cNvPr id="22" name="TextBox 21"/>
          <p:cNvSpPr txBox="1"/>
          <p:nvPr/>
        </p:nvSpPr>
        <p:spPr>
          <a:xfrm>
            <a:off x="7004304" y="4164594"/>
            <a:ext cx="4352544" cy="1077798"/>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333639"/>
                </a:solidFill>
                <a:latin typeface="Fira Sans"/>
              </a:rPr>
              <a:t>A structured NumPy dtype rather than a list of tuples: the batch is then one contiguous array, and each field converts to a tensor in a single call.</a:t>
            </a:r>
          </a:p>
          <a:p>
            <a:pPr marL="0" indent="0" algn="l">
              <a:lnSpc>
                <a:spcPts val="1233"/>
              </a:lnSpc>
              <a:spcBef>
                <a:spcPts val="800"/>
              </a:spcBef>
              <a:spcAft>
                <a:spcPts val="0"/>
              </a:spcAft>
              <a:buNone/>
            </a:pPr>
            <a:r>
              <a:rPr sz="1045" b="0" i="0">
                <a:solidFill>
                  <a:srgbClr val="333639"/>
                </a:solidFill>
                <a:latin typeface="Fira Sans"/>
              </a:rPr>
              <a:t>The </a:t>
            </a:r>
            <a:r>
              <a:rPr sz="950" b="0" i="0">
                <a:solidFill>
                  <a:srgbClr val="25282A"/>
                </a:solidFill>
                <a:latin typeface="Consolas"/>
              </a:rPr>
              <a:t>failure</a:t>
            </a:r>
            <a:r>
              <a:rPr sz="1045" b="0" i="0">
                <a:solidFill>
                  <a:srgbClr val="333639"/>
                </a:solidFill>
                <a:latin typeface="Fira Sans"/>
              </a:rPr>
              <a:t> flag stores </a:t>
            </a:r>
            <a:r>
              <a:rPr sz="950" b="0" i="0">
                <a:solidFill>
                  <a:srgbClr val="25282A"/>
                </a:solidFill>
                <a:latin typeface="Consolas"/>
              </a:rPr>
              <a:t>terminated</a:t>
            </a:r>
            <a:r>
              <a:rPr sz="1045" b="0" i="0">
                <a:solidFill>
                  <a:srgbClr val="333639"/>
                </a:solidFill>
                <a:latin typeface="Fira Sans"/>
              </a:rPr>
              <a:t> alone. Confusing it with </a:t>
            </a:r>
            <a:r>
              <a:rPr sz="950" b="0" i="0">
                <a:solidFill>
                  <a:srgbClr val="25282A"/>
                </a:solidFill>
                <a:latin typeface="Consolas"/>
              </a:rPr>
              <a:t>truncated</a:t>
            </a:r>
            <a:r>
              <a:rPr sz="1045" b="0" i="0">
                <a:solidFill>
                  <a:srgbClr val="333639"/>
                </a:solidFill>
                <a:latin typeface="Fira Sans"/>
              </a:rPr>
              <a:t> would teach the agent that surviving 500 steps is as bad as dropping the pole.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3.7  FITTING THE BATCH</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Compute the targets once, then do ordinary supervised regression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21</a:t>
            </a:r>
          </a:p>
        </p:txBody>
      </p:sp>
      <p:sp>
        <p:nvSpPr>
          <p:cNvPr id="8" name="Rectangle 7"/>
          <p:cNvSpPr/>
          <p:nvPr/>
        </p:nvSpPr>
        <p:spPr>
          <a:xfrm>
            <a:off x="841248" y="1316735"/>
            <a:ext cx="6912864" cy="4408323"/>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54864" cy="4389120"/>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399032"/>
            <a:ext cx="6547103"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optimize_nfq</a:t>
            </a:r>
          </a:p>
        </p:txBody>
      </p:sp>
      <p:sp>
        <p:nvSpPr>
          <p:cNvPr id="11" name="TextBox 10"/>
          <p:cNvSpPr txBox="1"/>
          <p:nvPr/>
        </p:nvSpPr>
        <p:spPr>
          <a:xfrm>
            <a:off x="1024128" y="1700784"/>
            <a:ext cx="6601968" cy="3794912"/>
          </a:xfrm>
          <a:prstGeom prst="rect">
            <a:avLst/>
          </a:prstGeom>
          <a:noFill/>
        </p:spPr>
        <p:txBody>
          <a:bodyPr wrap="none" lIns="0" tIns="0" rIns="0" bIns="0" anchor="t">
            <a:noAutofit/>
          </a:bodyPr>
          <a:lstStyle/>
          <a:p>
            <a:pPr marL="0" indent="0" algn="l">
              <a:lnSpc>
                <a:spcPts val="1057"/>
              </a:lnSpc>
              <a:spcBef>
                <a:spcPts val="0"/>
              </a:spcBef>
              <a:spcAft>
                <a:spcPts val="0"/>
              </a:spcAft>
              <a:buNone/>
            </a:pPr>
            <a:r>
              <a:rPr sz="813" b="0" i="0">
                <a:solidFill>
                  <a:srgbClr val="1F2A37"/>
                </a:solidFill>
                <a:latin typeface="Consolas"/>
              </a:rPr>
              <a:t xml:space="preserve">def optimize_nfq(batch, q, optimizer, gamma, epochs):</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states      = torch.from_numpy(batch["state"].copy()).float()</a:t>
            </a:r>
          </a:p>
          <a:p>
            <a:pPr marL="0" indent="0" algn="l">
              <a:lnSpc>
                <a:spcPts val="1057"/>
              </a:lnSpc>
              <a:spcBef>
                <a:spcPts val="0"/>
              </a:spcBef>
              <a:spcAft>
                <a:spcPts val="0"/>
              </a:spcAft>
              <a:buNone/>
            </a:pPr>
            <a:r>
              <a:rPr sz="813" b="0" i="0">
                <a:solidFill>
                  <a:srgbClr val="1F2A37"/>
                </a:solidFill>
                <a:latin typeface="Consolas"/>
              </a:rPr>
              <a:t xml:space="preserve">    actions     = torch.from_numpy(batch["action"].copy()).long()</a:t>
            </a:r>
          </a:p>
          <a:p>
            <a:pPr marL="0" indent="0" algn="l">
              <a:lnSpc>
                <a:spcPts val="1057"/>
              </a:lnSpc>
              <a:spcBef>
                <a:spcPts val="0"/>
              </a:spcBef>
              <a:spcAft>
                <a:spcPts val="0"/>
              </a:spcAft>
              <a:buNone/>
            </a:pPr>
            <a:r>
              <a:rPr sz="813" b="0" i="0">
                <a:solidFill>
                  <a:srgbClr val="1F2A37"/>
                </a:solidFill>
                <a:latin typeface="Consolas"/>
              </a:rPr>
              <a:t xml:space="preserve">    rewards     = torch.from_numpy(batch["reward"].copy()).float()</a:t>
            </a:r>
          </a:p>
          <a:p>
            <a:pPr marL="0" indent="0" algn="l">
              <a:lnSpc>
                <a:spcPts val="1057"/>
              </a:lnSpc>
              <a:spcBef>
                <a:spcPts val="0"/>
              </a:spcBef>
              <a:spcAft>
                <a:spcPts val="0"/>
              </a:spcAft>
              <a:buNone/>
            </a:pPr>
            <a:r>
              <a:rPr sz="813" b="0" i="0">
                <a:solidFill>
                  <a:srgbClr val="1F2A37"/>
                </a:solidFill>
                <a:latin typeface="Consolas"/>
              </a:rPr>
              <a:t xml:space="preserve">    next_states = torch.from_numpy(batch["next_state"].copy()).float()</a:t>
            </a:r>
          </a:p>
          <a:p>
            <a:pPr marL="0" indent="0" algn="l">
              <a:lnSpc>
                <a:spcPts val="1057"/>
              </a:lnSpc>
              <a:spcBef>
                <a:spcPts val="0"/>
              </a:spcBef>
              <a:spcAft>
                <a:spcPts val="0"/>
              </a:spcAft>
              <a:buNone/>
            </a:pPr>
            <a:r>
              <a:rPr sz="813" b="0" i="0">
                <a:solidFill>
                  <a:srgbClr val="1F2A37"/>
                </a:solidFill>
                <a:latin typeface="Consolas"/>
              </a:rPr>
              <a:t xml:space="preserve">    failures    = torch.from_numpy(batch["failure"].copy()).float()</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768896"/>
                </a:solidFill>
                <a:latin typeface="Consolas"/>
              </a:rPr>
              <a:t xml:space="preserve">    # targets computed ONCE, with the current network;</a:t>
            </a:r>
          </a:p>
          <a:p>
            <a:pPr marL="0" indent="0" algn="l">
              <a:lnSpc>
                <a:spcPts val="1057"/>
              </a:lnSpc>
              <a:spcBef>
                <a:spcPts val="0"/>
              </a:spcBef>
              <a:spcAft>
                <a:spcPts val="0"/>
              </a:spcAft>
              <a:buNone/>
            </a:pPr>
            <a:r>
              <a:rPr sz="813" b="0" i="0">
                <a:solidFill>
                  <a:srgbClr val="768896"/>
                </a:solidFill>
                <a:latin typeface="Consolas"/>
              </a:rPr>
              <a:t xml:space="preserve">    # true terminal transitions use only the immediate reward</a:t>
            </a:r>
          </a:p>
          <a:p>
            <a:pPr marL="0" indent="0" algn="l">
              <a:lnSpc>
                <a:spcPts val="1057"/>
              </a:lnSpc>
              <a:spcBef>
                <a:spcPts val="0"/>
              </a:spcBef>
              <a:spcAft>
                <a:spcPts val="0"/>
              </a:spcAft>
              <a:buNone/>
            </a:pPr>
            <a:r>
              <a:rPr sz="813" b="0" i="0">
                <a:solidFill>
                  <a:srgbClr val="574676"/>
                </a:solidFill>
                <a:latin typeface="Consolas"/>
              </a:rPr>
              <a:t xml:space="preserve">    with torch.no_grad():</a:t>
            </a:r>
          </a:p>
          <a:p>
            <a:pPr marL="0" indent="0" algn="l">
              <a:lnSpc>
                <a:spcPts val="1057"/>
              </a:lnSpc>
              <a:spcBef>
                <a:spcPts val="0"/>
              </a:spcBef>
              <a:spcAft>
                <a:spcPts val="0"/>
              </a:spcAft>
              <a:buNone/>
            </a:pPr>
            <a:r>
              <a:rPr sz="813" b="0" i="0">
                <a:solidFill>
                  <a:srgbClr val="1F2A37"/>
                </a:solidFill>
                <a:latin typeface="Consolas"/>
              </a:rPr>
              <a:t xml:space="preserve">        max_q_next = q(next_states).max(dim=1).values</a:t>
            </a:r>
          </a:p>
          <a:p>
            <a:pPr marL="0" indent="0" algn="l">
              <a:lnSpc>
                <a:spcPts val="1057"/>
              </a:lnSpc>
              <a:spcBef>
                <a:spcPts val="0"/>
              </a:spcBef>
              <a:spcAft>
                <a:spcPts val="0"/>
              </a:spcAft>
              <a:buNone/>
            </a:pPr>
            <a:r>
              <a:rPr sz="813" b="0" i="0">
                <a:solidFill>
                  <a:srgbClr val="1F2A37"/>
                </a:solidFill>
                <a:latin typeface="Consolas"/>
              </a:rPr>
              <a:t xml:space="preserve">        target = rewards + gamma * max_q_next * (1.0 - failures)</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768896"/>
                </a:solidFill>
                <a:latin typeface="Consolas"/>
              </a:rPr>
              <a:t xml:space="preserve">    # then fit to them for several epochs: labels are now fixed</a:t>
            </a:r>
          </a:p>
          <a:p>
            <a:pPr marL="0" indent="0" algn="l">
              <a:lnSpc>
                <a:spcPts val="1057"/>
              </a:lnSpc>
              <a:spcBef>
                <a:spcPts val="0"/>
              </a:spcBef>
              <a:spcAft>
                <a:spcPts val="0"/>
              </a:spcAft>
              <a:buNone/>
            </a:pPr>
            <a:r>
              <a:rPr sz="813" b="0" i="0">
                <a:solidFill>
                  <a:srgbClr val="1F2A37"/>
                </a:solidFill>
                <a:latin typeface="Consolas"/>
              </a:rPr>
              <a:t xml:space="preserve">    for epoch in range(epochs):</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768896"/>
                </a:solidFill>
                <a:latin typeface="Consolas"/>
              </a:rPr>
              <a:t xml:space="preserve">        # Q(s, a) for the action actually taken in each transition</a:t>
            </a:r>
          </a:p>
          <a:p>
            <a:pPr marL="0" indent="0" algn="l">
              <a:lnSpc>
                <a:spcPts val="1057"/>
              </a:lnSpc>
              <a:spcBef>
                <a:spcPts val="0"/>
              </a:spcBef>
              <a:spcAft>
                <a:spcPts val="0"/>
              </a:spcAft>
              <a:buNone/>
            </a:pPr>
            <a:r>
              <a:rPr sz="813" b="0" i="0">
                <a:solidFill>
                  <a:srgbClr val="1F2A37"/>
                </a:solidFill>
                <a:latin typeface="Consolas"/>
              </a:rPr>
              <a:t xml:space="preserve">        q_current = q(states).gather(1, actions.unsqueeze(1)).squeeze(1)</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loss = (target - q_current).pow(2).mean()</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optimizer.zero_grad()</a:t>
            </a:r>
          </a:p>
          <a:p>
            <a:pPr marL="0" indent="0" algn="l">
              <a:lnSpc>
                <a:spcPts val="1057"/>
              </a:lnSpc>
              <a:spcBef>
                <a:spcPts val="0"/>
              </a:spcBef>
              <a:spcAft>
                <a:spcPts val="0"/>
              </a:spcAft>
              <a:buNone/>
            </a:pPr>
            <a:r>
              <a:rPr sz="813" b="0" i="0">
                <a:solidFill>
                  <a:srgbClr val="1F2A37"/>
                </a:solidFill>
                <a:latin typeface="Consolas"/>
              </a:rPr>
              <a:t xml:space="preserve">        loss.backward()</a:t>
            </a:r>
          </a:p>
          <a:p>
            <a:pPr marL="0" indent="0" algn="l">
              <a:lnSpc>
                <a:spcPts val="1057"/>
              </a:lnSpc>
              <a:spcBef>
                <a:spcPts val="0"/>
              </a:spcBef>
              <a:spcAft>
                <a:spcPts val="0"/>
              </a:spcAft>
              <a:buNone/>
            </a:pPr>
            <a:r>
              <a:rPr sz="813" b="0" i="0">
                <a:solidFill>
                  <a:srgbClr val="1F2A37"/>
                </a:solidFill>
                <a:latin typeface="Consolas"/>
              </a:rPr>
              <a:t xml:space="preserve">        optimizer.step()</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return loss.item()</a:t>
            </a:r>
          </a:p>
        </p:txBody>
      </p:sp>
      <p:sp>
        <p:nvSpPr>
          <p:cNvPr id="12" name="TextBox 11"/>
          <p:cNvSpPr txBox="1"/>
          <p:nvPr/>
        </p:nvSpPr>
        <p:spPr>
          <a:xfrm>
            <a:off x="7991856" y="1316736"/>
            <a:ext cx="335886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ONE IDEA ON THIS SLIDE</a:t>
            </a:r>
          </a:p>
        </p:txBody>
      </p:sp>
      <p:pic>
        <p:nvPicPr>
          <p:cNvPr id="13" name="Picture 12" descr="target_fix.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91856" y="1572768"/>
            <a:ext cx="3358865" cy="258599"/>
          </a:xfrm>
          <a:prstGeom prst="rect">
            <a:avLst/>
          </a:prstGeom>
        </p:spPr>
      </p:pic>
      <p:sp>
        <p:nvSpPr>
          <p:cNvPr id="14" name="Rectangle 13"/>
          <p:cNvSpPr/>
          <p:nvPr/>
        </p:nvSpPr>
        <p:spPr>
          <a:xfrm>
            <a:off x="7991856" y="1995959"/>
            <a:ext cx="3358865" cy="1088897"/>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991856" y="1995959"/>
            <a:ext cx="41148" cy="108889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11312" y="2142263"/>
            <a:ext cx="2974817" cy="796289"/>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Inside the epoch loop the problem is </a:t>
            </a:r>
            <a:r>
              <a:rPr sz="1045" b="1" i="0">
                <a:solidFill>
                  <a:srgbClr val="333639"/>
                </a:solidFill>
                <a:latin typeface="Fira Sans"/>
              </a:rPr>
              <a:t>exactly supervised regression</a:t>
            </a:r>
            <a:r>
              <a:rPr sz="1045" b="0" i="0">
                <a:solidFill>
                  <a:srgbClr val="333639"/>
                </a:solidFill>
                <a:latin typeface="Fira Sans"/>
              </a:rPr>
              <a:t>: fixed inputs, fixed labels, mean squared error. All the instability lives outside the loop, in the fact that the labels are recomputed for the next batch.</a:t>
            </a:r>
          </a:p>
        </p:txBody>
      </p:sp>
      <p:pic>
        <p:nvPicPr>
          <p:cNvPr id="17" name="Picture 16" descr="mse_batch.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1856" y="3249449"/>
            <a:ext cx="2324608" cy="546481"/>
          </a:xfrm>
          <a:prstGeom prst="rect">
            <a:avLst/>
          </a:prstGeom>
        </p:spPr>
      </p:pic>
      <p:sp>
        <p:nvSpPr>
          <p:cNvPr id="18" name="Rectangle 17"/>
          <p:cNvSpPr/>
          <p:nvPr/>
        </p:nvSpPr>
        <p:spPr>
          <a:xfrm>
            <a:off x="7991856" y="3978810"/>
            <a:ext cx="3358865" cy="1138123"/>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991856" y="3978810"/>
            <a:ext cx="41148" cy="1138123"/>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211312" y="4125114"/>
            <a:ext cx="306625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WHY GATHER</a:t>
            </a:r>
          </a:p>
        </p:txBody>
      </p:sp>
      <p:sp>
        <p:nvSpPr>
          <p:cNvPr id="21" name="TextBox 20"/>
          <p:cNvSpPr txBox="1"/>
          <p:nvPr/>
        </p:nvSpPr>
        <p:spPr>
          <a:xfrm>
            <a:off x="8211312" y="4362858"/>
            <a:ext cx="2974817"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50" b="0" i="0">
                <a:solidFill>
                  <a:srgbClr val="25282A"/>
                </a:solidFill>
                <a:latin typeface="Consolas"/>
              </a:rPr>
              <a:t>gather</a:t>
            </a:r>
            <a:r>
              <a:rPr sz="997" b="0" i="0">
                <a:solidFill>
                  <a:srgbClr val="333639"/>
                </a:solidFill>
                <a:latin typeface="Fira Sans"/>
              </a:rPr>
              <a:t> picks, for each transition, the output unit of the action that was actually taken. The other outputs receive no gradient — we have no target for actions we did not try.</a:t>
            </a:r>
          </a:p>
        </p:txBody>
      </p:sp>
      <p:sp>
        <p:nvSpPr>
          <p:cNvPr id="22" name="Rectangle 21"/>
          <p:cNvSpPr/>
          <p:nvPr/>
        </p:nvSpPr>
        <p:spPr>
          <a:xfrm>
            <a:off x="7991856" y="5281525"/>
            <a:ext cx="3358865" cy="900379"/>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991856" y="5281525"/>
            <a:ext cx="41148" cy="90037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11312" y="5427829"/>
            <a:ext cx="2974817"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Forty epochs on the same 1024 transitions (sixteen in the tuned experiment) is a lot of fitting. It makes each step decisive — and makes the next batch of targets jump correspondingly far.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3.8  THE ALGORITHM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Collect a batch, compute its targets, fit, repeat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22</a:t>
            </a:r>
          </a:p>
        </p:txBody>
      </p:sp>
      <p:sp>
        <p:nvSpPr>
          <p:cNvPr id="8" name="Rectangle 7"/>
          <p:cNvSpPr/>
          <p:nvPr/>
        </p:nvSpPr>
        <p:spPr>
          <a:xfrm>
            <a:off x="841248" y="1316736"/>
            <a:ext cx="6912864" cy="4992624"/>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41148" cy="4992624"/>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399032"/>
            <a:ext cx="6547103"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nfq</a:t>
            </a:r>
          </a:p>
        </p:txBody>
      </p:sp>
      <p:sp>
        <p:nvSpPr>
          <p:cNvPr id="11" name="TextBox 10"/>
          <p:cNvSpPr txBox="1"/>
          <p:nvPr/>
        </p:nvSpPr>
        <p:spPr>
          <a:xfrm>
            <a:off x="1024128" y="1700784"/>
            <a:ext cx="6601968" cy="4480560"/>
          </a:xfrm>
          <a:prstGeom prst="rect">
            <a:avLst/>
          </a:prstGeom>
          <a:noFill/>
        </p:spPr>
        <p:txBody>
          <a:bodyPr wrap="none" lIns="0" tIns="0" rIns="0" bIns="0" anchor="t">
            <a:noAutofit/>
          </a:bodyPr>
          <a:lstStyle/>
          <a:p>
            <a:pPr marL="0" indent="0" algn="l">
              <a:lnSpc>
                <a:spcPts val="1019"/>
              </a:lnSpc>
              <a:spcBef>
                <a:spcPts val="0"/>
              </a:spcBef>
              <a:spcAft>
                <a:spcPts val="0"/>
              </a:spcAft>
              <a:buNone/>
            </a:pPr>
            <a:r>
              <a:rPr sz="784" b="0" i="0">
                <a:solidFill>
                  <a:srgbClr val="1F2A37"/>
                </a:solidFill>
                <a:latin typeface="Consolas"/>
              </a:rPr>
              <a:t xml:space="preserve">def nfq(env, max_episodes, hidden_sizes=(512, 128), learning_rate=0.007,</a:t>
            </a:r>
          </a:p>
          <a:p>
            <a:pPr marL="0" indent="0" algn="l">
              <a:lnSpc>
                <a:spcPts val="1019"/>
              </a:lnSpc>
              <a:spcBef>
                <a:spcPts val="0"/>
              </a:spcBef>
              <a:spcAft>
                <a:spcPts val="0"/>
              </a:spcAft>
              <a:buNone/>
            </a:pPr>
            <a:r>
              <a:rPr sz="784" b="0" i="0">
                <a:solidFill>
                  <a:srgbClr val="1F2A37"/>
                </a:solidFill>
                <a:latin typeface="Consolas"/>
              </a:rPr>
              <a:t xml:space="preserve">        batch_size=1024, epochs=40, gamma=0.99, epsilon=0.5, ...):</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q = create_network(env, hidden_sizes)</a:t>
            </a:r>
          </a:p>
          <a:p>
            <a:pPr marL="0" indent="0" algn="l">
              <a:lnSpc>
                <a:spcPts val="1019"/>
              </a:lnSpc>
              <a:spcBef>
                <a:spcPts val="0"/>
              </a:spcBef>
              <a:spcAft>
                <a:spcPts val="0"/>
              </a:spcAft>
              <a:buNone/>
            </a:pPr>
            <a:r>
              <a:rPr sz="784" b="0" i="0">
                <a:solidFill>
                  <a:srgbClr val="1F2A37"/>
                </a:solidFill>
                <a:latin typeface="Consolas"/>
              </a:rPr>
              <a:t xml:space="preserve">    optimizer = create_optimizer(q, learning_rate)      </a:t>
            </a:r>
            <a:r>
              <a:rPr sz="784" b="0" i="0">
                <a:solidFill>
                  <a:srgbClr val="768896"/>
                </a:solidFill>
                <a:latin typeface="Consolas"/>
              </a:rPr>
              <a:t xml:space="preserve">  # RMSprop</a:t>
            </a:r>
          </a:p>
          <a:p>
            <a:pPr marL="0" indent="0" algn="l">
              <a:lnSpc>
                <a:spcPts val="1019"/>
              </a:lnSpc>
              <a:spcBef>
                <a:spcPts val="0"/>
              </a:spcBef>
              <a:spcAft>
                <a:spcPts val="0"/>
              </a:spcAft>
              <a:buNone/>
            </a:pPr>
            <a:r>
              <a:rPr sz="784" b="0" i="0">
                <a:solidFill>
                  <a:srgbClr val="1F2A37"/>
                </a:solidFill>
                <a:latin typeface="Consolas"/>
              </a:rPr>
              <a:t xml:space="preserve">    greedy_policy = GreedyPolicy(q)</a:t>
            </a:r>
          </a:p>
          <a:p>
            <a:pPr marL="0" indent="0" algn="l">
              <a:lnSpc>
                <a:spcPts val="1019"/>
              </a:lnSpc>
              <a:spcBef>
                <a:spcPts val="0"/>
              </a:spcBef>
              <a:spcAft>
                <a:spcPts val="0"/>
              </a:spcAft>
              <a:buNone/>
            </a:pPr>
            <a:r>
              <a:rPr sz="784" b="0" i="0">
                <a:solidFill>
                  <a:srgbClr val="1F2A37"/>
                </a:solidFill>
                <a:latin typeface="Consolas"/>
              </a:rPr>
              <a:t xml:space="preserve">    exploratory_policy = EpsilonGreedyPolicy(env, q, epsilon)</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batch = np.empty(batch_size, dtype=create_experience_type(env))</a:t>
            </a:r>
          </a:p>
          <a:p>
            <a:pPr marL="0" indent="0" algn="l">
              <a:lnSpc>
                <a:spcPts val="1019"/>
              </a:lnSpc>
              <a:spcBef>
                <a:spcPts val="0"/>
              </a:spcBef>
              <a:spcAft>
                <a:spcPts val="0"/>
              </a:spcAft>
              <a:buNone/>
            </a:pPr>
            <a:r>
              <a:rPr sz="784" b="0" i="0">
                <a:solidFill>
                  <a:srgbClr val="1F2A37"/>
                </a:solidFill>
                <a:latin typeface="Consolas"/>
              </a:rPr>
              <a:t xml:space="preserve">    index, scores = 0, []</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for episode in range(max_episodes):</a:t>
            </a:r>
          </a:p>
          <a:p>
            <a:pPr marL="0" indent="0" algn="l">
              <a:lnSpc>
                <a:spcPts val="1019"/>
              </a:lnSpc>
              <a:spcBef>
                <a:spcPts val="0"/>
              </a:spcBef>
              <a:spcAft>
                <a:spcPts val="0"/>
              </a:spcAft>
              <a:buNone/>
            </a:pPr>
            <a:r>
              <a:rPr sz="784" b="0" i="0">
                <a:solidFill>
                  <a:srgbClr val="1F2A37"/>
                </a:solidFill>
                <a:latin typeface="Consolas"/>
              </a:rPr>
              <a:t xml:space="preserve">        state, _ = env.reset()</a:t>
            </a:r>
          </a:p>
          <a:p>
            <a:pPr marL="0" indent="0" algn="l">
              <a:lnSpc>
                <a:spcPts val="1019"/>
              </a:lnSpc>
              <a:spcBef>
                <a:spcPts val="0"/>
              </a:spcBef>
              <a:spcAft>
                <a:spcPts val="0"/>
              </a:spcAft>
              <a:buNone/>
            </a:pPr>
            <a:r>
              <a:rPr sz="784" b="0" i="0">
                <a:solidFill>
                  <a:srgbClr val="1F2A37"/>
                </a:solidFill>
                <a:latin typeface="Consolas"/>
              </a:rPr>
              <a:t xml:space="preserve">        done = False</a:t>
            </a:r>
          </a:p>
          <a:p>
            <a:pPr marL="0" indent="0" algn="l">
              <a:lnSpc>
                <a:spcPts val="1019"/>
              </a:lnSpc>
              <a:spcBef>
                <a:spcPts val="0"/>
              </a:spcBef>
              <a:spcAft>
                <a:spcPts val="0"/>
              </a:spcAft>
              <a:buNone/>
            </a:pPr>
            <a:r>
              <a:rPr sz="784" b="0" i="0">
                <a:solidFill>
                  <a:srgbClr val="1F2A37"/>
                </a:solidFill>
                <a:latin typeface="Consolas"/>
              </a:rPr>
              <a:t xml:space="preserve">        while not done:</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768896"/>
                </a:solidFill>
                <a:latin typeface="Consolas"/>
              </a:rPr>
              <a:t xml:space="preserve">            # behave with the exploratory policy</a:t>
            </a:r>
          </a:p>
          <a:p>
            <a:pPr marL="0" indent="0" algn="l">
              <a:lnSpc>
                <a:spcPts val="1019"/>
              </a:lnSpc>
              <a:spcBef>
                <a:spcPts val="0"/>
              </a:spcBef>
              <a:spcAft>
                <a:spcPts val="0"/>
              </a:spcAft>
              <a:buNone/>
            </a:pPr>
            <a:r>
              <a:rPr sz="784" b="0" i="0">
                <a:solidFill>
                  <a:srgbClr val="1F2A37"/>
                </a:solidFill>
                <a:latin typeface="Consolas"/>
              </a:rPr>
              <a:t xml:space="preserve">            action = exploratory_policy.select_action(state)</a:t>
            </a:r>
          </a:p>
          <a:p>
            <a:pPr marL="0" indent="0" algn="l">
              <a:lnSpc>
                <a:spcPts val="1019"/>
              </a:lnSpc>
              <a:spcBef>
                <a:spcPts val="0"/>
              </a:spcBef>
              <a:spcAft>
                <a:spcPts val="0"/>
              </a:spcAft>
              <a:buNone/>
            </a:pPr>
            <a:r>
              <a:rPr sz="784" b="0" i="0">
                <a:solidFill>
                  <a:srgbClr val="1F2A37"/>
                </a:solidFill>
                <a:latin typeface="Consolas"/>
              </a:rPr>
              <a:t xml:space="preserve">            next_state, reward, terminated, truncated, _ = env.step(action)</a:t>
            </a:r>
          </a:p>
          <a:p>
            <a:pPr marL="0" indent="0" algn="l">
              <a:lnSpc>
                <a:spcPts val="1019"/>
              </a:lnSpc>
              <a:spcBef>
                <a:spcPts val="0"/>
              </a:spcBef>
              <a:spcAft>
                <a:spcPts val="0"/>
              </a:spcAft>
              <a:buNone/>
            </a:pPr>
            <a:r>
              <a:rPr sz="784" b="0" i="0">
                <a:solidFill>
                  <a:srgbClr val="1F2A37"/>
                </a:solidFill>
                <a:latin typeface="Consolas"/>
              </a:rPr>
              <a:t xml:space="preserve">            done = terminated or truncated</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batch[index] = (state, action, reward, next_state, terminated)</a:t>
            </a:r>
          </a:p>
          <a:p>
            <a:pPr marL="0" indent="0" algn="l">
              <a:lnSpc>
                <a:spcPts val="1019"/>
              </a:lnSpc>
              <a:spcBef>
                <a:spcPts val="0"/>
              </a:spcBef>
              <a:spcAft>
                <a:spcPts val="0"/>
              </a:spcAft>
              <a:buNone/>
            </a:pPr>
            <a:r>
              <a:rPr sz="784" b="0" i="0">
                <a:solidFill>
                  <a:srgbClr val="1F2A37"/>
                </a:solidFill>
                <a:latin typeface="Consolas"/>
              </a:rPr>
              <a:t xml:space="preserve">            index += 1</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768896"/>
                </a:solidFill>
                <a:latin typeface="Consolas"/>
              </a:rPr>
              <a:t xml:space="preserve">            # batch full: fit it, then reuse its storage for new transitions</a:t>
            </a:r>
          </a:p>
          <a:p>
            <a:pPr marL="0" indent="0" algn="l">
              <a:lnSpc>
                <a:spcPts val="1019"/>
              </a:lnSpc>
              <a:spcBef>
                <a:spcPts val="0"/>
              </a:spcBef>
              <a:spcAft>
                <a:spcPts val="0"/>
              </a:spcAft>
              <a:buNone/>
            </a:pPr>
            <a:r>
              <a:rPr sz="784" b="0" i="0">
                <a:solidFill>
                  <a:srgbClr val="1F2A37"/>
                </a:solidFill>
                <a:latin typeface="Consolas"/>
              </a:rPr>
              <a:t xml:space="preserve">            if index == batch_size:</a:t>
            </a:r>
          </a:p>
          <a:p>
            <a:pPr marL="0" indent="0" algn="l">
              <a:lnSpc>
                <a:spcPts val="1019"/>
              </a:lnSpc>
              <a:spcBef>
                <a:spcPts val="0"/>
              </a:spcBef>
              <a:spcAft>
                <a:spcPts val="0"/>
              </a:spcAft>
              <a:buNone/>
            </a:pPr>
            <a:r>
              <a:rPr sz="784" b="0" i="0">
                <a:solidFill>
                  <a:srgbClr val="1F2A37"/>
                </a:solidFill>
                <a:latin typeface="Consolas"/>
              </a:rPr>
              <a:t xml:space="preserve">                optimize_nfq(batch, q, optimizer, gamma, epochs)</a:t>
            </a:r>
          </a:p>
          <a:p>
            <a:pPr marL="0" indent="0" algn="l">
              <a:lnSpc>
                <a:spcPts val="1019"/>
              </a:lnSpc>
              <a:spcBef>
                <a:spcPts val="0"/>
              </a:spcBef>
              <a:spcAft>
                <a:spcPts val="0"/>
              </a:spcAft>
              <a:buNone/>
            </a:pPr>
            <a:r>
              <a:rPr sz="784" b="0" i="0">
                <a:solidFill>
                  <a:srgbClr val="1F2A37"/>
                </a:solidFill>
                <a:latin typeface="Consolas"/>
              </a:rPr>
              <a:t xml:space="preserve">                index = 0</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state = next_state</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768896"/>
                </a:solidFill>
                <a:latin typeface="Consolas"/>
              </a:rPr>
              <a:t xml:space="preserve">        # score the GREEDY policy, not the exploratory one</a:t>
            </a:r>
          </a:p>
          <a:p>
            <a:pPr marL="0" indent="0" algn="l">
              <a:lnSpc>
                <a:spcPts val="1019"/>
              </a:lnSpc>
              <a:spcBef>
                <a:spcPts val="0"/>
              </a:spcBef>
              <a:spcAft>
                <a:spcPts val="0"/>
              </a:spcAft>
              <a:buNone/>
            </a:pPr>
            <a:r>
              <a:rPr sz="784" b="0" i="0">
                <a:solidFill>
                  <a:srgbClr val="1F2A37"/>
                </a:solidFill>
                <a:latin typeface="Consolas"/>
              </a:rPr>
              <a:t xml:space="preserve">        scores.append(evaluate(env, greedy_policy, episodes=10))</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return {"scores": np.asarray(scores), "network": q}</a:t>
            </a:r>
          </a:p>
        </p:txBody>
      </p:sp>
      <p:pic>
        <p:nvPicPr>
          <p:cNvPr id="12" name="Picture 11" descr="nfq_loop.png"/>
          <p:cNvPicPr>
            <a:picLocks noChangeAspect="1"/>
          </p:cNvPicPr>
          <p:nvPr/>
        </p:nvPicPr>
        <p:blipFill>
          <a:blip r:embed="rId2"/>
          <a:stretch>
            <a:fillRect/>
          </a:stretch>
        </p:blipFill>
        <p:spPr>
          <a:xfrm>
            <a:off x="8081121" y="1335024"/>
            <a:ext cx="3180333" cy="1042415"/>
          </a:xfrm>
          <a:prstGeom prst="rect">
            <a:avLst/>
          </a:prstGeom>
        </p:spPr>
      </p:pic>
      <p:sp>
        <p:nvSpPr>
          <p:cNvPr id="13" name="TextBox 12"/>
          <p:cNvSpPr txBox="1"/>
          <p:nvPr/>
        </p:nvSpPr>
        <p:spPr>
          <a:xfrm>
            <a:off x="7991856" y="2432304"/>
            <a:ext cx="3358865" cy="311200"/>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a:solidFill>
                  <a:srgbClr val="626669"/>
                </a:solidFill>
                <a:latin typeface="Fira Sans"/>
              </a:rPr>
              <a:t>Collect E samples → compute the targets → fit the network → collect again.</a:t>
            </a:r>
          </a:p>
        </p:txBody>
      </p:sp>
      <p:sp>
        <p:nvSpPr>
          <p:cNvPr id="14" name="TextBox 13"/>
          <p:cNvSpPr txBox="1"/>
          <p:nvPr/>
        </p:nvSpPr>
        <p:spPr>
          <a:xfrm>
            <a:off x="7991856" y="2889808"/>
            <a:ext cx="3358865" cy="1190812"/>
          </a:xfrm>
          <a:prstGeom prst="rect">
            <a:avLst/>
          </a:prstGeom>
          <a:noFill/>
        </p:spPr>
        <p:txBody>
          <a:bodyPr wrap="square" lIns="0" tIns="0" rIns="0" bIns="0" anchor="t">
            <a:noAutofit/>
          </a:bodyPr>
          <a:lstStyle/>
          <a:p>
            <a:pPr marL="182880" indent="-182880" algn="l">
              <a:lnSpc>
                <a:spcPts val="1117"/>
              </a:lnSpc>
              <a:spcBef>
                <a:spcPts val="0"/>
              </a:spcBef>
              <a:spcAft>
                <a:spcPts val="0"/>
              </a:spcAft>
              <a:buClr>
                <a:srgbClr val="1971C2"/>
              </a:buClr>
              <a:buFont typeface="Fira Sans"/>
              <a:buChar char="–"/>
            </a:pPr>
            <a:r>
              <a:rPr sz="997" b="0" i="0">
                <a:solidFill>
                  <a:srgbClr val="333639"/>
                </a:solidFill>
                <a:latin typeface="Fira Sans"/>
              </a:rPr>
              <a:t xml:space="preserve">Exploration is </a:t>
            </a:r>
            <a:r>
              <a:rPr sz="997" b="1" i="0">
                <a:solidFill>
                  <a:srgbClr val="25282A"/>
                </a:solidFill>
                <a:latin typeface="Fira Sans"/>
              </a:rPr>
              <a:t>fixed at ε = 0.5</a:t>
            </a:r>
            <a:r>
              <a:rPr sz="997" b="0" i="0">
                <a:solidFill>
                  <a:srgbClr val="333639"/>
                </a:solidFill>
                <a:latin typeface="Fira Sans"/>
              </a:rPr>
              <a:t xml:space="preserve"> — deliberately very noisy.</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Most episodes therefore end in failure after a few steps. For NFQ that is useful: the transitions into failure are exactly the ones that teach the network which states are bad.</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A decaying ε, as in Chapter 04, is the usual refinement — and is what DQN will use.</a:t>
            </a:r>
          </a:p>
        </p:txBody>
      </p:sp>
      <p:sp>
        <p:nvSpPr>
          <p:cNvPr id="15" name="Rectangle 14"/>
          <p:cNvSpPr/>
          <p:nvPr/>
        </p:nvSpPr>
        <p:spPr>
          <a:xfrm>
            <a:off x="7991856" y="4245213"/>
            <a:ext cx="3358865" cy="900379"/>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991856" y="4245213"/>
            <a:ext cx="41148" cy="90037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11312" y="4391517"/>
            <a:ext cx="2974817"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batch is discarded after it has been fitted. Nothing the agent saw more than 1024 transitions ago is ever used again — </a:t>
            </a:r>
            <a:r>
              <a:rPr sz="997" b="1" i="0">
                <a:solidFill>
                  <a:srgbClr val="333639"/>
                </a:solidFill>
                <a:latin typeface="Fira Sans"/>
              </a:rPr>
              <a:t>remember this when we reach experience replay</a:t>
            </a:r>
            <a:r>
              <a:rPr sz="997" b="0" i="0">
                <a:solidFill>
                  <a:srgbClr val="333639"/>
                </a:solidFill>
                <a:latin typeface="Fira Sans"/>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3.9  NFQ ON CART-POLE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It learns — and it is not reliable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III — Neural Fitted Q</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316736"/>
            <a:ext cx="6543446" cy="731520"/>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Five independent runs with different seeds, 1500 episodes each, hidden layers of 256 and 128 units, 16 epochs per batch of 1024, curves smoothed over a 25-episode window. The line is the mean over seeds; the band is the best and the worst run at each point.</a:t>
            </a:r>
          </a:p>
        </p:txBody>
      </p:sp>
      <p:pic>
        <p:nvPicPr>
          <p:cNvPr id="9" name="Picture 8" descr="fig_nfq.png"/>
          <p:cNvPicPr>
            <a:picLocks noChangeAspect="1"/>
          </p:cNvPicPr>
          <p:nvPr/>
        </p:nvPicPr>
        <p:blipFill>
          <a:blip r:embed="rId3"/>
          <a:stretch>
            <a:fillRect/>
          </a:stretch>
        </p:blipFill>
        <p:spPr>
          <a:xfrm>
            <a:off x="1280457" y="2091956"/>
            <a:ext cx="5665026" cy="2703762"/>
          </a:xfrm>
          <a:prstGeom prst="rect">
            <a:avLst/>
          </a:prstGeom>
        </p:spPr>
      </p:pic>
      <p:sp>
        <p:nvSpPr>
          <p:cNvPr id="10" name="TextBox 9"/>
          <p:cNvSpPr txBox="1"/>
          <p:nvPr/>
        </p:nvSpPr>
        <p:spPr>
          <a:xfrm>
            <a:off x="841248" y="4871732"/>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NFQ on Cart-Pole: mean over seeds (12, 34, 56, 78, 90), with the full best–worst range.</a:t>
            </a:r>
          </a:p>
        </p:txBody>
      </p:sp>
      <p:sp>
        <p:nvSpPr>
          <p:cNvPr id="11" name="Rectangle 10"/>
          <p:cNvSpPr/>
          <p:nvPr/>
        </p:nvSpPr>
        <p:spPr>
          <a:xfrm>
            <a:off x="841248" y="5226824"/>
            <a:ext cx="6543446" cy="78638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226824"/>
            <a:ext cx="41148" cy="78638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373128"/>
            <a:ext cx="6159398" cy="493776"/>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 xml:space="preserve">A single run of 220 episodes with the untuned settings (512 units, learning rate 0.007, 40 epochs) reached a perfect 500. That number is a </a:t>
            </a:r>
            <a:r>
              <a:rPr sz="1092" b="1" i="0">
                <a:solidFill>
                  <a:srgbClr val="25282A"/>
                </a:solidFill>
                <a:latin typeface="Fira Sans"/>
              </a:rPr>
              <a:t>lucky run</a:t>
            </a:r>
            <a:r>
              <a:rPr sz="1092" b="0" i="0">
                <a:solidFill>
                  <a:srgbClr val="333639"/>
                </a:solidFill>
                <a:latin typeface="Fira Sans"/>
              </a:rPr>
              <a:t>, not a property of the algorithm — which is precisely why we repeat the experiment across seeds.</a:t>
            </a:r>
          </a:p>
        </p:txBody>
      </p:sp>
      <p:sp>
        <p:nvSpPr>
          <p:cNvPr id="14" name="TextBox 13"/>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THE CURVE SAYS</a:t>
            </a:r>
          </a:p>
        </p:txBody>
      </p:sp>
      <p:sp>
        <p:nvSpPr>
          <p:cNvPr id="15" name="TextBox 14"/>
          <p:cNvSpPr txBox="1"/>
          <p:nvPr/>
        </p:nvSpPr>
        <p:spPr>
          <a:xfrm>
            <a:off x="7618780" y="1591056"/>
            <a:ext cx="3731940" cy="1264005"/>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 xml:space="preserve">For more than </a:t>
            </a:r>
            <a:r>
              <a:rPr sz="1045" b="1" i="0">
                <a:solidFill>
                  <a:srgbClr val="25282A"/>
                </a:solidFill>
                <a:latin typeface="Fira Sans"/>
              </a:rPr>
              <a:t>a thousand episodes</a:t>
            </a:r>
            <a:r>
              <a:rPr sz="1045" b="0" i="0">
                <a:solidFill>
                  <a:srgbClr val="333639"/>
                </a:solidFill>
                <a:latin typeface="Fira Sans"/>
              </a:rPr>
              <a:t xml:space="preserve"> the mean stays low: about 60 from episode 500 on, three times random but nowhere near solved.</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Then it rises, from episode 1100 onwards: the network has found a policy that keeps the pole up.</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 xml:space="preserve">But the rise is </a:t>
            </a:r>
            <a:r>
              <a:rPr sz="1045" b="1" i="0">
                <a:solidFill>
                  <a:srgbClr val="C8102E"/>
                </a:solidFill>
                <a:latin typeface="Fira Sans"/>
              </a:rPr>
              <a:t>neither fast nor uniform</a:t>
            </a:r>
            <a:r>
              <a:rPr sz="1045" b="0" i="0">
                <a:solidFill>
                  <a:srgbClr val="333639"/>
                </a:solidFill>
                <a:latin typeface="Fira Sans"/>
              </a:rPr>
              <a:t>: still climbing at 1500, and one seed falls from 430 back below 300.</a:t>
            </a:r>
          </a:p>
        </p:txBody>
      </p:sp>
      <p:sp>
        <p:nvSpPr>
          <p:cNvPr id="16" name="Rectangle 15"/>
          <p:cNvSpPr/>
          <p:nvPr/>
        </p:nvSpPr>
        <p:spPr>
          <a:xfrm>
            <a:off x="7618780" y="3147669"/>
            <a:ext cx="3731940" cy="25310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10220" y="3202533"/>
            <a:ext cx="2130923"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r>
              <a:rPr sz="882" b="1" i="0" spc="60">
                <a:solidFill>
                  <a:srgbClr val="FFFFFF"/>
                </a:solidFill>
                <a:latin typeface="Fira Sans"/>
              </a:rPr>
              <a:t>At episode 1500</a:t>
            </a:r>
          </a:p>
        </p:txBody>
      </p:sp>
      <p:sp>
        <p:nvSpPr>
          <p:cNvPr id="18" name="TextBox 17"/>
          <p:cNvSpPr txBox="1"/>
          <p:nvPr/>
        </p:nvSpPr>
        <p:spPr>
          <a:xfrm>
            <a:off x="10024024" y="3202533"/>
            <a:ext cx="1235257"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Score</a:t>
            </a:r>
          </a:p>
        </p:txBody>
      </p:sp>
      <p:sp>
        <p:nvSpPr>
          <p:cNvPr id="19" name="TextBox 18"/>
          <p:cNvSpPr txBox="1"/>
          <p:nvPr/>
        </p:nvSpPr>
        <p:spPr>
          <a:xfrm>
            <a:off x="7710220" y="3455639"/>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mean over seeds</a:t>
            </a:r>
          </a:p>
        </p:txBody>
      </p:sp>
      <p:sp>
        <p:nvSpPr>
          <p:cNvPr id="20" name="TextBox 19"/>
          <p:cNvSpPr txBox="1"/>
          <p:nvPr/>
        </p:nvSpPr>
        <p:spPr>
          <a:xfrm>
            <a:off x="10024024" y="3455639"/>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8A5100"/>
                </a:solidFill>
                <a:latin typeface="Fira Sans"/>
              </a:rPr>
              <a:t>378</a:t>
            </a:r>
          </a:p>
        </p:txBody>
      </p:sp>
      <p:sp>
        <p:nvSpPr>
          <p:cNvPr id="21" name="Rectangle 20"/>
          <p:cNvSpPr/>
          <p:nvPr/>
        </p:nvSpPr>
        <p:spPr>
          <a:xfrm>
            <a:off x="7618780" y="367778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3683266"/>
            <a:ext cx="3731940" cy="28249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10220" y="3738130"/>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worst seed</a:t>
            </a:r>
          </a:p>
        </p:txBody>
      </p:sp>
      <p:sp>
        <p:nvSpPr>
          <p:cNvPr id="24" name="TextBox 23"/>
          <p:cNvSpPr txBox="1"/>
          <p:nvPr/>
        </p:nvSpPr>
        <p:spPr>
          <a:xfrm>
            <a:off x="10024024" y="3738130"/>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C8102E"/>
                </a:solidFill>
                <a:latin typeface="Fira Sans"/>
              </a:rPr>
              <a:t>298</a:t>
            </a:r>
          </a:p>
        </p:txBody>
      </p:sp>
      <p:sp>
        <p:nvSpPr>
          <p:cNvPr id="25" name="Rectangle 24"/>
          <p:cNvSpPr/>
          <p:nvPr/>
        </p:nvSpPr>
        <p:spPr>
          <a:xfrm>
            <a:off x="7618780" y="396027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10220" y="4020621"/>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best seed</a:t>
            </a:r>
          </a:p>
        </p:txBody>
      </p:sp>
      <p:sp>
        <p:nvSpPr>
          <p:cNvPr id="27" name="TextBox 26"/>
          <p:cNvSpPr txBox="1"/>
          <p:nvPr/>
        </p:nvSpPr>
        <p:spPr>
          <a:xfrm>
            <a:off x="10024024" y="4020621"/>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2B7A3E"/>
                </a:solidFill>
                <a:latin typeface="Fira Sans"/>
              </a:rPr>
              <a:t>422</a:t>
            </a:r>
          </a:p>
        </p:txBody>
      </p:sp>
      <p:sp>
        <p:nvSpPr>
          <p:cNvPr id="28" name="Rectangle 27"/>
          <p:cNvSpPr/>
          <p:nvPr/>
        </p:nvSpPr>
        <p:spPr>
          <a:xfrm>
            <a:off x="7618780" y="424276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7618780" y="4248249"/>
            <a:ext cx="3731940" cy="28249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710220" y="4303113"/>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random policy</a:t>
            </a:r>
          </a:p>
        </p:txBody>
      </p:sp>
      <p:sp>
        <p:nvSpPr>
          <p:cNvPr id="31" name="TextBox 30"/>
          <p:cNvSpPr txBox="1"/>
          <p:nvPr/>
        </p:nvSpPr>
        <p:spPr>
          <a:xfrm>
            <a:off x="10024024" y="4303113"/>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22</a:t>
            </a:r>
          </a:p>
        </p:txBody>
      </p:sp>
      <p:sp>
        <p:nvSpPr>
          <p:cNvPr id="32" name="Rectangle 31"/>
          <p:cNvSpPr/>
          <p:nvPr/>
        </p:nvSpPr>
        <p:spPr>
          <a:xfrm>
            <a:off x="7618780" y="452525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7618780" y="4695332"/>
            <a:ext cx="3731940" cy="1371600"/>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618780" y="4695332"/>
            <a:ext cx="41148" cy="13716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838236" y="484163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THE REASON THIS CHAPTER CONTINUES</a:t>
            </a:r>
          </a:p>
        </p:txBody>
      </p:sp>
      <p:sp>
        <p:nvSpPr>
          <p:cNvPr id="36" name="TextBox 35"/>
          <p:cNvSpPr txBox="1"/>
          <p:nvPr/>
        </p:nvSpPr>
        <p:spPr>
          <a:xfrm>
            <a:off x="7838236" y="5079380"/>
            <a:ext cx="3347892" cy="86868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The spread and the slowness are the headline. Between the best and the worst seed there are more than 120 points, with identical hyperparameters, after 1500 episodes and a grid search. NFQ </a:t>
            </a:r>
            <a:r>
              <a:rPr sz="1045" b="1" i="0">
                <a:solidFill>
                  <a:srgbClr val="25282A"/>
                </a:solidFill>
                <a:latin typeface="Fira Sans"/>
              </a:rPr>
              <a:t>can</a:t>
            </a:r>
            <a:r>
              <a:rPr sz="1045" b="0" i="0">
                <a:solidFill>
                  <a:srgbClr val="333639"/>
                </a:solidFill>
                <a:latin typeface="Fira Sans"/>
              </a:rPr>
              <a:t xml:space="preserve"> solve Cart-Pole; it does not </a:t>
            </a:r>
            <a:r>
              <a:rPr sz="1045" b="1" i="0">
                <a:solidFill>
                  <a:srgbClr val="25282A"/>
                </a:solidFill>
                <a:latin typeface="Fira Sans"/>
              </a:rPr>
              <a:t>reliably</a:t>
            </a:r>
            <a:r>
              <a:rPr sz="1045" b="0" i="0">
                <a:solidFill>
                  <a:srgbClr val="333639"/>
                </a:solidFill>
                <a:latin typeface="Fira Sans"/>
              </a:rPr>
              <a:t xml:space="preserve"> or </a:t>
            </a:r>
            <a:r>
              <a:rPr sz="1045" b="1" i="0">
                <a:solidFill>
                  <a:srgbClr val="25282A"/>
                </a:solidFill>
                <a:latin typeface="Fira Sans"/>
              </a:rPr>
              <a:t>quickly</a:t>
            </a:r>
            <a:r>
              <a:rPr sz="1045" b="0" i="0">
                <a:solidFill>
                  <a:srgbClr val="333639"/>
                </a:solidFill>
                <a:latin typeface="Fira Sans"/>
              </a:rPr>
              <a:t xml:space="preserve"> solve it. Part IV asks why.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Why it does not hold together</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NFQ learns, but unreliably. Two concrete failure mechanisms — targets that move and samples that are not independent — and the deeper reason they appear together.</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Which of the three ingredients could we actually give up?</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Non-stationary targets</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Correlated samples</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deadly triad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4.1  THE TARGETS WILL NOT STAND STILL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network is chasing a label that moves every time it is updated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IV — Why it does not hold together</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In supervised learning the labels are fixed before training begins. Here they are built from the network’s own predictions, so improving the prediction for the next state </a:t>
            </a:r>
            <a:r>
              <a:rPr sz="1235" b="1" i="0">
                <a:solidFill>
                  <a:srgbClr val="C8102E"/>
                </a:solidFill>
                <a:latin typeface="Fira Sans"/>
              </a:rPr>
              <a:t>changes the target for this one</a:t>
            </a:r>
            <a:r>
              <a:rPr sz="1235" b="0" i="0">
                <a:solidFill>
                  <a:srgbClr val="333639"/>
                </a:solidFill>
                <a:latin typeface="Fira Sans"/>
              </a:rPr>
              <a:t>.</a:t>
            </a:r>
          </a:p>
        </p:txBody>
      </p:sp>
      <p:pic>
        <p:nvPicPr>
          <p:cNvPr id="9" name="Picture 8" descr="nfq_opt.png"/>
          <p:cNvPicPr>
            <a:picLocks noChangeAspect="1"/>
          </p:cNvPicPr>
          <p:nvPr/>
        </p:nvPicPr>
        <p:blipFill>
          <a:blip r:embed="rId2"/>
          <a:stretch>
            <a:fillRect/>
          </a:stretch>
        </p:blipFill>
        <p:spPr>
          <a:xfrm>
            <a:off x="2321247" y="1892376"/>
            <a:ext cx="7549505" cy="1805900"/>
          </a:xfrm>
          <a:prstGeom prst="rect">
            <a:avLst/>
          </a:prstGeom>
        </p:spPr>
      </p:pic>
      <p:sp>
        <p:nvSpPr>
          <p:cNvPr id="10" name="TextBox 9"/>
          <p:cNvSpPr txBox="1"/>
          <p:nvPr/>
        </p:nvSpPr>
        <p:spPr>
          <a:xfrm>
            <a:off x="841248" y="3722743"/>
            <a:ext cx="10664212" cy="198729"/>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dirty="0">
                <a:solidFill>
                  <a:srgbClr val="626669"/>
                </a:solidFill>
                <a:latin typeface="Fira Sans"/>
              </a:rPr>
              <a:t>NFQ value-function </a:t>
            </a:r>
            <a:r>
              <a:rPr sz="950" b="0" i="1" dirty="0" err="1">
                <a:solidFill>
                  <a:srgbClr val="626669"/>
                </a:solidFill>
                <a:latin typeface="Fira Sans"/>
              </a:rPr>
              <a:t>optimisation</a:t>
            </a:r>
            <a:r>
              <a:rPr sz="950" b="0" i="1" dirty="0">
                <a:solidFill>
                  <a:srgbClr val="626669"/>
                </a:solidFill>
                <a:latin typeface="Fira Sans"/>
              </a:rPr>
              <a:t>, in four stages: at first the descent looks normal; the target moves as the value function improves; things go bad; and the moving target can produce divergence.</a:t>
            </a:r>
          </a:p>
        </p:txBody>
      </p:sp>
      <p:sp>
        <p:nvSpPr>
          <p:cNvPr id="11" name="Rectangle 10"/>
          <p:cNvSpPr/>
          <p:nvPr/>
        </p:nvSpPr>
        <p:spPr>
          <a:xfrm>
            <a:off x="841248" y="401356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nonstationary.png"/>
          <p:cNvPicPr>
            <a:picLocks noChangeAspect="1"/>
          </p:cNvPicPr>
          <p:nvPr/>
        </p:nvPicPr>
        <p:blipFill>
          <a:blip r:embed="rId3"/>
          <a:stretch>
            <a:fillRect/>
          </a:stretch>
        </p:blipFill>
        <p:spPr>
          <a:xfrm>
            <a:off x="835152" y="4113884"/>
            <a:ext cx="5010918" cy="2179015"/>
          </a:xfrm>
          <a:prstGeom prst="rect">
            <a:avLst/>
          </a:prstGeom>
        </p:spPr>
      </p:pic>
      <p:sp>
        <p:nvSpPr>
          <p:cNvPr id="13" name="TextBox 12"/>
          <p:cNvSpPr txBox="1"/>
          <p:nvPr/>
        </p:nvSpPr>
        <p:spPr>
          <a:xfrm>
            <a:off x="6967728" y="4233020"/>
            <a:ext cx="4389120" cy="1881835"/>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dirty="0">
                <a:solidFill>
                  <a:srgbClr val="25282A"/>
                </a:solidFill>
                <a:latin typeface="Fira Sans"/>
              </a:rPr>
              <a:t>Read the picture in order.</a:t>
            </a:r>
          </a:p>
          <a:p>
            <a:pPr marL="0" indent="0" algn="l">
              <a:lnSpc>
                <a:spcPts val="1310"/>
              </a:lnSpc>
              <a:spcBef>
                <a:spcPts val="800"/>
              </a:spcBef>
              <a:spcAft>
                <a:spcPts val="0"/>
              </a:spcAft>
              <a:buNone/>
            </a:pPr>
            <a:r>
              <a:rPr sz="1092" b="0" i="0" dirty="0">
                <a:solidFill>
                  <a:srgbClr val="333639"/>
                </a:solidFill>
                <a:latin typeface="Fira Sans"/>
              </a:rPr>
              <a:t xml:space="preserve">Two state–action pairs are sampled, at t and t+1. We update the estimate at the first one, and because the parameters are shared the whole curve moves with it. </a:t>
            </a:r>
            <a:r>
              <a:rPr sz="1092" b="1" i="0" dirty="0">
                <a:solidFill>
                  <a:srgbClr val="25282A"/>
                </a:solidFill>
                <a:latin typeface="Fira Sans"/>
              </a:rPr>
              <a:t>But the second pair sits on that same curve</a:t>
            </a:r>
            <a:r>
              <a:rPr sz="1092" b="0" i="0" dirty="0">
                <a:solidFill>
                  <a:srgbClr val="333639"/>
                </a:solidFill>
                <a:latin typeface="Fira Sans"/>
              </a:rPr>
              <a:t>, so its value has changed too. The target we were aiming at is no longer where it was when we computed it.</a:t>
            </a:r>
          </a:p>
          <a:p>
            <a:pPr marL="0" indent="0" algn="l">
              <a:lnSpc>
                <a:spcPts val="1233"/>
              </a:lnSpc>
              <a:spcBef>
                <a:spcPts val="900"/>
              </a:spcBef>
              <a:spcAft>
                <a:spcPts val="0"/>
              </a:spcAft>
              <a:buNone/>
            </a:pPr>
            <a:r>
              <a:rPr sz="1045" b="0" i="0" dirty="0">
                <a:solidFill>
                  <a:srgbClr val="626669"/>
                </a:solidFill>
                <a:latin typeface="Fira Sans"/>
              </a:rPr>
              <a:t>NFQ mitigates this: targets are computed once per batch and held fixed for every epoch of the fit (40 in the first run, 16 in the experiment), which makes each fitting step genuinely supervised. They still jump from one batch to the next, because they are recomputed with the updated network.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4.2  AND THE SAMPLES ARE NOT INDEPENDENT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Experience arrives along trajectories, from a policy that keeps changing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IV — Why it does not hold together</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Gradient-based optimisers are designed for data drawn independently from a fixed distribution. Reinforcement learning violates both halves of that sentence.</a:t>
            </a:r>
          </a:p>
        </p:txBody>
      </p:sp>
      <p:sp>
        <p:nvSpPr>
          <p:cNvPr id="9" name="Rectangle 8"/>
          <p:cNvSpPr/>
          <p:nvPr/>
        </p:nvSpPr>
        <p:spPr>
          <a:xfrm>
            <a:off x="841248" y="1955469"/>
            <a:ext cx="6543446"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01773"/>
            <a:ext cx="654344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C8102E"/>
                </a:solidFill>
                <a:latin typeface="Fira Sans"/>
              </a:rPr>
              <a:t>CONSECUTIVE TRANSITIONS ARE ALMOST THE SAME</a:t>
            </a:r>
          </a:p>
        </p:txBody>
      </p:sp>
      <p:sp>
        <p:nvSpPr>
          <p:cNvPr id="11" name="TextBox 10"/>
          <p:cNvSpPr txBox="1"/>
          <p:nvPr/>
        </p:nvSpPr>
        <p:spPr>
          <a:xfrm>
            <a:off x="841248" y="2376093"/>
            <a:ext cx="6543446"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transition at t+1 starts where the transition at t ended. Within one Cart-Pole episode, successive states differ by one small physics step — the mini-batch is a handful of nearly identical examples, not a sample of the state space.</a:t>
            </a:r>
          </a:p>
        </p:txBody>
      </p:sp>
      <p:sp>
        <p:nvSpPr>
          <p:cNvPr id="12" name="Rectangle 11"/>
          <p:cNvSpPr/>
          <p:nvPr/>
        </p:nvSpPr>
        <p:spPr>
          <a:xfrm>
            <a:off x="841248" y="3199053"/>
            <a:ext cx="6543446"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3345357"/>
            <a:ext cx="654344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8A5100"/>
                </a:solidFill>
                <a:latin typeface="Fira Sans"/>
              </a:rPr>
              <a:t>THE DISTRIBUTION MOVES AS THE AGENT IMPROVES</a:t>
            </a:r>
          </a:p>
        </p:txBody>
      </p:sp>
      <p:sp>
        <p:nvSpPr>
          <p:cNvPr id="14" name="TextBox 13"/>
          <p:cNvSpPr txBox="1"/>
          <p:nvPr/>
        </p:nvSpPr>
        <p:spPr>
          <a:xfrm>
            <a:off x="841248" y="3619677"/>
            <a:ext cx="6543446"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Early on the agent sees only states reached in the first twenty steps. Once it can balance, it starts seeing states it had never visited. The training distribution at episode 500 is not the one at episode 50.</a:t>
            </a:r>
          </a:p>
        </p:txBody>
      </p:sp>
      <p:sp>
        <p:nvSpPr>
          <p:cNvPr id="15" name="Rectangle 14"/>
          <p:cNvSpPr/>
          <p:nvPr/>
        </p:nvSpPr>
        <p:spPr>
          <a:xfrm>
            <a:off x="841248" y="4442637"/>
            <a:ext cx="6543446"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41248" y="4588941"/>
            <a:ext cx="654344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574676"/>
                </a:solidFill>
                <a:latin typeface="Fira Sans"/>
              </a:rPr>
              <a:t>NFQ’S BATCH DOES NOT FIX THIS</a:t>
            </a:r>
          </a:p>
        </p:txBody>
      </p:sp>
      <p:sp>
        <p:nvSpPr>
          <p:cNvPr id="17" name="TextBox 16"/>
          <p:cNvSpPr txBox="1"/>
          <p:nvPr/>
        </p:nvSpPr>
        <p:spPr>
          <a:xfrm>
            <a:off x="841248" y="4863261"/>
            <a:ext cx="6543446"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A batch of 1024 transitions sounds large, but it comes from a handful of consecutive episodes under one policy. Size is not the same as diversity.</a:t>
            </a:r>
          </a:p>
        </p:txBody>
      </p:sp>
      <p:sp>
        <p:nvSpPr>
          <p:cNvPr id="18" name="Rectangle 17"/>
          <p:cNvSpPr/>
          <p:nvPr/>
        </p:nvSpPr>
        <p:spPr>
          <a:xfrm>
            <a:off x="841248" y="5594781"/>
            <a:ext cx="6543446" cy="625449"/>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41248" y="5594781"/>
            <a:ext cx="41148" cy="62544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60704" y="5741085"/>
            <a:ext cx="6159398"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optimiser repeatedly sees data that is too similar and too dependent on what the agent happened to be doing a moment ago. It overfits the present behaviour and forgets the rest.</a:t>
            </a:r>
          </a:p>
        </p:txBody>
      </p:sp>
      <p:pic>
        <p:nvPicPr>
          <p:cNvPr id="21" name="Picture 20" descr="agent_loop.png"/>
          <p:cNvPicPr>
            <a:picLocks noChangeAspect="1"/>
          </p:cNvPicPr>
          <p:nvPr/>
        </p:nvPicPr>
        <p:blipFill>
          <a:blip r:embed="rId2"/>
          <a:stretch>
            <a:fillRect/>
          </a:stretch>
        </p:blipFill>
        <p:spPr>
          <a:xfrm>
            <a:off x="7550009" y="1476549"/>
            <a:ext cx="4120167" cy="1495818"/>
          </a:xfrm>
          <a:prstGeom prst="rect">
            <a:avLst/>
          </a:prstGeom>
        </p:spPr>
      </p:pic>
      <p:sp>
        <p:nvSpPr>
          <p:cNvPr id="23" name="Rectangle 22"/>
          <p:cNvSpPr/>
          <p:nvPr/>
        </p:nvSpPr>
        <p:spPr>
          <a:xfrm>
            <a:off x="7618780" y="3221915"/>
            <a:ext cx="3731940" cy="1326641"/>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7618780" y="3221915"/>
            <a:ext cx="41148" cy="132664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838236" y="336821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A FEEDBACK LOOP IN THE DATA</a:t>
            </a:r>
          </a:p>
        </p:txBody>
      </p:sp>
      <p:sp>
        <p:nvSpPr>
          <p:cNvPr id="26" name="TextBox 25"/>
          <p:cNvSpPr txBox="1"/>
          <p:nvPr/>
        </p:nvSpPr>
        <p:spPr>
          <a:xfrm>
            <a:off x="7838236" y="3605963"/>
            <a:ext cx="3347892" cy="796289"/>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This is the one place where RL differs from supervised learning not by degree but by kind: </a:t>
            </a:r>
            <a:r>
              <a:rPr sz="1045" b="1" i="0">
                <a:solidFill>
                  <a:srgbClr val="333639"/>
                </a:solidFill>
                <a:latin typeface="Fira Sans"/>
              </a:rPr>
              <a:t>the learner chooses its own data distribution</a:t>
            </a:r>
            <a:r>
              <a:rPr sz="1045" b="0" i="0">
                <a:solidFill>
                  <a:srgbClr val="333639"/>
                </a:solidFill>
                <a:latin typeface="Fira Sans"/>
              </a:rPr>
              <a:t>, and it chooses badly early on, because it does not yet know anything.</a:t>
            </a:r>
          </a:p>
        </p:txBody>
      </p:sp>
      <p:sp>
        <p:nvSpPr>
          <p:cNvPr id="27" name="Rectangle 26"/>
          <p:cNvSpPr/>
          <p:nvPr/>
        </p:nvSpPr>
        <p:spPr>
          <a:xfrm>
            <a:off x="7618780" y="4731437"/>
            <a:ext cx="3731940" cy="1485900"/>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618780" y="4731437"/>
            <a:ext cx="41148" cy="148590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838236" y="4877741"/>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TWO PROBLEMS, NOT ONE</a:t>
            </a:r>
          </a:p>
        </p:txBody>
      </p:sp>
      <p:sp>
        <p:nvSpPr>
          <p:cNvPr id="30" name="TextBox 29"/>
          <p:cNvSpPr txBox="1"/>
          <p:nvPr/>
        </p:nvSpPr>
        <p:spPr>
          <a:xfrm>
            <a:off x="7838236" y="5115485"/>
            <a:ext cx="3347892" cy="955547"/>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Notice that this problem and the previous one are independent. Freezing the targets would not decorrelate the samples; decorrelating the samples would not freeze the targets. </a:t>
            </a:r>
            <a:r>
              <a:rPr sz="1045" b="1" i="0">
                <a:solidFill>
                  <a:srgbClr val="333639"/>
                </a:solidFill>
                <a:latin typeface="Fira Sans"/>
              </a:rPr>
              <a:t>DQN needs two separate mechanisms because there are two separate problems.</a:t>
            </a:r>
          </a:p>
        </p:txBody>
      </p:sp>
      <p:sp>
        <p:nvSpPr>
          <p:cNvPr id="31" name="CasellaDiTesto 30">
            <a:extLst>
              <a:ext uri="{FF2B5EF4-FFF2-40B4-BE49-F238E27FC236}">
                <a16:creationId xmlns:a16="http://schemas.microsoft.com/office/drawing/2014/main" id="{39AF3A71-B8BF-AE89-B8BC-DA87BD46AF9C}"/>
              </a:ext>
            </a:extLst>
          </p:cNvPr>
          <p:cNvSpPr txBox="1"/>
          <p:nvPr/>
        </p:nvSpPr>
        <p:spPr>
          <a:xfrm>
            <a:off x="7492753" y="3064495"/>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4.3  THE DEADLY TRIAD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Three ingredients that are each harmless alone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IV — Why it does not hold together</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Both difficulties are symptoms of something more general. Instability in value-based reinforcement learning can arise whenever three ingredients are combined — and only when all three are present together.</a:t>
            </a:r>
          </a:p>
        </p:txBody>
      </p:sp>
      <p:sp>
        <p:nvSpPr>
          <p:cNvPr id="9" name="Rectangle 8"/>
          <p:cNvSpPr/>
          <p:nvPr/>
        </p:nvSpPr>
        <p:spPr>
          <a:xfrm>
            <a:off x="1389888" y="1988322"/>
            <a:ext cx="9418320" cy="76809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389888" y="1988322"/>
            <a:ext cx="41148" cy="7680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tria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4208" y="2226066"/>
            <a:ext cx="4846320" cy="229615"/>
          </a:xfrm>
          <a:prstGeom prst="rect">
            <a:avLst/>
          </a:prstGeom>
        </p:spPr>
      </p:pic>
      <p:sp>
        <p:nvSpPr>
          <p:cNvPr id="12" name="Rectangle 11"/>
          <p:cNvSpPr/>
          <p:nvPr/>
        </p:nvSpPr>
        <p:spPr>
          <a:xfrm>
            <a:off x="841248" y="2921010"/>
            <a:ext cx="3322320" cy="16459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2921010"/>
            <a:ext cx="3322320"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24128" y="3085602"/>
            <a:ext cx="295656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574676"/>
                </a:solidFill>
                <a:latin typeface="Fira Sans"/>
              </a:rPr>
              <a:t>FUNCTION APPROXIMATION</a:t>
            </a:r>
          </a:p>
        </p:txBody>
      </p:sp>
      <p:sp>
        <p:nvSpPr>
          <p:cNvPr id="15" name="TextBox 14"/>
          <p:cNvSpPr txBox="1"/>
          <p:nvPr/>
        </p:nvSpPr>
        <p:spPr>
          <a:xfrm>
            <a:off x="1024128" y="3378210"/>
            <a:ext cx="2956560" cy="75266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Values are stored in </a:t>
            </a:r>
            <a:r>
              <a:rPr sz="1045" b="1" i="0" dirty="0">
                <a:solidFill>
                  <a:srgbClr val="626669"/>
                </a:solidFill>
                <a:latin typeface="Fira Sans"/>
              </a:rPr>
              <a:t>shared parameters </a:t>
            </a:r>
            <a:r>
              <a:rPr sz="1045" b="0" i="0" dirty="0">
                <a:solidFill>
                  <a:srgbClr val="626669"/>
                </a:solidFill>
                <a:latin typeface="Fira Sans"/>
              </a:rPr>
              <a:t>rather than separate cells, so an update in one region leaks into another.</a:t>
            </a:r>
          </a:p>
          <a:p>
            <a:pPr marL="0" indent="0" algn="l">
              <a:lnSpc>
                <a:spcPts val="1176"/>
              </a:lnSpc>
              <a:spcBef>
                <a:spcPts val="700"/>
              </a:spcBef>
              <a:spcAft>
                <a:spcPts val="0"/>
              </a:spcAft>
              <a:buNone/>
            </a:pPr>
            <a:r>
              <a:rPr sz="997" b="0" i="0" dirty="0">
                <a:solidFill>
                  <a:srgbClr val="574676"/>
                </a:solidFill>
                <a:latin typeface="Fira Sans"/>
              </a:rPr>
              <a:t>NFQ: a </a:t>
            </a:r>
            <a:r>
              <a:rPr sz="997" b="1" i="0" dirty="0">
                <a:solidFill>
                  <a:srgbClr val="574676"/>
                </a:solidFill>
                <a:latin typeface="Fira Sans"/>
              </a:rPr>
              <a:t>neural network</a:t>
            </a:r>
            <a:r>
              <a:rPr sz="997" b="0" i="0" dirty="0">
                <a:solidFill>
                  <a:srgbClr val="574676"/>
                </a:solidFill>
                <a:latin typeface="Fira Sans"/>
              </a:rPr>
              <a:t>.</a:t>
            </a:r>
          </a:p>
        </p:txBody>
      </p:sp>
      <p:sp>
        <p:nvSpPr>
          <p:cNvPr id="16" name="Rectangle 15"/>
          <p:cNvSpPr/>
          <p:nvPr/>
        </p:nvSpPr>
        <p:spPr>
          <a:xfrm>
            <a:off x="4437888" y="2921010"/>
            <a:ext cx="3322320" cy="16459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4437888" y="2921010"/>
            <a:ext cx="3322320"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20768" y="3085602"/>
            <a:ext cx="295656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2B7A3E"/>
                </a:solidFill>
                <a:latin typeface="Fira Sans"/>
              </a:rPr>
              <a:t>BOOTSTRAPPING</a:t>
            </a:r>
          </a:p>
        </p:txBody>
      </p:sp>
      <p:sp>
        <p:nvSpPr>
          <p:cNvPr id="19" name="TextBox 18"/>
          <p:cNvSpPr txBox="1"/>
          <p:nvPr/>
        </p:nvSpPr>
        <p:spPr>
          <a:xfrm>
            <a:off x="4620768" y="3378210"/>
            <a:ext cx="2956560" cy="75266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target for one estimate is built </a:t>
            </a:r>
            <a:r>
              <a:rPr sz="1045" b="1" i="0" dirty="0">
                <a:solidFill>
                  <a:srgbClr val="626669"/>
                </a:solidFill>
                <a:latin typeface="Fira Sans"/>
              </a:rPr>
              <a:t>from another estimate</a:t>
            </a:r>
            <a:r>
              <a:rPr sz="1045" b="0" i="0" dirty="0">
                <a:solidFill>
                  <a:srgbClr val="626669"/>
                </a:solidFill>
                <a:latin typeface="Fira Sans"/>
              </a:rPr>
              <a:t>, so errors propagate instead of being washed out by real returns.</a:t>
            </a:r>
          </a:p>
          <a:p>
            <a:pPr marL="0" indent="0" algn="l">
              <a:lnSpc>
                <a:spcPts val="1176"/>
              </a:lnSpc>
              <a:spcBef>
                <a:spcPts val="700"/>
              </a:spcBef>
              <a:spcAft>
                <a:spcPts val="0"/>
              </a:spcAft>
              <a:buNone/>
            </a:pPr>
            <a:r>
              <a:rPr sz="997" b="0" i="0" dirty="0">
                <a:solidFill>
                  <a:srgbClr val="2B7A3E"/>
                </a:solidFill>
                <a:latin typeface="Fira Sans"/>
              </a:rPr>
              <a:t>NFQ: the </a:t>
            </a:r>
            <a:r>
              <a:rPr sz="997" b="1" i="0" dirty="0">
                <a:solidFill>
                  <a:srgbClr val="2B7A3E"/>
                </a:solidFill>
                <a:latin typeface="Fira Sans"/>
              </a:rPr>
              <a:t>max over next-state values</a:t>
            </a:r>
            <a:r>
              <a:rPr sz="997" b="0" i="0" dirty="0">
                <a:solidFill>
                  <a:srgbClr val="2B7A3E"/>
                </a:solidFill>
                <a:latin typeface="Fira Sans"/>
              </a:rPr>
              <a:t>.</a:t>
            </a:r>
          </a:p>
        </p:txBody>
      </p:sp>
      <p:sp>
        <p:nvSpPr>
          <p:cNvPr id="20" name="Rectangle 19"/>
          <p:cNvSpPr/>
          <p:nvPr/>
        </p:nvSpPr>
        <p:spPr>
          <a:xfrm>
            <a:off x="8034528" y="2921010"/>
            <a:ext cx="3322320" cy="16459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034528" y="2921010"/>
            <a:ext cx="3322320"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217408" y="3085602"/>
            <a:ext cx="295656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8A5100"/>
                </a:solidFill>
                <a:latin typeface="Fira Sans"/>
              </a:rPr>
              <a:t>OFF-POLICY LEARNING</a:t>
            </a:r>
          </a:p>
        </p:txBody>
      </p:sp>
      <p:sp>
        <p:nvSpPr>
          <p:cNvPr id="23" name="TextBox 22"/>
          <p:cNvSpPr txBox="1"/>
          <p:nvPr/>
        </p:nvSpPr>
        <p:spPr>
          <a:xfrm>
            <a:off x="8217408" y="3378210"/>
            <a:ext cx="2956560" cy="91191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data is generated by one policy while the values being learned belong to another, so the states we update most are not the states that matter most.</a:t>
            </a:r>
          </a:p>
          <a:p>
            <a:pPr marL="0" indent="0" algn="l">
              <a:lnSpc>
                <a:spcPts val="1176"/>
              </a:lnSpc>
              <a:spcBef>
                <a:spcPts val="700"/>
              </a:spcBef>
              <a:spcAft>
                <a:spcPts val="0"/>
              </a:spcAft>
              <a:buNone/>
            </a:pPr>
            <a:r>
              <a:rPr sz="997" b="0" i="0" dirty="0">
                <a:solidFill>
                  <a:srgbClr val="8A5100"/>
                </a:solidFill>
                <a:latin typeface="Fira Sans"/>
              </a:rPr>
              <a:t>NFQ: </a:t>
            </a:r>
            <a:r>
              <a:rPr sz="997" b="1" i="0" dirty="0" err="1">
                <a:solidFill>
                  <a:srgbClr val="8A5100"/>
                </a:solidFill>
                <a:latin typeface="Fira Sans"/>
              </a:rPr>
              <a:t>ε</a:t>
            </a:r>
            <a:r>
              <a:rPr sz="997" b="1" i="0" dirty="0">
                <a:solidFill>
                  <a:srgbClr val="8A5100"/>
                </a:solidFill>
                <a:latin typeface="Fira Sans"/>
              </a:rPr>
              <a:t>-greedy </a:t>
            </a:r>
            <a:r>
              <a:rPr sz="997" b="1" i="0" dirty="0" err="1">
                <a:solidFill>
                  <a:srgbClr val="8A5100"/>
                </a:solidFill>
                <a:latin typeface="Fira Sans"/>
              </a:rPr>
              <a:t>behaviour</a:t>
            </a:r>
            <a:r>
              <a:rPr sz="997" b="1" i="0" dirty="0">
                <a:solidFill>
                  <a:srgbClr val="8A5100"/>
                </a:solidFill>
                <a:latin typeface="Fira Sans"/>
              </a:rPr>
              <a:t>, greedy target</a:t>
            </a:r>
            <a:r>
              <a:rPr sz="997" b="0" i="0" dirty="0">
                <a:solidFill>
                  <a:srgbClr val="8A5100"/>
                </a:solidFill>
                <a:latin typeface="Fira Sans"/>
              </a:rPr>
              <a:t>.</a:t>
            </a:r>
          </a:p>
        </p:txBody>
      </p:sp>
      <p:sp>
        <p:nvSpPr>
          <p:cNvPr id="24" name="Rectangle 23"/>
          <p:cNvSpPr/>
          <p:nvPr/>
        </p:nvSpPr>
        <p:spPr>
          <a:xfrm>
            <a:off x="841248" y="476809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4950978"/>
            <a:ext cx="5102352" cy="1167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4950978"/>
            <a:ext cx="41148" cy="1167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60704" y="5097282"/>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HONEST ANSWER</a:t>
            </a:r>
          </a:p>
        </p:txBody>
      </p:sp>
      <p:sp>
        <p:nvSpPr>
          <p:cNvPr id="28" name="TextBox 27"/>
          <p:cNvSpPr txBox="1"/>
          <p:nvPr/>
        </p:nvSpPr>
        <p:spPr>
          <a:xfrm>
            <a:off x="1060704" y="5335026"/>
            <a:ext cx="4718304"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1" i="0">
                <a:solidFill>
                  <a:srgbClr val="333639"/>
                </a:solidFill>
                <a:latin typeface="Fira Sans"/>
              </a:rPr>
              <a:t>Could we drop one?</a:t>
            </a:r>
            <a:r>
              <a:rPr sz="1045" b="0" i="0">
                <a:solidFill>
                  <a:srgbClr val="333639"/>
                </a:solidFill>
                <a:latin typeface="Fira Sans"/>
              </a:rPr>
              <a:t> Giving up function approximation returns us to tables — the problem we started from. Giving up bootstrapping means Monte Carlo targets, with the variance of Chapter 05. Giving up off-policy learning means SARSA, and losing the ability to learn the greedy policy while exploring.</a:t>
            </a:r>
          </a:p>
        </p:txBody>
      </p:sp>
      <p:sp>
        <p:nvSpPr>
          <p:cNvPr id="29" name="Rectangle 28"/>
          <p:cNvSpPr/>
          <p:nvPr/>
        </p:nvSpPr>
        <p:spPr>
          <a:xfrm>
            <a:off x="6254496" y="4950978"/>
            <a:ext cx="5102352" cy="100812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6254496" y="4950978"/>
            <a:ext cx="41148" cy="100812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73952" y="5097282"/>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WHAT WE DO INSTEAD</a:t>
            </a:r>
          </a:p>
        </p:txBody>
      </p:sp>
      <p:sp>
        <p:nvSpPr>
          <p:cNvPr id="32" name="TextBox 31"/>
          <p:cNvSpPr txBox="1"/>
          <p:nvPr/>
        </p:nvSpPr>
        <p:spPr>
          <a:xfrm>
            <a:off x="6473952" y="5335026"/>
            <a:ext cx="4718304"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So we keep all three and manage the consequences. Parts V and VI are damage control: </a:t>
            </a:r>
            <a:r>
              <a:rPr sz="1045" b="1" i="0">
                <a:solidFill>
                  <a:srgbClr val="333639"/>
                </a:solidFill>
                <a:latin typeface="Fira Sans"/>
              </a:rPr>
              <a:t>replay, frozen targets, decoupled selection, careful tuning</a:t>
            </a:r>
            <a:r>
              <a:rPr sz="1045" b="0" i="0">
                <a:solidFill>
                  <a:srgbClr val="333639"/>
                </a:solidFill>
                <a:latin typeface="Fira Sans"/>
              </a:rPr>
              <a:t>. They make divergence much less likely. They do not make it impossible.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Deep Q-Networks</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Two mechanisms, each aimed at one of the two problems: a replay buffer for the correlation, a frozen target network for the moving labels. Together they make the fit look supervised.</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has to stay fixed, and for how long, before gradient descent can make progress?</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Experience replay</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replay memory</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Target networks</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DQN loss</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Decaying exploration</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The algorithm</a:t>
            </a:r>
          </a:p>
          <a:p>
            <a:pPr marL="0" indent="0" algn="l">
              <a:lnSpc>
                <a:spcPts val="1378"/>
              </a:lnSpc>
              <a:spcBef>
                <a:spcPts val="1300"/>
              </a:spcBef>
              <a:spcAft>
                <a:spcPts val="0"/>
              </a:spcAft>
              <a:buNone/>
            </a:pPr>
            <a:r>
              <a:rPr sz="1188" b="1" i="0">
                <a:solidFill>
                  <a:srgbClr val="B2A7C4"/>
                </a:solidFill>
                <a:latin typeface="Fira Sans"/>
              </a:rPr>
              <a:t>07   </a:t>
            </a:r>
            <a:r>
              <a:rPr sz="1188" b="0" i="0">
                <a:solidFill>
                  <a:srgbClr val="FFFFFF"/>
                </a:solidFill>
                <a:latin typeface="Fira Sans"/>
              </a:rPr>
              <a:t>DQN against NFQ</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  EXPERIENCE REPLAY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Keep everything, and train on a random sample of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 — Deep Q-Networks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29</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NFQ trains on the batch it has just collected and then throws it away. </a:t>
            </a:r>
            <a:r>
              <a:rPr sz="1235" b="1" i="0">
                <a:solidFill>
                  <a:srgbClr val="25282A"/>
                </a:solidFill>
                <a:latin typeface="Fira Sans"/>
              </a:rPr>
              <a:t>Experience replay keeps the transitions instead</a:t>
            </a:r>
            <a:r>
              <a:rPr sz="1235" b="0" i="0">
                <a:solidFill>
                  <a:srgbClr val="333639"/>
                </a:solidFill>
                <a:latin typeface="Fira Sans"/>
              </a:rPr>
              <a:t>, in a large memory, and draws each mini-batch uniformly at random from everything stored so far.</a:t>
            </a:r>
          </a:p>
        </p:txBody>
      </p:sp>
      <p:pic>
        <p:nvPicPr>
          <p:cNvPr id="9" name="Picture 8" descr="replay_loop.png"/>
          <p:cNvPicPr>
            <a:picLocks noChangeAspect="1"/>
          </p:cNvPicPr>
          <p:nvPr/>
        </p:nvPicPr>
        <p:blipFill>
          <a:blip r:embed="rId2"/>
          <a:stretch>
            <a:fillRect/>
          </a:stretch>
        </p:blipFill>
        <p:spPr>
          <a:xfrm>
            <a:off x="1391173" y="1976018"/>
            <a:ext cx="4823196" cy="2938830"/>
          </a:xfrm>
          <a:prstGeom prst="rect">
            <a:avLst/>
          </a:prstGeom>
        </p:spPr>
      </p:pic>
      <p:sp>
        <p:nvSpPr>
          <p:cNvPr id="10" name="TextBox 9"/>
          <p:cNvSpPr txBox="1"/>
          <p:nvPr/>
        </p:nvSpPr>
        <p:spPr>
          <a:xfrm>
            <a:off x="841248" y="5106576"/>
            <a:ext cx="654344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The replay buffer sits between the environment and the </a:t>
            </a:r>
            <a:r>
              <a:rPr sz="950" b="0" i="1" dirty="0" err="1">
                <a:solidFill>
                  <a:srgbClr val="626669"/>
                </a:solidFill>
                <a:latin typeface="Fira Sans"/>
              </a:rPr>
              <a:t>optimiser</a:t>
            </a:r>
            <a:r>
              <a:rPr sz="950" b="0" i="1" dirty="0">
                <a:solidFill>
                  <a:srgbClr val="626669"/>
                </a:solidFill>
                <a:latin typeface="Fira Sans"/>
              </a:rPr>
              <a:t>: experience goes in, mini-batches come out in a different order.</a:t>
            </a:r>
          </a:p>
        </p:txBody>
      </p:sp>
      <p:pic>
        <p:nvPicPr>
          <p:cNvPr id="11" name="Picture 10" descr="dqn_replay.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5541264"/>
            <a:ext cx="4728182" cy="407404"/>
          </a:xfrm>
          <a:prstGeom prst="rect">
            <a:avLst/>
          </a:prstGeom>
        </p:spPr>
      </p:pic>
      <p:sp>
        <p:nvSpPr>
          <p:cNvPr id="12" name="TextBox 11"/>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TWO EFFECTS, ONE MECHANISM</a:t>
            </a:r>
          </a:p>
        </p:txBody>
      </p:sp>
      <p:sp>
        <p:nvSpPr>
          <p:cNvPr id="13" name="Rectangle 12"/>
          <p:cNvSpPr/>
          <p:nvPr/>
        </p:nvSpPr>
        <p:spPr>
          <a:xfrm>
            <a:off x="7618780" y="1572768"/>
            <a:ext cx="3731940"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618780" y="1700784"/>
            <a:ext cx="3731940" cy="219456"/>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1" i="0">
                <a:solidFill>
                  <a:srgbClr val="25282A"/>
                </a:solidFill>
                <a:latin typeface="Fira Sans"/>
              </a:rPr>
              <a:t>Mini-batches become diverse</a:t>
            </a:r>
          </a:p>
        </p:txBody>
      </p:sp>
      <p:sp>
        <p:nvSpPr>
          <p:cNvPr id="15" name="TextBox 14"/>
          <p:cNvSpPr txBox="1"/>
          <p:nvPr/>
        </p:nvSpPr>
        <p:spPr>
          <a:xfrm>
            <a:off x="7618780" y="1956816"/>
            <a:ext cx="3731940"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One batch now contains transitions from different episodes and from different stages of training, instead of a few seconds of one trajectory.</a:t>
            </a:r>
          </a:p>
        </p:txBody>
      </p:sp>
      <p:sp>
        <p:nvSpPr>
          <p:cNvPr id="16" name="Rectangle 15"/>
          <p:cNvSpPr/>
          <p:nvPr/>
        </p:nvSpPr>
        <p:spPr>
          <a:xfrm>
            <a:off x="7618780" y="2889504"/>
            <a:ext cx="3731940"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618780" y="3017520"/>
            <a:ext cx="3731940" cy="219456"/>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1" i="0">
                <a:solidFill>
                  <a:srgbClr val="25282A"/>
                </a:solidFill>
                <a:latin typeface="Fira Sans"/>
              </a:rPr>
              <a:t>Samples look closer to IID</a:t>
            </a:r>
          </a:p>
        </p:txBody>
      </p:sp>
      <p:sp>
        <p:nvSpPr>
          <p:cNvPr id="18" name="TextBox 17"/>
          <p:cNvSpPr txBox="1"/>
          <p:nvPr/>
        </p:nvSpPr>
        <p:spPr>
          <a:xfrm>
            <a:off x="7618780" y="3273552"/>
            <a:ext cx="3731940" cy="63421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They are not independent — the buffer still holds whole trajectories — but random sampling from a large memory destroys the strongest temporal correlations, which is what the optimiser was choking on.</a:t>
            </a:r>
          </a:p>
        </p:txBody>
      </p:sp>
      <p:sp>
        <p:nvSpPr>
          <p:cNvPr id="19" name="Rectangle 18"/>
          <p:cNvSpPr/>
          <p:nvPr/>
        </p:nvSpPr>
        <p:spPr>
          <a:xfrm>
            <a:off x="7618780" y="4206240"/>
            <a:ext cx="3731940"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618780" y="4334255"/>
            <a:ext cx="3731940" cy="219456"/>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1" i="0">
                <a:solidFill>
                  <a:srgbClr val="25282A"/>
                </a:solidFill>
                <a:latin typeface="Fira Sans"/>
              </a:rPr>
              <a:t>And data is reused</a:t>
            </a:r>
          </a:p>
        </p:txBody>
      </p:sp>
      <p:sp>
        <p:nvSpPr>
          <p:cNvPr id="21" name="TextBox 20"/>
          <p:cNvSpPr txBox="1"/>
          <p:nvPr/>
        </p:nvSpPr>
        <p:spPr>
          <a:xfrm>
            <a:off x="7618780" y="4590288"/>
            <a:ext cx="3731940" cy="63421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 transition can be sampled many times before it is overwritten. Off-policy learning is what makes this legal: old data was collected by an older policy, and the Q-learning target does not care.</a:t>
            </a:r>
          </a:p>
        </p:txBody>
      </p:sp>
      <p:sp>
        <p:nvSpPr>
          <p:cNvPr id="22" name="Rectangle 21"/>
          <p:cNvSpPr/>
          <p:nvPr/>
        </p:nvSpPr>
        <p:spPr>
          <a:xfrm>
            <a:off x="7618780" y="5468112"/>
            <a:ext cx="3731940" cy="596493"/>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618780" y="5468112"/>
            <a:ext cx="41148" cy="59649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838236" y="5614416"/>
            <a:ext cx="3347892" cy="303885"/>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Compared with NFQ the </a:t>
            </a:r>
            <a:r>
              <a:rPr sz="997" b="1" i="0">
                <a:solidFill>
                  <a:srgbClr val="333639"/>
                </a:solidFill>
                <a:latin typeface="Fira Sans"/>
              </a:rPr>
              <a:t>target has not changed at all</a:t>
            </a:r>
            <a:r>
              <a:rPr sz="997" b="0" i="0">
                <a:solidFill>
                  <a:srgbClr val="333639"/>
                </a:solidFill>
                <a:latin typeface="Fira Sans"/>
              </a:rPr>
              <a:t> — only where the training samples come from.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5.2  THE REPLAY MEMORY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fixed-size circular buffer, and a uniform draw from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 — Deep Q-Networks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30</a:t>
            </a:r>
          </a:p>
        </p:txBody>
      </p:sp>
      <p:sp>
        <p:nvSpPr>
          <p:cNvPr id="8" name="Rectangle 7"/>
          <p:cNvSpPr/>
          <p:nvPr/>
        </p:nvSpPr>
        <p:spPr>
          <a:xfrm>
            <a:off x="841248" y="1316736"/>
            <a:ext cx="6638544" cy="4343400"/>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41148" cy="4343400"/>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399032"/>
            <a:ext cx="6272783"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replay memory</a:t>
            </a:r>
          </a:p>
        </p:txBody>
      </p:sp>
      <p:sp>
        <p:nvSpPr>
          <p:cNvPr id="11" name="TextBox 10"/>
          <p:cNvSpPr txBox="1"/>
          <p:nvPr/>
        </p:nvSpPr>
        <p:spPr>
          <a:xfrm>
            <a:off x="1024128" y="1700784"/>
            <a:ext cx="6327648" cy="3886200"/>
          </a:xfrm>
          <a:prstGeom prst="rect">
            <a:avLst/>
          </a:prstGeom>
          <a:noFill/>
        </p:spPr>
        <p:txBody>
          <a:bodyPr wrap="none" lIns="0" tIns="0" rIns="0" bIns="0" anchor="t">
            <a:noAutofit/>
          </a:bodyPr>
          <a:lstStyle/>
          <a:p>
            <a:pPr marL="0" indent="0" algn="l">
              <a:lnSpc>
                <a:spcPts val="1083"/>
              </a:lnSpc>
              <a:spcBef>
                <a:spcPts val="0"/>
              </a:spcBef>
              <a:spcAft>
                <a:spcPts val="0"/>
              </a:spcAft>
              <a:buNone/>
            </a:pPr>
            <a:r>
              <a:rPr sz="833" b="0" i="0">
                <a:solidFill>
                  <a:srgbClr val="1F2A37"/>
                </a:solidFill>
                <a:latin typeface="Consolas"/>
              </a:rPr>
              <a:t xml:space="preserve">def create_replay_memory(env, memory_size):</a:t>
            </a:r>
          </a:p>
          <a:p>
            <a:pPr marL="0" indent="0" algn="l">
              <a:lnSpc>
                <a:spcPts val="1083"/>
              </a:lnSpc>
              <a:spcBef>
                <a:spcPts val="0"/>
              </a:spcBef>
              <a:spcAft>
                <a:spcPts val="0"/>
              </a:spcAft>
              <a:buNone/>
            </a:pPr>
            <a:r>
              <a:rPr sz="833" b="0" i="0">
                <a:solidFill>
                  <a:srgbClr val="1F2A37"/>
                </a:solidFill>
                <a:latin typeface="Consolas"/>
              </a:rPr>
              <a:t xml:space="preserve">    return {</a:t>
            </a:r>
          </a:p>
          <a:p>
            <a:pPr marL="0" indent="0" algn="l">
              <a:lnSpc>
                <a:spcPts val="1083"/>
              </a:lnSpc>
              <a:spcBef>
                <a:spcPts val="0"/>
              </a:spcBef>
              <a:spcAft>
                <a:spcPts val="0"/>
              </a:spcAft>
              <a:buNone/>
            </a:pPr>
            <a:r>
              <a:rPr sz="833" b="0" i="0">
                <a:solidFill>
                  <a:srgbClr val="1F2A37"/>
                </a:solidFill>
                <a:latin typeface="Consolas"/>
              </a:rPr>
              <a:t xml:space="preserve">        "size":    memory_size,</a:t>
            </a:r>
          </a:p>
          <a:p>
            <a:pPr marL="0" indent="0" algn="l">
              <a:lnSpc>
                <a:spcPts val="1083"/>
              </a:lnSpc>
              <a:spcBef>
                <a:spcPts val="0"/>
              </a:spcBef>
              <a:spcAft>
                <a:spcPts val="0"/>
              </a:spcAft>
              <a:buNone/>
            </a:pPr>
            <a:r>
              <a:rPr sz="833" b="0" i="0">
                <a:solidFill>
                  <a:srgbClr val="1F2A37"/>
                </a:solidFill>
                <a:latin typeface="Consolas"/>
              </a:rPr>
              <a:t xml:space="preserve">        "buffer":  np.empty(memory_size, dtype=create_experience_type(env)),</a:t>
            </a:r>
          </a:p>
          <a:p>
            <a:pPr marL="0" indent="0" algn="l">
              <a:lnSpc>
                <a:spcPts val="1083"/>
              </a:lnSpc>
              <a:spcBef>
                <a:spcPts val="0"/>
              </a:spcBef>
              <a:spcAft>
                <a:spcPts val="0"/>
              </a:spcAft>
              <a:buNone/>
            </a:pPr>
            <a:r>
              <a:rPr sz="833" b="0" i="0">
                <a:solidFill>
                  <a:srgbClr val="1F2A37"/>
                </a:solidFill>
                <a:latin typeface="Consolas"/>
              </a:rPr>
              <a:t xml:space="preserve">        "index":   0,   </a:t>
            </a:r>
            <a:r>
              <a:rPr sz="833" b="0" i="0">
                <a:solidFill>
                  <a:srgbClr val="768896"/>
                </a:solidFill>
                <a:latin typeface="Consolas"/>
              </a:rPr>
              <a:t xml:space="preserve">  # where the next transition goes</a:t>
            </a:r>
          </a:p>
          <a:p>
            <a:pPr marL="0" indent="0" algn="l">
              <a:lnSpc>
                <a:spcPts val="1083"/>
              </a:lnSpc>
              <a:spcBef>
                <a:spcPts val="0"/>
              </a:spcBef>
              <a:spcAft>
                <a:spcPts val="0"/>
              </a:spcAft>
              <a:buNone/>
            </a:pPr>
            <a:r>
              <a:rPr sz="833" b="0" i="0">
                <a:solidFill>
                  <a:srgbClr val="1F2A37"/>
                </a:solidFill>
                <a:latin typeface="Consolas"/>
              </a:rPr>
              <a:t xml:space="preserve">        "entries": 0,   </a:t>
            </a:r>
            <a:r>
              <a:rPr sz="833" b="0" i="0">
                <a:solidFill>
                  <a:srgbClr val="768896"/>
                </a:solidFill>
                <a:latin typeface="Consolas"/>
              </a:rPr>
              <a:t xml:space="preserve">  # how many are currently stored</a:t>
            </a:r>
          </a:p>
          <a:p>
            <a:pPr marL="0" indent="0" algn="l">
              <a:lnSpc>
                <a:spcPts val="1083"/>
              </a:lnSpc>
              <a:spcBef>
                <a:spcPts val="0"/>
              </a:spcBef>
              <a:spcAft>
                <a:spcPts val="0"/>
              </a:spcAft>
              <a:buNone/>
            </a:pPr>
            <a:r>
              <a:rPr sz="833" b="0" i="0">
                <a:solidFill>
                  <a:srgbClr val="1F2A37"/>
                </a:solidFill>
                <a:latin typeface="Consolas"/>
              </a:rPr>
              <a:t xml:space="preserve">    }</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1F2A37"/>
                </a:solidFill>
                <a:latin typeface="Consolas"/>
              </a:rPr>
              <a:t xml:space="preserve">def store_experience(replay_memory, experience):</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1F2A37"/>
                </a:solidFill>
                <a:latin typeface="Consolas"/>
              </a:rPr>
              <a:t xml:space="preserve">    replay_memory["buffer"][replay_memory["index"]] = experience</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1F2A37"/>
                </a:solidFill>
                <a:latin typeface="Consolas"/>
              </a:rPr>
              <a:t xml:space="preserve">    replay_memory["entries"] = min(</a:t>
            </a:r>
          </a:p>
          <a:p>
            <a:pPr marL="0" indent="0" algn="l">
              <a:lnSpc>
                <a:spcPts val="1083"/>
              </a:lnSpc>
              <a:spcBef>
                <a:spcPts val="0"/>
              </a:spcBef>
              <a:spcAft>
                <a:spcPts val="0"/>
              </a:spcAft>
              <a:buNone/>
            </a:pPr>
            <a:r>
              <a:rPr sz="833" b="0" i="0">
                <a:solidFill>
                  <a:srgbClr val="1F2A37"/>
                </a:solidFill>
                <a:latin typeface="Consolas"/>
              </a:rPr>
              <a:t xml:space="preserve">        replay_memory["entries"] + 1, replay_memory["size"])</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768896"/>
                </a:solidFill>
                <a:latin typeface="Consolas"/>
              </a:rPr>
              <a:t xml:space="preserve">    # wrap around: the oldest transition is overwritten</a:t>
            </a:r>
          </a:p>
          <a:p>
            <a:pPr marL="0" indent="0" algn="l">
              <a:lnSpc>
                <a:spcPts val="1083"/>
              </a:lnSpc>
              <a:spcBef>
                <a:spcPts val="0"/>
              </a:spcBef>
              <a:spcAft>
                <a:spcPts val="0"/>
              </a:spcAft>
              <a:buNone/>
            </a:pPr>
            <a:r>
              <a:rPr sz="833" b="0" i="0">
                <a:solidFill>
                  <a:srgbClr val="1F2A37"/>
                </a:solidFill>
                <a:latin typeface="Consolas"/>
              </a:rPr>
              <a:t xml:space="preserve">    replay_memory["index"] = \</a:t>
            </a:r>
          </a:p>
          <a:p>
            <a:pPr marL="0" indent="0" algn="l">
              <a:lnSpc>
                <a:spcPts val="1083"/>
              </a:lnSpc>
              <a:spcBef>
                <a:spcPts val="0"/>
              </a:spcBef>
              <a:spcAft>
                <a:spcPts val="0"/>
              </a:spcAft>
              <a:buNone/>
            </a:pPr>
            <a:r>
              <a:rPr sz="833" b="0" i="0">
                <a:solidFill>
                  <a:srgbClr val="1F2A37"/>
                </a:solidFill>
                <a:latin typeface="Consolas"/>
              </a:rPr>
              <a:t xml:space="preserve">        (replay_memory["index"] + 1) % replay_memory["size"]</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1F2A37"/>
                </a:solidFill>
                <a:latin typeface="Consolas"/>
              </a:rPr>
              <a:t xml:space="preserve">def sample_experiences(replay_memory, batch_size):</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768896"/>
                </a:solidFill>
                <a:latin typeface="Consolas"/>
              </a:rPr>
              <a:t xml:space="preserve">    # uniform, without repetition inside a mini-batch</a:t>
            </a:r>
          </a:p>
          <a:p>
            <a:pPr marL="0" indent="0" algn="l">
              <a:lnSpc>
                <a:spcPts val="1083"/>
              </a:lnSpc>
              <a:spcBef>
                <a:spcPts val="0"/>
              </a:spcBef>
              <a:spcAft>
                <a:spcPts val="0"/>
              </a:spcAft>
              <a:buNone/>
            </a:pPr>
            <a:r>
              <a:rPr sz="833" b="0" i="0">
                <a:solidFill>
                  <a:srgbClr val="1F2A37"/>
                </a:solidFill>
                <a:latin typeface="Consolas"/>
              </a:rPr>
              <a:t xml:space="preserve">    indices = np.random.choice(</a:t>
            </a:r>
          </a:p>
          <a:p>
            <a:pPr marL="0" indent="0" algn="l">
              <a:lnSpc>
                <a:spcPts val="1083"/>
              </a:lnSpc>
              <a:spcBef>
                <a:spcPts val="0"/>
              </a:spcBef>
              <a:spcAft>
                <a:spcPts val="0"/>
              </a:spcAft>
              <a:buNone/>
            </a:pPr>
            <a:r>
              <a:rPr sz="833" b="0" i="0">
                <a:solidFill>
                  <a:srgbClr val="1F2A37"/>
                </a:solidFill>
                <a:latin typeface="Consolas"/>
              </a:rPr>
              <a:t xml:space="preserve">        replay_memory["entries"], size=batch_size, replace=False)</a:t>
            </a:r>
          </a:p>
          <a:p>
            <a:pPr marL="0" indent="0" algn="l">
              <a:lnSpc>
                <a:spcPts val="1083"/>
              </a:lnSpc>
              <a:spcBef>
                <a:spcPts val="0"/>
              </a:spcBef>
              <a:spcAft>
                <a:spcPts val="0"/>
              </a:spcAft>
              <a:buNone/>
            </a:pPr>
            <a:r>
              <a:rPr sz="833" b="0" i="0">
                <a:solidFill>
                  <a:srgbClr val="333639"/>
                </a:solidFill>
                <a:latin typeface="Consolas"/>
              </a:rPr>
              <a:t xml:space="preserve"> </a:t>
            </a:r>
          </a:p>
          <a:p>
            <a:pPr marL="0" indent="0" algn="l">
              <a:lnSpc>
                <a:spcPts val="1083"/>
              </a:lnSpc>
              <a:spcBef>
                <a:spcPts val="0"/>
              </a:spcBef>
              <a:spcAft>
                <a:spcPts val="0"/>
              </a:spcAft>
              <a:buNone/>
            </a:pPr>
            <a:r>
              <a:rPr sz="833" b="0" i="0">
                <a:solidFill>
                  <a:srgbClr val="1F2A37"/>
                </a:solidFill>
                <a:latin typeface="Consolas"/>
              </a:rPr>
              <a:t xml:space="preserve">    return replay_memory["buffer"][indices]</a:t>
            </a:r>
          </a:p>
        </p:txBody>
      </p:sp>
      <p:sp>
        <p:nvSpPr>
          <p:cNvPr id="12" name="TextBox 11"/>
          <p:cNvSpPr txBox="1"/>
          <p:nvPr/>
        </p:nvSpPr>
        <p:spPr>
          <a:xfrm>
            <a:off x="7717536" y="1316736"/>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A CIRCULAR BUFFER</a:t>
            </a:r>
          </a:p>
        </p:txBody>
      </p:sp>
      <p:sp>
        <p:nvSpPr>
          <p:cNvPr id="13" name="TextBox 12"/>
          <p:cNvSpPr txBox="1"/>
          <p:nvPr/>
        </p:nvSpPr>
        <p:spPr>
          <a:xfrm>
            <a:off x="7717536" y="1572768"/>
            <a:ext cx="3633185" cy="1561287"/>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Fixed memory footprint, and the oldest experience is dropped first — which is what we want, since very old transitions came from a policy the agent has outgrown.</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100 000 transitions of four floats is nothing here. </a:t>
            </a:r>
            <a:r>
              <a:rPr sz="1045" b="1" i="0">
                <a:solidFill>
                  <a:srgbClr val="25282A"/>
                </a:solidFill>
                <a:latin typeface="Fira Sans"/>
              </a:rPr>
              <a:t>With images it is not</a:t>
            </a:r>
            <a:r>
              <a:rPr sz="1045" b="0" i="0">
                <a:solidFill>
                  <a:srgbClr val="333639"/>
                </a:solidFill>
                <a:latin typeface="Fira Sans"/>
              </a:rPr>
              <a:t>: if each state is a stack of recent frames, storing states independently duplicates every frame several times.</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Production implementations therefore store each frame once and rebuild the stacked state when sampling.</a:t>
            </a:r>
          </a:p>
        </p:txBody>
      </p:sp>
      <p:sp>
        <p:nvSpPr>
          <p:cNvPr id="14" name="Rectangle 13"/>
          <p:cNvSpPr/>
          <p:nvPr/>
        </p:nvSpPr>
        <p:spPr>
          <a:xfrm>
            <a:off x="7717536" y="3335223"/>
            <a:ext cx="3633185"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717536" y="3335223"/>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36992" y="3481527"/>
            <a:ext cx="33405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A WARM-UP PERIOD</a:t>
            </a:r>
          </a:p>
        </p:txBody>
      </p:sp>
      <p:sp>
        <p:nvSpPr>
          <p:cNvPr id="17" name="TextBox 16"/>
          <p:cNvSpPr txBox="1"/>
          <p:nvPr/>
        </p:nvSpPr>
        <p:spPr>
          <a:xfrm>
            <a:off x="7936992" y="3719271"/>
            <a:ext cx="3249137"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Training does not start until the buffer holds at least </a:t>
            </a:r>
            <a:r>
              <a:rPr sz="1045" b="1" i="0">
                <a:solidFill>
                  <a:srgbClr val="25282A"/>
                </a:solidFill>
                <a:latin typeface="Fira Sans"/>
              </a:rPr>
              <a:t>1000 transitions</a:t>
            </a:r>
            <a:r>
              <a:rPr sz="1045" b="0" i="0">
                <a:solidFill>
                  <a:srgbClr val="333639"/>
                </a:solidFill>
                <a:latin typeface="Fira Sans"/>
              </a:rPr>
              <a:t xml:space="preserve"> (and at least one mini-batch). Sampling from an almost-empty buffer would reintroduce exactly the correlation we are trying to remove.</a:t>
            </a:r>
          </a:p>
        </p:txBody>
      </p:sp>
      <p:sp>
        <p:nvSpPr>
          <p:cNvPr id="18" name="Rectangle 17"/>
          <p:cNvSpPr/>
          <p:nvPr/>
        </p:nvSpPr>
        <p:spPr>
          <a:xfrm>
            <a:off x="7717536" y="4685487"/>
            <a:ext cx="3633185" cy="74843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717536" y="4685487"/>
            <a:ext cx="41148" cy="74843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936992" y="4831791"/>
            <a:ext cx="3249137"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Consolas"/>
              </a:rPr>
              <a:t>replace=False</a:t>
            </a:r>
            <a:r>
              <a:rPr sz="997" b="0" i="0">
                <a:solidFill>
                  <a:srgbClr val="333639"/>
                </a:solidFill>
                <a:latin typeface="Fira Sans"/>
              </a:rPr>
              <a:t xml:space="preserve"> draws without repetition inside a mini-batch. It is also the line that will have to change when sampling becomes non-uniform in Part VI.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5.3  TARGET NETWORKS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Freeze the labels for a while, and the fit becomes supervised again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 — Deep Q-Networks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Replay addresses the correlated samples. It does nothing about the moving target: the same network still produces both the prediction and the label. </a:t>
            </a:r>
            <a:r>
              <a:rPr sz="1282" b="1" i="0" dirty="0">
                <a:solidFill>
                  <a:srgbClr val="25282A"/>
                </a:solidFill>
                <a:latin typeface="Fira Sans"/>
              </a:rPr>
              <a:t>Keep two copies.</a:t>
            </a:r>
          </a:p>
        </p:txBody>
      </p:sp>
      <p:sp>
        <p:nvSpPr>
          <p:cNvPr id="9" name="Rectangle 8"/>
          <p:cNvSpPr/>
          <p:nvPr/>
        </p:nvSpPr>
        <p:spPr>
          <a:xfrm>
            <a:off x="841248" y="1951746"/>
            <a:ext cx="5102352" cy="94237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7" y="1951746"/>
            <a:ext cx="45719" cy="93414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0704" y="2098050"/>
            <a:ext cx="466344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THE ONLINE NETWORK</a:t>
            </a:r>
          </a:p>
        </p:txBody>
      </p:sp>
      <p:sp>
        <p:nvSpPr>
          <p:cNvPr id="12" name="TextBox 11"/>
          <p:cNvSpPr txBox="1"/>
          <p:nvPr/>
        </p:nvSpPr>
        <p:spPr>
          <a:xfrm>
            <a:off x="1060704" y="2372370"/>
            <a:ext cx="466344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Updated at every training step. </a:t>
            </a:r>
            <a:r>
              <a:rPr sz="1092" b="0" i="0" dirty="0">
                <a:solidFill>
                  <a:srgbClr val="333639"/>
                </a:solidFill>
                <a:latin typeface="Fira Sans"/>
              </a:rPr>
              <a:t>It makes the current prediction, and it is the network that defines the learned policy.</a:t>
            </a:r>
          </a:p>
        </p:txBody>
      </p:sp>
      <p:sp>
        <p:nvSpPr>
          <p:cNvPr id="13" name="Rectangle 12"/>
          <p:cNvSpPr/>
          <p:nvPr/>
        </p:nvSpPr>
        <p:spPr>
          <a:xfrm>
            <a:off x="6254496" y="1951746"/>
            <a:ext cx="5102352" cy="921712"/>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254495" y="1951746"/>
            <a:ext cx="45719" cy="92171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73952" y="2098050"/>
            <a:ext cx="466344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2B7A3E"/>
                </a:solidFill>
                <a:latin typeface="Fira Sans"/>
              </a:rPr>
              <a:t>THE TARGET NETWORK</a:t>
            </a:r>
          </a:p>
        </p:txBody>
      </p:sp>
      <p:sp>
        <p:nvSpPr>
          <p:cNvPr id="16" name="TextBox 15"/>
          <p:cNvSpPr txBox="1"/>
          <p:nvPr/>
        </p:nvSpPr>
        <p:spPr>
          <a:xfrm>
            <a:off x="6473952" y="2372370"/>
            <a:ext cx="466344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Never optimised. Same architecture, frozen weights, used only to compute the bootstrapped target — until it is refreshed.</a:t>
            </a:r>
          </a:p>
        </p:txBody>
      </p:sp>
      <p:pic>
        <p:nvPicPr>
          <p:cNvPr id="17" name="Picture 16" descr="hard_updat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36974" y="4886148"/>
            <a:ext cx="2687571" cy="253192"/>
          </a:xfrm>
          <a:prstGeom prst="rect">
            <a:avLst/>
          </a:prstGeom>
        </p:spPr>
      </p:pic>
      <p:pic>
        <p:nvPicPr>
          <p:cNvPr id="18" name="Picture 17" descr="tgt_opt.png"/>
          <p:cNvPicPr>
            <a:picLocks noChangeAspect="1"/>
          </p:cNvPicPr>
          <p:nvPr/>
        </p:nvPicPr>
        <p:blipFill>
          <a:blip r:embed="rId3"/>
          <a:stretch>
            <a:fillRect/>
          </a:stretch>
        </p:blipFill>
        <p:spPr>
          <a:xfrm>
            <a:off x="2537730" y="3074626"/>
            <a:ext cx="7116539" cy="1596266"/>
          </a:xfrm>
          <a:prstGeom prst="rect">
            <a:avLst/>
          </a:prstGeom>
        </p:spPr>
      </p:pic>
      <p:sp>
        <p:nvSpPr>
          <p:cNvPr id="20" name="Rectangle 19"/>
          <p:cNvSpPr/>
          <p:nvPr/>
        </p:nvSpPr>
        <p:spPr>
          <a:xfrm>
            <a:off x="841248" y="5568696"/>
            <a:ext cx="10515600" cy="625449"/>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5568696"/>
            <a:ext cx="41148" cy="62544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60704" y="5715000"/>
            <a:ext cx="1013155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This turns one hard problem into </a:t>
            </a:r>
            <a:r>
              <a:rPr sz="1092" b="1" i="0" dirty="0">
                <a:solidFill>
                  <a:srgbClr val="333639"/>
                </a:solidFill>
                <a:latin typeface="Fira Sans"/>
              </a:rPr>
              <a:t>a sequence of small supervised ones</a:t>
            </a:r>
            <a:r>
              <a:rPr sz="1092" b="0" i="0" dirty="0">
                <a:solidFill>
                  <a:srgbClr val="333639"/>
                </a:solidFill>
                <a:latin typeface="Fira Sans"/>
              </a:rPr>
              <a:t>: for N steps the labels are fixed, the online network descends toward them, and only then are the labels updated. The targets are not more correct</a:t>
            </a:r>
            <a:r>
              <a:rPr lang="it-IT" sz="1092" b="0" i="0" dirty="0">
                <a:solidFill>
                  <a:srgbClr val="333639"/>
                </a:solidFill>
                <a:latin typeface="Fira Sans"/>
              </a:rPr>
              <a:t>, </a:t>
            </a:r>
            <a:r>
              <a:rPr sz="1092" b="0" i="0" dirty="0">
                <a:solidFill>
                  <a:srgbClr val="333639"/>
                </a:solidFill>
                <a:latin typeface="Fira Sans"/>
              </a:rPr>
              <a:t>they are stable long enough for optimization to mean something.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5.4  THE DQN LOSS, AND THE FREQUENCY THAT TUNES IT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Both mechanisms are visible in one expression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 — Deep Q-Networks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32</a:t>
            </a:r>
          </a:p>
        </p:txBody>
      </p:sp>
      <p:sp>
        <p:nvSpPr>
          <p:cNvPr id="8" name="Rectangle 7"/>
          <p:cNvSpPr/>
          <p:nvPr/>
        </p:nvSpPr>
        <p:spPr>
          <a:xfrm>
            <a:off x="841248" y="1353312"/>
            <a:ext cx="10515600" cy="11887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dqn_loss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6690" y="1615898"/>
            <a:ext cx="6694158" cy="681990"/>
          </a:xfrm>
          <a:prstGeom prst="rect">
            <a:avLst/>
          </a:prstGeom>
        </p:spPr>
      </p:pic>
      <p:sp>
        <p:nvSpPr>
          <p:cNvPr id="10" name="Rectangle 9"/>
          <p:cNvSpPr/>
          <p:nvPr/>
        </p:nvSpPr>
        <p:spPr>
          <a:xfrm>
            <a:off x="841248" y="2706623"/>
            <a:ext cx="6821424" cy="3279801"/>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7" y="2706623"/>
            <a:ext cx="45719" cy="3271571"/>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24128" y="2788920"/>
            <a:ext cx="6455664"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optimize_dqn</a:t>
            </a:r>
          </a:p>
        </p:txBody>
      </p:sp>
      <p:sp>
        <p:nvSpPr>
          <p:cNvPr id="13" name="TextBox 12"/>
          <p:cNvSpPr txBox="1"/>
          <p:nvPr/>
        </p:nvSpPr>
        <p:spPr>
          <a:xfrm>
            <a:off x="1024128" y="3090672"/>
            <a:ext cx="6510528" cy="2721102"/>
          </a:xfrm>
          <a:prstGeom prst="rect">
            <a:avLst/>
          </a:prstGeom>
          <a:noFill/>
        </p:spPr>
        <p:txBody>
          <a:bodyPr wrap="none" lIns="0" tIns="0" rIns="0" bIns="0" anchor="t">
            <a:noAutofit/>
          </a:bodyPr>
          <a:lstStyle/>
          <a:p>
            <a:pPr marL="0" indent="0" algn="l">
              <a:lnSpc>
                <a:spcPts val="1057"/>
              </a:lnSpc>
              <a:spcBef>
                <a:spcPts val="0"/>
              </a:spcBef>
              <a:spcAft>
                <a:spcPts val="0"/>
              </a:spcAft>
              <a:buNone/>
            </a:pPr>
            <a:r>
              <a:rPr sz="813" b="0" i="0">
                <a:solidFill>
                  <a:srgbClr val="1F2A37"/>
                </a:solidFill>
                <a:latin typeface="Consolas"/>
              </a:rPr>
              <a:t xml:space="preserve">def optimize_dqn(batch, online_q, target_q, optimizer, gamma):</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states, actions, rewards, next_states, failures = ... </a:t>
            </a:r>
            <a:r>
              <a:rPr sz="813" b="0" i="0">
                <a:solidFill>
                  <a:srgbClr val="768896"/>
                </a:solidFill>
                <a:latin typeface="Consolas"/>
              </a:rPr>
              <a:t xml:space="preserve">  # as in optimize_nfq</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768896"/>
                </a:solidFill>
                <a:latin typeface="Consolas"/>
              </a:rPr>
              <a:t xml:space="preserve">    # target: the FROZEN network</a:t>
            </a:r>
          </a:p>
          <a:p>
            <a:pPr marL="0" indent="0" algn="l">
              <a:lnSpc>
                <a:spcPts val="1057"/>
              </a:lnSpc>
              <a:spcBef>
                <a:spcPts val="0"/>
              </a:spcBef>
              <a:spcAft>
                <a:spcPts val="0"/>
              </a:spcAft>
              <a:buNone/>
            </a:pPr>
            <a:r>
              <a:rPr sz="813" b="0" i="0">
                <a:solidFill>
                  <a:srgbClr val="1F2A37"/>
                </a:solidFill>
                <a:latin typeface="Consolas"/>
              </a:rPr>
              <a:t xml:space="preserve">    with torch.no_grad():</a:t>
            </a:r>
          </a:p>
          <a:p>
            <a:pPr marL="0" indent="0" algn="l">
              <a:lnSpc>
                <a:spcPts val="1057"/>
              </a:lnSpc>
              <a:spcBef>
                <a:spcPts val="0"/>
              </a:spcBef>
              <a:spcAft>
                <a:spcPts val="0"/>
              </a:spcAft>
              <a:buNone/>
            </a:pPr>
            <a:r>
              <a:rPr sz="813" b="0" i="0">
                <a:solidFill>
                  <a:srgbClr val="1F2A37"/>
                </a:solidFill>
                <a:latin typeface="Consolas"/>
              </a:rPr>
              <a:t xml:space="preserve">        max_q_next = target_q(next_states).max(dim=1).values</a:t>
            </a:r>
          </a:p>
          <a:p>
            <a:pPr marL="0" indent="0" algn="l">
              <a:lnSpc>
                <a:spcPts val="1057"/>
              </a:lnSpc>
              <a:spcBef>
                <a:spcPts val="0"/>
              </a:spcBef>
              <a:spcAft>
                <a:spcPts val="0"/>
              </a:spcAft>
              <a:buNone/>
            </a:pPr>
            <a:r>
              <a:rPr sz="813" b="0" i="0">
                <a:solidFill>
                  <a:srgbClr val="1F2A37"/>
                </a:solidFill>
                <a:latin typeface="Consolas"/>
              </a:rPr>
              <a:t xml:space="preserve">        target = rewards + gamma * max_q_next * (1.0 - failures)</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768896"/>
                </a:solidFill>
                <a:latin typeface="Consolas"/>
              </a:rPr>
              <a:t xml:space="preserve">    # prediction: the ONLINE network</a:t>
            </a:r>
          </a:p>
          <a:p>
            <a:pPr marL="0" indent="0" algn="l">
              <a:lnSpc>
                <a:spcPts val="1057"/>
              </a:lnSpc>
              <a:spcBef>
                <a:spcPts val="0"/>
              </a:spcBef>
              <a:spcAft>
                <a:spcPts val="0"/>
              </a:spcAft>
              <a:buNone/>
            </a:pPr>
            <a:r>
              <a:rPr sz="813" b="0" i="0">
                <a:solidFill>
                  <a:srgbClr val="1F2A37"/>
                </a:solidFill>
                <a:latin typeface="Consolas"/>
              </a:rPr>
              <a:t xml:space="preserve">    q_current = online_q(states).gather(1, actions.unsqueeze(1)).squeeze(1)</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td_errors = target - q_current</a:t>
            </a:r>
          </a:p>
          <a:p>
            <a:pPr marL="0" indent="0" algn="l">
              <a:lnSpc>
                <a:spcPts val="1057"/>
              </a:lnSpc>
              <a:spcBef>
                <a:spcPts val="0"/>
              </a:spcBef>
              <a:spcAft>
                <a:spcPts val="0"/>
              </a:spcAft>
              <a:buNone/>
            </a:pPr>
            <a:r>
              <a:rPr sz="813" b="0" i="0">
                <a:solidFill>
                  <a:srgbClr val="1F2A37"/>
                </a:solidFill>
                <a:latin typeface="Consolas"/>
              </a:rPr>
              <a:t xml:space="preserve">    loss = td_errors.pow(2).mean()</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optimizer.zero_grad()</a:t>
            </a:r>
          </a:p>
          <a:p>
            <a:pPr marL="0" indent="0" algn="l">
              <a:lnSpc>
                <a:spcPts val="1057"/>
              </a:lnSpc>
              <a:spcBef>
                <a:spcPts val="0"/>
              </a:spcBef>
              <a:spcAft>
                <a:spcPts val="0"/>
              </a:spcAft>
              <a:buNone/>
            </a:pPr>
            <a:r>
              <a:rPr sz="813" b="0" i="0">
                <a:solidFill>
                  <a:srgbClr val="1F2A37"/>
                </a:solidFill>
                <a:latin typeface="Consolas"/>
              </a:rPr>
              <a:t xml:space="preserve">    loss.backward()        </a:t>
            </a:r>
            <a:r>
              <a:rPr sz="813" b="0" i="0">
                <a:solidFill>
                  <a:srgbClr val="768896"/>
                </a:solidFill>
                <a:latin typeface="Consolas"/>
              </a:rPr>
              <a:t xml:space="preserve">  # gradients reach online_q only</a:t>
            </a:r>
          </a:p>
          <a:p>
            <a:pPr marL="0" indent="0" algn="l">
              <a:lnSpc>
                <a:spcPts val="1057"/>
              </a:lnSpc>
              <a:spcBef>
                <a:spcPts val="0"/>
              </a:spcBef>
              <a:spcAft>
                <a:spcPts val="0"/>
              </a:spcAft>
              <a:buNone/>
            </a:pPr>
            <a:r>
              <a:rPr sz="813" b="0" i="0">
                <a:solidFill>
                  <a:srgbClr val="1F2A37"/>
                </a:solidFill>
                <a:latin typeface="Consolas"/>
              </a:rPr>
              <a:t xml:space="preserve">    optimizer.step()</a:t>
            </a:r>
          </a:p>
          <a:p>
            <a:pPr marL="0" indent="0" algn="l">
              <a:lnSpc>
                <a:spcPts val="1057"/>
              </a:lnSpc>
              <a:spcBef>
                <a:spcPts val="0"/>
              </a:spcBef>
              <a:spcAft>
                <a:spcPts val="0"/>
              </a:spcAft>
              <a:buNone/>
            </a:pPr>
            <a:r>
              <a:rPr sz="813" b="0" i="0">
                <a:solidFill>
                  <a:srgbClr val="333639"/>
                </a:solidFill>
                <a:latin typeface="Consolas"/>
              </a:rPr>
              <a:t xml:space="preserve"> </a:t>
            </a:r>
          </a:p>
          <a:p>
            <a:pPr marL="0" indent="0" algn="l">
              <a:lnSpc>
                <a:spcPts val="1057"/>
              </a:lnSpc>
              <a:spcBef>
                <a:spcPts val="0"/>
              </a:spcBef>
              <a:spcAft>
                <a:spcPts val="0"/>
              </a:spcAft>
              <a:buNone/>
            </a:pPr>
            <a:r>
              <a:rPr sz="813" b="0" i="0">
                <a:solidFill>
                  <a:srgbClr val="1F2A37"/>
                </a:solidFill>
                <a:latin typeface="Consolas"/>
              </a:rPr>
              <a:t xml:space="preserve">    return td_errors.detach().numpy() </a:t>
            </a:r>
            <a:r>
              <a:rPr sz="813" b="0" i="0">
                <a:solidFill>
                  <a:srgbClr val="768896"/>
                </a:solidFill>
                <a:latin typeface="Consolas"/>
              </a:rPr>
              <a:t xml:space="preserve">  # kept for prioritized replay, later</a:t>
            </a:r>
          </a:p>
        </p:txBody>
      </p:sp>
      <p:sp>
        <p:nvSpPr>
          <p:cNvPr id="14" name="TextBox 13"/>
          <p:cNvSpPr txBox="1"/>
          <p:nvPr/>
        </p:nvSpPr>
        <p:spPr>
          <a:xfrm>
            <a:off x="7900416" y="2706624"/>
            <a:ext cx="345030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ONE HYPERPARAMETER THIS INTRODUCES</a:t>
            </a:r>
          </a:p>
        </p:txBody>
      </p:sp>
      <p:sp>
        <p:nvSpPr>
          <p:cNvPr id="15" name="TextBox 14"/>
          <p:cNvSpPr txBox="1"/>
          <p:nvPr/>
        </p:nvSpPr>
        <p:spPr>
          <a:xfrm>
            <a:off x="7900416" y="2944368"/>
            <a:ext cx="3450305" cy="1089964"/>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dirty="0">
                <a:solidFill>
                  <a:srgbClr val="333639"/>
                </a:solidFill>
                <a:latin typeface="Fira Sans"/>
              </a:rPr>
              <a:t xml:space="preserve">Refresh </a:t>
            </a:r>
            <a:r>
              <a:rPr sz="1045" b="1" i="0" dirty="0">
                <a:solidFill>
                  <a:srgbClr val="C8102E"/>
                </a:solidFill>
                <a:latin typeface="Fira Sans"/>
              </a:rPr>
              <a:t>too rarely</a:t>
            </a:r>
            <a:r>
              <a:rPr sz="1045" b="0" i="0" dirty="0">
                <a:solidFill>
                  <a:srgbClr val="333639"/>
                </a:solidFill>
                <a:latin typeface="Fira Sans"/>
              </a:rPr>
              <a:t xml:space="preserve"> and the targets are badly out of date: learning is </a:t>
            </a:r>
            <a:r>
              <a:rPr sz="1045" b="1" i="0" dirty="0">
                <a:solidFill>
                  <a:srgbClr val="25282A"/>
                </a:solidFill>
                <a:latin typeface="Fira Sans"/>
              </a:rPr>
              <a:t>slow</a:t>
            </a:r>
            <a:r>
              <a:rPr sz="1045" b="0" i="0" dirty="0">
                <a:solidFill>
                  <a:srgbClr val="333639"/>
                </a:solidFill>
                <a:latin typeface="Fira Sans"/>
              </a:rPr>
              <a:t xml:space="preserve"> and biased toward stale estimates.</a:t>
            </a:r>
          </a:p>
          <a:p>
            <a:pPr marL="182880" indent="-182880" algn="l">
              <a:lnSpc>
                <a:spcPts val="1170"/>
              </a:lnSpc>
              <a:spcBef>
                <a:spcPts val="600"/>
              </a:spcBef>
              <a:spcAft>
                <a:spcPts val="0"/>
              </a:spcAft>
              <a:buClr>
                <a:srgbClr val="1971C2"/>
              </a:buClr>
              <a:buFont typeface="Fira Sans"/>
              <a:buChar char="–"/>
            </a:pPr>
            <a:r>
              <a:rPr sz="1045" b="0" i="0" dirty="0">
                <a:solidFill>
                  <a:srgbClr val="333639"/>
                </a:solidFill>
                <a:latin typeface="Fira Sans"/>
              </a:rPr>
              <a:t xml:space="preserve">Refresh </a:t>
            </a:r>
            <a:r>
              <a:rPr sz="1045" b="1" i="0" dirty="0">
                <a:solidFill>
                  <a:srgbClr val="C8102E"/>
                </a:solidFill>
                <a:latin typeface="Fira Sans"/>
              </a:rPr>
              <a:t>too often</a:t>
            </a:r>
            <a:r>
              <a:rPr sz="1045" b="0" i="0" dirty="0">
                <a:solidFill>
                  <a:srgbClr val="333639"/>
                </a:solidFill>
                <a:latin typeface="Fira Sans"/>
              </a:rPr>
              <a:t xml:space="preserve"> and we are </a:t>
            </a:r>
            <a:r>
              <a:rPr sz="1045" b="1" i="0" dirty="0">
                <a:solidFill>
                  <a:srgbClr val="25282A"/>
                </a:solidFill>
                <a:latin typeface="Fira Sans"/>
              </a:rPr>
              <a:t>back to NFQ</a:t>
            </a:r>
            <a:r>
              <a:rPr sz="1045" b="0" i="0" dirty="0">
                <a:solidFill>
                  <a:srgbClr val="333639"/>
                </a:solidFill>
                <a:latin typeface="Fira Sans"/>
              </a:rPr>
              <a:t>, the stabilizing effect disappears.</a:t>
            </a:r>
          </a:p>
          <a:p>
            <a:pPr marL="182880" indent="-182880" algn="l">
              <a:lnSpc>
                <a:spcPts val="1170"/>
              </a:lnSpc>
              <a:spcBef>
                <a:spcPts val="600"/>
              </a:spcBef>
              <a:spcAft>
                <a:spcPts val="0"/>
              </a:spcAft>
              <a:buClr>
                <a:srgbClr val="1971C2"/>
              </a:buClr>
              <a:buFont typeface="Fira Sans"/>
              <a:buChar char="–"/>
            </a:pPr>
            <a:r>
              <a:rPr sz="1045" b="0" i="0" dirty="0">
                <a:solidFill>
                  <a:srgbClr val="333639"/>
                </a:solidFill>
                <a:latin typeface="Fira Sans"/>
              </a:rPr>
              <a:t xml:space="preserve">The notebook copies the weights every </a:t>
            </a:r>
            <a:r>
              <a:rPr sz="1045" b="1" i="0" dirty="0">
                <a:solidFill>
                  <a:srgbClr val="25282A"/>
                </a:solidFill>
                <a:latin typeface="Fira Sans"/>
              </a:rPr>
              <a:t>100 steps</a:t>
            </a:r>
            <a:r>
              <a:rPr sz="1045" b="0" i="0" dirty="0">
                <a:solidFill>
                  <a:srgbClr val="333639"/>
                </a:solidFill>
                <a:latin typeface="Fira Sans"/>
              </a:rPr>
              <a:t xml:space="preserve"> (250 on Acrobot and Pendulum).</a:t>
            </a:r>
          </a:p>
        </p:txBody>
      </p:sp>
      <p:sp>
        <p:nvSpPr>
          <p:cNvPr id="16" name="Rectangle 15"/>
          <p:cNvSpPr/>
          <p:nvPr/>
        </p:nvSpPr>
        <p:spPr>
          <a:xfrm>
            <a:off x="7900416" y="4217212"/>
            <a:ext cx="3450305" cy="105232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900416" y="4217212"/>
            <a:ext cx="41148" cy="105232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19872" y="4363516"/>
            <a:ext cx="3066257" cy="75971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Note that the semi-gradient convention has not changed. The target is still treated as a constant</a:t>
            </a:r>
            <a:r>
              <a:rPr lang="it-IT" sz="997" b="0" i="0" dirty="0">
                <a:solidFill>
                  <a:srgbClr val="333639"/>
                </a:solidFill>
                <a:latin typeface="Fira Sans"/>
              </a:rPr>
              <a:t>,</a:t>
            </a:r>
            <a:r>
              <a:rPr sz="997" b="0" i="0" dirty="0">
                <a:solidFill>
                  <a:srgbClr val="333639"/>
                </a:solidFill>
                <a:latin typeface="Fira Sans"/>
              </a:rPr>
              <a:t> it is now constant for a much better reason, since the network that produced it genuinely is not moving.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5.5  EXPLORATION THAT DECAYS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Explore widely while you know nothing; exploit once you do</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 — Deep Q-Networks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33</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NFQ used a fixed </a:t>
            </a:r>
            <a:r>
              <a:rPr sz="1235" b="0" i="0" dirty="0" err="1">
                <a:solidFill>
                  <a:srgbClr val="333639"/>
                </a:solidFill>
                <a:latin typeface="Fira Sans"/>
              </a:rPr>
              <a:t>ε</a:t>
            </a:r>
            <a:r>
              <a:rPr sz="1235" b="0" i="0" dirty="0">
                <a:solidFill>
                  <a:srgbClr val="333639"/>
                </a:solidFill>
                <a:latin typeface="Fira Sans"/>
              </a:rPr>
              <a:t> = 0.5 for the whole run</a:t>
            </a:r>
            <a:r>
              <a:rPr lang="it-IT" sz="1235" b="0" i="0" dirty="0">
                <a:solidFill>
                  <a:srgbClr val="333639"/>
                </a:solidFill>
                <a:latin typeface="Fira Sans"/>
              </a:rPr>
              <a:t>: </a:t>
            </a:r>
            <a:r>
              <a:rPr sz="1235" b="0" i="0" dirty="0">
                <a:solidFill>
                  <a:srgbClr val="333639"/>
                </a:solidFill>
                <a:latin typeface="Fira Sans"/>
              </a:rPr>
              <a:t>simple, and wasteful once the agent knows something. DQN decays </a:t>
            </a:r>
            <a:r>
              <a:rPr sz="1235" b="0" i="0" dirty="0" err="1">
                <a:solidFill>
                  <a:srgbClr val="333639"/>
                </a:solidFill>
                <a:latin typeface="Fira Sans"/>
              </a:rPr>
              <a:t>ε</a:t>
            </a:r>
            <a:r>
              <a:rPr sz="1235" b="0" i="0" dirty="0">
                <a:solidFill>
                  <a:srgbClr val="333639"/>
                </a:solidFill>
                <a:latin typeface="Fira Sans"/>
              </a:rPr>
              <a:t> </a:t>
            </a:r>
            <a:r>
              <a:rPr sz="1235" b="1" i="0" dirty="0">
                <a:solidFill>
                  <a:srgbClr val="25282A"/>
                </a:solidFill>
                <a:latin typeface="Fira Sans"/>
              </a:rPr>
              <a:t>geometrically over the first 10 000 environment steps</a:t>
            </a:r>
            <a:r>
              <a:rPr sz="1235" b="0" i="0" dirty="0">
                <a:solidFill>
                  <a:srgbClr val="333639"/>
                </a:solidFill>
                <a:latin typeface="Fira Sans"/>
              </a:rPr>
              <a:t>, then holds it at a small floor (5 000 steps on Acrobot, 20 000 on Pendulum).</a:t>
            </a:r>
          </a:p>
        </p:txBody>
      </p:sp>
      <p:pic>
        <p:nvPicPr>
          <p:cNvPr id="9" name="Picture 8" descr="eps_sche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110243"/>
            <a:ext cx="3881058" cy="475487"/>
          </a:xfrm>
          <a:prstGeom prst="rect">
            <a:avLst/>
          </a:prstGeom>
        </p:spPr>
      </p:pic>
      <p:pic>
        <p:nvPicPr>
          <p:cNvPr id="10" name="Picture 9" descr="eps_decay.png"/>
          <p:cNvPicPr>
            <a:picLocks noChangeAspect="1"/>
          </p:cNvPicPr>
          <p:nvPr/>
        </p:nvPicPr>
        <p:blipFill>
          <a:blip r:embed="rId3"/>
          <a:stretch>
            <a:fillRect/>
          </a:stretch>
        </p:blipFill>
        <p:spPr>
          <a:xfrm>
            <a:off x="846271" y="2668104"/>
            <a:ext cx="6117063" cy="2418374"/>
          </a:xfrm>
          <a:prstGeom prst="rect">
            <a:avLst/>
          </a:prstGeom>
        </p:spPr>
      </p:pic>
      <p:sp>
        <p:nvSpPr>
          <p:cNvPr id="11" name="TextBox 10"/>
          <p:cNvSpPr txBox="1"/>
          <p:nvPr/>
        </p:nvSpPr>
        <p:spPr>
          <a:xfrm>
            <a:off x="841248" y="5090884"/>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ε from 1.0 to 0.01 on a log scale — note that the decay is counted in steps, not episodes.</a:t>
            </a:r>
          </a:p>
        </p:txBody>
      </p:sp>
      <p:sp>
        <p:nvSpPr>
          <p:cNvPr id="12" name="Rectangle 11"/>
          <p:cNvSpPr/>
          <p:nvPr/>
        </p:nvSpPr>
        <p:spPr>
          <a:xfrm>
            <a:off x="841248" y="5445976"/>
            <a:ext cx="6543446" cy="6111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445976"/>
            <a:ext cx="41148" cy="6111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5592280"/>
            <a:ext cx="6159398" cy="31851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Counting in </a:t>
            </a:r>
            <a:r>
              <a:rPr sz="1045" b="1" i="0">
                <a:solidFill>
                  <a:srgbClr val="333639"/>
                </a:solidFill>
                <a:latin typeface="Fira Sans"/>
              </a:rPr>
              <a:t>steps</a:t>
            </a:r>
            <a:r>
              <a:rPr sz="1045" b="0" i="0">
                <a:solidFill>
                  <a:srgbClr val="333639"/>
                </a:solidFill>
                <a:latin typeface="Fira Sans"/>
              </a:rPr>
              <a:t> matters: early episodes last about twenty steps, late ones up to 500, so a schedule in episodes would decay far too quickly at the start.</a:t>
            </a:r>
          </a:p>
        </p:txBody>
      </p:sp>
      <p:sp>
        <p:nvSpPr>
          <p:cNvPr id="15" name="Rectangle 14"/>
          <p:cNvSpPr/>
          <p:nvPr/>
        </p:nvSpPr>
        <p:spPr>
          <a:xfrm>
            <a:off x="7618780" y="1335024"/>
            <a:ext cx="3731940" cy="287121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618780" y="1335024"/>
            <a:ext cx="41148" cy="287121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01660" y="1417320"/>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DecayingEpsilonGreedyPolicy</a:t>
            </a:r>
          </a:p>
        </p:txBody>
      </p:sp>
      <p:sp>
        <p:nvSpPr>
          <p:cNvPr id="18" name="TextBox 17"/>
          <p:cNvSpPr txBox="1"/>
          <p:nvPr/>
        </p:nvSpPr>
        <p:spPr>
          <a:xfrm>
            <a:off x="7801660" y="1719072"/>
            <a:ext cx="3421044" cy="2432304"/>
          </a:xfrm>
          <a:prstGeom prst="rect">
            <a:avLst/>
          </a:prstGeom>
          <a:noFill/>
        </p:spPr>
        <p:txBody>
          <a:bodyPr wrap="none" lIns="0" tIns="0" rIns="0" bIns="0" anchor="t">
            <a:noAutofit/>
          </a:bodyPr>
          <a:lstStyle/>
          <a:p>
            <a:pPr marL="0" indent="0" algn="l">
              <a:lnSpc>
                <a:spcPts val="1006"/>
              </a:lnSpc>
              <a:spcBef>
                <a:spcPts val="0"/>
              </a:spcBef>
              <a:spcAft>
                <a:spcPts val="0"/>
              </a:spcAft>
              <a:buNone/>
            </a:pPr>
            <a:r>
              <a:rPr sz="774" b="0" i="0">
                <a:solidFill>
                  <a:srgbClr val="1F2A37"/>
                </a:solidFill>
                <a:latin typeface="Consolas"/>
              </a:rPr>
              <a:t xml:space="preserve">class DecayingEpsilonGreedyPolicy:</a:t>
            </a:r>
          </a:p>
          <a:p>
            <a:pPr marL="0" indent="0" algn="l">
              <a:lnSpc>
                <a:spcPts val="1006"/>
              </a:lnSpc>
              <a:spcBef>
                <a:spcPts val="0"/>
              </a:spcBef>
              <a:spcAft>
                <a:spcPts val="0"/>
              </a:spcAft>
              <a:buNone/>
            </a:pPr>
            <a:r>
              <a:rPr sz="774" b="0" i="0">
                <a:solidFill>
                  <a:srgbClr val="1F2A37"/>
                </a:solidFill>
                <a:latin typeface="Consolas"/>
              </a:rPr>
              <a:t xml:space="preserve">    def __init__(self, env, q, epsilon_max=1.0,</a:t>
            </a:r>
          </a:p>
          <a:p>
            <a:pPr marL="0" indent="0" algn="l">
              <a:lnSpc>
                <a:spcPts val="1006"/>
              </a:lnSpc>
              <a:spcBef>
                <a:spcPts val="0"/>
              </a:spcBef>
              <a:spcAft>
                <a:spcPts val="0"/>
              </a:spcAft>
              <a:buNone/>
            </a:pPr>
            <a:r>
              <a:rPr sz="774" b="0" i="0">
                <a:solidFill>
                  <a:srgbClr val="1F2A37"/>
                </a:solidFill>
                <a:latin typeface="Consolas"/>
              </a:rPr>
              <a:t xml:space="preserve">                 epsilon_min=0.01,</a:t>
            </a:r>
          </a:p>
          <a:p>
            <a:pPr marL="0" indent="0" algn="l">
              <a:lnSpc>
                <a:spcPts val="1006"/>
              </a:lnSpc>
              <a:spcBef>
                <a:spcPts val="0"/>
              </a:spcBef>
              <a:spcAft>
                <a:spcPts val="0"/>
              </a:spcAft>
              <a:buNone/>
            </a:pPr>
            <a:r>
              <a:rPr sz="774" b="0" i="0">
                <a:solidFill>
                  <a:srgbClr val="1F2A37"/>
                </a:solidFill>
                <a:latin typeface="Consolas"/>
              </a:rPr>
              <a:t xml:space="preserve">                 epsilon_decay_steps=10_000):</a:t>
            </a:r>
          </a:p>
          <a:p>
            <a:pPr marL="0" indent="0" algn="l">
              <a:lnSpc>
                <a:spcPts val="1006"/>
              </a:lnSpc>
              <a:spcBef>
                <a:spcPts val="0"/>
              </a:spcBef>
              <a:spcAft>
                <a:spcPts val="0"/>
              </a:spcAft>
              <a:buNone/>
            </a:pPr>
            <a:r>
              <a:rPr sz="774" b="0" i="0">
                <a:solidFill>
                  <a:srgbClr val="1F2A37"/>
                </a:solidFill>
                <a:latin typeface="Consolas"/>
              </a:rPr>
              <a:t xml:space="preserve">        self.random_policy = RandomPolicy(env)</a:t>
            </a:r>
          </a:p>
          <a:p>
            <a:pPr marL="0" indent="0" algn="l">
              <a:lnSpc>
                <a:spcPts val="1006"/>
              </a:lnSpc>
              <a:spcBef>
                <a:spcPts val="0"/>
              </a:spcBef>
              <a:spcAft>
                <a:spcPts val="0"/>
              </a:spcAft>
              <a:buNone/>
            </a:pPr>
            <a:r>
              <a:rPr sz="774" b="0" i="0">
                <a:solidFill>
                  <a:srgbClr val="1F2A37"/>
                </a:solidFill>
                <a:latin typeface="Consolas"/>
              </a:rPr>
              <a:t xml:space="preserve">        self.greedy_policy = GreedyPolicy(q)</a:t>
            </a:r>
          </a:p>
          <a:p>
            <a:pPr marL="0" indent="0" algn="l">
              <a:lnSpc>
                <a:spcPts val="1006"/>
              </a:lnSpc>
              <a:spcBef>
                <a:spcPts val="0"/>
              </a:spcBef>
              <a:spcAft>
                <a:spcPts val="0"/>
              </a:spcAft>
              <a:buNone/>
            </a:pPr>
            <a:r>
              <a:rPr sz="774" b="0" i="0">
                <a:solidFill>
                  <a:srgbClr val="1F2A37"/>
                </a:solidFill>
                <a:latin typeface="Consolas"/>
              </a:rPr>
              <a:t xml:space="preserve">        self.epsilons = np.logspace(np.log10(epsilon_max),</a:t>
            </a:r>
          </a:p>
          <a:p>
            <a:pPr marL="0" indent="0" algn="l">
              <a:lnSpc>
                <a:spcPts val="1006"/>
              </a:lnSpc>
              <a:spcBef>
                <a:spcPts val="0"/>
              </a:spcBef>
              <a:spcAft>
                <a:spcPts val="0"/>
              </a:spcAft>
              <a:buNone/>
            </a:pPr>
            <a:r>
              <a:rPr sz="774" b="0" i="0">
                <a:solidFill>
                  <a:srgbClr val="1F2A37"/>
                </a:solidFill>
                <a:latin typeface="Consolas"/>
              </a:rPr>
              <a:t xml:space="preserve">                                    np.log10(epsilon_min),</a:t>
            </a:r>
          </a:p>
          <a:p>
            <a:pPr marL="0" indent="0" algn="l">
              <a:lnSpc>
                <a:spcPts val="1006"/>
              </a:lnSpc>
              <a:spcBef>
                <a:spcPts val="0"/>
              </a:spcBef>
              <a:spcAft>
                <a:spcPts val="0"/>
              </a:spcAft>
              <a:buNone/>
            </a:pPr>
            <a:r>
              <a:rPr sz="774" b="0" i="0">
                <a:solidFill>
                  <a:srgbClr val="1F2A37"/>
                </a:solidFill>
                <a:latin typeface="Consolas"/>
              </a:rPr>
              <a:t xml:space="preserve">                                    num=epsilon_decay_steps)</a:t>
            </a:r>
          </a:p>
          <a:p>
            <a:pPr marL="0" indent="0" algn="l">
              <a:lnSpc>
                <a:spcPts val="1006"/>
              </a:lnSpc>
              <a:spcBef>
                <a:spcPts val="0"/>
              </a:spcBef>
              <a:spcAft>
                <a:spcPts val="0"/>
              </a:spcAft>
              <a:buNone/>
            </a:pPr>
            <a:r>
              <a:rPr sz="774" b="0" i="0">
                <a:solidFill>
                  <a:srgbClr val="1F2A37"/>
                </a:solidFill>
                <a:latin typeface="Consolas"/>
              </a:rPr>
              <a:t xml:space="preserve">        self.step = 0</a:t>
            </a:r>
          </a:p>
          <a:p>
            <a:pPr marL="0" indent="0" algn="l">
              <a:lnSpc>
                <a:spcPts val="1006"/>
              </a:lnSpc>
              <a:spcBef>
                <a:spcPts val="0"/>
              </a:spcBef>
              <a:spcAft>
                <a:spcPts val="0"/>
              </a:spcAft>
              <a:buNone/>
            </a:pPr>
            <a:r>
              <a:rPr sz="774" b="0" i="0">
                <a:solidFill>
                  <a:srgbClr val="333639"/>
                </a:solidFill>
                <a:latin typeface="Consolas"/>
              </a:rPr>
              <a:t xml:space="preserve"> </a:t>
            </a:r>
          </a:p>
          <a:p>
            <a:pPr marL="0" indent="0" algn="l">
              <a:lnSpc>
                <a:spcPts val="1006"/>
              </a:lnSpc>
              <a:spcBef>
                <a:spcPts val="0"/>
              </a:spcBef>
              <a:spcAft>
                <a:spcPts val="0"/>
              </a:spcAft>
              <a:buNone/>
            </a:pPr>
            <a:r>
              <a:rPr sz="774" b="0" i="0">
                <a:solidFill>
                  <a:srgbClr val="1F2A37"/>
                </a:solidFill>
                <a:latin typeface="Consolas"/>
              </a:rPr>
              <a:t xml:space="preserve">    def select_action(self, state):</a:t>
            </a:r>
          </a:p>
          <a:p>
            <a:pPr marL="0" indent="0" algn="l">
              <a:lnSpc>
                <a:spcPts val="1006"/>
              </a:lnSpc>
              <a:spcBef>
                <a:spcPts val="0"/>
              </a:spcBef>
              <a:spcAft>
                <a:spcPts val="0"/>
              </a:spcAft>
              <a:buNone/>
            </a:pPr>
            <a:r>
              <a:rPr sz="774" b="0" i="0">
                <a:solidFill>
                  <a:srgbClr val="1F2A37"/>
                </a:solidFill>
                <a:latin typeface="Consolas"/>
              </a:rPr>
              <a:t xml:space="preserve">        last = len(self.epsilons) - 1</a:t>
            </a:r>
          </a:p>
          <a:p>
            <a:pPr marL="0" indent="0" algn="l">
              <a:lnSpc>
                <a:spcPts val="1006"/>
              </a:lnSpc>
              <a:spcBef>
                <a:spcPts val="0"/>
              </a:spcBef>
              <a:spcAft>
                <a:spcPts val="0"/>
              </a:spcAft>
              <a:buNone/>
            </a:pPr>
            <a:r>
              <a:rPr sz="774" b="0" i="0">
                <a:solidFill>
                  <a:srgbClr val="1F2A37"/>
                </a:solidFill>
                <a:latin typeface="Consolas"/>
              </a:rPr>
              <a:t xml:space="preserve">        epsilon = self.epsilons[min(self.step, last)]</a:t>
            </a:r>
          </a:p>
          <a:p>
            <a:pPr marL="0" indent="0" algn="l">
              <a:lnSpc>
                <a:spcPts val="1006"/>
              </a:lnSpc>
              <a:spcBef>
                <a:spcPts val="0"/>
              </a:spcBef>
              <a:spcAft>
                <a:spcPts val="0"/>
              </a:spcAft>
              <a:buNone/>
            </a:pPr>
            <a:r>
              <a:rPr sz="774" b="0" i="0">
                <a:solidFill>
                  <a:srgbClr val="1F2A37"/>
                </a:solidFill>
                <a:latin typeface="Consolas"/>
              </a:rPr>
              <a:t xml:space="preserve">        self.step += 1</a:t>
            </a:r>
          </a:p>
          <a:p>
            <a:pPr marL="0" indent="0" algn="l">
              <a:lnSpc>
                <a:spcPts val="1006"/>
              </a:lnSpc>
              <a:spcBef>
                <a:spcPts val="0"/>
              </a:spcBef>
              <a:spcAft>
                <a:spcPts val="0"/>
              </a:spcAft>
              <a:buNone/>
            </a:pPr>
            <a:r>
              <a:rPr sz="774" b="0" i="0">
                <a:solidFill>
                  <a:srgbClr val="1F2A37"/>
                </a:solidFill>
                <a:latin typeface="Consolas"/>
              </a:rPr>
              <a:t xml:space="preserve">        if random.random() &lt; epsilon:</a:t>
            </a:r>
          </a:p>
          <a:p>
            <a:pPr marL="0" indent="0" algn="l">
              <a:lnSpc>
                <a:spcPts val="1006"/>
              </a:lnSpc>
              <a:spcBef>
                <a:spcPts val="0"/>
              </a:spcBef>
              <a:spcAft>
                <a:spcPts val="0"/>
              </a:spcAft>
              <a:buNone/>
            </a:pPr>
            <a:r>
              <a:rPr sz="774" b="0" i="0">
                <a:solidFill>
                  <a:srgbClr val="1F2A37"/>
                </a:solidFill>
                <a:latin typeface="Consolas"/>
              </a:rPr>
              <a:t xml:space="preserve">            return self.random_policy.select_action(state)</a:t>
            </a:r>
          </a:p>
          <a:p>
            <a:pPr marL="0" indent="0" algn="l">
              <a:lnSpc>
                <a:spcPts val="1006"/>
              </a:lnSpc>
              <a:spcBef>
                <a:spcPts val="0"/>
              </a:spcBef>
              <a:spcAft>
                <a:spcPts val="0"/>
              </a:spcAft>
              <a:buNone/>
            </a:pPr>
            <a:r>
              <a:rPr sz="774" b="0" i="0">
                <a:solidFill>
                  <a:srgbClr val="1F2A37"/>
                </a:solidFill>
                <a:latin typeface="Consolas"/>
              </a:rPr>
              <a:t xml:space="preserve">        return self.greedy_policy.select_action(state)</a:t>
            </a:r>
          </a:p>
        </p:txBody>
      </p:sp>
      <p:sp>
        <p:nvSpPr>
          <p:cNvPr id="19" name="Rectangle 18"/>
          <p:cNvSpPr/>
          <p:nvPr/>
        </p:nvSpPr>
        <p:spPr>
          <a:xfrm>
            <a:off x="7618780" y="4348657"/>
            <a:ext cx="3731940" cy="834237"/>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4348657"/>
            <a:ext cx="41148" cy="834237"/>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4494961"/>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WHY LOGSPACE</a:t>
            </a:r>
          </a:p>
        </p:txBody>
      </p:sp>
      <p:sp>
        <p:nvSpPr>
          <p:cNvPr id="22" name="TextBox 21"/>
          <p:cNvSpPr txBox="1"/>
          <p:nvPr/>
        </p:nvSpPr>
        <p:spPr>
          <a:xfrm>
            <a:off x="7838236" y="4732705"/>
            <a:ext cx="3347892" cy="303885"/>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50" b="0" i="0">
                <a:solidFill>
                  <a:srgbClr val="25282A"/>
                </a:solidFill>
                <a:latin typeface="Consolas"/>
              </a:rPr>
              <a:t>logspace</a:t>
            </a:r>
            <a:r>
              <a:rPr sz="997" b="0" i="0">
                <a:solidFill>
                  <a:srgbClr val="333639"/>
                </a:solidFill>
                <a:latin typeface="Fira Sans"/>
              </a:rPr>
              <a:t> gives constant multiplicative decay: ε spends equal numbers of steps in each order of magnitude.</a:t>
            </a:r>
          </a:p>
        </p:txBody>
      </p:sp>
      <p:sp>
        <p:nvSpPr>
          <p:cNvPr id="23" name="Rectangle 22"/>
          <p:cNvSpPr/>
          <p:nvPr/>
        </p:nvSpPr>
        <p:spPr>
          <a:xfrm>
            <a:off x="7618780" y="5329199"/>
            <a:ext cx="3731940" cy="9861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7618780" y="5329199"/>
            <a:ext cx="41148" cy="9861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838236" y="5475503"/>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WHY IT NEVER REACHES ZERO</a:t>
            </a:r>
          </a:p>
        </p:txBody>
      </p:sp>
      <p:sp>
        <p:nvSpPr>
          <p:cNvPr id="26" name="TextBox 25"/>
          <p:cNvSpPr txBox="1"/>
          <p:nvPr/>
        </p:nvSpPr>
        <p:spPr>
          <a:xfrm>
            <a:off x="7838236" y="5713247"/>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floor is never zero: a residual ε keeps off-policy transitions arriving and guards against locking onto a mediocre policy.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5.6  THE ALGORITHM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One transition in, one gradient step out</a:t>
            </a:r>
            <a:r>
              <a:rPr lang="it-IT" sz="2162" b="1" i="0" dirty="0">
                <a:solidFill>
                  <a:srgbClr val="25282A"/>
                </a:solidFill>
                <a:latin typeface="Roboto Slab"/>
              </a:rPr>
              <a:t>, </a:t>
            </a:r>
            <a:r>
              <a:rPr sz="2162" b="1" i="0" dirty="0">
                <a:solidFill>
                  <a:srgbClr val="25282A"/>
                </a:solidFill>
                <a:latin typeface="Roboto Slab"/>
              </a:rPr>
              <a:t>and a copy every hundred steps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 — Deep Q-Networks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34</a:t>
            </a:r>
          </a:p>
        </p:txBody>
      </p:sp>
      <p:sp>
        <p:nvSpPr>
          <p:cNvPr id="8" name="Rectangle 7"/>
          <p:cNvSpPr/>
          <p:nvPr/>
        </p:nvSpPr>
        <p:spPr>
          <a:xfrm>
            <a:off x="841248" y="1316736"/>
            <a:ext cx="4911482" cy="5029200"/>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841248" y="1316736"/>
            <a:ext cx="41148" cy="5029200"/>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24128" y="1399032"/>
            <a:ext cx="6821424"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dqn</a:t>
            </a:r>
          </a:p>
        </p:txBody>
      </p:sp>
      <p:sp>
        <p:nvSpPr>
          <p:cNvPr id="11" name="TextBox 10"/>
          <p:cNvSpPr txBox="1"/>
          <p:nvPr/>
        </p:nvSpPr>
        <p:spPr>
          <a:xfrm>
            <a:off x="1024128" y="1700784"/>
            <a:ext cx="6876288" cy="4572000"/>
          </a:xfrm>
          <a:prstGeom prst="rect">
            <a:avLst/>
          </a:prstGeom>
          <a:noFill/>
        </p:spPr>
        <p:txBody>
          <a:bodyPr wrap="none" lIns="0" tIns="0" rIns="0" bIns="0" anchor="t">
            <a:noAutofit/>
          </a:bodyPr>
          <a:lstStyle/>
          <a:p>
            <a:pPr marL="0" indent="0" algn="l">
              <a:lnSpc>
                <a:spcPts val="1006"/>
              </a:lnSpc>
              <a:spcBef>
                <a:spcPts val="0"/>
              </a:spcBef>
              <a:spcAft>
                <a:spcPts val="0"/>
              </a:spcAft>
              <a:buNone/>
            </a:pPr>
            <a:r>
              <a:rPr sz="774" b="0" i="0">
                <a:solidFill>
                  <a:srgbClr val="1F2A37"/>
                </a:solidFill>
                <a:latin typeface="Consolas"/>
              </a:rPr>
              <a:t xml:space="preserve">def dqn(env, max_episodes, batch_size=32, memory_size=100_000,</a:t>
            </a:r>
          </a:p>
          <a:p>
            <a:pPr marL="0" indent="0" algn="l">
              <a:lnSpc>
                <a:spcPts val="1006"/>
              </a:lnSpc>
              <a:spcBef>
                <a:spcPts val="0"/>
              </a:spcBef>
              <a:spcAft>
                <a:spcPts val="0"/>
              </a:spcAft>
              <a:buNone/>
            </a:pPr>
            <a:r>
              <a:rPr sz="774" b="0" i="0">
                <a:solidFill>
                  <a:srgbClr val="1F2A37"/>
                </a:solidFill>
                <a:latin typeface="Consolas"/>
              </a:rPr>
              <a:t xml:space="preserve">        memory_start_size=1000, target_update_steps=100, ...):</a:t>
            </a:r>
          </a:p>
          <a:p>
            <a:pPr marL="0" indent="0" algn="l">
              <a:lnSpc>
                <a:spcPts val="1006"/>
              </a:lnSpc>
              <a:spcBef>
                <a:spcPts val="0"/>
              </a:spcBef>
              <a:spcAft>
                <a:spcPts val="0"/>
              </a:spcAft>
              <a:buNone/>
            </a:pPr>
            <a:r>
              <a:rPr sz="774" b="0" i="0">
                <a:solidFill>
                  <a:srgbClr val="333639"/>
                </a:solidFill>
                <a:latin typeface="Consolas"/>
              </a:rPr>
              <a:t xml:space="preserve"> </a:t>
            </a:r>
          </a:p>
          <a:p>
            <a:pPr marL="0" indent="0" algn="l">
              <a:lnSpc>
                <a:spcPts val="1006"/>
              </a:lnSpc>
              <a:spcBef>
                <a:spcPts val="0"/>
              </a:spcBef>
              <a:spcAft>
                <a:spcPts val="0"/>
              </a:spcAft>
              <a:buNone/>
            </a:pPr>
            <a:r>
              <a:rPr sz="774" b="0" i="0">
                <a:solidFill>
                  <a:srgbClr val="1F2A37"/>
                </a:solidFill>
                <a:latin typeface="Consolas"/>
              </a:rPr>
              <a:t xml:space="preserve">    online_q = create_network(env, hidden_sizes)</a:t>
            </a:r>
          </a:p>
          <a:p>
            <a:pPr marL="0" indent="0" algn="l">
              <a:lnSpc>
                <a:spcPts val="1006"/>
              </a:lnSpc>
              <a:spcBef>
                <a:spcPts val="0"/>
              </a:spcBef>
              <a:spcAft>
                <a:spcPts val="0"/>
              </a:spcAft>
              <a:buNone/>
            </a:pPr>
            <a:r>
              <a:rPr sz="774" b="0" i="0">
                <a:solidFill>
                  <a:srgbClr val="1F2A37"/>
                </a:solidFill>
                <a:latin typeface="Consolas"/>
              </a:rPr>
              <a:t xml:space="preserve">    target_q = create_network(env, hidden_sizes)</a:t>
            </a:r>
          </a:p>
          <a:p>
            <a:pPr marL="0" indent="0" algn="l">
              <a:lnSpc>
                <a:spcPts val="1006"/>
              </a:lnSpc>
              <a:spcBef>
                <a:spcPts val="0"/>
              </a:spcBef>
              <a:spcAft>
                <a:spcPts val="0"/>
              </a:spcAft>
              <a:buNone/>
            </a:pPr>
            <a:r>
              <a:rPr sz="774" b="0" i="0">
                <a:solidFill>
                  <a:srgbClr val="1F2A37"/>
                </a:solidFill>
                <a:latin typeface="Consolas"/>
              </a:rPr>
              <a:t xml:space="preserve">    update_target(online_q, target_q)           </a:t>
            </a:r>
            <a:r>
              <a:rPr sz="774" b="0" i="0">
                <a:solidFill>
                  <a:srgbClr val="768896"/>
                </a:solidFill>
                <a:latin typeface="Consolas"/>
              </a:rPr>
              <a:t xml:space="preserve">  # start identical</a:t>
            </a:r>
          </a:p>
          <a:p>
            <a:pPr marL="0" indent="0" algn="l">
              <a:lnSpc>
                <a:spcPts val="1006"/>
              </a:lnSpc>
              <a:spcBef>
                <a:spcPts val="0"/>
              </a:spcBef>
              <a:spcAft>
                <a:spcPts val="0"/>
              </a:spcAft>
              <a:buNone/>
            </a:pPr>
            <a:r>
              <a:rPr sz="774" b="0" i="0">
                <a:solidFill>
                  <a:srgbClr val="1F2A37"/>
                </a:solidFill>
                <a:latin typeface="Consolas"/>
              </a:rPr>
              <a:t xml:space="preserve">    optimizer = create_optimizer(online_q, learning_rate)</a:t>
            </a:r>
          </a:p>
          <a:p>
            <a:pPr marL="0" indent="0" algn="l">
              <a:lnSpc>
                <a:spcPts val="1006"/>
              </a:lnSpc>
              <a:spcBef>
                <a:spcPts val="0"/>
              </a:spcBef>
              <a:spcAft>
                <a:spcPts val="0"/>
              </a:spcAft>
              <a:buNone/>
            </a:pPr>
            <a:r>
              <a:rPr sz="774" b="0" i="0">
                <a:solidFill>
                  <a:srgbClr val="1F2A37"/>
                </a:solidFill>
                <a:latin typeface="Consolas"/>
              </a:rPr>
              <a:t xml:space="preserve">    greedy_policy = GreedyPolicy(online_q)</a:t>
            </a:r>
          </a:p>
          <a:p>
            <a:pPr marL="0" indent="0" algn="l">
              <a:lnSpc>
                <a:spcPts val="1006"/>
              </a:lnSpc>
              <a:spcBef>
                <a:spcPts val="0"/>
              </a:spcBef>
              <a:spcAft>
                <a:spcPts val="0"/>
              </a:spcAft>
              <a:buNone/>
            </a:pPr>
            <a:r>
              <a:rPr sz="774" b="0" i="0">
                <a:solidFill>
                  <a:srgbClr val="1F2A37"/>
                </a:solidFill>
                <a:latin typeface="Consolas"/>
              </a:rPr>
              <a:t xml:space="preserve">    exploratory_policy = DecayingEpsilonGreedyPolicy(env, online_q, ...)</a:t>
            </a:r>
          </a:p>
          <a:p>
            <a:pPr marL="0" indent="0" algn="l">
              <a:lnSpc>
                <a:spcPts val="1006"/>
              </a:lnSpc>
              <a:spcBef>
                <a:spcPts val="0"/>
              </a:spcBef>
              <a:spcAft>
                <a:spcPts val="0"/>
              </a:spcAft>
              <a:buNone/>
            </a:pPr>
            <a:r>
              <a:rPr sz="774" b="0" i="0">
                <a:solidFill>
                  <a:srgbClr val="1F2A37"/>
                </a:solidFill>
                <a:latin typeface="Consolas"/>
              </a:rPr>
              <a:t xml:space="preserve">    replay_memory = create_replay_memory(env, memory_size)</a:t>
            </a:r>
          </a:p>
          <a:p>
            <a:pPr marL="0" indent="0" algn="l">
              <a:lnSpc>
                <a:spcPts val="1006"/>
              </a:lnSpc>
              <a:spcBef>
                <a:spcPts val="0"/>
              </a:spcBef>
              <a:spcAft>
                <a:spcPts val="0"/>
              </a:spcAft>
              <a:buNone/>
            </a:pPr>
            <a:r>
              <a:rPr sz="774" b="0" i="0">
                <a:solidFill>
                  <a:srgbClr val="1F2A37"/>
                </a:solidFill>
                <a:latin typeface="Consolas"/>
              </a:rPr>
              <a:t xml:space="preserve">    step, scores = 0, []</a:t>
            </a:r>
          </a:p>
          <a:p>
            <a:pPr marL="0" indent="0" algn="l">
              <a:lnSpc>
                <a:spcPts val="1006"/>
              </a:lnSpc>
              <a:spcBef>
                <a:spcPts val="0"/>
              </a:spcBef>
              <a:spcAft>
                <a:spcPts val="0"/>
              </a:spcAft>
              <a:buNone/>
            </a:pPr>
            <a:r>
              <a:rPr sz="774" b="0" i="0">
                <a:solidFill>
                  <a:srgbClr val="333639"/>
                </a:solidFill>
                <a:latin typeface="Consolas"/>
              </a:rPr>
              <a:t xml:space="preserve"> </a:t>
            </a:r>
          </a:p>
          <a:p>
            <a:pPr marL="0" indent="0" algn="l">
              <a:lnSpc>
                <a:spcPts val="1006"/>
              </a:lnSpc>
              <a:spcBef>
                <a:spcPts val="0"/>
              </a:spcBef>
              <a:spcAft>
                <a:spcPts val="0"/>
              </a:spcAft>
              <a:buNone/>
            </a:pPr>
            <a:r>
              <a:rPr sz="774" b="0" i="0">
                <a:solidFill>
                  <a:srgbClr val="1F2A37"/>
                </a:solidFill>
                <a:latin typeface="Consolas"/>
              </a:rPr>
              <a:t xml:space="preserve">    for episode in range(max_episodes):</a:t>
            </a:r>
          </a:p>
          <a:p>
            <a:pPr marL="0" indent="0" algn="l">
              <a:lnSpc>
                <a:spcPts val="1006"/>
              </a:lnSpc>
              <a:spcBef>
                <a:spcPts val="0"/>
              </a:spcBef>
              <a:spcAft>
                <a:spcPts val="0"/>
              </a:spcAft>
              <a:buNone/>
            </a:pPr>
            <a:r>
              <a:rPr sz="774" b="0" i="0">
                <a:solidFill>
                  <a:srgbClr val="1F2A37"/>
                </a:solidFill>
                <a:latin typeface="Consolas"/>
              </a:rPr>
              <a:t xml:space="preserve">        state, _ = env.reset()</a:t>
            </a:r>
          </a:p>
          <a:p>
            <a:pPr marL="0" indent="0" algn="l">
              <a:lnSpc>
                <a:spcPts val="1006"/>
              </a:lnSpc>
              <a:spcBef>
                <a:spcPts val="0"/>
              </a:spcBef>
              <a:spcAft>
                <a:spcPts val="0"/>
              </a:spcAft>
              <a:buNone/>
            </a:pPr>
            <a:r>
              <a:rPr sz="774" b="0" i="0">
                <a:solidFill>
                  <a:srgbClr val="1F2A37"/>
                </a:solidFill>
                <a:latin typeface="Consolas"/>
              </a:rPr>
              <a:t xml:space="preserve">        done = False</a:t>
            </a:r>
          </a:p>
          <a:p>
            <a:pPr marL="0" indent="0" algn="l">
              <a:lnSpc>
                <a:spcPts val="1006"/>
              </a:lnSpc>
              <a:spcBef>
                <a:spcPts val="0"/>
              </a:spcBef>
              <a:spcAft>
                <a:spcPts val="0"/>
              </a:spcAft>
              <a:buNone/>
            </a:pPr>
            <a:r>
              <a:rPr sz="774" b="0" i="0">
                <a:solidFill>
                  <a:srgbClr val="1F2A37"/>
                </a:solidFill>
                <a:latin typeface="Consolas"/>
              </a:rPr>
              <a:t xml:space="preserve">        while not done:</a:t>
            </a:r>
          </a:p>
          <a:p>
            <a:pPr marL="0" indent="0" algn="l">
              <a:lnSpc>
                <a:spcPts val="1006"/>
              </a:lnSpc>
              <a:spcBef>
                <a:spcPts val="0"/>
              </a:spcBef>
              <a:spcAft>
                <a:spcPts val="0"/>
              </a:spcAft>
              <a:buNone/>
            </a:pPr>
            <a:r>
              <a:rPr sz="774" b="0" i="0">
                <a:solidFill>
                  <a:srgbClr val="1F2A37"/>
                </a:solidFill>
                <a:latin typeface="Consolas"/>
              </a:rPr>
              <a:t xml:space="preserve">            action = exploratory_policy.select_action(state)</a:t>
            </a:r>
          </a:p>
          <a:p>
            <a:pPr marL="0" indent="0" algn="l">
              <a:lnSpc>
                <a:spcPts val="1006"/>
              </a:lnSpc>
              <a:spcBef>
                <a:spcPts val="0"/>
              </a:spcBef>
              <a:spcAft>
                <a:spcPts val="0"/>
              </a:spcAft>
              <a:buNone/>
            </a:pPr>
            <a:r>
              <a:rPr sz="774" b="0" i="0">
                <a:solidFill>
                  <a:srgbClr val="1F2A37"/>
                </a:solidFill>
                <a:latin typeface="Consolas"/>
              </a:rPr>
              <a:t xml:space="preserve">            next_state, reward, terminated, truncated, _ = env.step(action)</a:t>
            </a:r>
          </a:p>
          <a:p>
            <a:pPr marL="0" indent="0" algn="l">
              <a:lnSpc>
                <a:spcPts val="1006"/>
              </a:lnSpc>
              <a:spcBef>
                <a:spcPts val="0"/>
              </a:spcBef>
              <a:spcAft>
                <a:spcPts val="0"/>
              </a:spcAft>
              <a:buNone/>
            </a:pPr>
            <a:r>
              <a:rPr sz="774" b="0" i="0">
                <a:solidFill>
                  <a:srgbClr val="1F2A37"/>
                </a:solidFill>
                <a:latin typeface="Consolas"/>
              </a:rPr>
              <a:t xml:space="preserve">            done = terminated or truncated</a:t>
            </a:r>
          </a:p>
          <a:p>
            <a:pPr marL="0" indent="0" algn="l">
              <a:lnSpc>
                <a:spcPts val="1006"/>
              </a:lnSpc>
              <a:spcBef>
                <a:spcPts val="0"/>
              </a:spcBef>
              <a:spcAft>
                <a:spcPts val="0"/>
              </a:spcAft>
              <a:buNone/>
            </a:pPr>
            <a:r>
              <a:rPr sz="774" b="0" i="0">
                <a:solidFill>
                  <a:srgbClr val="1F2A37"/>
                </a:solidFill>
                <a:latin typeface="Consolas"/>
              </a:rPr>
              <a:t xml:space="preserve">            experience = (state, action, reward, next_state, terminated)</a:t>
            </a:r>
          </a:p>
          <a:p>
            <a:pPr marL="0" indent="0" algn="l">
              <a:lnSpc>
                <a:spcPts val="1006"/>
              </a:lnSpc>
              <a:spcBef>
                <a:spcPts val="0"/>
              </a:spcBef>
              <a:spcAft>
                <a:spcPts val="0"/>
              </a:spcAft>
              <a:buNone/>
            </a:pPr>
            <a:r>
              <a:rPr sz="774" b="0" i="0">
                <a:solidFill>
                  <a:srgbClr val="1F2A37"/>
                </a:solidFill>
                <a:latin typeface="Consolas"/>
              </a:rPr>
              <a:t xml:space="preserve">            store_experience(replay_memory, experience)</a:t>
            </a:r>
          </a:p>
          <a:p>
            <a:pPr marL="0" indent="0" algn="l">
              <a:lnSpc>
                <a:spcPts val="1006"/>
              </a:lnSpc>
              <a:spcBef>
                <a:spcPts val="0"/>
              </a:spcBef>
              <a:spcAft>
                <a:spcPts val="0"/>
              </a:spcAft>
              <a:buNone/>
            </a:pPr>
            <a:r>
              <a:rPr sz="774" b="0" i="0">
                <a:solidFill>
                  <a:srgbClr val="1F2A37"/>
                </a:solidFill>
                <a:latin typeface="Consolas"/>
              </a:rPr>
              <a:t xml:space="preserve">            step += 1</a:t>
            </a:r>
          </a:p>
          <a:p>
            <a:pPr marL="0" indent="0" algn="l">
              <a:lnSpc>
                <a:spcPts val="1006"/>
              </a:lnSpc>
              <a:spcBef>
                <a:spcPts val="0"/>
              </a:spcBef>
              <a:spcAft>
                <a:spcPts val="0"/>
              </a:spcAft>
              <a:buNone/>
            </a:pPr>
            <a:r>
              <a:rPr sz="774" b="0" i="0">
                <a:solidFill>
                  <a:srgbClr val="333639"/>
                </a:solidFill>
                <a:latin typeface="Consolas"/>
              </a:rPr>
              <a:t xml:space="preserve"> </a:t>
            </a:r>
          </a:p>
          <a:p>
            <a:pPr marL="0" indent="0" algn="l">
              <a:lnSpc>
                <a:spcPts val="1006"/>
              </a:lnSpc>
              <a:spcBef>
                <a:spcPts val="0"/>
              </a:spcBef>
              <a:spcAft>
                <a:spcPts val="0"/>
              </a:spcAft>
              <a:buNone/>
            </a:pPr>
            <a:r>
              <a:rPr sz="774" b="0" i="0">
                <a:solidFill>
                  <a:srgbClr val="768896"/>
                </a:solidFill>
                <a:latin typeface="Consolas"/>
              </a:rPr>
              <a:t xml:space="preserve">            # one optimisation step per environment step, once warmed up</a:t>
            </a:r>
          </a:p>
          <a:p>
            <a:pPr marL="0" indent="0" algn="l">
              <a:lnSpc>
                <a:spcPts val="1006"/>
              </a:lnSpc>
              <a:spcBef>
                <a:spcPts val="0"/>
              </a:spcBef>
              <a:spcAft>
                <a:spcPts val="0"/>
              </a:spcAft>
              <a:buNone/>
            </a:pPr>
            <a:r>
              <a:rPr sz="774" b="0" i="0">
                <a:solidFill>
                  <a:srgbClr val="1F2A37"/>
                </a:solidFill>
                <a:latin typeface="Consolas"/>
              </a:rPr>
              <a:t xml:space="preserve">            if replay_memory["entries"] &gt;= max(memory_start_size, batch_size):</a:t>
            </a:r>
          </a:p>
          <a:p>
            <a:pPr marL="0" indent="0" algn="l">
              <a:lnSpc>
                <a:spcPts val="1006"/>
              </a:lnSpc>
              <a:spcBef>
                <a:spcPts val="0"/>
              </a:spcBef>
              <a:spcAft>
                <a:spcPts val="0"/>
              </a:spcAft>
              <a:buNone/>
            </a:pPr>
            <a:r>
              <a:rPr sz="774" b="0" i="0">
                <a:solidFill>
                  <a:srgbClr val="1F2A37"/>
                </a:solidFill>
                <a:latin typeface="Consolas"/>
              </a:rPr>
              <a:t xml:space="preserve">                batch = sample_experiences(replay_memory, batch_size)</a:t>
            </a:r>
          </a:p>
          <a:p>
            <a:pPr marL="0" indent="0" algn="l">
              <a:lnSpc>
                <a:spcPts val="1006"/>
              </a:lnSpc>
              <a:spcBef>
                <a:spcPts val="0"/>
              </a:spcBef>
              <a:spcAft>
                <a:spcPts val="0"/>
              </a:spcAft>
              <a:buNone/>
            </a:pPr>
            <a:r>
              <a:rPr sz="774" b="0" i="0">
                <a:solidFill>
                  <a:srgbClr val="1F2A37"/>
                </a:solidFill>
                <a:latin typeface="Consolas"/>
              </a:rPr>
              <a:t xml:space="preserve">                optimization_step(batch, online_q, target_q, optimizer, gamma)</a:t>
            </a:r>
          </a:p>
          <a:p>
            <a:pPr marL="0" indent="0" algn="l">
              <a:lnSpc>
                <a:spcPts val="1006"/>
              </a:lnSpc>
              <a:spcBef>
                <a:spcPts val="0"/>
              </a:spcBef>
              <a:spcAft>
                <a:spcPts val="0"/>
              </a:spcAft>
              <a:buNone/>
            </a:pPr>
            <a:r>
              <a:rPr sz="774" b="0" i="0">
                <a:solidFill>
                  <a:srgbClr val="333639"/>
                </a:solidFill>
                <a:latin typeface="Consolas"/>
              </a:rPr>
              <a:t xml:space="preserve"> </a:t>
            </a:r>
          </a:p>
          <a:p>
            <a:pPr marL="0" indent="0" algn="l">
              <a:lnSpc>
                <a:spcPts val="1006"/>
              </a:lnSpc>
              <a:spcBef>
                <a:spcPts val="0"/>
              </a:spcBef>
              <a:spcAft>
                <a:spcPts val="0"/>
              </a:spcAft>
              <a:buNone/>
            </a:pPr>
            <a:r>
              <a:rPr sz="774" b="0" i="0">
                <a:solidFill>
                  <a:srgbClr val="768896"/>
                </a:solidFill>
                <a:latin typeface="Consolas"/>
              </a:rPr>
              <a:t xml:space="preserve">            # every target_update_steps: copy the online weights</a:t>
            </a:r>
          </a:p>
          <a:p>
            <a:pPr marL="0" indent="0" algn="l">
              <a:lnSpc>
                <a:spcPts val="1006"/>
              </a:lnSpc>
              <a:spcBef>
                <a:spcPts val="0"/>
              </a:spcBef>
              <a:spcAft>
                <a:spcPts val="0"/>
              </a:spcAft>
              <a:buNone/>
            </a:pPr>
            <a:r>
              <a:rPr sz="774" b="0" i="0">
                <a:solidFill>
                  <a:srgbClr val="1F2A37"/>
                </a:solidFill>
                <a:latin typeface="Consolas"/>
              </a:rPr>
              <a:t xml:space="preserve">            if step % target_update_steps == 0:</a:t>
            </a:r>
          </a:p>
          <a:p>
            <a:pPr marL="0" indent="0" algn="l">
              <a:lnSpc>
                <a:spcPts val="1006"/>
              </a:lnSpc>
              <a:spcBef>
                <a:spcPts val="0"/>
              </a:spcBef>
              <a:spcAft>
                <a:spcPts val="0"/>
              </a:spcAft>
              <a:buNone/>
            </a:pPr>
            <a:r>
              <a:rPr sz="774" b="0" i="0">
                <a:solidFill>
                  <a:srgbClr val="1F2A37"/>
                </a:solidFill>
                <a:latin typeface="Consolas"/>
              </a:rPr>
              <a:t xml:space="preserve">                update_target(online_q, target_q)</a:t>
            </a:r>
          </a:p>
          <a:p>
            <a:pPr marL="0" indent="0" algn="l">
              <a:lnSpc>
                <a:spcPts val="1006"/>
              </a:lnSpc>
              <a:spcBef>
                <a:spcPts val="0"/>
              </a:spcBef>
              <a:spcAft>
                <a:spcPts val="0"/>
              </a:spcAft>
              <a:buNone/>
            </a:pPr>
            <a:r>
              <a:rPr sz="774" b="0" i="0">
                <a:solidFill>
                  <a:srgbClr val="1F2A37"/>
                </a:solidFill>
                <a:latin typeface="Consolas"/>
              </a:rPr>
              <a:t xml:space="preserve">            state = next_state</a:t>
            </a:r>
          </a:p>
          <a:p>
            <a:pPr marL="0" indent="0" algn="l">
              <a:lnSpc>
                <a:spcPts val="1006"/>
              </a:lnSpc>
              <a:spcBef>
                <a:spcPts val="0"/>
              </a:spcBef>
              <a:spcAft>
                <a:spcPts val="0"/>
              </a:spcAft>
              <a:buNone/>
            </a:pPr>
            <a:r>
              <a:rPr sz="774" b="0" i="0">
                <a:solidFill>
                  <a:srgbClr val="333639"/>
                </a:solidFill>
                <a:latin typeface="Consolas"/>
              </a:rPr>
              <a:t xml:space="preserve"> </a:t>
            </a:r>
          </a:p>
          <a:p>
            <a:pPr marL="0" indent="0" algn="l">
              <a:lnSpc>
                <a:spcPts val="1006"/>
              </a:lnSpc>
              <a:spcBef>
                <a:spcPts val="0"/>
              </a:spcBef>
              <a:spcAft>
                <a:spcPts val="0"/>
              </a:spcAft>
              <a:buNone/>
            </a:pPr>
            <a:r>
              <a:rPr sz="774" b="0" i="0">
                <a:solidFill>
                  <a:srgbClr val="1F2A37"/>
                </a:solidFill>
                <a:latin typeface="Consolas"/>
              </a:rPr>
              <a:t xml:space="preserve">        scores.append(evaluate(env, greedy_policy, episodes=10))</a:t>
            </a:r>
          </a:p>
          <a:p>
            <a:pPr marL="0" indent="0" algn="l">
              <a:lnSpc>
                <a:spcPts val="1006"/>
              </a:lnSpc>
              <a:spcBef>
                <a:spcPts val="0"/>
              </a:spcBef>
              <a:spcAft>
                <a:spcPts val="0"/>
              </a:spcAft>
              <a:buNone/>
            </a:pPr>
            <a:r>
              <a:rPr sz="774" b="0" i="0">
                <a:solidFill>
                  <a:srgbClr val="333639"/>
                </a:solidFill>
                <a:latin typeface="Consolas"/>
              </a:rPr>
              <a:t xml:space="preserve"> </a:t>
            </a:r>
          </a:p>
          <a:p>
            <a:pPr marL="0" indent="0" algn="l">
              <a:lnSpc>
                <a:spcPts val="1006"/>
              </a:lnSpc>
              <a:spcBef>
                <a:spcPts val="0"/>
              </a:spcBef>
              <a:spcAft>
                <a:spcPts val="0"/>
              </a:spcAft>
              <a:buNone/>
            </a:pPr>
            <a:r>
              <a:rPr sz="774" b="0" i="0">
                <a:solidFill>
                  <a:srgbClr val="1F2A37"/>
                </a:solidFill>
                <a:latin typeface="Consolas"/>
              </a:rPr>
              <a:t xml:space="preserve">    return {"scores": np.asarray(scores), "network": online_q}</a:t>
            </a:r>
          </a:p>
        </p:txBody>
      </p:sp>
      <p:sp>
        <p:nvSpPr>
          <p:cNvPr id="13" name="TextBox 12"/>
          <p:cNvSpPr txBox="1"/>
          <p:nvPr/>
        </p:nvSpPr>
        <p:spPr>
          <a:xfrm>
            <a:off x="8266207" y="3509801"/>
            <a:ext cx="3084545" cy="311200"/>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a:solidFill>
                  <a:srgbClr val="626669"/>
                </a:solidFill>
                <a:latin typeface="Fira Sans"/>
              </a:rPr>
              <a:t>Environment → replay buffer → online network, with the target copied every N steps.</a:t>
            </a:r>
          </a:p>
        </p:txBody>
      </p:sp>
      <p:sp>
        <p:nvSpPr>
          <p:cNvPr id="14" name="TextBox 13"/>
          <p:cNvSpPr txBox="1"/>
          <p:nvPr/>
        </p:nvSpPr>
        <p:spPr>
          <a:xfrm>
            <a:off x="8266207" y="4003881"/>
            <a:ext cx="308454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THREE CHANGES FROM NFQ</a:t>
            </a:r>
          </a:p>
        </p:txBody>
      </p:sp>
      <p:sp>
        <p:nvSpPr>
          <p:cNvPr id="15" name="TextBox 14"/>
          <p:cNvSpPr txBox="1"/>
          <p:nvPr/>
        </p:nvSpPr>
        <p:spPr>
          <a:xfrm>
            <a:off x="8266207" y="4241625"/>
            <a:ext cx="3084545" cy="739973"/>
          </a:xfrm>
          <a:prstGeom prst="rect">
            <a:avLst/>
          </a:prstGeom>
          <a:noFill/>
        </p:spPr>
        <p:txBody>
          <a:bodyPr wrap="square" lIns="0" tIns="0" rIns="0" bIns="0" anchor="t">
            <a:noAutofit/>
          </a:bodyPr>
          <a:lstStyle/>
          <a:p>
            <a:pPr marL="182880" indent="-182880" algn="l">
              <a:lnSpc>
                <a:spcPts val="1117"/>
              </a:lnSpc>
              <a:spcBef>
                <a:spcPts val="0"/>
              </a:spcBef>
              <a:spcAft>
                <a:spcPts val="0"/>
              </a:spcAft>
              <a:buClr>
                <a:srgbClr val="1971C2"/>
              </a:buClr>
              <a:buFont typeface="Fira Sans"/>
              <a:buChar char="–"/>
            </a:pPr>
            <a:r>
              <a:rPr sz="997" b="1" i="0" dirty="0">
                <a:solidFill>
                  <a:srgbClr val="25282A"/>
                </a:solidFill>
                <a:latin typeface="Fira Sans"/>
              </a:rPr>
              <a:t>a replay buffer</a:t>
            </a:r>
            <a:r>
              <a:rPr sz="997" b="0" i="0" dirty="0">
                <a:solidFill>
                  <a:srgbClr val="333639"/>
                </a:solidFill>
                <a:latin typeface="Fira Sans"/>
              </a:rPr>
              <a:t xml:space="preserve"> instead of a discarded batch</a:t>
            </a:r>
          </a:p>
          <a:p>
            <a:pPr marL="182880" indent="-182880" algn="l">
              <a:lnSpc>
                <a:spcPts val="1117"/>
              </a:lnSpc>
              <a:spcBef>
                <a:spcPts val="500"/>
              </a:spcBef>
              <a:spcAft>
                <a:spcPts val="0"/>
              </a:spcAft>
              <a:buClr>
                <a:srgbClr val="1971C2"/>
              </a:buClr>
              <a:buFont typeface="Fira Sans"/>
              <a:buChar char="–"/>
            </a:pPr>
            <a:r>
              <a:rPr sz="997" b="1" i="0" dirty="0">
                <a:solidFill>
                  <a:srgbClr val="25282A"/>
                </a:solidFill>
                <a:latin typeface="Fira Sans"/>
              </a:rPr>
              <a:t>a target network</a:t>
            </a:r>
            <a:r>
              <a:rPr sz="997" b="0" i="0" dirty="0">
                <a:solidFill>
                  <a:srgbClr val="333639"/>
                </a:solidFill>
                <a:latin typeface="Fira Sans"/>
              </a:rPr>
              <a:t xml:space="preserve"> instead of one network in both roles</a:t>
            </a:r>
          </a:p>
          <a:p>
            <a:pPr marL="182880" indent="-182880" algn="l">
              <a:lnSpc>
                <a:spcPts val="1117"/>
              </a:lnSpc>
              <a:spcBef>
                <a:spcPts val="500"/>
              </a:spcBef>
              <a:spcAft>
                <a:spcPts val="0"/>
              </a:spcAft>
              <a:buClr>
                <a:srgbClr val="1971C2"/>
              </a:buClr>
              <a:buFont typeface="Fira Sans"/>
              <a:buChar char="–"/>
            </a:pPr>
            <a:r>
              <a:rPr sz="997" b="1" i="0" dirty="0">
                <a:solidFill>
                  <a:srgbClr val="25282A"/>
                </a:solidFill>
                <a:latin typeface="Fira Sans"/>
              </a:rPr>
              <a:t>decaying ε</a:t>
            </a:r>
            <a:r>
              <a:rPr sz="997" b="0" i="0" dirty="0">
                <a:solidFill>
                  <a:srgbClr val="333639"/>
                </a:solidFill>
                <a:latin typeface="Fira Sans"/>
              </a:rPr>
              <a:t xml:space="preserve"> instead of a constant 0.5</a:t>
            </a:r>
          </a:p>
        </p:txBody>
      </p:sp>
      <p:sp>
        <p:nvSpPr>
          <p:cNvPr id="16" name="Rectangle 15"/>
          <p:cNvSpPr/>
          <p:nvPr/>
        </p:nvSpPr>
        <p:spPr>
          <a:xfrm>
            <a:off x="8266207" y="5146190"/>
            <a:ext cx="3084545" cy="105232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266207" y="5146190"/>
            <a:ext cx="41148" cy="105232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85664" y="5292494"/>
            <a:ext cx="2700497" cy="75971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 xml:space="preserve">Note the change of granularity. NFQ fitted 1024 transitions for 40 epochs every 1024 steps; DQN takes </a:t>
            </a:r>
            <a:r>
              <a:rPr sz="997" b="1" i="0">
                <a:solidFill>
                  <a:srgbClr val="25282A"/>
                </a:solidFill>
                <a:latin typeface="Fira Sans"/>
              </a:rPr>
              <a:t>one gradient step on one mini-batch per environment step</a:t>
            </a:r>
            <a:r>
              <a:rPr sz="997" b="0" i="0">
                <a:solidFill>
                  <a:srgbClr val="333639"/>
                </a:solidFill>
                <a:latin typeface="Fira Sans"/>
              </a:rPr>
              <a:t xml:space="preserve"> (128 on Cart-Pole, 32 on Lunar Lander, 64 on Acrobot and Pendulum). Learning is now continuous rather than episodic.</a:t>
            </a:r>
          </a:p>
        </p:txBody>
      </p:sp>
      <p:pic>
        <p:nvPicPr>
          <p:cNvPr id="12" name="Picture 11" descr="dqn_arch.png"/>
          <p:cNvPicPr>
            <a:picLocks noChangeAspect="1"/>
          </p:cNvPicPr>
          <p:nvPr/>
        </p:nvPicPr>
        <p:blipFill>
          <a:blip r:embed="rId2"/>
          <a:stretch>
            <a:fillRect/>
          </a:stretch>
        </p:blipFill>
        <p:spPr>
          <a:xfrm>
            <a:off x="6080760" y="1275691"/>
            <a:ext cx="5465777" cy="215181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5.7  DQN AGAINST NFQ</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 order of magnitude fewer episodes to the same score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 — Deep Q-Networks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 xml:space="preserve">The same experiment: five seeds, the same evaluation protocol, curves smoothed over 25 episodes. Note the horizontal axis, </a:t>
            </a:r>
            <a:r>
              <a:rPr sz="1235" b="1" i="0" dirty="0">
                <a:solidFill>
                  <a:srgbClr val="25282A"/>
                </a:solidFill>
                <a:latin typeface="Fira Sans"/>
              </a:rPr>
              <a:t>NFQ was given 1500 episodes, DQN 500</a:t>
            </a:r>
            <a:r>
              <a:rPr sz="1235" b="0" i="0" dirty="0">
                <a:solidFill>
                  <a:srgbClr val="333639"/>
                </a:solidFill>
                <a:latin typeface="Fira Sans"/>
              </a:rPr>
              <a:t>.</a:t>
            </a:r>
          </a:p>
        </p:txBody>
      </p:sp>
      <p:pic>
        <p:nvPicPr>
          <p:cNvPr id="9" name="Picture 8" descr="fig_nfq_dqn.png"/>
          <p:cNvPicPr>
            <a:picLocks noChangeAspect="1"/>
          </p:cNvPicPr>
          <p:nvPr/>
        </p:nvPicPr>
        <p:blipFill>
          <a:blip r:embed="rId3"/>
          <a:stretch>
            <a:fillRect/>
          </a:stretch>
        </p:blipFill>
        <p:spPr>
          <a:xfrm>
            <a:off x="353127" y="2271603"/>
            <a:ext cx="7101061" cy="3389143"/>
          </a:xfrm>
          <a:prstGeom prst="rect">
            <a:avLst/>
          </a:prstGeom>
        </p:spPr>
      </p:pic>
      <p:sp>
        <p:nvSpPr>
          <p:cNvPr id="13" name="TextBox 12"/>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EPISODES TO REACH A MEAN SCORE OF</a:t>
            </a:r>
          </a:p>
        </p:txBody>
      </p:sp>
      <p:sp>
        <p:nvSpPr>
          <p:cNvPr id="14" name="Rectangle 13"/>
          <p:cNvSpPr/>
          <p:nvPr/>
        </p:nvSpPr>
        <p:spPr>
          <a:xfrm>
            <a:off x="7618780" y="1591056"/>
            <a:ext cx="3731940" cy="25310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10220" y="1645920"/>
            <a:ext cx="1085979"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r>
              <a:rPr sz="882" b="1" i="0" spc="60">
                <a:solidFill>
                  <a:srgbClr val="FFFFFF"/>
                </a:solidFill>
                <a:latin typeface="Fira Sans"/>
              </a:rPr>
              <a:t>Score</a:t>
            </a:r>
          </a:p>
        </p:txBody>
      </p:sp>
      <p:sp>
        <p:nvSpPr>
          <p:cNvPr id="16" name="TextBox 15"/>
          <p:cNvSpPr txBox="1"/>
          <p:nvPr/>
        </p:nvSpPr>
        <p:spPr>
          <a:xfrm>
            <a:off x="8979080" y="1645920"/>
            <a:ext cx="1048660"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NFQ</a:t>
            </a:r>
          </a:p>
        </p:txBody>
      </p:sp>
      <p:sp>
        <p:nvSpPr>
          <p:cNvPr id="17" name="TextBox 16"/>
          <p:cNvSpPr txBox="1"/>
          <p:nvPr/>
        </p:nvSpPr>
        <p:spPr>
          <a:xfrm>
            <a:off x="10210621" y="1645920"/>
            <a:ext cx="1048660"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DQN</a:t>
            </a:r>
          </a:p>
        </p:txBody>
      </p:sp>
      <p:sp>
        <p:nvSpPr>
          <p:cNvPr id="18" name="TextBox 17"/>
          <p:cNvSpPr txBox="1"/>
          <p:nvPr/>
        </p:nvSpPr>
        <p:spPr>
          <a:xfrm>
            <a:off x="7710220" y="1899025"/>
            <a:ext cx="1085979"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100</a:t>
            </a:r>
          </a:p>
        </p:txBody>
      </p:sp>
      <p:sp>
        <p:nvSpPr>
          <p:cNvPr id="19" name="TextBox 18"/>
          <p:cNvSpPr txBox="1"/>
          <p:nvPr/>
        </p:nvSpPr>
        <p:spPr>
          <a:xfrm>
            <a:off x="8979080" y="1899025"/>
            <a:ext cx="1048660"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1117</a:t>
            </a:r>
          </a:p>
        </p:txBody>
      </p:sp>
      <p:sp>
        <p:nvSpPr>
          <p:cNvPr id="20" name="TextBox 19"/>
          <p:cNvSpPr txBox="1"/>
          <p:nvPr/>
        </p:nvSpPr>
        <p:spPr>
          <a:xfrm>
            <a:off x="10210621" y="1899025"/>
            <a:ext cx="1048660"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574676"/>
                </a:solidFill>
                <a:latin typeface="Fira Sans"/>
              </a:rPr>
              <a:t>89</a:t>
            </a:r>
          </a:p>
        </p:txBody>
      </p:sp>
      <p:sp>
        <p:nvSpPr>
          <p:cNvPr id="21" name="Rectangle 20"/>
          <p:cNvSpPr/>
          <p:nvPr/>
        </p:nvSpPr>
        <p:spPr>
          <a:xfrm>
            <a:off x="7618780" y="2128603"/>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2134090"/>
            <a:ext cx="3731940" cy="28992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10220" y="2188954"/>
            <a:ext cx="1085979"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200</a:t>
            </a:r>
          </a:p>
        </p:txBody>
      </p:sp>
      <p:sp>
        <p:nvSpPr>
          <p:cNvPr id="24" name="TextBox 23"/>
          <p:cNvSpPr txBox="1"/>
          <p:nvPr/>
        </p:nvSpPr>
        <p:spPr>
          <a:xfrm>
            <a:off x="8979080" y="2188954"/>
            <a:ext cx="1048660"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1188</a:t>
            </a:r>
          </a:p>
        </p:txBody>
      </p:sp>
      <p:sp>
        <p:nvSpPr>
          <p:cNvPr id="25" name="TextBox 24"/>
          <p:cNvSpPr txBox="1"/>
          <p:nvPr/>
        </p:nvSpPr>
        <p:spPr>
          <a:xfrm>
            <a:off x="10210621" y="2188954"/>
            <a:ext cx="1048660"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574676"/>
                </a:solidFill>
                <a:latin typeface="Fira Sans"/>
              </a:rPr>
              <a:t>101</a:t>
            </a:r>
          </a:p>
        </p:txBody>
      </p:sp>
      <p:sp>
        <p:nvSpPr>
          <p:cNvPr id="26" name="Rectangle 25"/>
          <p:cNvSpPr/>
          <p:nvPr/>
        </p:nvSpPr>
        <p:spPr>
          <a:xfrm>
            <a:off x="7618780" y="241853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10220" y="2478882"/>
            <a:ext cx="1085979" cy="18020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300</a:t>
            </a:r>
          </a:p>
        </p:txBody>
      </p:sp>
      <p:sp>
        <p:nvSpPr>
          <p:cNvPr id="28" name="TextBox 27"/>
          <p:cNvSpPr txBox="1"/>
          <p:nvPr/>
        </p:nvSpPr>
        <p:spPr>
          <a:xfrm>
            <a:off x="8979080" y="2478882"/>
            <a:ext cx="1048660"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333639"/>
                </a:solidFill>
                <a:latin typeface="Fira Sans"/>
              </a:rPr>
              <a:t>1355</a:t>
            </a:r>
          </a:p>
        </p:txBody>
      </p:sp>
      <p:sp>
        <p:nvSpPr>
          <p:cNvPr id="29" name="TextBox 28"/>
          <p:cNvSpPr txBox="1"/>
          <p:nvPr/>
        </p:nvSpPr>
        <p:spPr>
          <a:xfrm>
            <a:off x="10210621" y="2478882"/>
            <a:ext cx="1048660" cy="180200"/>
          </a:xfrm>
          <a:prstGeom prst="rect">
            <a:avLst/>
          </a:prstGeom>
          <a:noFill/>
        </p:spPr>
        <p:txBody>
          <a:bodyPr wrap="square" lIns="0" tIns="0" rIns="0" bIns="0" anchor="t">
            <a:noAutofit/>
          </a:bodyPr>
          <a:lstStyle/>
          <a:p>
            <a:pPr marL="0" indent="0" algn="r">
              <a:lnSpc>
                <a:spcPts val="1254"/>
              </a:lnSpc>
              <a:spcBef>
                <a:spcPts val="0"/>
              </a:spcBef>
              <a:spcAft>
                <a:spcPts val="0"/>
              </a:spcAft>
              <a:buNone/>
            </a:pPr>
            <a:r>
              <a:rPr sz="1045" b="0" i="0">
                <a:solidFill>
                  <a:srgbClr val="574676"/>
                </a:solidFill>
                <a:latin typeface="Fira Sans"/>
              </a:rPr>
              <a:t>189</a:t>
            </a:r>
          </a:p>
        </p:txBody>
      </p:sp>
      <p:sp>
        <p:nvSpPr>
          <p:cNvPr id="30" name="Rectangle 29"/>
          <p:cNvSpPr/>
          <p:nvPr/>
        </p:nvSpPr>
        <p:spPr>
          <a:xfrm>
            <a:off x="7618780" y="270846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18780" y="2896826"/>
            <a:ext cx="3731940" cy="92964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618780" y="2896826"/>
            <a:ext cx="41148" cy="92964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838236" y="3043130"/>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 xml:space="preserve">DQN crosses every threshold in </a:t>
            </a:r>
            <a:r>
              <a:rPr sz="1045" b="1" i="0" dirty="0">
                <a:solidFill>
                  <a:srgbClr val="25282A"/>
                </a:solidFill>
                <a:latin typeface="Fira Sans"/>
              </a:rPr>
              <a:t>roughly a tenth of the episodes</a:t>
            </a:r>
            <a:r>
              <a:rPr sz="1045" b="0" i="0" dirty="0">
                <a:solidFill>
                  <a:srgbClr val="333639"/>
                </a:solidFill>
                <a:latin typeface="Fira Sans"/>
              </a:rPr>
              <a:t xml:space="preserve"> NFQ needs — and it is still exploring heavily for the first 10 000 steps while it does so.</a:t>
            </a:r>
          </a:p>
        </p:txBody>
      </p:sp>
      <p:sp>
        <p:nvSpPr>
          <p:cNvPr id="34" name="TextBox 33"/>
          <p:cNvSpPr txBox="1"/>
          <p:nvPr/>
        </p:nvSpPr>
        <p:spPr>
          <a:xfrm>
            <a:off x="7618780" y="3991058"/>
            <a:ext cx="3731940" cy="689173"/>
          </a:xfrm>
          <a:prstGeom prst="rect">
            <a:avLst/>
          </a:prstGeom>
          <a:noFill/>
        </p:spPr>
        <p:txBody>
          <a:bodyPr wrap="square" lIns="0" tIns="0" rIns="0" bIns="0" anchor="t">
            <a:noAutofit/>
          </a:bodyPr>
          <a:lstStyle/>
          <a:p>
            <a:pPr marL="182880" indent="-182880" algn="l">
              <a:lnSpc>
                <a:spcPts val="1117"/>
              </a:lnSpc>
              <a:spcBef>
                <a:spcPts val="0"/>
              </a:spcBef>
              <a:spcAft>
                <a:spcPts val="0"/>
              </a:spcAft>
              <a:buClr>
                <a:srgbClr val="1971C2"/>
              </a:buClr>
              <a:buFont typeface="Fira Sans"/>
              <a:buChar char="–"/>
            </a:pPr>
            <a:r>
              <a:rPr sz="997" b="0" i="0">
                <a:solidFill>
                  <a:srgbClr val="333639"/>
                </a:solidFill>
                <a:latin typeface="Fira Sans"/>
              </a:rPr>
              <a:t>Replay supplies diverse mini-batches, so each gradient step carries information about more of the state space.</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The frozen target makes those steps point consistently in the same direction for 100 updates at a time.</a:t>
            </a:r>
          </a:p>
        </p:txBody>
      </p:sp>
      <p:sp>
        <p:nvSpPr>
          <p:cNvPr id="35" name="Rectangle 34"/>
          <p:cNvSpPr/>
          <p:nvPr/>
        </p:nvSpPr>
        <p:spPr>
          <a:xfrm>
            <a:off x="7618780" y="4826535"/>
            <a:ext cx="3731940" cy="1261872"/>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7618780" y="4826535"/>
            <a:ext cx="41148" cy="12618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838236" y="49728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WHAT HAS IMPROVED LESS</a:t>
            </a:r>
          </a:p>
        </p:txBody>
      </p:sp>
      <p:sp>
        <p:nvSpPr>
          <p:cNvPr id="38" name="TextBox 37"/>
          <p:cNvSpPr txBox="1"/>
          <p:nvPr/>
        </p:nvSpPr>
        <p:spPr>
          <a:xfrm>
            <a:off x="7838236" y="5210583"/>
            <a:ext cx="3347892" cy="731520"/>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 xml:space="preserve">But look at the band and at the dips. The mean peaks at 475 around episode 380 and then wobbles; at episode 500 the seeds range from </a:t>
            </a:r>
            <a:r>
              <a:rPr sz="997" b="1" i="0" dirty="0">
                <a:solidFill>
                  <a:srgbClr val="25282A"/>
                </a:solidFill>
                <a:latin typeface="Fira Sans"/>
              </a:rPr>
              <a:t>385 to 487</a:t>
            </a:r>
            <a:r>
              <a:rPr sz="997" b="0" i="0" dirty="0">
                <a:solidFill>
                  <a:srgbClr val="333639"/>
                </a:solidFill>
                <a:latin typeface="Fira Sans"/>
              </a:rPr>
              <a:t xml:space="preserve">. DQN is dramatically faster than NFQ and </a:t>
            </a:r>
            <a:r>
              <a:rPr sz="997" b="1" i="0" dirty="0">
                <a:solidFill>
                  <a:srgbClr val="25282A"/>
                </a:solidFill>
                <a:latin typeface="Fira Sans"/>
              </a:rPr>
              <a:t>more reliable, not reliable</a:t>
            </a:r>
            <a:r>
              <a:rPr sz="997" b="0" i="0" dirty="0">
                <a:solidFill>
                  <a:srgbClr val="333639"/>
                </a:solidFill>
                <a:latin typeface="Fira Sans"/>
              </a:rPr>
              <a:t>: the deadly triad has not gone anywhere.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80772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Refinements, and what remains broken</a:t>
            </a:r>
          </a:p>
        </p:txBody>
      </p:sp>
      <p:sp>
        <p:nvSpPr>
          <p:cNvPr id="6" name="TextBox 5"/>
          <p:cNvSpPr txBox="1"/>
          <p:nvPr/>
        </p:nvSpPr>
        <p:spPr>
          <a:xfrm>
            <a:off x="859536" y="3477768"/>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Three well-known improvements — decoupling selection from evaluation, replaying what surprises us, and splitting the network into value and advantage — each tested on an environment chosen to expose the weakness it addresses.</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Each refinement fixes a specific weakness. What property of an environment makes that weakness, and the fix, visible?</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maximization bias, Double DQN — Lunar Lander</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Prioritized replay, importance sampling — Acrobot</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dueling architecture, identifiability — Pendulum</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Three refinements, three environments</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Limitations and outlook</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  THE MAXIMIZATION BIAS, AGAIN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set of estimates is asked to do two different jobs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Chapter 05 showed that Q-learning systematically </a:t>
            </a:r>
            <a:r>
              <a:rPr sz="1235" b="1" i="0" dirty="0">
                <a:solidFill>
                  <a:srgbClr val="C8102E"/>
                </a:solidFill>
                <a:latin typeface="Fira Sans"/>
              </a:rPr>
              <a:t>overestimates</a:t>
            </a:r>
            <a:r>
              <a:rPr sz="1235" b="0" i="0" dirty="0">
                <a:solidFill>
                  <a:srgbClr val="333639"/>
                </a:solidFill>
                <a:latin typeface="Fira Sans"/>
              </a:rPr>
              <a:t> action values, because a maximum over noisy estimates is biased upwards. DQN inherits the problem: its target has the same max operator.</a:t>
            </a:r>
          </a:p>
        </p:txBody>
      </p:sp>
      <p:sp>
        <p:nvSpPr>
          <p:cNvPr id="9" name="TextBox 8"/>
          <p:cNvSpPr txBox="1"/>
          <p:nvPr/>
        </p:nvSpPr>
        <p:spPr>
          <a:xfrm>
            <a:off x="841248" y="190060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REWRITE THE MAXIMUM AS SELECTION FOLLOWED BY EVALUATION</a:t>
            </a:r>
          </a:p>
        </p:txBody>
      </p:sp>
      <p:pic>
        <p:nvPicPr>
          <p:cNvPr id="10" name="Picture 9" descr="max_spli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36984" y="2193213"/>
            <a:ext cx="4318000" cy="371856"/>
          </a:xfrm>
          <a:prstGeom prst="rect">
            <a:avLst/>
          </a:prstGeom>
        </p:spPr>
      </p:pic>
      <p:sp>
        <p:nvSpPr>
          <p:cNvPr id="11" name="Rectangle 10"/>
          <p:cNvSpPr/>
          <p:nvPr/>
        </p:nvSpPr>
        <p:spPr>
          <a:xfrm>
            <a:off x="822960" y="2775381"/>
            <a:ext cx="10515600" cy="113385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2" name="Rectangle 11"/>
          <p:cNvSpPr/>
          <p:nvPr/>
        </p:nvSpPr>
        <p:spPr>
          <a:xfrm>
            <a:off x="823648" y="2775381"/>
            <a:ext cx="41148" cy="11338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max_split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3376" y="3075216"/>
            <a:ext cx="4271010" cy="603885"/>
          </a:xfrm>
          <a:prstGeom prst="rect">
            <a:avLst/>
          </a:prstGeom>
        </p:spPr>
      </p:pic>
      <p:sp>
        <p:nvSpPr>
          <p:cNvPr id="14" name="TextBox 13"/>
          <p:cNvSpPr txBox="1"/>
          <p:nvPr/>
        </p:nvSpPr>
        <p:spPr>
          <a:xfrm>
            <a:off x="841248" y="4064685"/>
            <a:ext cx="10515600" cy="384048"/>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max is doing two things at once, and </a:t>
            </a:r>
            <a:r>
              <a:rPr sz="1140" b="1" i="0">
                <a:solidFill>
                  <a:srgbClr val="25282A"/>
                </a:solidFill>
                <a:latin typeface="Fira Sans"/>
              </a:rPr>
              <a:t>it uses the same estimates for both</a:t>
            </a:r>
            <a:r>
              <a:rPr sz="1140" b="0" i="0">
                <a:solidFill>
                  <a:srgbClr val="333639"/>
                </a:solidFill>
                <a:latin typeface="Fira Sans"/>
              </a:rPr>
              <a:t>. If those estimates are noisy, the action selected is disproportionately likely to be one whose value is too high, and that inflated value goes into the target.</a:t>
            </a:r>
          </a:p>
        </p:txBody>
      </p:sp>
      <p:sp>
        <p:nvSpPr>
          <p:cNvPr id="15" name="Rectangle 14"/>
          <p:cNvSpPr/>
          <p:nvPr/>
        </p:nvSpPr>
        <p:spPr>
          <a:xfrm>
            <a:off x="841248" y="455023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ddqn_tables.png"/>
          <p:cNvPicPr>
            <a:picLocks noChangeAspect="1"/>
          </p:cNvPicPr>
          <p:nvPr/>
        </p:nvPicPr>
        <p:blipFill>
          <a:blip r:embed="rId4"/>
          <a:stretch>
            <a:fillRect/>
          </a:stretch>
        </p:blipFill>
        <p:spPr>
          <a:xfrm>
            <a:off x="822960" y="4601133"/>
            <a:ext cx="5607006" cy="1691769"/>
          </a:xfrm>
          <a:prstGeom prst="rect">
            <a:avLst/>
          </a:prstGeom>
        </p:spPr>
      </p:pic>
      <p:sp>
        <p:nvSpPr>
          <p:cNvPr id="17" name="Rectangle 16"/>
          <p:cNvSpPr/>
          <p:nvPr/>
        </p:nvSpPr>
        <p:spPr>
          <a:xfrm>
            <a:off x="7882128" y="4942509"/>
            <a:ext cx="3474720"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882128" y="4942509"/>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01584" y="5088813"/>
            <a:ext cx="318211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TWO ESTIMATORS, ALREADY AVAILABLE</a:t>
            </a:r>
          </a:p>
        </p:txBody>
      </p:sp>
      <p:sp>
        <p:nvSpPr>
          <p:cNvPr id="20" name="TextBox 19"/>
          <p:cNvSpPr txBox="1"/>
          <p:nvPr/>
        </p:nvSpPr>
        <p:spPr>
          <a:xfrm>
            <a:off x="8101584" y="5326557"/>
            <a:ext cx="309067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The fix needs no new machinery. DQN already keeps </a:t>
            </a:r>
            <a:r>
              <a:rPr sz="1045" b="1" i="0" dirty="0">
                <a:solidFill>
                  <a:srgbClr val="25282A"/>
                </a:solidFill>
                <a:latin typeface="Fira Sans"/>
              </a:rPr>
              <a:t>two networks</a:t>
            </a:r>
            <a:r>
              <a:rPr lang="it-IT" sz="1045" dirty="0">
                <a:solidFill>
                  <a:srgbClr val="333639"/>
                </a:solidFill>
                <a:latin typeface="Fira Sans"/>
              </a:rPr>
              <a:t>. L</a:t>
            </a:r>
            <a:r>
              <a:rPr sz="1045" b="0" i="0" dirty="0">
                <a:solidFill>
                  <a:srgbClr val="333639"/>
                </a:solidFill>
                <a:latin typeface="Fira Sans"/>
              </a:rPr>
              <a:t>et one choose the action and the other price it. A sort of cross-validation of the estimate.</a:t>
            </a:r>
          </a:p>
        </p:txBody>
      </p:sp>
      <p:sp>
        <p:nvSpPr>
          <p:cNvPr id="21" name="CasellaDiTesto 20">
            <a:extLst>
              <a:ext uri="{FF2B5EF4-FFF2-40B4-BE49-F238E27FC236}">
                <a16:creationId xmlns:a16="http://schemas.microsoft.com/office/drawing/2014/main" id="{8C877D44-8D9F-67DE-DBDE-7C513CDCAEFD}"/>
              </a:ext>
            </a:extLst>
          </p:cNvPr>
          <p:cNvSpPr txBox="1"/>
          <p:nvPr/>
        </p:nvSpPr>
        <p:spPr>
          <a:xfrm>
            <a:off x="594804" y="2503503"/>
            <a:ext cx="0" cy="0"/>
          </a:xfrm>
          <a:prstGeom prst="rect">
            <a:avLst/>
          </a:prstGeom>
        </p:spPr>
        <p:txBody>
          <a:bodyPr vert="horz" wrap="none" lIns="91440" tIns="45720" rIns="91440" bIns="45720" rtlCol="0" anchor="ctr">
            <a:normAutofit fontScale="25000" lnSpcReduction="20000"/>
          </a:bodyPr>
          <a:lstStyle/>
          <a:p>
            <a:pPr marL="0" indent="0" algn="l">
              <a:buNone/>
            </a:pPr>
            <a:endParaRPr lang="en-GB" sz="1050" b="0" i="1" dirty="0">
              <a:latin typeface="Fira Sans" panose="020B05030500000200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6.3  DOUBLE DQN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Selection by the online network, evaluation by the target network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Double Q-learning separates the two jobs. In deep RL this costs nothing at all, because the two estimators already exist.</a:t>
            </a:r>
          </a:p>
        </p:txBody>
      </p:sp>
      <p:sp>
        <p:nvSpPr>
          <p:cNvPr id="9" name="Rectangle 8"/>
          <p:cNvSpPr/>
          <p:nvPr/>
        </p:nvSpPr>
        <p:spPr>
          <a:xfrm>
            <a:off x="841248" y="1918893"/>
            <a:ext cx="6543446" cy="91440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18893"/>
            <a:ext cx="41148" cy="91440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ddqn_sel.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78992" y="2120061"/>
            <a:ext cx="3879850" cy="513460"/>
          </a:xfrm>
          <a:prstGeom prst="rect">
            <a:avLst/>
          </a:prstGeom>
        </p:spPr>
      </p:pic>
      <p:sp>
        <p:nvSpPr>
          <p:cNvPr id="12" name="Rectangle 11"/>
          <p:cNvSpPr/>
          <p:nvPr/>
        </p:nvSpPr>
        <p:spPr>
          <a:xfrm>
            <a:off x="841248" y="2979597"/>
            <a:ext cx="6543446" cy="2124303"/>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2979597"/>
            <a:ext cx="41148" cy="2124303"/>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24128" y="3061893"/>
            <a:ext cx="6177686"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DDQN target</a:t>
            </a:r>
          </a:p>
        </p:txBody>
      </p:sp>
      <p:sp>
        <p:nvSpPr>
          <p:cNvPr id="15" name="TextBox 14"/>
          <p:cNvSpPr txBox="1"/>
          <p:nvPr/>
        </p:nvSpPr>
        <p:spPr>
          <a:xfrm>
            <a:off x="1024128" y="3300253"/>
            <a:ext cx="6232550" cy="1667103"/>
          </a:xfrm>
          <a:prstGeom prst="rect">
            <a:avLst/>
          </a:prstGeom>
          <a:noFill/>
        </p:spPr>
        <p:txBody>
          <a:bodyPr wrap="none" lIns="0" tIns="0" rIns="0" bIns="0" anchor="t">
            <a:noAutofit/>
          </a:bodyPr>
          <a:lstStyle/>
          <a:p>
            <a:pPr marL="0" indent="0" algn="l">
              <a:lnSpc>
                <a:spcPts val="1070"/>
              </a:lnSpc>
              <a:spcBef>
                <a:spcPts val="0"/>
              </a:spcBef>
              <a:spcAft>
                <a:spcPts val="0"/>
              </a:spcAft>
              <a:buNone/>
            </a:pPr>
            <a:r>
              <a:rPr sz="823" b="0" i="0">
                <a:solidFill>
                  <a:srgbClr val="1F2A37"/>
                </a:solidFill>
                <a:latin typeface="Consolas"/>
              </a:rPr>
              <a:t xml:space="preserve">with torch.no_grad():</a:t>
            </a:r>
          </a:p>
          <a:p>
            <a:pPr marL="0" indent="0" algn="l">
              <a:lnSpc>
                <a:spcPts val="1070"/>
              </a:lnSpc>
              <a:spcBef>
                <a:spcPts val="0"/>
              </a:spcBef>
              <a:spcAft>
                <a:spcPts val="0"/>
              </a:spcAft>
              <a:buNone/>
            </a:pPr>
            <a:r>
              <a:rPr sz="823" b="0" i="0">
                <a:solidFill>
                  <a:srgbClr val="333639"/>
                </a:solidFill>
                <a:latin typeface="Consolas"/>
              </a:rPr>
              <a:t xml:space="preserve"> </a:t>
            </a:r>
          </a:p>
          <a:p>
            <a:pPr marL="0" indent="0" algn="l">
              <a:lnSpc>
                <a:spcPts val="1070"/>
              </a:lnSpc>
              <a:spcBef>
                <a:spcPts val="0"/>
              </a:spcBef>
              <a:spcAft>
                <a:spcPts val="0"/>
              </a:spcAft>
              <a:buNone/>
            </a:pPr>
            <a:r>
              <a:rPr sz="823" b="0" i="0">
                <a:solidFill>
                  <a:srgbClr val="768896"/>
                </a:solidFill>
                <a:latin typeface="Consolas"/>
              </a:rPr>
              <a:t xml:space="preserve">    # action SELECTION: the online network</a:t>
            </a:r>
          </a:p>
          <a:p>
            <a:pPr marL="0" indent="0" algn="l">
              <a:lnSpc>
                <a:spcPts val="1070"/>
              </a:lnSpc>
              <a:spcBef>
                <a:spcPts val="0"/>
              </a:spcBef>
              <a:spcAft>
                <a:spcPts val="0"/>
              </a:spcAft>
              <a:buNone/>
            </a:pPr>
            <a:r>
              <a:rPr sz="823" b="0" i="0">
                <a:solidFill>
                  <a:srgbClr val="1F2A37"/>
                </a:solidFill>
                <a:latin typeface="Consolas"/>
              </a:rPr>
              <a:t xml:space="preserve">    best_actions = online_q(next_states).argmax(dim=1)</a:t>
            </a:r>
          </a:p>
          <a:p>
            <a:pPr marL="0" indent="0" algn="l">
              <a:lnSpc>
                <a:spcPts val="1070"/>
              </a:lnSpc>
              <a:spcBef>
                <a:spcPts val="0"/>
              </a:spcBef>
              <a:spcAft>
                <a:spcPts val="0"/>
              </a:spcAft>
              <a:buNone/>
            </a:pPr>
            <a:r>
              <a:rPr sz="823" b="0" i="0">
                <a:solidFill>
                  <a:srgbClr val="333639"/>
                </a:solidFill>
                <a:latin typeface="Consolas"/>
              </a:rPr>
              <a:t xml:space="preserve"> </a:t>
            </a:r>
          </a:p>
          <a:p>
            <a:pPr marL="0" indent="0" algn="l">
              <a:lnSpc>
                <a:spcPts val="1070"/>
              </a:lnSpc>
              <a:spcBef>
                <a:spcPts val="0"/>
              </a:spcBef>
              <a:spcAft>
                <a:spcPts val="0"/>
              </a:spcAft>
              <a:buNone/>
            </a:pPr>
            <a:r>
              <a:rPr sz="823" b="0" i="0">
                <a:solidFill>
                  <a:srgbClr val="768896"/>
                </a:solidFill>
                <a:latin typeface="Consolas"/>
              </a:rPr>
              <a:t xml:space="preserve">    # action EVALUATION: the target network</a:t>
            </a:r>
          </a:p>
          <a:p>
            <a:pPr marL="0" indent="0" algn="l">
              <a:lnSpc>
                <a:spcPts val="1070"/>
              </a:lnSpc>
              <a:spcBef>
                <a:spcPts val="0"/>
              </a:spcBef>
              <a:spcAft>
                <a:spcPts val="0"/>
              </a:spcAft>
              <a:buNone/>
            </a:pPr>
            <a:r>
              <a:rPr sz="823" b="0" i="0">
                <a:solidFill>
                  <a:srgbClr val="1F2A37"/>
                </a:solidFill>
                <a:latin typeface="Consolas"/>
              </a:rPr>
              <a:t xml:space="preserve">    q_next = target_q(next_states).gather(</a:t>
            </a:r>
          </a:p>
          <a:p>
            <a:pPr marL="0" indent="0" algn="l">
              <a:lnSpc>
                <a:spcPts val="1070"/>
              </a:lnSpc>
              <a:spcBef>
                <a:spcPts val="0"/>
              </a:spcBef>
              <a:spcAft>
                <a:spcPts val="0"/>
              </a:spcAft>
              <a:buNone/>
            </a:pPr>
            <a:r>
              <a:rPr sz="823" b="0" i="0">
                <a:solidFill>
                  <a:srgbClr val="1F2A37"/>
                </a:solidFill>
                <a:latin typeface="Consolas"/>
              </a:rPr>
              <a:t xml:space="preserve">        1, best_actions.unsqueeze(1)).squeeze(1)</a:t>
            </a:r>
          </a:p>
          <a:p>
            <a:pPr marL="0" indent="0" algn="l">
              <a:lnSpc>
                <a:spcPts val="1070"/>
              </a:lnSpc>
              <a:spcBef>
                <a:spcPts val="0"/>
              </a:spcBef>
              <a:spcAft>
                <a:spcPts val="0"/>
              </a:spcAft>
              <a:buNone/>
            </a:pPr>
            <a:r>
              <a:rPr sz="823" b="0" i="0">
                <a:solidFill>
                  <a:srgbClr val="333639"/>
                </a:solidFill>
                <a:latin typeface="Consolas"/>
              </a:rPr>
              <a:t xml:space="preserve"> </a:t>
            </a:r>
          </a:p>
          <a:p>
            <a:pPr marL="0" indent="0" algn="l">
              <a:lnSpc>
                <a:spcPts val="1070"/>
              </a:lnSpc>
              <a:spcBef>
                <a:spcPts val="0"/>
              </a:spcBef>
              <a:spcAft>
                <a:spcPts val="0"/>
              </a:spcAft>
              <a:buNone/>
            </a:pPr>
            <a:r>
              <a:rPr sz="823" b="0" i="0">
                <a:solidFill>
                  <a:srgbClr val="768896"/>
                </a:solidFill>
                <a:latin typeface="Consolas"/>
              </a:rPr>
              <a:t xml:space="preserve">    # bootstrap unless the transition is terminal</a:t>
            </a:r>
          </a:p>
          <a:p>
            <a:pPr marL="0" indent="0" algn="l">
              <a:lnSpc>
                <a:spcPts val="1070"/>
              </a:lnSpc>
              <a:spcBef>
                <a:spcPts val="0"/>
              </a:spcBef>
              <a:spcAft>
                <a:spcPts val="0"/>
              </a:spcAft>
              <a:buNone/>
            </a:pPr>
            <a:r>
              <a:rPr sz="823" b="0" i="0">
                <a:solidFill>
                  <a:srgbClr val="1F2A37"/>
                </a:solidFill>
                <a:latin typeface="Consolas"/>
              </a:rPr>
              <a:t xml:space="preserve">    target = rewards + gamma * q_next * (1.0 - failures)</a:t>
            </a:r>
          </a:p>
        </p:txBody>
      </p:sp>
      <p:sp>
        <p:nvSpPr>
          <p:cNvPr id="16" name="Rectangle 15"/>
          <p:cNvSpPr/>
          <p:nvPr/>
        </p:nvSpPr>
        <p:spPr>
          <a:xfrm>
            <a:off x="841248" y="5305069"/>
            <a:ext cx="6543446" cy="76809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5305069"/>
            <a:ext cx="41148" cy="76809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60704" y="5451373"/>
            <a:ext cx="6159398" cy="47548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Compare with DQN: the only lines that changed are the ones that supply the </a:t>
            </a:r>
            <a:r>
              <a:rPr sz="1045" b="0" i="0">
                <a:solidFill>
                  <a:srgbClr val="333639"/>
                </a:solidFill>
                <a:latin typeface="Consolas"/>
              </a:rPr>
              <a:t>argmax</a:t>
            </a:r>
            <a:r>
              <a:rPr sz="1045" b="0" i="0">
                <a:solidFill>
                  <a:srgbClr val="333639"/>
                </a:solidFill>
                <a:latin typeface="Fira Sans"/>
              </a:rPr>
              <a:t xml:space="preserve">. The training loop is reused as it is, with </a:t>
            </a:r>
            <a:r>
              <a:rPr sz="1045" b="0" i="0">
                <a:solidFill>
                  <a:srgbClr val="333639"/>
                </a:solidFill>
                <a:latin typeface="Consolas"/>
              </a:rPr>
              <a:t>optimization_step=optimize_ddqn</a:t>
            </a:r>
            <a:r>
              <a:rPr sz="1045" b="0" i="0">
                <a:solidFill>
                  <a:srgbClr val="333639"/>
                </a:solidFill>
                <a:latin typeface="Fira Sans"/>
              </a:rPr>
              <a:t>. No extra parameters, no third network, no measurable cost.</a:t>
            </a:r>
          </a:p>
        </p:txBody>
      </p:sp>
      <p:sp>
        <p:nvSpPr>
          <p:cNvPr id="19" name="TextBox 18"/>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DDQN AGAINST DQN ON LUNAR LANDER</a:t>
            </a:r>
          </a:p>
        </p:txBody>
      </p:sp>
      <p:pic>
        <p:nvPicPr>
          <p:cNvPr id="20" name="Picture 19" descr="fig_dqn_ddqn_lunar.png"/>
          <p:cNvPicPr>
            <a:picLocks noChangeAspect="1"/>
          </p:cNvPicPr>
          <p:nvPr/>
        </p:nvPicPr>
        <p:blipFill>
          <a:blip r:embed="rId4"/>
          <a:stretch>
            <a:fillRect/>
          </a:stretch>
        </p:blipFill>
        <p:spPr>
          <a:xfrm>
            <a:off x="7545628" y="1520034"/>
            <a:ext cx="3995510" cy="1906948"/>
          </a:xfrm>
          <a:prstGeom prst="rect">
            <a:avLst/>
          </a:prstGeom>
        </p:spPr>
      </p:pic>
      <p:sp>
        <p:nvSpPr>
          <p:cNvPr id="21" name="TextBox 20"/>
          <p:cNvSpPr txBox="1"/>
          <p:nvPr/>
        </p:nvSpPr>
        <p:spPr>
          <a:xfrm>
            <a:off x="7618780" y="3456432"/>
            <a:ext cx="3731940" cy="169316"/>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a:solidFill>
                  <a:srgbClr val="626669"/>
                </a:solidFill>
                <a:latin typeface="Fira Sans"/>
              </a:rPr>
              <a:t>Same five seeds; mean and best–worst range, 250 episodes.</a:t>
            </a:r>
          </a:p>
        </p:txBody>
      </p:sp>
      <p:sp>
        <p:nvSpPr>
          <p:cNvPr id="22" name="TextBox 21"/>
          <p:cNvSpPr txBox="1"/>
          <p:nvPr/>
        </p:nvSpPr>
        <p:spPr>
          <a:xfrm>
            <a:off x="7618780" y="3772052"/>
            <a:ext cx="3731940" cy="1048999"/>
          </a:xfrm>
          <a:prstGeom prst="rect">
            <a:avLst/>
          </a:prstGeom>
          <a:noFill/>
        </p:spPr>
        <p:txBody>
          <a:bodyPr wrap="square" lIns="0" tIns="0" rIns="0" bIns="0" anchor="t">
            <a:noAutofit/>
          </a:bodyPr>
          <a:lstStyle/>
          <a:p>
            <a:pPr marL="182880" indent="-182880" algn="l">
              <a:lnSpc>
                <a:spcPts val="1117"/>
              </a:lnSpc>
              <a:spcBef>
                <a:spcPts val="0"/>
              </a:spcBef>
              <a:spcAft>
                <a:spcPts val="0"/>
              </a:spcAft>
              <a:buClr>
                <a:srgbClr val="1971C2"/>
              </a:buClr>
              <a:buFont typeface="Fira Sans"/>
              <a:buChar char="–"/>
            </a:pPr>
            <a:r>
              <a:rPr sz="997" b="0" i="0">
                <a:solidFill>
                  <a:srgbClr val="333639"/>
                </a:solidFill>
                <a:latin typeface="Fira Sans"/>
              </a:rPr>
              <a:t xml:space="preserve">DDQN rises </a:t>
            </a:r>
            <a:r>
              <a:rPr sz="997" b="1" i="0">
                <a:solidFill>
                  <a:srgbClr val="25282A"/>
                </a:solidFill>
                <a:latin typeface="Fira Sans"/>
              </a:rPr>
              <a:t>earlier</a:t>
            </a:r>
            <a:r>
              <a:rPr sz="997" b="0" i="0">
                <a:solidFill>
                  <a:srgbClr val="333639"/>
                </a:solidFill>
                <a:latin typeface="Fira Sans"/>
              </a:rPr>
              <a:t>: its mean crosses 0 at episode 90 against 146 for DQN, and 100 at episode 161 against 215.</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 xml:space="preserve">At episode 250 the means are </a:t>
            </a:r>
            <a:r>
              <a:rPr sz="997" b="1" i="0">
                <a:solidFill>
                  <a:srgbClr val="C8102E"/>
                </a:solidFill>
                <a:latin typeface="Fira Sans"/>
              </a:rPr>
              <a:t>161</a:t>
            </a:r>
            <a:r>
              <a:rPr sz="997" b="0" i="0">
                <a:solidFill>
                  <a:srgbClr val="333639"/>
                </a:solidFill>
                <a:latin typeface="Fira Sans"/>
              </a:rPr>
              <a:t xml:space="preserve"> for DDQN and </a:t>
            </a:r>
            <a:r>
              <a:rPr sz="997" b="1" i="0">
                <a:solidFill>
                  <a:srgbClr val="25282A"/>
                </a:solidFill>
                <a:latin typeface="Fira Sans"/>
              </a:rPr>
              <a:t>130</a:t>
            </a:r>
            <a:r>
              <a:rPr sz="997" b="0" i="0">
                <a:solidFill>
                  <a:srgbClr val="333639"/>
                </a:solidFill>
                <a:latin typeface="Fira Sans"/>
              </a:rPr>
              <a:t xml:space="preserve"> for DQN; neither reaches 200 within this budget.</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The worst DDQN seed ends at 108; the worst DQN seed at −4, a run that never learned to land.</a:t>
            </a:r>
          </a:p>
        </p:txBody>
      </p:sp>
      <p:sp>
        <p:nvSpPr>
          <p:cNvPr id="23" name="Rectangle 22"/>
          <p:cNvSpPr/>
          <p:nvPr/>
        </p:nvSpPr>
        <p:spPr>
          <a:xfrm>
            <a:off x="7618780" y="4967356"/>
            <a:ext cx="3731940" cy="137160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7618780" y="4967356"/>
            <a:ext cx="41148" cy="13716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838236" y="5113660"/>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WHY LUNAR LANDER SHOWS IT</a:t>
            </a:r>
          </a:p>
        </p:txBody>
      </p:sp>
      <p:sp>
        <p:nvSpPr>
          <p:cNvPr id="26" name="TextBox 25"/>
          <p:cNvSpPr txBox="1"/>
          <p:nvPr/>
        </p:nvSpPr>
        <p:spPr>
          <a:xfrm>
            <a:off x="7838236" y="5351404"/>
            <a:ext cx="3347892" cy="868680"/>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 xml:space="preserve">Four actions, rewards of both signs and a ±100 terminal jump give </a:t>
            </a:r>
            <a:r>
              <a:rPr sz="997" b="1" i="0">
                <a:solidFill>
                  <a:srgbClr val="25282A"/>
                </a:solidFill>
                <a:latin typeface="Fira Sans"/>
              </a:rPr>
              <a:t>noisy value estimates of large magnitude</a:t>
            </a:r>
            <a:r>
              <a:rPr sz="997" b="0" i="0">
                <a:solidFill>
                  <a:srgbClr val="333639"/>
                </a:solidFill>
                <a:latin typeface="Fira Sans"/>
              </a:rPr>
              <a:t>, exactly where a max over estimates is biased upward; on Cart-Pole, with two actions and a +1 reward, there would be little for the fix to exploit. The curves measure returns, not bias: they show that DDQN helps here, not that less overestimation is the reason.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6.4  PRIORITIZED EXPERIENCE REPLAY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Not every transition is equally worth replaying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40</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Uniform sampling breaks temporal correlation, which is what we wanted</a:t>
            </a:r>
            <a:r>
              <a:rPr lang="it-IT" sz="1282" b="0" i="0" dirty="0">
                <a:solidFill>
                  <a:srgbClr val="333639"/>
                </a:solidFill>
                <a:latin typeface="Fira Sans"/>
              </a:rPr>
              <a:t>, </a:t>
            </a:r>
            <a:r>
              <a:rPr sz="1282" b="0" i="0" dirty="0">
                <a:solidFill>
                  <a:srgbClr val="333639"/>
                </a:solidFill>
                <a:latin typeface="Fira Sans"/>
              </a:rPr>
              <a:t>but it also treats every stored transition as equally informative. Some are already well predicted and produce a gradient of almost nothing. Others are </a:t>
            </a:r>
            <a:r>
              <a:rPr sz="1282" b="1" i="0" dirty="0">
                <a:solidFill>
                  <a:srgbClr val="25282A"/>
                </a:solidFill>
                <a:latin typeface="Fira Sans"/>
              </a:rPr>
              <a:t>surprising</a:t>
            </a:r>
            <a:r>
              <a:rPr sz="1282" b="0" i="0" dirty="0">
                <a:solidFill>
                  <a:srgbClr val="333639"/>
                </a:solidFill>
                <a:latin typeface="Fira Sans"/>
              </a:rPr>
              <a:t>: the target is far from what the network expected.</a:t>
            </a:r>
          </a:p>
        </p:txBody>
      </p:sp>
      <p:sp>
        <p:nvSpPr>
          <p:cNvPr id="9" name="TextBox 8"/>
          <p:cNvSpPr txBox="1"/>
          <p:nvPr/>
        </p:nvSpPr>
        <p:spPr>
          <a:xfrm>
            <a:off x="841248" y="216866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NATURAL MEASURE OF SURPRISE: THE ABSOLUTE TD ERROR</a:t>
            </a:r>
          </a:p>
        </p:txBody>
      </p:sp>
      <p:pic>
        <p:nvPicPr>
          <p:cNvPr id="10" name="Picture 9" descr="td_ab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10596" y="2533101"/>
            <a:ext cx="6287799" cy="482865"/>
          </a:xfrm>
          <a:prstGeom prst="rect">
            <a:avLst/>
          </a:prstGeom>
        </p:spPr>
      </p:pic>
      <p:sp>
        <p:nvSpPr>
          <p:cNvPr id="11" name="Rectangle 10"/>
          <p:cNvSpPr/>
          <p:nvPr/>
        </p:nvSpPr>
        <p:spPr>
          <a:xfrm>
            <a:off x="841248" y="3366546"/>
            <a:ext cx="3322320"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512850"/>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a:rPr>
              <a:t>1  ·  PRIORITY</a:t>
            </a:r>
          </a:p>
        </p:txBody>
      </p:sp>
      <p:pic>
        <p:nvPicPr>
          <p:cNvPr id="13" name="Picture 12" descr="priority.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3842034"/>
            <a:ext cx="1320800" cy="254000"/>
          </a:xfrm>
          <a:prstGeom prst="rect">
            <a:avLst/>
          </a:prstGeom>
        </p:spPr>
      </p:pic>
      <p:sp>
        <p:nvSpPr>
          <p:cNvPr id="14" name="TextBox 13"/>
          <p:cNvSpPr txBox="1"/>
          <p:nvPr/>
        </p:nvSpPr>
        <p:spPr>
          <a:xfrm>
            <a:off x="841248" y="4354098"/>
            <a:ext cx="3322320"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The small offset ε</a:t>
            </a:r>
            <a:r>
              <a:rPr sz="1045" b="0" i="0">
                <a:solidFill>
                  <a:srgbClr val="626669"/>
                </a:solidFill>
                <a:latin typeface="Fira Sans"/>
              </a:rPr>
              <a:t>p</a:t>
            </a:r>
            <a:r>
              <a:rPr sz="1045" b="0" i="0">
                <a:solidFill>
                  <a:srgbClr val="626669"/>
                </a:solidFill>
                <a:latin typeface="Fira Sans"/>
              </a:rPr>
              <a:t xml:space="preserve"> keeps the priority of every transition strictly positive, so nothing is permanently excluded from replay. The notebook uses ε</a:t>
            </a:r>
            <a:r>
              <a:rPr sz="1045" b="0" i="0">
                <a:solidFill>
                  <a:srgbClr val="626669"/>
                </a:solidFill>
                <a:latin typeface="Fira Sans"/>
              </a:rPr>
              <a:t>p</a:t>
            </a:r>
            <a:r>
              <a:rPr sz="1045" b="0" i="0">
                <a:solidFill>
                  <a:srgbClr val="626669"/>
                </a:solidFill>
                <a:latin typeface="Fira Sans"/>
              </a:rPr>
              <a:t xml:space="preserve"> = 0.01.</a:t>
            </a:r>
          </a:p>
        </p:txBody>
      </p:sp>
      <p:sp>
        <p:nvSpPr>
          <p:cNvPr id="15" name="Rectangle 14"/>
          <p:cNvSpPr/>
          <p:nvPr/>
        </p:nvSpPr>
        <p:spPr>
          <a:xfrm>
            <a:off x="4437888" y="3366546"/>
            <a:ext cx="3322320"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437888" y="3512850"/>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2B7A3E"/>
                </a:solidFill>
                <a:latin typeface="Fira Sans"/>
              </a:rPr>
              <a:t>2  ·  SAMPLING PROBABILITY</a:t>
            </a:r>
          </a:p>
        </p:txBody>
      </p:sp>
      <p:pic>
        <p:nvPicPr>
          <p:cNvPr id="17" name="Picture 16" descr="per_prob.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7888" y="3842034"/>
            <a:ext cx="1426463" cy="518160"/>
          </a:xfrm>
          <a:prstGeom prst="rect">
            <a:avLst/>
          </a:prstGeom>
        </p:spPr>
      </p:pic>
      <p:sp>
        <p:nvSpPr>
          <p:cNvPr id="18" name="TextBox 17"/>
          <p:cNvSpPr txBox="1"/>
          <p:nvPr/>
        </p:nvSpPr>
        <p:spPr>
          <a:xfrm>
            <a:off x="4437888" y="4354098"/>
            <a:ext cx="3322320"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Sampling stays stochastic: high-priority transitions are more likely, low-priority ones are still possible.</a:t>
            </a:r>
          </a:p>
        </p:txBody>
      </p:sp>
      <p:sp>
        <p:nvSpPr>
          <p:cNvPr id="19" name="Rectangle 18"/>
          <p:cNvSpPr/>
          <p:nvPr/>
        </p:nvSpPr>
        <p:spPr>
          <a:xfrm>
            <a:off x="8034528" y="3366546"/>
            <a:ext cx="3322320"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034528" y="3512850"/>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8A5100"/>
                </a:solidFill>
                <a:latin typeface="Fira Sans"/>
              </a:rPr>
              <a:t>3  ·  HOW GREEDY</a:t>
            </a:r>
          </a:p>
        </p:txBody>
      </p:sp>
      <p:pic>
        <p:nvPicPr>
          <p:cNvPr id="21" name="Picture 20" descr="per_alpha.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34528" y="3878610"/>
            <a:ext cx="3322320" cy="169567"/>
          </a:xfrm>
          <a:prstGeom prst="rect">
            <a:avLst/>
          </a:prstGeom>
        </p:spPr>
      </p:pic>
      <p:sp>
        <p:nvSpPr>
          <p:cNvPr id="22" name="TextBox 21"/>
          <p:cNvSpPr txBox="1"/>
          <p:nvPr/>
        </p:nvSpPr>
        <p:spPr>
          <a:xfrm>
            <a:off x="8034528" y="4354098"/>
            <a:ext cx="3322320"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Intermediate α compromises between uniform replay and pure greedy prioritisation. The experiments use α = 0.6.</a:t>
            </a:r>
          </a:p>
        </p:txBody>
      </p:sp>
      <p:sp>
        <p:nvSpPr>
          <p:cNvPr id="23" name="Rectangle 22"/>
          <p:cNvSpPr/>
          <p:nvPr/>
        </p:nvSpPr>
        <p:spPr>
          <a:xfrm>
            <a:off x="841248" y="498616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41248" y="5187330"/>
            <a:ext cx="5102352" cy="100584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5187330"/>
            <a:ext cx="41148" cy="100584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60704" y="5333634"/>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BOOTSTRAPPING THE PRIORITIES</a:t>
            </a:r>
          </a:p>
        </p:txBody>
      </p:sp>
      <p:sp>
        <p:nvSpPr>
          <p:cNvPr id="27" name="TextBox 26"/>
          <p:cNvSpPr txBox="1"/>
          <p:nvPr/>
        </p:nvSpPr>
        <p:spPr>
          <a:xfrm>
            <a:off x="1060704" y="5571378"/>
            <a:ext cx="4718304" cy="47548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New transitions are stored with the </a:t>
            </a:r>
            <a:r>
              <a:rPr sz="1045" b="1" i="0">
                <a:solidFill>
                  <a:srgbClr val="25282A"/>
                </a:solidFill>
                <a:latin typeface="Fira Sans"/>
              </a:rPr>
              <a:t>highest priority currently in the buffer</a:t>
            </a:r>
            <a:r>
              <a:rPr sz="1045" b="0" i="0">
                <a:solidFill>
                  <a:srgbClr val="333639"/>
                </a:solidFill>
                <a:latin typeface="Fira Sans"/>
              </a:rPr>
              <a:t>, so that they are likely to be replayed before their TD error has been measured — likely, not guaranteed.</a:t>
            </a:r>
          </a:p>
        </p:txBody>
      </p:sp>
      <p:sp>
        <p:nvSpPr>
          <p:cNvPr id="28" name="Rectangle 27"/>
          <p:cNvSpPr/>
          <p:nvPr/>
        </p:nvSpPr>
        <p:spPr>
          <a:xfrm>
            <a:off x="6254496" y="5187330"/>
            <a:ext cx="5102352"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6254496" y="5187330"/>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473952" y="5333634"/>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UPDATED LAZILY</a:t>
            </a:r>
          </a:p>
        </p:txBody>
      </p:sp>
      <p:sp>
        <p:nvSpPr>
          <p:cNvPr id="31" name="TextBox 30"/>
          <p:cNvSpPr txBox="1"/>
          <p:nvPr/>
        </p:nvSpPr>
        <p:spPr>
          <a:xfrm>
            <a:off x="6473952" y="5571378"/>
            <a:ext cx="4718304"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Priorities are refreshed only for the transitions that were actually sampled; the others keep a value that may be stale. Recomputing the TD error of every stored transition after every gradient step would be absurd.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6.6  PRIORITISATION BIASES THE GRADIENT — SO CORRECT IT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Over-sampling high-error transitions is exactly what we asked for, and a problem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42</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mini-batch drawn with these probabilities is no longer a sample of the replay buffer. The expected gradient is therefore </a:t>
            </a:r>
            <a:r>
              <a:rPr sz="1235" b="1" i="0">
                <a:solidFill>
                  <a:srgbClr val="C8102E"/>
                </a:solidFill>
                <a:latin typeface="Fira Sans"/>
              </a:rPr>
              <a:t>not the gradient we would have obtained under uniform sampling</a:t>
            </a:r>
            <a:r>
              <a:rPr sz="1235" b="0" i="0">
                <a:solidFill>
                  <a:srgbClr val="333639"/>
                </a:solidFill>
                <a:latin typeface="Fira Sans"/>
              </a:rPr>
              <a:t>.</a:t>
            </a:r>
          </a:p>
        </p:txBody>
      </p:sp>
      <p:sp>
        <p:nvSpPr>
          <p:cNvPr id="9" name="TextBox 8"/>
          <p:cNvSpPr txBox="1"/>
          <p:nvPr/>
        </p:nvSpPr>
        <p:spPr>
          <a:xfrm>
            <a:off x="841248" y="211024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IMPORTANCE-SAMPLING WEIGHTS UNDO THE OVER-REPRESENTATION</a:t>
            </a:r>
          </a:p>
        </p:txBody>
      </p:sp>
      <p:pic>
        <p:nvPicPr>
          <p:cNvPr id="10" name="Picture 9" descr="is_weigh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384564"/>
            <a:ext cx="1965960" cy="578358"/>
          </a:xfrm>
          <a:prstGeom prst="rect">
            <a:avLst/>
          </a:prstGeom>
        </p:spPr>
      </p:pic>
      <p:pic>
        <p:nvPicPr>
          <p:cNvPr id="11" name="Picture 10" descr="is_norm.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81728" y="2439428"/>
            <a:ext cx="1430528" cy="471424"/>
          </a:xfrm>
          <a:prstGeom prst="rect">
            <a:avLst/>
          </a:prstGeom>
        </p:spPr>
      </p:pic>
      <p:sp>
        <p:nvSpPr>
          <p:cNvPr id="12" name="TextBox 11"/>
          <p:cNvSpPr txBox="1"/>
          <p:nvPr/>
        </p:nvSpPr>
        <p:spPr>
          <a:xfrm>
            <a:off x="841248" y="3145802"/>
            <a:ext cx="6543446" cy="868680"/>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 xml:space="preserve">A transition that is sampled more often gets a </a:t>
            </a:r>
            <a:r>
              <a:rPr sz="1092" b="1" i="0">
                <a:solidFill>
                  <a:srgbClr val="25282A"/>
                </a:solidFill>
                <a:latin typeface="Fira Sans"/>
              </a:rPr>
              <a:t>smaller weight in the loss</a:t>
            </a:r>
            <a:r>
              <a:rPr sz="1092" b="0" i="0">
                <a:solidFill>
                  <a:srgbClr val="333639"/>
                </a:solidFill>
                <a:latin typeface="Fira Sans"/>
              </a:rPr>
              <a:t>. β controls how much of the bias is corrected: 0 means none, 1 means fully. In practice β is raised towards 1 during training, since the bias matters most near convergence; the notebook keeps β = 0.4 fixed. Normalising by the largest weight in the batch keeps the loss scale under control.</a:t>
            </a:r>
          </a:p>
        </p:txBody>
      </p:sp>
      <p:sp>
        <p:nvSpPr>
          <p:cNvPr id="13" name="Rectangle 12"/>
          <p:cNvSpPr/>
          <p:nvPr/>
        </p:nvSpPr>
        <p:spPr>
          <a:xfrm>
            <a:off x="841248" y="4151642"/>
            <a:ext cx="6543446" cy="786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4151642"/>
            <a:ext cx="41148" cy="786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er_loss.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8992" y="4389386"/>
            <a:ext cx="2976372" cy="364490"/>
          </a:xfrm>
          <a:prstGeom prst="rect">
            <a:avLst/>
          </a:prstGeom>
        </p:spPr>
      </p:pic>
      <p:sp>
        <p:nvSpPr>
          <p:cNvPr id="16" name="Rectangle 15"/>
          <p:cNvSpPr/>
          <p:nvPr/>
        </p:nvSpPr>
        <p:spPr>
          <a:xfrm>
            <a:off x="841248" y="5066042"/>
            <a:ext cx="6543446" cy="61112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5066042"/>
            <a:ext cx="41148" cy="61112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60704" y="5212346"/>
            <a:ext cx="6159398" cy="31851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Two changes from DDQN, then: transitions are drawn from </a:t>
            </a:r>
            <a:r>
              <a:rPr sz="1045" b="1" i="0">
                <a:solidFill>
                  <a:srgbClr val="333639"/>
                </a:solidFill>
                <a:latin typeface="Fira Sans"/>
              </a:rPr>
              <a:t>P(𝒟) rather than U(𝒟)</a:t>
            </a:r>
            <a:r>
              <a:rPr sz="1045" b="0" i="0">
                <a:solidFill>
                  <a:srgbClr val="333639"/>
                </a:solidFill>
                <a:latin typeface="Fira Sans"/>
              </a:rPr>
              <a:t>, and each squared TD error is multiplied by its weight. The target itself is the DDQN target, unchanged.</a:t>
            </a:r>
          </a:p>
        </p:txBody>
      </p:sp>
      <p:sp>
        <p:nvSpPr>
          <p:cNvPr id="19" name="TextBox 18"/>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PER AGAINST UNIFORM REPLAY ON ACROBOT</a:t>
            </a:r>
          </a:p>
        </p:txBody>
      </p:sp>
      <p:pic>
        <p:nvPicPr>
          <p:cNvPr id="20" name="Picture 19" descr="fig_ddqn_per_acrobot.png"/>
          <p:cNvPicPr>
            <a:picLocks noChangeAspect="1"/>
          </p:cNvPicPr>
          <p:nvPr/>
        </p:nvPicPr>
        <p:blipFill>
          <a:blip r:embed="rId6"/>
          <a:stretch>
            <a:fillRect/>
          </a:stretch>
        </p:blipFill>
        <p:spPr>
          <a:xfrm>
            <a:off x="7618780" y="1572768"/>
            <a:ext cx="3731940" cy="1781153"/>
          </a:xfrm>
          <a:prstGeom prst="rect">
            <a:avLst/>
          </a:prstGeom>
        </p:spPr>
      </p:pic>
      <p:sp>
        <p:nvSpPr>
          <p:cNvPr id="21" name="TextBox 20"/>
          <p:cNvSpPr txBox="1"/>
          <p:nvPr/>
        </p:nvSpPr>
        <p:spPr>
          <a:xfrm>
            <a:off x="7618780" y="3602736"/>
            <a:ext cx="3731940" cy="169316"/>
          </a:xfrm>
          <a:prstGeom prst="rect">
            <a:avLst/>
          </a:prstGeom>
          <a:noFill/>
        </p:spPr>
        <p:txBody>
          <a:bodyPr wrap="square" lIns="0" tIns="0" rIns="0" bIns="0" anchor="t">
            <a:noAutofit/>
          </a:bodyPr>
          <a:lstStyle/>
          <a:p>
            <a:pPr marL="0" indent="0" algn="l">
              <a:lnSpc>
                <a:spcPts val="1117"/>
              </a:lnSpc>
              <a:spcBef>
                <a:spcPts val="0"/>
              </a:spcBef>
              <a:spcAft>
                <a:spcPts val="0"/>
              </a:spcAft>
              <a:buNone/>
            </a:pPr>
            <a:r>
              <a:rPr sz="931" b="0" i="1">
                <a:solidFill>
                  <a:srgbClr val="626669"/>
                </a:solidFill>
                <a:latin typeface="Fira Sans"/>
              </a:rPr>
              <a:t>DDQN targets, same seeds; 300 episodes, one greedy evaluation episode per point.</a:t>
            </a:r>
          </a:p>
        </p:txBody>
      </p:sp>
      <p:sp>
        <p:nvSpPr>
          <p:cNvPr id="22" name="TextBox 21"/>
          <p:cNvSpPr txBox="1"/>
          <p:nvPr/>
        </p:nvSpPr>
        <p:spPr>
          <a:xfrm>
            <a:off x="7618780" y="3918356"/>
            <a:ext cx="3731940" cy="896112"/>
          </a:xfrm>
          <a:prstGeom prst="rect">
            <a:avLst/>
          </a:prstGeom>
          <a:noFill/>
        </p:spPr>
        <p:txBody>
          <a:bodyPr wrap="square" lIns="0" tIns="0" rIns="0" bIns="0" anchor="t">
            <a:noAutofit/>
          </a:bodyPr>
          <a:lstStyle/>
          <a:p>
            <a:pPr marL="182880" indent="-182880" algn="l">
              <a:lnSpc>
                <a:spcPts val="1117"/>
              </a:lnSpc>
              <a:spcBef>
                <a:spcPts val="0"/>
              </a:spcBef>
              <a:spcAft>
                <a:spcPts val="0"/>
              </a:spcAft>
              <a:buClr>
                <a:srgbClr val="1971C2"/>
              </a:buClr>
              <a:buFont typeface="Fira Sans"/>
              <a:buChar char="–"/>
            </a:pPr>
            <a:r>
              <a:rPr sz="997" b="0" i="0">
                <a:solidFill>
                  <a:srgbClr val="333639"/>
                </a:solidFill>
                <a:latin typeface="Fira Sans"/>
              </a:rPr>
              <a:t xml:space="preserve">PER improves </a:t>
            </a:r>
            <a:r>
              <a:rPr sz="997" b="1" i="0">
                <a:solidFill>
                  <a:srgbClr val="25282A"/>
                </a:solidFill>
                <a:latin typeface="Fira Sans"/>
              </a:rPr>
              <a:t>sooner</a:t>
            </a:r>
            <a:r>
              <a:rPr sz="997" b="0" i="0">
                <a:solidFill>
                  <a:srgbClr val="333639"/>
                </a:solidFill>
                <a:latin typeface="Fira Sans"/>
              </a:rPr>
              <a:t>: its mean reaches −150 at episode 83 against 107 with uniform replay, and −100 at 203 against 231.</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 xml:space="preserve">Both end near </a:t>
            </a:r>
            <a:r>
              <a:rPr sz="997" b="1" i="0">
                <a:solidFill>
                  <a:srgbClr val="C8102E"/>
                </a:solidFill>
                <a:latin typeface="Fira Sans"/>
              </a:rPr>
              <a:t>−93</a:t>
            </a:r>
            <a:r>
              <a:rPr sz="997" b="0" i="0">
                <a:solidFill>
                  <a:srgbClr val="333639"/>
                </a:solidFill>
                <a:latin typeface="Fira Sans"/>
              </a:rPr>
              <a:t xml:space="preserve"> and </a:t>
            </a:r>
            <a:r>
              <a:rPr sz="997" b="1" i="0">
                <a:solidFill>
                  <a:srgbClr val="25282A"/>
                </a:solidFill>
                <a:latin typeface="Fira Sans"/>
              </a:rPr>
              <a:t>−96</a:t>
            </a:r>
            <a:r>
              <a:rPr sz="997" b="0" i="0">
                <a:solidFill>
                  <a:srgbClr val="333639"/>
                </a:solidFill>
                <a:latin typeface="Fira Sans"/>
              </a:rPr>
              <a:t>; in the last third PER's band is narrower (−99 to −89 against −110 to −85). The gain is in speed and consistency, not in the final return.</a:t>
            </a:r>
          </a:p>
        </p:txBody>
      </p:sp>
      <p:sp>
        <p:nvSpPr>
          <p:cNvPr id="23" name="Rectangle 22"/>
          <p:cNvSpPr/>
          <p:nvPr/>
        </p:nvSpPr>
        <p:spPr>
          <a:xfrm>
            <a:off x="7618780" y="4753833"/>
            <a:ext cx="3731940" cy="1417320"/>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7618780" y="4753833"/>
            <a:ext cx="41148" cy="141732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838236" y="4900137"/>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COST</a:t>
            </a:r>
          </a:p>
        </p:txBody>
      </p:sp>
      <p:sp>
        <p:nvSpPr>
          <p:cNvPr id="26" name="TextBox 25"/>
          <p:cNvSpPr txBox="1"/>
          <p:nvPr/>
        </p:nvSpPr>
        <p:spPr>
          <a:xfrm>
            <a:off x="7838236" y="5137881"/>
            <a:ext cx="3347892" cy="868680"/>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 xml:space="preserve">And it is not free. This implementation recomputes the sampling distribution over the whole buffer at every optimisation step — </a:t>
            </a:r>
            <a:r>
              <a:rPr sz="997" b="1" i="0">
                <a:solidFill>
                  <a:srgbClr val="25282A"/>
                </a:solidFill>
                <a:latin typeface="Fira Sans"/>
              </a:rPr>
              <a:t>O(N) per gradient step</a:t>
            </a:r>
            <a:r>
              <a:rPr sz="997" b="0" i="0">
                <a:solidFill>
                  <a:srgbClr val="333639"/>
                </a:solidFill>
                <a:latin typeface="Fira Sans"/>
              </a:rPr>
              <a:t>. Real implementations keep the priorities in a sum tree and sample in O(log 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6.7  THE DUELING ARCHITECTURE: THE IDEA</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Everything so far changed the data or the labels — this changes the network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43</a:t>
            </a:r>
          </a:p>
        </p:txBody>
      </p:sp>
      <p:sp>
        <p:nvSpPr>
          <p:cNvPr id="8" name="TextBox 7"/>
          <p:cNvSpPr txBox="1"/>
          <p:nvPr/>
        </p:nvSpPr>
        <p:spPr>
          <a:xfrm>
            <a:off x="841248" y="1316736"/>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Replay made the data less correlated; the target network made the labels more stable. Neither touched how the network </a:t>
            </a:r>
            <a:r>
              <a:rPr sz="1188" b="0" i="1">
                <a:solidFill>
                  <a:srgbClr val="25282A"/>
                </a:solidFill>
                <a:latin typeface="Fira Sans"/>
              </a:rPr>
              <a:t>represents</a:t>
            </a:r>
            <a:r>
              <a:rPr sz="1188" b="0" i="0">
                <a:solidFill>
                  <a:srgbClr val="333639"/>
                </a:solidFill>
                <a:latin typeface="Fira Sans"/>
              </a:rPr>
              <a:t> a value. The dueling architecture exploits a structural fact known since Chapter 02.</a:t>
            </a:r>
          </a:p>
        </p:txBody>
      </p:sp>
      <p:sp>
        <p:nvSpPr>
          <p:cNvPr id="9" name="Rectangle 8"/>
          <p:cNvSpPr/>
          <p:nvPr/>
        </p:nvSpPr>
        <p:spPr>
          <a:xfrm>
            <a:off x="841248" y="1849465"/>
            <a:ext cx="2450592"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v_def.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050633"/>
            <a:ext cx="1753362" cy="206375"/>
          </a:xfrm>
          <a:prstGeom prst="rect">
            <a:avLst/>
          </a:prstGeom>
        </p:spPr>
      </p:pic>
      <p:sp>
        <p:nvSpPr>
          <p:cNvPr id="11" name="TextBox 10"/>
          <p:cNvSpPr txBox="1"/>
          <p:nvPr/>
        </p:nvSpPr>
        <p:spPr>
          <a:xfrm>
            <a:off x="841248" y="2562697"/>
            <a:ext cx="2450592" cy="357494"/>
          </a:xfrm>
          <a:prstGeom prst="rect">
            <a:avLst/>
          </a:prstGeom>
          <a:noFill/>
        </p:spPr>
        <p:txBody>
          <a:bodyPr wrap="square" lIns="0" tIns="0" rIns="0" bIns="0" anchor="t">
            <a:noAutofit/>
          </a:bodyPr>
          <a:lstStyle/>
          <a:p>
            <a:pPr marL="0" indent="0" algn="l">
              <a:lnSpc>
                <a:spcPts val="1170"/>
              </a:lnSpc>
              <a:spcBef>
                <a:spcPts val="0"/>
              </a:spcBef>
              <a:spcAft>
                <a:spcPts val="0"/>
              </a:spcAft>
              <a:buNone/>
            </a:pPr>
            <a:r>
              <a:rPr sz="1045" b="0" i="0">
                <a:solidFill>
                  <a:srgbClr val="25282A"/>
                </a:solidFill>
                <a:latin typeface="Fira Sans"/>
              </a:rPr>
              <a:t>State value</a:t>
            </a:r>
          </a:p>
          <a:p>
            <a:pPr marL="0" indent="0" algn="l">
              <a:lnSpc>
                <a:spcPts val="1157"/>
              </a:lnSpc>
              <a:spcBef>
                <a:spcPts val="200"/>
              </a:spcBef>
              <a:spcAft>
                <a:spcPts val="0"/>
              </a:spcAft>
              <a:buNone/>
            </a:pPr>
            <a:r>
              <a:rPr sz="997" b="0" i="0">
                <a:solidFill>
                  <a:srgbClr val="626669"/>
                </a:solidFill>
                <a:latin typeface="Fira Sans"/>
              </a:rPr>
              <a:t>how good it is to be in this state at all</a:t>
            </a:r>
          </a:p>
        </p:txBody>
      </p:sp>
      <p:sp>
        <p:nvSpPr>
          <p:cNvPr id="12" name="Rectangle 11"/>
          <p:cNvSpPr/>
          <p:nvPr/>
        </p:nvSpPr>
        <p:spPr>
          <a:xfrm>
            <a:off x="3529584" y="1849465"/>
            <a:ext cx="2450592"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q_def.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9584" y="2050633"/>
            <a:ext cx="2450592" cy="202327"/>
          </a:xfrm>
          <a:prstGeom prst="rect">
            <a:avLst/>
          </a:prstGeom>
        </p:spPr>
      </p:pic>
      <p:sp>
        <p:nvSpPr>
          <p:cNvPr id="14" name="TextBox 13"/>
          <p:cNvSpPr txBox="1"/>
          <p:nvPr/>
        </p:nvSpPr>
        <p:spPr>
          <a:xfrm>
            <a:off x="3529584" y="2562697"/>
            <a:ext cx="2450592" cy="357494"/>
          </a:xfrm>
          <a:prstGeom prst="rect">
            <a:avLst/>
          </a:prstGeom>
          <a:noFill/>
        </p:spPr>
        <p:txBody>
          <a:bodyPr wrap="square" lIns="0" tIns="0" rIns="0" bIns="0" anchor="t">
            <a:noAutofit/>
          </a:bodyPr>
          <a:lstStyle/>
          <a:p>
            <a:pPr marL="0" indent="0" algn="l">
              <a:lnSpc>
                <a:spcPts val="1170"/>
              </a:lnSpc>
              <a:spcBef>
                <a:spcPts val="0"/>
              </a:spcBef>
              <a:spcAft>
                <a:spcPts val="0"/>
              </a:spcAft>
              <a:buNone/>
            </a:pPr>
            <a:r>
              <a:rPr sz="1045" b="0" i="0">
                <a:solidFill>
                  <a:srgbClr val="25282A"/>
                </a:solidFill>
                <a:latin typeface="Fira Sans"/>
              </a:rPr>
              <a:t>Action value</a:t>
            </a:r>
          </a:p>
          <a:p>
            <a:pPr marL="0" indent="0" algn="l">
              <a:lnSpc>
                <a:spcPts val="1157"/>
              </a:lnSpc>
              <a:spcBef>
                <a:spcPts val="200"/>
              </a:spcBef>
              <a:spcAft>
                <a:spcPts val="0"/>
              </a:spcAft>
              <a:buNone/>
            </a:pPr>
            <a:r>
              <a:rPr sz="997" b="0" i="0">
                <a:solidFill>
                  <a:srgbClr val="626669"/>
                </a:solidFill>
                <a:latin typeface="Fira Sans"/>
              </a:rPr>
              <a:t>how good it is to take this action here</a:t>
            </a:r>
          </a:p>
        </p:txBody>
      </p:sp>
      <p:sp>
        <p:nvSpPr>
          <p:cNvPr id="15" name="Rectangle 14"/>
          <p:cNvSpPr/>
          <p:nvPr/>
        </p:nvSpPr>
        <p:spPr>
          <a:xfrm>
            <a:off x="6217920" y="1849465"/>
            <a:ext cx="2450592"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adv_def.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7920" y="2050633"/>
            <a:ext cx="2058796" cy="206375"/>
          </a:xfrm>
          <a:prstGeom prst="rect">
            <a:avLst/>
          </a:prstGeom>
        </p:spPr>
      </p:pic>
      <p:sp>
        <p:nvSpPr>
          <p:cNvPr id="17" name="TextBox 16"/>
          <p:cNvSpPr txBox="1"/>
          <p:nvPr/>
        </p:nvSpPr>
        <p:spPr>
          <a:xfrm>
            <a:off x="6217920" y="2562697"/>
            <a:ext cx="2450592" cy="504372"/>
          </a:xfrm>
          <a:prstGeom prst="rect">
            <a:avLst/>
          </a:prstGeom>
          <a:noFill/>
        </p:spPr>
        <p:txBody>
          <a:bodyPr wrap="square" lIns="0" tIns="0" rIns="0" bIns="0" anchor="t">
            <a:noAutofit/>
          </a:bodyPr>
          <a:lstStyle/>
          <a:p>
            <a:pPr marL="0" indent="0" algn="l">
              <a:lnSpc>
                <a:spcPts val="1170"/>
              </a:lnSpc>
              <a:spcBef>
                <a:spcPts val="0"/>
              </a:spcBef>
              <a:spcAft>
                <a:spcPts val="0"/>
              </a:spcAft>
              <a:buNone/>
            </a:pPr>
            <a:r>
              <a:rPr sz="1045" b="0" i="0">
                <a:solidFill>
                  <a:srgbClr val="25282A"/>
                </a:solidFill>
                <a:latin typeface="Fira Sans"/>
              </a:rPr>
              <a:t>Advantage</a:t>
            </a:r>
          </a:p>
          <a:p>
            <a:pPr marL="0" indent="0" algn="l">
              <a:lnSpc>
                <a:spcPts val="1157"/>
              </a:lnSpc>
              <a:spcBef>
                <a:spcPts val="200"/>
              </a:spcBef>
              <a:spcAft>
                <a:spcPts val="0"/>
              </a:spcAft>
              <a:buNone/>
            </a:pPr>
            <a:r>
              <a:rPr sz="997" b="0" i="0">
                <a:solidFill>
                  <a:srgbClr val="626669"/>
                </a:solidFill>
                <a:latin typeface="Fira Sans"/>
              </a:rPr>
              <a:t>how much better this action is than the state average</a:t>
            </a:r>
          </a:p>
        </p:txBody>
      </p:sp>
      <p:sp>
        <p:nvSpPr>
          <p:cNvPr id="18" name="Rectangle 17"/>
          <p:cNvSpPr/>
          <p:nvPr/>
        </p:nvSpPr>
        <p:spPr>
          <a:xfrm>
            <a:off x="8906256" y="1849465"/>
            <a:ext cx="2450592"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q_decomp.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06256" y="2050633"/>
            <a:ext cx="2055495" cy="206375"/>
          </a:xfrm>
          <a:prstGeom prst="rect">
            <a:avLst/>
          </a:prstGeom>
        </p:spPr>
      </p:pic>
      <p:sp>
        <p:nvSpPr>
          <p:cNvPr id="20" name="TextBox 19"/>
          <p:cNvSpPr txBox="1"/>
          <p:nvPr/>
        </p:nvSpPr>
        <p:spPr>
          <a:xfrm>
            <a:off x="8906256" y="2562697"/>
            <a:ext cx="2450592" cy="504372"/>
          </a:xfrm>
          <a:prstGeom prst="rect">
            <a:avLst/>
          </a:prstGeom>
          <a:noFill/>
        </p:spPr>
        <p:txBody>
          <a:bodyPr wrap="square" lIns="0" tIns="0" rIns="0" bIns="0" anchor="t">
            <a:noAutofit/>
          </a:bodyPr>
          <a:lstStyle/>
          <a:p>
            <a:pPr marL="0" indent="0" algn="l">
              <a:lnSpc>
                <a:spcPts val="1170"/>
              </a:lnSpc>
              <a:spcBef>
                <a:spcPts val="0"/>
              </a:spcBef>
              <a:spcAft>
                <a:spcPts val="0"/>
              </a:spcAft>
              <a:buNone/>
            </a:pPr>
            <a:r>
              <a:rPr sz="1045" b="0" i="0">
                <a:solidFill>
                  <a:srgbClr val="25282A"/>
                </a:solidFill>
                <a:latin typeface="Fira Sans"/>
              </a:rPr>
              <a:t>And so</a:t>
            </a:r>
          </a:p>
          <a:p>
            <a:pPr marL="0" indent="0" algn="l">
              <a:lnSpc>
                <a:spcPts val="1157"/>
              </a:lnSpc>
              <a:spcBef>
                <a:spcPts val="200"/>
              </a:spcBef>
              <a:spcAft>
                <a:spcPts val="0"/>
              </a:spcAft>
              <a:buNone/>
            </a:pPr>
            <a:r>
              <a:rPr sz="997" b="0" i="0">
                <a:solidFill>
                  <a:srgbClr val="626669"/>
                </a:solidFill>
                <a:latin typeface="Fira Sans"/>
              </a:rPr>
              <a:t>every action value splits into a shared part and a relative one</a:t>
            </a:r>
          </a:p>
        </p:txBody>
      </p:sp>
      <p:sp>
        <p:nvSpPr>
          <p:cNvPr id="21" name="Rectangle 20"/>
          <p:cNvSpPr/>
          <p:nvPr/>
        </p:nvSpPr>
        <p:spPr>
          <a:xfrm>
            <a:off x="841248" y="318448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8" y="3367369"/>
            <a:ext cx="39319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25282A"/>
                </a:solidFill>
                <a:latin typeface="Fira Sans"/>
              </a:rPr>
              <a:t>THE SAME STATE, SEEN THREE WAYS</a:t>
            </a:r>
          </a:p>
        </p:txBody>
      </p:sp>
      <p:pic>
        <p:nvPicPr>
          <p:cNvPr id="23" name="Picture 22" descr="adv_good.png"/>
          <p:cNvPicPr>
            <a:picLocks noChangeAspect="1"/>
          </p:cNvPicPr>
          <p:nvPr/>
        </p:nvPicPr>
        <p:blipFill>
          <a:blip r:embed="rId6"/>
          <a:srcRect r="16851"/>
          <a:stretch>
            <a:fillRect/>
          </a:stretch>
        </p:blipFill>
        <p:spPr>
          <a:xfrm>
            <a:off x="1175155" y="3605990"/>
            <a:ext cx="815056" cy="2506669"/>
          </a:xfrm>
          <a:prstGeom prst="rect">
            <a:avLst/>
          </a:prstGeom>
        </p:spPr>
      </p:pic>
      <p:pic>
        <p:nvPicPr>
          <p:cNvPr id="24" name="Picture 23" descr="adv_bad.png"/>
          <p:cNvPicPr>
            <a:picLocks noChangeAspect="1"/>
          </p:cNvPicPr>
          <p:nvPr/>
        </p:nvPicPr>
        <p:blipFill>
          <a:blip r:embed="rId7"/>
          <a:srcRect l="15126"/>
          <a:stretch>
            <a:fillRect/>
          </a:stretch>
        </p:blipFill>
        <p:spPr>
          <a:xfrm>
            <a:off x="3114382" y="3554362"/>
            <a:ext cx="933835" cy="2590027"/>
          </a:xfrm>
          <a:prstGeom prst="rect">
            <a:avLst/>
          </a:prstGeom>
        </p:spPr>
      </p:pic>
      <p:sp>
        <p:nvSpPr>
          <p:cNvPr id="25" name="TextBox 24"/>
          <p:cNvSpPr txBox="1"/>
          <p:nvPr/>
        </p:nvSpPr>
        <p:spPr>
          <a:xfrm>
            <a:off x="1040130" y="6152622"/>
            <a:ext cx="155448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0" i="1">
                <a:solidFill>
                  <a:srgbClr val="2B7A3E"/>
                </a:solidFill>
                <a:latin typeface="Fira Sans"/>
              </a:rPr>
              <a:t>pole upright — good</a:t>
            </a:r>
          </a:p>
        </p:txBody>
      </p:sp>
      <p:sp>
        <p:nvSpPr>
          <p:cNvPr id="26" name="TextBox 25"/>
          <p:cNvSpPr txBox="1"/>
          <p:nvPr/>
        </p:nvSpPr>
        <p:spPr>
          <a:xfrm>
            <a:off x="3089529" y="6184077"/>
            <a:ext cx="155448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0" i="1" dirty="0">
                <a:solidFill>
                  <a:srgbClr val="C8102E"/>
                </a:solidFill>
                <a:latin typeface="Fira Sans"/>
              </a:rPr>
              <a:t>pole falling — bad</a:t>
            </a:r>
          </a:p>
        </p:txBody>
      </p:sp>
      <p:sp>
        <p:nvSpPr>
          <p:cNvPr id="27" name="TextBox 26"/>
          <p:cNvSpPr txBox="1"/>
          <p:nvPr/>
        </p:nvSpPr>
        <p:spPr>
          <a:xfrm>
            <a:off x="5138928" y="3367369"/>
            <a:ext cx="6217920" cy="868680"/>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a:solidFill>
                  <a:srgbClr val="25282A"/>
                </a:solidFill>
                <a:latin typeface="Fira Sans"/>
              </a:rPr>
              <a:t>Why the split helps.</a:t>
            </a:r>
            <a:r>
              <a:rPr sz="1092" b="0" i="0">
                <a:solidFill>
                  <a:srgbClr val="333639"/>
                </a:solidFill>
                <a:latin typeface="Fira Sans"/>
              </a:rPr>
              <a:t> In many states the value of the state is much easier to estimate than the exact value of each action. A Cart-Pole state with the pole near vertical is good </a:t>
            </a:r>
            <a:r>
              <a:rPr sz="1092" b="0" i="1">
                <a:solidFill>
                  <a:srgbClr val="333639"/>
                </a:solidFill>
                <a:latin typeface="Fira Sans"/>
              </a:rPr>
              <a:t>whatever</a:t>
            </a:r>
            <a:r>
              <a:rPr sz="1092" b="0" i="0">
                <a:solidFill>
                  <a:srgbClr val="333639"/>
                </a:solidFill>
                <a:latin typeface="Fira Sans"/>
              </a:rPr>
              <a:t> you push; a state with the pole already falling is bad, even though one action is still better than the other. The state value captures what is common to the actions; the advantage captures only what distinguishes them.</a:t>
            </a:r>
          </a:p>
        </p:txBody>
      </p:sp>
      <p:pic>
        <p:nvPicPr>
          <p:cNvPr id="28" name="Picture 27" descr="duel_why.png"/>
          <p:cNvPicPr>
            <a:picLocks noChangeAspect="1"/>
          </p:cNvPicPr>
          <p:nvPr/>
        </p:nvPicPr>
        <p:blipFill>
          <a:blip r:embed="rId8"/>
          <a:stretch>
            <a:fillRect/>
          </a:stretch>
        </p:blipFill>
        <p:spPr>
          <a:xfrm>
            <a:off x="5558779" y="4260267"/>
            <a:ext cx="5458066" cy="194522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6.8  TWO HEADS, AND THE AMBIGUITY BETWEEN THEM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Adding V and A is not enough</a:t>
            </a:r>
            <a:r>
              <a:rPr lang="it-IT" sz="2162" b="1" i="0" dirty="0">
                <a:solidFill>
                  <a:srgbClr val="25282A"/>
                </a:solidFill>
                <a:latin typeface="Roboto Slab"/>
              </a:rPr>
              <a:t>, </a:t>
            </a:r>
            <a:r>
              <a:rPr sz="2162" b="1" i="0" dirty="0">
                <a:solidFill>
                  <a:srgbClr val="25282A"/>
                </a:solidFill>
                <a:latin typeface="Roboto Slab"/>
              </a:rPr>
              <a:t>the decomposition has to be pinned down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44</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One shared feature extractor, then two heads: a </a:t>
            </a:r>
            <a:r>
              <a:rPr sz="1235" b="1" i="0">
                <a:solidFill>
                  <a:srgbClr val="574676"/>
                </a:solidFill>
                <a:latin typeface="Fira Sans"/>
              </a:rPr>
              <a:t>value head</a:t>
            </a:r>
            <a:r>
              <a:rPr sz="1235" b="0" i="0">
                <a:solidFill>
                  <a:srgbClr val="333639"/>
                </a:solidFill>
                <a:latin typeface="Fira Sans"/>
              </a:rPr>
              <a:t> producing a single number, and an </a:t>
            </a:r>
            <a:r>
              <a:rPr sz="1235" b="1" i="0">
                <a:solidFill>
                  <a:srgbClr val="2B7A3E"/>
                </a:solidFill>
                <a:latin typeface="Fira Sans"/>
              </a:rPr>
              <a:t>advantage head</a:t>
            </a:r>
            <a:r>
              <a:rPr sz="1235" b="0" i="0">
                <a:solidFill>
                  <a:srgbClr val="333639"/>
                </a:solidFill>
                <a:latin typeface="Fira Sans"/>
              </a:rPr>
              <a:t> producing one per action. They must be recombined into Q-values.</a:t>
            </a:r>
          </a:p>
        </p:txBody>
      </p:sp>
      <p:pic>
        <p:nvPicPr>
          <p:cNvPr id="9" name="Picture 8" descr="duel_naiv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4128" y="1882317"/>
            <a:ext cx="3183255" cy="238125"/>
          </a:xfrm>
          <a:prstGeom prst="rect">
            <a:avLst/>
          </a:prstGeom>
        </p:spPr>
      </p:pic>
      <p:sp>
        <p:nvSpPr>
          <p:cNvPr id="10" name="Rectangle 9"/>
          <p:cNvSpPr/>
          <p:nvPr/>
        </p:nvSpPr>
        <p:spPr>
          <a:xfrm>
            <a:off x="841248" y="2285034"/>
            <a:ext cx="6543446" cy="731520"/>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2285034"/>
            <a:ext cx="41148" cy="7315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78992" y="2413050"/>
            <a:ext cx="6067958" cy="219456"/>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NOT IDENTIFIABLE</a:t>
            </a:r>
          </a:p>
        </p:txBody>
      </p:sp>
      <p:pic>
        <p:nvPicPr>
          <p:cNvPr id="13" name="Picture 12" descr="duel_iden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2669082"/>
            <a:ext cx="3802380" cy="190500"/>
          </a:xfrm>
          <a:prstGeom prst="rect">
            <a:avLst/>
          </a:prstGeom>
        </p:spPr>
      </p:pic>
      <p:sp>
        <p:nvSpPr>
          <p:cNvPr id="14" name="TextBox 13"/>
          <p:cNvSpPr txBox="1"/>
          <p:nvPr/>
        </p:nvSpPr>
        <p:spPr>
          <a:xfrm>
            <a:off x="841248" y="3144570"/>
            <a:ext cx="6543446"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333639"/>
                </a:solidFill>
                <a:latin typeface="Fira Sans"/>
              </a:rPr>
              <a:t>The training signal constrains only the sum: nothing forces the value head to learn a true state value, or the advantage head meaningful relative advantages. They can drift apart by a constant and the loss will not notice.</a:t>
            </a:r>
          </a:p>
        </p:txBody>
      </p:sp>
      <p:sp>
        <p:nvSpPr>
          <p:cNvPr id="15" name="TextBox 14"/>
          <p:cNvSpPr txBox="1"/>
          <p:nvPr/>
        </p:nvSpPr>
        <p:spPr>
          <a:xfrm>
            <a:off x="841248" y="378465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REMOVE THE AMBIGUITY: CENTRE THE ADVANTAGES</a:t>
            </a:r>
          </a:p>
        </p:txBody>
      </p:sp>
      <p:sp>
        <p:nvSpPr>
          <p:cNvPr id="16" name="Rectangle 15"/>
          <p:cNvSpPr/>
          <p:nvPr/>
        </p:nvSpPr>
        <p:spPr>
          <a:xfrm>
            <a:off x="841248" y="4069029"/>
            <a:ext cx="6543446" cy="9774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4058970"/>
            <a:ext cx="41148" cy="98755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duel_ann.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8992" y="4257763"/>
            <a:ext cx="4830871" cy="663754"/>
          </a:xfrm>
          <a:prstGeom prst="rect">
            <a:avLst/>
          </a:prstGeom>
        </p:spPr>
      </p:pic>
      <p:sp>
        <p:nvSpPr>
          <p:cNvPr id="19" name="Rectangle 18"/>
          <p:cNvSpPr/>
          <p:nvPr/>
        </p:nvSpPr>
        <p:spPr>
          <a:xfrm>
            <a:off x="841248" y="5156250"/>
            <a:ext cx="6543446" cy="76809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41248" y="5156250"/>
            <a:ext cx="41148" cy="76809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60704" y="5302554"/>
            <a:ext cx="6159398" cy="47548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With the mean subtracted the advantages sum to zero across actions, so the streams can no longer trade a constant: the value stream must carry what is common to all actions. The network still returns one Q-value per action, so the training loop only needs a different factory: network_factory=create_dueling_network.</a:t>
            </a:r>
          </a:p>
        </p:txBody>
      </p:sp>
      <p:pic>
        <p:nvPicPr>
          <p:cNvPr id="22" name="Picture 21" descr="duel_net.png"/>
          <p:cNvPicPr>
            <a:picLocks noChangeAspect="1"/>
          </p:cNvPicPr>
          <p:nvPr/>
        </p:nvPicPr>
        <p:blipFill>
          <a:blip r:embed="rId5"/>
          <a:stretch>
            <a:fillRect/>
          </a:stretch>
        </p:blipFill>
        <p:spPr>
          <a:xfrm>
            <a:off x="7618779" y="1263447"/>
            <a:ext cx="3808091" cy="1744878"/>
          </a:xfrm>
          <a:prstGeom prst="rect">
            <a:avLst/>
          </a:prstGeom>
        </p:spPr>
      </p:pic>
      <p:sp>
        <p:nvSpPr>
          <p:cNvPr id="24" name="Rectangle 23"/>
          <p:cNvSpPr/>
          <p:nvPr/>
        </p:nvSpPr>
        <p:spPr>
          <a:xfrm>
            <a:off x="7618780" y="3144570"/>
            <a:ext cx="3731940" cy="303580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618780" y="3144570"/>
            <a:ext cx="41148" cy="303580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801660" y="3226866"/>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DuelingNetwork</a:t>
            </a:r>
          </a:p>
        </p:txBody>
      </p:sp>
      <p:sp>
        <p:nvSpPr>
          <p:cNvPr id="27" name="TextBox 26"/>
          <p:cNvSpPr txBox="1"/>
          <p:nvPr/>
        </p:nvSpPr>
        <p:spPr>
          <a:xfrm>
            <a:off x="7801660" y="3528618"/>
            <a:ext cx="3421044" cy="2560320"/>
          </a:xfrm>
          <a:prstGeom prst="rect">
            <a:avLst/>
          </a:prstGeom>
          <a:noFill/>
        </p:spPr>
        <p:txBody>
          <a:bodyPr wrap="none" lIns="0" tIns="0" rIns="0" bIns="0" anchor="t">
            <a:noAutofit/>
          </a:bodyPr>
          <a:lstStyle/>
          <a:p>
            <a:pPr marL="0" indent="0" algn="l">
              <a:lnSpc>
                <a:spcPts val="1019"/>
              </a:lnSpc>
              <a:spcBef>
                <a:spcPts val="0"/>
              </a:spcBef>
              <a:spcAft>
                <a:spcPts val="0"/>
              </a:spcAft>
              <a:buNone/>
            </a:pPr>
            <a:r>
              <a:rPr sz="784" b="0" i="0">
                <a:solidFill>
                  <a:srgbClr val="1F2A37"/>
                </a:solidFill>
                <a:latin typeface="Consolas"/>
              </a:rPr>
              <a:t xml:space="preserve">class DuelingNetwork(torch.nn.Module):</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def __init__(self, env, hidden_sizes=(512, 128)):</a:t>
            </a:r>
          </a:p>
          <a:p>
            <a:pPr marL="0" indent="0" algn="l">
              <a:lnSpc>
                <a:spcPts val="1019"/>
              </a:lnSpc>
              <a:spcBef>
                <a:spcPts val="0"/>
              </a:spcBef>
              <a:spcAft>
                <a:spcPts val="0"/>
              </a:spcAft>
              <a:buNone/>
            </a:pPr>
            <a:r>
              <a:rPr sz="784" b="0" i="0">
                <a:solidFill>
                  <a:srgbClr val="1F2A37"/>
                </a:solidFill>
                <a:latin typeface="Consolas"/>
              </a:rPr>
              <a:t xml:space="preserve">        super().__init__()</a:t>
            </a:r>
          </a:p>
          <a:p>
            <a:pPr marL="0" indent="0" algn="l">
              <a:lnSpc>
                <a:spcPts val="1019"/>
              </a:lnSpc>
              <a:spcBef>
                <a:spcPts val="0"/>
              </a:spcBef>
              <a:spcAft>
                <a:spcPts val="0"/>
              </a:spcAft>
              <a:buNone/>
            </a:pPr>
            <a:r>
              <a:rPr sz="784" b="0" i="0">
                <a:solidFill>
                  <a:srgbClr val="1F2A37"/>
                </a:solidFill>
                <a:latin typeface="Consolas"/>
              </a:rPr>
              <a:t xml:space="preserve">        self.shared = ...                 </a:t>
            </a:r>
            <a:r>
              <a:rPr sz="784" b="0" i="0">
                <a:solidFill>
                  <a:srgbClr val="768896"/>
                </a:solidFill>
                <a:latin typeface="Consolas"/>
              </a:rPr>
              <a:t xml:space="preserve">  # the trunk</a:t>
            </a:r>
          </a:p>
          <a:p>
            <a:pPr marL="0" indent="0" algn="l">
              <a:lnSpc>
                <a:spcPts val="1019"/>
              </a:lnSpc>
              <a:spcBef>
                <a:spcPts val="0"/>
              </a:spcBef>
              <a:spcAft>
                <a:spcPts val="0"/>
              </a:spcAft>
              <a:buNone/>
            </a:pPr>
            <a:r>
              <a:rPr sz="784" b="0" i="0">
                <a:solidFill>
                  <a:srgbClr val="1F2A37"/>
                </a:solidFill>
                <a:latin typeface="Consolas"/>
              </a:rPr>
              <a:t xml:space="preserve">        self.value_head = Linear(h, 1)</a:t>
            </a:r>
          </a:p>
          <a:p>
            <a:pPr marL="0" indent="0" algn="l">
              <a:lnSpc>
                <a:spcPts val="1019"/>
              </a:lnSpc>
              <a:spcBef>
                <a:spcPts val="0"/>
              </a:spcBef>
              <a:spcAft>
                <a:spcPts val="0"/>
              </a:spcAft>
              <a:buNone/>
            </a:pPr>
            <a:r>
              <a:rPr sz="784" b="0" i="0">
                <a:solidFill>
                  <a:srgbClr val="1F2A37"/>
                </a:solidFill>
                <a:latin typeface="Consolas"/>
              </a:rPr>
              <a:t xml:space="preserve">        self.advantage_head = Linear(h, env.action_space.n)</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def forward(self, state):</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features = self.shared(state)</a:t>
            </a:r>
          </a:p>
          <a:p>
            <a:pPr marL="0" indent="0" algn="l">
              <a:lnSpc>
                <a:spcPts val="1019"/>
              </a:lnSpc>
              <a:spcBef>
                <a:spcPts val="0"/>
              </a:spcBef>
              <a:spcAft>
                <a:spcPts val="0"/>
              </a:spcAft>
              <a:buNone/>
            </a:pPr>
            <a:r>
              <a:rPr sz="784" b="0" i="0">
                <a:solidFill>
                  <a:srgbClr val="1F2A37"/>
                </a:solidFill>
                <a:latin typeface="Consolas"/>
              </a:rPr>
              <a:t xml:space="preserve">        value = self.value_head(features)</a:t>
            </a:r>
          </a:p>
          <a:p>
            <a:pPr marL="0" indent="0" algn="l">
              <a:lnSpc>
                <a:spcPts val="1019"/>
              </a:lnSpc>
              <a:spcBef>
                <a:spcPts val="0"/>
              </a:spcBef>
              <a:spcAft>
                <a:spcPts val="0"/>
              </a:spcAft>
              <a:buNone/>
            </a:pPr>
            <a:r>
              <a:rPr sz="784" b="0" i="0">
                <a:solidFill>
                  <a:srgbClr val="1F2A37"/>
                </a:solidFill>
                <a:latin typeface="Consolas"/>
              </a:rPr>
              <a:t xml:space="preserve">        advantages = self.advantage_head(features)</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768896"/>
                </a:solidFill>
                <a:latin typeface="Consolas"/>
              </a:rPr>
              <a:t xml:space="preserve">        # centre: one state or a whole batch</a:t>
            </a:r>
          </a:p>
          <a:p>
            <a:pPr marL="0" indent="0" algn="l">
              <a:lnSpc>
                <a:spcPts val="1019"/>
              </a:lnSpc>
              <a:spcBef>
                <a:spcPts val="0"/>
              </a:spcBef>
              <a:spcAft>
                <a:spcPts val="0"/>
              </a:spcAft>
              <a:buNone/>
            </a:pPr>
            <a:r>
              <a:rPr sz="784" b="0" i="0">
                <a:solidFill>
                  <a:srgbClr val="1F2A37"/>
                </a:solidFill>
                <a:latin typeface="Consolas"/>
              </a:rPr>
              <a:t xml:space="preserve">        advantages = advantages - advantages.mean(</a:t>
            </a:r>
          </a:p>
          <a:p>
            <a:pPr marL="0" indent="0" algn="l">
              <a:lnSpc>
                <a:spcPts val="1019"/>
              </a:lnSpc>
              <a:spcBef>
                <a:spcPts val="0"/>
              </a:spcBef>
              <a:spcAft>
                <a:spcPts val="0"/>
              </a:spcAft>
              <a:buNone/>
            </a:pPr>
            <a:r>
              <a:rPr sz="784" b="0" i="0">
                <a:solidFill>
                  <a:srgbClr val="1F2A37"/>
                </a:solidFill>
                <a:latin typeface="Consolas"/>
              </a:rPr>
              <a:t xml:space="preserve">            dim=-1, keepdim=True)</a:t>
            </a:r>
          </a:p>
          <a:p>
            <a:pPr marL="0" indent="0" algn="l">
              <a:lnSpc>
                <a:spcPts val="1019"/>
              </a:lnSpc>
              <a:spcBef>
                <a:spcPts val="0"/>
              </a:spcBef>
              <a:spcAft>
                <a:spcPts val="0"/>
              </a:spcAft>
              <a:buNone/>
            </a:pPr>
            <a:r>
              <a:rPr sz="784" b="0" i="0">
                <a:solidFill>
                  <a:srgbClr val="333639"/>
                </a:solidFill>
                <a:latin typeface="Consolas"/>
              </a:rPr>
              <a:t xml:space="preserve"> </a:t>
            </a:r>
          </a:p>
          <a:p>
            <a:pPr marL="0" indent="0" algn="l">
              <a:lnSpc>
                <a:spcPts val="1019"/>
              </a:lnSpc>
              <a:spcBef>
                <a:spcPts val="0"/>
              </a:spcBef>
              <a:spcAft>
                <a:spcPts val="0"/>
              </a:spcAft>
              <a:buNone/>
            </a:pPr>
            <a:r>
              <a:rPr sz="784" b="0" i="0">
                <a:solidFill>
                  <a:srgbClr val="1F2A37"/>
                </a:solidFill>
                <a:latin typeface="Consolas"/>
              </a:rPr>
              <a:t xml:space="preserve">        return value + advantages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6.10  THE DUELING NETWORK ON PENDULUM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Same algorithm, same settings, same seeds — only the network changes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46</a:t>
            </a:r>
          </a:p>
        </p:txBody>
      </p:sp>
      <p:sp>
        <p:nvSpPr>
          <p:cNvPr id="8" name="TextBox 7"/>
          <p:cNvSpPr txBox="1"/>
          <p:nvPr/>
        </p:nvSpPr>
        <p:spPr>
          <a:xfrm>
            <a:off x="841248" y="1316736"/>
            <a:ext cx="6543446" cy="640080"/>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Double DQN targets with prioritized replay in both runs, five seeds, 300 episodes of 200 steps, five evaluation episodes per point; hidden layers (128, 64), learning rate 10⁻⁴, batch 64, target copy every 250 steps. The only difference is the factory that builds the networks: create_network against create_dueling_network.</a:t>
            </a:r>
          </a:p>
        </p:txBody>
      </p:sp>
      <p:pic>
        <p:nvPicPr>
          <p:cNvPr id="9" name="Picture 8" descr="fig_per_dueling_pendulum.png"/>
          <p:cNvPicPr>
            <a:picLocks noChangeAspect="1"/>
          </p:cNvPicPr>
          <p:nvPr/>
        </p:nvPicPr>
        <p:blipFill>
          <a:blip r:embed="rId3"/>
          <a:stretch>
            <a:fillRect/>
          </a:stretch>
        </p:blipFill>
        <p:spPr>
          <a:xfrm>
            <a:off x="404840" y="2102878"/>
            <a:ext cx="7049348" cy="3364462"/>
          </a:xfrm>
          <a:prstGeom prst="rect">
            <a:avLst/>
          </a:prstGeom>
        </p:spPr>
      </p:pic>
      <p:sp>
        <p:nvSpPr>
          <p:cNvPr id="13" name="TextBox 12"/>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MEAN OVER FIVE SEEDS, BY EPISODE</a:t>
            </a:r>
          </a:p>
        </p:txBody>
      </p:sp>
      <p:sp>
        <p:nvSpPr>
          <p:cNvPr id="14" name="Rectangle 13"/>
          <p:cNvSpPr/>
          <p:nvPr/>
        </p:nvSpPr>
        <p:spPr>
          <a:xfrm>
            <a:off x="7618780" y="1572768"/>
            <a:ext cx="3731940" cy="25310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10220" y="1627632"/>
            <a:ext cx="1309896"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r>
              <a:rPr sz="882" b="1" i="0" spc="60">
                <a:solidFill>
                  <a:srgbClr val="FFFFFF"/>
                </a:solidFill>
                <a:latin typeface="Fira Sans"/>
              </a:rPr>
              <a:t>Episode</a:t>
            </a:r>
          </a:p>
        </p:txBody>
      </p:sp>
      <p:sp>
        <p:nvSpPr>
          <p:cNvPr id="16" name="TextBox 15"/>
          <p:cNvSpPr txBox="1"/>
          <p:nvPr/>
        </p:nvSpPr>
        <p:spPr>
          <a:xfrm>
            <a:off x="9015984" y="1627632"/>
            <a:ext cx="914400"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Standard</a:t>
            </a:r>
          </a:p>
        </p:txBody>
      </p:sp>
      <p:sp>
        <p:nvSpPr>
          <p:cNvPr id="17" name="TextBox 16"/>
          <p:cNvSpPr txBox="1"/>
          <p:nvPr/>
        </p:nvSpPr>
        <p:spPr>
          <a:xfrm>
            <a:off x="10113264" y="1627632"/>
            <a:ext cx="1143000"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Dueling</a:t>
            </a:r>
          </a:p>
        </p:txBody>
      </p:sp>
      <p:sp>
        <p:nvSpPr>
          <p:cNvPr id="18" name="TextBox 17"/>
          <p:cNvSpPr txBox="1"/>
          <p:nvPr/>
        </p:nvSpPr>
        <p:spPr>
          <a:xfrm>
            <a:off x="7710220" y="1880737"/>
            <a:ext cx="130989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150</a:t>
            </a:r>
          </a:p>
        </p:txBody>
      </p:sp>
      <p:sp>
        <p:nvSpPr>
          <p:cNvPr id="19" name="TextBox 18"/>
          <p:cNvSpPr txBox="1"/>
          <p:nvPr/>
        </p:nvSpPr>
        <p:spPr>
          <a:xfrm>
            <a:off x="9015984" y="1880737"/>
            <a:ext cx="9144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−776</a:t>
            </a:r>
          </a:p>
        </p:txBody>
      </p:sp>
      <p:sp>
        <p:nvSpPr>
          <p:cNvPr id="20" name="TextBox 19"/>
          <p:cNvSpPr txBox="1"/>
          <p:nvPr/>
        </p:nvSpPr>
        <p:spPr>
          <a:xfrm>
            <a:off x="10113264" y="1880737"/>
            <a:ext cx="11430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−468</a:t>
            </a:r>
          </a:p>
        </p:txBody>
      </p:sp>
      <p:sp>
        <p:nvSpPr>
          <p:cNvPr id="21" name="Rectangle 20"/>
          <p:cNvSpPr/>
          <p:nvPr/>
        </p:nvSpPr>
        <p:spPr>
          <a:xfrm>
            <a:off x="7618780" y="210287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2108365"/>
            <a:ext cx="3731940" cy="28249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10220" y="2163229"/>
            <a:ext cx="130989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200</a:t>
            </a:r>
          </a:p>
        </p:txBody>
      </p:sp>
      <p:sp>
        <p:nvSpPr>
          <p:cNvPr id="24" name="TextBox 23"/>
          <p:cNvSpPr txBox="1"/>
          <p:nvPr/>
        </p:nvSpPr>
        <p:spPr>
          <a:xfrm>
            <a:off x="9015984" y="2163229"/>
            <a:ext cx="9144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−297</a:t>
            </a:r>
          </a:p>
        </p:txBody>
      </p:sp>
      <p:sp>
        <p:nvSpPr>
          <p:cNvPr id="25" name="TextBox 24"/>
          <p:cNvSpPr txBox="1"/>
          <p:nvPr/>
        </p:nvSpPr>
        <p:spPr>
          <a:xfrm>
            <a:off x="10113264" y="2163229"/>
            <a:ext cx="11430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−228</a:t>
            </a:r>
          </a:p>
        </p:txBody>
      </p:sp>
      <p:sp>
        <p:nvSpPr>
          <p:cNvPr id="26" name="Rectangle 25"/>
          <p:cNvSpPr/>
          <p:nvPr/>
        </p:nvSpPr>
        <p:spPr>
          <a:xfrm>
            <a:off x="7618780" y="238536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10220" y="2445720"/>
            <a:ext cx="130989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250</a:t>
            </a:r>
          </a:p>
        </p:txBody>
      </p:sp>
      <p:sp>
        <p:nvSpPr>
          <p:cNvPr id="28" name="TextBox 27"/>
          <p:cNvSpPr txBox="1"/>
          <p:nvPr/>
        </p:nvSpPr>
        <p:spPr>
          <a:xfrm>
            <a:off x="9015984" y="2445720"/>
            <a:ext cx="9144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−230</a:t>
            </a:r>
          </a:p>
        </p:txBody>
      </p:sp>
      <p:sp>
        <p:nvSpPr>
          <p:cNvPr id="29" name="TextBox 28"/>
          <p:cNvSpPr txBox="1"/>
          <p:nvPr/>
        </p:nvSpPr>
        <p:spPr>
          <a:xfrm>
            <a:off x="10113264" y="2445720"/>
            <a:ext cx="11430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−180</a:t>
            </a:r>
          </a:p>
        </p:txBody>
      </p:sp>
      <p:sp>
        <p:nvSpPr>
          <p:cNvPr id="30" name="Rectangle 29"/>
          <p:cNvSpPr/>
          <p:nvPr/>
        </p:nvSpPr>
        <p:spPr>
          <a:xfrm>
            <a:off x="7618780" y="266786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18780" y="2673347"/>
            <a:ext cx="3731940" cy="28249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710220" y="2728211"/>
            <a:ext cx="130989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300</a:t>
            </a:r>
          </a:p>
        </p:txBody>
      </p:sp>
      <p:sp>
        <p:nvSpPr>
          <p:cNvPr id="33" name="TextBox 32"/>
          <p:cNvSpPr txBox="1"/>
          <p:nvPr/>
        </p:nvSpPr>
        <p:spPr>
          <a:xfrm>
            <a:off x="9015984" y="2728211"/>
            <a:ext cx="9144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−191</a:t>
            </a:r>
          </a:p>
        </p:txBody>
      </p:sp>
      <p:sp>
        <p:nvSpPr>
          <p:cNvPr id="34" name="TextBox 33"/>
          <p:cNvSpPr txBox="1"/>
          <p:nvPr/>
        </p:nvSpPr>
        <p:spPr>
          <a:xfrm>
            <a:off x="10113264" y="2728211"/>
            <a:ext cx="114300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−186</a:t>
            </a:r>
          </a:p>
        </p:txBody>
      </p:sp>
      <p:sp>
        <p:nvSpPr>
          <p:cNvPr id="35" name="Rectangle 34"/>
          <p:cNvSpPr/>
          <p:nvPr/>
        </p:nvSpPr>
        <p:spPr>
          <a:xfrm>
            <a:off x="7618780" y="295035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7618780" y="3120430"/>
            <a:ext cx="3731940" cy="1298448"/>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7618780" y="3120430"/>
            <a:ext cx="41148" cy="129844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838236" y="326673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WHAT THE CURVES SAY</a:t>
            </a:r>
          </a:p>
        </p:txBody>
      </p:sp>
      <p:sp>
        <p:nvSpPr>
          <p:cNvPr id="39" name="TextBox 38"/>
          <p:cNvSpPr txBox="1"/>
          <p:nvPr/>
        </p:nvSpPr>
        <p:spPr>
          <a:xfrm>
            <a:off x="7838236" y="3504478"/>
            <a:ext cx="3347892" cy="822960"/>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 xml:space="preserve">The dueling network reaches a mean of −300 at episode 170 against 200, and −200 at episode </a:t>
            </a:r>
            <a:r>
              <a:rPr sz="997" b="1" i="0">
                <a:solidFill>
                  <a:srgbClr val="25282A"/>
                </a:solidFill>
                <a:latin typeface="Fira Sans"/>
              </a:rPr>
              <a:t>209 against 260</a:t>
            </a:r>
            <a:r>
              <a:rPr sz="997" b="0" i="0">
                <a:solidFill>
                  <a:srgbClr val="333639"/>
                </a:solidFill>
                <a:latin typeface="Fira Sans"/>
              </a:rPr>
              <a:t xml:space="preserve">. By episode 300 the two are within a few points: the gain is in </a:t>
            </a:r>
            <a:r>
              <a:rPr sz="997" b="1" i="0">
                <a:solidFill>
                  <a:srgbClr val="25282A"/>
                </a:solidFill>
                <a:latin typeface="Fira Sans"/>
              </a:rPr>
              <a:t>learning speed</a:t>
            </a:r>
            <a:r>
              <a:rPr sz="997" b="0" i="0">
                <a:solidFill>
                  <a:srgbClr val="333639"/>
                </a:solidFill>
                <a:latin typeface="Fira Sans"/>
              </a:rPr>
              <a:t>, not in the final return.</a:t>
            </a:r>
          </a:p>
        </p:txBody>
      </p:sp>
      <p:sp>
        <p:nvSpPr>
          <p:cNvPr id="40" name="TextBox 39"/>
          <p:cNvSpPr txBox="1"/>
          <p:nvPr/>
        </p:nvSpPr>
        <p:spPr>
          <a:xfrm>
            <a:off x="7618780" y="4517136"/>
            <a:ext cx="3731940" cy="731520"/>
          </a:xfrm>
          <a:prstGeom prst="rect">
            <a:avLst/>
          </a:prstGeom>
          <a:noFill/>
        </p:spPr>
        <p:txBody>
          <a:bodyPr wrap="square" lIns="0" tIns="0" rIns="0" bIns="0" anchor="t">
            <a:noAutofit/>
          </a:bodyPr>
          <a:lstStyle/>
          <a:p>
            <a:pPr marL="182880" indent="-182880" algn="l">
              <a:lnSpc>
                <a:spcPts val="1117"/>
              </a:lnSpc>
              <a:spcBef>
                <a:spcPts val="0"/>
              </a:spcBef>
              <a:spcAft>
                <a:spcPts val="0"/>
              </a:spcAft>
              <a:buClr>
                <a:srgbClr val="1971C2"/>
              </a:buClr>
              <a:buFont typeface="Fira Sans"/>
              <a:buChar char="–"/>
            </a:pPr>
            <a:r>
              <a:rPr sz="997" b="0" i="0">
                <a:solidFill>
                  <a:srgbClr val="333639"/>
                </a:solidFill>
                <a:latin typeface="Fira Sans"/>
              </a:rPr>
              <a:t>The pattern matches the motivation: with 101 torques that differ little, learning the state value once is faster than learning 101 nearly identical values.</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Curves cannot prove the mechanism; five seeds with overlapping bands are not a statistical proof.</a:t>
            </a:r>
          </a:p>
        </p:txBody>
      </p:sp>
      <p:sp>
        <p:nvSpPr>
          <p:cNvPr id="41" name="Rectangle 40"/>
          <p:cNvSpPr/>
          <p:nvPr/>
        </p:nvSpPr>
        <p:spPr>
          <a:xfrm>
            <a:off x="7618780" y="5376672"/>
            <a:ext cx="3731940" cy="786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7618780" y="5376672"/>
            <a:ext cx="41148" cy="786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838236" y="5504688"/>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 xml:space="preserve">Note what was needed to see the effect: an action space fine enough for the shared component to dominate. </a:t>
            </a:r>
            <a:r>
              <a:rPr sz="997" b="1" i="0">
                <a:solidFill>
                  <a:srgbClr val="25282A"/>
                </a:solidFill>
                <a:latin typeface="Fira Sans"/>
              </a:rPr>
              <a:t>With two actions, as on Cart-Pole, there would be almost nothing to share.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6.12  LIMITATIONS AND OUTLOOK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What a decade of refinement did not fix</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48</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dirty="0">
                <a:solidFill>
                  <a:srgbClr val="333639"/>
                </a:solidFill>
                <a:latin typeface="Fira Sans"/>
              </a:rPr>
              <a:t>These ideas combine. </a:t>
            </a:r>
            <a:r>
              <a:rPr sz="1282" b="1" i="0" dirty="0">
                <a:solidFill>
                  <a:srgbClr val="25282A"/>
                </a:solidFill>
                <a:latin typeface="Fira Sans"/>
              </a:rPr>
              <a:t>Rainbow</a:t>
            </a:r>
            <a:r>
              <a:rPr sz="1282" b="0" i="0" dirty="0">
                <a:solidFill>
                  <a:srgbClr val="333639"/>
                </a:solidFill>
                <a:latin typeface="Fira Sans"/>
              </a:rPr>
              <a:t> (Hessel et al., 2018) puts DDQN, prioritized replay and </a:t>
            </a:r>
            <a:r>
              <a:rPr sz="1282" b="0" i="0" dirty="0" err="1">
                <a:solidFill>
                  <a:srgbClr val="333639"/>
                </a:solidFill>
                <a:latin typeface="Fira Sans"/>
              </a:rPr>
              <a:t>duelling</a:t>
            </a:r>
            <a:r>
              <a:rPr sz="1282" b="0" i="0" dirty="0">
                <a:solidFill>
                  <a:srgbClr val="333639"/>
                </a:solidFill>
                <a:latin typeface="Fira Sans"/>
              </a:rPr>
              <a:t> together with multi-step targets, distributional value learning and noisy networks for exploration. It is substantially better than any single component</a:t>
            </a:r>
            <a:r>
              <a:rPr lang="it-IT" sz="1282" b="0" i="0" dirty="0">
                <a:solidFill>
                  <a:srgbClr val="333639"/>
                </a:solidFill>
                <a:latin typeface="Fira Sans"/>
              </a:rPr>
              <a:t>, </a:t>
            </a:r>
            <a:r>
              <a:rPr sz="1282" b="0" i="0" dirty="0">
                <a:solidFill>
                  <a:srgbClr val="333639"/>
                </a:solidFill>
                <a:latin typeface="Fira Sans"/>
              </a:rPr>
              <a:t>and the following three limitations survive all of it.</a:t>
            </a:r>
          </a:p>
        </p:txBody>
      </p:sp>
      <p:sp>
        <p:nvSpPr>
          <p:cNvPr id="9" name="Rectangle 8"/>
          <p:cNvSpPr/>
          <p:nvPr/>
        </p:nvSpPr>
        <p:spPr>
          <a:xfrm>
            <a:off x="843867" y="2460846"/>
            <a:ext cx="3322320"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3867" y="2607150"/>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a:solidFill>
                  <a:srgbClr val="C8102E"/>
                </a:solidFill>
                <a:latin typeface="Fira Sans"/>
              </a:rPr>
              <a:t>HYPERPARAMETER SENSITIVITY</a:t>
            </a:r>
          </a:p>
        </p:txBody>
      </p:sp>
      <p:sp>
        <p:nvSpPr>
          <p:cNvPr id="11" name="TextBox 10"/>
          <p:cNvSpPr txBox="1"/>
          <p:nvPr/>
        </p:nvSpPr>
        <p:spPr>
          <a:xfrm>
            <a:off x="843867" y="2899758"/>
            <a:ext cx="3322320" cy="1532107"/>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Learning rate, exploration schedule, buffer size, target update frequency, architecture</a:t>
            </a:r>
            <a:r>
              <a:rPr lang="it-IT" sz="1045" b="0" i="0" dirty="0">
                <a:solidFill>
                  <a:srgbClr val="333639"/>
                </a:solidFill>
                <a:latin typeface="Fira Sans"/>
              </a:rPr>
              <a:t>: </a:t>
            </a:r>
            <a:r>
              <a:rPr sz="1045" b="0" i="0" dirty="0">
                <a:solidFill>
                  <a:srgbClr val="333639"/>
                </a:solidFill>
                <a:latin typeface="Fira Sans"/>
              </a:rPr>
              <a:t>small changes in any of them can change the outcome completely. Many reasonable-looking configurations simply fail, and the range that works is narrow.</a:t>
            </a:r>
          </a:p>
          <a:p>
            <a:pPr marL="0" indent="0" algn="l">
              <a:lnSpc>
                <a:spcPts val="1176"/>
              </a:lnSpc>
              <a:spcBef>
                <a:spcPts val="800"/>
              </a:spcBef>
              <a:spcAft>
                <a:spcPts val="0"/>
              </a:spcAft>
              <a:buNone/>
            </a:pPr>
            <a:r>
              <a:rPr sz="997" b="0" i="0" dirty="0">
                <a:solidFill>
                  <a:srgbClr val="626669"/>
                </a:solidFill>
                <a:latin typeface="Fira Sans"/>
              </a:rPr>
              <a:t>Visible already in this chapter: the NFQ experiment needed a grid search, and the two NFQ runs in the notes use different hidden sizes and a 14× difference in learning rate.</a:t>
            </a:r>
          </a:p>
        </p:txBody>
      </p:sp>
      <p:sp>
        <p:nvSpPr>
          <p:cNvPr id="12" name="Rectangle 11"/>
          <p:cNvSpPr/>
          <p:nvPr/>
        </p:nvSpPr>
        <p:spPr>
          <a:xfrm>
            <a:off x="4440507" y="2460846"/>
            <a:ext cx="3322320"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440507" y="2607150"/>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dirty="0">
                <a:solidFill>
                  <a:srgbClr val="8A5100"/>
                </a:solidFill>
                <a:latin typeface="Fira Sans"/>
              </a:rPr>
              <a:t>THE MARKOV ASSUMPTION</a:t>
            </a:r>
          </a:p>
        </p:txBody>
      </p:sp>
      <p:sp>
        <p:nvSpPr>
          <p:cNvPr id="14" name="TextBox 13"/>
          <p:cNvSpPr txBox="1"/>
          <p:nvPr/>
        </p:nvSpPr>
        <p:spPr>
          <a:xfrm>
            <a:off x="4440507" y="2899758"/>
            <a:ext cx="3322320" cy="1382697"/>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Bootstrapping is only as good as the value of the next state, and that value is only meaningful if the observation contains everything relevant. Under partial observability the target becomes misleading rather than merely noisy.</a:t>
            </a:r>
          </a:p>
          <a:p>
            <a:pPr marL="0" indent="0" algn="l">
              <a:lnSpc>
                <a:spcPts val="1176"/>
              </a:lnSpc>
              <a:spcBef>
                <a:spcPts val="800"/>
              </a:spcBef>
              <a:spcAft>
                <a:spcPts val="0"/>
              </a:spcAft>
              <a:buNone/>
            </a:pPr>
            <a:r>
              <a:rPr sz="997" b="0" i="0" dirty="0">
                <a:solidFill>
                  <a:srgbClr val="626669"/>
                </a:solidFill>
                <a:latin typeface="Fira Sans"/>
              </a:rPr>
              <a:t>Methods that bootstrap less</a:t>
            </a:r>
            <a:r>
              <a:rPr lang="it-IT" sz="997" b="0" i="0" dirty="0">
                <a:solidFill>
                  <a:srgbClr val="626669"/>
                </a:solidFill>
                <a:latin typeface="Fira Sans"/>
              </a:rPr>
              <a:t>: </a:t>
            </a:r>
            <a:r>
              <a:rPr sz="997" b="0" i="0" dirty="0">
                <a:solidFill>
                  <a:srgbClr val="626669"/>
                </a:solidFill>
                <a:latin typeface="Fira Sans"/>
              </a:rPr>
              <a:t>Monte Carlo, and the policy-based methods are less exposed to this.</a:t>
            </a:r>
          </a:p>
        </p:txBody>
      </p:sp>
      <p:sp>
        <p:nvSpPr>
          <p:cNvPr id="15" name="Rectangle 14"/>
          <p:cNvSpPr/>
          <p:nvPr/>
        </p:nvSpPr>
        <p:spPr>
          <a:xfrm>
            <a:off x="8037147" y="2460846"/>
            <a:ext cx="3322320"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37147" y="2607150"/>
            <a:ext cx="332232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00" dirty="0">
                <a:solidFill>
                  <a:srgbClr val="574676"/>
                </a:solidFill>
                <a:latin typeface="Fira Sans"/>
              </a:rPr>
              <a:t>THE DEADLY TRIAD IS STILL THERE</a:t>
            </a:r>
          </a:p>
        </p:txBody>
      </p:sp>
      <p:sp>
        <p:nvSpPr>
          <p:cNvPr id="17" name="TextBox 16"/>
          <p:cNvSpPr txBox="1"/>
          <p:nvPr/>
        </p:nvSpPr>
        <p:spPr>
          <a:xfrm>
            <a:off x="8037147" y="2899758"/>
            <a:ext cx="3322320" cy="1223439"/>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333639"/>
                </a:solidFill>
                <a:latin typeface="Fira Sans"/>
              </a:rPr>
              <a:t>Function approximation, bootstrapping and off-policy learning remain in every algorithm in this chapter. Replay, target networks, double learning and conservative step sizes reduce the risk of divergence.</a:t>
            </a:r>
          </a:p>
          <a:p>
            <a:pPr marL="0" indent="0" algn="l">
              <a:lnSpc>
                <a:spcPts val="1176"/>
              </a:lnSpc>
              <a:spcBef>
                <a:spcPts val="800"/>
              </a:spcBef>
              <a:spcAft>
                <a:spcPts val="0"/>
              </a:spcAft>
              <a:buNone/>
            </a:pPr>
            <a:r>
              <a:rPr sz="997" b="0" i="0" dirty="0">
                <a:solidFill>
                  <a:srgbClr val="626669"/>
                </a:solidFill>
                <a:latin typeface="Fira Sans"/>
              </a:rPr>
              <a:t>They do not eliminate it. Value estimates can still blow up, and when they do the symptom is usually a policy that was improving and then collapses.</a:t>
            </a:r>
          </a:p>
        </p:txBody>
      </p:sp>
      <p:sp>
        <p:nvSpPr>
          <p:cNvPr id="18" name="Rectangle 17"/>
          <p:cNvSpPr/>
          <p:nvPr/>
        </p:nvSpPr>
        <p:spPr>
          <a:xfrm>
            <a:off x="841248" y="460097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41248" y="4802139"/>
            <a:ext cx="5102352" cy="1167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41248" y="4802139"/>
            <a:ext cx="41148" cy="1167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60704" y="4948443"/>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PRACTICAL SUMMARY</a:t>
            </a:r>
          </a:p>
        </p:txBody>
      </p:sp>
      <p:sp>
        <p:nvSpPr>
          <p:cNvPr id="22" name="TextBox 21"/>
          <p:cNvSpPr txBox="1"/>
          <p:nvPr/>
        </p:nvSpPr>
        <p:spPr>
          <a:xfrm>
            <a:off x="1060704" y="5186187"/>
            <a:ext cx="4718304"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Value-based deep reinforcement learning is powerful but delicate. It works when the algorithmic refinements are combined with </a:t>
            </a:r>
            <a:r>
              <a:rPr sz="1045" b="1" i="0">
                <a:solidFill>
                  <a:srgbClr val="333639"/>
                </a:solidFill>
                <a:latin typeface="Fira Sans"/>
              </a:rPr>
              <a:t>careful experimentation, diagnostics and patience</a:t>
            </a:r>
            <a:r>
              <a:rPr sz="1045" b="0" i="0">
                <a:solidFill>
                  <a:srgbClr val="333639"/>
                </a:solidFill>
                <a:latin typeface="Fira Sans"/>
              </a:rPr>
              <a:t> — and when results are reported across seeds, not from the best run.</a:t>
            </a:r>
          </a:p>
        </p:txBody>
      </p:sp>
      <p:sp>
        <p:nvSpPr>
          <p:cNvPr id="23" name="Rectangle 22"/>
          <p:cNvSpPr/>
          <p:nvPr/>
        </p:nvSpPr>
        <p:spPr>
          <a:xfrm>
            <a:off x="6254496" y="4802139"/>
            <a:ext cx="5102352" cy="100812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6254496" y="4802139"/>
            <a:ext cx="41148" cy="100812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473952" y="4948443"/>
            <a:ext cx="4809744"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WHERE WE GO NEXT</a:t>
            </a:r>
          </a:p>
        </p:txBody>
      </p:sp>
      <p:sp>
        <p:nvSpPr>
          <p:cNvPr id="26" name="TextBox 25"/>
          <p:cNvSpPr txBox="1"/>
          <p:nvPr/>
        </p:nvSpPr>
        <p:spPr>
          <a:xfrm>
            <a:off x="6473952" y="5186187"/>
            <a:ext cx="4718304"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lang="it-IT" sz="1045" b="0" i="0" dirty="0">
                <a:solidFill>
                  <a:srgbClr val="333639"/>
                </a:solidFill>
                <a:latin typeface="Fira Sans"/>
              </a:rPr>
              <a:t>Take a</a:t>
            </a:r>
            <a:r>
              <a:rPr sz="1045" b="0" i="0" dirty="0">
                <a:solidFill>
                  <a:srgbClr val="333639"/>
                </a:solidFill>
                <a:latin typeface="Fira Sans"/>
              </a:rPr>
              <a:t> different route. Instead of estimating Q and reading a policy off it, </a:t>
            </a:r>
            <a:r>
              <a:rPr sz="1045" b="1" i="0" dirty="0">
                <a:solidFill>
                  <a:srgbClr val="333639"/>
                </a:solidFill>
                <a:latin typeface="Fira Sans"/>
              </a:rPr>
              <a:t>policy-based methods parameterize the policy directly</a:t>
            </a:r>
            <a:r>
              <a:rPr sz="1045" b="0" i="0" dirty="0">
                <a:solidFill>
                  <a:srgbClr val="333639"/>
                </a:solidFill>
                <a:latin typeface="Fira Sans"/>
              </a:rPr>
              <a:t> and </a:t>
            </a:r>
            <a:r>
              <a:rPr sz="1045" b="0" i="0" dirty="0" err="1">
                <a:solidFill>
                  <a:srgbClr val="333639"/>
                </a:solidFill>
                <a:latin typeface="Fira Sans"/>
              </a:rPr>
              <a:t>optimise</a:t>
            </a:r>
            <a:r>
              <a:rPr sz="1045" b="0" i="0" dirty="0">
                <a:solidFill>
                  <a:srgbClr val="333639"/>
                </a:solidFill>
                <a:latin typeface="Fira Sans"/>
              </a:rPr>
              <a:t> it</a:t>
            </a:r>
            <a:r>
              <a:rPr lang="it-IT" sz="1045" b="0" i="0" dirty="0">
                <a:solidFill>
                  <a:srgbClr val="333639"/>
                </a:solidFill>
                <a:latin typeface="Fira Sans"/>
              </a:rPr>
              <a:t>,</a:t>
            </a:r>
            <a:r>
              <a:rPr sz="1045" b="0" i="0" dirty="0">
                <a:solidFill>
                  <a:srgbClr val="333639"/>
                </a:solidFill>
                <a:latin typeface="Fira Sans"/>
              </a:rPr>
              <a:t> which removes the max and, being on-policy, drops one leg of the triad.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859536" y="868680"/>
            <a:ext cx="7315200" cy="365760"/>
          </a:xfrm>
          <a:prstGeom prst="rect">
            <a:avLst/>
          </a:prstGeom>
          <a:noFill/>
        </p:spPr>
        <p:txBody>
          <a:bodyPr wrap="square" lIns="0" tIns="0" rIns="0" bIns="0" anchor="t">
            <a:noAutofit/>
          </a:bodyPr>
          <a:lstStyle/>
          <a:p>
            <a:pPr marL="0" indent="0" algn="l">
              <a:lnSpc>
                <a:spcPts val="997"/>
              </a:lnSpc>
              <a:spcBef>
                <a:spcPts val="0"/>
              </a:spcBef>
              <a:spcAft>
                <a:spcPts val="0"/>
              </a:spcAft>
              <a:buNone/>
            </a:pPr>
            <a:r>
              <a:rPr sz="997" b="1" i="0" spc="150" dirty="0">
                <a:solidFill>
                  <a:srgbClr val="B2A7C4"/>
                </a:solidFill>
                <a:latin typeface="Fira Sans Medium"/>
              </a:rPr>
              <a:t>SUMMARY</a:t>
            </a:r>
          </a:p>
        </p:txBody>
      </p:sp>
      <p:sp>
        <p:nvSpPr>
          <p:cNvPr id="4" name="TextBox 3"/>
          <p:cNvSpPr txBox="1"/>
          <p:nvPr/>
        </p:nvSpPr>
        <p:spPr>
          <a:xfrm>
            <a:off x="859536" y="1225296"/>
            <a:ext cx="6766560" cy="640080"/>
          </a:xfrm>
          <a:prstGeom prst="rect">
            <a:avLst/>
          </a:prstGeom>
          <a:noFill/>
        </p:spPr>
        <p:txBody>
          <a:bodyPr wrap="square" lIns="0" tIns="0" rIns="0" bIns="0" anchor="t">
            <a:noAutofit/>
          </a:bodyPr>
          <a:lstStyle/>
          <a:p>
            <a:pPr marL="0" indent="0" algn="l">
              <a:lnSpc>
                <a:spcPts val="2685"/>
              </a:lnSpc>
              <a:spcBef>
                <a:spcPts val="0"/>
              </a:spcBef>
              <a:spcAft>
                <a:spcPts val="0"/>
              </a:spcAft>
              <a:buNone/>
            </a:pPr>
            <a:r>
              <a:rPr lang="it-IT" sz="2632" b="1" i="0" dirty="0">
                <a:solidFill>
                  <a:srgbClr val="FFFFFF"/>
                </a:solidFill>
                <a:latin typeface="Roboto Slab"/>
              </a:rPr>
              <a:t>Key Takeaways</a:t>
            </a:r>
            <a:endParaRPr sz="2632" b="1" i="0" dirty="0">
              <a:solidFill>
                <a:srgbClr val="FFFFFF"/>
              </a:solidFill>
              <a:latin typeface="Roboto Slab"/>
            </a:endParaRPr>
          </a:p>
        </p:txBody>
      </p:sp>
      <p:sp>
        <p:nvSpPr>
          <p:cNvPr id="5" name="TextBox 4"/>
          <p:cNvSpPr txBox="1"/>
          <p:nvPr/>
        </p:nvSpPr>
        <p:spPr>
          <a:xfrm>
            <a:off x="859536" y="2212848"/>
            <a:ext cx="6400800" cy="365760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dirty="0">
                <a:solidFill>
                  <a:srgbClr val="B2A7C4"/>
                </a:solidFill>
                <a:latin typeface="Fira Sans"/>
              </a:rPr>
              <a:t>01   </a:t>
            </a:r>
            <a:r>
              <a:rPr sz="1188" b="1" i="0" dirty="0">
                <a:solidFill>
                  <a:srgbClr val="FFFFFF"/>
                </a:solidFill>
                <a:latin typeface="Fira Sans"/>
              </a:rPr>
              <a:t>A value function is now a parameter vector, not a table</a:t>
            </a:r>
            <a:r>
              <a:rPr lang="it-IT" sz="1188" b="1" i="0" dirty="0">
                <a:solidFill>
                  <a:srgbClr val="FFFFFF"/>
                </a:solidFill>
                <a:latin typeface="Fira Sans"/>
              </a:rPr>
              <a:t>.</a:t>
            </a:r>
            <a:endParaRPr sz="1188" b="1" i="0" dirty="0">
              <a:solidFill>
                <a:srgbClr val="FFFFFF"/>
              </a:solidFill>
              <a:latin typeface="Fira Sans"/>
            </a:endParaRPr>
          </a:p>
          <a:p>
            <a:pPr marL="384048">
              <a:lnSpc>
                <a:spcPts val="1233"/>
              </a:lnSpc>
              <a:spcBef>
                <a:spcPts val="300"/>
              </a:spcBef>
            </a:pPr>
            <a:r>
              <a:rPr sz="1045" b="0" i="0" dirty="0">
                <a:solidFill>
                  <a:srgbClr val="D6D0E0"/>
                </a:solidFill>
                <a:latin typeface="Fira Sans"/>
              </a:rPr>
              <a:t>Learning means adjusting </a:t>
            </a:r>
            <a:r>
              <a:rPr sz="1045" b="0" i="0" dirty="0" err="1">
                <a:solidFill>
                  <a:srgbClr val="D6D0E0"/>
                </a:solidFill>
                <a:latin typeface="Fira Sans"/>
              </a:rPr>
              <a:t>θ</a:t>
            </a:r>
            <a:r>
              <a:rPr sz="1045" b="0" i="0" dirty="0">
                <a:solidFill>
                  <a:srgbClr val="D6D0E0"/>
                </a:solidFill>
                <a:latin typeface="Fira Sans"/>
              </a:rPr>
              <a:t> so that Q</a:t>
            </a:r>
            <a:r>
              <a:rPr lang="it-IT" sz="1045" b="0" i="0" dirty="0">
                <a:solidFill>
                  <a:srgbClr val="D6D0E0"/>
                </a:solidFill>
                <a:latin typeface="Fira Sans"/>
              </a:rPr>
              <a:t>_</a:t>
            </a:r>
            <a:r>
              <a:rPr lang="el-GR" sz="1045" dirty="0">
                <a:solidFill>
                  <a:srgbClr val="D6D0E0"/>
                </a:solidFill>
                <a:latin typeface="Fira Sans"/>
              </a:rPr>
              <a:t> θ</a:t>
            </a:r>
            <a:r>
              <a:rPr sz="1045" b="0" i="0" dirty="0">
                <a:solidFill>
                  <a:srgbClr val="D6D0E0"/>
                </a:solidFill>
                <a:latin typeface="Fira Sans"/>
              </a:rPr>
              <a:t>(</a:t>
            </a:r>
            <a:r>
              <a:rPr sz="1045" b="0" i="0" dirty="0" err="1">
                <a:solidFill>
                  <a:srgbClr val="D6D0E0"/>
                </a:solidFill>
                <a:latin typeface="Fira Sans"/>
              </a:rPr>
              <a:t>s,a</a:t>
            </a:r>
            <a:r>
              <a:rPr sz="1045" b="0" i="0" dirty="0">
                <a:solidFill>
                  <a:srgbClr val="D6D0E0"/>
                </a:solidFill>
                <a:latin typeface="Fira Sans"/>
              </a:rPr>
              <a:t>) moves toward a target. Two states that share features share parameters</a:t>
            </a:r>
            <a:r>
              <a:rPr lang="it-IT" sz="1045" b="0" i="0" dirty="0">
                <a:solidFill>
                  <a:srgbClr val="D6D0E0"/>
                </a:solidFill>
                <a:latin typeface="Fira Sans"/>
              </a:rPr>
              <a:t>,</a:t>
            </a:r>
            <a:r>
              <a:rPr sz="1045" b="0" i="0" dirty="0">
                <a:solidFill>
                  <a:srgbClr val="D6D0E0"/>
                </a:solidFill>
                <a:latin typeface="Fira Sans"/>
              </a:rPr>
              <a:t> that sharing is both the generalization we want and the coupling that makes everything afterwards delicate.</a:t>
            </a:r>
          </a:p>
          <a:p>
            <a:pPr marL="0" indent="0" algn="l">
              <a:lnSpc>
                <a:spcPts val="1331"/>
              </a:lnSpc>
              <a:spcBef>
                <a:spcPts val="1300"/>
              </a:spcBef>
              <a:spcAft>
                <a:spcPts val="0"/>
              </a:spcAft>
              <a:buNone/>
            </a:pPr>
            <a:r>
              <a:rPr sz="1188" b="1" i="0" dirty="0">
                <a:solidFill>
                  <a:srgbClr val="B2A7C4"/>
                </a:solidFill>
                <a:latin typeface="Fira Sans"/>
              </a:rPr>
              <a:t>02   </a:t>
            </a:r>
            <a:r>
              <a:rPr sz="1188" b="1" i="0" dirty="0">
                <a:solidFill>
                  <a:srgbClr val="FFFFFF"/>
                </a:solidFill>
                <a:latin typeface="Fira Sans"/>
              </a:rPr>
              <a:t>The target is manufactured, and we differentiate only half of it</a:t>
            </a:r>
          </a:p>
          <a:p>
            <a:pPr marL="384048" indent="0" algn="l">
              <a:lnSpc>
                <a:spcPts val="1233"/>
              </a:lnSpc>
              <a:spcBef>
                <a:spcPts val="300"/>
              </a:spcBef>
              <a:spcAft>
                <a:spcPts val="0"/>
              </a:spcAft>
              <a:buNone/>
            </a:pPr>
            <a:r>
              <a:rPr sz="1045" b="0" i="0" dirty="0">
                <a:solidFill>
                  <a:srgbClr val="D6D0E0"/>
                </a:solidFill>
                <a:latin typeface="Fira Sans"/>
              </a:rPr>
              <a:t>r + </a:t>
            </a:r>
            <a:r>
              <a:rPr sz="1045" b="0" i="0" dirty="0" err="1">
                <a:solidFill>
                  <a:srgbClr val="D6D0E0"/>
                </a:solidFill>
                <a:latin typeface="Fira Sans"/>
              </a:rPr>
              <a:t>γ</a:t>
            </a:r>
            <a:r>
              <a:rPr sz="1045" b="0" i="0" dirty="0">
                <a:solidFill>
                  <a:srgbClr val="D6D0E0"/>
                </a:solidFill>
                <a:latin typeface="Fira Sans"/>
              </a:rPr>
              <a:t> max Q(</a:t>
            </a:r>
            <a:r>
              <a:rPr sz="1045" b="0" i="0" dirty="0" err="1">
                <a:solidFill>
                  <a:srgbClr val="D6D0E0"/>
                </a:solidFill>
                <a:latin typeface="Fira Sans"/>
              </a:rPr>
              <a:t>s′,a</a:t>
            </a:r>
            <a:r>
              <a:rPr sz="1045" b="0" i="0" dirty="0">
                <a:solidFill>
                  <a:srgbClr val="D6D0E0"/>
                </a:solidFill>
                <a:latin typeface="Fira Sans"/>
              </a:rPr>
              <a:t>′) is built from the network being trained. Treating it as a constant gives the semi-gradient update; it is not the gradient of any loss.</a:t>
            </a:r>
          </a:p>
          <a:p>
            <a:pPr marL="0" indent="0" algn="l">
              <a:lnSpc>
                <a:spcPts val="1331"/>
              </a:lnSpc>
              <a:spcBef>
                <a:spcPts val="1300"/>
              </a:spcBef>
              <a:spcAft>
                <a:spcPts val="0"/>
              </a:spcAft>
              <a:buNone/>
            </a:pPr>
            <a:r>
              <a:rPr sz="1188" b="1" i="0" dirty="0">
                <a:solidFill>
                  <a:srgbClr val="B2A7C4"/>
                </a:solidFill>
                <a:latin typeface="Fira Sans"/>
              </a:rPr>
              <a:t>03   </a:t>
            </a:r>
            <a:r>
              <a:rPr sz="1188" b="1" i="0" dirty="0">
                <a:solidFill>
                  <a:srgbClr val="FFFFFF"/>
                </a:solidFill>
                <a:latin typeface="Fira Sans"/>
              </a:rPr>
              <a:t>Two assumptions of supervised learning are violated</a:t>
            </a:r>
          </a:p>
          <a:p>
            <a:pPr marL="384048" indent="0" algn="l">
              <a:lnSpc>
                <a:spcPts val="1233"/>
              </a:lnSpc>
              <a:spcBef>
                <a:spcPts val="300"/>
              </a:spcBef>
              <a:spcAft>
                <a:spcPts val="0"/>
              </a:spcAft>
              <a:buNone/>
            </a:pPr>
            <a:r>
              <a:rPr sz="1045" b="0" i="0" dirty="0">
                <a:solidFill>
                  <a:srgbClr val="D6D0E0"/>
                </a:solidFill>
                <a:latin typeface="Fira Sans"/>
              </a:rPr>
              <a:t>Targets are non-stationary and consecutive samples are correlated. Replay attacks the second, a frozen target network the first</a:t>
            </a:r>
            <a:r>
              <a:rPr lang="it-IT" sz="1045" b="0" i="0" dirty="0">
                <a:solidFill>
                  <a:srgbClr val="D6D0E0"/>
                </a:solidFill>
                <a:latin typeface="Fira Sans"/>
              </a:rPr>
              <a:t>, </a:t>
            </a:r>
            <a:r>
              <a:rPr sz="1045" b="0" i="0" dirty="0">
                <a:solidFill>
                  <a:srgbClr val="D6D0E0"/>
                </a:solidFill>
                <a:latin typeface="Fira Sans"/>
              </a:rPr>
              <a:t>both make the fit look more supervised.</a:t>
            </a:r>
          </a:p>
          <a:p>
            <a:pPr marL="0" indent="0" algn="l">
              <a:lnSpc>
                <a:spcPts val="1331"/>
              </a:lnSpc>
              <a:spcBef>
                <a:spcPts val="1300"/>
              </a:spcBef>
              <a:spcAft>
                <a:spcPts val="0"/>
              </a:spcAft>
              <a:buNone/>
            </a:pPr>
            <a:r>
              <a:rPr sz="1188" b="1" i="0" dirty="0">
                <a:solidFill>
                  <a:srgbClr val="B2A7C4"/>
                </a:solidFill>
                <a:latin typeface="Fira Sans"/>
              </a:rPr>
              <a:t>04   </a:t>
            </a:r>
            <a:r>
              <a:rPr sz="1188" b="1" i="0" dirty="0">
                <a:solidFill>
                  <a:srgbClr val="FFFFFF"/>
                </a:solidFill>
                <a:latin typeface="Fira Sans"/>
              </a:rPr>
              <a:t>Function approximation + bootstrapping + off-policy = the deadly triad</a:t>
            </a:r>
          </a:p>
          <a:p>
            <a:pPr marL="384048" indent="0" algn="l">
              <a:lnSpc>
                <a:spcPts val="1233"/>
              </a:lnSpc>
              <a:spcBef>
                <a:spcPts val="300"/>
              </a:spcBef>
              <a:spcAft>
                <a:spcPts val="0"/>
              </a:spcAft>
              <a:buNone/>
            </a:pPr>
            <a:r>
              <a:rPr sz="1045" b="0" i="0" dirty="0">
                <a:solidFill>
                  <a:srgbClr val="D6D0E0"/>
                </a:solidFill>
                <a:latin typeface="Fira Sans"/>
              </a:rPr>
              <a:t>Every method in this chapter has all three. The mechanisms reduce the risk of divergence; none of them removes it.</a:t>
            </a:r>
          </a:p>
          <a:p>
            <a:pPr marL="0" indent="0" algn="l">
              <a:lnSpc>
                <a:spcPts val="1331"/>
              </a:lnSpc>
              <a:spcBef>
                <a:spcPts val="1300"/>
              </a:spcBef>
              <a:spcAft>
                <a:spcPts val="0"/>
              </a:spcAft>
              <a:buNone/>
            </a:pPr>
            <a:r>
              <a:rPr sz="1188" b="1" i="0" dirty="0">
                <a:solidFill>
                  <a:srgbClr val="B2A7C4"/>
                </a:solidFill>
                <a:latin typeface="Fira Sans"/>
              </a:rPr>
              <a:t>05   </a:t>
            </a:r>
            <a:r>
              <a:rPr sz="1188" b="1" i="0" dirty="0">
                <a:solidFill>
                  <a:srgbClr val="FFFFFF"/>
                </a:solidFill>
                <a:latin typeface="Fira Sans"/>
              </a:rPr>
              <a:t>The refinements are cheap, and their benefit is environment-dependent</a:t>
            </a:r>
          </a:p>
          <a:p>
            <a:pPr marL="384048" indent="0" algn="l">
              <a:lnSpc>
                <a:spcPts val="1233"/>
              </a:lnSpc>
              <a:spcBef>
                <a:spcPts val="300"/>
              </a:spcBef>
              <a:spcAft>
                <a:spcPts val="0"/>
              </a:spcAft>
              <a:buNone/>
            </a:pPr>
            <a:r>
              <a:rPr sz="1045" b="0" i="0" dirty="0">
                <a:solidFill>
                  <a:srgbClr val="D6D0E0"/>
                </a:solidFill>
                <a:latin typeface="Fira Sans"/>
              </a:rPr>
              <a:t>Each shows its worth where the problem it fixes exists: DDQN on Lunar Lander (noisy, large values), PER on Acrobot (rare informative transitions), the dueling network on Pendulum (101 similar actions). Where the problem is absent, so is the gain.</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38160" y="1225296"/>
            <a:ext cx="3383280" cy="27432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4114800"/>
          </a:xfrm>
          <a:prstGeom prst="rect">
            <a:avLst/>
          </a:prstGeom>
          <a:noFill/>
        </p:spPr>
        <p:txBody>
          <a:bodyPr wrap="square" lIns="0" tIns="0" rIns="0" bIns="0" anchor="t">
            <a:noAutofit/>
          </a:bodyPr>
          <a:lstStyle/>
          <a:p>
            <a:pPr marL="0" indent="0" algn="l">
              <a:lnSpc>
                <a:spcPts val="1026"/>
              </a:lnSpc>
              <a:spcBef>
                <a:spcPts val="0"/>
              </a:spcBef>
              <a:spcAft>
                <a:spcPts val="0"/>
              </a:spcAft>
              <a:buNone/>
            </a:pPr>
            <a:r>
              <a:rPr sz="950" b="1" i="0">
                <a:solidFill>
                  <a:srgbClr val="FFFFFF"/>
                </a:solidFill>
                <a:latin typeface="Fira Sans"/>
              </a:rPr>
              <a:t>Cybenko (1989)</a:t>
            </a:r>
          </a:p>
          <a:p>
            <a:pPr marL="0" indent="0" algn="l">
              <a:lnSpc>
                <a:spcPts val="988"/>
              </a:lnSpc>
              <a:spcBef>
                <a:spcPts val="100"/>
              </a:spcBef>
              <a:spcAft>
                <a:spcPts val="0"/>
              </a:spcAft>
              <a:buNone/>
            </a:pPr>
            <a:r>
              <a:rPr sz="882" b="0" i="1">
                <a:solidFill>
                  <a:srgbClr val="B2A7C4"/>
                </a:solidFill>
                <a:latin typeface="Fira Sans"/>
              </a:rPr>
              <a:t>Approximation by Superpositions
of a Sigmoidal Function</a:t>
            </a:r>
          </a:p>
          <a:p>
            <a:pPr marL="0" indent="0" algn="l">
              <a:lnSpc>
                <a:spcPts val="1026"/>
              </a:lnSpc>
              <a:spcBef>
                <a:spcPts val="700"/>
              </a:spcBef>
              <a:spcAft>
                <a:spcPts val="0"/>
              </a:spcAft>
              <a:buNone/>
            </a:pPr>
            <a:r>
              <a:rPr sz="950" b="1" i="0">
                <a:solidFill>
                  <a:srgbClr val="FFFFFF"/>
                </a:solidFill>
                <a:latin typeface="Fira Sans"/>
              </a:rPr>
              <a:t>Riedmiller (2005)</a:t>
            </a:r>
          </a:p>
          <a:p>
            <a:pPr marL="0" indent="0" algn="l">
              <a:lnSpc>
                <a:spcPts val="988"/>
              </a:lnSpc>
              <a:spcBef>
                <a:spcPts val="100"/>
              </a:spcBef>
              <a:spcAft>
                <a:spcPts val="0"/>
              </a:spcAft>
              <a:buNone/>
            </a:pPr>
            <a:r>
              <a:rPr sz="882" b="0" i="1">
                <a:solidFill>
                  <a:srgbClr val="B2A7C4"/>
                </a:solidFill>
                <a:latin typeface="Fira Sans"/>
              </a:rPr>
              <a:t>Neural Fitted Q Iteration</a:t>
            </a:r>
          </a:p>
          <a:p>
            <a:pPr marL="0" indent="0" algn="l">
              <a:lnSpc>
                <a:spcPts val="1026"/>
              </a:lnSpc>
              <a:spcBef>
                <a:spcPts val="700"/>
              </a:spcBef>
              <a:spcAft>
                <a:spcPts val="0"/>
              </a:spcAft>
              <a:buNone/>
            </a:pPr>
            <a:r>
              <a:rPr sz="950" b="1" i="0">
                <a:solidFill>
                  <a:srgbClr val="FFFFFF"/>
                </a:solidFill>
                <a:latin typeface="Fira Sans"/>
              </a:rPr>
              <a:t>Mnih et al. (2015)</a:t>
            </a:r>
          </a:p>
          <a:p>
            <a:pPr marL="0" indent="0" algn="l">
              <a:lnSpc>
                <a:spcPts val="988"/>
              </a:lnSpc>
              <a:spcBef>
                <a:spcPts val="100"/>
              </a:spcBef>
              <a:spcAft>
                <a:spcPts val="0"/>
              </a:spcAft>
              <a:buNone/>
            </a:pPr>
            <a:r>
              <a:rPr sz="882" b="0" i="1">
                <a:solidFill>
                  <a:srgbClr val="B2A7C4"/>
                </a:solidFill>
                <a:latin typeface="Fira Sans"/>
              </a:rPr>
              <a:t>Human-level Control through
Deep Reinforcement Learning</a:t>
            </a:r>
          </a:p>
          <a:p>
            <a:pPr marL="0" indent="0" algn="l">
              <a:lnSpc>
                <a:spcPts val="1026"/>
              </a:lnSpc>
              <a:spcBef>
                <a:spcPts val="700"/>
              </a:spcBef>
              <a:spcAft>
                <a:spcPts val="0"/>
              </a:spcAft>
              <a:buNone/>
            </a:pPr>
            <a:r>
              <a:rPr sz="950" b="1" i="0">
                <a:solidFill>
                  <a:srgbClr val="FFFFFF"/>
                </a:solidFill>
                <a:latin typeface="Fira Sans"/>
              </a:rPr>
              <a:t>van Hasselt et al. (2016)</a:t>
            </a:r>
          </a:p>
          <a:p>
            <a:pPr marL="0" indent="0" algn="l">
              <a:lnSpc>
                <a:spcPts val="988"/>
              </a:lnSpc>
              <a:spcBef>
                <a:spcPts val="100"/>
              </a:spcBef>
              <a:spcAft>
                <a:spcPts val="0"/>
              </a:spcAft>
              <a:buNone/>
            </a:pPr>
            <a:r>
              <a:rPr sz="882" b="0" i="1">
                <a:solidFill>
                  <a:srgbClr val="B2A7C4"/>
                </a:solidFill>
                <a:latin typeface="Fira Sans"/>
              </a:rPr>
              <a:t>Deep RL with Double Q-learning</a:t>
            </a:r>
          </a:p>
          <a:p>
            <a:pPr marL="0" indent="0" algn="l">
              <a:lnSpc>
                <a:spcPts val="1026"/>
              </a:lnSpc>
              <a:spcBef>
                <a:spcPts val="700"/>
              </a:spcBef>
              <a:spcAft>
                <a:spcPts val="0"/>
              </a:spcAft>
              <a:buNone/>
            </a:pPr>
            <a:r>
              <a:rPr sz="950" b="1" i="0">
                <a:solidFill>
                  <a:srgbClr val="FFFFFF"/>
                </a:solidFill>
                <a:latin typeface="Fira Sans"/>
              </a:rPr>
              <a:t>Schaul et al. (2016)</a:t>
            </a:r>
          </a:p>
          <a:p>
            <a:pPr marL="0" indent="0" algn="l">
              <a:lnSpc>
                <a:spcPts val="988"/>
              </a:lnSpc>
              <a:spcBef>
                <a:spcPts val="100"/>
              </a:spcBef>
              <a:spcAft>
                <a:spcPts val="0"/>
              </a:spcAft>
              <a:buNone/>
            </a:pPr>
            <a:r>
              <a:rPr sz="882" b="0" i="1">
                <a:solidFill>
                  <a:srgbClr val="B2A7C4"/>
                </a:solidFill>
                <a:latin typeface="Fira Sans"/>
              </a:rPr>
              <a:t>Prioritized Experience Replay</a:t>
            </a:r>
          </a:p>
          <a:p>
            <a:pPr marL="0" indent="0" algn="l">
              <a:lnSpc>
                <a:spcPts val="1026"/>
              </a:lnSpc>
              <a:spcBef>
                <a:spcPts val="700"/>
              </a:spcBef>
              <a:spcAft>
                <a:spcPts val="0"/>
              </a:spcAft>
              <a:buNone/>
            </a:pPr>
            <a:r>
              <a:rPr sz="950" b="1" i="0">
                <a:solidFill>
                  <a:srgbClr val="FFFFFF"/>
                </a:solidFill>
                <a:latin typeface="Fira Sans"/>
              </a:rPr>
              <a:t>Wang et al. (2016)</a:t>
            </a:r>
          </a:p>
          <a:p>
            <a:pPr marL="0" indent="0" algn="l">
              <a:lnSpc>
                <a:spcPts val="988"/>
              </a:lnSpc>
              <a:spcBef>
                <a:spcPts val="100"/>
              </a:spcBef>
              <a:spcAft>
                <a:spcPts val="0"/>
              </a:spcAft>
              <a:buNone/>
            </a:pPr>
            <a:r>
              <a:rPr sz="882" b="0" i="1">
                <a:solidFill>
                  <a:srgbClr val="B2A7C4"/>
                </a:solidFill>
                <a:latin typeface="Fira Sans"/>
              </a:rPr>
              <a:t>Dueling Network Architectures</a:t>
            </a:r>
          </a:p>
          <a:p>
            <a:pPr marL="0" indent="0" algn="l">
              <a:lnSpc>
                <a:spcPts val="1026"/>
              </a:lnSpc>
              <a:spcBef>
                <a:spcPts val="700"/>
              </a:spcBef>
              <a:spcAft>
                <a:spcPts val="0"/>
              </a:spcAft>
              <a:buNone/>
            </a:pPr>
            <a:r>
              <a:rPr sz="950" b="1" i="0">
                <a:solidFill>
                  <a:srgbClr val="FFFFFF"/>
                </a:solidFill>
                <a:latin typeface="Fira Sans"/>
              </a:rPr>
              <a:t>Hessel et al. (2018)</a:t>
            </a:r>
          </a:p>
          <a:p>
            <a:pPr marL="0" indent="0" algn="l">
              <a:lnSpc>
                <a:spcPts val="988"/>
              </a:lnSpc>
              <a:spcBef>
                <a:spcPts val="100"/>
              </a:spcBef>
              <a:spcAft>
                <a:spcPts val="0"/>
              </a:spcAft>
              <a:buNone/>
            </a:pPr>
            <a:r>
              <a:rPr sz="882" b="0" i="1">
                <a:solidFill>
                  <a:srgbClr val="B2A7C4"/>
                </a:solidFill>
                <a:latin typeface="Fira Sans"/>
              </a:rPr>
              <a:t>Rainbow</a:t>
            </a:r>
          </a:p>
          <a:p>
            <a:pPr marL="0" indent="0" algn="l">
              <a:lnSpc>
                <a:spcPts val="1026"/>
              </a:lnSpc>
              <a:spcBef>
                <a:spcPts val="700"/>
              </a:spcBef>
              <a:spcAft>
                <a:spcPts val="0"/>
              </a:spcAft>
              <a:buNone/>
            </a:pPr>
            <a:r>
              <a:rPr sz="950" b="1" i="0">
                <a:solidFill>
                  <a:srgbClr val="FFFFFF"/>
                </a:solidFill>
                <a:latin typeface="Fira Sans"/>
              </a:rPr>
              <a:t>van Hasselt et al. (2018)</a:t>
            </a:r>
          </a:p>
          <a:p>
            <a:pPr marL="0" indent="0" algn="l">
              <a:lnSpc>
                <a:spcPts val="988"/>
              </a:lnSpc>
              <a:spcBef>
                <a:spcPts val="100"/>
              </a:spcBef>
              <a:spcAft>
                <a:spcPts val="0"/>
              </a:spcAft>
              <a:buNone/>
            </a:pPr>
            <a:r>
              <a:rPr sz="882" b="0" i="1">
                <a:solidFill>
                  <a:srgbClr val="B2A7C4"/>
                </a:solidFill>
                <a:latin typeface="Fira Sans"/>
              </a:rPr>
              <a:t>Deep RL and the Deadly Triad</a:t>
            </a:r>
          </a:p>
        </p:txBody>
      </p:sp>
      <p:pic>
        <p:nvPicPr>
          <p:cNvPr id="9" name="Picture 8" descr="image.png"/>
          <p:cNvPicPr>
            <a:picLocks noChangeAspect="1"/>
          </p:cNvPicPr>
          <p:nvPr/>
        </p:nvPicPr>
        <p:blipFill>
          <a:blip r:embed="rId2"/>
          <a:stretch>
            <a:fillRect/>
          </a:stretch>
        </p:blipFill>
        <p:spPr>
          <a:xfrm>
            <a:off x="10561320" y="5806440"/>
            <a:ext cx="658368" cy="44147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6.2  THE LUNAR LANDER ENVIRONMENT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Four actions, rewards of both signs, and a ±100 verdict at the end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38</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lander must touch down on the pad between the flags. The agent fires the main engine or one of the two side engines, or does nothing; it chooses which engine, never the throttle. It is the first environment of the chapter whose rewards are large and of both signs.</a:t>
            </a:r>
          </a:p>
        </p:txBody>
      </p:sp>
      <p:pic>
        <p:nvPicPr>
          <p:cNvPr id="9" name="Picture 8" descr="att_109_0.png"/>
          <p:cNvPicPr>
            <a:picLocks noChangeAspect="1"/>
          </p:cNvPicPr>
          <p:nvPr/>
        </p:nvPicPr>
        <p:blipFill>
          <a:blip r:embed="rId5"/>
          <a:stretch>
            <a:fillRect/>
          </a:stretch>
        </p:blipFill>
        <p:spPr>
          <a:xfrm>
            <a:off x="1550100" y="2267712"/>
            <a:ext cx="5424474" cy="1861286"/>
          </a:xfrm>
          <a:prstGeom prst="rect">
            <a:avLst/>
          </a:prstGeom>
        </p:spPr>
      </p:pic>
      <p:sp>
        <p:nvSpPr>
          <p:cNvPr id="10" name="TextBox 9"/>
          <p:cNvSpPr txBox="1"/>
          <p:nvPr/>
        </p:nvSpPr>
        <p:spPr>
          <a:xfrm>
            <a:off x="841248" y="4633283"/>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Side engines adjust horizontal motion and orientation; the main engine slows the descent.</a:t>
            </a:r>
          </a:p>
        </p:txBody>
      </p:sp>
      <p:pic>
        <p:nvPicPr>
          <p:cNvPr id="11" name="Picture 10" descr="eq_lunar_state.sv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248" y="5006663"/>
            <a:ext cx="2845699" cy="212351"/>
          </a:xfrm>
          <a:prstGeom prst="rect">
            <a:avLst/>
          </a:prstGeom>
        </p:spPr>
      </p:pic>
      <p:sp>
        <p:nvSpPr>
          <p:cNvPr id="12" name="Rectangle 11"/>
          <p:cNvSpPr/>
          <p:nvPr/>
        </p:nvSpPr>
        <p:spPr>
          <a:xfrm>
            <a:off x="841248" y="5449824"/>
            <a:ext cx="6543446" cy="76809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449824"/>
            <a:ext cx="41148" cy="76809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5596128"/>
            <a:ext cx="6159398" cy="47548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 xml:space="preserve">Eight state variables, four actions. The return is no longer an episode length: it is a sum of shaped rewards, engine costs and a terminal bonus or penalty, so </a:t>
            </a:r>
            <a:r>
              <a:rPr sz="1092" b="1" i="0" dirty="0">
                <a:solidFill>
                  <a:srgbClr val="25282A"/>
                </a:solidFill>
                <a:latin typeface="Fira Sans"/>
              </a:rPr>
              <a:t>values span hundreds of units of both signs</a:t>
            </a:r>
            <a:r>
              <a:rPr sz="1092" b="0" i="0" dirty="0">
                <a:solidFill>
                  <a:srgbClr val="333639"/>
                </a:solidFill>
                <a:latin typeface="Fira Sans"/>
              </a:rPr>
              <a:t>.</a:t>
            </a:r>
          </a:p>
        </p:txBody>
      </p:sp>
      <p:sp>
        <p:nvSpPr>
          <p:cNvPr id="15" name="TextBox 14"/>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STATE VECTOR</a:t>
            </a:r>
          </a:p>
        </p:txBody>
      </p:sp>
      <p:sp>
        <p:nvSpPr>
          <p:cNvPr id="16" name="TextBox 15"/>
          <p:cNvSpPr txBox="1"/>
          <p:nvPr/>
        </p:nvSpPr>
        <p:spPr>
          <a:xfrm>
            <a:off x="7618780" y="1572768"/>
            <a:ext cx="3731940" cy="857524"/>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1" i="0">
                <a:solidFill>
                  <a:srgbClr val="25282A"/>
                </a:solidFill>
                <a:latin typeface="Fira Sans"/>
              </a:rPr>
              <a:t>x, y</a:t>
            </a:r>
            <a:r>
              <a:rPr sz="1092" b="0" i="0">
                <a:solidFill>
                  <a:srgbClr val="333639"/>
                </a:solidFill>
                <a:latin typeface="Fira Sans"/>
              </a:rPr>
              <a:t xml:space="preserve"> — position relative to the landing pad</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ẋ, ẏ</a:t>
            </a:r>
            <a:r>
              <a:rPr sz="1092" b="0" i="0">
                <a:solidFill>
                  <a:srgbClr val="333639"/>
                </a:solidFill>
                <a:latin typeface="Fira Sans"/>
              </a:rPr>
              <a:t xml:space="preserve"> — horizontal and vertical velocity</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ϑ, ϑ̇</a:t>
            </a:r>
            <a:r>
              <a:rPr sz="1092" b="0" i="0">
                <a:solidFill>
                  <a:srgbClr val="333639"/>
                </a:solidFill>
                <a:latin typeface="Fira Sans"/>
              </a:rPr>
              <a:t xml:space="preserve"> — angle from the vertical, angular velocity</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two contact flags</a:t>
            </a:r>
            <a:r>
              <a:rPr sz="1092" b="0" i="0">
                <a:solidFill>
                  <a:srgbClr val="333639"/>
                </a:solidFill>
                <a:latin typeface="Fira Sans"/>
              </a:rPr>
              <a:t xml:space="preserve"> — whether each leg touches the ground</a:t>
            </a:r>
          </a:p>
        </p:txBody>
      </p:sp>
      <p:sp>
        <p:nvSpPr>
          <p:cNvPr id="17" name="TextBox 16"/>
          <p:cNvSpPr txBox="1"/>
          <p:nvPr/>
        </p:nvSpPr>
        <p:spPr>
          <a:xfrm>
            <a:off x="7618780" y="3025650"/>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REWARD AND TERMINATION</a:t>
            </a:r>
          </a:p>
        </p:txBody>
      </p:sp>
      <p:sp>
        <p:nvSpPr>
          <p:cNvPr id="18" name="TextBox 17"/>
          <p:cNvSpPr txBox="1"/>
          <p:nvPr/>
        </p:nvSpPr>
        <p:spPr>
          <a:xfrm>
            <a:off x="7618780" y="3263394"/>
            <a:ext cx="3731940" cy="896112"/>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1" i="0" dirty="0">
                <a:solidFill>
                  <a:srgbClr val="25282A"/>
                </a:solidFill>
                <a:latin typeface="Fira Sans"/>
              </a:rPr>
              <a:t>Shaped reward at every step</a:t>
            </a:r>
            <a:r>
              <a:rPr sz="1045" b="0" i="0" dirty="0">
                <a:solidFill>
                  <a:srgbClr val="333639"/>
                </a:solidFill>
                <a:latin typeface="Fira Sans"/>
              </a:rPr>
              <a:t xml:space="preserve"> for approaching the pad, slowing down and staying upright; −0.3 per main-engine firing, −0.03 per side-engine firing.</a:t>
            </a:r>
          </a:p>
          <a:p>
            <a:pPr marL="182880" indent="-182880" algn="l">
              <a:lnSpc>
                <a:spcPts val="1170"/>
              </a:lnSpc>
              <a:spcBef>
                <a:spcPts val="600"/>
              </a:spcBef>
              <a:spcAft>
                <a:spcPts val="0"/>
              </a:spcAft>
              <a:buClr>
                <a:srgbClr val="1971C2"/>
              </a:buClr>
              <a:buFont typeface="Fira Sans"/>
              <a:buChar char="–"/>
            </a:pPr>
            <a:r>
              <a:rPr sz="1045" b="1" i="0" dirty="0">
                <a:solidFill>
                  <a:srgbClr val="2B7A3E"/>
                </a:solidFill>
                <a:latin typeface="Fira Sans"/>
              </a:rPr>
              <a:t>+100</a:t>
            </a:r>
            <a:r>
              <a:rPr sz="1045" b="0" i="0" dirty="0">
                <a:solidFill>
                  <a:srgbClr val="333639"/>
                </a:solidFill>
                <a:latin typeface="Fira Sans"/>
              </a:rPr>
              <a:t xml:space="preserve"> when the lander comes to rest, </a:t>
            </a:r>
            <a:r>
              <a:rPr sz="1045" b="1" i="0" dirty="0">
                <a:solidFill>
                  <a:srgbClr val="C8102E"/>
                </a:solidFill>
                <a:latin typeface="Fira Sans"/>
              </a:rPr>
              <a:t>−100</a:t>
            </a:r>
            <a:r>
              <a:rPr sz="1045" b="0" i="0" dirty="0">
                <a:solidFill>
                  <a:srgbClr val="333639"/>
                </a:solidFill>
                <a:latin typeface="Fira Sans"/>
              </a:rPr>
              <a:t xml:space="preserve"> for a crash or for leaving the screen; both terminate the episode. Truncation after 1000 steps.</a:t>
            </a:r>
          </a:p>
        </p:txBody>
      </p:sp>
      <p:pic>
        <p:nvPicPr>
          <p:cNvPr id="19" name="Picture 18" descr="eq_lunar_reward.sv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39354" y="4443984"/>
            <a:ext cx="3648456" cy="151673"/>
          </a:xfrm>
          <a:prstGeom prst="rect">
            <a:avLst/>
          </a:prstGeom>
        </p:spPr>
      </p:pic>
      <p:sp>
        <p:nvSpPr>
          <p:cNvPr id="20" name="Rectangle 19"/>
          <p:cNvSpPr/>
          <p:nvPr/>
        </p:nvSpPr>
        <p:spPr>
          <a:xfrm>
            <a:off x="7618780" y="5138494"/>
            <a:ext cx="3731940" cy="100812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5138494"/>
            <a:ext cx="41148" cy="100812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528479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TARGET</a:t>
            </a:r>
          </a:p>
        </p:txBody>
      </p:sp>
      <p:sp>
        <p:nvSpPr>
          <p:cNvPr id="23" name="TextBox 22"/>
          <p:cNvSpPr txBox="1"/>
          <p:nvPr/>
        </p:nvSpPr>
        <p:spPr>
          <a:xfrm>
            <a:off x="7838236" y="5522542"/>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An average return of </a:t>
            </a:r>
            <a:r>
              <a:rPr sz="1045" b="1" i="0">
                <a:solidFill>
                  <a:srgbClr val="25282A"/>
                </a:solidFill>
                <a:latin typeface="Fira Sans"/>
              </a:rPr>
              <a:t>200</a:t>
            </a:r>
            <a:r>
              <a:rPr sz="1045" b="0" i="0">
                <a:solidFill>
                  <a:srgbClr val="333639"/>
                </a:solidFill>
                <a:latin typeface="Fira Sans"/>
              </a:rPr>
              <a:t xml:space="preserve"> is the conventional threshold for a solved landing — a performance level, not a maximum score.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6.5  THE ACROBOT ENVIRONMENT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 underactuated swing-up, and one informative transition per episode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41</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Two links hang from a fixed pivot; torque can be applied only at the joint between them. Starting at rest, hanging down, the agent must pump energy into the system until the tip of the second link rises above the target height — and it is told nothing until it gets there.</a:t>
            </a:r>
          </a:p>
        </p:txBody>
      </p:sp>
      <p:pic>
        <p:nvPicPr>
          <p:cNvPr id="9" name="Picture 8" descr="att_140_0.png"/>
          <p:cNvPicPr>
            <a:picLocks noChangeAspect="1"/>
          </p:cNvPicPr>
          <p:nvPr/>
        </p:nvPicPr>
        <p:blipFill>
          <a:blip r:embed="rId5"/>
          <a:stretch>
            <a:fillRect/>
          </a:stretch>
        </p:blipFill>
        <p:spPr>
          <a:xfrm>
            <a:off x="1550100" y="2450592"/>
            <a:ext cx="5424474" cy="1494891"/>
          </a:xfrm>
          <a:prstGeom prst="rect">
            <a:avLst/>
          </a:prstGeom>
        </p:spPr>
      </p:pic>
      <p:sp>
        <p:nvSpPr>
          <p:cNvPr id="10" name="TextBox 9"/>
          <p:cNvSpPr txBox="1"/>
          <p:nvPr/>
        </p:nvSpPr>
        <p:spPr>
          <a:xfrm>
            <a:off x="841248" y="4633283"/>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Only the joint between the links receives a control torque; the pivot is free.</a:t>
            </a:r>
          </a:p>
        </p:txBody>
      </p:sp>
      <p:pic>
        <p:nvPicPr>
          <p:cNvPr id="11" name="Picture 10" descr="eq_acrobot_state.sv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248" y="5006663"/>
            <a:ext cx="5827029" cy="329184"/>
          </a:xfrm>
          <a:prstGeom prst="rect">
            <a:avLst/>
          </a:prstGeom>
        </p:spPr>
      </p:pic>
      <p:sp>
        <p:nvSpPr>
          <p:cNvPr id="12" name="Rectangle 11"/>
          <p:cNvSpPr/>
          <p:nvPr/>
        </p:nvSpPr>
        <p:spPr>
          <a:xfrm>
            <a:off x="841248" y="5449824"/>
            <a:ext cx="6543446" cy="76809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449824"/>
            <a:ext cx="41148" cy="76809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5596128"/>
            <a:ext cx="6159398" cy="47548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 xml:space="preserve">Six state variables, three actions. Angles enter as sine and cosine, so a full turn produces no jump in the input. The return is </a:t>
            </a:r>
            <a:r>
              <a:rPr sz="1092" b="1" i="0" dirty="0">
                <a:solidFill>
                  <a:srgbClr val="25282A"/>
                </a:solidFill>
                <a:latin typeface="Fira Sans"/>
              </a:rPr>
              <a:t>minus the number of steps to the goal</a:t>
            </a:r>
            <a:r>
              <a:rPr sz="1092" b="0" i="0" dirty="0">
                <a:solidFill>
                  <a:srgbClr val="333639"/>
                </a:solidFill>
                <a:latin typeface="Fira Sans"/>
              </a:rPr>
              <a:t>: −500 means the agent never got there.</a:t>
            </a:r>
          </a:p>
        </p:txBody>
      </p:sp>
      <p:sp>
        <p:nvSpPr>
          <p:cNvPr id="15" name="TextBox 14"/>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STATE VECTOR, AND THE ACTION</a:t>
            </a:r>
          </a:p>
        </p:txBody>
      </p:sp>
      <p:sp>
        <p:nvSpPr>
          <p:cNvPr id="16" name="TextBox 15"/>
          <p:cNvSpPr txBox="1"/>
          <p:nvPr/>
        </p:nvSpPr>
        <p:spPr>
          <a:xfrm>
            <a:off x="7618780" y="1572768"/>
            <a:ext cx="3731940" cy="857524"/>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1" i="0">
                <a:solidFill>
                  <a:srgbClr val="25282A"/>
                </a:solidFill>
                <a:latin typeface="Fira Sans"/>
              </a:rPr>
              <a:t>ϑ₁</a:t>
            </a:r>
            <a:r>
              <a:rPr sz="1092" b="0" i="0">
                <a:solidFill>
                  <a:srgbClr val="333639"/>
                </a:solidFill>
                <a:latin typeface="Fira Sans"/>
              </a:rPr>
              <a:t xml:space="preserve"> — first link from the downward vertical, as (cos, sin)</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ϑ₂</a:t>
            </a:r>
            <a:r>
              <a:rPr sz="1092" b="0" i="0">
                <a:solidFill>
                  <a:srgbClr val="333639"/>
                </a:solidFill>
                <a:latin typeface="Fira Sans"/>
              </a:rPr>
              <a:t xml:space="preserve"> — second link relative to the first, as (cos, sin)</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ϑ̇₁, ϑ̇₂</a:t>
            </a:r>
            <a:r>
              <a:rPr sz="1092" b="0" i="0">
                <a:solidFill>
                  <a:srgbClr val="333639"/>
                </a:solidFill>
                <a:latin typeface="Fira Sans"/>
              </a:rPr>
              <a:t xml:space="preserve"> — the two angular velocities</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a ∈ {−1, 0, +1}</a:t>
            </a:r>
            <a:r>
              <a:rPr sz="1092" b="0" i="0">
                <a:solidFill>
                  <a:srgbClr val="333639"/>
                </a:solidFill>
                <a:latin typeface="Fira Sans"/>
              </a:rPr>
              <a:t xml:space="preserve"> — torque at the actuated joint</a:t>
            </a:r>
          </a:p>
        </p:txBody>
      </p:sp>
      <p:sp>
        <p:nvSpPr>
          <p:cNvPr id="17" name="TextBox 16"/>
          <p:cNvSpPr txBox="1"/>
          <p:nvPr/>
        </p:nvSpPr>
        <p:spPr>
          <a:xfrm>
            <a:off x="7618780" y="3025650"/>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REWARD AND TERMINATION</a:t>
            </a:r>
          </a:p>
        </p:txBody>
      </p:sp>
      <p:sp>
        <p:nvSpPr>
          <p:cNvPr id="18" name="TextBox 17"/>
          <p:cNvSpPr txBox="1"/>
          <p:nvPr/>
        </p:nvSpPr>
        <p:spPr>
          <a:xfrm>
            <a:off x="7618780" y="3263394"/>
            <a:ext cx="3731940" cy="716483"/>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1" i="0" dirty="0">
                <a:solidFill>
                  <a:srgbClr val="25282A"/>
                </a:solidFill>
                <a:latin typeface="Fira Sans"/>
              </a:rPr>
              <a:t>−1 at every step</a:t>
            </a:r>
            <a:r>
              <a:rPr sz="1045" b="0" i="0" dirty="0">
                <a:solidFill>
                  <a:srgbClr val="333639"/>
                </a:solidFill>
                <a:latin typeface="Fira Sans"/>
              </a:rPr>
              <a:t xml:space="preserve"> that does not reach the target height, 0 on the transition that does. No shaping: gaining height or momentum earns nothing.</a:t>
            </a:r>
          </a:p>
          <a:p>
            <a:pPr marL="182880" indent="-182880" algn="l">
              <a:lnSpc>
                <a:spcPts val="1170"/>
              </a:lnSpc>
              <a:spcBef>
                <a:spcPts val="600"/>
              </a:spcBef>
              <a:spcAft>
                <a:spcPts val="0"/>
              </a:spcAft>
              <a:buClr>
                <a:srgbClr val="1971C2"/>
              </a:buClr>
              <a:buFont typeface="Fira Sans"/>
              <a:buChar char="–"/>
            </a:pPr>
            <a:r>
              <a:rPr sz="1045" b="0" i="0" dirty="0">
                <a:solidFill>
                  <a:srgbClr val="333639"/>
                </a:solidFill>
                <a:latin typeface="Fira Sans"/>
              </a:rPr>
              <a:t>The episode terminates when the tip crosses the target height, or is truncated after 500 steps.</a:t>
            </a:r>
          </a:p>
        </p:txBody>
      </p:sp>
      <p:pic>
        <p:nvPicPr>
          <p:cNvPr id="19" name="Picture 18" descr="eq_acrobot_reward.sv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39354" y="4315968"/>
            <a:ext cx="3648456" cy="190536"/>
          </a:xfrm>
          <a:prstGeom prst="rect">
            <a:avLst/>
          </a:prstGeom>
        </p:spPr>
      </p:pic>
      <p:sp>
        <p:nvSpPr>
          <p:cNvPr id="20" name="Rectangle 19"/>
          <p:cNvSpPr/>
          <p:nvPr/>
        </p:nvSpPr>
        <p:spPr>
          <a:xfrm>
            <a:off x="7618780" y="4937760"/>
            <a:ext cx="3731940" cy="1207008"/>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4937760"/>
            <a:ext cx="41148" cy="1207008"/>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508406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IT SUITS PRIORITIZED REPLAY</a:t>
            </a:r>
          </a:p>
        </p:txBody>
      </p:sp>
      <p:sp>
        <p:nvSpPr>
          <p:cNvPr id="23" name="TextBox 22"/>
          <p:cNvSpPr txBox="1"/>
          <p:nvPr/>
        </p:nvSpPr>
        <p:spPr>
          <a:xfrm>
            <a:off x="7838236" y="5321808"/>
            <a:ext cx="3347892" cy="6217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Almost every stored transition looks alike: reward −1, no termination. The few that end an episode are the ones with a </a:t>
            </a:r>
            <a:r>
              <a:rPr sz="1045" b="1" i="0">
                <a:solidFill>
                  <a:srgbClr val="25282A"/>
                </a:solidFill>
                <a:latin typeface="Fira Sans"/>
              </a:rPr>
              <a:t>large TD error</a:t>
            </a:r>
            <a:r>
              <a:rPr sz="1045" b="0" i="0">
                <a:solidFill>
                  <a:srgbClr val="333639"/>
                </a:solidFill>
                <a:latin typeface="Fira Sans"/>
              </a:rPr>
              <a:t xml:space="preserve"> — the situation PER was designed for.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6.9  THE PENDULUM ENVIRONMENT, DISCRETISED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state value that matters a lot, and 101 torques that differ very little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45</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pendulum hangs from a pivot and must be swung upright and held there by a torque at the pivot. Pendulum takes a continuous torque in [−2, 2]; our agents choose a discrete action, so an action wrapper maps 101 equally spaced indices to torques.</a:t>
            </a:r>
          </a:p>
        </p:txBody>
      </p:sp>
      <p:pic>
        <p:nvPicPr>
          <p:cNvPr id="9" name="Picture 8" descr="att_160_0.png"/>
          <p:cNvPicPr>
            <a:picLocks noChangeAspect="1"/>
          </p:cNvPicPr>
          <p:nvPr/>
        </p:nvPicPr>
        <p:blipFill>
          <a:blip r:embed="rId5"/>
          <a:stretch>
            <a:fillRect/>
          </a:stretch>
        </p:blipFill>
        <p:spPr>
          <a:xfrm>
            <a:off x="1550100" y="2029968"/>
            <a:ext cx="5424474" cy="2321296"/>
          </a:xfrm>
          <a:prstGeom prst="rect">
            <a:avLst/>
          </a:prstGeom>
        </p:spPr>
      </p:pic>
      <p:sp>
        <p:nvSpPr>
          <p:cNvPr id="10" name="TextBox 9"/>
          <p:cNvSpPr txBox="1"/>
          <p:nvPr/>
        </p:nvSpPr>
        <p:spPr>
          <a:xfrm>
            <a:off x="841248" y="4633283"/>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 torque in either direction at the pivot; the goal is to swing up and then keep balancing.</a:t>
            </a:r>
          </a:p>
        </p:txBody>
      </p:sp>
      <p:pic>
        <p:nvPicPr>
          <p:cNvPr id="11" name="Picture 10" descr="eq_pendulum_state.sv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248" y="5006663"/>
            <a:ext cx="6400800" cy="262625"/>
          </a:xfrm>
          <a:prstGeom prst="rect">
            <a:avLst/>
          </a:prstGeom>
        </p:spPr>
      </p:pic>
      <p:sp>
        <p:nvSpPr>
          <p:cNvPr id="12" name="Rectangle 11"/>
          <p:cNvSpPr/>
          <p:nvPr/>
        </p:nvSpPr>
        <p:spPr>
          <a:xfrm>
            <a:off x="841248" y="5449824"/>
            <a:ext cx="6543446" cy="76809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5449824"/>
            <a:ext cx="41148" cy="76809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5596128"/>
            <a:ext cx="6159398" cy="47548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 xml:space="preserve">Three state variables, 101 actions. Neighbouring torques have almost the same effect, so most of the information in Q(s, ·) is </a:t>
            </a:r>
            <a:r>
              <a:rPr sz="1092" b="1" i="0" dirty="0">
                <a:solidFill>
                  <a:srgbClr val="25282A"/>
                </a:solidFill>
                <a:latin typeface="Fira Sans"/>
              </a:rPr>
              <a:t>about the state, not about the action</a:t>
            </a:r>
            <a:r>
              <a:rPr sz="1092" b="0" i="0" dirty="0">
                <a:solidFill>
                  <a:srgbClr val="333639"/>
                </a:solidFill>
                <a:latin typeface="Fira Sans"/>
              </a:rPr>
              <a:t xml:space="preserve"> — exactly what the dueling split assumes.</a:t>
            </a:r>
          </a:p>
        </p:txBody>
      </p:sp>
      <p:sp>
        <p:nvSpPr>
          <p:cNvPr id="15" name="TextBox 14"/>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STATE VECTOR, AND THE ACTION</a:t>
            </a:r>
          </a:p>
        </p:txBody>
      </p:sp>
      <p:sp>
        <p:nvSpPr>
          <p:cNvPr id="16" name="TextBox 15"/>
          <p:cNvSpPr txBox="1"/>
          <p:nvPr/>
        </p:nvSpPr>
        <p:spPr>
          <a:xfrm>
            <a:off x="7618780" y="1572768"/>
            <a:ext cx="3731940" cy="857524"/>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1" i="0">
                <a:solidFill>
                  <a:srgbClr val="25282A"/>
                </a:solidFill>
                <a:latin typeface="Fira Sans"/>
              </a:rPr>
              <a:t>cos ϑ, sin ϑ</a:t>
            </a:r>
            <a:r>
              <a:rPr sz="1092" b="0" i="0">
                <a:solidFill>
                  <a:srgbClr val="333639"/>
                </a:solidFill>
                <a:latin typeface="Fira Sans"/>
              </a:rPr>
              <a:t xml:space="preserve"> — orientation; zero angle is upright</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ϑ̇</a:t>
            </a:r>
            <a:r>
              <a:rPr sz="1092" b="0" i="0">
                <a:solidFill>
                  <a:srgbClr val="333639"/>
                </a:solidFill>
                <a:latin typeface="Fira Sans"/>
              </a:rPr>
              <a:t xml:space="preserve"> — angular velocity, in [−8, 8]</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u</a:t>
            </a:r>
            <a:r>
              <a:rPr sz="1092" b="0" i="0">
                <a:solidFill>
                  <a:srgbClr val="333639"/>
                </a:solidFill>
                <a:latin typeface="Fira Sans"/>
              </a:rPr>
              <a:t xml:space="preserve"> — applied torque, in [−2, 2]</a:t>
            </a:r>
          </a:p>
          <a:p>
            <a:pPr marL="182880" indent="-182880" algn="l">
              <a:lnSpc>
                <a:spcPts val="1223"/>
              </a:lnSpc>
              <a:spcBef>
                <a:spcPts val="500"/>
              </a:spcBef>
              <a:spcAft>
                <a:spcPts val="0"/>
              </a:spcAft>
              <a:buClr>
                <a:srgbClr val="1971C2"/>
              </a:buClr>
              <a:buFont typeface="Fira Sans"/>
              <a:buChar char="–"/>
            </a:pPr>
            <a:r>
              <a:rPr sz="1092" b="1" i="0">
                <a:solidFill>
                  <a:srgbClr val="25282A"/>
                </a:solidFill>
                <a:latin typeface="Fira Sans"/>
              </a:rPr>
              <a:t>a</a:t>
            </a:r>
            <a:r>
              <a:rPr sz="1092" b="0" i="0">
                <a:solidFill>
                  <a:srgbClr val="333639"/>
                </a:solidFill>
                <a:latin typeface="Fira Sans"/>
              </a:rPr>
              <a:t xml:space="preserve"> — index: 0 is −2, 50 is no torque, 100 is +2</a:t>
            </a:r>
          </a:p>
        </p:txBody>
      </p:sp>
      <p:sp>
        <p:nvSpPr>
          <p:cNvPr id="17" name="TextBox 16"/>
          <p:cNvSpPr txBox="1"/>
          <p:nvPr/>
        </p:nvSpPr>
        <p:spPr>
          <a:xfrm>
            <a:off x="7618780" y="3025650"/>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REWARD AND TERMINATION</a:t>
            </a:r>
          </a:p>
        </p:txBody>
      </p:sp>
      <p:sp>
        <p:nvSpPr>
          <p:cNvPr id="18" name="TextBox 17"/>
          <p:cNvSpPr txBox="1"/>
          <p:nvPr/>
        </p:nvSpPr>
        <p:spPr>
          <a:xfrm>
            <a:off x="7618780" y="3263394"/>
            <a:ext cx="3731940" cy="1005840"/>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1" i="0" dirty="0">
                <a:solidFill>
                  <a:srgbClr val="25282A"/>
                </a:solidFill>
                <a:latin typeface="Fira Sans"/>
              </a:rPr>
              <a:t>Dense and never positive</a:t>
            </a:r>
            <a:r>
              <a:rPr sz="1045" b="0" i="0" dirty="0">
                <a:solidFill>
                  <a:srgbClr val="333639"/>
                </a:solidFill>
                <a:latin typeface="Fira Sans"/>
              </a:rPr>
              <a:t>: at every step the penalty combines the angle from upright, the angular velocity and the torque. Zero only when upright, still and unpowered.</a:t>
            </a:r>
          </a:p>
          <a:p>
            <a:pPr marL="182880" indent="-182880" algn="l">
              <a:lnSpc>
                <a:spcPts val="1170"/>
              </a:lnSpc>
              <a:spcBef>
                <a:spcPts val="600"/>
              </a:spcBef>
              <a:spcAft>
                <a:spcPts val="0"/>
              </a:spcAft>
              <a:buClr>
                <a:srgbClr val="1971C2"/>
              </a:buClr>
              <a:buFont typeface="Fira Sans"/>
              <a:buChar char="–"/>
            </a:pPr>
            <a:r>
              <a:rPr sz="1045" b="1" i="0" dirty="0">
                <a:solidFill>
                  <a:srgbClr val="25282A"/>
                </a:solidFill>
                <a:latin typeface="Fira Sans"/>
              </a:rPr>
              <a:t>No terminal state</a:t>
            </a:r>
            <a:r>
              <a:rPr sz="1045" b="0" i="0" dirty="0">
                <a:solidFill>
                  <a:srgbClr val="333639"/>
                </a:solidFill>
                <a:latin typeface="Fira Sans"/>
              </a:rPr>
              <a:t>: reaching upright does not end the episode, falling does not either. Every episode is truncated at 200 steps, so the return is a control cost, not a survival time.</a:t>
            </a:r>
          </a:p>
        </p:txBody>
      </p:sp>
      <p:pic>
        <p:nvPicPr>
          <p:cNvPr id="19" name="Picture 18" descr="eq_pendulum_reward.sv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39354" y="4443984"/>
            <a:ext cx="3648456" cy="230084"/>
          </a:xfrm>
          <a:prstGeom prst="rect">
            <a:avLst/>
          </a:prstGeom>
        </p:spPr>
      </p:pic>
      <p:sp>
        <p:nvSpPr>
          <p:cNvPr id="20" name="Rectangle 19"/>
          <p:cNvSpPr/>
          <p:nvPr/>
        </p:nvSpPr>
        <p:spPr>
          <a:xfrm>
            <a:off x="7618780" y="4937760"/>
            <a:ext cx="3731940" cy="1207008"/>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4937760"/>
            <a:ext cx="41148" cy="1207008"/>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508406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IT SUITS THE DUELING ARCHITECTURE</a:t>
            </a:r>
          </a:p>
        </p:txBody>
      </p:sp>
      <p:sp>
        <p:nvSpPr>
          <p:cNvPr id="23" name="TextBox 22"/>
          <p:cNvSpPr txBox="1"/>
          <p:nvPr/>
        </p:nvSpPr>
        <p:spPr>
          <a:xfrm>
            <a:off x="7838236" y="5321808"/>
            <a:ext cx="3347892" cy="6217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 xml:space="preserve">Orientation and speed decide the pendulum's prospects; which of 101 nearby torques is applied changes them only slightly. A value head can learn the former </a:t>
            </a:r>
            <a:r>
              <a:rPr sz="1045" b="1" i="0">
                <a:solidFill>
                  <a:srgbClr val="25282A"/>
                </a:solidFill>
                <a:latin typeface="Fira Sans"/>
              </a:rPr>
              <a:t>once</a:t>
            </a:r>
            <a:r>
              <a:rPr sz="1045" b="0" i="0">
                <a:solidFill>
                  <a:srgbClr val="333639"/>
                </a:solidFill>
                <a:latin typeface="Fira Sans"/>
              </a:rPr>
              <a:t>; the advantage head only has to learn small differences.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6.11  THREE REFINEMENTS, THREE ENVIRONMENTS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Each mechanism is visible only where the problem it fixes is present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07 — Generalizing with Neural Networks   ·   Part VI — Refinements, and what remains broken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47</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experiments of Parts V and VI, side by side. In every case the baseline and the refined agent share seeds, networks, exploration schedule, replay settings and evaluation; only the mechanism under test changes.</a:t>
            </a:r>
          </a:p>
        </p:txBody>
      </p:sp>
      <p:pic>
        <p:nvPicPr>
          <p:cNvPr id="9" name="Picture 8" descr="fig_three.png"/>
          <p:cNvPicPr>
            <a:picLocks noChangeAspect="1"/>
          </p:cNvPicPr>
          <p:nvPr/>
        </p:nvPicPr>
        <p:blipFill>
          <a:blip r:embed="rId3"/>
          <a:stretch>
            <a:fillRect/>
          </a:stretch>
        </p:blipFill>
        <p:spPr>
          <a:xfrm>
            <a:off x="402336" y="2240280"/>
            <a:ext cx="7050024" cy="1762337"/>
          </a:xfrm>
          <a:prstGeom prst="rect">
            <a:avLst/>
          </a:prstGeom>
        </p:spPr>
      </p:pic>
      <p:sp>
        <p:nvSpPr>
          <p:cNvPr id="13" name="TextBox 12"/>
          <p:cNvSpPr txBox="1"/>
          <p:nvPr/>
        </p:nvSpPr>
        <p:spPr>
          <a:xfrm>
            <a:off x="7618780" y="13350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EACH ENVIRONMENT STRESSES</a:t>
            </a:r>
          </a:p>
        </p:txBody>
      </p:sp>
      <p:sp>
        <p:nvSpPr>
          <p:cNvPr id="14" name="Rectangle 13"/>
          <p:cNvSpPr/>
          <p:nvPr/>
        </p:nvSpPr>
        <p:spPr>
          <a:xfrm>
            <a:off x="7618780" y="1572768"/>
            <a:ext cx="3731940" cy="25310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08392" y="1627632"/>
            <a:ext cx="1097280"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r>
              <a:rPr sz="882" b="1" i="0" spc="60">
                <a:solidFill>
                  <a:srgbClr val="FFFFFF"/>
                </a:solidFill>
                <a:latin typeface="Fira Sans"/>
              </a:rPr>
              <a:t>Refinement</a:t>
            </a:r>
          </a:p>
        </p:txBody>
      </p:sp>
      <p:sp>
        <p:nvSpPr>
          <p:cNvPr id="16" name="TextBox 15"/>
          <p:cNvSpPr txBox="1"/>
          <p:nvPr/>
        </p:nvSpPr>
        <p:spPr>
          <a:xfrm>
            <a:off x="8805672" y="1627632"/>
            <a:ext cx="1005840"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Environment</a:t>
            </a:r>
          </a:p>
        </p:txBody>
      </p:sp>
      <p:sp>
        <p:nvSpPr>
          <p:cNvPr id="17" name="TextBox 16"/>
          <p:cNvSpPr txBox="1"/>
          <p:nvPr/>
        </p:nvSpPr>
        <p:spPr>
          <a:xfrm>
            <a:off x="9811512" y="1627632"/>
            <a:ext cx="1444752" cy="143377"/>
          </a:xfrm>
          <a:prstGeom prst="rect">
            <a:avLst/>
          </a:prstGeom>
          <a:noFill/>
        </p:spPr>
        <p:txBody>
          <a:bodyPr wrap="square" lIns="0" tIns="0" rIns="0" bIns="0" anchor="ctr">
            <a:noAutofit/>
          </a:bodyPr>
          <a:lstStyle/>
          <a:p>
            <a:pPr marL="0" indent="0" algn="r">
              <a:lnSpc>
                <a:spcPts val="970"/>
              </a:lnSpc>
              <a:spcBef>
                <a:spcPts val="0"/>
              </a:spcBef>
              <a:spcAft>
                <a:spcPts val="0"/>
              </a:spcAft>
              <a:buNone/>
            </a:pPr>
            <a:r>
              <a:rPr sz="882" b="1" i="0" spc="60">
                <a:solidFill>
                  <a:srgbClr val="FFFFFF"/>
                </a:solidFill>
                <a:latin typeface="Fira Sans"/>
              </a:rPr>
              <a:t>Gain</a:t>
            </a:r>
          </a:p>
        </p:txBody>
      </p:sp>
      <p:sp>
        <p:nvSpPr>
          <p:cNvPr id="18" name="TextBox 17"/>
          <p:cNvSpPr txBox="1"/>
          <p:nvPr/>
        </p:nvSpPr>
        <p:spPr>
          <a:xfrm>
            <a:off x="7708392" y="1880737"/>
            <a:ext cx="109728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DQN vs NFQ</a:t>
            </a:r>
          </a:p>
        </p:txBody>
      </p:sp>
      <p:sp>
        <p:nvSpPr>
          <p:cNvPr id="19" name="TextBox 18"/>
          <p:cNvSpPr txBox="1"/>
          <p:nvPr/>
        </p:nvSpPr>
        <p:spPr>
          <a:xfrm>
            <a:off x="8805672" y="1880737"/>
            <a:ext cx="100584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Cart-Pole</a:t>
            </a:r>
          </a:p>
        </p:txBody>
      </p:sp>
      <p:sp>
        <p:nvSpPr>
          <p:cNvPr id="20" name="TextBox 19"/>
          <p:cNvSpPr txBox="1"/>
          <p:nvPr/>
        </p:nvSpPr>
        <p:spPr>
          <a:xfrm>
            <a:off x="9811512" y="1880737"/>
            <a:ext cx="1444752"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12× fewer ep. to 100</a:t>
            </a:r>
          </a:p>
        </p:txBody>
      </p:sp>
      <p:sp>
        <p:nvSpPr>
          <p:cNvPr id="21" name="Rectangle 20"/>
          <p:cNvSpPr/>
          <p:nvPr/>
        </p:nvSpPr>
        <p:spPr>
          <a:xfrm>
            <a:off x="7618780" y="210287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2108365"/>
            <a:ext cx="3731940" cy="28249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08392" y="2163229"/>
            <a:ext cx="109728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DDQN vs DQN</a:t>
            </a:r>
          </a:p>
        </p:txBody>
      </p:sp>
      <p:sp>
        <p:nvSpPr>
          <p:cNvPr id="24" name="TextBox 23"/>
          <p:cNvSpPr txBox="1"/>
          <p:nvPr/>
        </p:nvSpPr>
        <p:spPr>
          <a:xfrm>
            <a:off x="8805672" y="2163229"/>
            <a:ext cx="100584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Lunar Lander</a:t>
            </a:r>
          </a:p>
        </p:txBody>
      </p:sp>
      <p:sp>
        <p:nvSpPr>
          <p:cNvPr id="25" name="TextBox 24"/>
          <p:cNvSpPr txBox="1"/>
          <p:nvPr/>
        </p:nvSpPr>
        <p:spPr>
          <a:xfrm>
            <a:off x="9811512" y="2163229"/>
            <a:ext cx="1444752"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+31 mean return</a:t>
            </a:r>
          </a:p>
        </p:txBody>
      </p:sp>
      <p:sp>
        <p:nvSpPr>
          <p:cNvPr id="26" name="Rectangle 25"/>
          <p:cNvSpPr/>
          <p:nvPr/>
        </p:nvSpPr>
        <p:spPr>
          <a:xfrm>
            <a:off x="7618780" y="238536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08392" y="2445720"/>
            <a:ext cx="109728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PER vs uniform</a:t>
            </a:r>
          </a:p>
        </p:txBody>
      </p:sp>
      <p:sp>
        <p:nvSpPr>
          <p:cNvPr id="28" name="TextBox 27"/>
          <p:cNvSpPr txBox="1"/>
          <p:nvPr/>
        </p:nvSpPr>
        <p:spPr>
          <a:xfrm>
            <a:off x="8805672" y="2445720"/>
            <a:ext cx="100584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Acrobot</a:t>
            </a:r>
          </a:p>
        </p:txBody>
      </p:sp>
      <p:sp>
        <p:nvSpPr>
          <p:cNvPr id="29" name="TextBox 28"/>
          <p:cNvSpPr txBox="1"/>
          <p:nvPr/>
        </p:nvSpPr>
        <p:spPr>
          <a:xfrm>
            <a:off x="9811512" y="2445720"/>
            <a:ext cx="1444752"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24 ep. earlier to −150</a:t>
            </a:r>
          </a:p>
        </p:txBody>
      </p:sp>
      <p:sp>
        <p:nvSpPr>
          <p:cNvPr id="30" name="Rectangle 29"/>
          <p:cNvSpPr/>
          <p:nvPr/>
        </p:nvSpPr>
        <p:spPr>
          <a:xfrm>
            <a:off x="7618780" y="266786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18780" y="2673347"/>
            <a:ext cx="3731940" cy="28249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708392" y="2728211"/>
            <a:ext cx="1097280"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Dueling vs flat</a:t>
            </a:r>
          </a:p>
        </p:txBody>
      </p:sp>
      <p:sp>
        <p:nvSpPr>
          <p:cNvPr id="33" name="TextBox 32"/>
          <p:cNvSpPr txBox="1"/>
          <p:nvPr/>
        </p:nvSpPr>
        <p:spPr>
          <a:xfrm>
            <a:off x="8805672" y="2728211"/>
            <a:ext cx="1005840"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Pendulum</a:t>
            </a:r>
          </a:p>
        </p:txBody>
      </p:sp>
      <p:sp>
        <p:nvSpPr>
          <p:cNvPr id="34" name="TextBox 33"/>
          <p:cNvSpPr txBox="1"/>
          <p:nvPr/>
        </p:nvSpPr>
        <p:spPr>
          <a:xfrm>
            <a:off x="9811512" y="2728211"/>
            <a:ext cx="1444752"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333639"/>
                </a:solidFill>
                <a:latin typeface="Fira Sans"/>
              </a:rPr>
              <a:t>51 ep. earlier to −200</a:t>
            </a:r>
          </a:p>
        </p:txBody>
      </p:sp>
      <p:sp>
        <p:nvSpPr>
          <p:cNvPr id="35" name="Rectangle 34"/>
          <p:cNvSpPr/>
          <p:nvPr/>
        </p:nvSpPr>
        <p:spPr>
          <a:xfrm>
            <a:off x="7618780" y="295035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7618780" y="3120430"/>
            <a:ext cx="3731940" cy="1298448"/>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7618780" y="3120430"/>
            <a:ext cx="41148" cy="129844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838236" y="326673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READ THE TABLE CAREFULLY</a:t>
            </a:r>
          </a:p>
        </p:txBody>
      </p:sp>
      <p:sp>
        <p:nvSpPr>
          <p:cNvPr id="39" name="TextBox 38"/>
          <p:cNvSpPr txBox="1"/>
          <p:nvPr/>
        </p:nvSpPr>
        <p:spPr>
          <a:xfrm>
            <a:off x="7838236" y="3504478"/>
            <a:ext cx="3347892" cy="822960"/>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 xml:space="preserve">Five seeds and overlapping bands: </a:t>
            </a:r>
            <a:r>
              <a:rPr sz="997" b="1" i="0">
                <a:solidFill>
                  <a:srgbClr val="25282A"/>
                </a:solidFill>
                <a:latin typeface="Fira Sans"/>
              </a:rPr>
              <a:t>none of these gaps is a statistical proof</a:t>
            </a:r>
            <a:r>
              <a:rPr sz="997" b="0" i="0">
                <a:solidFill>
                  <a:srgbClr val="333639"/>
                </a:solidFill>
                <a:latin typeface="Fira Sans"/>
              </a:rPr>
              <a:t>, and a refinement that finds nothing to exploit on a task shows nothing there. What the table shows is where each mechanism can be expected to matter.</a:t>
            </a:r>
          </a:p>
        </p:txBody>
      </p:sp>
      <p:sp>
        <p:nvSpPr>
          <p:cNvPr id="40" name="TextBox 39"/>
          <p:cNvSpPr txBox="1"/>
          <p:nvPr/>
        </p:nvSpPr>
        <p:spPr>
          <a:xfrm>
            <a:off x="7618780" y="4517136"/>
            <a:ext cx="3731940" cy="731520"/>
          </a:xfrm>
          <a:prstGeom prst="rect">
            <a:avLst/>
          </a:prstGeom>
          <a:noFill/>
        </p:spPr>
        <p:txBody>
          <a:bodyPr wrap="square" lIns="0" tIns="0" rIns="0" bIns="0" anchor="t">
            <a:noAutofit/>
          </a:bodyPr>
          <a:lstStyle/>
          <a:p>
            <a:pPr marL="182880" indent="-182880" algn="l">
              <a:lnSpc>
                <a:spcPts val="1117"/>
              </a:lnSpc>
              <a:spcBef>
                <a:spcPts val="0"/>
              </a:spcBef>
              <a:spcAft>
                <a:spcPts val="0"/>
              </a:spcAft>
              <a:buClr>
                <a:srgbClr val="1971C2"/>
              </a:buClr>
              <a:buFont typeface="Fira Sans"/>
              <a:buChar char="–"/>
            </a:pPr>
            <a:r>
              <a:rPr sz="997" b="0" i="0">
                <a:solidFill>
                  <a:srgbClr val="333639"/>
                </a:solidFill>
                <a:latin typeface="Fira Sans"/>
              </a:rPr>
              <a:t>Overestimation needs noisy, large-magnitude values; prioritisation needs rare informative transitions; the dueling split needs many actions with similar consequences.</a:t>
            </a:r>
          </a:p>
          <a:p>
            <a:pPr marL="182880" indent="-182880" algn="l">
              <a:lnSpc>
                <a:spcPts val="1117"/>
              </a:lnSpc>
              <a:spcBef>
                <a:spcPts val="600"/>
              </a:spcBef>
              <a:spcAft>
                <a:spcPts val="0"/>
              </a:spcAft>
              <a:buClr>
                <a:srgbClr val="1971C2"/>
              </a:buClr>
              <a:buFont typeface="Fira Sans"/>
              <a:buChar char="–"/>
            </a:pPr>
            <a:r>
              <a:rPr sz="997" b="0" i="0">
                <a:solidFill>
                  <a:srgbClr val="333639"/>
                </a:solidFill>
                <a:latin typeface="Fira Sans"/>
              </a:rPr>
              <a:t>All three are nearly free, so in practice they are used together — Rainbow is the canonical combination.</a:t>
            </a:r>
          </a:p>
        </p:txBody>
      </p:sp>
      <p:sp>
        <p:nvSpPr>
          <p:cNvPr id="41" name="Rectangle 40"/>
          <p:cNvSpPr/>
          <p:nvPr/>
        </p:nvSpPr>
        <p:spPr>
          <a:xfrm>
            <a:off x="7618780" y="5376672"/>
            <a:ext cx="3731940" cy="786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7618780" y="5376672"/>
            <a:ext cx="41148" cy="786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838236" y="5504688"/>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 xml:space="preserve">The right conclusion is about the benchmark as much as the algorithm: </a:t>
            </a:r>
            <a:r>
              <a:rPr sz="997" b="1" i="0">
                <a:solidFill>
                  <a:srgbClr val="25282A"/>
                </a:solidFill>
                <a:latin typeface="Fira Sans"/>
              </a:rPr>
              <a:t>a refinement that shows nothing on one task is not useless, it is untested</a:t>
            </a:r>
            <a:r>
              <a:rPr sz="997" b="0" i="0">
                <a:solidFill>
                  <a:srgbClr val="333639"/>
                </a:solidFill>
                <a:latin typeface="Fira Sans"/>
              </a:rPr>
              <a:t>.</a:t>
            </a:r>
          </a:p>
        </p:txBody>
      </p:sp>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370</TotalTime>
  <Words>10290</Words>
  <Application>Microsoft Macintosh PowerPoint</Application>
  <PresentationFormat>Widescreen</PresentationFormat>
  <Paragraphs>875</Paragraphs>
  <Slides>45</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45</vt:i4>
      </vt:variant>
    </vt:vector>
  </HeadingPairs>
  <TitlesOfParts>
    <vt:vector size="52" baseType="lpstr">
      <vt:lpstr>Arial</vt:lpstr>
      <vt:lpstr>Roboto Slab</vt:lpstr>
      <vt:lpstr>Calibri</vt:lpstr>
      <vt:lpstr>Consolas</vt:lpstr>
      <vt:lpstr>Fira Sans</vt:lpstr>
      <vt:lpstr>Fira Sans Medium</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Generalizing with Neural Networks — Chapter 07</dc:title>
  <dc:subject>Reinforcement Learning, Chapter 07: Generalizing with Neural Networks</dc:subject>
  <dc:creator>Riccardo Berta</dc:creator>
  <cp:keywords/>
  <dc:description>Companion lecture slides generated from the Chapter 07 lecture notes (notes.ipynb), on the DITEN widescreen template. Figures reused from the notes; mathematics typeset in LaTeX as vector graphics.</dc:description>
  <cp:lastModifiedBy>Riccardo Berta</cp:lastModifiedBy>
  <cp:revision>2</cp:revision>
  <cp:lastPrinted>2019-04-15T13:03:12Z</cp:lastPrinted>
  <dcterms:created xsi:type="dcterms:W3CDTF">2020-06-03T21:02:46Z</dcterms:created>
  <dcterms:modified xsi:type="dcterms:W3CDTF">2026-10-20T19:34:24Z</dcterms:modified>
  <cp:category>University lecture slides</cp:category>
</cp:coreProperties>
</file>